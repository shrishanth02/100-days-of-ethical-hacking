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3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151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338" y="255416"/>
            <a:ext cx="4024368" cy="5860241"/>
          </a:xfrm>
          <a:prstGeom prst="snip2DiagRect">
            <a:avLst>
              <a:gd name="adj1" fmla="val 28581"/>
              <a:gd name="adj2" fmla="val 30019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 0"/>
          <p:cNvSpPr/>
          <p:nvPr/>
        </p:nvSpPr>
        <p:spPr>
          <a:xfrm>
            <a:off x="4479905" y="62370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Network 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372284" y="7042156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a Firewall Protects Your Network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24959"/>
            <a:ext cx="5634157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Firewall?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26388" y="1664970"/>
            <a:ext cx="6576179" cy="5939671"/>
          </a:xfrm>
          <a:prstGeom prst="roundRect">
            <a:avLst>
              <a:gd name="adj" fmla="val 56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1654" y="1888808"/>
            <a:ext cx="2817019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1654" y="2464713"/>
            <a:ext cx="6125647" cy="179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firewall is a network security device or software that monitors and controls incoming and outgoing network traffic based on predefined security rules. It acts as the first line of defense between a trusted internal network and untrusted external networks such as the internet.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7735" y="1888808"/>
            <a:ext cx="2817019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Types of Firewalls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7735" y="2492693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7735" y="2845237"/>
            <a:ext cx="6251615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9" name="Text 7"/>
          <p:cNvSpPr/>
          <p:nvPr/>
        </p:nvSpPr>
        <p:spPr>
          <a:xfrm>
            <a:off x="7597735" y="3018830"/>
            <a:ext cx="3343037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Packet Filtering Firewall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7735" y="3763685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7735" y="4116229"/>
            <a:ext cx="6251615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7597735" y="4289822"/>
            <a:ext cx="382119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Stateful Inspection Firewall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7735" y="5034677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7735" y="5387221"/>
            <a:ext cx="6251615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5" name="Text 13"/>
          <p:cNvSpPr/>
          <p:nvPr/>
        </p:nvSpPr>
        <p:spPr>
          <a:xfrm>
            <a:off x="7597735" y="5560814"/>
            <a:ext cx="4520327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 Layer Firewall (WAF)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7735" y="6305669"/>
            <a:ext cx="22526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97735" y="6658213"/>
            <a:ext cx="6251615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6"/>
          <p:cNvSpPr/>
          <p:nvPr/>
        </p:nvSpPr>
        <p:spPr>
          <a:xfrm>
            <a:off x="7597735" y="6831806"/>
            <a:ext cx="4632127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Next-Generation Firewall (NGFW)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1744"/>
            <a:ext cx="4552712" cy="529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a Firewall Works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0218" y="1403747"/>
            <a:ext cx="13049964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firewall operates by inspecting network packets and comparing them against a set of rules.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18" y="1782366"/>
            <a:ext cx="846653" cy="1015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3197" y="1951673"/>
            <a:ext cx="2116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Packet Arrives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763197" y="2292072"/>
            <a:ext cx="1207698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Packet arrives at the firewall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18" y="2798326"/>
            <a:ext cx="846653" cy="1015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63197" y="2967633"/>
            <a:ext cx="2116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Inspection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763197" y="3308033"/>
            <a:ext cx="1207698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Checks source IP, destination IP, port number, and protocol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18" y="3814286"/>
            <a:ext cx="846653" cy="1015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63197" y="3983593"/>
            <a:ext cx="2116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Ruleset Check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763197" y="4323993"/>
            <a:ext cx="1207698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Compares against ruleset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218" y="4830247"/>
            <a:ext cx="846653" cy="1015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63197" y="4999553"/>
            <a:ext cx="2116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763197" y="5339953"/>
            <a:ext cx="1207698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ALLOW or DENY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218" y="5846207"/>
            <a:ext cx="846653" cy="10159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63197" y="6015514"/>
            <a:ext cx="2116693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Logging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763197" y="6355913"/>
            <a:ext cx="1207698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Logs the activity for audit purposes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790218" y="7004328"/>
            <a:ext cx="13049964" cy="603409"/>
          </a:xfrm>
          <a:prstGeom prst="roundRect">
            <a:avLst>
              <a:gd name="adj" fmla="val 4210"/>
            </a:avLst>
          </a:prstGeom>
          <a:solidFill>
            <a:srgbClr val="EDD5C4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525" y="7242929"/>
            <a:ext cx="211574" cy="16930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40406" y="7172920"/>
            <a:ext cx="12330470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 traffic that does not match an allow rule is </a:t>
            </a:r>
            <a:r>
              <a:rPr lang="en-US" sz="13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blocked by default</a:t>
            </a: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484"/>
            <a:ext cx="7935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Types of Firewalls Explained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89892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020372"/>
            <a:ext cx="6346984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1478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927628"/>
            <a:ext cx="33642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Packet Filtering Firewall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41804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Inspects packets at the network layer. Fast but limited in depth of inspection.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1989892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020372"/>
            <a:ext cx="6347103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21478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2927628"/>
            <a:ext cx="38453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Stateful Inspection Firewall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41804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Tracks the state of active connections. More secure than packet filtering.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627959"/>
            <a:ext cx="6407944" cy="2774156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4658439"/>
            <a:ext cx="6346984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3827621" y="47859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565696"/>
            <a:ext cx="45489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 Layer Firewall (WAF)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056114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Inspects traffic at the application layer. Protects against SQL injection, XSS, etc.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627959"/>
            <a:ext cx="6408063" cy="2774156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4658439"/>
            <a:ext cx="6347103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2498" y="47859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565696"/>
            <a:ext cx="46614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Next-Generation Firewall (NGFW)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056114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Combines traditional firewall with IDS/IPS, deep packet inspection, and threat intelligence. Examples: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Palo Alto, Fortinet, Cisco Firepower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9159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Example: Blocking a DDoS Attack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2143720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Scenario: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 attacker sends 1 million packets per second to a company web server to take it offline.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3790" y="28113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Firewall Response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85123" y="3268385"/>
            <a:ext cx="22860" cy="332053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7" name="Shape 4"/>
          <p:cNvSpPr/>
          <p:nvPr/>
        </p:nvSpPr>
        <p:spPr>
          <a:xfrm>
            <a:off x="1153597" y="3448288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268385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857548" y="3300234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35706" y="332684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1 — Detect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835706" y="3669030"/>
            <a:ext cx="65145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Detects abnormal traffic volume from a single IP address.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153597" y="4342209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3" name="Shape 10"/>
          <p:cNvSpPr/>
          <p:nvPr/>
        </p:nvSpPr>
        <p:spPr>
          <a:xfrm>
            <a:off x="793790" y="4162306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857548" y="419415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835706" y="422076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2 — Rate Limit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835706" y="4562951"/>
            <a:ext cx="65145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Rate limiting rule triggers, restricting packets from that IP.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153597" y="5236131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8" name="Shape 15"/>
          <p:cNvSpPr/>
          <p:nvPr/>
        </p:nvSpPr>
        <p:spPr>
          <a:xfrm>
            <a:off x="793790" y="5056227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19" name="Text 16"/>
          <p:cNvSpPr/>
          <p:nvPr/>
        </p:nvSpPr>
        <p:spPr>
          <a:xfrm>
            <a:off x="857548" y="5088076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835706" y="51146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3 — Blocklist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835706" y="5456873"/>
            <a:ext cx="65145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 is added to the blocklist automatically.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153597" y="6130052"/>
            <a:ext cx="510302" cy="2286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23" name="Shape 20"/>
          <p:cNvSpPr/>
          <p:nvPr/>
        </p:nvSpPr>
        <p:spPr>
          <a:xfrm>
            <a:off x="793790" y="595014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24" name="Text 21"/>
          <p:cNvSpPr/>
          <p:nvPr/>
        </p:nvSpPr>
        <p:spPr>
          <a:xfrm>
            <a:off x="857548" y="598199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835706" y="6008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4 — Drop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835706" y="6350794"/>
            <a:ext cx="65145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Traffic is dropped before reaching the internal server.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93790" y="6732389"/>
            <a:ext cx="7556421" cy="607933"/>
          </a:xfrm>
          <a:prstGeom prst="roundRect">
            <a:avLst>
              <a:gd name="adj" fmla="val 4198"/>
            </a:avLst>
          </a:prstGeom>
          <a:solidFill>
            <a:srgbClr val="EDD5C4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11" y="6971348"/>
            <a:ext cx="212646" cy="17002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46478" y="6902410"/>
            <a:ext cx="68337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Result:</a:t>
            </a: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Web server remains online. Attack is neutralized within seconds.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152"/>
            <a:ext cx="722911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Firewall Rule Configuration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91690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firewall ruleset defines what traffic is allowed or denied.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56008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 Ruleset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93790" y="3203734"/>
            <a:ext cx="13042821" cy="3074908"/>
          </a:xfrm>
          <a:prstGeom prst="roundRect">
            <a:avLst>
              <a:gd name="adj" fmla="val 10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211354"/>
            <a:ext cx="13027581" cy="9329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17151" y="3341727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365897" y="3341727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Source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231850" y="3341727"/>
            <a:ext cx="112490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Destination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95141" y="3341727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18940" y="3341727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Protocol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42740" y="3341727"/>
            <a:ext cx="217086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Action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410" y="4144327"/>
            <a:ext cx="13027581" cy="9329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7151" y="4274701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 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365897" y="4274701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31850" y="4274701"/>
            <a:ext cx="112490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192.168.1.10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95141" y="4274701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443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18940" y="4274701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HTTPS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42740" y="4274701"/>
            <a:ext cx="217086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ALLOW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01410" y="5077301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7151" y="5207675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 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3365897" y="5207675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203.0.113.5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31850" y="5207675"/>
            <a:ext cx="11249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95141" y="5207675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618940" y="5207675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442740" y="5207675"/>
            <a:ext cx="217086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DENY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01410" y="5674162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17151" y="5804535"/>
            <a:ext cx="191035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 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3365897" y="5804535"/>
            <a:ext cx="242756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231850" y="5804535"/>
            <a:ext cx="112490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ANY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95141" y="5804535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 (Telnet)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618940" y="5804535"/>
            <a:ext cx="138541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TCP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42740" y="5804535"/>
            <a:ext cx="217086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DENY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93790" y="6508909"/>
            <a:ext cx="13042821" cy="886420"/>
          </a:xfrm>
          <a:prstGeom prst="roundRect">
            <a:avLst>
              <a:gd name="adj" fmla="val 3646"/>
            </a:avLst>
          </a:prstGeom>
          <a:solidFill>
            <a:srgbClr val="EDD5C4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6833473"/>
            <a:ext cx="269319" cy="21538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493877" y="6767393"/>
            <a:ext cx="1212734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Best Practice:</a:t>
            </a:r>
            <a:r>
              <a:rPr lang="en-US" sz="16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Always follow the principle of least privilege. Only allow what is explicitly required.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9008"/>
            <a:ext cx="1119806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Firewall vs Next-Generation Firewall (NGFW)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644372"/>
            <a:ext cx="13042821" cy="4927283"/>
          </a:xfrm>
          <a:prstGeom prst="roundRect">
            <a:avLst>
              <a:gd name="adj" fmla="val 6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651992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602" y="1769745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20420" y="1769745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Firewall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28647" y="1769745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NGFW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410" y="2197775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602" y="2315528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Packet Filtering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20420" y="2315528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28647" y="2315528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410" y="2743557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602" y="2861310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Stateful Inspection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20420" y="2861310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28647" y="2861310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410" y="3289340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5602" y="3407093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Application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0420" y="3407093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28647" y="3407093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1410" y="3835122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5602" y="3952875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IDS/IPS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20420" y="3952875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28647" y="3952875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1410" y="4380905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5602" y="4498658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SSL Inspection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20420" y="4498658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28647" y="4498658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1410" y="4926687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5602" y="5044440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20420" y="5044440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28647" y="5044440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1410" y="5472470"/>
            <a:ext cx="1302758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5602" y="5590223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 Identity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20420" y="5590223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28647" y="5590223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1410" y="6018252"/>
            <a:ext cx="1302758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05602" y="6136005"/>
            <a:ext cx="479905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 Packet Inspection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20420" y="6136005"/>
            <a:ext cx="34924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28647" y="6136005"/>
            <a:ext cx="34962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3790" y="6778347"/>
            <a:ext cx="13042821" cy="812244"/>
          </a:xfrm>
          <a:prstGeom prst="roundRect">
            <a:avLst>
              <a:gd name="adj" fmla="val 3770"/>
            </a:avLst>
          </a:prstGeom>
          <a:solidFill>
            <a:srgbClr val="EDD5C4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7075765"/>
            <a:ext cx="255151" cy="204073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57087" y="7013019"/>
            <a:ext cx="1217545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Organizations handling sensitive data should deploy NGFW for comprehensive protection.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565"/>
            <a:ext cx="75991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Common Firewall Mistakes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7297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87297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130266"/>
            <a:ext cx="35749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1. Overly Permissive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62068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Allowing broad IP ranges increases attack surface.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187297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187297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130266"/>
            <a:ext cx="29539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2. No Egress Filtering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62068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Outbound traffic must also be monitored to detect data exfiltration.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383059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3830598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087892"/>
            <a:ext cx="30439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3. Outdated Firmware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57831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Unpatched firewalls are vulnerable to exploits.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383059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3830598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4. No Log Review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57831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Firewall logs must be reviewed regularly and integrated with SIEM.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78822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310" y="578822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1142524" y="6045518"/>
            <a:ext cx="41355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5. Single Firewall Deployment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2524" y="653593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single point of failure is a critical risk. Always deploy in high-availability (HA) mode.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78822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F2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8067" y="578822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7282" y="6045518"/>
            <a:ext cx="30091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6. Default Credentials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7282" y="653593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Always change default admin credentials immediately after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547"/>
            <a:ext cx="50308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Firewall Best Practices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10797"/>
            <a:ext cx="4250769" cy="1945362"/>
          </a:xfrm>
          <a:prstGeom prst="roundRect">
            <a:avLst>
              <a:gd name="adj" fmla="val 1399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975241" y="1792248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903" y="1941909"/>
            <a:ext cx="244912" cy="244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5241" y="2481739"/>
            <a:ext cx="294644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Principle of Least Privilege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75241" y="2852261"/>
            <a:ext cx="388786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Only allow traffic that is explicitly required.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89696" y="1610797"/>
            <a:ext cx="4250888" cy="1945362"/>
          </a:xfrm>
          <a:prstGeom prst="roundRect">
            <a:avLst>
              <a:gd name="adj" fmla="val 1399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5371148" y="1792248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0809" y="1941909"/>
            <a:ext cx="244912" cy="244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1148" y="2481739"/>
            <a:ext cx="259341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Segment Your Network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371148" y="2852261"/>
            <a:ext cx="388798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firewalls to create DMZ zones and isolate sensitive systems.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585722" y="1610797"/>
            <a:ext cx="4250888" cy="1945362"/>
          </a:xfrm>
          <a:prstGeom prst="roundRect">
            <a:avLst>
              <a:gd name="adj" fmla="val 1399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9767173" y="1792248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16835" y="1941909"/>
            <a:ext cx="244912" cy="244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67173" y="2481739"/>
            <a:ext cx="32704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Enable Logging &amp; Monitoring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767173" y="2852261"/>
            <a:ext cx="388798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 firewall logs with your SIEM for real-time threat detection.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93790" y="3701296"/>
            <a:ext cx="4250769" cy="1945362"/>
          </a:xfrm>
          <a:prstGeom prst="roundRect">
            <a:avLst>
              <a:gd name="adj" fmla="val 1399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975241" y="3882747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4903" y="4032409"/>
            <a:ext cx="244912" cy="244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5241" y="457223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Regular Rule Audits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975241" y="4942761"/>
            <a:ext cx="388786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Review and clean up firewall rules at least once every quarter.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189696" y="3701296"/>
            <a:ext cx="4250888" cy="1945362"/>
          </a:xfrm>
          <a:prstGeom prst="roundRect">
            <a:avLst>
              <a:gd name="adj" fmla="val 1399"/>
            </a:avLst>
          </a:prstGeom>
          <a:solidFill>
            <a:srgbClr val="F9F7F7"/>
          </a:solidFill>
          <a:ln/>
        </p:spPr>
      </p:sp>
      <p:sp>
        <p:nvSpPr>
          <p:cNvPr id="24" name="Shape 18"/>
          <p:cNvSpPr/>
          <p:nvPr/>
        </p:nvSpPr>
        <p:spPr>
          <a:xfrm>
            <a:off x="5371148" y="3882747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0809" y="4032409"/>
            <a:ext cx="244912" cy="244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71148" y="4572238"/>
            <a:ext cx="254603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High-Availability Mode</a:t>
            </a:r>
            <a:endParaRPr lang="en-US" sz="1750" dirty="0"/>
          </a:p>
        </p:txBody>
      </p:sp>
      <p:sp>
        <p:nvSpPr>
          <p:cNvPr id="27" name="Text 20"/>
          <p:cNvSpPr/>
          <p:nvPr/>
        </p:nvSpPr>
        <p:spPr>
          <a:xfrm>
            <a:off x="5371148" y="4942761"/>
            <a:ext cx="388798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Ensure business continuity with redundant firewall configurations.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9585722" y="3701296"/>
            <a:ext cx="4250888" cy="1945362"/>
          </a:xfrm>
          <a:prstGeom prst="roundRect">
            <a:avLst>
              <a:gd name="adj" fmla="val 1399"/>
            </a:avLst>
          </a:prstGeom>
          <a:solidFill>
            <a:srgbClr val="F9F7F7"/>
          </a:solidFill>
          <a:ln/>
        </p:spPr>
      </p:sp>
      <p:sp>
        <p:nvSpPr>
          <p:cNvPr id="29" name="Shape 22"/>
          <p:cNvSpPr/>
          <p:nvPr/>
        </p:nvSpPr>
        <p:spPr>
          <a:xfrm>
            <a:off x="9767173" y="3882747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16835" y="4032409"/>
            <a:ext cx="244912" cy="244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67173" y="4572238"/>
            <a:ext cx="26705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Keep Firmware Updated</a:t>
            </a:r>
            <a:endParaRPr lang="en-US" sz="1750" dirty="0"/>
          </a:p>
        </p:txBody>
      </p:sp>
      <p:sp>
        <p:nvSpPr>
          <p:cNvPr id="32" name="Text 24"/>
          <p:cNvSpPr/>
          <p:nvPr/>
        </p:nvSpPr>
        <p:spPr>
          <a:xfrm>
            <a:off x="9767173" y="4942761"/>
            <a:ext cx="388798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Apply vendor patches promptly to address known vulnerabilities.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793790" y="5791795"/>
            <a:ext cx="13042821" cy="1684139"/>
          </a:xfrm>
          <a:prstGeom prst="roundRect">
            <a:avLst>
              <a:gd name="adj" fmla="val 1616"/>
            </a:avLst>
          </a:prstGeom>
          <a:solidFill>
            <a:srgbClr val="F9F7F7"/>
          </a:solidFill>
          <a:ln/>
        </p:spPr>
      </p:sp>
      <p:sp>
        <p:nvSpPr>
          <p:cNvPr id="34" name="Shape 26"/>
          <p:cNvSpPr/>
          <p:nvPr/>
        </p:nvSpPr>
        <p:spPr>
          <a:xfrm>
            <a:off x="975241" y="5973247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CCCCCC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03" y="6122908"/>
            <a:ext cx="244912" cy="2449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75241" y="6662738"/>
            <a:ext cx="324445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 Threat Intelligence Feeds</a:t>
            </a:r>
            <a:endParaRPr lang="en-US" sz="1750" dirty="0"/>
          </a:p>
        </p:txBody>
      </p:sp>
      <p:sp>
        <p:nvSpPr>
          <p:cNvPr id="37" name="Text 28"/>
          <p:cNvSpPr/>
          <p:nvPr/>
        </p:nvSpPr>
        <p:spPr>
          <a:xfrm>
            <a:off x="975241" y="7033260"/>
            <a:ext cx="126799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dynamic blocklists to block known malicious IPs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67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43432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firewall is the foundation of network security. Understanding its types, rules, and limitations is essential for every security professional.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33" y="2656523"/>
            <a:ext cx="323136" cy="323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3996" y="2645926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Firewalls filter traffic based on rules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33" y="3722965"/>
            <a:ext cx="323136" cy="3231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3996" y="3712369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NGFW offers deeper inspection capabilities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33" y="4789408"/>
            <a:ext cx="323136" cy="3231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93996" y="4778812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Proper configuration is critical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33" y="5855851"/>
            <a:ext cx="323136" cy="3231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3996" y="5845254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Logs must be monitored continuously</a:t>
            </a:r>
            <a:endParaRPr lang="en-US" sz="16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33" y="6922294"/>
            <a:ext cx="323136" cy="32313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93996" y="6911697"/>
            <a:ext cx="123426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Regular audits prevent rule bloat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720</Words>
  <Application>Microsoft Office PowerPoint</Application>
  <PresentationFormat>Custom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Platypi Medium</vt:lpstr>
      <vt:lpstr>Source Serif 4</vt:lpstr>
      <vt:lpstr>Arial</vt:lpstr>
      <vt:lpstr>Platypi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3</cp:revision>
  <dcterms:created xsi:type="dcterms:W3CDTF">2026-03-30T06:54:50Z</dcterms:created>
  <dcterms:modified xsi:type="dcterms:W3CDTF">2026-03-30T07:02:30Z</dcterms:modified>
</cp:coreProperties>
</file>