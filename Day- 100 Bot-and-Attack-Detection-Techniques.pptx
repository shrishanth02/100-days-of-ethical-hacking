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4630400" cy="8229600"/>
  <p:notesSz cx="8229600" cy="146304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Crimson Pro Semi Bold" panose="020B0604020202020204" charset="0"/>
      <p:regular r:id="rId21"/>
    </p:embeddedFont>
    <p:embeddedFont>
      <p:font typeface="Heebo" pitchFamily="2" charset="-79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1737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Bot &amp; Attack Detection Techniques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4848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1. Threshold Detection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767602"/>
            <a:ext cx="13042821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Threshold detection involves setting </a:t>
            </a: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predefined limits</a:t>
            </a: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on certain metrics (e.g., requests per second, login attempts) and triggering alerts or blocks when those limits are exceeded.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38532" y="2670096"/>
            <a:ext cx="6569035" cy="4874657"/>
          </a:xfrm>
          <a:prstGeom prst="roundRect">
            <a:avLst>
              <a:gd name="adj" fmla="val 663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3916" y="287476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How it works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53916" y="3416022"/>
            <a:ext cx="6138267" cy="215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Monitor a specific metric (e.g., HTTP requests, API calls, failed logins)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Define a threshold value (e.g., &gt;100 requests/min from one IP)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Trigger an action (alert, block, CAPTCHA) when the threshold is crossed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53916" y="578048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Use Cases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53916" y="6321743"/>
            <a:ext cx="6138267" cy="1151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Rate limiting APIs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Detecting DDoS attacks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Preventing account enumeration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585710" y="287476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Pros &amp; Cons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585710" y="3441621"/>
            <a:ext cx="6258520" cy="3074908"/>
          </a:xfrm>
          <a:prstGeom prst="roundRect">
            <a:avLst>
              <a:gd name="adj" fmla="val 105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93330" y="3449241"/>
            <a:ext cx="6243280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808833" y="3579614"/>
            <a:ext cx="268700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934224" y="3579614"/>
            <a:ext cx="268700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593330" y="4046101"/>
            <a:ext cx="6243280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808833" y="4176474"/>
            <a:ext cx="268700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Simple to implement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934224" y="4176474"/>
            <a:ext cx="268700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false positives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593330" y="4642961"/>
            <a:ext cx="6243280" cy="9329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808833" y="4773335"/>
            <a:ext cx="268700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Low computational cost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934224" y="4773335"/>
            <a:ext cx="268700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Easily bypassed by slow attacks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593330" y="5575935"/>
            <a:ext cx="6243280" cy="9329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808833" y="5706308"/>
            <a:ext cx="268700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Easy to tune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934224" y="5706308"/>
            <a:ext cx="268700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Doesn't detect distributed attacks well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484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2. Brute Force Detection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684734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Brute force detection identifies </a:t>
            </a: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repeated, systematic attempts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guess credentials, keys, or tokens by monitoring failed authentication patterns.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25432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How it works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682954"/>
            <a:ext cx="6300073" cy="885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Track failed login attempts per user/IP/session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Apply lockout or throttling after N failures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Detect credential stuffing via known breached password lists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3790" y="371320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Common Strategies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141827"/>
            <a:ext cx="6300073" cy="1197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Account lockout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lock after X failed attempts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Progressive delays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increase wait time after each failure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IP reputation checks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block known malicious IPs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MFA enforcement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add a second factor after suspicious activity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13546" y="2109192"/>
            <a:ext cx="6561296" cy="5292923"/>
          </a:xfrm>
          <a:prstGeom prst="roundRect">
            <a:avLst>
              <a:gd name="adj" fmla="val 514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7594997" y="225432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Detection Signals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594997" y="2701052"/>
            <a:ext cx="6198394" cy="669846"/>
          </a:xfrm>
          <a:prstGeom prst="roundRect">
            <a:avLst>
              <a:gd name="adj" fmla="val 16381"/>
            </a:avLst>
          </a:prstGeom>
          <a:solidFill>
            <a:srgbClr val="F2F2F2"/>
          </a:solidFill>
          <a:ln w="22860">
            <a:solidFill>
              <a:srgbClr val="F2F2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72137" y="2701052"/>
            <a:ext cx="91440" cy="669846"/>
          </a:xfrm>
          <a:prstGeom prst="roundRect">
            <a:avLst>
              <a:gd name="adj" fmla="val 29767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7867888" y="2905363"/>
            <a:ext cx="572119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Multiple failed logins in a short window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94997" y="3516035"/>
            <a:ext cx="6198394" cy="669846"/>
          </a:xfrm>
          <a:prstGeom prst="roundRect">
            <a:avLst>
              <a:gd name="adj" fmla="val 16381"/>
            </a:avLst>
          </a:prstGeom>
          <a:solidFill>
            <a:srgbClr val="F2F2F2"/>
          </a:solidFill>
          <a:ln w="2286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72137" y="3516035"/>
            <a:ext cx="91440" cy="669846"/>
          </a:xfrm>
          <a:prstGeom prst="roundRect">
            <a:avLst>
              <a:gd name="adj" fmla="val 29767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7867888" y="3720346"/>
            <a:ext cx="572119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Sequential username/password variations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594997" y="4331018"/>
            <a:ext cx="6198394" cy="669846"/>
          </a:xfrm>
          <a:prstGeom prst="roundRect">
            <a:avLst>
              <a:gd name="adj" fmla="val 16381"/>
            </a:avLst>
          </a:prstGeom>
          <a:solidFill>
            <a:srgbClr val="F2F2F2"/>
          </a:solidFill>
          <a:ln w="22860">
            <a:solidFill>
              <a:srgbClr val="F2F2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72137" y="4331018"/>
            <a:ext cx="91440" cy="669846"/>
          </a:xfrm>
          <a:prstGeom prst="roundRect">
            <a:avLst>
              <a:gd name="adj" fmla="val 29767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7867888" y="4535329"/>
            <a:ext cx="572119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Same password tried across many accounts </a:t>
            </a:r>
            <a:r>
              <a:rPr lang="en-US" sz="14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(credential stuffing)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94997" y="516409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Pros &amp; Cons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594997" y="5610820"/>
            <a:ext cx="6198394" cy="1628061"/>
          </a:xfrm>
          <a:prstGeom prst="roundRect">
            <a:avLst>
              <a:gd name="adj" fmla="val 167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02617" y="5618440"/>
            <a:ext cx="6183154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784068" y="5713095"/>
            <a:ext cx="272486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879455" y="5713095"/>
            <a:ext cx="272486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02617" y="6068973"/>
            <a:ext cx="6183154" cy="450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784068" y="6163628"/>
            <a:ext cx="272486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Directly targets attack pattern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879455" y="6163628"/>
            <a:ext cx="272486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Can lock out legitimate users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02617" y="6519505"/>
            <a:ext cx="6183154" cy="7117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784068" y="6614160"/>
            <a:ext cx="272486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Easy to implement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879455" y="6614160"/>
            <a:ext cx="2724864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Distributed brute force evades IP-based rules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3436"/>
            <a:ext cx="532257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3. Payload Pattern Detection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680686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technique inspects the </a:t>
            </a: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content of requests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(body, headers, query strings) for known malicious patterns using signatures or rules.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250281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How it works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678906"/>
            <a:ext cx="6300073" cy="885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Inspect HTTP request payloads against a rule set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Match against known attack signatures (e.g., SQLi, XSS, LFI)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Block or flag matching requests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3790" y="370915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Common Rule Sets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137779"/>
            <a:ext cx="6300073" cy="885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OWASP ModSecurity Core Rule Set (CRS)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Snort/Suricata rules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YARA rules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file-based payloads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3790" y="516802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Pros &amp; Cons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5614749"/>
            <a:ext cx="6300073" cy="1628061"/>
          </a:xfrm>
          <a:prstGeom prst="roundRect">
            <a:avLst>
              <a:gd name="adj" fmla="val 167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1410" y="5622369"/>
            <a:ext cx="6284833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82861" y="5717024"/>
            <a:ext cx="277570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29088" y="5717024"/>
            <a:ext cx="277570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1410" y="6072902"/>
            <a:ext cx="6284833" cy="7117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82861" y="6167557"/>
            <a:ext cx="277570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Catches known attacks reliably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29088" y="6167557"/>
            <a:ext cx="2775704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Bypassed by obfuscation/encoding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1410" y="6784658"/>
            <a:ext cx="6284833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82861" y="6879312"/>
            <a:ext cx="277570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Widely supported (WAFs)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29088" y="6879312"/>
            <a:ext cx="277570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Requires constant rule updates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13546" y="2105144"/>
            <a:ext cx="6561296" cy="5300901"/>
          </a:xfrm>
          <a:prstGeom prst="roundRect">
            <a:avLst>
              <a:gd name="adj" fmla="val 513"/>
            </a:avLst>
          </a:prstGeom>
          <a:solidFill>
            <a:srgbClr val="CCCCCC"/>
          </a:solidFill>
          <a:ln/>
        </p:spPr>
      </p:sp>
      <p:sp>
        <p:nvSpPr>
          <p:cNvPr id="20" name="Text 18"/>
          <p:cNvSpPr/>
          <p:nvPr/>
        </p:nvSpPr>
        <p:spPr>
          <a:xfrm>
            <a:off x="7594997" y="2250281"/>
            <a:ext cx="232743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Attack Patterns Detected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594997" y="2697004"/>
            <a:ext cx="6198394" cy="2794635"/>
          </a:xfrm>
          <a:prstGeom prst="roundRect">
            <a:avLst>
              <a:gd name="adj" fmla="val 97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02617" y="2704624"/>
            <a:ext cx="6183154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784187" y="2799278"/>
            <a:ext cx="210645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Attack Type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61163" y="2799278"/>
            <a:ext cx="334315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Example Pattern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02617" y="3155156"/>
            <a:ext cx="6183154" cy="4657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784187" y="3249811"/>
            <a:ext cx="210645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SQL Injection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261163" y="3249811"/>
            <a:ext cx="3343156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BFBF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 OR 1=1 --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602617" y="3620929"/>
            <a:ext cx="6183154" cy="4657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784187" y="3715583"/>
            <a:ext cx="210645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XSS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261163" y="3715583"/>
            <a:ext cx="3343156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BFBF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&lt;script&gt;alert(1)&lt;/script&gt;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602617" y="4086701"/>
            <a:ext cx="6183154" cy="4657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784187" y="4181356"/>
            <a:ext cx="210645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LFI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261163" y="4181356"/>
            <a:ext cx="3343156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BFBF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../../etc/passwd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602617" y="4552474"/>
            <a:ext cx="6183154" cy="4657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784187" y="4647128"/>
            <a:ext cx="210645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Command Injection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261163" y="4647128"/>
            <a:ext cx="3343156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BFBF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 rm -rf /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602617" y="5018246"/>
            <a:ext cx="6183154" cy="4657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784187" y="5112901"/>
            <a:ext cx="210645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XXE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261163" y="5112901"/>
            <a:ext cx="3343156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BFBF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&lt;!ENTITY xxe SYSTEM...&gt;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650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4. Risk Scoring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483757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Risk scoring assigns a </a:t>
            </a: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numerical score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a user, session, or request based on multiple signals, enabling dynamic, context-aware decisions.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05335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How it works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481977"/>
            <a:ext cx="6300073" cy="1197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Collect signals (IP reputation, geo-location, device fingerprint, behavior)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Assign weighted scores to each signal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Aggregate into a total risk score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Apply policy based on score range (allow / challenge / block)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3790" y="3824168"/>
            <a:ext cx="261794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Common Signals &amp; Weights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4270891"/>
            <a:ext cx="6300073" cy="3168967"/>
          </a:xfrm>
          <a:prstGeom prst="roundRect">
            <a:avLst>
              <a:gd name="adj" fmla="val 85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1410" y="4278511"/>
            <a:ext cx="6284833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82980" y="4373166"/>
            <a:ext cx="340411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Signal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7618" y="4373166"/>
            <a:ext cx="214717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Risk Weight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1410" y="4729043"/>
            <a:ext cx="6284833" cy="450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82980" y="4823698"/>
            <a:ext cx="340411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Known malicious IP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7618" y="4823698"/>
            <a:ext cx="214717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1410" y="5179576"/>
            <a:ext cx="6284833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82980" y="5274231"/>
            <a:ext cx="340411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Unusual geo-location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7618" y="5274231"/>
            <a:ext cx="214717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Medium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1410" y="5630108"/>
            <a:ext cx="6284833" cy="450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82980" y="5724763"/>
            <a:ext cx="340411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New device/browser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7618" y="5724763"/>
            <a:ext cx="214717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Medium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1410" y="6080641"/>
            <a:ext cx="6284833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82980" y="6175296"/>
            <a:ext cx="340411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Abnormal request rate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7618" y="6175296"/>
            <a:ext cx="214717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1410" y="6531173"/>
            <a:ext cx="6284833" cy="450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82980" y="6625828"/>
            <a:ext cx="340411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Valid session token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7618" y="6625828"/>
            <a:ext cx="214717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Low (reduces risk)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1410" y="6981706"/>
            <a:ext cx="6284833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82980" y="7076361"/>
            <a:ext cx="340411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TOR/VPN usage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57618" y="7076361"/>
            <a:ext cx="214717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Medium–High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44157" y="205335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Score Bands Example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7544157" y="2500074"/>
            <a:ext cx="3077408" cy="1052751"/>
          </a:xfrm>
          <a:prstGeom prst="roundRect">
            <a:avLst>
              <a:gd name="adj" fmla="val 2586"/>
            </a:avLst>
          </a:prstGeom>
          <a:solidFill>
            <a:srgbClr val="F2EEEE"/>
          </a:solidFill>
          <a:ln/>
        </p:spPr>
      </p:sp>
      <p:sp>
        <p:nvSpPr>
          <p:cNvPr id="31" name="Text 29"/>
          <p:cNvSpPr/>
          <p:nvPr/>
        </p:nvSpPr>
        <p:spPr>
          <a:xfrm>
            <a:off x="7725608" y="268152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0–30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7725608" y="3110151"/>
            <a:ext cx="271450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→ Allow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766703" y="2500074"/>
            <a:ext cx="3077528" cy="1052751"/>
          </a:xfrm>
          <a:prstGeom prst="roundRect">
            <a:avLst>
              <a:gd name="adj" fmla="val 2586"/>
            </a:avLst>
          </a:prstGeom>
          <a:solidFill>
            <a:srgbClr val="F2EEEE"/>
          </a:solidFill>
          <a:ln/>
        </p:spPr>
      </p:sp>
      <p:sp>
        <p:nvSpPr>
          <p:cNvPr id="34" name="Text 32"/>
          <p:cNvSpPr/>
          <p:nvPr/>
        </p:nvSpPr>
        <p:spPr>
          <a:xfrm>
            <a:off x="10948154" y="268152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31–70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10948154" y="3110151"/>
            <a:ext cx="271462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→ CAPTCHA / Step-up auth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544157" y="3697962"/>
            <a:ext cx="6300073" cy="1052751"/>
          </a:xfrm>
          <a:prstGeom prst="roundRect">
            <a:avLst>
              <a:gd name="adj" fmla="val 2586"/>
            </a:avLst>
          </a:prstGeom>
          <a:solidFill>
            <a:srgbClr val="F2EEEE"/>
          </a:solidFill>
          <a:ln/>
        </p:spPr>
      </p:sp>
      <p:sp>
        <p:nvSpPr>
          <p:cNvPr id="37" name="Text 35"/>
          <p:cNvSpPr/>
          <p:nvPr/>
        </p:nvSpPr>
        <p:spPr>
          <a:xfrm>
            <a:off x="7725608" y="387941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71–100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7725608" y="4308038"/>
            <a:ext cx="593717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→ Block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544157" y="491394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Pros &amp; Cons</a:t>
            </a:r>
            <a:endParaRPr lang="en-US" sz="1750" dirty="0"/>
          </a:p>
        </p:txBody>
      </p:sp>
      <p:sp>
        <p:nvSpPr>
          <p:cNvPr id="40" name="Shape 38"/>
          <p:cNvSpPr/>
          <p:nvPr/>
        </p:nvSpPr>
        <p:spPr>
          <a:xfrm>
            <a:off x="7544157" y="5360670"/>
            <a:ext cx="6300073" cy="1366838"/>
          </a:xfrm>
          <a:prstGeom prst="roundRect">
            <a:avLst>
              <a:gd name="adj" fmla="val 199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51777" y="5368290"/>
            <a:ext cx="6284833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733228" y="5462945"/>
            <a:ext cx="277570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879455" y="5462945"/>
            <a:ext cx="277570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551777" y="5818823"/>
            <a:ext cx="6284833" cy="450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733228" y="5913477"/>
            <a:ext cx="277570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Flexible and context-aware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879455" y="5913477"/>
            <a:ext cx="277570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Complex to tune and calibrate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7551777" y="6269355"/>
            <a:ext cx="6284833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733228" y="6364010"/>
            <a:ext cx="277570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Reduces false positives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0879455" y="6364010"/>
            <a:ext cx="277570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Requires rich telemetry data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665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5. User-Agent Filtering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703903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User-agent filtering inspects the </a:t>
            </a: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User-Agent HTTP header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identify and block bots, scrapers, or known malicious tools.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27349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How it works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702123"/>
            <a:ext cx="6300073" cy="1146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Parse the User-Agent header from incoming requests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Compare against blocklists (known bad bots) or allowlists (known good bots)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Flag empty, malformed, or suspicious user-agent strings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3790" y="399359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Categories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4440317"/>
            <a:ext cx="6300073" cy="2779395"/>
          </a:xfrm>
          <a:prstGeom prst="roundRect">
            <a:avLst>
              <a:gd name="adj" fmla="val 97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1410" y="4447937"/>
            <a:ext cx="6284833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82980" y="4542592"/>
            <a:ext cx="246137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Category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14882" y="4542592"/>
            <a:ext cx="3089910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Example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1410" y="4898469"/>
            <a:ext cx="6284833" cy="4657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82980" y="4993124"/>
            <a:ext cx="246137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Known bad bots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14882" y="4993124"/>
            <a:ext cx="3089910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sqlmap, Nikto, Havij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1410" y="5364242"/>
            <a:ext cx="6284833" cy="4657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82980" y="5458897"/>
            <a:ext cx="246137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Headless browsers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14882" y="5458897"/>
            <a:ext cx="3089910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HeadlessChrome, PhantomJS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1410" y="5830014"/>
            <a:ext cx="6284833" cy="4657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82980" y="5924669"/>
            <a:ext cx="246137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Empty/missing UA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14882" y="5924669"/>
            <a:ext cx="3089910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"" or absent header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1410" y="6295787"/>
            <a:ext cx="6284833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82980" y="6390442"/>
            <a:ext cx="246137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Spoofed UA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14882" y="6390442"/>
            <a:ext cx="3089910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Fake browser string with bot behavior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1410" y="6746319"/>
            <a:ext cx="6284833" cy="4657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82980" y="6840974"/>
            <a:ext cx="246137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Legitimate crawlers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14882" y="6840974"/>
            <a:ext cx="3089910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Googlebot, Bingbot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13546" y="2128361"/>
            <a:ext cx="6561296" cy="5254585"/>
          </a:xfrm>
          <a:prstGeom prst="roundRect">
            <a:avLst>
              <a:gd name="adj" fmla="val 518"/>
            </a:avLst>
          </a:prstGeom>
          <a:solidFill>
            <a:srgbClr val="AFCBF8"/>
          </a:solidFill>
          <a:ln/>
        </p:spPr>
      </p:sp>
      <p:sp>
        <p:nvSpPr>
          <p:cNvPr id="27" name="Text 25"/>
          <p:cNvSpPr/>
          <p:nvPr/>
        </p:nvSpPr>
        <p:spPr>
          <a:xfrm>
            <a:off x="7594997" y="227349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Limitations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594997" y="2702123"/>
            <a:ext cx="6198394" cy="573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User-agents are </a:t>
            </a:r>
            <a:r>
              <a:rPr lang="en-US" sz="14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easily spoofed</a:t>
            </a: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should never be used alone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Must be combined with behavioral signals for accuracy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94997" y="342042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Pros &amp; Cons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7594997" y="3867150"/>
            <a:ext cx="6198394" cy="1366838"/>
          </a:xfrm>
          <a:prstGeom prst="roundRect">
            <a:avLst>
              <a:gd name="adj" fmla="val 199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2617" y="3874770"/>
            <a:ext cx="6183154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784068" y="3969425"/>
            <a:ext cx="272486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879455" y="3969425"/>
            <a:ext cx="272486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602617" y="4325303"/>
            <a:ext cx="6183154" cy="450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784068" y="4419957"/>
            <a:ext cx="272486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Quick and cheap to implement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879455" y="4419957"/>
            <a:ext cx="272486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Trivially bypassed by spoofing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602617" y="4775835"/>
            <a:ext cx="6183154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784068" y="4870490"/>
            <a:ext cx="272486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Catches unsophisticated bots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879455" y="4870490"/>
            <a:ext cx="272486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false negatives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3550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6. AI/ML Detection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501973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AI/ML-based detection uses </a:t>
            </a: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machine learning models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identify anomalous or malicious behavior by learning patterns from historical data rather than relying on static rules.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95405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Core Approaches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2327077"/>
            <a:ext cx="6327815" cy="2702004"/>
          </a:xfrm>
          <a:prstGeom prst="roundRect">
            <a:avLst>
              <a:gd name="adj" fmla="val 88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10" y="2334697"/>
            <a:ext cx="6312575" cy="3645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60239" y="2408992"/>
            <a:ext cx="220372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Approach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89008" y="2408992"/>
            <a:ext cx="346626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Description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1410" y="2699266"/>
            <a:ext cx="6312575" cy="58054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60239" y="2773561"/>
            <a:ext cx="220372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Supervised Learning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89008" y="2773561"/>
            <a:ext cx="346626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Train on labeled attack/normal data (e.g., Random Forest, XGBoost)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1410" y="3279815"/>
            <a:ext cx="6312575" cy="58054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60239" y="3354110"/>
            <a:ext cx="220372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Unsupervised Learning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89008" y="3354110"/>
            <a:ext cx="346626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Detect anomalies without labels (e.g., Isolation Forest, Autoencoders)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1410" y="3860363"/>
            <a:ext cx="6312575" cy="58054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60239" y="3934658"/>
            <a:ext cx="220372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Deep Learning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89008" y="3934658"/>
            <a:ext cx="346626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 LSTMs/Transformers for sequence-based attack detection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1410" y="4440912"/>
            <a:ext cx="6312575" cy="58054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60239" y="4515207"/>
            <a:ext cx="220372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Reinforcement Learning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489008" y="4515207"/>
            <a:ext cx="346626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Adaptive systems that improve based on feedback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93790" y="515409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What ML Models Learn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93790" y="5513189"/>
            <a:ext cx="6327815" cy="980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Normal user behavior baselines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Temporal patterns (time-of-day access)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Navigation flow anomalies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Feature correlations across multiple signals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516416" y="195405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Common Algorithms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516416" y="2313146"/>
            <a:ext cx="6327815" cy="1235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Random Forest — classification of attack types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Isolation Forest — anomaly/outlier detection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LSTM — sequential behavior modeling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Autoencoders — reconstruct normal traffic; flag deviations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Graph Neural Networks — detect fraud rings and bot networks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516416" y="3659386"/>
            <a:ext cx="301954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Advantages over Rule-Based Systems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516416" y="4018478"/>
            <a:ext cx="6327815" cy="980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Detects </a:t>
            </a: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zero-day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</a:t>
            </a: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unknown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attack patterns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Adapts to </a:t>
            </a: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evolving threats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over time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Handles </a:t>
            </a: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high-dimensional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feature spaces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Reduces manual rule maintenance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516416" y="510992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Pros &amp; Cons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7516416" y="5482947"/>
            <a:ext cx="6327815" cy="1838087"/>
          </a:xfrm>
          <a:prstGeom prst="roundRect">
            <a:avLst>
              <a:gd name="adj" fmla="val 129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24036" y="5490567"/>
            <a:ext cx="6312575" cy="3645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682865" y="5564862"/>
            <a:ext cx="283499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842903" y="5564862"/>
            <a:ext cx="283499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524036" y="5855137"/>
            <a:ext cx="6312575" cy="3645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682865" y="5929432"/>
            <a:ext cx="283499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Detects novel/unknown attacks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842903" y="5929432"/>
            <a:ext cx="283499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Requires large labeled datasets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524036" y="6219706"/>
            <a:ext cx="6312575" cy="3645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682865" y="6294001"/>
            <a:ext cx="283499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Self-improving over time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0842903" y="6294001"/>
            <a:ext cx="283499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Black-box models are hard to explain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524036" y="6584275"/>
            <a:ext cx="6312575" cy="3645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682865" y="6658570"/>
            <a:ext cx="283499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Low false positives (when tuned)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842903" y="6658570"/>
            <a:ext cx="283499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Computationally expensive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524036" y="6948845"/>
            <a:ext cx="6312575" cy="3645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682865" y="7023140"/>
            <a:ext cx="283499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Handles complex patterns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842903" y="7023140"/>
            <a:ext cx="283499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Vulnerable to adversarial ML attacks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4642"/>
            <a:ext cx="368593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Combining Techniques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596985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single technique is sufficient. A robust security system layers these approaches: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043" y="1899285"/>
            <a:ext cx="7854196" cy="47909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77151" y="2835912"/>
            <a:ext cx="1790004" cy="23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Request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5044" y="3551490"/>
            <a:ext cx="423889" cy="4238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30936" y="4959861"/>
            <a:ext cx="1790003" cy="23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User-Agent Filter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5393" y="3809930"/>
            <a:ext cx="423889" cy="42388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56273" y="3064415"/>
            <a:ext cx="1848156" cy="23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Payload Pattern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35412" y="4068369"/>
            <a:ext cx="423889" cy="42388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97076" y="5515023"/>
            <a:ext cx="1790004" cy="23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Threshold Check</a:t>
            </a:r>
            <a:endParaRPr lang="en-US" sz="15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75299" y="4326809"/>
            <a:ext cx="423889" cy="423889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85865" y="3563412"/>
            <a:ext cx="1790004" cy="23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Brute Force Detect</a:t>
            </a:r>
            <a:endParaRPr lang="en-US" sz="15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01421" y="4604324"/>
            <a:ext cx="423889" cy="423889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793790" y="6797993"/>
            <a:ext cx="13042821" cy="486966"/>
          </a:xfrm>
          <a:prstGeom prst="roundRect">
            <a:avLst>
              <a:gd name="adj" fmla="val 4542"/>
            </a:avLst>
          </a:prstGeom>
          <a:solidFill>
            <a:srgbClr val="B3C3FF"/>
          </a:solidFill>
          <a:ln/>
        </p:spPr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189" y="6990278"/>
            <a:ext cx="184190" cy="147399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272778" y="6930509"/>
            <a:ext cx="12416433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Best Practice:</a:t>
            </a: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Use </a:t>
            </a:r>
            <a:r>
              <a:rPr lang="en-US" sz="11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rule-based methods</a:t>
            </a: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(threshold, payload, UA filtering) as fast pre-filters, and </a:t>
            </a:r>
            <a:r>
              <a:rPr lang="en-US" sz="11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AI/ML + risk scoring</a:t>
            </a: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as the intelligent decision layer for complex or ambiguous cases.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49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Advanced Integration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1853922"/>
            <a:ext cx="6571417" cy="5570696"/>
          </a:xfrm>
          <a:prstGeom prst="roundRect">
            <a:avLst>
              <a:gd name="adj" fmla="val 611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2080736"/>
            <a:ext cx="34699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Adaptive Thresholds with ML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2661880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Static thresholds are easily bypassed. Modern systems use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adaptive thresholds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powered by ML: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57250" y="3591758"/>
            <a:ext cx="6117788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Dynamic rate limits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based on user behavior (e.g., a dev API user vs. a mobile app user)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Time-series forecasting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predict normal traffic and flag deviations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Seasonal adjustment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e.g., higher thresholds during Black Friday sales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57250" y="6131838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Example: A user who normally makes 5 requests/sec suddenly makes 50 → triggers anomaly score, not static block.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080736"/>
            <a:ext cx="31036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Behavioral Biometrics + AI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266188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Beyond request patterns, advanced systems analyze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 behavior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3591758"/>
            <a:ext cx="6244709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Mouse movements, keystroke dynamics, scroll patterns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Session duration, navigation paths, feature usage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Device fingerprint stability (e.g., sudden change in screen resolution or timezone)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40603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These signals feed into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risk scoring engines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help distinguish real users from bots or hijacked sessions.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06066"/>
            <a:ext cx="5012174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 vs. Adversarial Attacks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93790" y="1754267"/>
            <a:ext cx="75564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ML models are powerful — but vulnerable to </a:t>
            </a:r>
            <a:r>
              <a:rPr lang="en-US" sz="15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adversarial manipulation</a:t>
            </a: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93790" y="2223849"/>
            <a:ext cx="7556421" cy="1401247"/>
          </a:xfrm>
          <a:prstGeom prst="roundRect">
            <a:avLst>
              <a:gd name="adj" fmla="val 7831"/>
            </a:avLst>
          </a:prstGeom>
          <a:solidFill>
            <a:srgbClr val="FFFFFF"/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0930" y="2223849"/>
            <a:ext cx="91440" cy="1401247"/>
          </a:xfrm>
          <a:prstGeom prst="roundRect">
            <a:avLst>
              <a:gd name="adj" fmla="val 31628"/>
            </a:avLst>
          </a:prstGeom>
          <a:solidFill>
            <a:srgbClr val="CCCCCC"/>
          </a:solidFill>
          <a:ln/>
        </p:spPr>
      </p:sp>
      <p:sp>
        <p:nvSpPr>
          <p:cNvPr id="7" name="Text 4"/>
          <p:cNvSpPr/>
          <p:nvPr/>
        </p:nvSpPr>
        <p:spPr>
          <a:xfrm>
            <a:off x="1077992" y="243947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Evasion Attacks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077992" y="2838926"/>
            <a:ext cx="7056596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Attackers can craft inputs to evade detection (e.g., obfuscated payloads that fool classifiers)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93790" y="3788926"/>
            <a:ext cx="7556421" cy="1115973"/>
          </a:xfrm>
          <a:prstGeom prst="roundRect">
            <a:avLst>
              <a:gd name="adj" fmla="val 9832"/>
            </a:avLst>
          </a:prstGeom>
          <a:solidFill>
            <a:srgbClr val="FFFFFF"/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0930" y="3788926"/>
            <a:ext cx="91440" cy="1115973"/>
          </a:xfrm>
          <a:prstGeom prst="roundRect">
            <a:avLst>
              <a:gd name="adj" fmla="val 31628"/>
            </a:avLst>
          </a:prstGeom>
          <a:solidFill>
            <a:srgbClr val="CCCCCC"/>
          </a:solidFill>
          <a:ln/>
        </p:spPr>
      </p:sp>
      <p:sp>
        <p:nvSpPr>
          <p:cNvPr id="11" name="Text 8"/>
          <p:cNvSpPr/>
          <p:nvPr/>
        </p:nvSpPr>
        <p:spPr>
          <a:xfrm>
            <a:off x="1077992" y="400454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Adversarial Training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077992" y="4404003"/>
            <a:ext cx="705659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Train models on adversarial examples to improve robustness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93790" y="5068729"/>
            <a:ext cx="7556421" cy="1115973"/>
          </a:xfrm>
          <a:prstGeom prst="roundRect">
            <a:avLst>
              <a:gd name="adj" fmla="val 9832"/>
            </a:avLst>
          </a:prstGeom>
          <a:solidFill>
            <a:srgbClr val="FFFFFF"/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0930" y="5068729"/>
            <a:ext cx="91440" cy="1115973"/>
          </a:xfrm>
          <a:prstGeom prst="roundRect">
            <a:avLst>
              <a:gd name="adj" fmla="val 31628"/>
            </a:avLst>
          </a:prstGeom>
          <a:solidFill>
            <a:srgbClr val="CCCCCC"/>
          </a:solidFill>
          <a:ln/>
        </p:spPr>
      </p:sp>
      <p:sp>
        <p:nvSpPr>
          <p:cNvPr id="15" name="Text 12"/>
          <p:cNvSpPr/>
          <p:nvPr/>
        </p:nvSpPr>
        <p:spPr>
          <a:xfrm>
            <a:off x="1077992" y="5284351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Ensemble Models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1077992" y="5683806"/>
            <a:ext cx="705659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Combine multiple models to reduce single-point failure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82993" y="6553319"/>
            <a:ext cx="7267218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Example:</a:t>
            </a: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 attacker modifies SQLi payload to </a:t>
            </a:r>
            <a:r>
              <a:rPr lang="en-US" sz="15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1</a:t>
            </a: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a rule-based system may miss it, but an ML model trained on obfuscated variants can still flag it.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93790" y="6369010"/>
            <a:ext cx="22860" cy="954405"/>
          </a:xfrm>
          <a:prstGeom prst="rect">
            <a:avLst/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43664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Risk Scoring in Practice: Example Workflow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2095262"/>
            <a:ext cx="181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93790" y="2380774"/>
            <a:ext cx="3705582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2517219"/>
            <a:ext cx="312860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Request arrives → Extract signals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2887742"/>
            <a:ext cx="3705582" cy="3127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IP: 192.168.1.100 (unknown, not in blocklist)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User-Agent: "Mozilla/5.0 (Windows NT 10.0; rv:102.0) Gecko/20100101 Firefox/102.0"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Geo: United States (normal)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Device: New fingerprint (medium risk)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Request rate: 12 req/sec (high for this user → </a:t>
            </a: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risk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)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Payload: Contains "SELECT * FROM" → pattern match → </a:t>
            </a: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risk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644509" y="2095262"/>
            <a:ext cx="181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44509" y="2380774"/>
            <a:ext cx="3705701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0" name="Text 7"/>
          <p:cNvSpPr/>
          <p:nvPr/>
        </p:nvSpPr>
        <p:spPr>
          <a:xfrm>
            <a:off x="4644509" y="251721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Aggregate scores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644509" y="2887742"/>
            <a:ext cx="3705701" cy="1820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IP: 10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UA: 5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Geo: 0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Device: 20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Rate: 30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Payload: 40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644509" y="4795718"/>
            <a:ext cx="370570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→ Total: </a:t>
            </a: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105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→ </a:t>
            </a: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Block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93790" y="6296025"/>
            <a:ext cx="181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93790" y="6581537"/>
            <a:ext cx="7556421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5" name="Text 12"/>
          <p:cNvSpPr/>
          <p:nvPr/>
        </p:nvSpPr>
        <p:spPr>
          <a:xfrm>
            <a:off x="793790" y="671798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 model override?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793790" y="7088505"/>
            <a:ext cx="75564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→ Model predicts </a:t>
            </a: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92% chance of SQLi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→ Confirms block.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5198"/>
            <a:ext cx="918317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Evaluation Metrics for Detection Systems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717953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 measure effectiveness, track: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93790" y="2284333"/>
            <a:ext cx="13042821" cy="4193262"/>
          </a:xfrm>
          <a:prstGeom prst="roundRect">
            <a:avLst>
              <a:gd name="adj" fmla="val 77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291953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6913" y="2422327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Metric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928949" y="2422327"/>
            <a:ext cx="868465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Description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01410" y="2888813"/>
            <a:ext cx="1302758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16913" y="3019187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Precision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928949" y="3019187"/>
            <a:ext cx="868465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% of blocked requests that were truly malicious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01410" y="3485674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16913" y="3616047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Recall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928949" y="3616047"/>
            <a:ext cx="868465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% of malicious requests correctly blocked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801410" y="4082534"/>
            <a:ext cx="1302758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16913" y="4212907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F1-Score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928949" y="4212907"/>
            <a:ext cx="868465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Harmonic mean of precision &amp; recall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01410" y="4679394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16913" y="4809768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False Positive Rate (FPR)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928949" y="4809768"/>
            <a:ext cx="868465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% of legitimate requests blocked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01410" y="5276255"/>
            <a:ext cx="1302758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16913" y="5406628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Mean Time to Detect (MTTD)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928949" y="5406628"/>
            <a:ext cx="868465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How fast threats are caught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801410" y="5873115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16913" y="6003488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Mean Time to Respond (MTTR)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4928949" y="6003488"/>
            <a:ext cx="868465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How fast action is taken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793790" y="6707862"/>
            <a:ext cx="13042821" cy="886420"/>
          </a:xfrm>
          <a:prstGeom prst="roundRect">
            <a:avLst>
              <a:gd name="adj" fmla="val 3646"/>
            </a:avLst>
          </a:prstGeom>
          <a:solidFill>
            <a:srgbClr val="B3C3FF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74" y="7024807"/>
            <a:ext cx="269319" cy="21538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93877" y="6966347"/>
            <a:ext cx="1212734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Goal:</a:t>
            </a:r>
            <a:r>
              <a:rPr lang="en-US" sz="16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Maximize recall &amp; precision, minimize FPR — often requires trade-offs.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4919"/>
            <a:ext cx="73104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Common Pitfalls &amp; Mitigations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17326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F2F2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417326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674620"/>
            <a:ext cx="33437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Over-reliance on User-Agent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165038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Mitigation: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Combine with behavioral signals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417326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F2F2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417326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6746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Static thresholds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165038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Mitigation: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Use adaptive, ML-driven limits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012049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F2F2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012049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Rule-only systems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4759762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Mitigation: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Add AI/ML for unknown threats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012049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F2F2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012049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Ignoring false positives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4759762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Mitigation: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Implement feedback loops and tuning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93790" y="5606772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F2F2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310" y="5606772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2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1142524" y="58640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No explainability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2524" y="6354485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Mitigation: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Use SHAP/LIME for model interpretability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428548" y="5606772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F2F2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98067" y="5606772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2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7777282" y="58640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Poor data quality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777282" y="6354485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Mitigation: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Clean, label, and augment training data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495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Tools &amp; Frameworks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37366"/>
            <a:ext cx="13042821" cy="3917156"/>
          </a:xfrm>
          <a:prstGeom prst="roundRect">
            <a:avLst>
              <a:gd name="adj" fmla="val 8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74498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2888694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Technique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591770" y="2888694"/>
            <a:ext cx="80104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Tools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01410" y="339530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8343" y="3539014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Payload Pattern Detection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591770" y="3539014"/>
            <a:ext cx="80104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ModSecurity, OWASP CRS, Snort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404562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343" y="4189333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Threshold/Brute Force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591770" y="4189333"/>
            <a:ext cx="80104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Fail2Ban, Nginx rate limiting, Cloudflare WAF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69594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8343" y="4839653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Risk Scoring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591770" y="4839653"/>
            <a:ext cx="80104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Sqreen, Datadog RASP, AWS WAF + AWS Fraud Detector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34626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5489972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AI/ML Detection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591770" y="5489972"/>
            <a:ext cx="80104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TensorFlow, Scikit-learn, Hugging Face, Amazon SageMaker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599658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343" y="6140291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Behavioral Biometrics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5591770" y="6140291"/>
            <a:ext cx="80104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PerimeterX, DataDome, F5 Advanced WAF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1572</Words>
  <Application>Microsoft Office PowerPoint</Application>
  <PresentationFormat>Custom</PresentationFormat>
  <Paragraphs>285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Crimson Pro Light</vt:lpstr>
      <vt:lpstr>Crimson Pro Semi Bold</vt:lpstr>
      <vt:lpstr>Heebo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2026-04-06T11:09:11Z</dcterms:created>
  <dcterms:modified xsi:type="dcterms:W3CDTF">2026-04-06T11:11:14Z</dcterms:modified>
</cp:coreProperties>
</file>