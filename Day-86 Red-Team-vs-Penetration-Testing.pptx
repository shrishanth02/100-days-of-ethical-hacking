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2901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9998"/>
            <a:ext cx="90744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Red Team vs. Penetration Testing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739503"/>
            <a:ext cx="499133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What's the Difference?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793790" y="2646640"/>
            <a:ext cx="13042821" cy="4642961"/>
          </a:xfrm>
          <a:prstGeom prst="roundRect">
            <a:avLst>
              <a:gd name="adj" fmla="val 205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65426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343" y="2797969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Feature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637598" y="2797969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Red Team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848606" y="2797969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Penetration Testing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304580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343" y="3448288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Goal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3637598" y="3448288"/>
            <a:ext cx="474976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Simulate real-world attackers to test detection &amp; response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848606" y="3448288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Find and exploit vulnerabilities in systems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431780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8343" y="4461510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Scope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3637598" y="4461510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Broad (people, process, tech)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8848606" y="4461510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Narrow (specific systems, apps, networks)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496812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343" y="5111829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Rules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3637598" y="5111829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rules, stealthy, adversarial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8848606" y="5111829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Rules of engagement (ROE) defined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801410" y="561844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28343" y="5762149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Duration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3637598" y="5762149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Weeks to months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8848606" y="5762149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Days to weeks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801410" y="6268760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28343" y="6412468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Output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3637598" y="6412468"/>
            <a:ext cx="474976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Adversary emulation, detection gaps, response effectiveness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8848606" y="6412468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Vulnerability report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742950"/>
            <a:ext cx="2241709" cy="397907"/>
          </a:xfrm>
          <a:prstGeom prst="roundRect">
            <a:avLst>
              <a:gd name="adj" fmla="val 18196"/>
            </a:avLst>
          </a:prstGeom>
          <a:solidFill>
            <a:srgbClr val="E8E6E3"/>
          </a:solidFill>
          <a:ln/>
        </p:spPr>
      </p:sp>
      <p:sp>
        <p:nvSpPr>
          <p:cNvPr id="4" name="Text 1"/>
          <p:cNvSpPr/>
          <p:nvPr/>
        </p:nvSpPr>
        <p:spPr>
          <a:xfrm>
            <a:off x="6409373" y="807482"/>
            <a:ext cx="1983343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RED TEAM WORKFLOW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280190" y="1222653"/>
            <a:ext cx="7556421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1. Reconnaissance (Passive &amp; Active)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6124932" y="2876550"/>
            <a:ext cx="3825835" cy="4610100"/>
          </a:xfrm>
          <a:prstGeom prst="roundRect">
            <a:avLst>
              <a:gd name="adj" fmla="val 4055"/>
            </a:avLst>
          </a:prstGeom>
          <a:solidFill>
            <a:srgbClr val="9C9283"/>
          </a:solidFill>
          <a:ln/>
        </p:spPr>
      </p:sp>
      <p:sp>
        <p:nvSpPr>
          <p:cNvPr id="7" name="Text 4"/>
          <p:cNvSpPr/>
          <p:nvPr/>
        </p:nvSpPr>
        <p:spPr>
          <a:xfrm>
            <a:off x="6340316" y="308121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Goal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340316" y="3622477"/>
            <a:ext cx="3395067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Gather intel without alerting defenders.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340316" y="449937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Tools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340316" y="5040630"/>
            <a:ext cx="3395067" cy="2374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theHarvester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Maltego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Shodan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Hunter.io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LinkedIn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Wayback Machine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0328910" y="308121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Example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0328910" y="3622477"/>
            <a:ext cx="3515320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Find employee emails, exposed servers, tech stack, social media profiles.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701040"/>
            <a:ext cx="2359700" cy="426244"/>
          </a:xfrm>
          <a:prstGeom prst="roundRect">
            <a:avLst>
              <a:gd name="adj" fmla="val 17880"/>
            </a:avLst>
          </a:prstGeom>
          <a:solidFill>
            <a:srgbClr val="E8E6E3"/>
          </a:solidFill>
          <a:ln/>
        </p:spPr>
      </p:sp>
      <p:sp>
        <p:nvSpPr>
          <p:cNvPr id="4" name="Text 1"/>
          <p:cNvSpPr/>
          <p:nvPr/>
        </p:nvSpPr>
        <p:spPr>
          <a:xfrm>
            <a:off x="929878" y="769025"/>
            <a:ext cx="208752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RED TEAM WORKFLOW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21800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2. Weaponization &amp; Initial Access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32025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Goal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3783687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Create and deliver malicious payloads.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47363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Tools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93790" y="5317450"/>
            <a:ext cx="35015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Metasploit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Cobalt Strike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Empire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PhishingFrenzy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Gophish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4692968" y="2975729"/>
            <a:ext cx="3828217" cy="4552712"/>
          </a:xfrm>
          <a:prstGeom prst="roundRect">
            <a:avLst>
              <a:gd name="adj" fmla="val 4266"/>
            </a:avLst>
          </a:prstGeom>
          <a:solidFill>
            <a:srgbClr val="6F7F71"/>
          </a:solidFill>
          <a:ln/>
        </p:spPr>
      </p:sp>
      <p:sp>
        <p:nvSpPr>
          <p:cNvPr id="11" name="Text 8"/>
          <p:cNvSpPr/>
          <p:nvPr/>
        </p:nvSpPr>
        <p:spPr>
          <a:xfrm>
            <a:off x="4919782" y="32025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Example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919782" y="3783687"/>
            <a:ext cx="337458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Send spear-phishing email with malicious macro → user opens → reverse shell established.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984534"/>
            <a:ext cx="2359700" cy="426244"/>
          </a:xfrm>
          <a:prstGeom prst="roundRect">
            <a:avLst>
              <a:gd name="adj" fmla="val 17880"/>
            </a:avLst>
          </a:prstGeom>
          <a:solidFill>
            <a:srgbClr val="E8E6E3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2052518"/>
            <a:ext cx="208752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RED TEAM WORKFLOW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501503"/>
            <a:ext cx="72085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3. Execution &amp; Persistence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3550444"/>
            <a:ext cx="4196358" cy="2694503"/>
          </a:xfrm>
          <a:prstGeom prst="roundRect">
            <a:avLst>
              <a:gd name="adj" fmla="val 5430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dist="2921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3310" y="3550444"/>
            <a:ext cx="121920" cy="2694503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</p:sp>
      <p:sp>
        <p:nvSpPr>
          <p:cNvPr id="7" name="Text 5"/>
          <p:cNvSpPr/>
          <p:nvPr/>
        </p:nvSpPr>
        <p:spPr>
          <a:xfrm>
            <a:off x="1142524" y="38077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Goal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2524" y="4298156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Execute code, maintain access.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550444"/>
            <a:ext cx="4196358" cy="2694503"/>
          </a:xfrm>
          <a:prstGeom prst="roundRect">
            <a:avLst>
              <a:gd name="adj" fmla="val 5430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dist="2921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86482" y="3550444"/>
            <a:ext cx="121920" cy="2694503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</p:sp>
      <p:sp>
        <p:nvSpPr>
          <p:cNvPr id="11" name="Text 9"/>
          <p:cNvSpPr/>
          <p:nvPr/>
        </p:nvSpPr>
        <p:spPr>
          <a:xfrm>
            <a:off x="5565696" y="38077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Tools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65696" y="4298156"/>
            <a:ext cx="3590330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PowerShell Empire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Cobalt Strike Beacon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Mimikatz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PsExec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3550444"/>
            <a:ext cx="4196358" cy="2694503"/>
          </a:xfrm>
          <a:prstGeom prst="roundRect">
            <a:avLst>
              <a:gd name="adj" fmla="val 5430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dist="2921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09653" y="3550444"/>
            <a:ext cx="121920" cy="2694503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</p:sp>
      <p:sp>
        <p:nvSpPr>
          <p:cNvPr id="15" name="Text 13"/>
          <p:cNvSpPr/>
          <p:nvPr/>
        </p:nvSpPr>
        <p:spPr>
          <a:xfrm>
            <a:off x="9988868" y="38077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Example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988868" y="4298156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Use PowerShell to bypass AMSI, dump credentials, create scheduled task for persistence.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701040"/>
            <a:ext cx="2359700" cy="426244"/>
          </a:xfrm>
          <a:prstGeom prst="roundRect">
            <a:avLst>
              <a:gd name="adj" fmla="val 17880"/>
            </a:avLst>
          </a:prstGeom>
          <a:solidFill>
            <a:srgbClr val="E8E6E3"/>
          </a:solidFill>
          <a:ln/>
        </p:spPr>
      </p:sp>
      <p:sp>
        <p:nvSpPr>
          <p:cNvPr id="4" name="Text 1"/>
          <p:cNvSpPr/>
          <p:nvPr/>
        </p:nvSpPr>
        <p:spPr>
          <a:xfrm>
            <a:off x="929878" y="769025"/>
            <a:ext cx="208752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RED TEAM WORKFLOW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21800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4. Privilege Escalation &amp; Lateral Movement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630436" y="2975729"/>
            <a:ext cx="3828217" cy="4552712"/>
          </a:xfrm>
          <a:prstGeom prst="roundRect">
            <a:avLst>
              <a:gd name="adj" fmla="val 4266"/>
            </a:avLst>
          </a:prstGeom>
          <a:solidFill>
            <a:srgbClr val="9C9283"/>
          </a:solidFill>
          <a:ln/>
        </p:spPr>
      </p:sp>
      <p:sp>
        <p:nvSpPr>
          <p:cNvPr id="7" name="Text 4"/>
          <p:cNvSpPr/>
          <p:nvPr/>
        </p:nvSpPr>
        <p:spPr>
          <a:xfrm>
            <a:off x="857250" y="32025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Goal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57250" y="3783687"/>
            <a:ext cx="3374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Gain admin rights, move across network.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57250" y="47363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Tools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57250" y="5317450"/>
            <a:ext cx="3374588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BloodHound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CrackMapExec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Impacket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Mimikatz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PsExec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32025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Example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856321" y="3783687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Exploit misconfigured service → dump NTLM hashes → pass-the-hash to domain controller.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58039"/>
            <a:ext cx="2359700" cy="426244"/>
          </a:xfrm>
          <a:prstGeom prst="roundRect">
            <a:avLst>
              <a:gd name="adj" fmla="val 17880"/>
            </a:avLst>
          </a:prstGeom>
          <a:solidFill>
            <a:srgbClr val="E8E6E3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526024"/>
            <a:ext cx="208752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RED TEAM WORKFLOW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975009"/>
            <a:ext cx="104210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5. Exfiltration &amp; Objective Completion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250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Goal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3190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Steal data or achieve mission (e.g., access CEO's mailbox).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4216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Tools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5002768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Rclone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Netcat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DNS tunneling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Cobalt Strike's data exfil modules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36168" y="3023949"/>
            <a:ext cx="6571417" cy="3747611"/>
          </a:xfrm>
          <a:prstGeom prst="roundRect">
            <a:avLst>
              <a:gd name="adj" fmla="val 4358"/>
            </a:avLst>
          </a:prstGeom>
          <a:solidFill>
            <a:srgbClr val="6F7F71"/>
          </a:solidFill>
          <a:ln/>
        </p:spPr>
      </p:sp>
      <p:sp>
        <p:nvSpPr>
          <p:cNvPr id="10" name="Text 8"/>
          <p:cNvSpPr/>
          <p:nvPr/>
        </p:nvSpPr>
        <p:spPr>
          <a:xfrm>
            <a:off x="7662982" y="3250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Example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62982" y="3831908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Compress sensitive files → exfiltrate via DNS tunnel → upload to attacker's server.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7956" y="629007"/>
            <a:ext cx="2224802" cy="393978"/>
          </a:xfrm>
          <a:prstGeom prst="roundRect">
            <a:avLst>
              <a:gd name="adj" fmla="val 18242"/>
            </a:avLst>
          </a:prstGeom>
          <a:solidFill>
            <a:srgbClr val="E8E6E3"/>
          </a:solidFill>
          <a:ln/>
        </p:spPr>
      </p:sp>
      <p:sp>
        <p:nvSpPr>
          <p:cNvPr id="3" name="Text 1"/>
          <p:cNvSpPr/>
          <p:nvPr/>
        </p:nvSpPr>
        <p:spPr>
          <a:xfrm>
            <a:off x="916186" y="693063"/>
            <a:ext cx="1968341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RED TEAM WORKFLOW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7956" y="1451491"/>
            <a:ext cx="6266378" cy="133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6. Cover Tracks &amp; Cleanup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87956" y="2868692"/>
            <a:ext cx="2673668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Goal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87956" y="3404592"/>
            <a:ext cx="6266378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Avoid detection, erase logs.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87956" y="3938826"/>
            <a:ext cx="2673668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Tools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87956" y="4474726"/>
            <a:ext cx="6266378" cy="1541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LogParser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EventViewer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Wevtutil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Cobalt Strike's cleanup modules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87956" y="6218039"/>
            <a:ext cx="2673668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Example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87956" y="6753939"/>
            <a:ext cx="6266378" cy="665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Clear Windows Event Logs, delete temp files, disable Windows Defender.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429738" y="1249799"/>
            <a:ext cx="6574274" cy="6350675"/>
          </a:xfrm>
          <a:prstGeom prst="roundRect">
            <a:avLst>
              <a:gd name="adj" fmla="val 2425"/>
            </a:avLst>
          </a:prstGeom>
          <a:solidFill>
            <a:srgbClr val="9C9283"/>
          </a:solidFill>
          <a:ln/>
        </p:spPr>
      </p:sp>
      <p:sp>
        <p:nvSpPr>
          <p:cNvPr id="12" name="Text 10"/>
          <p:cNvSpPr/>
          <p:nvPr/>
        </p:nvSpPr>
        <p:spPr>
          <a:xfrm>
            <a:off x="7643574" y="1451491"/>
            <a:ext cx="5778937" cy="668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7. Reporting &amp; Debrief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7643574" y="2200394"/>
            <a:ext cx="2673668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Goal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643574" y="2736294"/>
            <a:ext cx="6146602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Deliver findings, lessons learned, and recommendations.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643574" y="3270528"/>
            <a:ext cx="2673668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Deliverables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643574" y="3806428"/>
            <a:ext cx="6146602" cy="1944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Executive Summary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Technical Report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Attack Timeline (TTPs)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Detection Gaps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Recommendations for Blue Team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3429"/>
            <a:ext cx="6034326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Full Red Team Report Template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1481852"/>
            <a:ext cx="13042821" cy="1613297"/>
          </a:xfrm>
          <a:prstGeom prst="roundRect">
            <a:avLst>
              <a:gd name="adj" fmla="val 4134"/>
            </a:avLst>
          </a:prstGeom>
          <a:solidFill>
            <a:srgbClr val="F0EEEA"/>
          </a:solidFill>
          <a:ln/>
        </p:spPr>
      </p:sp>
      <p:sp>
        <p:nvSpPr>
          <p:cNvPr id="4" name="Shape 2"/>
          <p:cNvSpPr/>
          <p:nvPr/>
        </p:nvSpPr>
        <p:spPr>
          <a:xfrm>
            <a:off x="785932" y="1481852"/>
            <a:ext cx="13058537" cy="1613297"/>
          </a:xfrm>
          <a:prstGeom prst="roundRect">
            <a:avLst>
              <a:gd name="adj" fmla="val 1476"/>
            </a:avLst>
          </a:prstGeom>
          <a:solidFill>
            <a:srgbClr val="F0EEEA"/>
          </a:solidFill>
          <a:ln/>
        </p:spPr>
      </p:sp>
      <p:sp>
        <p:nvSpPr>
          <p:cNvPr id="5" name="Text 3"/>
          <p:cNvSpPr/>
          <p:nvPr/>
        </p:nvSpPr>
        <p:spPr>
          <a:xfrm>
            <a:off x="984290" y="1640562"/>
            <a:ext cx="12661821" cy="1295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 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RED TEAM ENGAGEMENT REPORT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Client: [Company Name]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Date: [Start Date] – [End Date]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Team: [Red Team Name]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93790" y="3220164"/>
            <a:ext cx="6465808" cy="2086808"/>
          </a:xfrm>
          <a:prstGeom prst="roundRect">
            <a:avLst>
              <a:gd name="adj" fmla="val 3196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6650" y="3243024"/>
            <a:ext cx="6420088" cy="476250"/>
          </a:xfrm>
          <a:prstGeom prst="roundRect">
            <a:avLst>
              <a:gd name="adj" fmla="val 8243"/>
            </a:avLst>
          </a:prstGeom>
          <a:solidFill>
            <a:srgbClr val="E6DED2">
              <a:alpha val="50000"/>
            </a:srgbClr>
          </a:solidFill>
          <a:ln/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07631" y="3328511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975360" y="383036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Executive Summary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75360" y="4145042"/>
            <a:ext cx="6102668" cy="980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Objective: [e.g., Test detection of credential theft]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Scope: [e.g., Internal network, email, physical access]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Key Findings: [e.g., 3 critical vulnerabilities exploited]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Overall Risk: High / Medium / Low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70683" y="3220164"/>
            <a:ext cx="6465927" cy="2086808"/>
          </a:xfrm>
          <a:prstGeom prst="roundRect">
            <a:avLst>
              <a:gd name="adj" fmla="val 3196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93543" y="3243024"/>
            <a:ext cx="6420207" cy="476250"/>
          </a:xfrm>
          <a:prstGeom prst="roundRect">
            <a:avLst>
              <a:gd name="adj" fmla="val 8243"/>
            </a:avLst>
          </a:prstGeom>
          <a:solidFill>
            <a:srgbClr val="E6DED2">
              <a:alpha val="50000"/>
            </a:srgbClr>
          </a:solidFill>
          <a:ln/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484525" y="3328511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7552253" y="383036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Methodology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52253" y="4145042"/>
            <a:ext cx="6102787" cy="941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Phases: Recon → Weaponization → Execution → Persistence → Lateral Movement → Exfiltration → Cleanup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Tools Used: [List tools per phase]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Rules of Engagement: [ROE document attached]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3790" y="5418058"/>
            <a:ext cx="6465808" cy="2047994"/>
          </a:xfrm>
          <a:prstGeom prst="roundRect">
            <a:avLst>
              <a:gd name="adj" fmla="val 3256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6650" y="5440918"/>
            <a:ext cx="6420088" cy="476250"/>
          </a:xfrm>
          <a:prstGeom prst="roundRect">
            <a:avLst>
              <a:gd name="adj" fmla="val 8243"/>
            </a:avLst>
          </a:prstGeom>
          <a:solidFill>
            <a:srgbClr val="E6DED2">
              <a:alpha val="50000"/>
            </a:srgbClr>
          </a:solidFill>
          <a:ln/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07631" y="5526405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975360" y="6028253"/>
            <a:ext cx="217979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Attack Timeline (TTPs)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75360" y="6342936"/>
            <a:ext cx="6102668" cy="941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[Date/Time] → [Action] → [Tool] → [Result]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2026-03-23 09:15 → Spear-phishing email sent → Gophish → User clicked link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2026-03-23 09:17 → Reverse shell established → Cobalt Strike → Initial access gained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70683" y="5418058"/>
            <a:ext cx="6465927" cy="2047994"/>
          </a:xfrm>
          <a:prstGeom prst="roundRect">
            <a:avLst>
              <a:gd name="adj" fmla="val 3256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93543" y="5440918"/>
            <a:ext cx="6420207" cy="476250"/>
          </a:xfrm>
          <a:prstGeom prst="roundRect">
            <a:avLst>
              <a:gd name="adj" fmla="val 8243"/>
            </a:avLst>
          </a:prstGeom>
          <a:solidFill>
            <a:srgbClr val="E6DED2">
              <a:alpha val="50000"/>
            </a:srgbClr>
          </a:solidFill>
          <a:ln/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484525" y="5526405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4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7552253" y="6028253"/>
            <a:ext cx="239422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Vulnerabilities Exploited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552253" y="6342936"/>
            <a:ext cx="6102787" cy="72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CVE-2021-41773 (Apache) → Critical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Weak password policy → High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Unpatched Windows 10 → Medium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4326"/>
            <a:ext cx="119563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Full Red Team Report Template </a:t>
            </a:r>
            <a:r>
              <a:rPr lang="en-US" sz="4450" dirty="0">
                <a:solidFill>
                  <a:srgbClr val="9C9283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(continued)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323267"/>
            <a:ext cx="6571417" cy="4632007"/>
          </a:xfrm>
          <a:prstGeom prst="roundRect">
            <a:avLst>
              <a:gd name="adj" fmla="val 3526"/>
            </a:avLst>
          </a:prstGeom>
          <a:solidFill>
            <a:srgbClr val="9C9283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25500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5. Detection Gaps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131225"/>
            <a:ext cx="6117788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EDR alert on PowerShell execution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SIEM missed lateral movement via SMB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network segmentation between departments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57250" y="4605337"/>
            <a:ext cx="28584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6. Recommendations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7250" y="5186482"/>
            <a:ext cx="6117788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Implement MFA for all users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Deploy EDR with behavioral detection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Segment network by department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Conduct quarterly phishing simulations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25500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7. Appendices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3131225"/>
            <a:ext cx="62447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Screenshots of exploits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Command logs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Network diagrams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ROE document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Tool configurations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9872"/>
            <a:ext cx="7259241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Red Team Tools Cheat Sheet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93790" y="1962626"/>
            <a:ext cx="13042821" cy="5386983"/>
          </a:xfrm>
          <a:prstGeom prst="roundRect">
            <a:avLst>
              <a:gd name="adj" fmla="val 168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1970246"/>
            <a:ext cx="1302758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16913" y="2100620"/>
            <a:ext cx="282225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Category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277558" y="2100620"/>
            <a:ext cx="93360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Tools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01410" y="2567107"/>
            <a:ext cx="13027581" cy="5968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16913" y="2697480"/>
            <a:ext cx="282225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Recon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277558" y="2697480"/>
            <a:ext cx="93360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theHarvester, Maltego, Shodan, Hunter.io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01410" y="3163967"/>
            <a:ext cx="1302758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16913" y="3294340"/>
            <a:ext cx="282225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Phishing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277558" y="3294340"/>
            <a:ext cx="93360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Gophish, King Phisher, SET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01410" y="3760827"/>
            <a:ext cx="13027581" cy="5968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16913" y="3891201"/>
            <a:ext cx="282225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Exploitation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277558" y="3891201"/>
            <a:ext cx="93360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Metasploit, Cobalt Strike, Empire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01410" y="4357688"/>
            <a:ext cx="1302758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16913" y="4488061"/>
            <a:ext cx="282225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Post-Exploitation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277558" y="4488061"/>
            <a:ext cx="93360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Mimikatz, BloodHound, CrackMapExec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801410" y="4954548"/>
            <a:ext cx="13027581" cy="5968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16913" y="5084921"/>
            <a:ext cx="282225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Lateral Movement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277558" y="5084921"/>
            <a:ext cx="93360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PsExec, Impacket, WMI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801410" y="5551408"/>
            <a:ext cx="1302758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16913" y="5681782"/>
            <a:ext cx="282225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Exfiltration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4277558" y="5681782"/>
            <a:ext cx="93360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Rclone, DNScat2, Cobalt Strike modules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801410" y="6148268"/>
            <a:ext cx="13027581" cy="5968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16913" y="6278642"/>
            <a:ext cx="282225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Evasion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4277558" y="6278642"/>
            <a:ext cx="93360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Cobalt Strike's sleep obfuscation, AMSI bypass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801410" y="6745129"/>
            <a:ext cx="1302758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16913" y="6875502"/>
            <a:ext cx="282225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Reporting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4277558" y="6875502"/>
            <a:ext cx="93360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Dradis, KeepNote, Word/Markdown templates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690</Words>
  <Application>Microsoft Office PowerPoint</Application>
  <PresentationFormat>Custom</PresentationFormat>
  <Paragraphs>172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Consolas</vt:lpstr>
      <vt:lpstr>Noto Serif</vt:lpstr>
      <vt:lpstr>Noto Serif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2026-03-23T05:36:11Z</dcterms:created>
  <dcterms:modified xsi:type="dcterms:W3CDTF">2026-03-23T05:37:09Z</dcterms:modified>
</cp:coreProperties>
</file>