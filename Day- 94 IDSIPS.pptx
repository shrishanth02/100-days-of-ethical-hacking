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Platypi Medium" panose="020B0604020202020204" charset="0"/>
      <p:regular r:id="rId22"/>
    </p:embeddedFont>
    <p:embeddedFont>
      <p:font typeface="Source Serif 4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91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157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IDS/IPS Detects and Prevents Network Intrusions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04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IDS/IPS?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979420"/>
            <a:ext cx="6571417" cy="2100739"/>
          </a:xfrm>
          <a:prstGeom prst="roundRect">
            <a:avLst>
              <a:gd name="adj" fmla="val 1620"/>
            </a:avLst>
          </a:prstGeom>
          <a:solidFill>
            <a:srgbClr val="3E251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206234"/>
            <a:ext cx="47490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 — Intrusion Detection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787378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Monitors network traffic — Detects suspicious activity and alerts analysts — Does NOT block traffic — Acts as a "security camera"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206234"/>
            <a:ext cx="48541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IPS — Intrusion Prevention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78737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Actively monitors network traffic — Detects AND blocks malicious activity in real-time — Prevents attacks before they reach the target — Acts as a "security guard"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335310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EDD5C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79400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0906" y="561879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Difference:</a:t>
            </a:r>
            <a:r>
              <a:rPr lang="en-US" sz="17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IDS = Detection | IPS = Detection + Prevention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3535"/>
            <a:ext cx="9214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IDS/IPS: DETECTION METHODS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75942"/>
            <a:ext cx="6407944" cy="3840004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775942"/>
            <a:ext cx="121920" cy="3840004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033236"/>
            <a:ext cx="47461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1. SIGNATURE-BASED DETECTION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2365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Compares traffic against known attack patterns (signatures) — Similar to antivirus scanning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4385548"/>
            <a:ext cx="5801916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Pros: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Fast, accurate for known threats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Cons: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Cannot detect new/unknown attacks (zero-days)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Example: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Detecting SQL injection patterns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775942"/>
            <a:ext cx="6408063" cy="3840004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775942"/>
            <a:ext cx="121920" cy="3840004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033236"/>
            <a:ext cx="46258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2. ANOMALY-BASED DETECTION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52365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Establishes baseline of "normal" network behavior — Flags deviations from baseline as suspicious — Uses machine learning and statistical analysis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7282" y="4748451"/>
            <a:ext cx="5802035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Pros: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Can detect new/unknown threats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Cons: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Higher false positive rates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Example: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Detecting unusual data transfer volumes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1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531382"/>
            <a:ext cx="725805" cy="1088708"/>
          </a:xfrm>
          <a:prstGeom prst="roundRect">
            <a:avLst>
              <a:gd name="adj" fmla="val 360021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190559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64732" y="171283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PACKET CAPTURE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664732" y="2083356"/>
            <a:ext cx="121718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IDS/IPS intercepts all network packets — Examines source IP, destination IP, port, protocol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3790" y="2765227"/>
            <a:ext cx="725805" cy="1088708"/>
          </a:xfrm>
          <a:prstGeom prst="roundRect">
            <a:avLst>
              <a:gd name="adj" fmla="val 360021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1020604" y="313944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64732" y="294667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ANALYSIS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664732" y="3317200"/>
            <a:ext cx="121718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Compares packet against signature database — Checks for anomalies using ML models — Correlates with previous traffic patterns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3790" y="3999071"/>
            <a:ext cx="725805" cy="1088708"/>
          </a:xfrm>
          <a:prstGeom prst="roundRect">
            <a:avLst>
              <a:gd name="adj" fmla="val 360021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1020604" y="437328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664732" y="418052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DECISION MAKING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664732" y="4551045"/>
            <a:ext cx="121718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IDS: Generates alert and logs event — IPS: Decides to allow or block traffic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3790" y="5232916"/>
            <a:ext cx="725805" cy="1088708"/>
          </a:xfrm>
          <a:prstGeom prst="roundRect">
            <a:avLst>
              <a:gd name="adj" fmla="val 360021"/>
            </a:avLst>
          </a:prstGeom>
          <a:solidFill>
            <a:srgbClr val="F9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20604" y="560712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664732" y="541436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64732" y="5784890"/>
            <a:ext cx="121718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IDS: Sends alert to SOC analyst — IPS: Drops packet, resets connection, or blocks IP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3790" y="6466761"/>
            <a:ext cx="725805" cy="1088708"/>
          </a:xfrm>
          <a:prstGeom prst="roundRect">
            <a:avLst>
              <a:gd name="adj" fmla="val 360021"/>
            </a:avLst>
          </a:prstGeom>
          <a:solidFill>
            <a:srgbClr val="F9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1020604" y="684097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64732" y="664821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LOGGING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664732" y="7018734"/>
            <a:ext cx="121718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Records all events for forensics and compliance — Sends data to SIEM for correlation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0232" t="20731" r="5488" b="13686"/>
          <a:stretch>
            <a:fillRect/>
          </a:stretch>
        </p:blipFill>
        <p:spPr>
          <a:xfrm>
            <a:off x="9549263" y="1572323"/>
            <a:ext cx="4623937" cy="5397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793790" y="814507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SCENARIO:</a:t>
            </a:r>
            <a:r>
              <a:rPr lang="en-US" sz="4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Port Scan Detection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2468404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 attacker scans your network to find open ports and services.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93790" y="323945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HAPPENS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3780711"/>
            <a:ext cx="3515320" cy="101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 00:00:00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Attacker sends SYN packets to ports 22, 80, 443, 445, 3389 — From IP: </a:t>
            </a:r>
            <a:r>
              <a:rPr lang="en-US" sz="16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203.0.113.50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3790" y="4980861"/>
            <a:ext cx="3515320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 00:00:05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IDS/IPS detects 50 SYN packets to multiple ports in 5 seconds — Matches signature rule: "Port Scan Detected" — Severity: </a:t>
            </a:r>
            <a:r>
              <a:rPr lang="en-US" sz="1650" b="1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842510" y="323945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 ACTION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842510" y="3780711"/>
            <a:ext cx="3515320" cy="101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Generates alert: "Port scan from </a:t>
            </a:r>
            <a:r>
              <a:rPr lang="en-US" sz="16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203.0.113.50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 — Analyst reviews and decides next steps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842510" y="500133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IPS ACTION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842510" y="5542598"/>
            <a:ext cx="3515320" cy="1688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Automatically blocks all traffic from </a:t>
            </a:r>
            <a:r>
              <a:rPr lang="en-US" sz="16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203.0.113.50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Resets all connections from that IP — Adds IP to temporary blocklist — </a:t>
            </a: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Attack prevented in real-time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5703"/>
            <a:ext cx="130428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MALWARE COMMAND AND CONTROL (C2) DETECTION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509004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DETECTING MALWARE C2 COMMUNICATION — </a:t>
            </a:r>
            <a:r>
              <a:rPr lang="en-US" sz="16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BACKGROUND:</a:t>
            </a: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 compromised laptop tries to communicate with an attacker's server.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6867" y="3025973"/>
            <a:ext cx="4535091" cy="4337923"/>
          </a:xfrm>
          <a:prstGeom prst="roundRect">
            <a:avLst>
              <a:gd name="adj" fmla="val 70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0940" y="320968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ATTACK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940" y="3712250"/>
            <a:ext cx="4126944" cy="124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Infected laptop sends data to </a:t>
            </a:r>
            <a:r>
              <a:rPr lang="en-US" sz="1600" dirty="0">
                <a:solidFill>
                  <a:srgbClr val="504C49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185.143.222.10:443</a:t>
            </a: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Malware receives commands from attacker — Data exfiltration begins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940" y="514469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IDS/IPS DETECTION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940" y="5647253"/>
            <a:ext cx="4126944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Signature rule: "Known C2 server IP detected" — Anomaly detection: Unusual outbound HTTPS traffic at 3 AM — Flags: High volume of encrypted traffic to unknown destination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40573" y="320968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RESPONSE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40573" y="3712250"/>
            <a:ext cx="830353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IDS:</a:t>
            </a: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Alerts SOC analyst immediately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40573" y="4187785"/>
            <a:ext cx="8303538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IPS:</a:t>
            </a: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Blocks connection to </a:t>
            </a:r>
            <a:r>
              <a:rPr lang="en-US" sz="16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185.143.222.10</a:t>
            </a: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Isolates the infected laptop — Prevents data exfiltration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40573" y="5022652"/>
            <a:ext cx="8303538" cy="812244"/>
          </a:xfrm>
          <a:prstGeom prst="roundRect">
            <a:avLst>
              <a:gd name="adj" fmla="val 3770"/>
            </a:avLst>
          </a:prstGeom>
          <a:solidFill>
            <a:srgbClr val="EDD5C4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647" y="5320070"/>
            <a:ext cx="255151" cy="20407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03871" y="5257324"/>
            <a:ext cx="743616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OUTCOME:</a:t>
            </a:r>
            <a:r>
              <a:rPr lang="en-US" sz="16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Attack stopped before sensitive data is stolen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4863"/>
            <a:ext cx="111746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SQL INJECTION ATTACK PREVENTION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72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PREVENTING SQL INJECTION ATTACKS —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BACKGROUND: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Attacker attempts to manipulate a web application database.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85323"/>
            <a:ext cx="4196358" cy="3620453"/>
          </a:xfrm>
          <a:prstGeom prst="roundRect">
            <a:avLst>
              <a:gd name="adj" fmla="val 940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2812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ATTACK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302556"/>
            <a:ext cx="3742730" cy="1822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Attacker sends malicious SQL code in web request — Example payload: </a:t>
            </a:r>
            <a:r>
              <a:rPr lang="en-US" sz="17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login field — Attempts to bypass authentication and access database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585323"/>
            <a:ext cx="4196358" cy="3620453"/>
          </a:xfrm>
          <a:prstGeom prst="roundRect">
            <a:avLst>
              <a:gd name="adj" fmla="val 940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2812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IDS/IPS DETECTION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3302556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Signature rule: "SQL injection pattern detected" — Analyzes HTTP payload for suspicious SQL syntax — Detects special characters and SQL keywords in unusual places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585323"/>
            <a:ext cx="4196358" cy="3620453"/>
          </a:xfrm>
          <a:prstGeom prst="roundRect">
            <a:avLst>
              <a:gd name="adj" fmla="val 940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2812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RESPONSE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330255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Logs the attack attempt — Alerts security team — Tracks attacker IP and timestamp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66948" y="4527352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IPS: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Blocks the malicious request — Drops the packet before it reaches web server — Prevents unauthorized database access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646092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EDD5C4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805017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906" y="674441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OUTCOME:</a:t>
            </a:r>
            <a:r>
              <a:rPr lang="en-US" sz="17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Application remains secure, attack prevented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3927"/>
            <a:ext cx="685169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DDoS ATTACK MITIGATION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1792129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MITIGATING DISTRIBUTED DENIAL OF SERVICE (DDoS) — </a:t>
            </a: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BACKGROUND: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Multiple sources flood your server with traffic to cause outage.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3790" y="271081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ATTACK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3175873"/>
            <a:ext cx="354306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10,000 requests per second from 500 different IPs — Legitimate users cannot access the service — Server becomes unresponsive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3790" y="448079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IDS/IPS DETECTION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4945856"/>
            <a:ext cx="3543062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Anomaly detection: Traffic volume 100x normal baseline — Pattern recognition: Identical requests from multiple IPs — Signature: Known DDoS botnet traffic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14768" y="271081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RESPONSE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14768" y="3175873"/>
            <a:ext cx="3543062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Alerts SOC about traffic spike — Provides analytics on attack source IPs — Recommends rate-limiting rules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14768" y="4179094"/>
            <a:ext cx="3543062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IPS: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Rate-limits requests from suspicious IPs — Drops packets exceeding threshold — Prioritizes legitimate traffic — Activates DDoS protection rules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814768" y="5789771"/>
            <a:ext cx="3543062" cy="1311473"/>
          </a:xfrm>
          <a:prstGeom prst="roundRect">
            <a:avLst>
              <a:gd name="adj" fmla="val 2205"/>
            </a:avLst>
          </a:prstGeom>
          <a:solidFill>
            <a:srgbClr val="EDD5C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531" y="6067663"/>
            <a:ext cx="240983" cy="1927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1275" y="6001703"/>
            <a:ext cx="272379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OUTCOME:</a:t>
            </a:r>
            <a:r>
              <a:rPr lang="en-US" sz="1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Service remains available, attack traffic filtered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7957"/>
            <a:ext cx="1292733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SIMPLE ANALOGY: IDS/IPS IN EVERYDAY TERMS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80711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IMAGINE YOUR HOME AS A NETWORK: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38532" y="2447092"/>
            <a:ext cx="6569035" cy="2305050"/>
          </a:xfrm>
          <a:prstGeom prst="roundRect">
            <a:avLst>
              <a:gd name="adj" fmla="val 1402"/>
            </a:avLst>
          </a:prstGeom>
          <a:solidFill>
            <a:srgbClr val="995515"/>
          </a:solidFill>
          <a:ln/>
        </p:spPr>
      </p:sp>
      <p:sp>
        <p:nvSpPr>
          <p:cNvPr id="5" name="Text 3"/>
          <p:cNvSpPr/>
          <p:nvPr/>
        </p:nvSpPr>
        <p:spPr>
          <a:xfrm>
            <a:off x="853916" y="2651760"/>
            <a:ext cx="390477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 — Like a Security Camera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3916" y="3193018"/>
            <a:ext cx="6138267" cy="148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Records suspicious activity (someone trying multiple doors)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Alerts you to review the footage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NOT stop the intruder physically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85710" y="2651760"/>
            <a:ext cx="365736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IPS — Like a Security Guard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5710" y="3193018"/>
            <a:ext cx="6258520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Checks ID of every visitor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Stops suspicious people from entering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Prevents the intrusion before it happens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93790" y="4982408"/>
            <a:ext cx="13042821" cy="2449235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793790" y="4982408"/>
            <a:ext cx="6521410" cy="2449235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1009174" y="51977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Without IDS/IPS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9174" y="5657136"/>
            <a:ext cx="6090642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Attacker scans ports freely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Malware communicates with C2 server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SQL injection succeeds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is stolen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0" y="4982408"/>
            <a:ext cx="6521410" cy="244923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4982408"/>
            <a:ext cx="30480" cy="2449235"/>
          </a:xfrm>
          <a:prstGeom prst="roundRect">
            <a:avLst>
              <a:gd name="adj" fmla="val 106046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7530584" y="51977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With IDS/IPS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30584" y="5657136"/>
            <a:ext cx="6090642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Port scan is blocked immediately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C2 communication is prevented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SQL injection is stopped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remains secure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0111"/>
            <a:ext cx="579096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DIFFERENCES: IDS vs IPS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47361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COMPARISON TABLE: IDS vs 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171819"/>
            <a:ext cx="13042821" cy="4070033"/>
          </a:xfrm>
          <a:prstGeom prst="roundRect">
            <a:avLst>
              <a:gd name="adj" fmla="val 6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179439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2274094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CHARACTERISTIC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34508" y="2274094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4380" y="2274094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1410" y="2629972"/>
            <a:ext cx="13027581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2980" y="2724626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4508" y="2724626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4380" y="2724626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1410" y="3080504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2980" y="3175159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Prevention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4508" y="3175159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4380" y="3175159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3531037"/>
            <a:ext cx="13027581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" y="3625691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Traffic Blocking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34508" y="3625691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4380" y="3625691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1410" y="3981569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" y="4076224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Response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34508" y="4076224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Alert only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4380" y="4076224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Automatic block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1410" y="4432102"/>
            <a:ext cx="13027581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" y="4526756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False Positive Impact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34508" y="4526756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 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4380" y="4526756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Can disrupt traffic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1410" y="4882634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82980" y="4977289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34508" y="4977289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Network tap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4380" y="4977289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Inline (in-path)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1410" y="5333167"/>
            <a:ext cx="13027581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82980" y="5427821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Response Time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34508" y="5427821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Minutes (analyst)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24380" y="5427821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Milliseconds (automatic)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01410" y="5783699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82980" y="5878354"/>
            <a:ext cx="32810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Best For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34508" y="5878354"/>
            <a:ext cx="431934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324380" y="5878354"/>
            <a:ext cx="43231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 protection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93790" y="6405086"/>
            <a:ext cx="13042821" cy="934283"/>
          </a:xfrm>
          <a:prstGeom prst="roundRect">
            <a:avLst>
              <a:gd name="adj" fmla="val 2913"/>
            </a:avLst>
          </a:prstGeom>
          <a:solidFill>
            <a:srgbClr val="EDD5C4"/>
          </a:solidFill>
          <a:ln/>
        </p:spPr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41" y="6663571"/>
            <a:ext cx="226814" cy="181451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383506" y="6595586"/>
            <a:ext cx="1227165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DEPLOYMENT STRATEGY:</a:t>
            </a:r>
            <a:r>
              <a:rPr lang="en-US" sz="14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Use both IDS and IPS for comprehensive protection — IDS provides visibility and forensics — IPS provides active threat prevention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1613" b="15041"/>
          <a:stretch>
            <a:fillRect/>
          </a:stretch>
        </p:blipFill>
        <p:spPr>
          <a:xfrm>
            <a:off x="234175" y="955715"/>
            <a:ext cx="5486400" cy="60361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/>
          <p:cNvSpPr/>
          <p:nvPr/>
        </p:nvSpPr>
        <p:spPr>
          <a:xfrm>
            <a:off x="6280190" y="95571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IDS/IPS Tools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1740337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POPULAR IDS/IPS SOLUTIONS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49578" y="2164794"/>
            <a:ext cx="3818096" cy="5108972"/>
          </a:xfrm>
          <a:prstGeom prst="roundRect">
            <a:avLst>
              <a:gd name="adj" fmla="val 713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331029" y="23099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Open-Source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31029" y="2738557"/>
            <a:ext cx="3455194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Snort: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Industry-standard, signature-based detection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Suricata: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Multi-threaded, supports IDS and IPS modes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Zeek (formerly Bro):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Network security monitoring and analysis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287357" y="23099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Commercial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87357" y="2738557"/>
            <a:ext cx="3556873" cy="2241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Cisco Firepower: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Enterprise-grade IPS with advanced analytics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Palo Alto Networks: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Next-generation IPS with ML capabilities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Fortinet FortiGate: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Integrated IPS and firewall solution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Juniper SRX: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High-performance IPS for large networks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87357" y="512564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Cloud-Based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287357" y="5554266"/>
            <a:ext cx="3556873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AWS WAF: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Web application firewall with IPS features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Azure DDoS Protection: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Cloud-native IPS for DDoS mitigation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Cloudflare: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Global IPS and DDoS protection service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3795"/>
            <a:ext cx="773465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Integration with SOC Ecosystem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763911"/>
            <a:ext cx="6439495" cy="27340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786771"/>
            <a:ext cx="6393775" cy="578406"/>
          </a:xfrm>
          <a:prstGeom prst="roundRect">
            <a:avLst>
              <a:gd name="adj" fmla="val 257"/>
            </a:avLst>
          </a:prstGeom>
          <a:solidFill>
            <a:srgbClr val="F9F7F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8936" y="1931313"/>
            <a:ext cx="289203" cy="2892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9412" y="25290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SIEM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09412" y="2928461"/>
            <a:ext cx="600825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Security Information and Event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9412" y="3311962"/>
            <a:ext cx="6008251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Aggregates IDS/IPS alerts with other security tools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Correlates events to detect complex attacks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Example: Port scan + malware detection = targeted attack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97115" y="1763911"/>
            <a:ext cx="6439495" cy="27340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19975" y="1786771"/>
            <a:ext cx="6393775" cy="578406"/>
          </a:xfrm>
          <a:prstGeom prst="roundRect">
            <a:avLst>
              <a:gd name="adj" fmla="val 257"/>
            </a:avLst>
          </a:prstGeom>
          <a:solidFill>
            <a:srgbClr val="F9F7F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2261" y="1931313"/>
            <a:ext cx="289203" cy="2892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2737" y="25290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SOAR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612737" y="2928461"/>
            <a:ext cx="600825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Security Orchestration, Automation, Response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12737" y="3311962"/>
            <a:ext cx="6008251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Automates response to IDS/IPS alerts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Playbooks trigger: Block IP, isolate endpoint, notify team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Reduces response time from hours to seconds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93790" y="4661773"/>
            <a:ext cx="6439495" cy="27340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6650" y="4684633"/>
            <a:ext cx="6393775" cy="578406"/>
          </a:xfrm>
          <a:prstGeom prst="roundRect">
            <a:avLst>
              <a:gd name="adj" fmla="val 257"/>
            </a:avLst>
          </a:prstGeom>
          <a:solidFill>
            <a:srgbClr val="F9F7F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68936" y="4829175"/>
            <a:ext cx="289203" cy="2892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9412" y="54268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EDR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1009412" y="5826323"/>
            <a:ext cx="600825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Endpoint Detection and Response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009412" y="6209824"/>
            <a:ext cx="6008251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IPS blocks network-level threats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EDR blocks endpoint-level threats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Combined coverage: network + endpoints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397115" y="4661773"/>
            <a:ext cx="6439495" cy="27340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19975" y="4684633"/>
            <a:ext cx="6393775" cy="578406"/>
          </a:xfrm>
          <a:prstGeom prst="roundRect">
            <a:avLst>
              <a:gd name="adj" fmla="val 257"/>
            </a:avLst>
          </a:prstGeom>
          <a:solidFill>
            <a:srgbClr val="F9F7F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2261" y="4829175"/>
            <a:ext cx="289203" cy="2892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12737" y="54268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Threat Intelligence</a:t>
            </a:r>
            <a:endParaRPr lang="en-US" sz="1850" dirty="0"/>
          </a:p>
        </p:txBody>
      </p:sp>
      <p:sp>
        <p:nvSpPr>
          <p:cNvPr id="25" name="Text 19"/>
          <p:cNvSpPr/>
          <p:nvPr/>
        </p:nvSpPr>
        <p:spPr>
          <a:xfrm>
            <a:off x="7612737" y="5826323"/>
            <a:ext cx="600825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Threat Intelligence Platform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612737" y="6209824"/>
            <a:ext cx="6008251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IDS/IPS feeds threat data to TIP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Enriches alerts with context about threat actors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Improves detection accuracy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1313"/>
            <a:ext cx="1002589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Best Practices for IDS/IPS Implementation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911429"/>
            <a:ext cx="13042821" cy="5336858"/>
          </a:xfrm>
          <a:prstGeom prst="roundRect">
            <a:avLst>
              <a:gd name="adj" fmla="val 542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911429"/>
            <a:ext cx="3260646" cy="3238976"/>
          </a:xfrm>
          <a:prstGeom prst="roundRect">
            <a:avLst>
              <a:gd name="adj" fmla="val 893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986552" y="210419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Placement Strategy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86552" y="2503646"/>
            <a:ext cx="2875121" cy="211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at network perimeter (external threats)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at internal network segments (lateral movement)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in DMZ (protect critical services)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54435" y="1911429"/>
            <a:ext cx="3260765" cy="3238976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8" name="Shape 6"/>
          <p:cNvSpPr/>
          <p:nvPr/>
        </p:nvSpPr>
        <p:spPr>
          <a:xfrm>
            <a:off x="4054435" y="1911429"/>
            <a:ext cx="22860" cy="323897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4247198" y="210419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Rule Management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247198" y="2503646"/>
            <a:ext cx="2875240" cy="245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Keep signature database updated daily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Tune rules to reduce false positives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Review and adjust anomaly baselines regularly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Test new rules in test environment first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1911429"/>
            <a:ext cx="3260646" cy="3238976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1911429"/>
            <a:ext cx="22860" cy="323897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7507962" y="2104192"/>
            <a:ext cx="274320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and Tuning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507962" y="2503646"/>
            <a:ext cx="2875121" cy="245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 IDS/IPS performance metrics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Review alerts daily for patterns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Adjust sensitivity based on business needs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 alert log retention (minimum 90 days)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75846" y="1911429"/>
            <a:ext cx="3260765" cy="3238976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5846" y="1911429"/>
            <a:ext cx="22860" cy="323897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768608" y="210419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Integration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0768608" y="2503646"/>
            <a:ext cx="2875240" cy="245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 with SIEM for centralized logging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Connect to SOAR for automated response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Share threat intelligence with team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Coordinate with firewall team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3790" y="5150406"/>
            <a:ext cx="13042821" cy="209788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93790" y="5150406"/>
            <a:ext cx="13042821" cy="22860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</p:sp>
      <p:sp>
        <p:nvSpPr>
          <p:cNvPr id="21" name="Text 19"/>
          <p:cNvSpPr/>
          <p:nvPr/>
        </p:nvSpPr>
        <p:spPr>
          <a:xfrm>
            <a:off x="986552" y="53431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Incident Response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986552" y="5742623"/>
            <a:ext cx="12657296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 clear escalation procedures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Document all blocked attacks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Conduct post-incident reviews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Update detection rules based on findings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379"/>
            <a:ext cx="899160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Limitations and Challenges of IDS/IPS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61411"/>
            <a:ext cx="460962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E2513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Signature-Based Detection Limitations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2226469"/>
            <a:ext cx="6286262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Cannot detect zero-day exploits (new attacks)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Requires constant rule updates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False negatives possible if signature not in database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3360658"/>
            <a:ext cx="452389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E2513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Anomaly-Based Detection Limitations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93790" y="3825716"/>
            <a:ext cx="6286262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false positive rates initially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Requires time to establish baseline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Can be bypassed by gradual, low-level attacks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Requires tuning and machine learning expertise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5302448"/>
            <a:ext cx="276415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E2513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Operational Challenges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5767507"/>
            <a:ext cx="6286262" cy="165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Alert fatigue: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Too many false positives overwhelm analysts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Performance impact: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IPS can slow network traffic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Encrypted traffic: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Cannot inspect HTTPS/TLS encrypted data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Cost: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Enterprise solutions are expensive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Skill gap: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Requires trained security professionals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19142" y="1597581"/>
            <a:ext cx="6563916" cy="5882640"/>
          </a:xfrm>
          <a:prstGeom prst="roundRect">
            <a:avLst>
              <a:gd name="adj" fmla="val 492"/>
            </a:avLst>
          </a:prstGeom>
          <a:solidFill>
            <a:srgbClr val="910D0D"/>
          </a:solidFill>
          <a:ln/>
        </p:spPr>
      </p:sp>
      <p:sp>
        <p:nvSpPr>
          <p:cNvPr id="10" name="Text 8"/>
          <p:cNvSpPr/>
          <p:nvPr/>
        </p:nvSpPr>
        <p:spPr>
          <a:xfrm>
            <a:off x="7611904" y="176141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Solutions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1904" y="2226469"/>
            <a:ext cx="6178391" cy="165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Combine IDS/IPS with other security tools (defense-in-depth)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machine learning for smarter detection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 SSL/TLS decryption (with caution)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Regular training and tuning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 response with SOAR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29126"/>
            <a:ext cx="225147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787956" y="981194"/>
            <a:ext cx="4202430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4" name="Text 2"/>
          <p:cNvSpPr/>
          <p:nvPr/>
        </p:nvSpPr>
        <p:spPr>
          <a:xfrm>
            <a:off x="787956" y="1154668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IDS vs 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7956" y="1640562"/>
            <a:ext cx="420243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 detects threats and alerts analysts. IPS detects threats and automatically prevents them.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3866" y="629126"/>
            <a:ext cx="225147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3866" y="981194"/>
            <a:ext cx="4202549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5213866" y="1154668"/>
            <a:ext cx="3319105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Two Detection Methods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3866" y="1640562"/>
            <a:ext cx="4202549" cy="151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Signature-based: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Fast, accurate for known threats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Anomaly-based: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Detects new/unknown threats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39895" y="629126"/>
            <a:ext cx="225147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39895" y="981194"/>
            <a:ext cx="4202549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9639895" y="1154668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Process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39895" y="1640562"/>
            <a:ext cx="4202549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Capture &gt; Analyze &gt; Decide &gt; Act &gt; Log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87956" y="3546515"/>
            <a:ext cx="225147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87956" y="3898582"/>
            <a:ext cx="6415445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787956" y="4072057"/>
            <a:ext cx="305990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Real-World Protection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7956" y="4557951"/>
            <a:ext cx="6415445" cy="79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Stops port scans, malware C2, SQL injection, DDoS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Prevents data exfiltration and unauthorized access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26881" y="3546515"/>
            <a:ext cx="225147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6881" y="3898582"/>
            <a:ext cx="6415564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0" name="Text 18"/>
          <p:cNvSpPr/>
          <p:nvPr/>
        </p:nvSpPr>
        <p:spPr>
          <a:xfrm>
            <a:off x="7426881" y="4072057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Best Deployment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26881" y="4557951"/>
            <a:ext cx="6415564" cy="167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both IDS and IPS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 with SIEM, SOAR, EDR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 and tune regularly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Combine with other security layers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87956" y="6648212"/>
            <a:ext cx="13054489" cy="952143"/>
          </a:xfrm>
          <a:prstGeom prst="roundRect">
            <a:avLst>
              <a:gd name="adj" fmla="val 3547"/>
            </a:avLst>
          </a:prstGeom>
          <a:solidFill>
            <a:srgbClr val="EDD5C4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03" y="6991588"/>
            <a:ext cx="281345" cy="22514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19595" y="6927890"/>
            <a:ext cx="1209770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IDS/IPS is ONE layer of defense. Implement defense-in-depth.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1534</Words>
  <Application>Microsoft Office PowerPoint</Application>
  <PresentationFormat>Custom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Platypi Medium</vt:lpstr>
      <vt:lpstr>Source Serif 4</vt:lpstr>
      <vt:lpstr>Platypi Light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3</cp:revision>
  <dcterms:created xsi:type="dcterms:W3CDTF">2026-03-31T10:25:20Z</dcterms:created>
  <dcterms:modified xsi:type="dcterms:W3CDTF">2026-03-31T10:30:32Z</dcterms:modified>
</cp:coreProperties>
</file>