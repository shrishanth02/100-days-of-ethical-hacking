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rimson Pro Semi Bold" panose="020B0604020202020204" charset="0"/>
      <p:regular r:id="rId11"/>
    </p:embeddedFont>
    <p:embeddedFont>
      <p:font typeface="Heebo" pitchFamily="2" charset="-79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4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5 Mobile Network Security Threats &amp; Exploitation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2005"/>
            <a:ext cx="868358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Public WiFi Spoofing (Man-in-the-Middle Attacks)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42549"/>
            <a:ext cx="346507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Hackers Exploit This: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19060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3790" y="2152888"/>
            <a:ext cx="427351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2779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Create Fake Hotspot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2592586"/>
            <a:ext cx="42735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Hackers set up WiFi networks with legitimate-sounding names (e.g., "Starbucks_Free_WiFi") that mimic real networks [2].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78385" y="19060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78385" y="2152888"/>
            <a:ext cx="427351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178385" y="22779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Automatic Connection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178385" y="2592586"/>
            <a:ext cx="42735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Devices automatically connect to known networks, making users vulnerable when they reconnect to the spoofed network [2].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62981" y="19060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62981" y="2152888"/>
            <a:ext cx="427351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562981" y="22779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Traffic Interception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562981" y="2592586"/>
            <a:ext cx="427351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unencrypted data (emails, passwords, browsing activity) passes through the hacker's device.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3790" y="34706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3790" y="3717488"/>
            <a:ext cx="6465808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38425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Credential Harvesting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4157186"/>
            <a:ext cx="646580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Hackers capture login credentials, financial data, and other sensitive information.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70683" y="34706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70683" y="3717488"/>
            <a:ext cx="6465808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370683" y="38425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Session Hijacking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70683" y="4157186"/>
            <a:ext cx="646580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steal session cookies to impersonate users on websites.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3790" y="4658916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It's Effective: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793790" y="5222438"/>
            <a:ext cx="6465808" cy="749379"/>
          </a:xfrm>
          <a:prstGeom prst="roundRect">
            <a:avLst>
              <a:gd name="adj" fmla="val 317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5381149"/>
            <a:ext cx="614838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79%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enterprise mobile devices have OS updates left to employees, leaving them vulnerable to known exploits [1].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70683" y="5222438"/>
            <a:ext cx="6465927" cy="749379"/>
          </a:xfrm>
          <a:prstGeom prst="roundRect">
            <a:avLst>
              <a:gd name="adj" fmla="val 3178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7529393" y="5381149"/>
            <a:ext cx="614850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Users rarely verify network authenticity before connecting.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3790" y="6138505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Defense: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3790" y="6702028"/>
            <a:ext cx="13042821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Always use a VPN when connecting to public WiFi [3].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network names with staff before connecting.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Disable automatic WiFi connection to known networks.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126"/>
            <a:ext cx="537829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Malicious Mobile Applications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95318"/>
            <a:ext cx="346507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Hackers Exploit This: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93790" y="2117169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117169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043940" y="229874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 Repackaging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3940" y="2657832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Hackers take legitimate apps, reverse engineer them, and inject malicious code [4].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3790" y="3382447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0930" y="3382447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1043940" y="356401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Permission Abuse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43940" y="3923109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Malicious apps request excessive permissions (contacts, location, camera) under false pretenses.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4647724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4647724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3940" y="482929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Exfiltration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43940" y="5188387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Apps secretly transmit corporate data to attacker-controlled servers.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913001"/>
            <a:ext cx="4313277" cy="1370171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930" y="5913001"/>
            <a:ext cx="91440" cy="1370171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3940" y="609457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Spyware Installation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43940" y="6453664"/>
            <a:ext cx="388155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Apps install persistent spyware that monitors user activity, captures keystrokes, and records audio/video [1].</a:t>
            </a:r>
            <a:endParaRPr lang="en-US" sz="1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1604963"/>
            <a:ext cx="5839539" cy="325921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501878" y="4989195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It's Effective: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5501878" y="5497116"/>
            <a:ext cx="834223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85%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mobile apps are largely unsecured, making them easy targets for hackers [1].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501878" y="5813108"/>
            <a:ext cx="834223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Users often grant permissions without reviewing them carefully.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01878" y="6140172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Defense: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5501878" y="6648093"/>
            <a:ext cx="8342233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Mobile Application Management (MAM) tools to control corporate app access [1].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app vetting processes before allowing installation.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Educate users on reviewing app permissions.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633889"/>
            <a:ext cx="6550223" cy="44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Social Engineering (Phishing &amp; Smishing)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1644" y="1117878"/>
            <a:ext cx="3128367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Hackers Exploit This: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611987"/>
            <a:ext cx="6543556" cy="5732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876" y="2275761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Phishing Emails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876" y="2554010"/>
            <a:ext cx="6257092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Fake emails impersonating legitimate services trick users into revealing credentials.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11987"/>
            <a:ext cx="6543556" cy="5732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8432" y="2275761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Smishing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58432" y="2554010"/>
            <a:ext cx="6257092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SMS messages with malicious links or urgent requests for information.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44" y="2884289"/>
            <a:ext cx="6543556" cy="5732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876" y="3548063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Credential Stuffing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14876" y="3826312"/>
            <a:ext cx="6257092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stolen credentials from other breaches to access corporate systems [1].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884289"/>
            <a:ext cx="6543556" cy="5732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8432" y="3548063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Multi-Channel Attacks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458432" y="3826312"/>
            <a:ext cx="6257092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 email, SMS, and phone calls to increase credibility.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1644" y="4292322"/>
            <a:ext cx="2866430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It's Effective: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521857" y="4857988"/>
            <a:ext cx="2786420" cy="47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3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37%</a:t>
            </a:r>
            <a:endParaRPr lang="en-US" sz="3700" dirty="0"/>
          </a:p>
        </p:txBody>
      </p:sp>
      <p:sp>
        <p:nvSpPr>
          <p:cNvPr id="18" name="Text 12"/>
          <p:cNvSpPr/>
          <p:nvPr/>
        </p:nvSpPr>
        <p:spPr>
          <a:xfrm>
            <a:off x="2019300" y="5470327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Increase in Phishing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1644" y="5748576"/>
            <a:ext cx="4286964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37% increase in enterprise mobile phishing attacks [1].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921931" y="4857988"/>
            <a:ext cx="2786420" cy="47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3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99%</a:t>
            </a:r>
            <a:endParaRPr lang="en-US" sz="3700" dirty="0"/>
          </a:p>
        </p:txBody>
      </p:sp>
      <p:sp>
        <p:nvSpPr>
          <p:cNvPr id="21" name="Text 15"/>
          <p:cNvSpPr/>
          <p:nvPr/>
        </p:nvSpPr>
        <p:spPr>
          <a:xfrm>
            <a:off x="6419374" y="5470327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Password Reuse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171718" y="5748576"/>
            <a:ext cx="4286964" cy="37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99% of users reuse passwords between work and personal accounts [1].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322004" y="4857988"/>
            <a:ext cx="2786420" cy="47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3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59%</a:t>
            </a:r>
            <a:endParaRPr lang="en-US" sz="3700" dirty="0"/>
          </a:p>
        </p:txBody>
      </p:sp>
      <p:sp>
        <p:nvSpPr>
          <p:cNvPr id="24" name="Text 18"/>
          <p:cNvSpPr/>
          <p:nvPr/>
        </p:nvSpPr>
        <p:spPr>
          <a:xfrm>
            <a:off x="10819448" y="5470327"/>
            <a:ext cx="179153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Weak Passwords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571792" y="5748576"/>
            <a:ext cx="4286964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59% use names or birthdays in passwords [1].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71644" y="6258401"/>
            <a:ext cx="2866430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Defense:</a:t>
            </a:r>
            <a:endParaRPr lang="en-US" sz="2250" dirty="0"/>
          </a:p>
        </p:txBody>
      </p:sp>
      <p:sp>
        <p:nvSpPr>
          <p:cNvPr id="27" name="Text 21"/>
          <p:cNvSpPr/>
          <p:nvPr/>
        </p:nvSpPr>
        <p:spPr>
          <a:xfrm>
            <a:off x="771644" y="6752511"/>
            <a:ext cx="13087112" cy="84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multi-factor authentication (MFA) [1].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password managers to generate and store strong, unique passwords.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Conduct regular security awareness training.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passwordless authentication where possible [1].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668"/>
            <a:ext cx="842926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Zero-Day Exploits &amp; Unpatched Devices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85699"/>
            <a:ext cx="4208502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Hackers Exploit This: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3790" y="24519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66001" y="248804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1364" y="2518172"/>
            <a:ext cx="260580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Target Unpatched Devices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391364" y="2983230"/>
            <a:ext cx="568868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Exploit known vulnerabilities in outdated operating 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3790" y="359616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866001" y="363224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91364" y="366236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Zero-Day Attacks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391364" y="4127421"/>
            <a:ext cx="568868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previously unknown vulnerabilities before vendors can patch them [2].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3790" y="5025628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66001" y="506170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91364" y="509182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MTD Evasion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391364" y="5556885"/>
            <a:ext cx="568868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Bypass Mobile Threat Defense tools by targeting legitimate software vulnerabilities.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3790" y="645509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66001" y="6491168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91364" y="652129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Persistence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391364" y="6986349"/>
            <a:ext cx="568868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Install backdoors that survive device reboots and updates.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19142" y="1621869"/>
            <a:ext cx="6563916" cy="5834063"/>
          </a:xfrm>
          <a:prstGeom prst="roundRect">
            <a:avLst>
              <a:gd name="adj" fmla="val 496"/>
            </a:avLst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611904" y="1785699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It's Effective: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11904" y="2431494"/>
            <a:ext cx="6178391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79% of enterprise mobile devices have OS updates left to employees [1].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Zero-day vulnerabilities are often undiscovered until exploited [8].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 exploitation occurs once vulnerabilities are identified [8].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11904" y="3850958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Defense: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611904" y="4496753"/>
            <a:ext cx="6178391" cy="18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Mobile Device Management (MDM) tools to enforce updates [1].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Mobile Threat Defense (MTD) software to detect malicious behavior [2].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Conduct regular security assessments and vulnerability scans [8].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continuous monitoring for prompt threat detection [8].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0674"/>
            <a:ext cx="706993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5. IoT Device Exploitation &amp; Emerging Threats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129665"/>
            <a:ext cx="3218140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Hackers Exploit This: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767495" y="199001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Shadow IoT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277785"/>
            <a:ext cx="481667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Exploit unmanaged IoT devices (smartwatches, speakers, thermostats) connected to corporate networks [1].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62" y="1641991"/>
            <a:ext cx="2967157" cy="296715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671" y="2165568"/>
            <a:ext cx="220504" cy="2205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9818" y="208728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Default Credentials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019818" y="2375059"/>
            <a:ext cx="481679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factory-default passwords to gain access to IoT devices.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1562" y="1641991"/>
            <a:ext cx="2967157" cy="296715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4400" y="2418100"/>
            <a:ext cx="220504" cy="2205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19818" y="358413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Network Pivot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019818" y="3871913"/>
            <a:ext cx="481679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compromised IoT devices as entry points to access corporate networks.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1562" y="1641991"/>
            <a:ext cx="2967157" cy="296715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01868" y="3864828"/>
            <a:ext cx="220504" cy="2205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767495" y="368141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Exfiltration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793790" y="3969187"/>
            <a:ext cx="481667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Steal data from IoT devices or use them as proxies for attacks.</a:t>
            </a:r>
            <a:endParaRPr lang="en-US" sz="11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1562" y="1641991"/>
            <a:ext cx="2967157" cy="296715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5140" y="3612297"/>
            <a:ext cx="220504" cy="22050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93790" y="4752856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It's Effective:</a:t>
            </a:r>
            <a:endParaRPr lang="en-US" sz="2300" dirty="0"/>
          </a:p>
        </p:txBody>
      </p:sp>
      <p:sp>
        <p:nvSpPr>
          <p:cNvPr id="21" name="Text 11"/>
          <p:cNvSpPr/>
          <p:nvPr/>
        </p:nvSpPr>
        <p:spPr>
          <a:xfrm>
            <a:off x="793790" y="5265182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78%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IT leaders reported over 1,000 shadow IoT devices accessing their networks daily [1].</a:t>
            </a:r>
            <a:endParaRPr lang="en-US" sz="1150" dirty="0"/>
          </a:p>
        </p:txBody>
      </p:sp>
      <p:sp>
        <p:nvSpPr>
          <p:cNvPr id="22" name="Text 12"/>
          <p:cNvSpPr/>
          <p:nvPr/>
        </p:nvSpPr>
        <p:spPr>
          <a:xfrm>
            <a:off x="793790" y="5567482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IoT/M2M security is still in a "wild west" phase with limited regulation [1].</a:t>
            </a:r>
            <a:endParaRPr lang="en-US" sz="1150" dirty="0"/>
          </a:p>
        </p:txBody>
      </p:sp>
      <p:sp>
        <p:nvSpPr>
          <p:cNvPr id="23" name="Text 13"/>
          <p:cNvSpPr/>
          <p:nvPr/>
        </p:nvSpPr>
        <p:spPr>
          <a:xfrm>
            <a:off x="793790" y="5869781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IoT devices lack basic security features.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793790" y="6208038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Defense:</a:t>
            </a:r>
            <a:endParaRPr lang="en-US" sz="2300" dirty="0"/>
          </a:p>
        </p:txBody>
      </p:sp>
      <p:sp>
        <p:nvSpPr>
          <p:cNvPr id="25" name="Text 15"/>
          <p:cNvSpPr/>
          <p:nvPr/>
        </p:nvSpPr>
        <p:spPr>
          <a:xfrm>
            <a:off x="793790" y="6720364"/>
            <a:ext cx="13042821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Mobile Device Management (MDM) tools to manage IoT devices [1].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Identity and Access Management (IAM) tools to control device access [1].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Segment IoT devices on separate network segments.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Change default credentials on all IoT devices.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255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Emerging Threats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383155"/>
            <a:ext cx="4196358" cy="4483775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640449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5G Network Vulnerabilities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51084" y="3627120"/>
            <a:ext cx="3681770" cy="298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Network Slicing: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Attackers can target virtual network slices to gain unauthorized access or disrupt services [8].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Increased Attack Surface: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5G's expanded ecosystem creates more entry points for attackers [8].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383155"/>
            <a:ext cx="4196358" cy="4483775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2640449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Mobile Wallet &amp; Digital ID Exploitation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474256" y="3627120"/>
            <a:ext cx="3681770" cy="22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Data Theft: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Exploit mobile wallets to steal payment information.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Identity Theft: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Compromise digital IDs for fraudulent activities [5].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383155"/>
            <a:ext cx="4196358" cy="4483775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264044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Spyware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9897427" y="3201829"/>
            <a:ext cx="3681770" cy="22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Malvertising: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Install spyware through malicious advertisements [1].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Stealth Operation: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Spyware operates silently, collecting data without user knowledge [1].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081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Defense Strategy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149072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Controls: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1661398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41189" y="1808798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752" y="1930360"/>
            <a:ext cx="198953" cy="1989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189" y="23467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VPN Usage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189" y="2634496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 VPN for all remote access [3].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3063" y="1661398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510462" y="1808798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2025" y="1930360"/>
            <a:ext cx="198953" cy="1989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0462" y="23467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Endpoint Security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10462" y="2634496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mobile endpoint security software [3].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3790" y="3072170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189" y="3219569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752" y="3341132"/>
            <a:ext cx="198953" cy="1989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189" y="375749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MDM/MTD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41189" y="4045268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Mobile Device Management and Mobile Threat Defense tools [2].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3063" y="3072170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510462" y="3219569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2025" y="3341132"/>
            <a:ext cx="198953" cy="1989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0462" y="375749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Encryption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10462" y="4045268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Ensure end-to-end encryption for all sensitive communications [1].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93790" y="4530923"/>
            <a:ext cx="3015377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Administrative Controls:</a:t>
            </a:r>
            <a:endParaRPr lang="en-US" sz="2300" dirty="0"/>
          </a:p>
        </p:txBody>
      </p:sp>
      <p:sp>
        <p:nvSpPr>
          <p:cNvPr id="25" name="Text 19"/>
          <p:cNvSpPr/>
          <p:nvPr/>
        </p:nvSpPr>
        <p:spPr>
          <a:xfrm>
            <a:off x="793790" y="5043249"/>
            <a:ext cx="13042821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Policies: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Develop and enforce mobile security policies.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Training: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Conduct regular security awareness training.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 Controls: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Implement least privilege access principles.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 Response: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Establish mobile-specific incident response procedures.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93790" y="6065520"/>
            <a:ext cx="3015734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Monitoring &amp; Detection:</a:t>
            </a:r>
            <a:endParaRPr lang="en-US" sz="2300" dirty="0"/>
          </a:p>
        </p:txBody>
      </p:sp>
      <p:sp>
        <p:nvSpPr>
          <p:cNvPr id="27" name="Text 21"/>
          <p:cNvSpPr/>
          <p:nvPr/>
        </p:nvSpPr>
        <p:spPr>
          <a:xfrm>
            <a:off x="793790" y="6577846"/>
            <a:ext cx="1304282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Monitoring: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Implement 24/7 monitoring for mobile threats [8].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Anomaly Detection: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 AI/ML to detect unusual mobile behavior.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Intelligence: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Stay updated on emerging mobile threats.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93790" y="7336155"/>
            <a:ext cx="1304282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318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implementing defenses, organizations can significantly reduce their risk of mobile security breaches.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Microsoft Office PowerPoint</Application>
  <PresentationFormat>Custom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Crimson Pro Light</vt:lpstr>
      <vt:lpstr>Arial</vt:lpstr>
      <vt:lpstr>Crimson Pro Semi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2026-02-22T15:22:24Z</dcterms:created>
  <dcterms:modified xsi:type="dcterms:W3CDTF">2026-02-22T15:23:31Z</dcterms:modified>
</cp:coreProperties>
</file>