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Lora" pitchFamily="2" charset="0"/>
      <p:regular r:id="rId12"/>
    </p:embeddedFont>
    <p:embeddedFont>
      <p:font typeface="Source Sans 3"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47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11151"/>
            <a:ext cx="14630400" cy="8229600"/>
          </a:xfrm>
          <a:prstGeom prst="rect">
            <a:avLst/>
          </a:prstGeom>
          <a:solidFill>
            <a:srgbClr val="252833"/>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ellipse">
            <a:avLst/>
          </a:prstGeom>
          <a:ln>
            <a:noFill/>
          </a:ln>
          <a:effectLst>
            <a:softEdge rad="112500"/>
          </a:effectLst>
        </p:spPr>
      </p:pic>
      <p:sp>
        <p:nvSpPr>
          <p:cNvPr id="3" name="Text 0"/>
          <p:cNvSpPr/>
          <p:nvPr/>
        </p:nvSpPr>
        <p:spPr>
          <a:xfrm>
            <a:off x="837724" y="3762732"/>
            <a:ext cx="5878354"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ISO 27001 vs NIST CSF</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965728"/>
            <a:ext cx="7468553" cy="2298144"/>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ISO 27001 and NIST CSF are two of the most sought-after compliance frameworks in the cybersecurity landscape today. While ISO/IEC 27001 takes a comprehensive approach to information security management, NIST sets the standards for information security, develops new technologies, and provides metrics to drive innovation and industrial competitiveness.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7842" y="662464"/>
            <a:ext cx="3617476" cy="452080"/>
          </a:xfrm>
          <a:prstGeom prst="rect">
            <a:avLst/>
          </a:prstGeom>
          <a:noFill/>
          <a:ln/>
        </p:spPr>
        <p:txBody>
          <a:bodyPr wrap="none" lIns="0" tIns="0" rIns="0" bIns="0" rtlCol="0" anchor="t"/>
          <a:lstStyle/>
          <a:p>
            <a:pPr marL="0" indent="0" algn="l">
              <a:lnSpc>
                <a:spcPts val="3550"/>
              </a:lnSpc>
              <a:buNone/>
            </a:pPr>
            <a:r>
              <a:rPr lang="en-US" sz="2800" dirty="0">
                <a:solidFill>
                  <a:srgbClr val="F98AC7"/>
                </a:solidFill>
                <a:latin typeface="Lora" pitchFamily="34" charset="0"/>
                <a:ea typeface="Lora" pitchFamily="34" charset="-122"/>
                <a:cs typeface="Lora" pitchFamily="34" charset="-120"/>
              </a:rPr>
              <a:t>What is NIST CSF?</a:t>
            </a:r>
            <a:endParaRPr lang="en-US" sz="2800" dirty="0"/>
          </a:p>
        </p:txBody>
      </p:sp>
      <p:sp>
        <p:nvSpPr>
          <p:cNvPr id="3" name="Shape 1"/>
          <p:cNvSpPr/>
          <p:nvPr/>
        </p:nvSpPr>
        <p:spPr>
          <a:xfrm>
            <a:off x="717113" y="1262658"/>
            <a:ext cx="6521291" cy="1521857"/>
          </a:xfrm>
          <a:prstGeom prst="roundRect">
            <a:avLst>
              <a:gd name="adj" fmla="val 1515"/>
            </a:avLst>
          </a:prstGeom>
          <a:solidFill>
            <a:srgbClr val="F98AC7"/>
          </a:solidFill>
          <a:ln/>
        </p:spPr>
      </p:sp>
      <p:sp>
        <p:nvSpPr>
          <p:cNvPr id="4" name="Text 2"/>
          <p:cNvSpPr/>
          <p:nvPr/>
        </p:nvSpPr>
        <p:spPr>
          <a:xfrm>
            <a:off x="870823" y="1361361"/>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000000"/>
                </a:solidFill>
                <a:latin typeface="Lora" pitchFamily="34" charset="0"/>
                <a:ea typeface="Lora" pitchFamily="34" charset="-122"/>
                <a:cs typeface="Lora" pitchFamily="34" charset="-120"/>
              </a:rPr>
              <a:t>Overview</a:t>
            </a:r>
            <a:endParaRPr lang="en-US" sz="1400" dirty="0"/>
          </a:p>
        </p:txBody>
      </p:sp>
      <p:sp>
        <p:nvSpPr>
          <p:cNvPr id="5" name="Text 3"/>
          <p:cNvSpPr/>
          <p:nvPr/>
        </p:nvSpPr>
        <p:spPr>
          <a:xfrm>
            <a:off x="870823" y="1686044"/>
            <a:ext cx="6213872" cy="1009650"/>
          </a:xfrm>
          <a:prstGeom prst="rect">
            <a:avLst/>
          </a:prstGeom>
          <a:noFill/>
          <a:ln/>
        </p:spPr>
        <p:txBody>
          <a:bodyPr wrap="square" lIns="0" tIns="0" rIns="0" bIns="0" rtlCol="0" anchor="t"/>
          <a:lstStyle/>
          <a:p>
            <a:pPr marL="0" indent="0" algn="l">
              <a:lnSpc>
                <a:spcPts val="1550"/>
              </a:lnSpc>
              <a:buNone/>
            </a:pPr>
            <a:r>
              <a:rPr lang="en-US" sz="1200" dirty="0">
                <a:solidFill>
                  <a:srgbClr val="000000"/>
                </a:solidFill>
                <a:latin typeface="Source Sans 3" pitchFamily="34" charset="0"/>
                <a:ea typeface="Source Sans 3" pitchFamily="34" charset="-122"/>
                <a:cs typeface="Source Sans 3" pitchFamily="34" charset="-120"/>
              </a:rPr>
              <a:t>NIST CSF is a voluntary framework developed by the National Institute of Standards and Technology that provides guidelines and best practices to help organizations manage their security posture and minimize cybersecurity risks. The framework is flexible rather than prescriptive and takes a risk-based approach to support organizations of any size, sector, or security maturity.</a:t>
            </a:r>
            <a:endParaRPr lang="en-US" sz="1200" dirty="0"/>
          </a:p>
        </p:txBody>
      </p:sp>
      <p:sp>
        <p:nvSpPr>
          <p:cNvPr id="6" name="Text 4"/>
          <p:cNvSpPr/>
          <p:nvPr/>
        </p:nvSpPr>
        <p:spPr>
          <a:xfrm>
            <a:off x="7510343" y="1361361"/>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F98AC7"/>
                </a:solidFill>
                <a:latin typeface="Lora" pitchFamily="34" charset="0"/>
                <a:ea typeface="Lora" pitchFamily="34" charset="-122"/>
                <a:cs typeface="Lora" pitchFamily="34" charset="-120"/>
              </a:rPr>
              <a:t>Example</a:t>
            </a:r>
            <a:endParaRPr lang="en-US" sz="1400" dirty="0"/>
          </a:p>
        </p:txBody>
      </p:sp>
      <p:sp>
        <p:nvSpPr>
          <p:cNvPr id="7" name="Text 5"/>
          <p:cNvSpPr/>
          <p:nvPr/>
        </p:nvSpPr>
        <p:spPr>
          <a:xfrm>
            <a:off x="7510343" y="1686044"/>
            <a:ext cx="6299835" cy="807720"/>
          </a:xfrm>
          <a:prstGeom prst="rect">
            <a:avLst/>
          </a:prstGeom>
          <a:noFill/>
          <a:ln/>
        </p:spPr>
        <p:txBody>
          <a:bodyPr wrap="squar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An e-commerce company uses NIST CSF to build its cybersecurity program from scratch. It starts by identifying all customer data assets (Identify), deploys firewalls and MFA (Protect), sets up a SIEM tool like Splunk (Detect), creates an incident response plan (Respond), and establishes a disaster recovery plan (Recover).</a:t>
            </a:r>
            <a:endParaRPr lang="en-US" sz="1200" dirty="0"/>
          </a:p>
        </p:txBody>
      </p:sp>
      <p:sp>
        <p:nvSpPr>
          <p:cNvPr id="8" name="Text 6"/>
          <p:cNvSpPr/>
          <p:nvPr/>
        </p:nvSpPr>
        <p:spPr>
          <a:xfrm>
            <a:off x="827842" y="2932628"/>
            <a:ext cx="4010858" cy="225981"/>
          </a:xfrm>
          <a:prstGeom prst="rect">
            <a:avLst/>
          </a:prstGeom>
          <a:noFill/>
          <a:ln/>
        </p:spPr>
        <p:txBody>
          <a:bodyPr wrap="none" lIns="0" tIns="0" rIns="0" bIns="0" rtlCol="0" anchor="t"/>
          <a:lstStyle/>
          <a:p>
            <a:pPr marL="0" indent="0" algn="l">
              <a:lnSpc>
                <a:spcPts val="1750"/>
              </a:lnSpc>
              <a:buNone/>
            </a:pPr>
            <a:r>
              <a:rPr lang="en-US" sz="1400" dirty="0">
                <a:solidFill>
                  <a:srgbClr val="F98AC7"/>
                </a:solidFill>
                <a:latin typeface="Lora" pitchFamily="34" charset="0"/>
                <a:ea typeface="Lora" pitchFamily="34" charset="-122"/>
                <a:cs typeface="Lora" pitchFamily="34" charset="-120"/>
              </a:rPr>
              <a:t>The NIST CSF is built around six core functions:</a:t>
            </a:r>
            <a:endParaRPr lang="en-US" sz="1400" dirty="0"/>
          </a:p>
        </p:txBody>
      </p:sp>
      <p:sp>
        <p:nvSpPr>
          <p:cNvPr id="9" name="Shape 7"/>
          <p:cNvSpPr/>
          <p:nvPr/>
        </p:nvSpPr>
        <p:spPr>
          <a:xfrm>
            <a:off x="827842" y="3306723"/>
            <a:ext cx="6437948" cy="1354336"/>
          </a:xfrm>
          <a:prstGeom prst="roundRect">
            <a:avLst>
              <a:gd name="adj" fmla="val 1703"/>
            </a:avLst>
          </a:prstGeom>
          <a:solidFill>
            <a:srgbClr val="444752"/>
          </a:solidFill>
          <a:ln/>
        </p:spPr>
      </p:sp>
      <p:pic>
        <p:nvPicPr>
          <p:cNvPr id="10" name="Image 0" descr="preencoded.png"/>
          <p:cNvPicPr>
            <a:picLocks noChangeAspect="1"/>
          </p:cNvPicPr>
          <p:nvPr/>
        </p:nvPicPr>
        <p:blipFill>
          <a:blip r:embed="rId3"/>
          <a:stretch>
            <a:fillRect/>
          </a:stretch>
        </p:blipFill>
        <p:spPr>
          <a:xfrm>
            <a:off x="981551" y="3460433"/>
            <a:ext cx="461129" cy="461129"/>
          </a:xfrm>
          <a:prstGeom prst="rect">
            <a:avLst/>
          </a:prstGeom>
        </p:spPr>
      </p:pic>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8353" y="3587234"/>
            <a:ext cx="207526" cy="207526"/>
          </a:xfrm>
          <a:prstGeom prst="rect">
            <a:avLst/>
          </a:prstGeom>
        </p:spPr>
      </p:pic>
      <p:sp>
        <p:nvSpPr>
          <p:cNvPr id="12" name="Text 8"/>
          <p:cNvSpPr/>
          <p:nvPr/>
        </p:nvSpPr>
        <p:spPr>
          <a:xfrm>
            <a:off x="981551" y="4020264"/>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Govern</a:t>
            </a:r>
            <a:endParaRPr lang="en-US" sz="1400" dirty="0"/>
          </a:p>
        </p:txBody>
      </p:sp>
      <p:sp>
        <p:nvSpPr>
          <p:cNvPr id="13" name="Text 9"/>
          <p:cNvSpPr/>
          <p:nvPr/>
        </p:nvSpPr>
        <p:spPr>
          <a:xfrm>
            <a:off x="981551" y="4305419"/>
            <a:ext cx="6130528" cy="20193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Newly added in CSF 2.0</a:t>
            </a:r>
            <a:endParaRPr lang="en-US" sz="1200" dirty="0"/>
          </a:p>
        </p:txBody>
      </p:sp>
      <p:sp>
        <p:nvSpPr>
          <p:cNvPr id="14" name="Shape 10"/>
          <p:cNvSpPr/>
          <p:nvPr/>
        </p:nvSpPr>
        <p:spPr>
          <a:xfrm>
            <a:off x="7364492" y="3306723"/>
            <a:ext cx="6438067" cy="1354336"/>
          </a:xfrm>
          <a:prstGeom prst="roundRect">
            <a:avLst>
              <a:gd name="adj" fmla="val 1703"/>
            </a:avLst>
          </a:prstGeom>
          <a:solidFill>
            <a:srgbClr val="444752"/>
          </a:solidFill>
          <a:ln/>
        </p:spPr>
      </p:sp>
      <p:pic>
        <p:nvPicPr>
          <p:cNvPr id="15" name="Image 2" descr="preencoded.png"/>
          <p:cNvPicPr>
            <a:picLocks noChangeAspect="1"/>
          </p:cNvPicPr>
          <p:nvPr/>
        </p:nvPicPr>
        <p:blipFill>
          <a:blip r:embed="rId5"/>
          <a:stretch>
            <a:fillRect/>
          </a:stretch>
        </p:blipFill>
        <p:spPr>
          <a:xfrm>
            <a:off x="7518202" y="3460433"/>
            <a:ext cx="461129" cy="461129"/>
          </a:xfrm>
          <a:prstGeom prst="rect">
            <a:avLst/>
          </a:prstGeom>
        </p:spPr>
      </p:pic>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45003" y="3587234"/>
            <a:ext cx="207526" cy="207526"/>
          </a:xfrm>
          <a:prstGeom prst="rect">
            <a:avLst/>
          </a:prstGeom>
        </p:spPr>
      </p:pic>
      <p:sp>
        <p:nvSpPr>
          <p:cNvPr id="17" name="Text 11"/>
          <p:cNvSpPr/>
          <p:nvPr/>
        </p:nvSpPr>
        <p:spPr>
          <a:xfrm>
            <a:off x="7518202" y="4020264"/>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Identify</a:t>
            </a:r>
            <a:endParaRPr lang="en-US" sz="1400" dirty="0"/>
          </a:p>
        </p:txBody>
      </p:sp>
      <p:sp>
        <p:nvSpPr>
          <p:cNvPr id="18" name="Text 12"/>
          <p:cNvSpPr/>
          <p:nvPr/>
        </p:nvSpPr>
        <p:spPr>
          <a:xfrm>
            <a:off x="7518202" y="4305419"/>
            <a:ext cx="6130647" cy="20193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Understand assets, people, data, and systems to manage cybersecurity risks</a:t>
            </a:r>
            <a:endParaRPr lang="en-US" sz="1200" dirty="0"/>
          </a:p>
        </p:txBody>
      </p:sp>
      <p:sp>
        <p:nvSpPr>
          <p:cNvPr id="19" name="Shape 13"/>
          <p:cNvSpPr/>
          <p:nvPr/>
        </p:nvSpPr>
        <p:spPr>
          <a:xfrm>
            <a:off x="827842" y="4759762"/>
            <a:ext cx="6437948" cy="1354336"/>
          </a:xfrm>
          <a:prstGeom prst="roundRect">
            <a:avLst>
              <a:gd name="adj" fmla="val 1703"/>
            </a:avLst>
          </a:prstGeom>
          <a:solidFill>
            <a:srgbClr val="444752"/>
          </a:solidFill>
          <a:ln/>
        </p:spPr>
      </p:sp>
      <p:pic>
        <p:nvPicPr>
          <p:cNvPr id="20" name="Image 4" descr="preencoded.png"/>
          <p:cNvPicPr>
            <a:picLocks noChangeAspect="1"/>
          </p:cNvPicPr>
          <p:nvPr/>
        </p:nvPicPr>
        <p:blipFill>
          <a:blip r:embed="rId7"/>
          <a:stretch>
            <a:fillRect/>
          </a:stretch>
        </p:blipFill>
        <p:spPr>
          <a:xfrm>
            <a:off x="981551" y="4913471"/>
            <a:ext cx="461129" cy="461129"/>
          </a:xfrm>
          <a:prstGeom prst="rect">
            <a:avLst/>
          </a:prstGeom>
        </p:spPr>
      </p:pic>
      <p:pic>
        <p:nvPicPr>
          <p:cNvPr id="2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08353" y="5040273"/>
            <a:ext cx="207526" cy="207526"/>
          </a:xfrm>
          <a:prstGeom prst="rect">
            <a:avLst/>
          </a:prstGeom>
        </p:spPr>
      </p:pic>
      <p:sp>
        <p:nvSpPr>
          <p:cNvPr id="22" name="Text 14"/>
          <p:cNvSpPr/>
          <p:nvPr/>
        </p:nvSpPr>
        <p:spPr>
          <a:xfrm>
            <a:off x="981551" y="5473303"/>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Protect</a:t>
            </a:r>
            <a:endParaRPr lang="en-US" sz="1400" dirty="0"/>
          </a:p>
        </p:txBody>
      </p:sp>
      <p:sp>
        <p:nvSpPr>
          <p:cNvPr id="23" name="Text 15"/>
          <p:cNvSpPr/>
          <p:nvPr/>
        </p:nvSpPr>
        <p:spPr>
          <a:xfrm>
            <a:off x="981551" y="5758458"/>
            <a:ext cx="6130528" cy="20193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Implement safeguards to ensure delivery of critical services</a:t>
            </a:r>
            <a:endParaRPr lang="en-US" sz="1200" dirty="0"/>
          </a:p>
        </p:txBody>
      </p:sp>
      <p:sp>
        <p:nvSpPr>
          <p:cNvPr id="24" name="Shape 16"/>
          <p:cNvSpPr/>
          <p:nvPr/>
        </p:nvSpPr>
        <p:spPr>
          <a:xfrm>
            <a:off x="7364492" y="4759762"/>
            <a:ext cx="6438067" cy="1354336"/>
          </a:xfrm>
          <a:prstGeom prst="roundRect">
            <a:avLst>
              <a:gd name="adj" fmla="val 1703"/>
            </a:avLst>
          </a:prstGeom>
          <a:solidFill>
            <a:srgbClr val="444752"/>
          </a:solidFill>
          <a:ln/>
        </p:spPr>
      </p:sp>
      <p:pic>
        <p:nvPicPr>
          <p:cNvPr id="25" name="Image 6" descr="preencoded.png"/>
          <p:cNvPicPr>
            <a:picLocks noChangeAspect="1"/>
          </p:cNvPicPr>
          <p:nvPr/>
        </p:nvPicPr>
        <p:blipFill>
          <a:blip r:embed="rId9"/>
          <a:stretch>
            <a:fillRect/>
          </a:stretch>
        </p:blipFill>
        <p:spPr>
          <a:xfrm>
            <a:off x="7518202" y="4913471"/>
            <a:ext cx="461129" cy="461129"/>
          </a:xfrm>
          <a:prstGeom prst="rect">
            <a:avLst/>
          </a:prstGeom>
        </p:spPr>
      </p:pic>
      <p:pic>
        <p:nvPicPr>
          <p:cNvPr id="2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45003" y="5040273"/>
            <a:ext cx="207526" cy="207526"/>
          </a:xfrm>
          <a:prstGeom prst="rect">
            <a:avLst/>
          </a:prstGeom>
        </p:spPr>
      </p:pic>
      <p:sp>
        <p:nvSpPr>
          <p:cNvPr id="27" name="Text 17"/>
          <p:cNvSpPr/>
          <p:nvPr/>
        </p:nvSpPr>
        <p:spPr>
          <a:xfrm>
            <a:off x="7518202" y="5473303"/>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Detect</a:t>
            </a:r>
            <a:endParaRPr lang="en-US" sz="1400" dirty="0"/>
          </a:p>
        </p:txBody>
      </p:sp>
      <p:sp>
        <p:nvSpPr>
          <p:cNvPr id="28" name="Text 18"/>
          <p:cNvSpPr/>
          <p:nvPr/>
        </p:nvSpPr>
        <p:spPr>
          <a:xfrm>
            <a:off x="7518202" y="5758458"/>
            <a:ext cx="6130647" cy="20193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Identify the occurrence of cybersecurity events</a:t>
            </a:r>
            <a:endParaRPr lang="en-US" sz="1200" dirty="0"/>
          </a:p>
        </p:txBody>
      </p:sp>
      <p:sp>
        <p:nvSpPr>
          <p:cNvPr id="29" name="Shape 19"/>
          <p:cNvSpPr/>
          <p:nvPr/>
        </p:nvSpPr>
        <p:spPr>
          <a:xfrm>
            <a:off x="827842" y="6212800"/>
            <a:ext cx="6437948" cy="1354336"/>
          </a:xfrm>
          <a:prstGeom prst="roundRect">
            <a:avLst>
              <a:gd name="adj" fmla="val 1703"/>
            </a:avLst>
          </a:prstGeom>
          <a:solidFill>
            <a:srgbClr val="444752"/>
          </a:solidFill>
          <a:ln/>
        </p:spPr>
      </p:sp>
      <p:pic>
        <p:nvPicPr>
          <p:cNvPr id="30" name="Image 8" descr="preencoded.png"/>
          <p:cNvPicPr>
            <a:picLocks noChangeAspect="1"/>
          </p:cNvPicPr>
          <p:nvPr/>
        </p:nvPicPr>
        <p:blipFill>
          <a:blip r:embed="rId11"/>
          <a:stretch>
            <a:fillRect/>
          </a:stretch>
        </p:blipFill>
        <p:spPr>
          <a:xfrm>
            <a:off x="981551" y="6366510"/>
            <a:ext cx="461129" cy="461129"/>
          </a:xfrm>
          <a:prstGeom prst="rect">
            <a:avLst/>
          </a:prstGeom>
        </p:spPr>
      </p:pic>
      <p:pic>
        <p:nvPicPr>
          <p:cNvPr id="31"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08353" y="6493312"/>
            <a:ext cx="207526" cy="207526"/>
          </a:xfrm>
          <a:prstGeom prst="rect">
            <a:avLst/>
          </a:prstGeom>
        </p:spPr>
      </p:pic>
      <p:sp>
        <p:nvSpPr>
          <p:cNvPr id="32" name="Text 20"/>
          <p:cNvSpPr/>
          <p:nvPr/>
        </p:nvSpPr>
        <p:spPr>
          <a:xfrm>
            <a:off x="981551" y="6926342"/>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Respond</a:t>
            </a:r>
            <a:endParaRPr lang="en-US" sz="1400" dirty="0"/>
          </a:p>
        </p:txBody>
      </p:sp>
      <p:sp>
        <p:nvSpPr>
          <p:cNvPr id="33" name="Text 21"/>
          <p:cNvSpPr/>
          <p:nvPr/>
        </p:nvSpPr>
        <p:spPr>
          <a:xfrm>
            <a:off x="981551" y="7211497"/>
            <a:ext cx="6130528" cy="20193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Take action regarding a detected cybersecurity incident</a:t>
            </a:r>
            <a:endParaRPr lang="en-US" sz="1200" dirty="0"/>
          </a:p>
        </p:txBody>
      </p:sp>
      <p:sp>
        <p:nvSpPr>
          <p:cNvPr id="34" name="Shape 22"/>
          <p:cNvSpPr/>
          <p:nvPr/>
        </p:nvSpPr>
        <p:spPr>
          <a:xfrm>
            <a:off x="7364492" y="6212800"/>
            <a:ext cx="6438067" cy="1354336"/>
          </a:xfrm>
          <a:prstGeom prst="roundRect">
            <a:avLst>
              <a:gd name="adj" fmla="val 1703"/>
            </a:avLst>
          </a:prstGeom>
          <a:solidFill>
            <a:srgbClr val="444752"/>
          </a:solidFill>
          <a:ln/>
        </p:spPr>
      </p:sp>
      <p:pic>
        <p:nvPicPr>
          <p:cNvPr id="35" name="Image 10" descr="preencoded.png"/>
          <p:cNvPicPr>
            <a:picLocks noChangeAspect="1"/>
          </p:cNvPicPr>
          <p:nvPr/>
        </p:nvPicPr>
        <p:blipFill>
          <a:blip r:embed="rId13"/>
          <a:stretch>
            <a:fillRect/>
          </a:stretch>
        </p:blipFill>
        <p:spPr>
          <a:xfrm>
            <a:off x="7518202" y="6366510"/>
            <a:ext cx="461129" cy="461129"/>
          </a:xfrm>
          <a:prstGeom prst="rect">
            <a:avLst/>
          </a:prstGeom>
        </p:spPr>
      </p:pic>
      <p:pic>
        <p:nvPicPr>
          <p:cNvPr id="36"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645003" y="6493312"/>
            <a:ext cx="207526" cy="207526"/>
          </a:xfrm>
          <a:prstGeom prst="rect">
            <a:avLst/>
          </a:prstGeom>
        </p:spPr>
      </p:pic>
      <p:sp>
        <p:nvSpPr>
          <p:cNvPr id="37" name="Text 23"/>
          <p:cNvSpPr/>
          <p:nvPr/>
        </p:nvSpPr>
        <p:spPr>
          <a:xfrm>
            <a:off x="7518202" y="6926342"/>
            <a:ext cx="1808678" cy="225981"/>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Recover</a:t>
            </a:r>
            <a:endParaRPr lang="en-US" sz="1400" dirty="0"/>
          </a:p>
        </p:txBody>
      </p:sp>
      <p:sp>
        <p:nvSpPr>
          <p:cNvPr id="38" name="Text 24"/>
          <p:cNvSpPr/>
          <p:nvPr/>
        </p:nvSpPr>
        <p:spPr>
          <a:xfrm>
            <a:off x="7518202" y="7211497"/>
            <a:ext cx="6130647" cy="20193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Maintain resilience and restore capabilities after an incident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775930"/>
            <a:ext cx="7102078"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NIST Implementation Tiers</a:t>
            </a:r>
            <a:endParaRPr lang="en-US" sz="4400" dirty="0"/>
          </a:p>
        </p:txBody>
      </p:sp>
      <p:sp>
        <p:nvSpPr>
          <p:cNvPr id="3" name="Shape 1"/>
          <p:cNvSpPr/>
          <p:nvPr/>
        </p:nvSpPr>
        <p:spPr>
          <a:xfrm>
            <a:off x="837724" y="1958697"/>
            <a:ext cx="12954952" cy="3442454"/>
          </a:xfrm>
          <a:prstGeom prst="roundRect">
            <a:avLst>
              <a:gd name="adj" fmla="val 1043"/>
            </a:avLst>
          </a:prstGeom>
          <a:noFill/>
          <a:ln w="7620">
            <a:solidFill>
              <a:srgbClr val="FFFFFF">
                <a:alpha val="24000"/>
              </a:srgbClr>
            </a:solidFill>
            <a:prstDash val="solid"/>
          </a:ln>
        </p:spPr>
      </p:sp>
      <p:sp>
        <p:nvSpPr>
          <p:cNvPr id="4" name="Shape 2"/>
          <p:cNvSpPr/>
          <p:nvPr/>
        </p:nvSpPr>
        <p:spPr>
          <a:xfrm>
            <a:off x="845344" y="1966317"/>
            <a:ext cx="12939713" cy="685443"/>
          </a:xfrm>
          <a:prstGeom prst="rect">
            <a:avLst/>
          </a:prstGeom>
          <a:solidFill>
            <a:srgbClr val="FFFFFF">
              <a:alpha val="4000"/>
            </a:srgbClr>
          </a:solidFill>
          <a:ln/>
        </p:spPr>
      </p:sp>
      <p:sp>
        <p:nvSpPr>
          <p:cNvPr id="5" name="Text 3"/>
          <p:cNvSpPr/>
          <p:nvPr/>
        </p:nvSpPr>
        <p:spPr>
          <a:xfrm>
            <a:off x="1084659" y="2117527"/>
            <a:ext cx="1458516" cy="383024"/>
          </a:xfrm>
          <a:prstGeom prst="rect">
            <a:avLst/>
          </a:prstGeom>
          <a:noFill/>
          <a:ln/>
        </p:spPr>
        <p:txBody>
          <a:bodyPr wrap="none" lIns="0" tIns="0" rIns="0" bIns="0" rtlCol="0" anchor="t"/>
          <a:lstStyle/>
          <a:p>
            <a:pPr marL="0" indent="0" algn="l">
              <a:lnSpc>
                <a:spcPts val="3000"/>
              </a:lnSpc>
              <a:buNone/>
            </a:pPr>
            <a:r>
              <a:rPr lang="en-US" sz="1850" b="1" dirty="0">
                <a:solidFill>
                  <a:srgbClr val="D6E5EF"/>
                </a:solidFill>
                <a:latin typeface="Source Sans 3" pitchFamily="34" charset="0"/>
                <a:ea typeface="Source Sans 3" pitchFamily="34" charset="-122"/>
                <a:cs typeface="Source Sans 3" pitchFamily="34" charset="-120"/>
              </a:rPr>
              <a:t>Tier Level</a:t>
            </a:r>
            <a:endParaRPr lang="en-US" sz="1850" dirty="0"/>
          </a:p>
        </p:txBody>
      </p:sp>
      <p:sp>
        <p:nvSpPr>
          <p:cNvPr id="6" name="Text 4"/>
          <p:cNvSpPr/>
          <p:nvPr/>
        </p:nvSpPr>
        <p:spPr>
          <a:xfrm>
            <a:off x="3029426" y="2117527"/>
            <a:ext cx="2101691" cy="383024"/>
          </a:xfrm>
          <a:prstGeom prst="rect">
            <a:avLst/>
          </a:prstGeom>
          <a:noFill/>
          <a:ln/>
        </p:spPr>
        <p:txBody>
          <a:bodyPr wrap="none" lIns="0" tIns="0" rIns="0" bIns="0" rtlCol="0" anchor="t"/>
          <a:lstStyle/>
          <a:p>
            <a:pPr marL="0" indent="0" algn="l">
              <a:lnSpc>
                <a:spcPts val="3000"/>
              </a:lnSpc>
              <a:buNone/>
            </a:pPr>
            <a:r>
              <a:rPr lang="en-US" sz="1850" b="1" dirty="0">
                <a:solidFill>
                  <a:srgbClr val="D6E5EF"/>
                </a:solidFill>
                <a:latin typeface="Source Sans 3" pitchFamily="34" charset="0"/>
                <a:ea typeface="Source Sans 3" pitchFamily="34" charset="-122"/>
                <a:cs typeface="Source Sans 3" pitchFamily="34" charset="-120"/>
              </a:rPr>
              <a:t>Description</a:t>
            </a:r>
            <a:endParaRPr lang="en-US" sz="1850" dirty="0"/>
          </a:p>
        </p:txBody>
      </p:sp>
      <p:sp>
        <p:nvSpPr>
          <p:cNvPr id="7" name="Text 5"/>
          <p:cNvSpPr/>
          <p:nvPr/>
        </p:nvSpPr>
        <p:spPr>
          <a:xfrm>
            <a:off x="5617369" y="2117527"/>
            <a:ext cx="7928372" cy="383024"/>
          </a:xfrm>
          <a:prstGeom prst="rect">
            <a:avLst/>
          </a:prstGeom>
          <a:noFill/>
          <a:ln/>
        </p:spPr>
        <p:txBody>
          <a:bodyPr wrap="none" lIns="0" tIns="0" rIns="0" bIns="0" rtlCol="0" anchor="t"/>
          <a:lstStyle/>
          <a:p>
            <a:pPr marL="0" indent="0" algn="l">
              <a:lnSpc>
                <a:spcPts val="3000"/>
              </a:lnSpc>
              <a:buNone/>
            </a:pPr>
            <a:r>
              <a:rPr lang="en-US" sz="1850" b="1" dirty="0">
                <a:solidFill>
                  <a:srgbClr val="D6E5EF"/>
                </a:solidFill>
                <a:latin typeface="Source Sans 3" pitchFamily="34" charset="0"/>
                <a:ea typeface="Source Sans 3" pitchFamily="34" charset="-122"/>
                <a:cs typeface="Source Sans 3" pitchFamily="34" charset="-120"/>
              </a:rPr>
              <a:t>Details</a:t>
            </a:r>
            <a:endParaRPr lang="en-US" sz="1850" dirty="0"/>
          </a:p>
        </p:txBody>
      </p:sp>
      <p:sp>
        <p:nvSpPr>
          <p:cNvPr id="8" name="Shape 6"/>
          <p:cNvSpPr/>
          <p:nvPr/>
        </p:nvSpPr>
        <p:spPr>
          <a:xfrm>
            <a:off x="845344" y="2651760"/>
            <a:ext cx="12939713" cy="685443"/>
          </a:xfrm>
          <a:prstGeom prst="rect">
            <a:avLst/>
          </a:prstGeom>
          <a:solidFill>
            <a:srgbClr val="000000">
              <a:alpha val="4000"/>
            </a:srgbClr>
          </a:solidFill>
          <a:ln/>
        </p:spPr>
      </p:sp>
      <p:sp>
        <p:nvSpPr>
          <p:cNvPr id="9" name="Text 7"/>
          <p:cNvSpPr/>
          <p:nvPr/>
        </p:nvSpPr>
        <p:spPr>
          <a:xfrm>
            <a:off x="1084659" y="2802969"/>
            <a:ext cx="145851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Tier 1</a:t>
            </a:r>
            <a:endParaRPr lang="en-US" sz="1850" dirty="0"/>
          </a:p>
        </p:txBody>
      </p:sp>
      <p:sp>
        <p:nvSpPr>
          <p:cNvPr id="10" name="Text 8"/>
          <p:cNvSpPr/>
          <p:nvPr/>
        </p:nvSpPr>
        <p:spPr>
          <a:xfrm>
            <a:off x="3029426" y="2802969"/>
            <a:ext cx="2101691"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Partial</a:t>
            </a:r>
            <a:endParaRPr lang="en-US" sz="1850" dirty="0"/>
          </a:p>
        </p:txBody>
      </p:sp>
      <p:sp>
        <p:nvSpPr>
          <p:cNvPr id="11" name="Text 9"/>
          <p:cNvSpPr/>
          <p:nvPr/>
        </p:nvSpPr>
        <p:spPr>
          <a:xfrm>
            <a:off x="5617369" y="2802969"/>
            <a:ext cx="792837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No formal cybersecurity processes in place</a:t>
            </a:r>
            <a:endParaRPr lang="en-US" sz="1850" dirty="0"/>
          </a:p>
        </p:txBody>
      </p:sp>
      <p:sp>
        <p:nvSpPr>
          <p:cNvPr id="12" name="Shape 10"/>
          <p:cNvSpPr/>
          <p:nvPr/>
        </p:nvSpPr>
        <p:spPr>
          <a:xfrm>
            <a:off x="845344" y="3337203"/>
            <a:ext cx="12939713" cy="685443"/>
          </a:xfrm>
          <a:prstGeom prst="rect">
            <a:avLst/>
          </a:prstGeom>
          <a:solidFill>
            <a:srgbClr val="FFFFFF">
              <a:alpha val="4000"/>
            </a:srgbClr>
          </a:solidFill>
          <a:ln/>
        </p:spPr>
      </p:sp>
      <p:sp>
        <p:nvSpPr>
          <p:cNvPr id="13" name="Text 11"/>
          <p:cNvSpPr/>
          <p:nvPr/>
        </p:nvSpPr>
        <p:spPr>
          <a:xfrm>
            <a:off x="1084659" y="3488412"/>
            <a:ext cx="145851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Tier 2</a:t>
            </a:r>
            <a:endParaRPr lang="en-US" sz="1850" dirty="0"/>
          </a:p>
        </p:txBody>
      </p:sp>
      <p:sp>
        <p:nvSpPr>
          <p:cNvPr id="14" name="Text 12"/>
          <p:cNvSpPr/>
          <p:nvPr/>
        </p:nvSpPr>
        <p:spPr>
          <a:xfrm>
            <a:off x="3029426" y="3488412"/>
            <a:ext cx="2101691"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Risk Informed</a:t>
            </a:r>
            <a:endParaRPr lang="en-US" sz="1850" dirty="0"/>
          </a:p>
        </p:txBody>
      </p:sp>
      <p:sp>
        <p:nvSpPr>
          <p:cNvPr id="15" name="Text 13"/>
          <p:cNvSpPr/>
          <p:nvPr/>
        </p:nvSpPr>
        <p:spPr>
          <a:xfrm>
            <a:off x="5617369" y="3488412"/>
            <a:ext cx="792837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Aware of risks but no formal processes</a:t>
            </a:r>
            <a:endParaRPr lang="en-US" sz="1850" dirty="0"/>
          </a:p>
        </p:txBody>
      </p:sp>
      <p:sp>
        <p:nvSpPr>
          <p:cNvPr id="16" name="Shape 14"/>
          <p:cNvSpPr/>
          <p:nvPr/>
        </p:nvSpPr>
        <p:spPr>
          <a:xfrm>
            <a:off x="845344" y="4022646"/>
            <a:ext cx="12939713" cy="685443"/>
          </a:xfrm>
          <a:prstGeom prst="rect">
            <a:avLst/>
          </a:prstGeom>
          <a:solidFill>
            <a:srgbClr val="000000">
              <a:alpha val="4000"/>
            </a:srgbClr>
          </a:solidFill>
          <a:ln/>
        </p:spPr>
      </p:sp>
      <p:sp>
        <p:nvSpPr>
          <p:cNvPr id="17" name="Text 15"/>
          <p:cNvSpPr/>
          <p:nvPr/>
        </p:nvSpPr>
        <p:spPr>
          <a:xfrm>
            <a:off x="1084659" y="4173855"/>
            <a:ext cx="145851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Tier 3</a:t>
            </a:r>
            <a:endParaRPr lang="en-US" sz="1850" dirty="0"/>
          </a:p>
        </p:txBody>
      </p:sp>
      <p:sp>
        <p:nvSpPr>
          <p:cNvPr id="18" name="Text 16"/>
          <p:cNvSpPr/>
          <p:nvPr/>
        </p:nvSpPr>
        <p:spPr>
          <a:xfrm>
            <a:off x="3029426" y="4173855"/>
            <a:ext cx="2101691"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Repeatable</a:t>
            </a:r>
            <a:endParaRPr lang="en-US" sz="1850" dirty="0"/>
          </a:p>
        </p:txBody>
      </p:sp>
      <p:sp>
        <p:nvSpPr>
          <p:cNvPr id="19" name="Text 17"/>
          <p:cNvSpPr/>
          <p:nvPr/>
        </p:nvSpPr>
        <p:spPr>
          <a:xfrm>
            <a:off x="5617369" y="4173855"/>
            <a:ext cx="792837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Policies exist but not fully systematic</a:t>
            </a:r>
            <a:endParaRPr lang="en-US" sz="1850" dirty="0"/>
          </a:p>
        </p:txBody>
      </p:sp>
      <p:sp>
        <p:nvSpPr>
          <p:cNvPr id="20" name="Shape 18"/>
          <p:cNvSpPr/>
          <p:nvPr/>
        </p:nvSpPr>
        <p:spPr>
          <a:xfrm>
            <a:off x="845344" y="4708088"/>
            <a:ext cx="12939713" cy="685443"/>
          </a:xfrm>
          <a:prstGeom prst="rect">
            <a:avLst/>
          </a:prstGeom>
          <a:solidFill>
            <a:srgbClr val="FFFFFF">
              <a:alpha val="4000"/>
            </a:srgbClr>
          </a:solidFill>
          <a:ln/>
        </p:spPr>
      </p:sp>
      <p:sp>
        <p:nvSpPr>
          <p:cNvPr id="21" name="Text 19"/>
          <p:cNvSpPr/>
          <p:nvPr/>
        </p:nvSpPr>
        <p:spPr>
          <a:xfrm>
            <a:off x="1084659" y="4859298"/>
            <a:ext cx="1458516"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Tier 4</a:t>
            </a:r>
            <a:endParaRPr lang="en-US" sz="1850" dirty="0"/>
          </a:p>
        </p:txBody>
      </p:sp>
      <p:sp>
        <p:nvSpPr>
          <p:cNvPr id="22" name="Text 20"/>
          <p:cNvSpPr/>
          <p:nvPr/>
        </p:nvSpPr>
        <p:spPr>
          <a:xfrm>
            <a:off x="3029426" y="4859298"/>
            <a:ext cx="2101691"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Adaptive</a:t>
            </a:r>
            <a:endParaRPr lang="en-US" sz="1850" dirty="0"/>
          </a:p>
        </p:txBody>
      </p:sp>
      <p:sp>
        <p:nvSpPr>
          <p:cNvPr id="23" name="Text 21"/>
          <p:cNvSpPr/>
          <p:nvPr/>
        </p:nvSpPr>
        <p:spPr>
          <a:xfrm>
            <a:off x="5617369" y="4859298"/>
            <a:ext cx="792837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Real-time tools and processes fully operational</a:t>
            </a:r>
            <a:endParaRPr lang="en-US" sz="1850" dirty="0"/>
          </a:p>
        </p:txBody>
      </p:sp>
      <p:sp>
        <p:nvSpPr>
          <p:cNvPr id="24" name="Shape 22"/>
          <p:cNvSpPr/>
          <p:nvPr/>
        </p:nvSpPr>
        <p:spPr>
          <a:xfrm>
            <a:off x="837724" y="5670352"/>
            <a:ext cx="12954952" cy="1783199"/>
          </a:xfrm>
          <a:prstGeom prst="roundRect">
            <a:avLst>
              <a:gd name="adj" fmla="val 2014"/>
            </a:avLst>
          </a:prstGeom>
          <a:solidFill>
            <a:srgbClr val="49042A"/>
          </a:solidFill>
          <a:ln/>
        </p:spPr>
      </p:sp>
      <p:pic>
        <p:nvPicPr>
          <p:cNvPr id="25" name="Image 0" descr="preencoded.png"/>
          <p:cNvPicPr>
            <a:picLocks noChangeAspect="1"/>
          </p:cNvPicPr>
          <p:nvPr/>
        </p:nvPicPr>
        <p:blipFill>
          <a:blip r:embed="rId3"/>
          <a:stretch>
            <a:fillRect/>
          </a:stretch>
        </p:blipFill>
        <p:spPr>
          <a:xfrm>
            <a:off x="1077039" y="6019086"/>
            <a:ext cx="299204" cy="239316"/>
          </a:xfrm>
          <a:prstGeom prst="rect">
            <a:avLst/>
          </a:prstGeom>
        </p:spPr>
      </p:pic>
      <p:sp>
        <p:nvSpPr>
          <p:cNvPr id="26" name="Text 23"/>
          <p:cNvSpPr/>
          <p:nvPr/>
        </p:nvSpPr>
        <p:spPr>
          <a:xfrm>
            <a:off x="1615559" y="5969437"/>
            <a:ext cx="11937802" cy="1149072"/>
          </a:xfrm>
          <a:prstGeom prst="rect">
            <a:avLst/>
          </a:prstGeom>
          <a:noFill/>
          <a:ln/>
        </p:spPr>
        <p:txBody>
          <a:bodyPr wrap="square" lIns="0" tIns="0" rIns="0" bIns="0" rtlCol="0" anchor="t"/>
          <a:lstStyle/>
          <a:p>
            <a:pPr marL="0" indent="0" algn="l">
              <a:lnSpc>
                <a:spcPts val="3000"/>
              </a:lnSpc>
              <a:buNone/>
            </a:pPr>
            <a:r>
              <a:rPr lang="en-US" sz="1850" b="1" dirty="0">
                <a:solidFill>
                  <a:srgbClr val="FFFFFF"/>
                </a:solidFill>
                <a:latin typeface="Source Sans 3" pitchFamily="34" charset="0"/>
                <a:ea typeface="Source Sans 3" pitchFamily="34" charset="-122"/>
                <a:cs typeface="Source Sans 3" pitchFamily="34" charset="-120"/>
              </a:rPr>
              <a:t>Real-World Example:</a:t>
            </a:r>
            <a:r>
              <a:rPr lang="en-US" sz="1850" dirty="0">
                <a:solidFill>
                  <a:srgbClr val="FFFFFF"/>
                </a:solidFill>
                <a:latin typeface="Source Sans 3" pitchFamily="34" charset="0"/>
                <a:ea typeface="Source Sans 3" pitchFamily="34" charset="-122"/>
                <a:cs typeface="Source Sans 3" pitchFamily="34" charset="-120"/>
              </a:rPr>
              <a:t> A startup with no security policies is at Tier 1. After implementing NIST CSF guidelines — deploying EDR, SIEM, and incident response playbooks — it progresses to Tier 4, where it can isolate attacks, reduce threat surfaces, and recover quickly.</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976551"/>
            <a:ext cx="5069205" cy="633651"/>
          </a:xfrm>
          <a:prstGeom prst="rect">
            <a:avLst/>
          </a:prstGeom>
          <a:noFill/>
          <a:ln/>
        </p:spPr>
        <p:txBody>
          <a:bodyPr wrap="none" lIns="0" tIns="0" rIns="0" bIns="0" rtlCol="0" anchor="t"/>
          <a:lstStyle/>
          <a:p>
            <a:pPr marL="0" indent="0" algn="l">
              <a:lnSpc>
                <a:spcPts val="4950"/>
              </a:lnSpc>
              <a:buNone/>
            </a:pPr>
            <a:r>
              <a:rPr lang="en-US" sz="3950" dirty="0">
                <a:solidFill>
                  <a:srgbClr val="F98AC7"/>
                </a:solidFill>
                <a:latin typeface="Lora" pitchFamily="34" charset="0"/>
                <a:ea typeface="Lora" pitchFamily="34" charset="-122"/>
                <a:cs typeface="Lora" pitchFamily="34" charset="-120"/>
              </a:rPr>
              <a:t>What is ISO 27001?</a:t>
            </a:r>
            <a:endParaRPr lang="en-US" sz="3950" dirty="0"/>
          </a:p>
        </p:txBody>
      </p:sp>
      <p:sp>
        <p:nvSpPr>
          <p:cNvPr id="4" name="Text 1"/>
          <p:cNvSpPr/>
          <p:nvPr/>
        </p:nvSpPr>
        <p:spPr>
          <a:xfrm>
            <a:off x="837724" y="1900952"/>
            <a:ext cx="7468553" cy="1309211"/>
          </a:xfrm>
          <a:prstGeom prst="rect">
            <a:avLst/>
          </a:prstGeom>
          <a:noFill/>
          <a:ln/>
        </p:spPr>
        <p:txBody>
          <a:bodyPr wrap="squar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ISO 27001 is a globally recognized standard that defines requirements for implementing and maintaining an Information Security Management System (ISMS). It was originally released in 2005, substantially updated in 2013, and most recently updated in 2022.</a:t>
            </a:r>
            <a:endParaRPr lang="en-US" sz="1650" dirty="0"/>
          </a:p>
        </p:txBody>
      </p:sp>
      <p:sp>
        <p:nvSpPr>
          <p:cNvPr id="5" name="Text 2"/>
          <p:cNvSpPr/>
          <p:nvPr/>
        </p:nvSpPr>
        <p:spPr>
          <a:xfrm>
            <a:off x="837724" y="3622119"/>
            <a:ext cx="3471505" cy="633651"/>
          </a:xfrm>
          <a:prstGeom prst="rect">
            <a:avLst/>
          </a:prstGeom>
          <a:noFill/>
          <a:ln/>
        </p:spPr>
        <p:txBody>
          <a:bodyPr wrap="square" lIns="0" tIns="0" rIns="0" bIns="0" rtlCol="0" anchor="t"/>
          <a:lstStyle/>
          <a:p>
            <a:pPr marL="0" indent="0" algn="l">
              <a:lnSpc>
                <a:spcPts val="2450"/>
              </a:lnSpc>
              <a:buNone/>
            </a:pPr>
            <a:r>
              <a:rPr lang="en-US" sz="1950" dirty="0">
                <a:solidFill>
                  <a:srgbClr val="F98AC7"/>
                </a:solidFill>
                <a:latin typeface="Lora" pitchFamily="34" charset="0"/>
                <a:ea typeface="Lora" pitchFamily="34" charset="-122"/>
                <a:cs typeface="Lora" pitchFamily="34" charset="-120"/>
              </a:rPr>
              <a:t>ISO 27001 is structured around:</a:t>
            </a:r>
            <a:endParaRPr lang="en-US" sz="1950" dirty="0"/>
          </a:p>
        </p:txBody>
      </p:sp>
      <p:sp>
        <p:nvSpPr>
          <p:cNvPr id="6" name="Text 3"/>
          <p:cNvSpPr/>
          <p:nvPr/>
        </p:nvSpPr>
        <p:spPr>
          <a:xfrm>
            <a:off x="837724" y="4449604"/>
            <a:ext cx="3471505" cy="2031563"/>
          </a:xfrm>
          <a:prstGeom prst="rect">
            <a:avLst/>
          </a:prstGeom>
          <a:noFill/>
          <a:ln/>
        </p:spPr>
        <p:txBody>
          <a:bodyPr wrap="square" lIns="0" tIns="0" rIns="0" bIns="0" rtlCol="0" anchor="t"/>
          <a:lstStyle/>
          <a:p>
            <a:pPr marL="342900" indent="-342900" algn="l">
              <a:lnSpc>
                <a:spcPts val="2550"/>
              </a:lnSpc>
              <a:buSzPct val="100000"/>
              <a:buChar char="•"/>
            </a:pPr>
            <a:r>
              <a:rPr lang="en-US" sz="1650" b="1" dirty="0">
                <a:solidFill>
                  <a:srgbClr val="D6E5EF"/>
                </a:solidFill>
                <a:latin typeface="Source Sans 3" pitchFamily="34" charset="0"/>
                <a:ea typeface="Source Sans 3" pitchFamily="34" charset="-122"/>
                <a:cs typeface="Source Sans 3" pitchFamily="34" charset="-120"/>
              </a:rPr>
              <a:t>Clauses 4 to 10</a:t>
            </a:r>
            <a:r>
              <a:rPr lang="en-US" sz="1650" dirty="0">
                <a:solidFill>
                  <a:srgbClr val="D6E5EF"/>
                </a:solidFill>
                <a:latin typeface="Source Sans 3" pitchFamily="34" charset="0"/>
                <a:ea typeface="Source Sans 3" pitchFamily="34" charset="-122"/>
                <a:cs typeface="Source Sans 3" pitchFamily="34" charset="-120"/>
              </a:rPr>
              <a:t> — Organizational requirements</a:t>
            </a:r>
            <a:endParaRPr lang="en-US" sz="1650" dirty="0"/>
          </a:p>
          <a:p>
            <a:pPr marL="342900" indent="-342900" algn="l">
              <a:lnSpc>
                <a:spcPts val="2550"/>
              </a:lnSpc>
              <a:buSzPct val="100000"/>
              <a:buChar char="•"/>
            </a:pPr>
            <a:r>
              <a:rPr lang="en-US" sz="1650" b="1" dirty="0">
                <a:solidFill>
                  <a:srgbClr val="D6E5EF"/>
                </a:solidFill>
                <a:latin typeface="Source Sans 3" pitchFamily="34" charset="0"/>
                <a:ea typeface="Source Sans 3" pitchFamily="34" charset="-122"/>
                <a:cs typeface="Source Sans 3" pitchFamily="34" charset="-120"/>
              </a:rPr>
              <a:t>93 Annex A Controls</a:t>
            </a:r>
            <a:r>
              <a:rPr lang="en-US" sz="1650" dirty="0">
                <a:solidFill>
                  <a:srgbClr val="D6E5EF"/>
                </a:solidFill>
                <a:latin typeface="Source Sans 3" pitchFamily="34" charset="0"/>
                <a:ea typeface="Source Sans 3" pitchFamily="34" charset="-122"/>
                <a:cs typeface="Source Sans 3" pitchFamily="34" charset="-120"/>
              </a:rPr>
              <a:t> — Covering areas such as access control, cryptography, physical security, and incident management</a:t>
            </a:r>
            <a:endParaRPr lang="en-US" sz="1650" dirty="0"/>
          </a:p>
        </p:txBody>
      </p:sp>
      <p:sp>
        <p:nvSpPr>
          <p:cNvPr id="7" name="Shape 4"/>
          <p:cNvSpPr/>
          <p:nvPr/>
        </p:nvSpPr>
        <p:spPr>
          <a:xfrm>
            <a:off x="4687253" y="3428286"/>
            <a:ext cx="3781782" cy="3824645"/>
          </a:xfrm>
          <a:prstGeom prst="roundRect">
            <a:avLst>
              <a:gd name="adj" fmla="val 855"/>
            </a:avLst>
          </a:prstGeom>
          <a:solidFill>
            <a:srgbClr val="F98AC7"/>
          </a:solidFill>
          <a:ln/>
        </p:spPr>
      </p:sp>
      <p:sp>
        <p:nvSpPr>
          <p:cNvPr id="8" name="Text 5"/>
          <p:cNvSpPr/>
          <p:nvPr/>
        </p:nvSpPr>
        <p:spPr>
          <a:xfrm>
            <a:off x="4902637" y="3622119"/>
            <a:ext cx="2534603" cy="316825"/>
          </a:xfrm>
          <a:prstGeom prst="rect">
            <a:avLst/>
          </a:prstGeom>
          <a:noFill/>
          <a:ln/>
        </p:spPr>
        <p:txBody>
          <a:bodyPr wrap="none" lIns="0" tIns="0" rIns="0" bIns="0" rtlCol="0" anchor="t"/>
          <a:lstStyle/>
          <a:p>
            <a:pPr marL="0" indent="0" algn="l">
              <a:lnSpc>
                <a:spcPts val="2450"/>
              </a:lnSpc>
              <a:buNone/>
            </a:pPr>
            <a:r>
              <a:rPr lang="en-US" sz="1950" dirty="0">
                <a:solidFill>
                  <a:srgbClr val="000000"/>
                </a:solidFill>
                <a:latin typeface="Lora" pitchFamily="34" charset="0"/>
                <a:ea typeface="Lora" pitchFamily="34" charset="-122"/>
                <a:cs typeface="Lora" pitchFamily="34" charset="-120"/>
              </a:rPr>
              <a:t>Example</a:t>
            </a:r>
            <a:endParaRPr lang="en-US" sz="1950" dirty="0"/>
          </a:p>
        </p:txBody>
      </p:sp>
      <p:sp>
        <p:nvSpPr>
          <p:cNvPr id="9" name="Text 6"/>
          <p:cNvSpPr/>
          <p:nvPr/>
        </p:nvSpPr>
        <p:spPr>
          <a:xfrm>
            <a:off x="4902637" y="4132778"/>
            <a:ext cx="3351014" cy="2945725"/>
          </a:xfrm>
          <a:prstGeom prst="rect">
            <a:avLst/>
          </a:prstGeom>
          <a:noFill/>
          <a:ln/>
        </p:spPr>
        <p:txBody>
          <a:bodyPr wrap="square" lIns="0" tIns="0" rIns="0" bIns="0" rtlCol="0" anchor="t"/>
          <a:lstStyle/>
          <a:p>
            <a:pPr marL="0" indent="0" algn="l">
              <a:lnSpc>
                <a:spcPts val="2550"/>
              </a:lnSpc>
              <a:buNone/>
            </a:pPr>
            <a:r>
              <a:rPr lang="en-US" sz="1650" dirty="0">
                <a:solidFill>
                  <a:srgbClr val="000000"/>
                </a:solidFill>
                <a:latin typeface="Source Sans 3" pitchFamily="34" charset="0"/>
                <a:ea typeface="Source Sans 3" pitchFamily="34" charset="-122"/>
                <a:cs typeface="Source Sans 3" pitchFamily="34" charset="-120"/>
              </a:rPr>
              <a:t>A financial services company seeking to expand into European markets pursues ISO 27001 certification to demonstrate compliance with data protection standards to clients and regulators. It undergoes a formal third-party audit, implements all required controls, and receives certification valid for three years.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844391"/>
            <a:ext cx="5069205" cy="633651"/>
          </a:xfrm>
          <a:prstGeom prst="rect">
            <a:avLst/>
          </a:prstGeom>
          <a:noFill/>
          <a:ln/>
        </p:spPr>
        <p:txBody>
          <a:bodyPr wrap="none" lIns="0" tIns="0" rIns="0" bIns="0" rtlCol="0" anchor="t"/>
          <a:lstStyle/>
          <a:p>
            <a:pPr marL="0" indent="0" algn="l">
              <a:lnSpc>
                <a:spcPts val="4950"/>
              </a:lnSpc>
              <a:buNone/>
            </a:pPr>
            <a:r>
              <a:rPr lang="en-US" sz="3950" dirty="0">
                <a:solidFill>
                  <a:srgbClr val="F98AC7"/>
                </a:solidFill>
                <a:latin typeface="Lora" pitchFamily="34" charset="0"/>
                <a:ea typeface="Lora" pitchFamily="34" charset="-122"/>
                <a:cs typeface="Lora" pitchFamily="34" charset="-120"/>
              </a:rPr>
              <a:t>Key Differences</a:t>
            </a:r>
            <a:endParaRPr lang="en-US" sz="3950" dirty="0"/>
          </a:p>
        </p:txBody>
      </p:sp>
      <p:sp>
        <p:nvSpPr>
          <p:cNvPr id="3" name="Shape 1"/>
          <p:cNvSpPr/>
          <p:nvPr/>
        </p:nvSpPr>
        <p:spPr>
          <a:xfrm>
            <a:off x="837724" y="1865828"/>
            <a:ext cx="12954952" cy="5519261"/>
          </a:xfrm>
          <a:prstGeom prst="roundRect">
            <a:avLst>
              <a:gd name="adj" fmla="val 586"/>
            </a:avLst>
          </a:prstGeom>
          <a:noFill/>
          <a:ln w="7620">
            <a:solidFill>
              <a:srgbClr val="FFFFFF">
                <a:alpha val="24000"/>
              </a:srgbClr>
            </a:solidFill>
            <a:prstDash val="solid"/>
          </a:ln>
        </p:spPr>
      </p:sp>
      <p:sp>
        <p:nvSpPr>
          <p:cNvPr id="4" name="Shape 2"/>
          <p:cNvSpPr/>
          <p:nvPr/>
        </p:nvSpPr>
        <p:spPr>
          <a:xfrm>
            <a:off x="845344" y="1873448"/>
            <a:ext cx="12939713" cy="575191"/>
          </a:xfrm>
          <a:prstGeom prst="rect">
            <a:avLst/>
          </a:prstGeom>
          <a:solidFill>
            <a:srgbClr val="FFFFFF">
              <a:alpha val="4000"/>
            </a:srgbClr>
          </a:solidFill>
          <a:ln/>
        </p:spPr>
      </p:sp>
      <p:sp>
        <p:nvSpPr>
          <p:cNvPr id="5" name="Text 3"/>
          <p:cNvSpPr/>
          <p:nvPr/>
        </p:nvSpPr>
        <p:spPr>
          <a:xfrm>
            <a:off x="1060728" y="1997393"/>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Basis</a:t>
            </a:r>
            <a:endParaRPr lang="en-US" sz="1650" dirty="0"/>
          </a:p>
        </p:txBody>
      </p:sp>
      <p:sp>
        <p:nvSpPr>
          <p:cNvPr id="6" name="Text 4"/>
          <p:cNvSpPr/>
          <p:nvPr/>
        </p:nvSpPr>
        <p:spPr>
          <a:xfrm>
            <a:off x="3652480" y="1997393"/>
            <a:ext cx="4737497"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NIST CSF</a:t>
            </a:r>
            <a:endParaRPr lang="en-US" sz="1650" dirty="0"/>
          </a:p>
        </p:txBody>
      </p:sp>
      <p:sp>
        <p:nvSpPr>
          <p:cNvPr id="7" name="Text 5"/>
          <p:cNvSpPr/>
          <p:nvPr/>
        </p:nvSpPr>
        <p:spPr>
          <a:xfrm>
            <a:off x="8828365" y="1997393"/>
            <a:ext cx="4741307"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ISO 27001</a:t>
            </a:r>
            <a:endParaRPr lang="en-US" sz="1650" dirty="0"/>
          </a:p>
        </p:txBody>
      </p:sp>
      <p:sp>
        <p:nvSpPr>
          <p:cNvPr id="8" name="Shape 6"/>
          <p:cNvSpPr/>
          <p:nvPr/>
        </p:nvSpPr>
        <p:spPr>
          <a:xfrm>
            <a:off x="845344" y="2448639"/>
            <a:ext cx="12939713" cy="575191"/>
          </a:xfrm>
          <a:prstGeom prst="rect">
            <a:avLst/>
          </a:prstGeom>
          <a:solidFill>
            <a:srgbClr val="000000">
              <a:alpha val="4000"/>
            </a:srgbClr>
          </a:solidFill>
          <a:ln/>
        </p:spPr>
      </p:sp>
      <p:sp>
        <p:nvSpPr>
          <p:cNvPr id="9" name="Text 7"/>
          <p:cNvSpPr/>
          <p:nvPr/>
        </p:nvSpPr>
        <p:spPr>
          <a:xfrm>
            <a:off x="1060728" y="2572583"/>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Purpose</a:t>
            </a:r>
            <a:endParaRPr lang="en-US" sz="1650" dirty="0"/>
          </a:p>
        </p:txBody>
      </p:sp>
      <p:sp>
        <p:nvSpPr>
          <p:cNvPr id="10" name="Text 8"/>
          <p:cNvSpPr/>
          <p:nvPr/>
        </p:nvSpPr>
        <p:spPr>
          <a:xfrm>
            <a:off x="3652480" y="2572583"/>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Improve cybersecurity risk posture</a:t>
            </a:r>
            <a:endParaRPr lang="en-US" sz="1650" dirty="0"/>
          </a:p>
        </p:txBody>
      </p:sp>
      <p:sp>
        <p:nvSpPr>
          <p:cNvPr id="11" name="Text 9"/>
          <p:cNvSpPr/>
          <p:nvPr/>
        </p:nvSpPr>
        <p:spPr>
          <a:xfrm>
            <a:off x="8828365" y="2572583"/>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Establish a formal ISMS</a:t>
            </a:r>
            <a:endParaRPr lang="en-US" sz="1650" dirty="0"/>
          </a:p>
        </p:txBody>
      </p:sp>
      <p:sp>
        <p:nvSpPr>
          <p:cNvPr id="12" name="Shape 10"/>
          <p:cNvSpPr/>
          <p:nvPr/>
        </p:nvSpPr>
        <p:spPr>
          <a:xfrm>
            <a:off x="845344" y="3023830"/>
            <a:ext cx="12939713" cy="575191"/>
          </a:xfrm>
          <a:prstGeom prst="rect">
            <a:avLst/>
          </a:prstGeom>
          <a:solidFill>
            <a:srgbClr val="FFFFFF">
              <a:alpha val="4000"/>
            </a:srgbClr>
          </a:solidFill>
          <a:ln/>
        </p:spPr>
      </p:sp>
      <p:sp>
        <p:nvSpPr>
          <p:cNvPr id="13" name="Text 11"/>
          <p:cNvSpPr/>
          <p:nvPr/>
        </p:nvSpPr>
        <p:spPr>
          <a:xfrm>
            <a:off x="1060728" y="3147774"/>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Certifiable</a:t>
            </a:r>
            <a:endParaRPr lang="en-US" sz="1650" dirty="0"/>
          </a:p>
        </p:txBody>
      </p:sp>
      <p:sp>
        <p:nvSpPr>
          <p:cNvPr id="14" name="Text 12"/>
          <p:cNvSpPr/>
          <p:nvPr/>
        </p:nvSpPr>
        <p:spPr>
          <a:xfrm>
            <a:off x="3652480" y="3147774"/>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No</a:t>
            </a:r>
            <a:endParaRPr lang="en-US" sz="1650" dirty="0"/>
          </a:p>
        </p:txBody>
      </p:sp>
      <p:sp>
        <p:nvSpPr>
          <p:cNvPr id="15" name="Text 13"/>
          <p:cNvSpPr/>
          <p:nvPr/>
        </p:nvSpPr>
        <p:spPr>
          <a:xfrm>
            <a:off x="8828365" y="3147774"/>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Yes, through accredited third-party auditors</a:t>
            </a:r>
            <a:endParaRPr lang="en-US" sz="1650" dirty="0"/>
          </a:p>
        </p:txBody>
      </p:sp>
      <p:sp>
        <p:nvSpPr>
          <p:cNvPr id="16" name="Shape 14"/>
          <p:cNvSpPr/>
          <p:nvPr/>
        </p:nvSpPr>
        <p:spPr>
          <a:xfrm>
            <a:off x="845344" y="3599021"/>
            <a:ext cx="12939713" cy="902494"/>
          </a:xfrm>
          <a:prstGeom prst="rect">
            <a:avLst/>
          </a:prstGeom>
          <a:solidFill>
            <a:srgbClr val="000000">
              <a:alpha val="4000"/>
            </a:srgbClr>
          </a:solidFill>
          <a:ln/>
        </p:spPr>
      </p:sp>
      <p:sp>
        <p:nvSpPr>
          <p:cNvPr id="17" name="Text 15"/>
          <p:cNvSpPr/>
          <p:nvPr/>
        </p:nvSpPr>
        <p:spPr>
          <a:xfrm>
            <a:off x="1060728" y="3722965"/>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Structure</a:t>
            </a:r>
            <a:endParaRPr lang="en-US" sz="1650" dirty="0"/>
          </a:p>
        </p:txBody>
      </p:sp>
      <p:sp>
        <p:nvSpPr>
          <p:cNvPr id="18" name="Text 16"/>
          <p:cNvSpPr/>
          <p:nvPr/>
        </p:nvSpPr>
        <p:spPr>
          <a:xfrm>
            <a:off x="3652480" y="3722965"/>
            <a:ext cx="4737497" cy="654606"/>
          </a:xfrm>
          <a:prstGeom prst="rect">
            <a:avLst/>
          </a:prstGeom>
          <a:noFill/>
          <a:ln/>
        </p:spPr>
        <p:txBody>
          <a:bodyPr wrap="squar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6 Functions: Govern, Identify, Protect, Detect, Respond, Recover</a:t>
            </a:r>
            <a:endParaRPr lang="en-US" sz="1650" dirty="0"/>
          </a:p>
        </p:txBody>
      </p:sp>
      <p:sp>
        <p:nvSpPr>
          <p:cNvPr id="19" name="Text 17"/>
          <p:cNvSpPr/>
          <p:nvPr/>
        </p:nvSpPr>
        <p:spPr>
          <a:xfrm>
            <a:off x="8828365" y="3722965"/>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Clauses 4–10 and 93 Annex A controls</a:t>
            </a:r>
            <a:endParaRPr lang="en-US" sz="1650" dirty="0"/>
          </a:p>
        </p:txBody>
      </p:sp>
      <p:sp>
        <p:nvSpPr>
          <p:cNvPr id="20" name="Shape 18"/>
          <p:cNvSpPr/>
          <p:nvPr/>
        </p:nvSpPr>
        <p:spPr>
          <a:xfrm>
            <a:off x="845344" y="4501515"/>
            <a:ext cx="12939713" cy="575191"/>
          </a:xfrm>
          <a:prstGeom prst="rect">
            <a:avLst/>
          </a:prstGeom>
          <a:solidFill>
            <a:srgbClr val="FFFFFF">
              <a:alpha val="4000"/>
            </a:srgbClr>
          </a:solidFill>
          <a:ln/>
        </p:spPr>
      </p:sp>
      <p:sp>
        <p:nvSpPr>
          <p:cNvPr id="21" name="Text 19"/>
          <p:cNvSpPr/>
          <p:nvPr/>
        </p:nvSpPr>
        <p:spPr>
          <a:xfrm>
            <a:off x="1060728" y="4625459"/>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Approach</a:t>
            </a:r>
            <a:endParaRPr lang="en-US" sz="1650" dirty="0"/>
          </a:p>
        </p:txBody>
      </p:sp>
      <p:sp>
        <p:nvSpPr>
          <p:cNvPr id="22" name="Text 20"/>
          <p:cNvSpPr/>
          <p:nvPr/>
        </p:nvSpPr>
        <p:spPr>
          <a:xfrm>
            <a:off x="3652480" y="4625459"/>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Flexible and outcome-focused</a:t>
            </a:r>
            <a:endParaRPr lang="en-US" sz="1650" dirty="0"/>
          </a:p>
        </p:txBody>
      </p:sp>
      <p:sp>
        <p:nvSpPr>
          <p:cNvPr id="23" name="Text 21"/>
          <p:cNvSpPr/>
          <p:nvPr/>
        </p:nvSpPr>
        <p:spPr>
          <a:xfrm>
            <a:off x="8828365" y="4625459"/>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Formal and prescriptive</a:t>
            </a:r>
            <a:endParaRPr lang="en-US" sz="1650" dirty="0"/>
          </a:p>
        </p:txBody>
      </p:sp>
      <p:sp>
        <p:nvSpPr>
          <p:cNvPr id="24" name="Shape 22"/>
          <p:cNvSpPr/>
          <p:nvPr/>
        </p:nvSpPr>
        <p:spPr>
          <a:xfrm>
            <a:off x="845344" y="5076706"/>
            <a:ext cx="12939713" cy="575191"/>
          </a:xfrm>
          <a:prstGeom prst="rect">
            <a:avLst/>
          </a:prstGeom>
          <a:solidFill>
            <a:srgbClr val="000000">
              <a:alpha val="4000"/>
            </a:srgbClr>
          </a:solidFill>
          <a:ln/>
        </p:spPr>
      </p:sp>
      <p:sp>
        <p:nvSpPr>
          <p:cNvPr id="25" name="Text 23"/>
          <p:cNvSpPr/>
          <p:nvPr/>
        </p:nvSpPr>
        <p:spPr>
          <a:xfrm>
            <a:off x="1060728" y="5200650"/>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Documentation</a:t>
            </a:r>
            <a:endParaRPr lang="en-US" sz="1650" dirty="0"/>
          </a:p>
        </p:txBody>
      </p:sp>
      <p:sp>
        <p:nvSpPr>
          <p:cNvPr id="26" name="Text 24"/>
          <p:cNvSpPr/>
          <p:nvPr/>
        </p:nvSpPr>
        <p:spPr>
          <a:xfrm>
            <a:off x="3652480" y="5200650"/>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High-level guidance, no strict mandates</a:t>
            </a:r>
            <a:endParaRPr lang="en-US" sz="1650" dirty="0"/>
          </a:p>
        </p:txBody>
      </p:sp>
      <p:sp>
        <p:nvSpPr>
          <p:cNvPr id="27" name="Text 25"/>
          <p:cNvSpPr/>
          <p:nvPr/>
        </p:nvSpPr>
        <p:spPr>
          <a:xfrm>
            <a:off x="8828365" y="5200650"/>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Requires detailed documentation</a:t>
            </a:r>
            <a:endParaRPr lang="en-US" sz="1650" dirty="0"/>
          </a:p>
        </p:txBody>
      </p:sp>
      <p:sp>
        <p:nvSpPr>
          <p:cNvPr id="28" name="Shape 26"/>
          <p:cNvSpPr/>
          <p:nvPr/>
        </p:nvSpPr>
        <p:spPr>
          <a:xfrm>
            <a:off x="845344" y="5651897"/>
            <a:ext cx="12939713" cy="575191"/>
          </a:xfrm>
          <a:prstGeom prst="rect">
            <a:avLst/>
          </a:prstGeom>
          <a:solidFill>
            <a:srgbClr val="FFFFFF">
              <a:alpha val="4000"/>
            </a:srgbClr>
          </a:solidFill>
          <a:ln/>
        </p:spPr>
      </p:sp>
      <p:sp>
        <p:nvSpPr>
          <p:cNvPr id="29" name="Text 27"/>
          <p:cNvSpPr/>
          <p:nvPr/>
        </p:nvSpPr>
        <p:spPr>
          <a:xfrm>
            <a:off x="1060728" y="5775841"/>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Best Suited For</a:t>
            </a:r>
            <a:endParaRPr lang="en-US" sz="1650" dirty="0"/>
          </a:p>
        </p:txBody>
      </p:sp>
      <p:sp>
        <p:nvSpPr>
          <p:cNvPr id="30" name="Text 28"/>
          <p:cNvSpPr/>
          <p:nvPr/>
        </p:nvSpPr>
        <p:spPr>
          <a:xfrm>
            <a:off x="3652480" y="5775841"/>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Organizations enhancing cybersecurity maturity</a:t>
            </a:r>
            <a:endParaRPr lang="en-US" sz="1650" dirty="0"/>
          </a:p>
        </p:txBody>
      </p:sp>
      <p:sp>
        <p:nvSpPr>
          <p:cNvPr id="31" name="Text 29"/>
          <p:cNvSpPr/>
          <p:nvPr/>
        </p:nvSpPr>
        <p:spPr>
          <a:xfrm>
            <a:off x="8828365" y="5775841"/>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Organizations requiring formal certification</a:t>
            </a:r>
            <a:endParaRPr lang="en-US" sz="1650" dirty="0"/>
          </a:p>
        </p:txBody>
      </p:sp>
      <p:sp>
        <p:nvSpPr>
          <p:cNvPr id="32" name="Shape 30"/>
          <p:cNvSpPr/>
          <p:nvPr/>
        </p:nvSpPr>
        <p:spPr>
          <a:xfrm>
            <a:off x="845344" y="6227088"/>
            <a:ext cx="12939713" cy="575191"/>
          </a:xfrm>
          <a:prstGeom prst="rect">
            <a:avLst/>
          </a:prstGeom>
          <a:solidFill>
            <a:srgbClr val="000000">
              <a:alpha val="4000"/>
            </a:srgbClr>
          </a:solidFill>
          <a:ln/>
        </p:spPr>
      </p:sp>
      <p:sp>
        <p:nvSpPr>
          <p:cNvPr id="33" name="Text 31"/>
          <p:cNvSpPr/>
          <p:nvPr/>
        </p:nvSpPr>
        <p:spPr>
          <a:xfrm>
            <a:off x="1060728" y="6351032"/>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Cost</a:t>
            </a:r>
            <a:endParaRPr lang="en-US" sz="1650" dirty="0"/>
          </a:p>
        </p:txBody>
      </p:sp>
      <p:sp>
        <p:nvSpPr>
          <p:cNvPr id="34" name="Text 32"/>
          <p:cNvSpPr/>
          <p:nvPr/>
        </p:nvSpPr>
        <p:spPr>
          <a:xfrm>
            <a:off x="3652480" y="6351032"/>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Free, publicly available</a:t>
            </a:r>
            <a:endParaRPr lang="en-US" sz="1650" dirty="0"/>
          </a:p>
        </p:txBody>
      </p:sp>
      <p:sp>
        <p:nvSpPr>
          <p:cNvPr id="35" name="Text 33"/>
          <p:cNvSpPr/>
          <p:nvPr/>
        </p:nvSpPr>
        <p:spPr>
          <a:xfrm>
            <a:off x="8828365" y="6351032"/>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Requires purchase of documentation and audit fees</a:t>
            </a:r>
            <a:endParaRPr lang="en-US" sz="1650" dirty="0"/>
          </a:p>
        </p:txBody>
      </p:sp>
      <p:sp>
        <p:nvSpPr>
          <p:cNvPr id="36" name="Shape 34"/>
          <p:cNvSpPr/>
          <p:nvPr/>
        </p:nvSpPr>
        <p:spPr>
          <a:xfrm>
            <a:off x="845344" y="6802279"/>
            <a:ext cx="12939713" cy="575191"/>
          </a:xfrm>
          <a:prstGeom prst="rect">
            <a:avLst/>
          </a:prstGeom>
          <a:solidFill>
            <a:srgbClr val="FFFFFF">
              <a:alpha val="4000"/>
            </a:srgbClr>
          </a:solidFill>
          <a:ln/>
        </p:spPr>
      </p:sp>
      <p:sp>
        <p:nvSpPr>
          <p:cNvPr id="37" name="Text 35"/>
          <p:cNvSpPr/>
          <p:nvPr/>
        </p:nvSpPr>
        <p:spPr>
          <a:xfrm>
            <a:off x="1060728" y="6926223"/>
            <a:ext cx="2153364" cy="327303"/>
          </a:xfrm>
          <a:prstGeom prst="rect">
            <a:avLst/>
          </a:prstGeom>
          <a:noFill/>
          <a:ln/>
        </p:spPr>
        <p:txBody>
          <a:bodyPr wrap="none" lIns="0" tIns="0" rIns="0" bIns="0" rtlCol="0" anchor="t"/>
          <a:lstStyle/>
          <a:p>
            <a:pPr marL="0" indent="0" algn="l">
              <a:lnSpc>
                <a:spcPts val="2550"/>
              </a:lnSpc>
              <a:buNone/>
            </a:pPr>
            <a:r>
              <a:rPr lang="en-US" sz="1650" b="1" dirty="0">
                <a:solidFill>
                  <a:srgbClr val="D6E5EF"/>
                </a:solidFill>
                <a:latin typeface="Source Sans 3" pitchFamily="34" charset="0"/>
                <a:ea typeface="Source Sans 3" pitchFamily="34" charset="-122"/>
                <a:cs typeface="Source Sans 3" pitchFamily="34" charset="-120"/>
              </a:rPr>
              <a:t>Geographic Focus</a:t>
            </a:r>
            <a:endParaRPr lang="en-US" sz="1650" dirty="0"/>
          </a:p>
        </p:txBody>
      </p:sp>
      <p:sp>
        <p:nvSpPr>
          <p:cNvPr id="38" name="Text 36"/>
          <p:cNvSpPr/>
          <p:nvPr/>
        </p:nvSpPr>
        <p:spPr>
          <a:xfrm>
            <a:off x="3652480" y="6926223"/>
            <a:ext cx="473749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Primarily US-based organizations</a:t>
            </a:r>
            <a:endParaRPr lang="en-US" sz="1650" dirty="0"/>
          </a:p>
        </p:txBody>
      </p:sp>
      <p:sp>
        <p:nvSpPr>
          <p:cNvPr id="39" name="Text 37"/>
          <p:cNvSpPr/>
          <p:nvPr/>
        </p:nvSpPr>
        <p:spPr>
          <a:xfrm>
            <a:off x="8828365" y="6926223"/>
            <a:ext cx="4741307" cy="327303"/>
          </a:xfrm>
          <a:prstGeom prst="rect">
            <a:avLst/>
          </a:prstGeom>
          <a:noFill/>
          <a:ln/>
        </p:spPr>
        <p:txBody>
          <a:bodyPr wrap="none" lIns="0" tIns="0" rIns="0" bIns="0" rtlCol="0" anchor="t"/>
          <a:lstStyle/>
          <a:p>
            <a:pPr marL="0" indent="0" algn="l">
              <a:lnSpc>
                <a:spcPts val="2550"/>
              </a:lnSpc>
              <a:buNone/>
            </a:pPr>
            <a:r>
              <a:rPr lang="en-US" sz="1650" dirty="0">
                <a:solidFill>
                  <a:srgbClr val="D6E5EF"/>
                </a:solidFill>
                <a:latin typeface="Source Sans 3" pitchFamily="34" charset="0"/>
                <a:ea typeface="Source Sans 3" pitchFamily="34" charset="-122"/>
                <a:cs typeface="Source Sans 3" pitchFamily="34" charset="-120"/>
              </a:rPr>
              <a:t>Globally recognized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936427"/>
            <a:ext cx="5350788" cy="668774"/>
          </a:xfrm>
          <a:prstGeom prst="rect">
            <a:avLst/>
          </a:prstGeom>
          <a:noFill/>
          <a:ln/>
        </p:spPr>
        <p:txBody>
          <a:bodyPr wrap="none" lIns="0" tIns="0" rIns="0" bIns="0" rtlCol="0" anchor="t"/>
          <a:lstStyle/>
          <a:p>
            <a:pPr marL="0" indent="0" algn="l">
              <a:lnSpc>
                <a:spcPts val="5250"/>
              </a:lnSpc>
              <a:buNone/>
            </a:pPr>
            <a:r>
              <a:rPr lang="en-US" sz="4200" dirty="0">
                <a:solidFill>
                  <a:srgbClr val="F98AC7"/>
                </a:solidFill>
                <a:latin typeface="Lora" pitchFamily="34" charset="0"/>
                <a:ea typeface="Lora" pitchFamily="34" charset="-122"/>
                <a:cs typeface="Lora" pitchFamily="34" charset="-120"/>
              </a:rPr>
              <a:t>Key Similarities</a:t>
            </a:r>
            <a:endParaRPr lang="en-US" sz="4200" dirty="0"/>
          </a:p>
        </p:txBody>
      </p:sp>
      <p:sp>
        <p:nvSpPr>
          <p:cNvPr id="3" name="Text 1"/>
          <p:cNvSpPr/>
          <p:nvPr/>
        </p:nvSpPr>
        <p:spPr>
          <a:xfrm>
            <a:off x="837724" y="2037278"/>
            <a:ext cx="12954952" cy="354687"/>
          </a:xfrm>
          <a:prstGeom prst="rect">
            <a:avLst/>
          </a:prstGeom>
          <a:noFill/>
          <a:ln/>
        </p:spPr>
        <p:txBody>
          <a:bodyPr wrap="none" lIns="0" tIns="0" rIns="0" bIns="0" rtlCol="0" anchor="t"/>
          <a:lstStyle/>
          <a:p>
            <a:pPr marL="0" indent="0" algn="l">
              <a:lnSpc>
                <a:spcPts val="2750"/>
              </a:lnSpc>
              <a:buNone/>
            </a:pPr>
            <a:r>
              <a:rPr lang="en-US" sz="1750" dirty="0">
                <a:solidFill>
                  <a:srgbClr val="D6E5EF"/>
                </a:solidFill>
                <a:latin typeface="Source Sans 3" pitchFamily="34" charset="0"/>
                <a:ea typeface="Source Sans 3" pitchFamily="34" charset="-122"/>
                <a:cs typeface="Source Sans 3" pitchFamily="34" charset="-120"/>
              </a:rPr>
              <a:t>Despite their differences, NIST CSF and ISO 27001 share approximately </a:t>
            </a:r>
            <a:r>
              <a:rPr lang="en-US" sz="1750" b="1" dirty="0">
                <a:solidFill>
                  <a:srgbClr val="D6E5EF"/>
                </a:solidFill>
                <a:latin typeface="Source Sans 3" pitchFamily="34" charset="0"/>
                <a:ea typeface="Source Sans 3" pitchFamily="34" charset="-122"/>
                <a:cs typeface="Source Sans 3" pitchFamily="34" charset="-120"/>
              </a:rPr>
              <a:t>80% overlap in controls</a:t>
            </a:r>
            <a:r>
              <a:rPr lang="en-US" sz="1750" dirty="0">
                <a:solidFill>
                  <a:srgbClr val="D6E5EF"/>
                </a:solidFill>
                <a:latin typeface="Source Sans 3" pitchFamily="34" charset="0"/>
                <a:ea typeface="Source Sans 3" pitchFamily="34" charset="-122"/>
                <a:cs typeface="Source Sans 3" pitchFamily="34" charset="-120"/>
              </a:rPr>
              <a:t>. Both frameworks:</a:t>
            </a:r>
            <a:endParaRPr lang="en-US" sz="1750" dirty="0"/>
          </a:p>
        </p:txBody>
      </p:sp>
      <p:sp>
        <p:nvSpPr>
          <p:cNvPr id="4" name="Shape 2"/>
          <p:cNvSpPr/>
          <p:nvPr/>
        </p:nvSpPr>
        <p:spPr>
          <a:xfrm>
            <a:off x="837724" y="2634972"/>
            <a:ext cx="4174331" cy="1689021"/>
          </a:xfrm>
          <a:prstGeom prst="roundRect">
            <a:avLst>
              <a:gd name="adj" fmla="val 8662"/>
            </a:avLst>
          </a:prstGeom>
          <a:solidFill>
            <a:srgbClr val="252833"/>
          </a:solidFill>
          <a:ln w="30480">
            <a:solidFill>
              <a:srgbClr val="5D606B"/>
            </a:solidFill>
            <a:prstDash val="solid"/>
          </a:ln>
        </p:spPr>
      </p:sp>
      <p:pic>
        <p:nvPicPr>
          <p:cNvPr id="5" name="Image 0" descr="preencoded.png"/>
          <p:cNvPicPr>
            <a:picLocks noChangeAspect="1"/>
          </p:cNvPicPr>
          <p:nvPr/>
        </p:nvPicPr>
        <p:blipFill>
          <a:blip r:embed="rId3"/>
          <a:stretch>
            <a:fillRect/>
          </a:stretch>
        </p:blipFill>
        <p:spPr>
          <a:xfrm>
            <a:off x="807244" y="2634972"/>
            <a:ext cx="121920" cy="1689021"/>
          </a:xfrm>
          <a:prstGeom prst="rect">
            <a:avLst/>
          </a:prstGeom>
        </p:spPr>
      </p:pic>
      <p:sp>
        <p:nvSpPr>
          <p:cNvPr id="6" name="Text 3"/>
          <p:cNvSpPr/>
          <p:nvPr/>
        </p:nvSpPr>
        <p:spPr>
          <a:xfrm>
            <a:off x="1187053" y="2892862"/>
            <a:ext cx="3472934" cy="334328"/>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Risk Management Approach</a:t>
            </a:r>
            <a:endParaRPr lang="en-US" sz="2100" dirty="0"/>
          </a:p>
        </p:txBody>
      </p:sp>
      <p:sp>
        <p:nvSpPr>
          <p:cNvPr id="7" name="Text 4"/>
          <p:cNvSpPr/>
          <p:nvPr/>
        </p:nvSpPr>
        <p:spPr>
          <a:xfrm>
            <a:off x="1187053" y="3356729"/>
            <a:ext cx="3567113" cy="709374"/>
          </a:xfrm>
          <a:prstGeom prst="rect">
            <a:avLst/>
          </a:prstGeom>
          <a:noFill/>
          <a:ln/>
        </p:spPr>
        <p:txBody>
          <a:bodyPr wrap="square" lIns="0" tIns="0" rIns="0" bIns="0" rtlCol="0" anchor="t"/>
          <a:lstStyle/>
          <a:p>
            <a:pPr marL="0" indent="0" algn="l">
              <a:lnSpc>
                <a:spcPts val="2750"/>
              </a:lnSpc>
              <a:buNone/>
            </a:pPr>
            <a:r>
              <a:rPr lang="en-US" sz="1750" dirty="0">
                <a:solidFill>
                  <a:srgbClr val="D6E5EF"/>
                </a:solidFill>
                <a:latin typeface="Source Sans 3" pitchFamily="34" charset="0"/>
                <a:ea typeface="Source Sans 3" pitchFamily="34" charset="-122"/>
                <a:cs typeface="Source Sans 3" pitchFamily="34" charset="-120"/>
              </a:rPr>
              <a:t>Emphasize a </a:t>
            </a:r>
            <a:r>
              <a:rPr lang="en-US" sz="1750" b="1" dirty="0">
                <a:solidFill>
                  <a:srgbClr val="D6E5EF"/>
                </a:solidFill>
                <a:latin typeface="Source Sans 3" pitchFamily="34" charset="0"/>
                <a:ea typeface="Source Sans 3" pitchFamily="34" charset="-122"/>
                <a:cs typeface="Source Sans 3" pitchFamily="34" charset="-120"/>
              </a:rPr>
              <a:t>risk management approach</a:t>
            </a:r>
            <a:r>
              <a:rPr lang="en-US" sz="1750" dirty="0">
                <a:solidFill>
                  <a:srgbClr val="D6E5EF"/>
                </a:solidFill>
                <a:latin typeface="Source Sans 3" pitchFamily="34" charset="0"/>
                <a:ea typeface="Source Sans 3" pitchFamily="34" charset="-122"/>
                <a:cs typeface="Source Sans 3" pitchFamily="34" charset="-120"/>
              </a:rPr>
              <a:t> to cybersecurity</a:t>
            </a:r>
            <a:endParaRPr lang="en-US" sz="1750" dirty="0"/>
          </a:p>
        </p:txBody>
      </p:sp>
      <p:sp>
        <p:nvSpPr>
          <p:cNvPr id="8" name="Shape 5"/>
          <p:cNvSpPr/>
          <p:nvPr/>
        </p:nvSpPr>
        <p:spPr>
          <a:xfrm>
            <a:off x="5228034" y="2634972"/>
            <a:ext cx="4174331" cy="1689021"/>
          </a:xfrm>
          <a:prstGeom prst="roundRect">
            <a:avLst>
              <a:gd name="adj" fmla="val 8662"/>
            </a:avLst>
          </a:prstGeom>
          <a:solidFill>
            <a:srgbClr val="252833"/>
          </a:solidFill>
          <a:ln w="30480">
            <a:solidFill>
              <a:srgbClr val="5D606B"/>
            </a:solidFill>
            <a:prstDash val="solid"/>
          </a:ln>
        </p:spPr>
      </p:sp>
      <p:pic>
        <p:nvPicPr>
          <p:cNvPr id="9" name="Image 1" descr="preencoded.png"/>
          <p:cNvPicPr>
            <a:picLocks noChangeAspect="1"/>
          </p:cNvPicPr>
          <p:nvPr/>
        </p:nvPicPr>
        <p:blipFill>
          <a:blip r:embed="rId3"/>
          <a:stretch>
            <a:fillRect/>
          </a:stretch>
        </p:blipFill>
        <p:spPr>
          <a:xfrm>
            <a:off x="5197554" y="2634972"/>
            <a:ext cx="121920" cy="1689021"/>
          </a:xfrm>
          <a:prstGeom prst="rect">
            <a:avLst/>
          </a:prstGeom>
        </p:spPr>
      </p:pic>
      <p:sp>
        <p:nvSpPr>
          <p:cNvPr id="10" name="Text 6"/>
          <p:cNvSpPr/>
          <p:nvPr/>
        </p:nvSpPr>
        <p:spPr>
          <a:xfrm>
            <a:off x="5577364" y="2892862"/>
            <a:ext cx="2675334" cy="334328"/>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Control Selection</a:t>
            </a:r>
            <a:endParaRPr lang="en-US" sz="2100" dirty="0"/>
          </a:p>
        </p:txBody>
      </p:sp>
      <p:sp>
        <p:nvSpPr>
          <p:cNvPr id="11" name="Text 7"/>
          <p:cNvSpPr/>
          <p:nvPr/>
        </p:nvSpPr>
        <p:spPr>
          <a:xfrm>
            <a:off x="5577364" y="3356729"/>
            <a:ext cx="3567113" cy="709374"/>
          </a:xfrm>
          <a:prstGeom prst="rect">
            <a:avLst/>
          </a:prstGeom>
          <a:noFill/>
          <a:ln/>
        </p:spPr>
        <p:txBody>
          <a:bodyPr wrap="square" lIns="0" tIns="0" rIns="0" bIns="0" rtlCol="0" anchor="t"/>
          <a:lstStyle/>
          <a:p>
            <a:pPr marL="0" indent="0" algn="l">
              <a:lnSpc>
                <a:spcPts val="2750"/>
              </a:lnSpc>
              <a:buNone/>
            </a:pPr>
            <a:r>
              <a:rPr lang="en-US" sz="1750" dirty="0">
                <a:solidFill>
                  <a:srgbClr val="D6E5EF"/>
                </a:solidFill>
                <a:latin typeface="Source Sans 3" pitchFamily="34" charset="0"/>
                <a:ea typeface="Source Sans 3" pitchFamily="34" charset="-122"/>
                <a:cs typeface="Source Sans 3" pitchFamily="34" charset="-120"/>
              </a:rPr>
              <a:t>Encourage </a:t>
            </a:r>
            <a:r>
              <a:rPr lang="en-US" sz="1750" b="1" dirty="0">
                <a:solidFill>
                  <a:srgbClr val="D6E5EF"/>
                </a:solidFill>
                <a:latin typeface="Source Sans 3" pitchFamily="34" charset="0"/>
                <a:ea typeface="Source Sans 3" pitchFamily="34" charset="-122"/>
                <a:cs typeface="Source Sans 3" pitchFamily="34" charset="-120"/>
              </a:rPr>
              <a:t>control selection</a:t>
            </a:r>
            <a:r>
              <a:rPr lang="en-US" sz="1750" dirty="0">
                <a:solidFill>
                  <a:srgbClr val="D6E5EF"/>
                </a:solidFill>
                <a:latin typeface="Source Sans 3" pitchFamily="34" charset="0"/>
                <a:ea typeface="Source Sans 3" pitchFamily="34" charset="-122"/>
                <a:cs typeface="Source Sans 3" pitchFamily="34" charset="-120"/>
              </a:rPr>
              <a:t> based on organizational context</a:t>
            </a:r>
            <a:endParaRPr lang="en-US" sz="1750" dirty="0"/>
          </a:p>
        </p:txBody>
      </p:sp>
      <p:sp>
        <p:nvSpPr>
          <p:cNvPr id="12" name="Shape 8"/>
          <p:cNvSpPr/>
          <p:nvPr/>
        </p:nvSpPr>
        <p:spPr>
          <a:xfrm>
            <a:off x="9618345" y="2634972"/>
            <a:ext cx="4174331" cy="1689021"/>
          </a:xfrm>
          <a:prstGeom prst="roundRect">
            <a:avLst>
              <a:gd name="adj" fmla="val 8662"/>
            </a:avLst>
          </a:prstGeom>
          <a:solidFill>
            <a:srgbClr val="252833"/>
          </a:solidFill>
          <a:ln w="30480">
            <a:solidFill>
              <a:srgbClr val="5D606B"/>
            </a:solidFill>
            <a:prstDash val="solid"/>
          </a:ln>
        </p:spPr>
      </p:sp>
      <p:pic>
        <p:nvPicPr>
          <p:cNvPr id="13" name="Image 2" descr="preencoded.png"/>
          <p:cNvPicPr>
            <a:picLocks noChangeAspect="1"/>
          </p:cNvPicPr>
          <p:nvPr/>
        </p:nvPicPr>
        <p:blipFill>
          <a:blip r:embed="rId3"/>
          <a:stretch>
            <a:fillRect/>
          </a:stretch>
        </p:blipFill>
        <p:spPr>
          <a:xfrm>
            <a:off x="9587865" y="2634972"/>
            <a:ext cx="121920" cy="1689021"/>
          </a:xfrm>
          <a:prstGeom prst="rect">
            <a:avLst/>
          </a:prstGeom>
        </p:spPr>
      </p:pic>
      <p:sp>
        <p:nvSpPr>
          <p:cNvPr id="14" name="Text 9"/>
          <p:cNvSpPr/>
          <p:nvPr/>
        </p:nvSpPr>
        <p:spPr>
          <a:xfrm>
            <a:off x="9967674" y="2892862"/>
            <a:ext cx="3196828" cy="334328"/>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Continuous Improvement</a:t>
            </a:r>
            <a:endParaRPr lang="en-US" sz="2100" dirty="0"/>
          </a:p>
        </p:txBody>
      </p:sp>
      <p:sp>
        <p:nvSpPr>
          <p:cNvPr id="15" name="Text 10"/>
          <p:cNvSpPr/>
          <p:nvPr/>
        </p:nvSpPr>
        <p:spPr>
          <a:xfrm>
            <a:off x="9967674" y="3356729"/>
            <a:ext cx="3567113" cy="709374"/>
          </a:xfrm>
          <a:prstGeom prst="rect">
            <a:avLst/>
          </a:prstGeom>
          <a:noFill/>
          <a:ln/>
        </p:spPr>
        <p:txBody>
          <a:bodyPr wrap="square" lIns="0" tIns="0" rIns="0" bIns="0" rtlCol="0" anchor="t"/>
          <a:lstStyle/>
          <a:p>
            <a:pPr marL="0" indent="0" algn="l">
              <a:lnSpc>
                <a:spcPts val="2750"/>
              </a:lnSpc>
              <a:buNone/>
            </a:pPr>
            <a:r>
              <a:rPr lang="en-US" sz="1750" dirty="0">
                <a:solidFill>
                  <a:srgbClr val="D6E5EF"/>
                </a:solidFill>
                <a:latin typeface="Source Sans 3" pitchFamily="34" charset="0"/>
                <a:ea typeface="Source Sans 3" pitchFamily="34" charset="-122"/>
                <a:cs typeface="Source Sans 3" pitchFamily="34" charset="-120"/>
              </a:rPr>
              <a:t>Focus on </a:t>
            </a:r>
            <a:r>
              <a:rPr lang="en-US" sz="1750" b="1" dirty="0">
                <a:solidFill>
                  <a:srgbClr val="D6E5EF"/>
                </a:solidFill>
                <a:latin typeface="Source Sans 3" pitchFamily="34" charset="0"/>
                <a:ea typeface="Source Sans 3" pitchFamily="34" charset="-122"/>
                <a:cs typeface="Source Sans 3" pitchFamily="34" charset="-120"/>
              </a:rPr>
              <a:t>continuous improvement</a:t>
            </a:r>
            <a:r>
              <a:rPr lang="en-US" sz="1750" dirty="0">
                <a:solidFill>
                  <a:srgbClr val="D6E5EF"/>
                </a:solidFill>
                <a:latin typeface="Source Sans 3" pitchFamily="34" charset="0"/>
                <a:ea typeface="Source Sans 3" pitchFamily="34" charset="-122"/>
                <a:cs typeface="Source Sans 3" pitchFamily="34" charset="-120"/>
              </a:rPr>
              <a:t> based on emerging threats</a:t>
            </a:r>
            <a:endParaRPr lang="en-US" sz="1750" dirty="0"/>
          </a:p>
        </p:txBody>
      </p:sp>
      <p:sp>
        <p:nvSpPr>
          <p:cNvPr id="16" name="Shape 11"/>
          <p:cNvSpPr/>
          <p:nvPr/>
        </p:nvSpPr>
        <p:spPr>
          <a:xfrm>
            <a:off x="837724" y="4539972"/>
            <a:ext cx="4174331" cy="2753082"/>
          </a:xfrm>
          <a:prstGeom prst="roundRect">
            <a:avLst>
              <a:gd name="adj" fmla="val 5314"/>
            </a:avLst>
          </a:prstGeom>
          <a:solidFill>
            <a:srgbClr val="252833"/>
          </a:solidFill>
          <a:ln w="30480">
            <a:solidFill>
              <a:srgbClr val="5D606B"/>
            </a:solidFill>
            <a:prstDash val="solid"/>
          </a:ln>
        </p:spPr>
      </p:sp>
      <p:pic>
        <p:nvPicPr>
          <p:cNvPr id="17" name="Image 3" descr="preencoded.png"/>
          <p:cNvPicPr>
            <a:picLocks noChangeAspect="1"/>
          </p:cNvPicPr>
          <p:nvPr/>
        </p:nvPicPr>
        <p:blipFill>
          <a:blip r:embed="rId4"/>
          <a:stretch>
            <a:fillRect/>
          </a:stretch>
        </p:blipFill>
        <p:spPr>
          <a:xfrm>
            <a:off x="807244" y="4539972"/>
            <a:ext cx="121920" cy="2753082"/>
          </a:xfrm>
          <a:prstGeom prst="rect">
            <a:avLst/>
          </a:prstGeom>
        </p:spPr>
      </p:pic>
      <p:sp>
        <p:nvSpPr>
          <p:cNvPr id="18" name="Text 12"/>
          <p:cNvSpPr/>
          <p:nvPr/>
        </p:nvSpPr>
        <p:spPr>
          <a:xfrm>
            <a:off x="1187053" y="4797862"/>
            <a:ext cx="3413998" cy="334328"/>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Common Security Domains</a:t>
            </a:r>
            <a:endParaRPr lang="en-US" sz="2100" dirty="0"/>
          </a:p>
        </p:txBody>
      </p:sp>
      <p:sp>
        <p:nvSpPr>
          <p:cNvPr id="19" name="Text 13"/>
          <p:cNvSpPr/>
          <p:nvPr/>
        </p:nvSpPr>
        <p:spPr>
          <a:xfrm>
            <a:off x="1187053" y="5261729"/>
            <a:ext cx="3567113" cy="1773436"/>
          </a:xfrm>
          <a:prstGeom prst="rect">
            <a:avLst/>
          </a:prstGeom>
          <a:noFill/>
          <a:ln/>
        </p:spPr>
        <p:txBody>
          <a:bodyPr wrap="square" lIns="0" tIns="0" rIns="0" bIns="0" rtlCol="0" anchor="t"/>
          <a:lstStyle/>
          <a:p>
            <a:pPr marL="0" indent="0" algn="l">
              <a:lnSpc>
                <a:spcPts val="2750"/>
              </a:lnSpc>
              <a:buNone/>
            </a:pPr>
            <a:r>
              <a:rPr lang="en-US" sz="1750" dirty="0">
                <a:solidFill>
                  <a:srgbClr val="D6E5EF"/>
                </a:solidFill>
                <a:latin typeface="Source Sans 3" pitchFamily="34" charset="0"/>
                <a:ea typeface="Source Sans 3" pitchFamily="34" charset="-122"/>
                <a:cs typeface="Source Sans 3" pitchFamily="34" charset="-120"/>
              </a:rPr>
              <a:t>Share common security domains including </a:t>
            </a:r>
            <a:r>
              <a:rPr lang="en-US" sz="1750" b="1" dirty="0">
                <a:solidFill>
                  <a:srgbClr val="D6E5EF"/>
                </a:solidFill>
                <a:latin typeface="Source Sans 3" pitchFamily="34" charset="0"/>
                <a:ea typeface="Source Sans 3" pitchFamily="34" charset="-122"/>
                <a:cs typeface="Source Sans 3" pitchFamily="34" charset="-120"/>
              </a:rPr>
              <a:t>access controls, incident response, risk assessment, asset management, and business continuity</a:t>
            </a:r>
            <a:endParaRPr lang="en-US" sz="1750" dirty="0"/>
          </a:p>
        </p:txBody>
      </p:sp>
      <p:sp>
        <p:nvSpPr>
          <p:cNvPr id="20" name="Shape 14"/>
          <p:cNvSpPr/>
          <p:nvPr/>
        </p:nvSpPr>
        <p:spPr>
          <a:xfrm>
            <a:off x="5228034" y="4539972"/>
            <a:ext cx="4174331" cy="2753082"/>
          </a:xfrm>
          <a:prstGeom prst="roundRect">
            <a:avLst>
              <a:gd name="adj" fmla="val 5314"/>
            </a:avLst>
          </a:prstGeom>
          <a:solidFill>
            <a:srgbClr val="252833"/>
          </a:solidFill>
          <a:ln w="30480">
            <a:solidFill>
              <a:srgbClr val="5D606B"/>
            </a:solidFill>
            <a:prstDash val="solid"/>
          </a:ln>
        </p:spPr>
      </p:sp>
      <p:pic>
        <p:nvPicPr>
          <p:cNvPr id="21" name="Image 4" descr="preencoded.png"/>
          <p:cNvPicPr>
            <a:picLocks noChangeAspect="1"/>
          </p:cNvPicPr>
          <p:nvPr/>
        </p:nvPicPr>
        <p:blipFill>
          <a:blip r:embed="rId4"/>
          <a:stretch>
            <a:fillRect/>
          </a:stretch>
        </p:blipFill>
        <p:spPr>
          <a:xfrm>
            <a:off x="5197554" y="4539972"/>
            <a:ext cx="121920" cy="2753082"/>
          </a:xfrm>
          <a:prstGeom prst="rect">
            <a:avLst/>
          </a:prstGeom>
        </p:spPr>
      </p:pic>
      <p:sp>
        <p:nvSpPr>
          <p:cNvPr id="22" name="Text 15"/>
          <p:cNvSpPr/>
          <p:nvPr/>
        </p:nvSpPr>
        <p:spPr>
          <a:xfrm>
            <a:off x="5577364" y="4797862"/>
            <a:ext cx="3567113" cy="668655"/>
          </a:xfrm>
          <a:prstGeom prst="rect">
            <a:avLst/>
          </a:prstGeom>
          <a:noFill/>
          <a:ln/>
        </p:spPr>
        <p:txBody>
          <a:bodyPr wrap="squar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Widely Accepted Best Practices</a:t>
            </a:r>
            <a:endParaRPr lang="en-US" sz="2100" dirty="0"/>
          </a:p>
        </p:txBody>
      </p:sp>
      <p:sp>
        <p:nvSpPr>
          <p:cNvPr id="23" name="Text 16"/>
          <p:cNvSpPr/>
          <p:nvPr/>
        </p:nvSpPr>
        <p:spPr>
          <a:xfrm>
            <a:off x="5577364" y="5596057"/>
            <a:ext cx="3567113" cy="1064062"/>
          </a:xfrm>
          <a:prstGeom prst="rect">
            <a:avLst/>
          </a:prstGeom>
          <a:noFill/>
          <a:ln/>
        </p:spPr>
        <p:txBody>
          <a:bodyPr wrap="square" lIns="0" tIns="0" rIns="0" bIns="0" rtlCol="0" anchor="t"/>
          <a:lstStyle/>
          <a:p>
            <a:pPr marL="0" indent="0" algn="l">
              <a:lnSpc>
                <a:spcPts val="2750"/>
              </a:lnSpc>
              <a:buNone/>
            </a:pPr>
            <a:r>
              <a:rPr lang="en-US" sz="1750" dirty="0">
                <a:solidFill>
                  <a:srgbClr val="D6E5EF"/>
                </a:solidFill>
                <a:latin typeface="Source Sans 3" pitchFamily="34" charset="0"/>
                <a:ea typeface="Source Sans 3" pitchFamily="34" charset="-122"/>
                <a:cs typeface="Source Sans 3" pitchFamily="34" charset="-120"/>
              </a:rPr>
              <a:t>Offer widely accepted best practices such as </a:t>
            </a:r>
            <a:r>
              <a:rPr lang="en-US" sz="1750" b="1" dirty="0">
                <a:solidFill>
                  <a:srgbClr val="D6E5EF"/>
                </a:solidFill>
                <a:latin typeface="Source Sans 3" pitchFamily="34" charset="0"/>
                <a:ea typeface="Source Sans 3" pitchFamily="34" charset="-122"/>
                <a:cs typeface="Source Sans 3" pitchFamily="34" charset="-120"/>
              </a:rPr>
              <a:t>encryption and employee awareness training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336715"/>
            <a:ext cx="6768703"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NIST 800-53 vs ISO 27001</a:t>
            </a:r>
            <a:endParaRPr lang="en-US" sz="4400" dirty="0"/>
          </a:p>
        </p:txBody>
      </p:sp>
      <p:sp>
        <p:nvSpPr>
          <p:cNvPr id="3" name="Shape 1"/>
          <p:cNvSpPr/>
          <p:nvPr/>
        </p:nvSpPr>
        <p:spPr>
          <a:xfrm>
            <a:off x="665440" y="2399705"/>
            <a:ext cx="6530102" cy="4493181"/>
          </a:xfrm>
          <a:prstGeom prst="roundRect">
            <a:avLst>
              <a:gd name="adj" fmla="val 799"/>
            </a:avLst>
          </a:prstGeom>
          <a:solidFill>
            <a:srgbClr val="F98AC7"/>
          </a:solidFill>
          <a:ln/>
        </p:spPr>
      </p:sp>
      <p:sp>
        <p:nvSpPr>
          <p:cNvPr id="4" name="Text 2"/>
          <p:cNvSpPr/>
          <p:nvPr/>
        </p:nvSpPr>
        <p:spPr>
          <a:xfrm>
            <a:off x="904756" y="263902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Lora" pitchFamily="34" charset="0"/>
                <a:ea typeface="Lora" pitchFamily="34" charset="-122"/>
                <a:cs typeface="Lora" pitchFamily="34" charset="-120"/>
              </a:rPr>
              <a:t>Overview</a:t>
            </a:r>
            <a:endParaRPr lang="en-US" sz="2200" dirty="0"/>
          </a:p>
        </p:txBody>
      </p:sp>
      <p:sp>
        <p:nvSpPr>
          <p:cNvPr id="5" name="Text 3"/>
          <p:cNvSpPr/>
          <p:nvPr/>
        </p:nvSpPr>
        <p:spPr>
          <a:xfrm>
            <a:off x="904756" y="3230285"/>
            <a:ext cx="6051471" cy="3447217"/>
          </a:xfrm>
          <a:prstGeom prst="rect">
            <a:avLst/>
          </a:prstGeom>
          <a:noFill/>
          <a:ln/>
        </p:spPr>
        <p:txBody>
          <a:bodyPr wrap="square" lIns="0" tIns="0" rIns="0" bIns="0" rtlCol="0" anchor="t"/>
          <a:lstStyle/>
          <a:p>
            <a:pPr marL="0" indent="0" algn="l">
              <a:lnSpc>
                <a:spcPts val="3000"/>
              </a:lnSpc>
              <a:buNone/>
            </a:pPr>
            <a:r>
              <a:rPr lang="en-US" sz="1850" dirty="0">
                <a:solidFill>
                  <a:srgbClr val="000000"/>
                </a:solidFill>
                <a:latin typeface="Source Sans 3" pitchFamily="34" charset="0"/>
                <a:ea typeface="Source Sans 3" pitchFamily="34" charset="-122"/>
                <a:cs typeface="Source Sans 3" pitchFamily="34" charset="-120"/>
              </a:rPr>
              <a:t>NIST 800-53 is a more specific framework designed primarily for US federal agencies and organizations that work with those agencies. ISO 27001 is for any organization looking to enhance its compliance posture and security readiness globally. NIST 800-53 focuses on the control of the flow of information from source to destination, whereas ISO 27001 is more focused on enabling organizations to protect themselves from security threats and safeguard their data assets.</a:t>
            </a:r>
            <a:endParaRPr lang="en-US" sz="1850" dirty="0"/>
          </a:p>
        </p:txBody>
      </p:sp>
      <p:sp>
        <p:nvSpPr>
          <p:cNvPr id="6" name="Text 4"/>
          <p:cNvSpPr/>
          <p:nvPr/>
        </p:nvSpPr>
        <p:spPr>
          <a:xfrm>
            <a:off x="7614761" y="263902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Example</a:t>
            </a:r>
            <a:endParaRPr lang="en-US" sz="2200" dirty="0"/>
          </a:p>
        </p:txBody>
      </p:sp>
      <p:sp>
        <p:nvSpPr>
          <p:cNvPr id="7" name="Text 5"/>
          <p:cNvSpPr/>
          <p:nvPr/>
        </p:nvSpPr>
        <p:spPr>
          <a:xfrm>
            <a:off x="7614761" y="3230285"/>
            <a:ext cx="6185535" cy="1915120"/>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A US government contractor handling classified defense data must comply with NIST 800-53 to meet federal requirements. A multinational SaaS company, however, pursues ISO 27001 to satisfy global enterprise clients and demonstrate internationally recognized security standards.</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26294" y="663654"/>
            <a:ext cx="3610928" cy="451366"/>
          </a:xfrm>
          <a:prstGeom prst="rect">
            <a:avLst/>
          </a:prstGeom>
          <a:noFill/>
          <a:ln/>
        </p:spPr>
        <p:txBody>
          <a:bodyPr wrap="none" lIns="0" tIns="0" rIns="0" bIns="0" rtlCol="0" anchor="t"/>
          <a:lstStyle/>
          <a:p>
            <a:pPr marL="0" indent="0" algn="l">
              <a:lnSpc>
                <a:spcPts val="3550"/>
              </a:lnSpc>
              <a:buNone/>
            </a:pPr>
            <a:r>
              <a:rPr lang="en-US" sz="2800" dirty="0">
                <a:solidFill>
                  <a:srgbClr val="F98AC7"/>
                </a:solidFill>
                <a:latin typeface="Lora" pitchFamily="34" charset="0"/>
                <a:ea typeface="Lora" pitchFamily="34" charset="-122"/>
                <a:cs typeface="Lora" pitchFamily="34" charset="-120"/>
              </a:rPr>
              <a:t>Real-World Scenario</a:t>
            </a:r>
            <a:endParaRPr lang="en-US" sz="2800" dirty="0"/>
          </a:p>
        </p:txBody>
      </p:sp>
      <p:sp>
        <p:nvSpPr>
          <p:cNvPr id="3" name="Text 1"/>
          <p:cNvSpPr/>
          <p:nvPr/>
        </p:nvSpPr>
        <p:spPr>
          <a:xfrm>
            <a:off x="826294" y="1311712"/>
            <a:ext cx="12977812"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A healthcare organization suffers a ransomware attack and must strengthen its security posture.</a:t>
            </a:r>
            <a:endParaRPr lang="en-US" sz="1200" dirty="0"/>
          </a:p>
        </p:txBody>
      </p:sp>
      <p:sp>
        <p:nvSpPr>
          <p:cNvPr id="4" name="Text 2"/>
          <p:cNvSpPr/>
          <p:nvPr/>
        </p:nvSpPr>
        <p:spPr>
          <a:xfrm>
            <a:off x="826294" y="1722120"/>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F98AC7"/>
                </a:solidFill>
                <a:latin typeface="Lora" pitchFamily="34" charset="0"/>
                <a:ea typeface="Lora" pitchFamily="34" charset="-122"/>
                <a:cs typeface="Lora" pitchFamily="34" charset="-120"/>
              </a:rPr>
              <a:t>Using NIST CSF</a:t>
            </a:r>
            <a:endParaRPr lang="en-US" sz="1400" dirty="0"/>
          </a:p>
        </p:txBody>
      </p:sp>
      <p:sp>
        <p:nvSpPr>
          <p:cNvPr id="5" name="Text 3"/>
          <p:cNvSpPr/>
          <p:nvPr/>
        </p:nvSpPr>
        <p:spPr>
          <a:xfrm>
            <a:off x="826294" y="2058352"/>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01</a:t>
            </a:r>
            <a:endParaRPr lang="en-US" sz="1200" dirty="0"/>
          </a:p>
        </p:txBody>
      </p:sp>
      <p:pic>
        <p:nvPicPr>
          <p:cNvPr id="6" name="Image 0" descr="preencoded.png"/>
          <p:cNvPicPr>
            <a:picLocks noChangeAspect="1"/>
          </p:cNvPicPr>
          <p:nvPr/>
        </p:nvPicPr>
        <p:blipFill>
          <a:blip r:embed="rId3"/>
          <a:stretch>
            <a:fillRect/>
          </a:stretch>
        </p:blipFill>
        <p:spPr>
          <a:xfrm>
            <a:off x="826294" y="2296239"/>
            <a:ext cx="6301740" cy="22860"/>
          </a:xfrm>
          <a:prstGeom prst="rect">
            <a:avLst/>
          </a:prstGeom>
        </p:spPr>
      </p:pic>
      <p:sp>
        <p:nvSpPr>
          <p:cNvPr id="7" name="Text 4"/>
          <p:cNvSpPr/>
          <p:nvPr/>
        </p:nvSpPr>
        <p:spPr>
          <a:xfrm>
            <a:off x="826294" y="2418636"/>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Identify</a:t>
            </a:r>
            <a:endParaRPr lang="en-US" sz="1400" dirty="0"/>
          </a:p>
        </p:txBody>
      </p:sp>
      <p:sp>
        <p:nvSpPr>
          <p:cNvPr id="8" name="Text 5"/>
          <p:cNvSpPr/>
          <p:nvPr/>
        </p:nvSpPr>
        <p:spPr>
          <a:xfrm>
            <a:off x="826294" y="2742605"/>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Conducts asset inventory, identifies patient data repositories</a:t>
            </a:r>
            <a:endParaRPr lang="en-US" sz="1200" dirty="0"/>
          </a:p>
        </p:txBody>
      </p:sp>
      <p:sp>
        <p:nvSpPr>
          <p:cNvPr id="9" name="Text 6"/>
          <p:cNvSpPr/>
          <p:nvPr/>
        </p:nvSpPr>
        <p:spPr>
          <a:xfrm>
            <a:off x="826294" y="3157418"/>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02</a:t>
            </a:r>
            <a:endParaRPr lang="en-US" sz="1200" dirty="0"/>
          </a:p>
        </p:txBody>
      </p:sp>
      <p:pic>
        <p:nvPicPr>
          <p:cNvPr id="10" name="Image 1" descr="preencoded.png"/>
          <p:cNvPicPr>
            <a:picLocks noChangeAspect="1"/>
          </p:cNvPicPr>
          <p:nvPr/>
        </p:nvPicPr>
        <p:blipFill>
          <a:blip r:embed="rId3"/>
          <a:stretch>
            <a:fillRect/>
          </a:stretch>
        </p:blipFill>
        <p:spPr>
          <a:xfrm>
            <a:off x="826294" y="3364706"/>
            <a:ext cx="6301740" cy="22860"/>
          </a:xfrm>
          <a:prstGeom prst="rect">
            <a:avLst/>
          </a:prstGeom>
        </p:spPr>
      </p:pic>
      <p:sp>
        <p:nvSpPr>
          <p:cNvPr id="11" name="Text 7"/>
          <p:cNvSpPr/>
          <p:nvPr/>
        </p:nvSpPr>
        <p:spPr>
          <a:xfrm>
            <a:off x="826294" y="3517702"/>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Protect</a:t>
            </a:r>
            <a:endParaRPr lang="en-US" sz="1400" dirty="0"/>
          </a:p>
        </p:txBody>
      </p:sp>
      <p:sp>
        <p:nvSpPr>
          <p:cNvPr id="12" name="Text 8"/>
          <p:cNvSpPr/>
          <p:nvPr/>
        </p:nvSpPr>
        <p:spPr>
          <a:xfrm>
            <a:off x="826294" y="3841671"/>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Deploys MFA, encrypts patient records, trains staff</a:t>
            </a:r>
            <a:endParaRPr lang="en-US" sz="1200" dirty="0"/>
          </a:p>
        </p:txBody>
      </p:sp>
      <p:sp>
        <p:nvSpPr>
          <p:cNvPr id="13" name="Text 9"/>
          <p:cNvSpPr/>
          <p:nvPr/>
        </p:nvSpPr>
        <p:spPr>
          <a:xfrm>
            <a:off x="826294" y="4256484"/>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03</a:t>
            </a:r>
            <a:endParaRPr lang="en-US" sz="1200" dirty="0"/>
          </a:p>
        </p:txBody>
      </p:sp>
      <p:pic>
        <p:nvPicPr>
          <p:cNvPr id="14" name="Image 2" descr="preencoded.png"/>
          <p:cNvPicPr>
            <a:picLocks noChangeAspect="1"/>
          </p:cNvPicPr>
          <p:nvPr/>
        </p:nvPicPr>
        <p:blipFill>
          <a:blip r:embed="rId3"/>
          <a:stretch>
            <a:fillRect/>
          </a:stretch>
        </p:blipFill>
        <p:spPr>
          <a:xfrm>
            <a:off x="826294" y="4433173"/>
            <a:ext cx="6301740" cy="22860"/>
          </a:xfrm>
          <a:prstGeom prst="rect">
            <a:avLst/>
          </a:prstGeom>
        </p:spPr>
      </p:pic>
      <p:sp>
        <p:nvSpPr>
          <p:cNvPr id="15" name="Text 10"/>
          <p:cNvSpPr/>
          <p:nvPr/>
        </p:nvSpPr>
        <p:spPr>
          <a:xfrm>
            <a:off x="826294" y="4616768"/>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Detect</a:t>
            </a:r>
            <a:endParaRPr lang="en-US" sz="1400" dirty="0"/>
          </a:p>
        </p:txBody>
      </p:sp>
      <p:sp>
        <p:nvSpPr>
          <p:cNvPr id="16" name="Text 11"/>
          <p:cNvSpPr/>
          <p:nvPr/>
        </p:nvSpPr>
        <p:spPr>
          <a:xfrm>
            <a:off x="826294" y="4940737"/>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Implements SIEM to monitor for anomalies</a:t>
            </a:r>
            <a:endParaRPr lang="en-US" sz="1200" dirty="0"/>
          </a:p>
        </p:txBody>
      </p:sp>
      <p:sp>
        <p:nvSpPr>
          <p:cNvPr id="17" name="Text 12"/>
          <p:cNvSpPr/>
          <p:nvPr/>
        </p:nvSpPr>
        <p:spPr>
          <a:xfrm>
            <a:off x="826294" y="5355550"/>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04</a:t>
            </a:r>
            <a:endParaRPr lang="en-US" sz="1200" dirty="0"/>
          </a:p>
        </p:txBody>
      </p:sp>
      <p:pic>
        <p:nvPicPr>
          <p:cNvPr id="18" name="Image 3" descr="preencoded.png"/>
          <p:cNvPicPr>
            <a:picLocks noChangeAspect="1"/>
          </p:cNvPicPr>
          <p:nvPr/>
        </p:nvPicPr>
        <p:blipFill>
          <a:blip r:embed="rId3"/>
          <a:stretch>
            <a:fillRect/>
          </a:stretch>
        </p:blipFill>
        <p:spPr>
          <a:xfrm>
            <a:off x="826294" y="5501640"/>
            <a:ext cx="6301740" cy="22860"/>
          </a:xfrm>
          <a:prstGeom prst="rect">
            <a:avLst/>
          </a:prstGeom>
        </p:spPr>
      </p:pic>
      <p:sp>
        <p:nvSpPr>
          <p:cNvPr id="19" name="Text 13"/>
          <p:cNvSpPr/>
          <p:nvPr/>
        </p:nvSpPr>
        <p:spPr>
          <a:xfrm>
            <a:off x="826294" y="5715833"/>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Respond</a:t>
            </a:r>
            <a:endParaRPr lang="en-US" sz="1400" dirty="0"/>
          </a:p>
        </p:txBody>
      </p:sp>
      <p:sp>
        <p:nvSpPr>
          <p:cNvPr id="20" name="Text 14"/>
          <p:cNvSpPr/>
          <p:nvPr/>
        </p:nvSpPr>
        <p:spPr>
          <a:xfrm>
            <a:off x="826294" y="6039803"/>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Activates incident response playbook, isolates infected systems</a:t>
            </a:r>
            <a:endParaRPr lang="en-US" sz="1200" dirty="0"/>
          </a:p>
        </p:txBody>
      </p:sp>
      <p:sp>
        <p:nvSpPr>
          <p:cNvPr id="21" name="Text 15"/>
          <p:cNvSpPr/>
          <p:nvPr/>
        </p:nvSpPr>
        <p:spPr>
          <a:xfrm>
            <a:off x="826294" y="6454616"/>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05</a:t>
            </a:r>
            <a:endParaRPr lang="en-US" sz="1200" dirty="0"/>
          </a:p>
        </p:txBody>
      </p:sp>
      <p:pic>
        <p:nvPicPr>
          <p:cNvPr id="22" name="Image 4" descr="preencoded.png"/>
          <p:cNvPicPr>
            <a:picLocks noChangeAspect="1"/>
          </p:cNvPicPr>
          <p:nvPr/>
        </p:nvPicPr>
        <p:blipFill>
          <a:blip r:embed="rId3"/>
          <a:stretch>
            <a:fillRect/>
          </a:stretch>
        </p:blipFill>
        <p:spPr>
          <a:xfrm>
            <a:off x="826294" y="6570107"/>
            <a:ext cx="6301740" cy="22860"/>
          </a:xfrm>
          <a:prstGeom prst="rect">
            <a:avLst/>
          </a:prstGeom>
        </p:spPr>
      </p:pic>
      <p:sp>
        <p:nvSpPr>
          <p:cNvPr id="23" name="Text 16"/>
          <p:cNvSpPr/>
          <p:nvPr/>
        </p:nvSpPr>
        <p:spPr>
          <a:xfrm>
            <a:off x="826294" y="6814899"/>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Recover</a:t>
            </a:r>
            <a:endParaRPr lang="en-US" sz="1400" dirty="0"/>
          </a:p>
        </p:txBody>
      </p:sp>
      <p:sp>
        <p:nvSpPr>
          <p:cNvPr id="24" name="Text 17"/>
          <p:cNvSpPr/>
          <p:nvPr/>
        </p:nvSpPr>
        <p:spPr>
          <a:xfrm>
            <a:off x="826294" y="7138868"/>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Restores data from backups, resumes operations within 48 hours</a:t>
            </a:r>
            <a:endParaRPr lang="en-US" sz="1200" dirty="0"/>
          </a:p>
        </p:txBody>
      </p:sp>
      <p:sp>
        <p:nvSpPr>
          <p:cNvPr id="25" name="Text 18"/>
          <p:cNvSpPr/>
          <p:nvPr/>
        </p:nvSpPr>
        <p:spPr>
          <a:xfrm>
            <a:off x="7509986" y="1722120"/>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F98AC7"/>
                </a:solidFill>
                <a:latin typeface="Lora" pitchFamily="34" charset="0"/>
                <a:ea typeface="Lora" pitchFamily="34" charset="-122"/>
                <a:cs typeface="Lora" pitchFamily="34" charset="-120"/>
              </a:rPr>
              <a:t>Using ISO 27001</a:t>
            </a:r>
            <a:endParaRPr lang="en-US" sz="1400" dirty="0"/>
          </a:p>
        </p:txBody>
      </p:sp>
      <p:sp>
        <p:nvSpPr>
          <p:cNvPr id="26" name="Text 19"/>
          <p:cNvSpPr/>
          <p:nvPr/>
        </p:nvSpPr>
        <p:spPr>
          <a:xfrm>
            <a:off x="7509986" y="2058352"/>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01</a:t>
            </a:r>
            <a:endParaRPr lang="en-US" sz="1200" dirty="0"/>
          </a:p>
        </p:txBody>
      </p:sp>
      <p:pic>
        <p:nvPicPr>
          <p:cNvPr id="27" name="Image 5" descr="preencoded.png"/>
          <p:cNvPicPr>
            <a:picLocks noChangeAspect="1"/>
          </p:cNvPicPr>
          <p:nvPr/>
        </p:nvPicPr>
        <p:blipFill>
          <a:blip r:embed="rId3"/>
          <a:stretch>
            <a:fillRect/>
          </a:stretch>
        </p:blipFill>
        <p:spPr>
          <a:xfrm>
            <a:off x="7509986" y="2296239"/>
            <a:ext cx="6301740" cy="22860"/>
          </a:xfrm>
          <a:prstGeom prst="rect">
            <a:avLst/>
          </a:prstGeom>
        </p:spPr>
      </p:pic>
      <p:sp>
        <p:nvSpPr>
          <p:cNvPr id="28" name="Text 20"/>
          <p:cNvSpPr/>
          <p:nvPr/>
        </p:nvSpPr>
        <p:spPr>
          <a:xfrm>
            <a:off x="7509986" y="2418636"/>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Risk Assessment</a:t>
            </a:r>
            <a:endParaRPr lang="en-US" sz="1400" dirty="0"/>
          </a:p>
        </p:txBody>
      </p:sp>
      <p:sp>
        <p:nvSpPr>
          <p:cNvPr id="29" name="Text 21"/>
          <p:cNvSpPr/>
          <p:nvPr/>
        </p:nvSpPr>
        <p:spPr>
          <a:xfrm>
            <a:off x="7509986" y="2742605"/>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Conducts a formal </a:t>
            </a:r>
            <a:r>
              <a:rPr lang="en-US" sz="1200" b="1" dirty="0">
                <a:solidFill>
                  <a:srgbClr val="D6E5EF"/>
                </a:solidFill>
                <a:latin typeface="Source Sans 3" pitchFamily="34" charset="0"/>
                <a:ea typeface="Source Sans 3" pitchFamily="34" charset="-122"/>
                <a:cs typeface="Source Sans 3" pitchFamily="34" charset="-120"/>
              </a:rPr>
              <a:t>risk assessment</a:t>
            </a:r>
            <a:r>
              <a:rPr lang="en-US" sz="1200" dirty="0">
                <a:solidFill>
                  <a:srgbClr val="D6E5EF"/>
                </a:solidFill>
                <a:latin typeface="Source Sans 3" pitchFamily="34" charset="0"/>
                <a:ea typeface="Source Sans 3" pitchFamily="34" charset="-122"/>
                <a:cs typeface="Source Sans 3" pitchFamily="34" charset="-120"/>
              </a:rPr>
              <a:t> per ISO 27001 Clause 6</a:t>
            </a:r>
            <a:endParaRPr lang="en-US" sz="1200" dirty="0"/>
          </a:p>
        </p:txBody>
      </p:sp>
      <p:sp>
        <p:nvSpPr>
          <p:cNvPr id="30" name="Text 22"/>
          <p:cNvSpPr/>
          <p:nvPr/>
        </p:nvSpPr>
        <p:spPr>
          <a:xfrm>
            <a:off x="7509986" y="3157418"/>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02</a:t>
            </a:r>
            <a:endParaRPr lang="en-US" sz="1200" dirty="0"/>
          </a:p>
        </p:txBody>
      </p:sp>
      <p:pic>
        <p:nvPicPr>
          <p:cNvPr id="31" name="Image 6" descr="preencoded.png"/>
          <p:cNvPicPr>
            <a:picLocks noChangeAspect="1"/>
          </p:cNvPicPr>
          <p:nvPr/>
        </p:nvPicPr>
        <p:blipFill>
          <a:blip r:embed="rId3"/>
          <a:stretch>
            <a:fillRect/>
          </a:stretch>
        </p:blipFill>
        <p:spPr>
          <a:xfrm>
            <a:off x="7509986" y="3379946"/>
            <a:ext cx="6301740" cy="22860"/>
          </a:xfrm>
          <a:prstGeom prst="rect">
            <a:avLst/>
          </a:prstGeom>
        </p:spPr>
      </p:pic>
      <p:sp>
        <p:nvSpPr>
          <p:cNvPr id="32" name="Text 23"/>
          <p:cNvSpPr/>
          <p:nvPr/>
        </p:nvSpPr>
        <p:spPr>
          <a:xfrm>
            <a:off x="7509986" y="3517702"/>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Annex A Controls</a:t>
            </a:r>
            <a:endParaRPr lang="en-US" sz="1400" dirty="0"/>
          </a:p>
        </p:txBody>
      </p:sp>
      <p:sp>
        <p:nvSpPr>
          <p:cNvPr id="33" name="Text 24"/>
          <p:cNvSpPr/>
          <p:nvPr/>
        </p:nvSpPr>
        <p:spPr>
          <a:xfrm>
            <a:off x="7509986" y="3841671"/>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Implements </a:t>
            </a:r>
            <a:r>
              <a:rPr lang="en-US" sz="1200" b="1" dirty="0">
                <a:solidFill>
                  <a:srgbClr val="D6E5EF"/>
                </a:solidFill>
                <a:latin typeface="Source Sans 3" pitchFamily="34" charset="0"/>
                <a:ea typeface="Source Sans 3" pitchFamily="34" charset="-122"/>
                <a:cs typeface="Source Sans 3" pitchFamily="34" charset="-120"/>
              </a:rPr>
              <a:t>93 Annex A controls</a:t>
            </a:r>
            <a:r>
              <a:rPr lang="en-US" sz="1200" dirty="0">
                <a:solidFill>
                  <a:srgbClr val="D6E5EF"/>
                </a:solidFill>
                <a:latin typeface="Source Sans 3" pitchFamily="34" charset="0"/>
                <a:ea typeface="Source Sans 3" pitchFamily="34" charset="-122"/>
                <a:cs typeface="Source Sans 3" pitchFamily="34" charset="-120"/>
              </a:rPr>
              <a:t> including access control and cryptography</a:t>
            </a:r>
            <a:endParaRPr lang="en-US" sz="1200" dirty="0"/>
          </a:p>
        </p:txBody>
      </p:sp>
      <p:sp>
        <p:nvSpPr>
          <p:cNvPr id="34" name="Text 25"/>
          <p:cNvSpPr/>
          <p:nvPr/>
        </p:nvSpPr>
        <p:spPr>
          <a:xfrm>
            <a:off x="7509986" y="4256484"/>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03</a:t>
            </a:r>
            <a:endParaRPr lang="en-US" sz="1200" dirty="0"/>
          </a:p>
        </p:txBody>
      </p:sp>
      <p:pic>
        <p:nvPicPr>
          <p:cNvPr id="35" name="Image 7" descr="preencoded.png"/>
          <p:cNvPicPr>
            <a:picLocks noChangeAspect="1"/>
          </p:cNvPicPr>
          <p:nvPr/>
        </p:nvPicPr>
        <p:blipFill>
          <a:blip r:embed="rId3"/>
          <a:stretch>
            <a:fillRect/>
          </a:stretch>
        </p:blipFill>
        <p:spPr>
          <a:xfrm>
            <a:off x="7509986" y="4463772"/>
            <a:ext cx="6301740" cy="22860"/>
          </a:xfrm>
          <a:prstGeom prst="rect">
            <a:avLst/>
          </a:prstGeom>
        </p:spPr>
      </p:pic>
      <p:sp>
        <p:nvSpPr>
          <p:cNvPr id="36" name="Text 26"/>
          <p:cNvSpPr/>
          <p:nvPr/>
        </p:nvSpPr>
        <p:spPr>
          <a:xfrm>
            <a:off x="7509986" y="4616768"/>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Documentation</a:t>
            </a:r>
            <a:endParaRPr lang="en-US" sz="1400" dirty="0"/>
          </a:p>
        </p:txBody>
      </p:sp>
      <p:sp>
        <p:nvSpPr>
          <p:cNvPr id="37" name="Text 27"/>
          <p:cNvSpPr/>
          <p:nvPr/>
        </p:nvSpPr>
        <p:spPr>
          <a:xfrm>
            <a:off x="7509986" y="4940737"/>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Documents all policies and procedures</a:t>
            </a:r>
            <a:endParaRPr lang="en-US" sz="1200" dirty="0"/>
          </a:p>
        </p:txBody>
      </p:sp>
      <p:sp>
        <p:nvSpPr>
          <p:cNvPr id="38" name="Text 28"/>
          <p:cNvSpPr/>
          <p:nvPr/>
        </p:nvSpPr>
        <p:spPr>
          <a:xfrm>
            <a:off x="7509986" y="5355550"/>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04</a:t>
            </a:r>
            <a:endParaRPr lang="en-US" sz="1200" dirty="0"/>
          </a:p>
        </p:txBody>
      </p:sp>
      <p:pic>
        <p:nvPicPr>
          <p:cNvPr id="39" name="Image 8" descr="preencoded.png"/>
          <p:cNvPicPr>
            <a:picLocks noChangeAspect="1"/>
          </p:cNvPicPr>
          <p:nvPr/>
        </p:nvPicPr>
        <p:blipFill>
          <a:blip r:embed="rId3"/>
          <a:stretch>
            <a:fillRect/>
          </a:stretch>
        </p:blipFill>
        <p:spPr>
          <a:xfrm>
            <a:off x="7509986" y="5547479"/>
            <a:ext cx="6301740" cy="22860"/>
          </a:xfrm>
          <a:prstGeom prst="rect">
            <a:avLst/>
          </a:prstGeom>
        </p:spPr>
      </p:pic>
      <p:sp>
        <p:nvSpPr>
          <p:cNvPr id="40" name="Text 29"/>
          <p:cNvSpPr/>
          <p:nvPr/>
        </p:nvSpPr>
        <p:spPr>
          <a:xfrm>
            <a:off x="7509986" y="5715833"/>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Third-Party Audit</a:t>
            </a:r>
            <a:endParaRPr lang="en-US" sz="1400" dirty="0"/>
          </a:p>
        </p:txBody>
      </p:sp>
      <p:sp>
        <p:nvSpPr>
          <p:cNvPr id="41" name="Text 30"/>
          <p:cNvSpPr/>
          <p:nvPr/>
        </p:nvSpPr>
        <p:spPr>
          <a:xfrm>
            <a:off x="7509986" y="6039803"/>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Undergoes a </a:t>
            </a:r>
            <a:r>
              <a:rPr lang="en-US" sz="1200" b="1" dirty="0">
                <a:solidFill>
                  <a:srgbClr val="D6E5EF"/>
                </a:solidFill>
                <a:latin typeface="Source Sans 3" pitchFamily="34" charset="0"/>
                <a:ea typeface="Source Sans 3" pitchFamily="34" charset="-122"/>
                <a:cs typeface="Source Sans 3" pitchFamily="34" charset="-120"/>
              </a:rPr>
              <a:t>third-party audit</a:t>
            </a:r>
            <a:r>
              <a:rPr lang="en-US" sz="1200" dirty="0">
                <a:solidFill>
                  <a:srgbClr val="D6E5EF"/>
                </a:solidFill>
                <a:latin typeface="Source Sans 3" pitchFamily="34" charset="0"/>
                <a:ea typeface="Source Sans 3" pitchFamily="34" charset="-122"/>
                <a:cs typeface="Source Sans 3" pitchFamily="34" charset="-120"/>
              </a:rPr>
              <a:t> and achieves ISO 27001 certification</a:t>
            </a:r>
            <a:endParaRPr lang="en-US" sz="1200" dirty="0"/>
          </a:p>
        </p:txBody>
      </p:sp>
      <p:sp>
        <p:nvSpPr>
          <p:cNvPr id="42" name="Text 31"/>
          <p:cNvSpPr/>
          <p:nvPr/>
        </p:nvSpPr>
        <p:spPr>
          <a:xfrm>
            <a:off x="7509986" y="6454616"/>
            <a:ext cx="153353" cy="191810"/>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Lora Light" pitchFamily="34" charset="0"/>
                <a:ea typeface="Lora Light" pitchFamily="34" charset="-122"/>
                <a:cs typeface="Lora Light" pitchFamily="34" charset="-120"/>
              </a:rPr>
              <a:t>05</a:t>
            </a:r>
            <a:endParaRPr lang="en-US" sz="1200" dirty="0"/>
          </a:p>
        </p:txBody>
      </p:sp>
      <p:pic>
        <p:nvPicPr>
          <p:cNvPr id="43" name="Image 9" descr="preencoded.png"/>
          <p:cNvPicPr>
            <a:picLocks noChangeAspect="1"/>
          </p:cNvPicPr>
          <p:nvPr/>
        </p:nvPicPr>
        <p:blipFill>
          <a:blip r:embed="rId3"/>
          <a:stretch>
            <a:fillRect/>
          </a:stretch>
        </p:blipFill>
        <p:spPr>
          <a:xfrm>
            <a:off x="7509986" y="6631305"/>
            <a:ext cx="6301740" cy="22860"/>
          </a:xfrm>
          <a:prstGeom prst="rect">
            <a:avLst/>
          </a:prstGeom>
        </p:spPr>
      </p:pic>
      <p:sp>
        <p:nvSpPr>
          <p:cNvPr id="44" name="Text 32"/>
          <p:cNvSpPr/>
          <p:nvPr/>
        </p:nvSpPr>
        <p:spPr>
          <a:xfrm>
            <a:off x="7509986" y="6814899"/>
            <a:ext cx="1805464" cy="225623"/>
          </a:xfrm>
          <a:prstGeom prst="rect">
            <a:avLst/>
          </a:prstGeom>
          <a:noFill/>
          <a:ln/>
        </p:spPr>
        <p:txBody>
          <a:bodyPr wrap="none" lIns="0" tIns="0" rIns="0" bIns="0" rtlCol="0" anchor="t"/>
          <a:lstStyle/>
          <a:p>
            <a:pPr marL="0" indent="0" algn="l">
              <a:lnSpc>
                <a:spcPts val="1750"/>
              </a:lnSpc>
              <a:buNone/>
            </a:pPr>
            <a:r>
              <a:rPr lang="en-US" sz="1400" dirty="0">
                <a:solidFill>
                  <a:srgbClr val="D6E5EF"/>
                </a:solidFill>
                <a:latin typeface="Lora" pitchFamily="34" charset="0"/>
                <a:ea typeface="Lora" pitchFamily="34" charset="-122"/>
                <a:cs typeface="Lora" pitchFamily="34" charset="-120"/>
              </a:rPr>
              <a:t>Global Compliance</a:t>
            </a:r>
            <a:endParaRPr lang="en-US" sz="1400" dirty="0"/>
          </a:p>
        </p:txBody>
      </p:sp>
      <p:sp>
        <p:nvSpPr>
          <p:cNvPr id="45" name="Text 33"/>
          <p:cNvSpPr/>
          <p:nvPr/>
        </p:nvSpPr>
        <p:spPr>
          <a:xfrm>
            <a:off x="7509986" y="7138868"/>
            <a:ext cx="6301740" cy="201454"/>
          </a:xfrm>
          <a:prstGeom prst="rect">
            <a:avLst/>
          </a:prstGeom>
          <a:noFill/>
          <a:ln/>
        </p:spPr>
        <p:txBody>
          <a:bodyPr wrap="none" lIns="0" tIns="0" rIns="0" bIns="0" rtlCol="0" anchor="t"/>
          <a:lstStyle/>
          <a:p>
            <a:pPr marL="0" indent="0" algn="l">
              <a:lnSpc>
                <a:spcPts val="1550"/>
              </a:lnSpc>
              <a:buNone/>
            </a:pPr>
            <a:r>
              <a:rPr lang="en-US" sz="1200" dirty="0">
                <a:solidFill>
                  <a:srgbClr val="D6E5EF"/>
                </a:solidFill>
                <a:latin typeface="Source Sans 3" pitchFamily="34" charset="0"/>
                <a:ea typeface="Source Sans 3" pitchFamily="34" charset="-122"/>
                <a:cs typeface="Source Sans 3" pitchFamily="34" charset="-120"/>
              </a:rPr>
              <a:t>Demonstrates compliance to regulators and healthcare partners globally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912</Words>
  <Application>Microsoft Office PowerPoint</Application>
  <PresentationFormat>Custom</PresentationFormat>
  <Paragraphs>132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Lora Light</vt:lpstr>
      <vt:lpstr>Arial</vt:lpstr>
      <vt:lpstr>Lora</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3</cp:revision>
  <dcterms:created xsi:type="dcterms:W3CDTF">2026-04-04T13:47:19Z</dcterms:created>
  <dcterms:modified xsi:type="dcterms:W3CDTF">2026-04-04T13:49:43Z</dcterms:modified>
</cp:coreProperties>
</file>