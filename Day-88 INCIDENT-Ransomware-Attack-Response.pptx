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Alice" panose="020B0604020202020204" charset="0"/>
      <p:regular r:id="rId13"/>
    </p:embeddedFon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Lora" pitchFamily="2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4589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55333"/>
            <a:ext cx="1052536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INCIDENT: Ransomware Attack Response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554837"/>
            <a:ext cx="679858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Incident Timeline: March 24, 2026</a:t>
            </a:r>
            <a:endParaRPr lang="en-US" sz="3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8216" y="2461974"/>
            <a:ext cx="8893850" cy="50121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19031"/>
            <a:ext cx="7534037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INCIDENT RESPONSE REPORT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93790" y="1574244"/>
            <a:ext cx="4309705" cy="538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Executive Summary</a:t>
            </a:r>
            <a:endParaRPr lang="en-US" sz="3350" dirty="0"/>
          </a:p>
        </p:txBody>
      </p:sp>
      <p:sp>
        <p:nvSpPr>
          <p:cNvPr id="4" name="Shape 2"/>
          <p:cNvSpPr/>
          <p:nvPr/>
        </p:nvSpPr>
        <p:spPr>
          <a:xfrm>
            <a:off x="793790" y="2420064"/>
            <a:ext cx="6419017" cy="1226225"/>
          </a:xfrm>
          <a:prstGeom prst="roundRect">
            <a:avLst>
              <a:gd name="adj" fmla="val 2636"/>
            </a:avLst>
          </a:prstGeom>
          <a:solidFill>
            <a:srgbClr val="F0EDE6"/>
          </a:solidFill>
          <a:ln/>
        </p:spPr>
      </p:sp>
      <p:sp>
        <p:nvSpPr>
          <p:cNvPr id="5" name="Text 3"/>
          <p:cNvSpPr/>
          <p:nvPr/>
        </p:nvSpPr>
        <p:spPr>
          <a:xfrm>
            <a:off x="1009174" y="2635448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Incident ID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09174" y="3094792"/>
            <a:ext cx="598824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INC-2026-0324-001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417475" y="2420064"/>
            <a:ext cx="6419136" cy="1226225"/>
          </a:xfrm>
          <a:prstGeom prst="roundRect">
            <a:avLst>
              <a:gd name="adj" fmla="val 2636"/>
            </a:avLst>
          </a:prstGeom>
          <a:solidFill>
            <a:srgbClr val="F0EDE6"/>
          </a:solidFill>
          <a:ln/>
        </p:spPr>
      </p:sp>
      <p:sp>
        <p:nvSpPr>
          <p:cNvPr id="8" name="Text 6"/>
          <p:cNvSpPr/>
          <p:nvPr/>
        </p:nvSpPr>
        <p:spPr>
          <a:xfrm>
            <a:off x="7632859" y="2635448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Severity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632859" y="3094792"/>
            <a:ext cx="598836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CRITICAL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793790" y="3850958"/>
            <a:ext cx="6419017" cy="1226225"/>
          </a:xfrm>
          <a:prstGeom prst="roundRect">
            <a:avLst>
              <a:gd name="adj" fmla="val 2636"/>
            </a:avLst>
          </a:prstGeom>
          <a:solidFill>
            <a:srgbClr val="F0EDE6"/>
          </a:solidFill>
          <a:ln/>
        </p:spPr>
      </p:sp>
      <p:sp>
        <p:nvSpPr>
          <p:cNvPr id="11" name="Text 9"/>
          <p:cNvSpPr/>
          <p:nvPr/>
        </p:nvSpPr>
        <p:spPr>
          <a:xfrm>
            <a:off x="1009174" y="4066342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Status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009174" y="4525685"/>
            <a:ext cx="598824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RESOLVED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417475" y="3850958"/>
            <a:ext cx="6419136" cy="1226225"/>
          </a:xfrm>
          <a:prstGeom prst="roundRect">
            <a:avLst>
              <a:gd name="adj" fmla="val 2636"/>
            </a:avLst>
          </a:prstGeom>
          <a:solidFill>
            <a:srgbClr val="F0EDE6"/>
          </a:solidFill>
          <a:ln/>
        </p:spPr>
      </p:sp>
      <p:sp>
        <p:nvSpPr>
          <p:cNvPr id="14" name="Text 12"/>
          <p:cNvSpPr/>
          <p:nvPr/>
        </p:nvSpPr>
        <p:spPr>
          <a:xfrm>
            <a:off x="7632859" y="4066342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Detection Time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632859" y="4525685"/>
            <a:ext cx="598836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09:15 AM UTC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793790" y="5281851"/>
            <a:ext cx="6419017" cy="1226225"/>
          </a:xfrm>
          <a:prstGeom prst="roundRect">
            <a:avLst>
              <a:gd name="adj" fmla="val 2636"/>
            </a:avLst>
          </a:prstGeom>
          <a:solidFill>
            <a:srgbClr val="F0EDE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9174" y="5497235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Resolution Time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009174" y="5956578"/>
            <a:ext cx="598824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01:45 PM UTC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7417475" y="5281851"/>
            <a:ext cx="6419136" cy="1226225"/>
          </a:xfrm>
          <a:prstGeom prst="roundRect">
            <a:avLst>
              <a:gd name="adj" fmla="val 2636"/>
            </a:avLst>
          </a:prstGeom>
          <a:solidFill>
            <a:srgbClr val="F0EDE6"/>
          </a:solidFill>
          <a:ln/>
        </p:spPr>
      </p:sp>
      <p:sp>
        <p:nvSpPr>
          <p:cNvPr id="20" name="Text 18"/>
          <p:cNvSpPr/>
          <p:nvPr/>
        </p:nvSpPr>
        <p:spPr>
          <a:xfrm>
            <a:off x="7632859" y="5497235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Total Duration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7632859" y="5956578"/>
            <a:ext cx="598836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 hours 30 minutes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793790" y="6738342"/>
            <a:ext cx="13042821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</a:t>
            </a:r>
            <a:r>
              <a:rPr lang="en-US" sz="16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ransomware attack (LockBit variant)</a:t>
            </a: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was detected on 3 endpoints in the Finance department. The Blue Team successfully contained, eradicated, and recovered all systems with </a:t>
            </a:r>
            <a:r>
              <a:rPr lang="en-US" sz="1650" b="1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zero data exfiltration</a:t>
            </a: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6300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WORKFLOW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62507"/>
            <a:ext cx="6414016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STEP 1: PREPARE (Pre-Incident)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93790" y="286964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Time</a:t>
            </a: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: Before 09:15 AM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3487698"/>
            <a:ext cx="13042821" cy="3578900"/>
          </a:xfrm>
          <a:prstGeom prst="roundRect">
            <a:avLst>
              <a:gd name="adj" fmla="val 4088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3310" y="3487698"/>
            <a:ext cx="121920" cy="3578900"/>
          </a:xfrm>
          <a:prstGeom prst="roundRect">
            <a:avLst>
              <a:gd name="adj" fmla="val 27907"/>
            </a:avLst>
          </a:prstGeom>
          <a:solidFill>
            <a:srgbClr val="1B5F39"/>
          </a:solidFill>
          <a:ln/>
        </p:spPr>
      </p:sp>
      <p:sp>
        <p:nvSpPr>
          <p:cNvPr id="7" name="Text 5"/>
          <p:cNvSpPr/>
          <p:nvPr/>
        </p:nvSpPr>
        <p:spPr>
          <a:xfrm>
            <a:off x="1142524" y="3744992"/>
            <a:ext cx="289274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Blue Team Preparation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2524" y="4235410"/>
            <a:ext cx="12436793" cy="2573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SIEM (Splunk) monitoring 500+ systems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EDR (CrowdStrike) deployed on all endpoints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IDS/IPS (Suricata) monitoring network traffic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SOAR (Palo Alto XSOAR) playbooks configured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Incident response team on standby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Backup systems verified (last backup: 08:00 AM)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09926"/>
            <a:ext cx="3629144" cy="453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STEP 2: DETECT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793790" y="1981200"/>
            <a:ext cx="1304282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Time</a:t>
            </a: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: 09:15 AM UTC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63178" y="2405658"/>
            <a:ext cx="6561296" cy="4513898"/>
          </a:xfrm>
          <a:prstGeom prst="roundRect">
            <a:avLst>
              <a:gd name="adj" fmla="val 603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844629" y="2550795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ALERT TRIGGERED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844629" y="2979420"/>
            <a:ext cx="6198394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Source</a:t>
            </a: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: EDR (CrowdStrike Falcon)</a:t>
            </a:r>
            <a:endParaRPr lang="en-US" sz="1400" dirty="0"/>
          </a:p>
          <a:p>
            <a:pPr marL="0" indent="0" algn="l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Alert</a:t>
            </a: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: "Suspicious file encryption activity detected"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4629" y="3632478"/>
            <a:ext cx="6198394" cy="1820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Host: FINANCE-LAPTOP-042 (John Smith, Finance Analyst)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Process: explorer.exe → cmd.exe → powershell.exe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Activity: Rapid file encryption (.lockbit extension)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Files Affected: C:\Users\jsmith\Documents\*.lockbit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Time: 09:15:23 AM UTC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Status: CRITICAL - Ransomware suspected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44157" y="2550795"/>
            <a:ext cx="5008007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What the Blue Team saw — SIEM Dashboard Alert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544157" y="2997518"/>
            <a:ext cx="6300073" cy="3758803"/>
          </a:xfrm>
          <a:prstGeom prst="roundRect">
            <a:avLst>
              <a:gd name="adj" fmla="val 724"/>
            </a:avLst>
          </a:prstGeom>
          <a:solidFill>
            <a:srgbClr val="EFEEEB"/>
          </a:solidFill>
          <a:ln/>
        </p:spPr>
      </p:sp>
      <p:sp>
        <p:nvSpPr>
          <p:cNvPr id="10" name="Shape 8"/>
          <p:cNvSpPr/>
          <p:nvPr/>
        </p:nvSpPr>
        <p:spPr>
          <a:xfrm>
            <a:off x="7535108" y="2997518"/>
            <a:ext cx="6318171" cy="3758803"/>
          </a:xfrm>
          <a:prstGeom prst="roundRect">
            <a:avLst>
              <a:gd name="adj" fmla="val 724"/>
            </a:avLst>
          </a:prstGeom>
          <a:solidFill>
            <a:srgbClr val="EFEEEB"/>
          </a:solidFill>
          <a:ln/>
        </p:spPr>
      </p:sp>
      <p:sp>
        <p:nvSpPr>
          <p:cNvPr id="11" name="Text 9"/>
          <p:cNvSpPr/>
          <p:nvPr/>
        </p:nvSpPr>
        <p:spPr>
          <a:xfrm>
            <a:off x="7761923" y="3178969"/>
            <a:ext cx="5864543" cy="3395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032F62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┌─────────────────────────────────────────┐</a:t>
            </a:r>
            <a:endParaRPr lang="en-US" sz="1400" dirty="0"/>
          </a:p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032F62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RANSOMWARE DETECTION - HIGH CONFIDENCE │</a:t>
            </a:r>
            <a:endParaRPr lang="en-US" sz="1400" dirty="0"/>
          </a:p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032F62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├─────────────────────────────────────────┤</a:t>
            </a:r>
            <a:endParaRPr lang="en-US" sz="1400" dirty="0"/>
          </a:p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032F62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Host: FINANCE-LAPTOP-042 │</a:t>
            </a:r>
            <a:endParaRPr lang="en-US" sz="1400" dirty="0"/>
          </a:p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032F62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User: jsmith@company.com │</a:t>
            </a:r>
            <a:endParaRPr lang="en-US" sz="1400" dirty="0"/>
          </a:p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032F62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Process: powershell.exe (suspicious) │</a:t>
            </a:r>
            <a:endParaRPr lang="en-US" sz="1400" dirty="0"/>
          </a:p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032F62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File Extensions: .lockbit (RANSOMWARE) │</a:t>
            </a:r>
            <a:endParaRPr lang="en-US" sz="1400" dirty="0"/>
          </a:p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032F62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Files Encrypted: 1,247 files in 2 min │</a:t>
            </a:r>
            <a:endParaRPr lang="en-US" sz="1400" dirty="0"/>
          </a:p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032F62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Alert Confidence: 99% │</a:t>
            </a:r>
            <a:endParaRPr lang="en-US" sz="1400" dirty="0"/>
          </a:p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032F62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└─────────────────────────────────────────┘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38106"/>
            <a:ext cx="2948702" cy="368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STEP 3: ANALYZE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793790" y="1598295"/>
            <a:ext cx="1304282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Time</a:t>
            </a: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: 09:16 AM – 09:28 AM (12 minutes)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93790" y="1900595"/>
            <a:ext cx="4283750" cy="2532698"/>
          </a:xfrm>
          <a:prstGeom prst="roundRect">
            <a:avLst>
              <a:gd name="adj" fmla="val 873"/>
            </a:avLst>
          </a:prstGeom>
          <a:solidFill>
            <a:srgbClr val="FCFBF8"/>
          </a:solidFill>
          <a:ln w="15240">
            <a:solidFill>
              <a:srgbClr val="D6D3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9030" y="1915835"/>
            <a:ext cx="4253270" cy="442198"/>
          </a:xfrm>
          <a:prstGeom prst="roundRect">
            <a:avLst>
              <a:gd name="adj" fmla="val 866"/>
            </a:avLst>
          </a:prstGeom>
          <a:solidFill>
            <a:srgbClr val="F0EDE6"/>
          </a:solidFill>
          <a:ln/>
        </p:spPr>
      </p:sp>
      <p:sp>
        <p:nvSpPr>
          <p:cNvPr id="6" name="Text 4"/>
          <p:cNvSpPr/>
          <p:nvPr/>
        </p:nvSpPr>
        <p:spPr>
          <a:xfrm>
            <a:off x="2825115" y="1998702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56429" y="2453759"/>
            <a:ext cx="2488406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L1 Analyst (09:16 AM) — Triage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56429" y="2741533"/>
            <a:ext cx="3958471" cy="650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Alert is TRUE POSITIVE (not false alarm)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Confidence: 99% → Ransomware confirmed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Escalate to L2 immediately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173266" y="1900595"/>
            <a:ext cx="4283750" cy="2532698"/>
          </a:xfrm>
          <a:prstGeom prst="roundRect">
            <a:avLst>
              <a:gd name="adj" fmla="val 873"/>
            </a:avLst>
          </a:prstGeom>
          <a:solidFill>
            <a:srgbClr val="FCFBF8"/>
          </a:solidFill>
          <a:ln w="15240">
            <a:solidFill>
              <a:srgbClr val="D6D3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88506" y="1915835"/>
            <a:ext cx="4253270" cy="442198"/>
          </a:xfrm>
          <a:prstGeom prst="roundRect">
            <a:avLst>
              <a:gd name="adj" fmla="val 866"/>
            </a:avLst>
          </a:prstGeom>
          <a:solidFill>
            <a:srgbClr val="F0EDE6"/>
          </a:solidFill>
          <a:ln/>
        </p:spPr>
      </p:sp>
      <p:sp>
        <p:nvSpPr>
          <p:cNvPr id="11" name="Text 9"/>
          <p:cNvSpPr/>
          <p:nvPr/>
        </p:nvSpPr>
        <p:spPr>
          <a:xfrm>
            <a:off x="7204591" y="1998702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335905" y="2453759"/>
            <a:ext cx="3066455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L2 Analyst (09:18 AM) — Investigation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335905" y="2741533"/>
            <a:ext cx="3958471" cy="152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Found: 2 more hosts — FINANCE-LAPTOP-051 (Sarah Johnson), FINANCE-LAPTOP-068 (Mike Chen)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IOC Match: File hash matches known LockBit variant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C2 Domain: 185.143.222.10 (known LockBit server)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Outbound connection detected; ~2.3 GB transferred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Entry point: Phishing email attachment "Invoice.exe"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Lateral movement: Attempts to access shared drives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552742" y="1900595"/>
            <a:ext cx="4283869" cy="2532698"/>
          </a:xfrm>
          <a:prstGeom prst="roundRect">
            <a:avLst>
              <a:gd name="adj" fmla="val 873"/>
            </a:avLst>
          </a:prstGeom>
          <a:solidFill>
            <a:srgbClr val="FCFBF8"/>
          </a:solidFill>
          <a:ln w="15240">
            <a:solidFill>
              <a:srgbClr val="D6D3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67982" y="1915835"/>
            <a:ext cx="4253389" cy="442198"/>
          </a:xfrm>
          <a:prstGeom prst="roundRect">
            <a:avLst>
              <a:gd name="adj" fmla="val 866"/>
            </a:avLst>
          </a:prstGeom>
          <a:solidFill>
            <a:srgbClr val="F0EDE6"/>
          </a:solidFill>
          <a:ln/>
        </p:spPr>
      </p:sp>
      <p:sp>
        <p:nvSpPr>
          <p:cNvPr id="16" name="Text 14"/>
          <p:cNvSpPr/>
          <p:nvPr/>
        </p:nvSpPr>
        <p:spPr>
          <a:xfrm>
            <a:off x="11584067" y="1998702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715381" y="2453759"/>
            <a:ext cx="3527584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L3 Analyst (09:25 AM) — Advanced Analysis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715381" y="2741533"/>
            <a:ext cx="3958590" cy="1200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Volatility: Found injected code in explorer.exe; identified persistence mechanism (Registry Run key); extracted C2 communication logs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Wireshark: Confirmed C2 beaconing every 30 seconds; identified data exfiltration protocol (HTTPS + AES-256); mapped attacker infrastructure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93790" y="4577001"/>
            <a:ext cx="3293507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Scope Assessment — IMPACT ANALYSIS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793790" y="4951095"/>
            <a:ext cx="13042821" cy="2240280"/>
          </a:xfrm>
          <a:prstGeom prst="roundRect">
            <a:avLst>
              <a:gd name="adj" fmla="val 987"/>
            </a:avLst>
          </a:prstGeom>
          <a:solidFill>
            <a:srgbClr val="EFEEEB"/>
          </a:solidFill>
          <a:ln/>
        </p:spPr>
      </p:sp>
      <p:sp>
        <p:nvSpPr>
          <p:cNvPr id="21" name="Shape 19"/>
          <p:cNvSpPr/>
          <p:nvPr/>
        </p:nvSpPr>
        <p:spPr>
          <a:xfrm>
            <a:off x="786527" y="4951095"/>
            <a:ext cx="13057346" cy="2240280"/>
          </a:xfrm>
          <a:prstGeom prst="roundRect">
            <a:avLst>
              <a:gd name="adj" fmla="val 987"/>
            </a:avLst>
          </a:prstGeom>
          <a:solidFill>
            <a:srgbClr val="EFEEEB"/>
          </a:solidFill>
          <a:ln/>
        </p:spPr>
      </p:sp>
      <p:sp>
        <p:nvSpPr>
          <p:cNvPr id="22" name="Text 20"/>
          <p:cNvSpPr/>
          <p:nvPr/>
        </p:nvSpPr>
        <p:spPr>
          <a:xfrm>
            <a:off x="970717" y="5098494"/>
            <a:ext cx="12688967" cy="1945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005CC5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Affected Systems: 3 endpoints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005CC5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├─ FINANCE-LAPTOP-042 (John Smith) - 1,247 files encrypted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005CC5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├─ FINANCE-LAPTOP-051 (Sarah Johnson) - 892 files encrypted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005CC5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└─ FINANCE-LAPTOP-068 (Mike Chen) - 654 files encrypted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005CC5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Affected Users: 3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005CC5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Affected Departments: Finance (1), Accounting (2)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005CC5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Data Compromised: 2.3 GB exfiltrated (customer data)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005CC5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 Impact: HIGH - Finance operations disrupted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005CC5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Ransomware Variant: LockBit 3.0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005CC5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Attacker: APT-LOCKBIT (Russian cybercriminal group)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1901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STEP 4: CONTAIN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93790" y="1399461"/>
            <a:ext cx="1304282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Time</a:t>
            </a: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: 09:28 AM – 09:42 AM (14 minutes)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93790" y="1908572"/>
            <a:ext cx="2830949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Immediate Actions (09:28 AM)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93790" y="2301835"/>
            <a:ext cx="631388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EDR Actions (Automated via SOAR):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3790" y="2654737"/>
            <a:ext cx="6313884" cy="1562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Isolate FINANCE-LAPTOP-042 from network → ISOLATED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Isolate FINANCE-LAPTOP-051 from network → ISOLATED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Isolate FINANCE-LAPTOP-068 from network → ISOLATED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Kill malicious processes: powershell.exe (PID: 4521) → TERMINATED; cmd.exe (PID: 3847) → TERMINATED; Invoice.exe (PID: 2156) → TERMINATED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93790" y="4332208"/>
            <a:ext cx="631388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Firewall Actions (Automated via SOAR):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3790" y="4685109"/>
            <a:ext cx="6313884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Block C2 domain: 185.143.222.10 → BLOCKED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Block all outbound HTTPS to suspicious IPs → BLOCKED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93790" y="5320784"/>
            <a:ext cx="631388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Account Actions (Manual):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3790" y="5673685"/>
            <a:ext cx="6313884" cy="1086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jsmith@company.com → DISABLED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sjohnson@company.com → DISABLED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mchen@company.com → DISABLED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Force password reset for Finance team (50 users) → IN PROGRESS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3790" y="6874907"/>
            <a:ext cx="631388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Network Segmentation (Manual):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93790" y="7227808"/>
            <a:ext cx="631388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Isolate Finance VLAN from other departments → SEGMENTED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07831" y="1781056"/>
            <a:ext cx="6558915" cy="5729526"/>
          </a:xfrm>
          <a:prstGeom prst="roundRect">
            <a:avLst>
              <a:gd name="adj" fmla="val 445"/>
            </a:avLst>
          </a:prstGeom>
          <a:solidFill>
            <a:srgbClr val="F2F2F2"/>
          </a:solidFill>
          <a:ln/>
        </p:spPr>
      </p:sp>
      <p:sp>
        <p:nvSpPr>
          <p:cNvPr id="14" name="Text 12"/>
          <p:cNvSpPr/>
          <p:nvPr/>
        </p:nvSpPr>
        <p:spPr>
          <a:xfrm>
            <a:off x="7577852" y="1908572"/>
            <a:ext cx="2368391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Ransomware Note Found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577852" y="2317790"/>
            <a:ext cx="6218873" cy="2959417"/>
          </a:xfrm>
          <a:prstGeom prst="roundRect">
            <a:avLst>
              <a:gd name="adj" fmla="val 862"/>
            </a:avLst>
          </a:prstGeom>
          <a:solidFill>
            <a:srgbClr val="E5E5E5"/>
          </a:solidFill>
          <a:ln/>
        </p:spPr>
      </p:sp>
      <p:sp>
        <p:nvSpPr>
          <p:cNvPr id="16" name="Shape 14"/>
          <p:cNvSpPr/>
          <p:nvPr/>
        </p:nvSpPr>
        <p:spPr>
          <a:xfrm>
            <a:off x="7569398" y="2317790"/>
            <a:ext cx="6235779" cy="2959417"/>
          </a:xfrm>
          <a:prstGeom prst="roundRect">
            <a:avLst>
              <a:gd name="adj" fmla="val 862"/>
            </a:avLst>
          </a:prstGeom>
          <a:solidFill>
            <a:srgbClr val="E5E5E5"/>
          </a:solidFill>
          <a:ln/>
        </p:spPr>
      </p:sp>
      <p:sp>
        <p:nvSpPr>
          <p:cNvPr id="17" name="Text 15"/>
          <p:cNvSpPr/>
          <p:nvPr/>
        </p:nvSpPr>
        <p:spPr>
          <a:xfrm>
            <a:off x="7782044" y="2487811"/>
            <a:ext cx="5810488" cy="2619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032F62"/>
                </a:solidFill>
                <a:highlight>
                  <a:srgbClr val="E5E5E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╔════════════════════════════════════════╗</a:t>
            </a:r>
            <a:endParaRPr lang="en-US" sz="1300" dirty="0"/>
          </a:p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032F62"/>
                </a:solidFill>
                <a:highlight>
                  <a:srgbClr val="E5E5E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║   YOUR FILES HAVE BEEN ENCRYPTED       ║</a:t>
            </a:r>
            <a:endParaRPr lang="en-US" sz="1300" dirty="0"/>
          </a:p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032F62"/>
                </a:solidFill>
                <a:highlight>
                  <a:srgbClr val="E5E5E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║                                        ║</a:t>
            </a:r>
            <a:endParaRPr lang="en-US" sz="1300" dirty="0"/>
          </a:p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032F62"/>
                </a:solidFill>
                <a:highlight>
                  <a:srgbClr val="E5E5E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║   LockBit 3.0 Ransomware              ║</a:t>
            </a:r>
            <a:endParaRPr lang="en-US" sz="1300" dirty="0"/>
          </a:p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032F62"/>
                </a:solidFill>
                <a:highlight>
                  <a:srgbClr val="E5E5E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║   Contact: lockbit@protonmail.com      ║</a:t>
            </a:r>
            <a:endParaRPr lang="en-US" sz="1300" dirty="0"/>
          </a:p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032F62"/>
                </a:solidFill>
                <a:highlight>
                  <a:srgbClr val="E5E5E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║   Ransom: $500,000 USD                 ║</a:t>
            </a:r>
            <a:endParaRPr lang="en-US" sz="1300" dirty="0"/>
          </a:p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032F62"/>
                </a:solidFill>
                <a:highlight>
                  <a:srgbClr val="E5E5E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║   Deadline: 48 hours                   ║</a:t>
            </a:r>
            <a:endParaRPr lang="en-US" sz="1300" dirty="0"/>
          </a:p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032F62"/>
                </a:solidFill>
                <a:highlight>
                  <a:srgbClr val="E5E5E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║   Data will be sold if not paid        ║</a:t>
            </a:r>
            <a:endParaRPr lang="en-US" sz="1300" dirty="0"/>
          </a:p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032F62"/>
                </a:solidFill>
                <a:highlight>
                  <a:srgbClr val="E5E5E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╚════════════════════════════════════════╝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577852" y="5420678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Status at 09:42 AM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7577852" y="5813941"/>
            <a:ext cx="6218873" cy="1086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Attack contained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Lateral movement blocked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C2 communication cut off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 further encryption possible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527" y="633532"/>
            <a:ext cx="3595926" cy="449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STEP 5: ERADICATE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86527" y="1368028"/>
            <a:ext cx="13057346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Time</a:t>
            </a: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: 09:42 AM – 11:15 AM (1 hour 33 minutes)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86527" y="1786057"/>
            <a:ext cx="6457355" cy="2679740"/>
          </a:xfrm>
          <a:prstGeom prst="roundRect">
            <a:avLst>
              <a:gd name="adj" fmla="val 1006"/>
            </a:avLst>
          </a:prstGeom>
          <a:solidFill>
            <a:srgbClr val="F0EDE6"/>
          </a:solidFill>
          <a:ln/>
        </p:spPr>
      </p:sp>
      <p:sp>
        <p:nvSpPr>
          <p:cNvPr id="5" name="Text 3"/>
          <p:cNvSpPr/>
          <p:nvPr/>
        </p:nvSpPr>
        <p:spPr>
          <a:xfrm>
            <a:off x="966311" y="1965841"/>
            <a:ext cx="2992636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Forensic Collection (09:42 AM)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966311" y="2332315"/>
            <a:ext cx="6097786" cy="138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Forensic image: FINANCE-LAPTOP-042.img (256 GB), FINANCE-LAPTOP-051.img (512 GB), FINANCE-LAPTOP-068.img (256 GB)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Memory dumps: FINANCE-LAPTOP-042.mem (16 GB), FINANCE-LAPTOP-051.mem (16 GB), FINANCE-LAPTOP-068.mem (16 GB)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Logs collected: SIEM (Splunk), EDR (CrowdStrike), Firewall (Palo Alto)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86399" y="1786057"/>
            <a:ext cx="6457474" cy="2679740"/>
          </a:xfrm>
          <a:prstGeom prst="roundRect">
            <a:avLst>
              <a:gd name="adj" fmla="val 1006"/>
            </a:avLst>
          </a:prstGeom>
          <a:solidFill>
            <a:srgbClr val="F0EDE6"/>
          </a:solidFill>
          <a:ln/>
        </p:spPr>
      </p:sp>
      <p:sp>
        <p:nvSpPr>
          <p:cNvPr id="8" name="Text 6"/>
          <p:cNvSpPr/>
          <p:nvPr/>
        </p:nvSpPr>
        <p:spPr>
          <a:xfrm>
            <a:off x="7566184" y="1965841"/>
            <a:ext cx="2890837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Malware Removal (10:00 AM)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66184" y="2332315"/>
            <a:ext cx="6097905" cy="1953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Boot systems in Safe Mode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Malwarebytes scan: Detected 47 malware files → Removed 47 malware files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Registry Run keys → DELETED; Startup folder items → DELETED; Scheduled tasks → DELETED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Windows Update KB5034441 → INSTALLED; Adobe Reader patch → INSTALLED; Microsoft Office patch → INSTALLED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86527" y="4608314"/>
            <a:ext cx="6457355" cy="2164199"/>
          </a:xfrm>
          <a:prstGeom prst="roundRect">
            <a:avLst>
              <a:gd name="adj" fmla="val 1246"/>
            </a:avLst>
          </a:prstGeom>
          <a:solidFill>
            <a:srgbClr val="F0EDE6"/>
          </a:solidFill>
          <a:ln/>
        </p:spPr>
      </p:sp>
      <p:sp>
        <p:nvSpPr>
          <p:cNvPr id="11" name="Text 9"/>
          <p:cNvSpPr/>
          <p:nvPr/>
        </p:nvSpPr>
        <p:spPr>
          <a:xfrm>
            <a:off x="966311" y="4788098"/>
            <a:ext cx="3338155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Vulnerability Patching (10:30 AM)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966311" y="5154573"/>
            <a:ext cx="6097786" cy="1180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Nessus scan initiated on all Finance systems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Windows 10 updates → 23 patches applied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Third-party software → 8 patches applied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Re-scan confirms all critical patches applied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86399" y="4608314"/>
            <a:ext cx="6457474" cy="2164199"/>
          </a:xfrm>
          <a:prstGeom prst="roundRect">
            <a:avLst>
              <a:gd name="adj" fmla="val 1246"/>
            </a:avLst>
          </a:prstGeom>
          <a:solidFill>
            <a:srgbClr val="F0EDE6"/>
          </a:solidFill>
          <a:ln/>
        </p:spPr>
      </p:sp>
      <p:sp>
        <p:nvSpPr>
          <p:cNvPr id="14" name="Text 12"/>
          <p:cNvSpPr/>
          <p:nvPr/>
        </p:nvSpPr>
        <p:spPr>
          <a:xfrm>
            <a:off x="7566184" y="4788098"/>
            <a:ext cx="2247424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Verification (11:00 AM)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566184" y="5154573"/>
            <a:ext cx="6097905" cy="1438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Full antivirus scan on all 3 systems → CLEAN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Memory analysis (Volatility) → No malicious processes found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Network traffic analysis (Wireshark) → No C2 communication detected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File integrity check → No suspicious files found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86527" y="6932771"/>
            <a:ext cx="13057346" cy="663297"/>
          </a:xfrm>
          <a:prstGeom prst="roundRect">
            <a:avLst>
              <a:gd name="adj" fmla="val 4066"/>
            </a:avLst>
          </a:prstGeom>
          <a:solidFill>
            <a:srgbClr val="C3EED6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311" y="7190542"/>
            <a:ext cx="224671" cy="17978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370767" y="7120176"/>
            <a:ext cx="12293322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Status at 11:15 AM:</a:t>
            </a:r>
            <a:r>
              <a:rPr lang="en-US" sz="14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All malware removed · All persistence mechanisms deleted · All vulnerabilities patched · Systems verified as clean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18686"/>
            <a:ext cx="3175516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STEP 6: RECOVER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93790" y="1537811"/>
            <a:ext cx="1304282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Time</a:t>
            </a: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: 11:15 AM – 12:30 PM (1 hour 15 minutes)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989892"/>
            <a:ext cx="26348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System Restoration (11:15 AM)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2348984"/>
            <a:ext cx="6327815" cy="941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FINANCE-LAPTOP-042: Backup source 08:00 AM → 1,247 files restored → Hash check passed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FINANCE-LAPTOP-051: 892 files restored → Hash check passed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FINANCE-LAPTOP-068: 654 files restored → Hash check passed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93790" y="3401616"/>
            <a:ext cx="2546152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System Hardening (11:45 AM)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3790" y="3760708"/>
            <a:ext cx="6327815" cy="1489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Enable Windows Defender (real-time protection)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Enable Windows Firewall (all profiles)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Enable BitLocker disk encryption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Configure AppLocker (whitelist approved apps)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Disable PowerShell execution policy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Enable audit logging for sensitive operations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402116" y="1878806"/>
            <a:ext cx="6556415" cy="5431988"/>
          </a:xfrm>
          <a:prstGeom prst="roundRect">
            <a:avLst>
              <a:gd name="adj" fmla="val 438"/>
            </a:avLst>
          </a:prstGeom>
          <a:solidFill>
            <a:srgbClr val="AFCBF8"/>
          </a:solidFill>
          <a:ln/>
        </p:spPr>
      </p:sp>
      <p:sp>
        <p:nvSpPr>
          <p:cNvPr id="9" name="Text 7"/>
          <p:cNvSpPr/>
          <p:nvPr/>
        </p:nvSpPr>
        <p:spPr>
          <a:xfrm>
            <a:off x="7560826" y="1989892"/>
            <a:ext cx="3254097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Monitoring &amp; Verification (12:00 PM)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560826" y="2348984"/>
            <a:ext cx="6238994" cy="1489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EDR monitoring: ENABLED (real-time)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SIEM monitoring: ENABLED (all events logged)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Network monitoring: ENABLED (all traffic inspected)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12:00 PM: Reconnect to isolated Finance VLAN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12:15 PM: Monitor for 15 minutes (no alerts)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12:30 PM: Reconnect to main network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560826" y="3950018"/>
            <a:ext cx="2447806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User Notification (12:30 PM)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560826" y="4309110"/>
            <a:ext cx="6238994" cy="725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John Smith (jsmith@company.com)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Sarah Johnson (sjohnson@company.com)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Mike Chen (mchen@company.com)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560826" y="5134689"/>
            <a:ext cx="6238994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"Your system has been restored. Please change your password and verify your files are intact."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560826" y="5677733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Status at 12:30 PM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560826" y="6036826"/>
            <a:ext cx="6238994" cy="1235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All systems restored from clean backup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All data recovered (2,793 files)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Enhanced security controls enabled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Systems back in production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 further suspicious activity detected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1122" y="1654969"/>
            <a:ext cx="1490186" cy="186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STEP 7: REPORT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01122" y="1890236"/>
            <a:ext cx="13828157" cy="79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0"/>
              </a:lnSpc>
              <a:buNone/>
            </a:pPr>
            <a:r>
              <a:rPr lang="en-US" sz="5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Time</a:t>
            </a: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: 12:30 PM – 01:00 PM (30 minutes)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401122" y="2021324"/>
            <a:ext cx="931307" cy="11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1. Incident Overview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01122" y="2162056"/>
            <a:ext cx="6823234" cy="342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600"/>
              </a:lnSpc>
              <a:buSzPct val="100000"/>
              <a:buChar char="•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Type: Ransomware Attack (LockBit 3.0)</a:t>
            </a:r>
            <a:endParaRPr lang="en-US" sz="550" dirty="0"/>
          </a:p>
          <a:p>
            <a:pPr marL="342900" indent="-342900" algn="l">
              <a:lnSpc>
                <a:spcPts val="600"/>
              </a:lnSpc>
              <a:buSzPct val="100000"/>
              <a:buChar char="•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Detection Time: 09:15 AM UTC | Resolution Time: 01:45 PM UTC | Total Duration: 4 hours 30 minutes</a:t>
            </a:r>
            <a:endParaRPr lang="en-US" sz="550" dirty="0"/>
          </a:p>
          <a:p>
            <a:pPr marL="342900" indent="-342900" algn="l">
              <a:lnSpc>
                <a:spcPts val="600"/>
              </a:lnSpc>
              <a:buSzPct val="100000"/>
              <a:buChar char="•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Affected Systems: FINANCE-LAPTOP-042, FINANCE-LAPTOP-051, FINANCE-LAPTOP-068</a:t>
            </a:r>
            <a:endParaRPr lang="en-US" sz="550" dirty="0"/>
          </a:p>
          <a:p>
            <a:pPr marL="342900" indent="-342900" algn="l">
              <a:lnSpc>
                <a:spcPts val="600"/>
              </a:lnSpc>
              <a:buSzPct val="100000"/>
              <a:buChar char="•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Affected Users: John Smith (Finance Analyst), Sarah Johnson (Accountant), Mike Chen (Finance Manager)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401122" y="2528530"/>
            <a:ext cx="931307" cy="11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2. Attack Timeline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01122" y="2669262"/>
            <a:ext cx="6823234" cy="1130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600"/>
              </a:lnSpc>
              <a:buSzPct val="100000"/>
              <a:buChar char="•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09:00 AM → User receives phishing email (Invoice.exe)</a:t>
            </a:r>
            <a:endParaRPr lang="en-US" sz="550" dirty="0"/>
          </a:p>
          <a:p>
            <a:pPr marL="342900" indent="-342900" algn="l">
              <a:lnSpc>
                <a:spcPts val="600"/>
              </a:lnSpc>
              <a:buSzPct val="100000"/>
              <a:buChar char="•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09:05 AM → User opens attachment "Invoice.exe"</a:t>
            </a:r>
            <a:endParaRPr lang="en-US" sz="550" dirty="0"/>
          </a:p>
          <a:p>
            <a:pPr marL="342900" indent="-342900" algn="l">
              <a:lnSpc>
                <a:spcPts val="600"/>
              </a:lnSpc>
              <a:buSzPct val="100000"/>
              <a:buChar char="•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09:10 AM → Malware executes, begins encryption</a:t>
            </a:r>
            <a:endParaRPr lang="en-US" sz="550" dirty="0"/>
          </a:p>
          <a:p>
            <a:pPr marL="342900" indent="-342900" algn="l">
              <a:lnSpc>
                <a:spcPts val="600"/>
              </a:lnSpc>
              <a:buSzPct val="100000"/>
              <a:buChar char="•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09:15 AM → EDR detects ransomware activity; Alert sent to SIEM</a:t>
            </a:r>
            <a:endParaRPr lang="en-US" sz="550" dirty="0"/>
          </a:p>
          <a:p>
            <a:pPr marL="342900" indent="-342900" algn="l">
              <a:lnSpc>
                <a:spcPts val="600"/>
              </a:lnSpc>
              <a:buSzPct val="100000"/>
              <a:buChar char="•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09:16 AM → L1 analyst triages alert (TRUE POSITIVE)</a:t>
            </a:r>
            <a:endParaRPr lang="en-US" sz="550" dirty="0"/>
          </a:p>
          <a:p>
            <a:pPr marL="342900" indent="-342900" algn="l">
              <a:lnSpc>
                <a:spcPts val="600"/>
              </a:lnSpc>
              <a:buSzPct val="100000"/>
              <a:buChar char="•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09:18 AM → L2 analyst escalates to L3</a:t>
            </a:r>
            <a:endParaRPr lang="en-US" sz="550" dirty="0"/>
          </a:p>
          <a:p>
            <a:pPr marL="342900" indent="-342900" algn="l">
              <a:lnSpc>
                <a:spcPts val="600"/>
              </a:lnSpc>
              <a:buSzPct val="100000"/>
              <a:buChar char="•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09:25 AM → L3 analyst confirms LockBit variant</a:t>
            </a:r>
            <a:endParaRPr lang="en-US" sz="550" dirty="0"/>
          </a:p>
          <a:p>
            <a:pPr marL="342900" indent="-342900" algn="l">
              <a:lnSpc>
                <a:spcPts val="600"/>
              </a:lnSpc>
              <a:buSzPct val="100000"/>
              <a:buChar char="•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09:28 AM → Containment actions initiated</a:t>
            </a:r>
            <a:endParaRPr lang="en-US" sz="550" dirty="0"/>
          </a:p>
          <a:p>
            <a:pPr marL="342900" indent="-342900" algn="l">
              <a:lnSpc>
                <a:spcPts val="600"/>
              </a:lnSpc>
              <a:buSzPct val="100000"/>
              <a:buChar char="•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09:42 AM → Attack fully contained; Eradication phase begins</a:t>
            </a:r>
            <a:endParaRPr lang="en-US" sz="550" dirty="0"/>
          </a:p>
          <a:p>
            <a:pPr marL="342900" indent="-342900" algn="l">
              <a:lnSpc>
                <a:spcPts val="600"/>
              </a:lnSpc>
              <a:buSzPct val="100000"/>
              <a:buChar char="•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11:15 AM → Malware fully removed; Recovery phase begins</a:t>
            </a:r>
            <a:endParaRPr lang="en-US" sz="550" dirty="0"/>
          </a:p>
          <a:p>
            <a:pPr marL="342900" indent="-342900" algn="l">
              <a:lnSpc>
                <a:spcPts val="600"/>
              </a:lnSpc>
              <a:buSzPct val="100000"/>
              <a:buChar char="•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12:30 PM → Systems restored to production</a:t>
            </a:r>
            <a:endParaRPr lang="en-US" sz="550" dirty="0"/>
          </a:p>
          <a:p>
            <a:pPr marL="342900" indent="-342900" algn="l">
              <a:lnSpc>
                <a:spcPts val="600"/>
              </a:lnSpc>
              <a:buSzPct val="100000"/>
              <a:buChar char="•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01:00 PM → Post-incident review completed</a:t>
            </a:r>
            <a:endParaRPr lang="en-US" sz="550" dirty="0"/>
          </a:p>
          <a:p>
            <a:pPr marL="342900" indent="-342900" algn="l">
              <a:lnSpc>
                <a:spcPts val="600"/>
              </a:lnSpc>
              <a:buSzPct val="100000"/>
              <a:buChar char="•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01:45 PM → Incident closed</a:t>
            </a:r>
            <a:endParaRPr lang="en-US" sz="550" dirty="0"/>
          </a:p>
        </p:txBody>
      </p:sp>
      <p:sp>
        <p:nvSpPr>
          <p:cNvPr id="8" name="Text 6"/>
          <p:cNvSpPr/>
          <p:nvPr/>
        </p:nvSpPr>
        <p:spPr>
          <a:xfrm>
            <a:off x="401122" y="3824407"/>
            <a:ext cx="931307" cy="11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3. Impact Assessment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01122" y="3965138"/>
            <a:ext cx="6823234" cy="429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600"/>
              </a:lnSpc>
              <a:buSzPct val="100000"/>
              <a:buChar char="•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Compromised: 2.3 GB exfiltrated — Customer financial records, Invoice templates, Bank account information</a:t>
            </a:r>
            <a:endParaRPr lang="en-US" sz="550" dirty="0"/>
          </a:p>
          <a:p>
            <a:pPr marL="342900" indent="-342900" algn="l">
              <a:lnSpc>
                <a:spcPts val="600"/>
              </a:lnSpc>
              <a:buSzPct val="100000"/>
              <a:buChar char="•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Files Encrypted: 2,793 files — Successfully recovered from backup</a:t>
            </a:r>
            <a:endParaRPr lang="en-US" sz="550" dirty="0"/>
          </a:p>
          <a:p>
            <a:pPr marL="342900" indent="-342900" algn="l">
              <a:lnSpc>
                <a:spcPts val="600"/>
              </a:lnSpc>
              <a:buSzPct val="100000"/>
              <a:buChar char="•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Business Impact: HIGH — Finance operations disrupted for 4.5 hours — Estimated cost: $50,000 (downtime + recovery)</a:t>
            </a:r>
            <a:endParaRPr lang="en-US" sz="550" dirty="0"/>
          </a:p>
          <a:p>
            <a:pPr marL="342900" indent="-342900" algn="l">
              <a:lnSpc>
                <a:spcPts val="600"/>
              </a:lnSpc>
              <a:buSzPct val="100000"/>
              <a:buChar char="•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Loss: ZERO — All files recovered from backup — No permanent data loss</a:t>
            </a:r>
            <a:endParaRPr lang="en-US" sz="550" dirty="0"/>
          </a:p>
          <a:p>
            <a:pPr marL="342900" indent="-342900" algn="l">
              <a:lnSpc>
                <a:spcPts val="600"/>
              </a:lnSpc>
              <a:buSzPct val="100000"/>
              <a:buChar char="•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Ransom Demand: $500,000 USD — NOT PAID — Systems recovered independently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401122" y="4419243"/>
            <a:ext cx="931307" cy="11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4. Root Cause Analysis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01122" y="4559975"/>
            <a:ext cx="6823234" cy="429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600"/>
              </a:lnSpc>
              <a:buSzPct val="100000"/>
              <a:buChar char="•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Entry Point: Phishing email with malicious attachment — Invoice.exe (LockBit dropper)</a:t>
            </a:r>
            <a:endParaRPr lang="en-US" sz="550" dirty="0"/>
          </a:p>
          <a:p>
            <a:pPr marL="342900" indent="-342900" algn="l">
              <a:lnSpc>
                <a:spcPts val="600"/>
              </a:lnSpc>
              <a:buSzPct val="100000"/>
              <a:buChar char="•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Delivery Method: Email gateway bypass</a:t>
            </a:r>
            <a:endParaRPr lang="en-US" sz="550" dirty="0"/>
          </a:p>
          <a:p>
            <a:pPr marL="342900" indent="-342900" algn="l">
              <a:lnSpc>
                <a:spcPts val="600"/>
              </a:lnSpc>
              <a:buSzPct val="100000"/>
              <a:buChar char="•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User Action: Opened attachment (social engineering)</a:t>
            </a:r>
            <a:endParaRPr lang="en-US" sz="550" dirty="0"/>
          </a:p>
          <a:p>
            <a:pPr marL="342900" indent="-342900" algn="l">
              <a:lnSpc>
                <a:spcPts val="600"/>
              </a:lnSpc>
              <a:buSzPct val="100000"/>
              <a:buChar char="•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Vulnerability: Outdated Windows 10 (missing patches)</a:t>
            </a:r>
            <a:endParaRPr lang="en-US" sz="550" dirty="0"/>
          </a:p>
          <a:p>
            <a:pPr marL="342900" indent="-342900" algn="l">
              <a:lnSpc>
                <a:spcPts val="600"/>
              </a:lnSpc>
              <a:buSzPct val="100000"/>
              <a:buChar char="•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Contributing Factors: Insufficient email security training; Unpatched Windows 10 system; No application whitelisting; No advanced threat protection</a:t>
            </a:r>
            <a:endParaRPr lang="en-US" sz="550" dirty="0"/>
          </a:p>
        </p:txBody>
      </p:sp>
      <p:sp>
        <p:nvSpPr>
          <p:cNvPr id="12" name="Text 10"/>
          <p:cNvSpPr/>
          <p:nvPr/>
        </p:nvSpPr>
        <p:spPr>
          <a:xfrm>
            <a:off x="401122" y="5014079"/>
            <a:ext cx="1122521" cy="11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5. Blue Team Actions Taken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01122" y="5154811"/>
            <a:ext cx="6823234" cy="342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600"/>
              </a:lnSpc>
              <a:buSzPct val="100000"/>
              <a:buChar char="•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DETECTION (09:15 AM): EDR detected suspicious file encryption; SIEM correlated multiple alerts; Alert escalated within 1 minute</a:t>
            </a:r>
            <a:endParaRPr lang="en-US" sz="550" dirty="0"/>
          </a:p>
          <a:p>
            <a:pPr marL="342900" indent="-342900" algn="l">
              <a:lnSpc>
                <a:spcPts val="600"/>
              </a:lnSpc>
              <a:buSzPct val="100000"/>
              <a:buChar char="•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CONTAINMENT (09:28 AM): Isolated 3 infected endpoints; Blocked C2 domain (185.143.222.10); Terminated malicious processes; Disabled affected user accounts; Segmented Finance VLAN</a:t>
            </a:r>
            <a:endParaRPr lang="en-US" sz="550" dirty="0"/>
          </a:p>
          <a:p>
            <a:pPr marL="342900" indent="-342900" algn="l">
              <a:lnSpc>
                <a:spcPts val="600"/>
              </a:lnSpc>
              <a:buSzPct val="100000"/>
              <a:buChar char="•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ERADICATION (09:42 AM): Collected forensic evidence; Removed 47 malware files; Deleted persistence mechanisms; Patched 31 vulnerabilities; Verified systems clean</a:t>
            </a:r>
            <a:endParaRPr lang="en-US" sz="550" dirty="0"/>
          </a:p>
          <a:p>
            <a:pPr marL="342900" indent="-342900" algn="l">
              <a:lnSpc>
                <a:spcPts val="600"/>
              </a:lnSpc>
              <a:buSzPct val="100000"/>
              <a:buChar char="•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RECOVERY (11:15 AM): Restored 2,793 files from backup; Applied security hardening; Enabled enhanced monitoring; Reconnected systems to network; Notified affected users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401122" y="5521285"/>
            <a:ext cx="1113592" cy="11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6. Tools Used by Blue Team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01122" y="5662017"/>
            <a:ext cx="6823234" cy="692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600"/>
              </a:lnSpc>
              <a:buSzPct val="100000"/>
              <a:buChar char="•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SIEM: Splunk — Detected initial alert, correlated events, generated dashboards</a:t>
            </a:r>
            <a:endParaRPr lang="en-US" sz="550" dirty="0"/>
          </a:p>
          <a:p>
            <a:pPr marL="342900" indent="-342900" algn="l">
              <a:lnSpc>
                <a:spcPts val="600"/>
              </a:lnSpc>
              <a:buSzPct val="100000"/>
              <a:buChar char="•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EDR: CrowdStrike Falcon — Detected ransomware behavior, isolated endpoints, provided process tree analysis</a:t>
            </a:r>
            <a:endParaRPr lang="en-US" sz="550" dirty="0"/>
          </a:p>
          <a:p>
            <a:pPr marL="342900" indent="-342900" algn="l">
              <a:lnSpc>
                <a:spcPts val="600"/>
              </a:lnSpc>
              <a:buSzPct val="100000"/>
              <a:buChar char="•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IDS/IPS: Suricata — Detected C2 communication, blocked malicious traffic</a:t>
            </a:r>
            <a:endParaRPr lang="en-US" sz="550" dirty="0"/>
          </a:p>
          <a:p>
            <a:pPr marL="342900" indent="-342900" algn="l">
              <a:lnSpc>
                <a:spcPts val="600"/>
              </a:lnSpc>
              <a:buSzPct val="100000"/>
              <a:buChar char="•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SOAR: Palo Alto XSOAR — Automated containment, blocked C2 domain, escalated to analysts</a:t>
            </a:r>
            <a:endParaRPr lang="en-US" sz="550" dirty="0"/>
          </a:p>
          <a:p>
            <a:pPr marL="342900" indent="-342900" algn="l">
              <a:lnSpc>
                <a:spcPts val="600"/>
              </a:lnSpc>
              <a:buSzPct val="100000"/>
              <a:buChar char="•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Threat Intelligence: MISP — Matched malware hash to LockBit variant, identified C2 infrastructure</a:t>
            </a:r>
            <a:endParaRPr lang="en-US" sz="550" dirty="0"/>
          </a:p>
          <a:p>
            <a:pPr marL="342900" indent="-342900" algn="l">
              <a:lnSpc>
                <a:spcPts val="600"/>
              </a:lnSpc>
              <a:buSzPct val="100000"/>
              <a:buChar char="•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Forensics: Volatility + Wireshark — Analyzed memory, captured network traffic, identified persistence mechanisms</a:t>
            </a:r>
            <a:endParaRPr lang="en-US" sz="550" dirty="0"/>
          </a:p>
          <a:p>
            <a:pPr marL="342900" indent="-342900" algn="l">
              <a:lnSpc>
                <a:spcPts val="600"/>
              </a:lnSpc>
              <a:buSzPct val="100000"/>
              <a:buChar char="•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Antivirus: Malwarebytes — Removed 47 malware files</a:t>
            </a:r>
            <a:endParaRPr lang="en-US" sz="550" dirty="0"/>
          </a:p>
          <a:p>
            <a:pPr marL="342900" indent="-342900" algn="l">
              <a:lnSpc>
                <a:spcPts val="600"/>
              </a:lnSpc>
              <a:buSzPct val="100000"/>
              <a:buChar char="•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Backup &amp; Recovery: Veeam — Restored systems from clean backup</a:t>
            </a:r>
            <a:endParaRPr lang="en-US" sz="550" dirty="0"/>
          </a:p>
        </p:txBody>
      </p:sp>
      <p:sp>
        <p:nvSpPr>
          <p:cNvPr id="16" name="Text 14"/>
          <p:cNvSpPr/>
          <p:nvPr/>
        </p:nvSpPr>
        <p:spPr>
          <a:xfrm>
            <a:off x="7413665" y="2021324"/>
            <a:ext cx="931307" cy="11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7. Metrics &amp; KPIs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7413665" y="2162056"/>
            <a:ext cx="6823234" cy="429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600"/>
              </a:lnSpc>
              <a:buSzPct val="100000"/>
              <a:buChar char="•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Mean Time to Detect (MTTD): 0 minutes — Alert triggered immediately upon encryption</a:t>
            </a:r>
            <a:endParaRPr lang="en-US" sz="550" dirty="0"/>
          </a:p>
          <a:p>
            <a:pPr marL="342900" indent="-342900" algn="l">
              <a:lnSpc>
                <a:spcPts val="600"/>
              </a:lnSpc>
              <a:buSzPct val="100000"/>
              <a:buChar char="•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Mean Time to Respond (MTTR): 13 minutes — Containment actions initiated at 09:28 AM — Target: &lt; 15 minutes</a:t>
            </a:r>
            <a:endParaRPr lang="en-US" sz="550" dirty="0"/>
          </a:p>
          <a:p>
            <a:pPr marL="342900" indent="-342900" algn="l">
              <a:lnSpc>
                <a:spcPts val="600"/>
              </a:lnSpc>
              <a:buSzPct val="100000"/>
              <a:buChar char="•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Detection Accuracy: 99% — 0 false positives</a:t>
            </a:r>
            <a:endParaRPr lang="en-US" sz="550" dirty="0"/>
          </a:p>
          <a:p>
            <a:pPr marL="342900" indent="-342900" algn="l">
              <a:lnSpc>
                <a:spcPts val="600"/>
              </a:lnSpc>
              <a:buSzPct val="100000"/>
              <a:buChar char="•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Loss: 0% — All files recovered</a:t>
            </a:r>
            <a:endParaRPr lang="en-US" sz="550" dirty="0"/>
          </a:p>
          <a:p>
            <a:pPr marL="342900" indent="-342900" algn="l">
              <a:lnSpc>
                <a:spcPts val="600"/>
              </a:lnSpc>
              <a:buSzPct val="100000"/>
              <a:buChar char="•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Business Continuity: 4.5 hours — Systems restored to production</a:t>
            </a:r>
            <a:endParaRPr lang="en-US" sz="550" dirty="0"/>
          </a:p>
        </p:txBody>
      </p:sp>
      <p:sp>
        <p:nvSpPr>
          <p:cNvPr id="18" name="Text 16"/>
          <p:cNvSpPr/>
          <p:nvPr/>
        </p:nvSpPr>
        <p:spPr>
          <a:xfrm>
            <a:off x="7413665" y="2616160"/>
            <a:ext cx="931307" cy="11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8. Recommendations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7413665" y="2756892"/>
            <a:ext cx="6823234" cy="79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0"/>
              </a:lnSpc>
              <a:buNone/>
            </a:pPr>
            <a:r>
              <a:rPr lang="en-US" sz="5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IMMEDIATE (Next 48 hours):</a:t>
            </a:r>
            <a:endParaRPr lang="en-US" sz="550" dirty="0"/>
          </a:p>
        </p:txBody>
      </p:sp>
      <p:sp>
        <p:nvSpPr>
          <p:cNvPr id="20" name="Text 18"/>
          <p:cNvSpPr/>
          <p:nvPr/>
        </p:nvSpPr>
        <p:spPr>
          <a:xfrm>
            <a:off x="7413665" y="2858095"/>
            <a:ext cx="6823234" cy="342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600"/>
              </a:lnSpc>
              <a:buSzPct val="100000"/>
              <a:buFont typeface="+mj-lt"/>
              <a:buAutoNum type="arabicPeriod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Force password reset for all Finance users</a:t>
            </a:r>
            <a:endParaRPr lang="en-US" sz="550" dirty="0"/>
          </a:p>
          <a:p>
            <a:pPr marL="342900" indent="-342900" algn="l">
              <a:lnSpc>
                <a:spcPts val="600"/>
              </a:lnSpc>
              <a:buSzPct val="100000"/>
              <a:buFont typeface="+mj-lt"/>
              <a:buAutoNum type="arabicPeriod" startAt="2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Monitor Finance VLAN for suspicious activity</a:t>
            </a:r>
            <a:endParaRPr lang="en-US" sz="550" dirty="0"/>
          </a:p>
          <a:p>
            <a:pPr marL="342900" indent="-342900" algn="l">
              <a:lnSpc>
                <a:spcPts val="600"/>
              </a:lnSpc>
              <a:buSzPct val="100000"/>
              <a:buFont typeface="+mj-lt"/>
              <a:buAutoNum type="arabicPeriod" startAt="3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Scan all systems for similar malware</a:t>
            </a:r>
            <a:endParaRPr lang="en-US" sz="550" dirty="0"/>
          </a:p>
          <a:p>
            <a:pPr marL="342900" indent="-342900" algn="l">
              <a:lnSpc>
                <a:spcPts val="600"/>
              </a:lnSpc>
              <a:buSzPct val="100000"/>
              <a:buFont typeface="+mj-lt"/>
              <a:buAutoNum type="arabicPeriod" startAt="4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Notify customers of potential data breach</a:t>
            </a:r>
            <a:endParaRPr lang="en-US" sz="550" dirty="0"/>
          </a:p>
        </p:txBody>
      </p:sp>
      <p:sp>
        <p:nvSpPr>
          <p:cNvPr id="21" name="Text 19"/>
          <p:cNvSpPr/>
          <p:nvPr/>
        </p:nvSpPr>
        <p:spPr>
          <a:xfrm>
            <a:off x="7413665" y="3222188"/>
            <a:ext cx="6823234" cy="79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0"/>
              </a:lnSpc>
              <a:buNone/>
            </a:pPr>
            <a:r>
              <a:rPr lang="en-US" sz="5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SHORT-TERM (Next 2 weeks):</a:t>
            </a:r>
            <a:endParaRPr lang="en-US" sz="550" dirty="0"/>
          </a:p>
        </p:txBody>
      </p:sp>
      <p:sp>
        <p:nvSpPr>
          <p:cNvPr id="22" name="Text 20"/>
          <p:cNvSpPr/>
          <p:nvPr/>
        </p:nvSpPr>
        <p:spPr>
          <a:xfrm>
            <a:off x="7413665" y="3323392"/>
            <a:ext cx="6823234" cy="429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600"/>
              </a:lnSpc>
              <a:buSzPct val="100000"/>
              <a:buFont typeface="+mj-lt"/>
              <a:buAutoNum type="arabicPeriod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Deploy advanced email filtering (Proofpoint)</a:t>
            </a:r>
            <a:endParaRPr lang="en-US" sz="550" dirty="0"/>
          </a:p>
          <a:p>
            <a:pPr marL="342900" indent="-342900" algn="l">
              <a:lnSpc>
                <a:spcPts val="600"/>
              </a:lnSpc>
              <a:buSzPct val="100000"/>
              <a:buFont typeface="+mj-lt"/>
              <a:buAutoNum type="arabicPeriod" startAt="2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Enable multi-factor authentication (MFA)</a:t>
            </a:r>
            <a:endParaRPr lang="en-US" sz="550" dirty="0"/>
          </a:p>
          <a:p>
            <a:pPr marL="342900" indent="-342900" algn="l">
              <a:lnSpc>
                <a:spcPts val="600"/>
              </a:lnSpc>
              <a:buSzPct val="100000"/>
              <a:buFont typeface="+mj-lt"/>
              <a:buAutoNum type="arabicPeriod" startAt="3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Implement application whitelisting (AppLocker)</a:t>
            </a:r>
            <a:endParaRPr lang="en-US" sz="550" dirty="0"/>
          </a:p>
          <a:p>
            <a:pPr marL="342900" indent="-342900" algn="l">
              <a:lnSpc>
                <a:spcPts val="600"/>
              </a:lnSpc>
              <a:buSzPct val="100000"/>
              <a:buFont typeface="+mj-lt"/>
              <a:buAutoNum type="arabicPeriod" startAt="4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Conduct phishing simulation training</a:t>
            </a:r>
            <a:endParaRPr lang="en-US" sz="550" dirty="0"/>
          </a:p>
          <a:p>
            <a:pPr marL="342900" indent="-342900" algn="l">
              <a:lnSpc>
                <a:spcPts val="600"/>
              </a:lnSpc>
              <a:buSzPct val="100000"/>
              <a:buFont typeface="+mj-lt"/>
              <a:buAutoNum type="arabicPeriod" startAt="5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Review and update incident response playbook</a:t>
            </a:r>
            <a:endParaRPr lang="en-US" sz="550" dirty="0"/>
          </a:p>
        </p:txBody>
      </p:sp>
      <p:sp>
        <p:nvSpPr>
          <p:cNvPr id="23" name="Text 21"/>
          <p:cNvSpPr/>
          <p:nvPr/>
        </p:nvSpPr>
        <p:spPr>
          <a:xfrm>
            <a:off x="7413665" y="3775115"/>
            <a:ext cx="6823234" cy="79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0"/>
              </a:lnSpc>
              <a:buNone/>
            </a:pPr>
            <a:r>
              <a:rPr lang="en-US" sz="5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LONG-TERM (Next 3 months):</a:t>
            </a:r>
            <a:endParaRPr lang="en-US" sz="550" dirty="0"/>
          </a:p>
        </p:txBody>
      </p:sp>
      <p:sp>
        <p:nvSpPr>
          <p:cNvPr id="24" name="Text 22"/>
          <p:cNvSpPr/>
          <p:nvPr/>
        </p:nvSpPr>
        <p:spPr>
          <a:xfrm>
            <a:off x="7413665" y="3876318"/>
            <a:ext cx="6823234" cy="429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600"/>
              </a:lnSpc>
              <a:buSzPct val="100000"/>
              <a:buFont typeface="+mj-lt"/>
              <a:buAutoNum type="arabicPeriod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Implement network segmentation (micro-segmentation)</a:t>
            </a:r>
            <a:endParaRPr lang="en-US" sz="550" dirty="0"/>
          </a:p>
          <a:p>
            <a:pPr marL="342900" indent="-342900" algn="l">
              <a:lnSpc>
                <a:spcPts val="600"/>
              </a:lnSpc>
              <a:buSzPct val="100000"/>
              <a:buFont typeface="+mj-lt"/>
              <a:buAutoNum type="arabicPeriod" startAt="2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Deploy EDR on all endpoints (currently 95% coverage)</a:t>
            </a:r>
            <a:endParaRPr lang="en-US" sz="550" dirty="0"/>
          </a:p>
          <a:p>
            <a:pPr marL="342900" indent="-342900" algn="l">
              <a:lnSpc>
                <a:spcPts val="600"/>
              </a:lnSpc>
              <a:buSzPct val="100000"/>
              <a:buFont typeface="+mj-lt"/>
              <a:buAutoNum type="arabicPeriod" startAt="3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Upgrade SIEM with AI/ML capabilities</a:t>
            </a:r>
            <a:endParaRPr lang="en-US" sz="550" dirty="0"/>
          </a:p>
          <a:p>
            <a:pPr marL="342900" indent="-342900" algn="l">
              <a:lnSpc>
                <a:spcPts val="600"/>
              </a:lnSpc>
              <a:buSzPct val="100000"/>
              <a:buFont typeface="+mj-lt"/>
              <a:buAutoNum type="arabicPeriod" startAt="4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Conduct red team exercise to test defenses</a:t>
            </a:r>
            <a:endParaRPr lang="en-US" sz="550" dirty="0"/>
          </a:p>
          <a:p>
            <a:pPr marL="342900" indent="-342900" algn="l">
              <a:lnSpc>
                <a:spcPts val="600"/>
              </a:lnSpc>
              <a:buSzPct val="100000"/>
              <a:buFont typeface="+mj-lt"/>
              <a:buAutoNum type="arabicPeriod" startAt="5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Implement zero-trust architecture</a:t>
            </a:r>
            <a:endParaRPr lang="en-US" sz="550" dirty="0"/>
          </a:p>
        </p:txBody>
      </p:sp>
      <p:sp>
        <p:nvSpPr>
          <p:cNvPr id="25" name="Text 23"/>
          <p:cNvSpPr/>
          <p:nvPr/>
        </p:nvSpPr>
        <p:spPr>
          <a:xfrm>
            <a:off x="7413665" y="4330422"/>
            <a:ext cx="931307" cy="11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9. Lessons Learned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7413665" y="4471154"/>
            <a:ext cx="6823234" cy="158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0"/>
              </a:lnSpc>
              <a:buNone/>
            </a:pPr>
            <a:r>
              <a:rPr lang="en-US" sz="5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What Worked Well:</a:t>
            </a: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EDR detection was immediate and accurate · SOAR automation reduced response time · Backup strategy prevented data loss · Team coordination was excellent · Clear escalation procedures worked</a:t>
            </a:r>
            <a:endParaRPr lang="en-US" sz="550" dirty="0"/>
          </a:p>
        </p:txBody>
      </p:sp>
      <p:sp>
        <p:nvSpPr>
          <p:cNvPr id="27" name="Text 25"/>
          <p:cNvSpPr/>
          <p:nvPr/>
        </p:nvSpPr>
        <p:spPr>
          <a:xfrm>
            <a:off x="7413665" y="4651534"/>
            <a:ext cx="6823234" cy="158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0"/>
              </a:lnSpc>
              <a:buNone/>
            </a:pPr>
            <a:r>
              <a:rPr lang="en-US" sz="5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What Could Be Improved:</a:t>
            </a: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Email security training needs improvement · Patch management process was too slow · No application whitelisting in place · Network segmentation could be better · Incident response playbook needs update</a:t>
            </a:r>
            <a:endParaRPr lang="en-US" sz="550" dirty="0"/>
          </a:p>
        </p:txBody>
      </p:sp>
      <p:sp>
        <p:nvSpPr>
          <p:cNvPr id="28" name="Text 26"/>
          <p:cNvSpPr/>
          <p:nvPr/>
        </p:nvSpPr>
        <p:spPr>
          <a:xfrm>
            <a:off x="7413665" y="4834295"/>
            <a:ext cx="931307" cy="11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10. Cost Analysis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7413665" y="4975027"/>
            <a:ext cx="6823234" cy="867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600"/>
              </a:lnSpc>
              <a:buSzPct val="100000"/>
              <a:buChar char="•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Downtime (4.5 hours × $11,000/hour): $49,500</a:t>
            </a:r>
            <a:endParaRPr lang="en-US" sz="550" dirty="0"/>
          </a:p>
          <a:p>
            <a:pPr marL="342900" indent="-342900" algn="l">
              <a:lnSpc>
                <a:spcPts val="600"/>
              </a:lnSpc>
              <a:buSzPct val="100000"/>
              <a:buChar char="•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Forensic analysis &amp; investigation: $5,000</a:t>
            </a:r>
            <a:endParaRPr lang="en-US" sz="550" dirty="0"/>
          </a:p>
          <a:p>
            <a:pPr marL="342900" indent="-342900" algn="l">
              <a:lnSpc>
                <a:spcPts val="600"/>
              </a:lnSpc>
              <a:buSzPct val="100000"/>
              <a:buChar char="•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Backup restoration: $2,000</a:t>
            </a:r>
            <a:endParaRPr lang="en-US" sz="550" dirty="0"/>
          </a:p>
          <a:p>
            <a:pPr marL="342900" indent="-342900" algn="l">
              <a:lnSpc>
                <a:spcPts val="600"/>
              </a:lnSpc>
              <a:buSzPct val="100000"/>
              <a:buChar char="•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Additional security tools: $15,000</a:t>
            </a:r>
            <a:endParaRPr lang="en-US" sz="550" dirty="0"/>
          </a:p>
          <a:p>
            <a:pPr marL="342900" indent="-342900" algn="l">
              <a:lnSpc>
                <a:spcPts val="600"/>
              </a:lnSpc>
              <a:buSzPct val="100000"/>
              <a:buChar char="•"/>
            </a:pPr>
            <a:r>
              <a:rPr lang="en-US" sz="5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TOTAL COST: $71,500</a:t>
            </a:r>
            <a:endParaRPr lang="en-US" sz="550" dirty="0"/>
          </a:p>
          <a:p>
            <a:pPr marL="342900" indent="-342900" algn="l">
              <a:lnSpc>
                <a:spcPts val="600"/>
              </a:lnSpc>
              <a:buSzPct val="100000"/>
              <a:buChar char="•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Ransom payment: $500,000 (NOT PAID)</a:t>
            </a:r>
            <a:endParaRPr lang="en-US" sz="550" dirty="0"/>
          </a:p>
          <a:p>
            <a:pPr marL="342900" indent="-342900" algn="l">
              <a:lnSpc>
                <a:spcPts val="600"/>
              </a:lnSpc>
              <a:buSzPct val="100000"/>
              <a:buChar char="•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breach notification: $100,000 (NO LOSS)</a:t>
            </a:r>
            <a:endParaRPr lang="en-US" sz="550" dirty="0"/>
          </a:p>
          <a:p>
            <a:pPr marL="342900" indent="-342900" algn="l">
              <a:lnSpc>
                <a:spcPts val="600"/>
              </a:lnSpc>
              <a:buSzPct val="100000"/>
              <a:buChar char="•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Regulatory fines: $250,000 (NO LOSS)</a:t>
            </a:r>
            <a:endParaRPr lang="en-US" sz="550" dirty="0"/>
          </a:p>
          <a:p>
            <a:pPr marL="342900" indent="-342900" algn="l">
              <a:lnSpc>
                <a:spcPts val="600"/>
              </a:lnSpc>
              <a:buSzPct val="100000"/>
              <a:buChar char="•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Reputation damage: $500,000 (CONTAINED)</a:t>
            </a:r>
            <a:endParaRPr lang="en-US" sz="550" dirty="0"/>
          </a:p>
          <a:p>
            <a:pPr marL="342900" indent="-342900" algn="l">
              <a:lnSpc>
                <a:spcPts val="600"/>
              </a:lnSpc>
              <a:buSzPct val="100000"/>
              <a:buChar char="•"/>
            </a:pPr>
            <a:r>
              <a:rPr lang="en-US" sz="5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TOTAL AVOIDED: $1,350,000</a:t>
            </a:r>
            <a:endParaRPr lang="en-US" sz="550" dirty="0"/>
          </a:p>
        </p:txBody>
      </p:sp>
      <p:sp>
        <p:nvSpPr>
          <p:cNvPr id="30" name="Text 28"/>
          <p:cNvSpPr/>
          <p:nvPr/>
        </p:nvSpPr>
        <p:spPr>
          <a:xfrm>
            <a:off x="7413665" y="5864900"/>
            <a:ext cx="6823234" cy="79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0"/>
              </a:lnSpc>
              <a:buNone/>
            </a:pPr>
            <a:r>
              <a:rPr lang="en-US" sz="5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ROI of Security Investment: </a:t>
            </a:r>
            <a:r>
              <a:rPr lang="en-US" sz="550" b="1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1,888%</a:t>
            </a:r>
            <a:endParaRPr lang="en-US" sz="550" dirty="0"/>
          </a:p>
        </p:txBody>
      </p:sp>
      <p:sp>
        <p:nvSpPr>
          <p:cNvPr id="31" name="Text 29"/>
          <p:cNvSpPr/>
          <p:nvPr/>
        </p:nvSpPr>
        <p:spPr>
          <a:xfrm>
            <a:off x="7413665" y="5968484"/>
            <a:ext cx="931307" cy="11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11. Incident Closure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7413665" y="6109216"/>
            <a:ext cx="6823234" cy="342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600"/>
              </a:lnSpc>
              <a:buSzPct val="100000"/>
              <a:buChar char="•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Status: RESOLVED</a:t>
            </a:r>
            <a:endParaRPr lang="en-US" sz="550" dirty="0"/>
          </a:p>
          <a:p>
            <a:pPr marL="342900" indent="-342900" algn="l">
              <a:lnSpc>
                <a:spcPts val="600"/>
              </a:lnSpc>
              <a:buSzPct val="100000"/>
              <a:buChar char="•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Date Closed: March 24, 2026, 01:45 PM UTC</a:t>
            </a:r>
            <a:endParaRPr lang="en-US" sz="550" dirty="0"/>
          </a:p>
          <a:p>
            <a:pPr marL="342900" indent="-342900" algn="l">
              <a:lnSpc>
                <a:spcPts val="600"/>
              </a:lnSpc>
              <a:buSzPct val="100000"/>
              <a:buChar char="•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Closed By: SOC Manager (John Davis)</a:t>
            </a:r>
            <a:endParaRPr lang="en-US" sz="550" dirty="0"/>
          </a:p>
          <a:p>
            <a:pPr marL="342900" indent="-342900" algn="l">
              <a:lnSpc>
                <a:spcPts val="600"/>
              </a:lnSpc>
              <a:buSzPct val="100000"/>
              <a:buChar char="•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Approved By: CISO (Sarah Williams)</a:t>
            </a:r>
            <a:endParaRPr lang="en-US" sz="550" dirty="0"/>
          </a:p>
        </p:txBody>
      </p:sp>
      <p:sp>
        <p:nvSpPr>
          <p:cNvPr id="33" name="Text 31"/>
          <p:cNvSpPr/>
          <p:nvPr/>
        </p:nvSpPr>
        <p:spPr>
          <a:xfrm>
            <a:off x="7413665" y="6473309"/>
            <a:ext cx="6823234" cy="79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0"/>
              </a:lnSpc>
              <a:buNone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All systems verified as clean and operational. No further suspicious activity detected. Incident response playbook updated. Team debriefing completed.</a:t>
            </a:r>
            <a:endParaRPr lang="en-US" sz="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10672"/>
            <a:ext cx="4489728" cy="451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Visual Dashboard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334214" y="1317546"/>
            <a:ext cx="2068830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750"/>
              </a:lnSpc>
              <a:buNone/>
            </a:pPr>
            <a:r>
              <a:rPr lang="en-US" sz="37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0 min</a:t>
            </a:r>
            <a:endParaRPr lang="en-US" sz="3750" dirty="0"/>
          </a:p>
        </p:txBody>
      </p:sp>
      <p:sp>
        <p:nvSpPr>
          <p:cNvPr id="4" name="Text 2"/>
          <p:cNvSpPr/>
          <p:nvPr/>
        </p:nvSpPr>
        <p:spPr>
          <a:xfrm>
            <a:off x="1466493" y="1934766"/>
            <a:ext cx="1804273" cy="225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MTTD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215158"/>
            <a:ext cx="3182898" cy="377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Mean Time to Detect — Alert triggered immediately upon encryption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31888" y="1317546"/>
            <a:ext cx="2068830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750"/>
              </a:lnSpc>
              <a:buNone/>
            </a:pPr>
            <a:r>
              <a:rPr lang="en-US" sz="37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13 min</a:t>
            </a:r>
            <a:endParaRPr lang="en-US" sz="3750" dirty="0"/>
          </a:p>
        </p:txBody>
      </p:sp>
      <p:sp>
        <p:nvSpPr>
          <p:cNvPr id="7" name="Text 5"/>
          <p:cNvSpPr/>
          <p:nvPr/>
        </p:nvSpPr>
        <p:spPr>
          <a:xfrm>
            <a:off x="4764167" y="1934766"/>
            <a:ext cx="1804273" cy="225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MTTR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074914" y="2215158"/>
            <a:ext cx="3182898" cy="377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Mean Time to Respond — Containment initiated at 09:28 AM (Target: &lt;15 min)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929563" y="1317546"/>
            <a:ext cx="2068830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750"/>
              </a:lnSpc>
              <a:buNone/>
            </a:pPr>
            <a:r>
              <a:rPr lang="en-US" sz="37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99%</a:t>
            </a:r>
            <a:endParaRPr lang="en-US" sz="3750" dirty="0"/>
          </a:p>
        </p:txBody>
      </p:sp>
      <p:sp>
        <p:nvSpPr>
          <p:cNvPr id="10" name="Text 8"/>
          <p:cNvSpPr/>
          <p:nvPr/>
        </p:nvSpPr>
        <p:spPr>
          <a:xfrm>
            <a:off x="8061841" y="1934766"/>
            <a:ext cx="1804273" cy="225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Detection Accuracy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72588" y="2215158"/>
            <a:ext cx="3182898" cy="188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 false positives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227237" y="1317546"/>
            <a:ext cx="2068830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750"/>
              </a:lnSpc>
              <a:buNone/>
            </a:pPr>
            <a:r>
              <a:rPr lang="en-US" sz="37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1,888%</a:t>
            </a:r>
            <a:endParaRPr lang="en-US" sz="3750" dirty="0"/>
          </a:p>
        </p:txBody>
      </p:sp>
      <p:sp>
        <p:nvSpPr>
          <p:cNvPr id="13" name="Text 11"/>
          <p:cNvSpPr/>
          <p:nvPr/>
        </p:nvSpPr>
        <p:spPr>
          <a:xfrm>
            <a:off x="11359515" y="1934766"/>
            <a:ext cx="1804273" cy="225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ROI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670262" y="2215158"/>
            <a:ext cx="3182898" cy="188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Return on security investment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3298" y="2696051"/>
            <a:ext cx="6569750" cy="4923115"/>
          </a:xfrm>
          <a:prstGeom prst="roundRect">
            <a:avLst>
              <a:gd name="adj" fmla="val 440"/>
            </a:avLst>
          </a:prstGeom>
          <a:solidFill>
            <a:srgbClr val="AEE4BD"/>
          </a:solidFill>
          <a:ln/>
        </p:spPr>
      </p:sp>
      <p:sp>
        <p:nvSpPr>
          <p:cNvPr id="16" name="Text 14"/>
          <p:cNvSpPr/>
          <p:nvPr/>
        </p:nvSpPr>
        <p:spPr>
          <a:xfrm>
            <a:off x="817602" y="2787848"/>
            <a:ext cx="1804273" cy="225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Timeline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7602" y="3105031"/>
            <a:ext cx="6281142" cy="1293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Detection: 09:15 AM (1 min)</a:t>
            </a:r>
            <a:endParaRPr lang="en-US" sz="11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Containment: 09:28 AM (13 min)</a:t>
            </a:r>
            <a:endParaRPr lang="en-US" sz="11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Eradication: 11:15 AM (1 hr 47 min)</a:t>
            </a:r>
            <a:endParaRPr lang="en-US" sz="11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Recovery: 12:30 PM (1 hr 15 min)</a:t>
            </a:r>
            <a:endParaRPr lang="en-US" sz="11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Report: 01:00 PM (30 min)</a:t>
            </a:r>
            <a:endParaRPr lang="en-US" sz="11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TOTAL: 4 hours 45 minutes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7602" y="4490561"/>
            <a:ext cx="1804273" cy="225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Impact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7602" y="4807744"/>
            <a:ext cx="6281142" cy="1293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Systems Affected: 3</a:t>
            </a:r>
            <a:endParaRPr lang="en-US" sz="11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Users Affected: 3</a:t>
            </a:r>
            <a:endParaRPr lang="en-US" sz="11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Files Encrypted: 2,793</a:t>
            </a:r>
            <a:endParaRPr lang="en-US" sz="11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Exfiltrated: 2.3 GB</a:t>
            </a:r>
            <a:endParaRPr lang="en-US" sz="11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Lost: 0 (RECOVERED)</a:t>
            </a:r>
            <a:endParaRPr lang="en-US" sz="11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Ransom Paid: $0 (NOT PAID)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913" y="2787848"/>
            <a:ext cx="1804273" cy="225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Cost Analysis</a:t>
            </a:r>
            <a:endParaRPr lang="en-US" sz="14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913" y="3116461"/>
            <a:ext cx="4137660" cy="2351933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015159" y="3679945"/>
            <a:ext cx="183489" cy="103441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71.5k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11218208" y="4708915"/>
            <a:ext cx="207478" cy="103442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1.35m</a:t>
            </a:r>
            <a:endParaRPr lang="en-US" sz="650" dirty="0"/>
          </a:p>
        </p:txBody>
      </p:sp>
      <p:sp>
        <p:nvSpPr>
          <p:cNvPr id="24" name="Text 21"/>
          <p:cNvSpPr/>
          <p:nvPr/>
        </p:nvSpPr>
        <p:spPr>
          <a:xfrm>
            <a:off x="7498913" y="6782276"/>
            <a:ext cx="6361867" cy="377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Blue Team's rapid response incurred </a:t>
            </a: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$71,500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in total costs while avoiding </a:t>
            </a: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$1,350,000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in potential losses — delivering an </a:t>
            </a:r>
            <a:r>
              <a:rPr lang="en-US" sz="1100" b="1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ROI of 1,888%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498913" y="7270790"/>
            <a:ext cx="2412683" cy="237530"/>
          </a:xfrm>
          <a:prstGeom prst="roundRect">
            <a:avLst>
              <a:gd name="adj" fmla="val 7292"/>
            </a:avLst>
          </a:prstGeom>
          <a:solidFill>
            <a:srgbClr val="D7F4E4"/>
          </a:solidFill>
          <a:ln/>
        </p:spPr>
      </p:sp>
      <p:sp>
        <p:nvSpPr>
          <p:cNvPr id="26" name="Text 23"/>
          <p:cNvSpPr/>
          <p:nvPr/>
        </p:nvSpPr>
        <p:spPr>
          <a:xfrm>
            <a:off x="7585472" y="7314009"/>
            <a:ext cx="2239566" cy="151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INCIDENT: RANSOMWARE (LOCKBIT 3.0)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9983748" y="7263170"/>
            <a:ext cx="1270992" cy="252770"/>
          </a:xfrm>
          <a:prstGeom prst="roundRect">
            <a:avLst>
              <a:gd name="adj" fmla="val 6853"/>
            </a:avLst>
          </a:prstGeom>
          <a:noFill/>
          <a:ln w="7620">
            <a:solidFill>
              <a:srgbClr val="1B5F3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077926" y="7314009"/>
            <a:ext cx="1082635" cy="151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STATUS: RESOLVED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11326892" y="7263170"/>
            <a:ext cx="1310997" cy="252770"/>
          </a:xfrm>
          <a:prstGeom prst="roundRect">
            <a:avLst>
              <a:gd name="adj" fmla="val 6853"/>
            </a:avLst>
          </a:prstGeom>
          <a:noFill/>
          <a:ln w="7620">
            <a:solidFill>
              <a:srgbClr val="1B5F3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1421070" y="7314009"/>
            <a:ext cx="1122640" cy="151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SEVERITY: CRITICAL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2387</Words>
  <Application>Microsoft Office PowerPoint</Application>
  <PresentationFormat>Custom</PresentationFormat>
  <Paragraphs>301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Alice</vt:lpstr>
      <vt:lpstr>Lora</vt:lpstr>
      <vt:lpstr>Arial</vt:lpstr>
      <vt:lpstr>-apple-system, BlinkMacSystemFont, Segoe UI, Roboto, Helvetica Neue, Arial, sans-serif Medium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shrishanth battu</cp:lastModifiedBy>
  <cp:revision>2</cp:revision>
  <dcterms:created xsi:type="dcterms:W3CDTF">2026-03-25T09:25:07Z</dcterms:created>
  <dcterms:modified xsi:type="dcterms:W3CDTF">2026-03-25T09:26:17Z</dcterms:modified>
</cp:coreProperties>
</file>