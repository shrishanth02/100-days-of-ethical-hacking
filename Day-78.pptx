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7562850" cy="10688638"/>
  <p:notesSz cx="10688638" cy="7562850"/>
  <p:embeddedFontLst>
    <p:embeddedFont>
      <p:font typeface="Alexandria Semi Bold" panose="020B0604020202020204" charset="-78"/>
      <p:regular r:id="rId13"/>
    </p:embeddedFont>
    <p:embeddedFont>
      <p:font typeface="Consolas" panose="020B0609020204030204" pitchFamily="49" charset="0"/>
      <p:regular r:id="rId14"/>
      <p:bold r:id="rId15"/>
      <p:italic r:id="rId16"/>
      <p:boldItalic r:id="rId17"/>
    </p:embeddedFont>
    <p:embeddedFont>
      <p:font typeface="Sora Light"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25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2537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7562026" cy="10689336"/>
          </a:xfrm>
          <a:prstGeom prst="rect">
            <a:avLst/>
          </a:prstGeom>
          <a:solidFill>
            <a:srgbClr val="E7EEF9"/>
          </a:solidFill>
          <a:ln/>
        </p:spPr>
      </p:sp>
      <p:sp>
        <p:nvSpPr>
          <p:cNvPr id="3" name="Shape 1"/>
          <p:cNvSpPr/>
          <p:nvPr/>
        </p:nvSpPr>
        <p:spPr>
          <a:xfrm>
            <a:off x="0" y="0"/>
            <a:ext cx="7562026" cy="10689336"/>
          </a:xfrm>
          <a:prstGeom prst="rect">
            <a:avLst/>
          </a:prstGeom>
          <a:solidFill>
            <a:srgbClr val="FFFAFA"/>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nextgov.com/cybersecurity/2026/03/cisa-launches-investigation-stryker-cyberattack/412079" TargetMode="External"/><Relationship Id="rId4" Type="http://schemas.openxmlformats.org/officeDocument/2006/relationships/hyperlink" Target="https://thecyberexpress.com/the-cyber-express-weekly-roundup-march/"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gbhackers.com/global-authorities-take-down-45000-malicious-ips"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thecyberexpress.com/the-cyber-express-weekly-roundup-march/"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hyperlink" Target="https://gbhackers.com/two-newly-discovered-chrome-zero-days-exploited"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thecyberexpress.com/the-cyber-express-weekly-roundup-march/" TargetMode="External"/><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thecyberexpress.com/the-cyber-express-weekly-roundup-march/"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hyperlink" Target="https://thecyberexpress.com/the-cyber-express-weekly-roundup-march/"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0.png"/><Relationship Id="rId11" Type="http://schemas.openxmlformats.org/officeDocument/2006/relationships/hyperlink" Target="https://cyfirma.com/news/weekly-intelligence-report-13-march-2026" TargetMode="External"/><Relationship Id="rId5" Type="http://schemas.openxmlformats.org/officeDocument/2006/relationships/image" Target="../media/image9.svg"/><Relationship Id="rId10"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hyperlink" Target="https://ncsc.gov.uk/news/ncsc-advises-uk-organisations-take-action-following-conflict-in-middle-east" TargetMode="Externa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64323" y="364812"/>
            <a:ext cx="6633381" cy="880644"/>
          </a:xfrm>
          <a:prstGeom prst="rect">
            <a:avLst/>
          </a:prstGeom>
          <a:noFill/>
          <a:ln/>
        </p:spPr>
        <p:txBody>
          <a:bodyPr wrap="square" lIns="0" tIns="0" rIns="0" bIns="0" rtlCol="0" anchor="t"/>
          <a:lstStyle/>
          <a:p>
            <a:pPr marL="0" indent="0" algn="l">
              <a:lnSpc>
                <a:spcPts val="3400"/>
              </a:lnSpc>
              <a:buNone/>
            </a:pPr>
            <a:r>
              <a:rPr lang="en-US" sz="2700" dirty="0">
                <a:solidFill>
                  <a:srgbClr val="000000"/>
                </a:solidFill>
                <a:latin typeface="Alexandria Semi Bold" pitchFamily="34" charset="0"/>
                <a:ea typeface="Alexandria Semi Bold" pitchFamily="34" charset="-122"/>
                <a:cs typeface="Alexandria Semi Bold" pitchFamily="34" charset="-120"/>
              </a:rPr>
              <a:t>🏥</a:t>
            </a:r>
            <a:r>
              <a:rPr lang="en-US" sz="2700" dirty="0">
                <a:solidFill>
                  <a:srgbClr val="1F1E1E"/>
                </a:solidFill>
                <a:latin typeface="Alexandria Semi Bold" pitchFamily="34" charset="0"/>
                <a:ea typeface="Alexandria Semi Bold" pitchFamily="34" charset="-122"/>
                <a:cs typeface="Alexandria Semi Bold" pitchFamily="34" charset="-120"/>
              </a:rPr>
              <a:t> Iran-Linked Handala Group Wipes 200K Stryker Devices</a:t>
            </a:r>
            <a:endParaRPr lang="en-US" sz="2700" dirty="0"/>
          </a:p>
        </p:txBody>
      </p:sp>
      <p:sp>
        <p:nvSpPr>
          <p:cNvPr id="3" name="Text 1"/>
          <p:cNvSpPr/>
          <p:nvPr/>
        </p:nvSpPr>
        <p:spPr>
          <a:xfrm>
            <a:off x="464323" y="1444417"/>
            <a:ext cx="6633381" cy="1273519"/>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The Iran-linked hacker group </a:t>
            </a:r>
            <a:r>
              <a:rPr lang="en-US" sz="1000" b="1" dirty="0">
                <a:solidFill>
                  <a:srgbClr val="3B3535"/>
                </a:solidFill>
                <a:latin typeface="Sora Light" pitchFamily="34" charset="0"/>
                <a:ea typeface="Sora Light" pitchFamily="34" charset="-122"/>
                <a:cs typeface="Sora Light" pitchFamily="34" charset="-120"/>
              </a:rPr>
              <a:t>Handala</a:t>
            </a:r>
            <a:r>
              <a:rPr lang="en-US" sz="1000" dirty="0">
                <a:solidFill>
                  <a:srgbClr val="3B3535"/>
                </a:solidFill>
                <a:latin typeface="Sora Light" pitchFamily="34" charset="0"/>
                <a:ea typeface="Sora Light" pitchFamily="34" charset="-122"/>
                <a:cs typeface="Sora Light" pitchFamily="34" charset="-120"/>
              </a:rPr>
              <a:t> carried out a massive attack on medical tech giant </a:t>
            </a:r>
            <a:r>
              <a:rPr lang="en-US" sz="1000" b="1" dirty="0">
                <a:solidFill>
                  <a:srgbClr val="3B3535"/>
                </a:solidFill>
                <a:latin typeface="Sora Light" pitchFamily="34" charset="0"/>
                <a:ea typeface="Sora Light" pitchFamily="34" charset="-122"/>
                <a:cs typeface="Sora Light" pitchFamily="34" charset="-120"/>
              </a:rPr>
              <a:t>Stryker Corporation</a:t>
            </a:r>
            <a:r>
              <a:rPr lang="en-US" sz="1000" dirty="0">
                <a:solidFill>
                  <a:srgbClr val="3B3535"/>
                </a:solidFill>
                <a:latin typeface="Sora Light" pitchFamily="34" charset="0"/>
                <a:ea typeface="Sora Light" pitchFamily="34" charset="-122"/>
                <a:cs typeface="Sora Light" pitchFamily="34" charset="-120"/>
              </a:rPr>
              <a:t>, remotely wiping over 200,000 devices across 79 countries and disrupting processing, manufacturing, and shipping globally. The attack targeted Stryker's Microsoft environment and was claimed as retaliation for recent U.S. military strikes on Iran. </a:t>
            </a:r>
            <a:r>
              <a:rPr lang="en-US" sz="1000" b="1" dirty="0">
                <a:solidFill>
                  <a:srgbClr val="3B3535"/>
                </a:solidFill>
                <a:latin typeface="Sora Light" pitchFamily="34" charset="0"/>
                <a:ea typeface="Sora Light" pitchFamily="34" charset="-122"/>
                <a:cs typeface="Sora Light" pitchFamily="34" charset="-120"/>
              </a:rPr>
              <a:t>CISA has launched a formal investigation</a:t>
            </a:r>
            <a:r>
              <a:rPr lang="en-US" sz="1000" dirty="0">
                <a:solidFill>
                  <a:srgbClr val="3B3535"/>
                </a:solidFill>
                <a:latin typeface="Sora Light" pitchFamily="34" charset="0"/>
                <a:ea typeface="Sora Light" pitchFamily="34" charset="-122"/>
                <a:cs typeface="Sora Light" pitchFamily="34" charset="-120"/>
              </a:rPr>
              <a:t> into the incident, marking what one threat intelligence expert called </a:t>
            </a:r>
            <a:r>
              <a:rPr lang="en-US" sz="1000" i="1" dirty="0">
                <a:solidFill>
                  <a:srgbClr val="3B3535"/>
                </a:solidFill>
                <a:latin typeface="Sora Light" pitchFamily="34" charset="0"/>
                <a:ea typeface="Sora Light" pitchFamily="34" charset="-122"/>
                <a:cs typeface="Sora Light" pitchFamily="34" charset="-120"/>
              </a:rPr>
              <a:t>"our first public example of Iranian cyber retaliation in the course of this conflict."</a:t>
            </a:r>
            <a:endParaRPr lang="en-US" sz="1000" dirty="0"/>
          </a:p>
        </p:txBody>
      </p:sp>
      <p:sp>
        <p:nvSpPr>
          <p:cNvPr id="4" name="Shape 2"/>
          <p:cNvSpPr/>
          <p:nvPr/>
        </p:nvSpPr>
        <p:spPr>
          <a:xfrm>
            <a:off x="464323" y="2867171"/>
            <a:ext cx="2122714" cy="1003295"/>
          </a:xfrm>
          <a:prstGeom prst="roundRect">
            <a:avLst>
              <a:gd name="adj" fmla="val 5554"/>
            </a:avLst>
          </a:prstGeom>
          <a:solidFill>
            <a:srgbClr val="D5DCF6"/>
          </a:solidFill>
          <a:ln w="7877">
            <a:solidFill>
              <a:srgbClr val="BBC2DC"/>
            </a:solidFill>
            <a:prstDash val="solid"/>
          </a:ln>
        </p:spPr>
      </p:sp>
      <p:sp>
        <p:nvSpPr>
          <p:cNvPr id="5" name="Text 3"/>
          <p:cNvSpPr/>
          <p:nvPr/>
        </p:nvSpPr>
        <p:spPr>
          <a:xfrm>
            <a:off x="652882" y="3007668"/>
            <a:ext cx="1745594" cy="218223"/>
          </a:xfrm>
          <a:prstGeom prst="rect">
            <a:avLst/>
          </a:prstGeom>
          <a:noFill/>
          <a:ln/>
        </p:spPr>
        <p:txBody>
          <a:bodyPr wrap="none" lIns="0" tIns="0" rIns="0" bIns="0" rtlCol="0" anchor="t"/>
          <a:lstStyle/>
          <a:p>
            <a:pPr marL="0" indent="0" algn="ctr">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Devices Wiped</a:t>
            </a:r>
            <a:endParaRPr lang="en-US" sz="1350" dirty="0"/>
          </a:p>
        </p:txBody>
      </p:sp>
      <p:sp>
        <p:nvSpPr>
          <p:cNvPr id="6" name="Text 4"/>
          <p:cNvSpPr/>
          <p:nvPr/>
        </p:nvSpPr>
        <p:spPr>
          <a:xfrm>
            <a:off x="604819" y="3305463"/>
            <a:ext cx="1841720" cy="424506"/>
          </a:xfrm>
          <a:prstGeom prst="rect">
            <a:avLst/>
          </a:prstGeom>
          <a:noFill/>
          <a:ln/>
        </p:spPr>
        <p:txBody>
          <a:bodyPr wrap="square" lIns="0" tIns="0" rIns="0" bIns="0" rtlCol="0" anchor="t"/>
          <a:lstStyle/>
          <a:p>
            <a:pPr marL="0" indent="0" algn="ctr">
              <a:lnSpc>
                <a:spcPts val="1650"/>
              </a:lnSpc>
              <a:buNone/>
            </a:pPr>
            <a:r>
              <a:rPr lang="en-US" sz="1000" dirty="0">
                <a:solidFill>
                  <a:srgbClr val="3B3535"/>
                </a:solidFill>
                <a:latin typeface="Sora Light" pitchFamily="34" charset="0"/>
                <a:ea typeface="Sora Light" pitchFamily="34" charset="-122"/>
                <a:cs typeface="Sora Light" pitchFamily="34" charset="-120"/>
              </a:rPr>
              <a:t>Remotely wiped across the globe</a:t>
            </a:r>
            <a:endParaRPr lang="en-US" sz="1000" dirty="0"/>
          </a:p>
        </p:txBody>
      </p:sp>
      <p:sp>
        <p:nvSpPr>
          <p:cNvPr id="7" name="Shape 5"/>
          <p:cNvSpPr/>
          <p:nvPr/>
        </p:nvSpPr>
        <p:spPr>
          <a:xfrm>
            <a:off x="2719656" y="2867171"/>
            <a:ext cx="2122714" cy="1003295"/>
          </a:xfrm>
          <a:prstGeom prst="roundRect">
            <a:avLst>
              <a:gd name="adj" fmla="val 5554"/>
            </a:avLst>
          </a:prstGeom>
          <a:solidFill>
            <a:srgbClr val="D5DCF6"/>
          </a:solidFill>
          <a:ln w="7877">
            <a:solidFill>
              <a:srgbClr val="BBC2DC"/>
            </a:solidFill>
            <a:prstDash val="solid"/>
          </a:ln>
        </p:spPr>
      </p:sp>
      <p:sp>
        <p:nvSpPr>
          <p:cNvPr id="8" name="Text 6"/>
          <p:cNvSpPr/>
          <p:nvPr/>
        </p:nvSpPr>
        <p:spPr>
          <a:xfrm>
            <a:off x="2908216" y="3007668"/>
            <a:ext cx="1745594" cy="218223"/>
          </a:xfrm>
          <a:prstGeom prst="rect">
            <a:avLst/>
          </a:prstGeom>
          <a:noFill/>
          <a:ln/>
        </p:spPr>
        <p:txBody>
          <a:bodyPr wrap="none" lIns="0" tIns="0" rIns="0" bIns="0" rtlCol="0" anchor="t"/>
          <a:lstStyle/>
          <a:p>
            <a:pPr marL="0" indent="0" algn="ctr">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Countries Affected</a:t>
            </a:r>
            <a:endParaRPr lang="en-US" sz="1350" dirty="0"/>
          </a:p>
        </p:txBody>
      </p:sp>
      <p:sp>
        <p:nvSpPr>
          <p:cNvPr id="9" name="Text 7"/>
          <p:cNvSpPr/>
          <p:nvPr/>
        </p:nvSpPr>
        <p:spPr>
          <a:xfrm>
            <a:off x="2860153" y="3305463"/>
            <a:ext cx="1841720" cy="424506"/>
          </a:xfrm>
          <a:prstGeom prst="rect">
            <a:avLst/>
          </a:prstGeom>
          <a:noFill/>
          <a:ln/>
        </p:spPr>
        <p:txBody>
          <a:bodyPr wrap="square" lIns="0" tIns="0" rIns="0" bIns="0" rtlCol="0" anchor="t"/>
          <a:lstStyle/>
          <a:p>
            <a:pPr marL="0" indent="0" algn="ctr">
              <a:lnSpc>
                <a:spcPts val="1650"/>
              </a:lnSpc>
              <a:buNone/>
            </a:pPr>
            <a:r>
              <a:rPr lang="en-US" sz="1000" dirty="0">
                <a:solidFill>
                  <a:srgbClr val="3B3535"/>
                </a:solidFill>
                <a:latin typeface="Sora Light" pitchFamily="34" charset="0"/>
                <a:ea typeface="Sora Light" pitchFamily="34" charset="-122"/>
                <a:cs typeface="Sora Light" pitchFamily="34" charset="-120"/>
              </a:rPr>
              <a:t>Global disruption to operations</a:t>
            </a:r>
            <a:endParaRPr lang="en-US" sz="1000" dirty="0"/>
          </a:p>
        </p:txBody>
      </p:sp>
      <p:sp>
        <p:nvSpPr>
          <p:cNvPr id="10" name="Shape 8"/>
          <p:cNvSpPr/>
          <p:nvPr/>
        </p:nvSpPr>
        <p:spPr>
          <a:xfrm>
            <a:off x="4974990" y="2867171"/>
            <a:ext cx="2122714" cy="1003295"/>
          </a:xfrm>
          <a:prstGeom prst="roundRect">
            <a:avLst>
              <a:gd name="adj" fmla="val 5554"/>
            </a:avLst>
          </a:prstGeom>
          <a:solidFill>
            <a:srgbClr val="D5DCF6"/>
          </a:solidFill>
          <a:ln w="7877">
            <a:solidFill>
              <a:srgbClr val="BBC2DC"/>
            </a:solidFill>
            <a:prstDash val="solid"/>
          </a:ln>
        </p:spPr>
      </p:sp>
      <p:sp>
        <p:nvSpPr>
          <p:cNvPr id="11" name="Text 9"/>
          <p:cNvSpPr/>
          <p:nvPr/>
        </p:nvSpPr>
        <p:spPr>
          <a:xfrm>
            <a:off x="5163550" y="3007668"/>
            <a:ext cx="1745594" cy="218223"/>
          </a:xfrm>
          <a:prstGeom prst="rect">
            <a:avLst/>
          </a:prstGeom>
          <a:noFill/>
          <a:ln/>
        </p:spPr>
        <p:txBody>
          <a:bodyPr wrap="none" lIns="0" tIns="0" rIns="0" bIns="0" rtlCol="0" anchor="t"/>
          <a:lstStyle/>
          <a:p>
            <a:pPr marL="0" indent="0" algn="ctr">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CISA Investigation</a:t>
            </a:r>
            <a:endParaRPr lang="en-US" sz="1350" dirty="0"/>
          </a:p>
        </p:txBody>
      </p:sp>
      <p:sp>
        <p:nvSpPr>
          <p:cNvPr id="12" name="Text 10"/>
          <p:cNvSpPr/>
          <p:nvPr/>
        </p:nvSpPr>
        <p:spPr>
          <a:xfrm>
            <a:off x="5115487" y="3305463"/>
            <a:ext cx="1841720" cy="424506"/>
          </a:xfrm>
          <a:prstGeom prst="rect">
            <a:avLst/>
          </a:prstGeom>
          <a:noFill/>
          <a:ln/>
        </p:spPr>
        <p:txBody>
          <a:bodyPr wrap="square" lIns="0" tIns="0" rIns="0" bIns="0" rtlCol="0" anchor="t"/>
          <a:lstStyle/>
          <a:p>
            <a:pPr marL="0" indent="0" algn="ctr">
              <a:lnSpc>
                <a:spcPts val="1650"/>
              </a:lnSpc>
              <a:buNone/>
            </a:pPr>
            <a:r>
              <a:rPr lang="en-US" sz="1000" dirty="0">
                <a:solidFill>
                  <a:srgbClr val="3B3535"/>
                </a:solidFill>
                <a:latin typeface="Sora Light" pitchFamily="34" charset="0"/>
                <a:ea typeface="Sora Light" pitchFamily="34" charset="-122"/>
                <a:cs typeface="Sora Light" pitchFamily="34" charset="-120"/>
              </a:rPr>
              <a:t>Formal investigation launched</a:t>
            </a:r>
            <a:endParaRPr lang="en-US" sz="1000" dirty="0"/>
          </a:p>
        </p:txBody>
      </p:sp>
      <p:sp>
        <p:nvSpPr>
          <p:cNvPr id="13" name="Shape 11"/>
          <p:cNvSpPr/>
          <p:nvPr/>
        </p:nvSpPr>
        <p:spPr>
          <a:xfrm>
            <a:off x="464323" y="4019701"/>
            <a:ext cx="6633381" cy="563649"/>
          </a:xfrm>
          <a:prstGeom prst="roundRect">
            <a:avLst>
              <a:gd name="adj" fmla="val 9886"/>
            </a:avLst>
          </a:prstGeom>
          <a:solidFill>
            <a:srgbClr val="C0CAF2"/>
          </a:solidFill>
          <a:ln/>
        </p:spPr>
      </p:sp>
      <p:pic>
        <p:nvPicPr>
          <p:cNvPr id="14" name="Image 0" descr="preencoded.png"/>
          <p:cNvPicPr>
            <a:picLocks noChangeAspect="1"/>
          </p:cNvPicPr>
          <p:nvPr/>
        </p:nvPicPr>
        <p:blipFill>
          <a:blip r:embed="rId3"/>
          <a:stretch>
            <a:fillRect/>
          </a:stretch>
        </p:blipFill>
        <p:spPr>
          <a:xfrm>
            <a:off x="596942" y="4219031"/>
            <a:ext cx="165790" cy="132620"/>
          </a:xfrm>
          <a:prstGeom prst="rect">
            <a:avLst/>
          </a:prstGeom>
        </p:spPr>
      </p:pic>
      <p:sp>
        <p:nvSpPr>
          <p:cNvPr id="15" name="Text 12"/>
          <p:cNvSpPr/>
          <p:nvPr/>
        </p:nvSpPr>
        <p:spPr>
          <a:xfrm>
            <a:off x="895352" y="4185430"/>
            <a:ext cx="6069733" cy="212253"/>
          </a:xfrm>
          <a:prstGeom prst="rect">
            <a:avLst/>
          </a:prstGeom>
          <a:noFill/>
          <a:ln/>
        </p:spPr>
        <p:txBody>
          <a:bodyPr wrap="none" lIns="0" tIns="0" rIns="0" bIns="0" rtlCol="0" anchor="t"/>
          <a:lstStyle/>
          <a:p>
            <a:pPr marL="0" indent="0" algn="l">
              <a:lnSpc>
                <a:spcPts val="1650"/>
              </a:lnSpc>
              <a:buNone/>
            </a:pPr>
            <a:r>
              <a:rPr lang="en-US" sz="1000" dirty="0">
                <a:solidFill>
                  <a:srgbClr val="000000"/>
                </a:solidFill>
                <a:latin typeface="Sora Light" pitchFamily="34" charset="0"/>
                <a:ea typeface="Sora Light" pitchFamily="34" charset="-122"/>
                <a:cs typeface="Sora Light" pitchFamily="34" charset="-120"/>
              </a:rPr>
              <a:t>🔗 Sources: </a:t>
            </a:r>
            <a:r>
              <a:rPr lang="en-US" sz="1000" u="sng" dirty="0">
                <a:solidFill>
                  <a:srgbClr val="1A2D7A"/>
                </a:solidFill>
                <a:latin typeface="Sora Light" pitchFamily="34" charset="0"/>
                <a:ea typeface="Sora Light" pitchFamily="34" charset="-122"/>
                <a:cs typeface="Sora Light" pitchFamily="34" charset="-120"/>
                <a:hlinkClick r:id="rId4">
                  <a:extLst>
                    <a:ext uri="{A12FA001-AC4F-418D-AE19-62706E023703}">
                      <ahyp:hlinkClr xmlns:ahyp="http://schemas.microsoft.com/office/drawing/2018/hyperlinkcolor" val="tx"/>
                    </a:ext>
                  </a:extLst>
                </a:hlinkClick>
              </a:rPr>
              <a:t>The Cyber Express Weekly Roundup</a:t>
            </a:r>
            <a:r>
              <a:rPr lang="en-US" sz="1000" dirty="0">
                <a:solidFill>
                  <a:srgbClr val="000000"/>
                </a:solidFill>
                <a:latin typeface="Sora Light" pitchFamily="34" charset="0"/>
                <a:ea typeface="Sora Light" pitchFamily="34" charset="-122"/>
                <a:cs typeface="Sora Light" pitchFamily="34" charset="-120"/>
              </a:rPr>
              <a:t> | </a:t>
            </a:r>
            <a:r>
              <a:rPr lang="en-US" sz="1000" u="sng" dirty="0">
                <a:solidFill>
                  <a:srgbClr val="1A2D7A"/>
                </a:solidFill>
                <a:latin typeface="Sora Light" pitchFamily="34" charset="0"/>
                <a:ea typeface="Sora Light" pitchFamily="34" charset="-122"/>
                <a:cs typeface="Sora Light" pitchFamily="34" charset="-120"/>
                <a:hlinkClick r:id="rId5">
                  <a:extLst>
                    <a:ext uri="{A12FA001-AC4F-418D-AE19-62706E023703}">
                      <ahyp:hlinkClr xmlns:ahyp="http://schemas.microsoft.com/office/drawing/2018/hyperlinkcolor" val="tx"/>
                    </a:ext>
                  </a:extLst>
                </a:hlinkClick>
              </a:rPr>
              <a:t>Nextgov — CISA Investigation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726243" y="0"/>
            <a:ext cx="2835721" cy="10689336"/>
          </a:xfrm>
          <a:prstGeom prst="rect">
            <a:avLst/>
          </a:prstGeom>
        </p:spPr>
      </p:pic>
      <p:sp>
        <p:nvSpPr>
          <p:cNvPr id="3" name="Text 0"/>
          <p:cNvSpPr/>
          <p:nvPr/>
        </p:nvSpPr>
        <p:spPr>
          <a:xfrm>
            <a:off x="464323" y="364812"/>
            <a:ext cx="3797598" cy="1753411"/>
          </a:xfrm>
          <a:prstGeom prst="rect">
            <a:avLst/>
          </a:prstGeom>
          <a:noFill/>
          <a:ln/>
        </p:spPr>
        <p:txBody>
          <a:bodyPr wrap="square" lIns="0" tIns="0" rIns="0" bIns="0" rtlCol="0" anchor="t"/>
          <a:lstStyle/>
          <a:p>
            <a:pPr marL="0" indent="0" algn="l">
              <a:lnSpc>
                <a:spcPts val="3400"/>
              </a:lnSpc>
              <a:buNone/>
            </a:pPr>
            <a:r>
              <a:rPr lang="en-US" sz="2700" dirty="0">
                <a:solidFill>
                  <a:srgbClr val="000000"/>
                </a:solidFill>
                <a:latin typeface="Alexandria Semi Bold" pitchFamily="34" charset="0"/>
                <a:ea typeface="Alexandria Semi Bold" pitchFamily="34" charset="-122"/>
                <a:cs typeface="Alexandria Semi Bold" pitchFamily="34" charset="-120"/>
              </a:rPr>
              <a:t>🌐</a:t>
            </a:r>
            <a:r>
              <a:rPr lang="en-US" sz="2700" dirty="0">
                <a:solidFill>
                  <a:srgbClr val="1F1E1E"/>
                </a:solidFill>
                <a:latin typeface="Alexandria Semi Bold" pitchFamily="34" charset="0"/>
                <a:ea typeface="Alexandria Semi Bold" pitchFamily="34" charset="-122"/>
                <a:cs typeface="Alexandria Semi Bold" pitchFamily="34" charset="-120"/>
              </a:rPr>
              <a:t> Operation Synergia III: 45,000 Malicious IPs Taken Down</a:t>
            </a:r>
            <a:endParaRPr lang="en-US" sz="2700" dirty="0"/>
          </a:p>
        </p:txBody>
      </p:sp>
      <p:sp>
        <p:nvSpPr>
          <p:cNvPr id="4" name="Text 1"/>
          <p:cNvSpPr/>
          <p:nvPr/>
        </p:nvSpPr>
        <p:spPr>
          <a:xfrm>
            <a:off x="464323" y="2317184"/>
            <a:ext cx="3797598" cy="849013"/>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In a major global law enforcement win, </a:t>
            </a:r>
            <a:r>
              <a:rPr lang="en-US" sz="1000" b="1" dirty="0">
                <a:solidFill>
                  <a:srgbClr val="3B3535"/>
                </a:solidFill>
                <a:latin typeface="Sora Light" pitchFamily="34" charset="0"/>
                <a:ea typeface="Sora Light" pitchFamily="34" charset="-122"/>
                <a:cs typeface="Sora Light" pitchFamily="34" charset="-120"/>
              </a:rPr>
              <a:t>INTERPOL</a:t>
            </a:r>
            <a:r>
              <a:rPr lang="en-US" sz="1000" dirty="0">
                <a:solidFill>
                  <a:srgbClr val="3B3535"/>
                </a:solidFill>
                <a:latin typeface="Sora Light" pitchFamily="34" charset="0"/>
                <a:ea typeface="Sora Light" pitchFamily="34" charset="-122"/>
                <a:cs typeface="Sora Light" pitchFamily="34" charset="-120"/>
              </a:rPr>
              <a:t> — working with Group-IB, Trend Micro, and S2W — dismantled </a:t>
            </a:r>
            <a:r>
              <a:rPr lang="en-US" sz="1000" b="1" dirty="0">
                <a:solidFill>
                  <a:srgbClr val="3B3535"/>
                </a:solidFill>
                <a:latin typeface="Sora Light" pitchFamily="34" charset="0"/>
                <a:ea typeface="Sora Light" pitchFamily="34" charset="-122"/>
                <a:cs typeface="Sora Light" pitchFamily="34" charset="-120"/>
              </a:rPr>
              <a:t>45,000 malicious IPs</a:t>
            </a:r>
            <a:r>
              <a:rPr lang="en-US" sz="1000" dirty="0">
                <a:solidFill>
                  <a:srgbClr val="3B3535"/>
                </a:solidFill>
                <a:latin typeface="Sora Light" pitchFamily="34" charset="0"/>
                <a:ea typeface="Sora Light" pitchFamily="34" charset="-122"/>
                <a:cs typeface="Sora Light" pitchFamily="34" charset="-120"/>
              </a:rPr>
              <a:t> used in ransomware campaigns under </a:t>
            </a:r>
            <a:r>
              <a:rPr lang="en-US" sz="1000" i="1" dirty="0">
                <a:solidFill>
                  <a:srgbClr val="3B3535"/>
                </a:solidFill>
                <a:latin typeface="Sora Light" pitchFamily="34" charset="0"/>
                <a:ea typeface="Sora Light" pitchFamily="34" charset="-122"/>
                <a:cs typeface="Sora Light" pitchFamily="34" charset="-120"/>
              </a:rPr>
              <a:t>Operation Synergia III</a:t>
            </a:r>
            <a:r>
              <a:rPr lang="en-US" sz="1000" dirty="0">
                <a:solidFill>
                  <a:srgbClr val="3B3535"/>
                </a:solidFill>
                <a:latin typeface="Sora Light" pitchFamily="34" charset="0"/>
                <a:ea typeface="Sora Light" pitchFamily="34" charset="-122"/>
                <a:cs typeface="Sora Light" pitchFamily="34" charset="-120"/>
              </a:rPr>
              <a:t>.</a:t>
            </a:r>
            <a:endParaRPr lang="en-US" sz="1000" dirty="0"/>
          </a:p>
        </p:txBody>
      </p:sp>
      <p:sp>
        <p:nvSpPr>
          <p:cNvPr id="5" name="Shape 2"/>
          <p:cNvSpPr/>
          <p:nvPr/>
        </p:nvSpPr>
        <p:spPr>
          <a:xfrm>
            <a:off x="464323" y="3315432"/>
            <a:ext cx="3797598" cy="791041"/>
          </a:xfrm>
          <a:prstGeom prst="roundRect">
            <a:avLst>
              <a:gd name="adj" fmla="val 7044"/>
            </a:avLst>
          </a:prstGeom>
          <a:solidFill>
            <a:srgbClr val="D5DCF6"/>
          </a:solidFill>
          <a:ln w="7877">
            <a:solidFill>
              <a:srgbClr val="BBC2DC"/>
            </a:solidFill>
            <a:prstDash val="solid"/>
          </a:ln>
        </p:spPr>
      </p:sp>
      <p:sp>
        <p:nvSpPr>
          <p:cNvPr id="6" name="Text 3"/>
          <p:cNvSpPr/>
          <p:nvPr/>
        </p:nvSpPr>
        <p:spPr>
          <a:xfrm>
            <a:off x="604819" y="3455929"/>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INTERPOL</a:t>
            </a:r>
            <a:endParaRPr lang="en-US" sz="1350" dirty="0"/>
          </a:p>
        </p:txBody>
      </p:sp>
      <p:sp>
        <p:nvSpPr>
          <p:cNvPr id="7" name="Text 4"/>
          <p:cNvSpPr/>
          <p:nvPr/>
        </p:nvSpPr>
        <p:spPr>
          <a:xfrm>
            <a:off x="604819" y="3753723"/>
            <a:ext cx="3516605" cy="212253"/>
          </a:xfrm>
          <a:prstGeom prst="rect">
            <a:avLst/>
          </a:prstGeom>
          <a:noFill/>
          <a:ln/>
        </p:spPr>
        <p:txBody>
          <a:bodyPr wrap="non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Lead coordinating authority for the global operation</a:t>
            </a:r>
            <a:endParaRPr lang="en-US" sz="1000" dirty="0"/>
          </a:p>
        </p:txBody>
      </p:sp>
      <p:sp>
        <p:nvSpPr>
          <p:cNvPr id="8" name="Shape 5"/>
          <p:cNvSpPr/>
          <p:nvPr/>
        </p:nvSpPr>
        <p:spPr>
          <a:xfrm>
            <a:off x="464323" y="4239093"/>
            <a:ext cx="3797598" cy="791041"/>
          </a:xfrm>
          <a:prstGeom prst="roundRect">
            <a:avLst>
              <a:gd name="adj" fmla="val 7044"/>
            </a:avLst>
          </a:prstGeom>
          <a:solidFill>
            <a:srgbClr val="D5DCF6"/>
          </a:solidFill>
          <a:ln w="7877">
            <a:solidFill>
              <a:srgbClr val="BBC2DC"/>
            </a:solidFill>
            <a:prstDash val="solid"/>
          </a:ln>
        </p:spPr>
      </p:sp>
      <p:sp>
        <p:nvSpPr>
          <p:cNvPr id="9" name="Text 6"/>
          <p:cNvSpPr/>
          <p:nvPr/>
        </p:nvSpPr>
        <p:spPr>
          <a:xfrm>
            <a:off x="604819" y="4379590"/>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Group-IB</a:t>
            </a:r>
            <a:endParaRPr lang="en-US" sz="1350" dirty="0"/>
          </a:p>
        </p:txBody>
      </p:sp>
      <p:sp>
        <p:nvSpPr>
          <p:cNvPr id="10" name="Text 7"/>
          <p:cNvSpPr/>
          <p:nvPr/>
        </p:nvSpPr>
        <p:spPr>
          <a:xfrm>
            <a:off x="604819" y="4677385"/>
            <a:ext cx="3516605" cy="212253"/>
          </a:xfrm>
          <a:prstGeom prst="rect">
            <a:avLst/>
          </a:prstGeom>
          <a:noFill/>
          <a:ln/>
        </p:spPr>
        <p:txBody>
          <a:bodyPr wrap="non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Threat intelligence partner supporting takedown</a:t>
            </a:r>
            <a:endParaRPr lang="en-US" sz="1000" dirty="0"/>
          </a:p>
        </p:txBody>
      </p:sp>
      <p:sp>
        <p:nvSpPr>
          <p:cNvPr id="11" name="Shape 8"/>
          <p:cNvSpPr/>
          <p:nvPr/>
        </p:nvSpPr>
        <p:spPr>
          <a:xfrm>
            <a:off x="464323" y="5162754"/>
            <a:ext cx="3797598" cy="791041"/>
          </a:xfrm>
          <a:prstGeom prst="roundRect">
            <a:avLst>
              <a:gd name="adj" fmla="val 7044"/>
            </a:avLst>
          </a:prstGeom>
          <a:solidFill>
            <a:srgbClr val="D5DCF6"/>
          </a:solidFill>
          <a:ln w="7877">
            <a:solidFill>
              <a:srgbClr val="BBC2DC"/>
            </a:solidFill>
            <a:prstDash val="solid"/>
          </a:ln>
        </p:spPr>
      </p:sp>
      <p:sp>
        <p:nvSpPr>
          <p:cNvPr id="12" name="Text 9"/>
          <p:cNvSpPr/>
          <p:nvPr/>
        </p:nvSpPr>
        <p:spPr>
          <a:xfrm>
            <a:off x="604819" y="5303251"/>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Trend Micro</a:t>
            </a:r>
            <a:endParaRPr lang="en-US" sz="1350" dirty="0"/>
          </a:p>
        </p:txBody>
      </p:sp>
      <p:sp>
        <p:nvSpPr>
          <p:cNvPr id="13" name="Text 10"/>
          <p:cNvSpPr/>
          <p:nvPr/>
        </p:nvSpPr>
        <p:spPr>
          <a:xfrm>
            <a:off x="604819" y="5601046"/>
            <a:ext cx="3516605" cy="212253"/>
          </a:xfrm>
          <a:prstGeom prst="rect">
            <a:avLst/>
          </a:prstGeom>
          <a:noFill/>
          <a:ln/>
        </p:spPr>
        <p:txBody>
          <a:bodyPr wrap="non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Cybersecurity partner providing technical analysis</a:t>
            </a:r>
            <a:endParaRPr lang="en-US" sz="1000" dirty="0"/>
          </a:p>
        </p:txBody>
      </p:sp>
      <p:sp>
        <p:nvSpPr>
          <p:cNvPr id="14" name="Shape 11"/>
          <p:cNvSpPr/>
          <p:nvPr/>
        </p:nvSpPr>
        <p:spPr>
          <a:xfrm>
            <a:off x="464323" y="6086415"/>
            <a:ext cx="3797598" cy="791041"/>
          </a:xfrm>
          <a:prstGeom prst="roundRect">
            <a:avLst>
              <a:gd name="adj" fmla="val 7044"/>
            </a:avLst>
          </a:prstGeom>
          <a:solidFill>
            <a:srgbClr val="D5DCF6"/>
          </a:solidFill>
          <a:ln w="7877">
            <a:solidFill>
              <a:srgbClr val="BBC2DC"/>
            </a:solidFill>
            <a:prstDash val="solid"/>
          </a:ln>
        </p:spPr>
      </p:sp>
      <p:sp>
        <p:nvSpPr>
          <p:cNvPr id="15" name="Text 12"/>
          <p:cNvSpPr/>
          <p:nvPr/>
        </p:nvSpPr>
        <p:spPr>
          <a:xfrm>
            <a:off x="604819" y="6226912"/>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S2W</a:t>
            </a:r>
            <a:endParaRPr lang="en-US" sz="1350" dirty="0"/>
          </a:p>
        </p:txBody>
      </p:sp>
      <p:sp>
        <p:nvSpPr>
          <p:cNvPr id="16" name="Text 13"/>
          <p:cNvSpPr/>
          <p:nvPr/>
        </p:nvSpPr>
        <p:spPr>
          <a:xfrm>
            <a:off x="604819" y="6524707"/>
            <a:ext cx="3516605" cy="212253"/>
          </a:xfrm>
          <a:prstGeom prst="rect">
            <a:avLst/>
          </a:prstGeom>
          <a:noFill/>
          <a:ln/>
        </p:spPr>
        <p:txBody>
          <a:bodyPr wrap="non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Dark web intelligence partner in the operation</a:t>
            </a:r>
            <a:endParaRPr lang="en-US" sz="1000" dirty="0"/>
          </a:p>
        </p:txBody>
      </p:sp>
      <p:sp>
        <p:nvSpPr>
          <p:cNvPr id="17" name="Text 14"/>
          <p:cNvSpPr/>
          <p:nvPr/>
        </p:nvSpPr>
        <p:spPr>
          <a:xfrm>
            <a:off x="464323" y="7092972"/>
            <a:ext cx="3797598" cy="437799"/>
          </a:xfrm>
          <a:prstGeom prst="rect">
            <a:avLst/>
          </a:prstGeom>
          <a:noFill/>
          <a:ln/>
        </p:spPr>
        <p:txBody>
          <a:bodyPr wrap="none" lIns="0" tIns="0" rIns="0" bIns="0" rtlCol="0" anchor="t"/>
          <a:lstStyle/>
          <a:p>
            <a:pPr marL="0" indent="0" algn="ctr">
              <a:lnSpc>
                <a:spcPts val="3400"/>
              </a:lnSpc>
              <a:buNone/>
            </a:pPr>
            <a:r>
              <a:rPr lang="en-US" sz="3400" dirty="0">
                <a:solidFill>
                  <a:srgbClr val="3B3535"/>
                </a:solidFill>
                <a:latin typeface="Alexandria Semi Bold" pitchFamily="34" charset="0"/>
                <a:ea typeface="Alexandria Semi Bold" pitchFamily="34" charset="-122"/>
                <a:cs typeface="Alexandria Semi Bold" pitchFamily="34" charset="-120"/>
              </a:rPr>
              <a:t>45K</a:t>
            </a:r>
            <a:endParaRPr lang="en-US" sz="3400" dirty="0"/>
          </a:p>
        </p:txBody>
      </p:sp>
      <p:sp>
        <p:nvSpPr>
          <p:cNvPr id="18" name="Text 15"/>
          <p:cNvSpPr/>
          <p:nvPr/>
        </p:nvSpPr>
        <p:spPr>
          <a:xfrm>
            <a:off x="1490325" y="7696499"/>
            <a:ext cx="1745594" cy="218223"/>
          </a:xfrm>
          <a:prstGeom prst="rect">
            <a:avLst/>
          </a:prstGeom>
          <a:noFill/>
          <a:ln/>
        </p:spPr>
        <p:txBody>
          <a:bodyPr wrap="none" lIns="0" tIns="0" rIns="0" bIns="0" rtlCol="0" anchor="t"/>
          <a:lstStyle/>
          <a:p>
            <a:pPr marL="0" indent="0" algn="ctr">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Malicious IPs</a:t>
            </a:r>
            <a:endParaRPr lang="en-US" sz="1350" dirty="0"/>
          </a:p>
        </p:txBody>
      </p:sp>
      <p:sp>
        <p:nvSpPr>
          <p:cNvPr id="19" name="Text 16"/>
          <p:cNvSpPr/>
          <p:nvPr/>
        </p:nvSpPr>
        <p:spPr>
          <a:xfrm>
            <a:off x="464323" y="7994294"/>
            <a:ext cx="3797598" cy="212253"/>
          </a:xfrm>
          <a:prstGeom prst="rect">
            <a:avLst/>
          </a:prstGeom>
          <a:noFill/>
          <a:ln/>
        </p:spPr>
        <p:txBody>
          <a:bodyPr wrap="none" lIns="0" tIns="0" rIns="0" bIns="0" rtlCol="0" anchor="t"/>
          <a:lstStyle/>
          <a:p>
            <a:pPr marL="0" indent="0" algn="ctr">
              <a:lnSpc>
                <a:spcPts val="1650"/>
              </a:lnSpc>
              <a:buNone/>
            </a:pPr>
            <a:r>
              <a:rPr lang="en-US" sz="1000" dirty="0">
                <a:solidFill>
                  <a:srgbClr val="3B3535"/>
                </a:solidFill>
                <a:latin typeface="Sora Light" pitchFamily="34" charset="0"/>
                <a:ea typeface="Sora Light" pitchFamily="34" charset="-122"/>
                <a:cs typeface="Sora Light" pitchFamily="34" charset="-120"/>
              </a:rPr>
              <a:t>Dismantled in ransomware campaigns</a:t>
            </a:r>
            <a:endParaRPr lang="en-US" sz="1000" dirty="0"/>
          </a:p>
        </p:txBody>
      </p:sp>
      <p:sp>
        <p:nvSpPr>
          <p:cNvPr id="20" name="Shape 17"/>
          <p:cNvSpPr/>
          <p:nvPr/>
        </p:nvSpPr>
        <p:spPr>
          <a:xfrm>
            <a:off x="464323" y="8355782"/>
            <a:ext cx="3797598" cy="775902"/>
          </a:xfrm>
          <a:prstGeom prst="roundRect">
            <a:avLst>
              <a:gd name="adj" fmla="val 7181"/>
            </a:avLst>
          </a:prstGeom>
          <a:solidFill>
            <a:srgbClr val="C0CAF2"/>
          </a:solidFill>
          <a:ln/>
        </p:spPr>
      </p:sp>
      <p:pic>
        <p:nvPicPr>
          <p:cNvPr id="21" name="Image 1" descr="preencoded.png"/>
          <p:cNvPicPr>
            <a:picLocks noChangeAspect="1"/>
          </p:cNvPicPr>
          <p:nvPr/>
        </p:nvPicPr>
        <p:blipFill>
          <a:blip r:embed="rId4"/>
          <a:stretch>
            <a:fillRect/>
          </a:stretch>
        </p:blipFill>
        <p:spPr>
          <a:xfrm>
            <a:off x="596942" y="8555112"/>
            <a:ext cx="165790" cy="132620"/>
          </a:xfrm>
          <a:prstGeom prst="rect">
            <a:avLst/>
          </a:prstGeom>
        </p:spPr>
      </p:pic>
      <p:sp>
        <p:nvSpPr>
          <p:cNvPr id="22" name="Text 18"/>
          <p:cNvSpPr/>
          <p:nvPr/>
        </p:nvSpPr>
        <p:spPr>
          <a:xfrm>
            <a:off x="895352" y="8521511"/>
            <a:ext cx="3233950" cy="424506"/>
          </a:xfrm>
          <a:prstGeom prst="rect">
            <a:avLst/>
          </a:prstGeom>
          <a:noFill/>
          <a:ln/>
        </p:spPr>
        <p:txBody>
          <a:bodyPr wrap="square" lIns="0" tIns="0" rIns="0" bIns="0" rtlCol="0" anchor="t"/>
          <a:lstStyle/>
          <a:p>
            <a:pPr marL="0" indent="0" algn="l">
              <a:lnSpc>
                <a:spcPts val="1650"/>
              </a:lnSpc>
              <a:buNone/>
            </a:pPr>
            <a:r>
              <a:rPr lang="en-US" sz="1000" dirty="0">
                <a:solidFill>
                  <a:srgbClr val="000000"/>
                </a:solidFill>
                <a:latin typeface="Sora Light" pitchFamily="34" charset="0"/>
                <a:ea typeface="Sora Light" pitchFamily="34" charset="-122"/>
                <a:cs typeface="Sora Light" pitchFamily="34" charset="-120"/>
              </a:rPr>
              <a:t>🔗 Source: </a:t>
            </a:r>
            <a:r>
              <a:rPr lang="en-US" sz="1000" u="sng" dirty="0">
                <a:solidFill>
                  <a:srgbClr val="1A2D7A"/>
                </a:solidFill>
                <a:latin typeface="Sora Light" pitchFamily="34" charset="0"/>
                <a:ea typeface="Sora Light" pitchFamily="34" charset="-122"/>
                <a:cs typeface="Sora Light" pitchFamily="34" charset="-120"/>
                <a:hlinkClick r:id="rId5">
                  <a:extLst>
                    <a:ext uri="{A12FA001-AC4F-418D-AE19-62706E023703}">
                      <ahyp:hlinkClr xmlns:ahyp="http://schemas.microsoft.com/office/drawing/2018/hyperlinkcolor" val="tx"/>
                    </a:ext>
                  </a:extLst>
                </a:hlinkClick>
              </a:rPr>
              <a:t>GBHackers — Global Authorities Take Down 45,000 Malicious IPs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64323" y="364812"/>
            <a:ext cx="6633381" cy="880644"/>
          </a:xfrm>
          <a:prstGeom prst="rect">
            <a:avLst/>
          </a:prstGeom>
          <a:noFill/>
          <a:ln/>
        </p:spPr>
        <p:txBody>
          <a:bodyPr wrap="square" lIns="0" tIns="0" rIns="0" bIns="0" rtlCol="0" anchor="t"/>
          <a:lstStyle/>
          <a:p>
            <a:pPr marL="0" indent="0" algn="l">
              <a:lnSpc>
                <a:spcPts val="3400"/>
              </a:lnSpc>
              <a:buNone/>
            </a:pPr>
            <a:r>
              <a:rPr lang="en-US" sz="2700" dirty="0">
                <a:solidFill>
                  <a:srgbClr val="000000"/>
                </a:solidFill>
                <a:latin typeface="Alexandria Semi Bold" pitchFamily="34" charset="0"/>
                <a:ea typeface="Alexandria Semi Bold" pitchFamily="34" charset="-122"/>
                <a:cs typeface="Alexandria Semi Bold" pitchFamily="34" charset="-120"/>
              </a:rPr>
              <a:t>🪟</a:t>
            </a:r>
            <a:r>
              <a:rPr lang="en-US" sz="2700" dirty="0">
                <a:solidFill>
                  <a:srgbClr val="1F1E1E"/>
                </a:solidFill>
                <a:latin typeface="Alexandria Semi Bold" pitchFamily="34" charset="0"/>
                <a:ea typeface="Alexandria Semi Bold" pitchFamily="34" charset="-122"/>
                <a:cs typeface="Alexandria Semi Bold" pitchFamily="34" charset="-120"/>
              </a:rPr>
              <a:t> Microsoft March 2026 Patch Tuesday</a:t>
            </a:r>
            <a:endParaRPr lang="en-US" sz="2700" dirty="0"/>
          </a:p>
        </p:txBody>
      </p:sp>
      <p:sp>
        <p:nvSpPr>
          <p:cNvPr id="3" name="Text 1"/>
          <p:cNvSpPr/>
          <p:nvPr/>
        </p:nvSpPr>
        <p:spPr>
          <a:xfrm>
            <a:off x="464323" y="1510757"/>
            <a:ext cx="6633381"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Microsoft patched </a:t>
            </a:r>
            <a:r>
              <a:rPr lang="en-US" sz="1000" b="1" dirty="0">
                <a:solidFill>
                  <a:srgbClr val="3B3535"/>
                </a:solidFill>
                <a:latin typeface="Sora Light" pitchFamily="34" charset="0"/>
                <a:ea typeface="Sora Light" pitchFamily="34" charset="-122"/>
                <a:cs typeface="Sora Light" pitchFamily="34" charset="-120"/>
              </a:rPr>
              <a:t>79 vulnerabilities</a:t>
            </a:r>
            <a:r>
              <a:rPr lang="en-US" sz="1000" dirty="0">
                <a:solidFill>
                  <a:srgbClr val="3B3535"/>
                </a:solidFill>
                <a:latin typeface="Sora Light" pitchFamily="34" charset="0"/>
                <a:ea typeface="Sora Light" pitchFamily="34" charset="-122"/>
                <a:cs typeface="Sora Light" pitchFamily="34" charset="-120"/>
              </a:rPr>
              <a:t> this week across SQL Server, .NET, Office, SharePoint, Azure, and Windows — including </a:t>
            </a:r>
            <a:r>
              <a:rPr lang="en-US" sz="1000" b="1" dirty="0">
                <a:solidFill>
                  <a:srgbClr val="3B3535"/>
                </a:solidFill>
                <a:latin typeface="Sora Light" pitchFamily="34" charset="0"/>
                <a:ea typeface="Sora Light" pitchFamily="34" charset="-122"/>
                <a:cs typeface="Sora Light" pitchFamily="34" charset="-120"/>
              </a:rPr>
              <a:t>two zero-days</a:t>
            </a:r>
            <a:r>
              <a:rPr lang="en-US" sz="1000" dirty="0">
                <a:solidFill>
                  <a:srgbClr val="3B3535"/>
                </a:solidFill>
                <a:latin typeface="Sora Light" pitchFamily="34" charset="0"/>
                <a:ea typeface="Sora Light" pitchFamily="34" charset="-122"/>
                <a:cs typeface="Sora Light" pitchFamily="34" charset="-120"/>
              </a:rPr>
              <a:t> and multiple remote code execution flaws.</a:t>
            </a:r>
            <a:endParaRPr lang="en-US" sz="1000" dirty="0"/>
          </a:p>
        </p:txBody>
      </p:sp>
      <p:sp>
        <p:nvSpPr>
          <p:cNvPr id="4" name="Shape 2"/>
          <p:cNvSpPr/>
          <p:nvPr/>
        </p:nvSpPr>
        <p:spPr>
          <a:xfrm>
            <a:off x="368750" y="2084499"/>
            <a:ext cx="3345953" cy="2652272"/>
          </a:xfrm>
          <a:prstGeom prst="roundRect">
            <a:avLst>
              <a:gd name="adj" fmla="val 3601"/>
            </a:avLst>
          </a:prstGeom>
          <a:solidFill>
            <a:srgbClr val="1A2D7A"/>
          </a:solidFill>
          <a:ln/>
        </p:spPr>
      </p:sp>
      <p:sp>
        <p:nvSpPr>
          <p:cNvPr id="5" name="Text 3"/>
          <p:cNvSpPr/>
          <p:nvPr/>
        </p:nvSpPr>
        <p:spPr>
          <a:xfrm>
            <a:off x="501370" y="2217119"/>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FFFFFF"/>
                </a:solidFill>
                <a:latin typeface="Alexandria Semi Bold" pitchFamily="34" charset="0"/>
                <a:ea typeface="Alexandria Semi Bold" pitchFamily="34" charset="-122"/>
                <a:cs typeface="Alexandria Semi Bold" pitchFamily="34" charset="-120"/>
              </a:rPr>
              <a:t>Patch Summary</a:t>
            </a:r>
            <a:endParaRPr lang="en-US" sz="1350" dirty="0"/>
          </a:p>
        </p:txBody>
      </p:sp>
      <p:sp>
        <p:nvSpPr>
          <p:cNvPr id="6" name="Text 4"/>
          <p:cNvSpPr/>
          <p:nvPr/>
        </p:nvSpPr>
        <p:spPr>
          <a:xfrm>
            <a:off x="501370" y="2650856"/>
            <a:ext cx="1457462" cy="437799"/>
          </a:xfrm>
          <a:prstGeom prst="rect">
            <a:avLst/>
          </a:prstGeom>
          <a:noFill/>
          <a:ln/>
        </p:spPr>
        <p:txBody>
          <a:bodyPr wrap="none" lIns="0" tIns="0" rIns="0" bIns="0" rtlCol="0" anchor="t"/>
          <a:lstStyle/>
          <a:p>
            <a:pPr marL="0" indent="0" algn="ctr">
              <a:lnSpc>
                <a:spcPts val="3400"/>
              </a:lnSpc>
              <a:buNone/>
            </a:pPr>
            <a:r>
              <a:rPr lang="en-US" sz="3400" dirty="0">
                <a:solidFill>
                  <a:srgbClr val="FFFFFF"/>
                </a:solidFill>
                <a:latin typeface="Alexandria Semi Bold" pitchFamily="34" charset="0"/>
                <a:ea typeface="Alexandria Semi Bold" pitchFamily="34" charset="-122"/>
                <a:cs typeface="Alexandria Semi Bold" pitchFamily="34" charset="-120"/>
              </a:rPr>
              <a:t>79</a:t>
            </a:r>
            <a:endParaRPr lang="en-US" sz="3400" dirty="0"/>
          </a:p>
        </p:txBody>
      </p:sp>
      <p:sp>
        <p:nvSpPr>
          <p:cNvPr id="7" name="Text 5"/>
          <p:cNvSpPr/>
          <p:nvPr/>
        </p:nvSpPr>
        <p:spPr>
          <a:xfrm>
            <a:off x="501370" y="3254384"/>
            <a:ext cx="1457462" cy="436445"/>
          </a:xfrm>
          <a:prstGeom prst="rect">
            <a:avLst/>
          </a:prstGeom>
          <a:noFill/>
          <a:ln/>
        </p:spPr>
        <p:txBody>
          <a:bodyPr wrap="square" lIns="0" tIns="0" rIns="0" bIns="0" rtlCol="0" anchor="t"/>
          <a:lstStyle/>
          <a:p>
            <a:pPr marL="0" indent="0" algn="ctr">
              <a:lnSpc>
                <a:spcPts val="1700"/>
              </a:lnSpc>
              <a:buNone/>
            </a:pPr>
            <a:r>
              <a:rPr lang="en-US" sz="1350" dirty="0">
                <a:solidFill>
                  <a:srgbClr val="FFFFFF"/>
                </a:solidFill>
                <a:latin typeface="Alexandria Semi Bold" pitchFamily="34" charset="0"/>
                <a:ea typeface="Alexandria Semi Bold" pitchFamily="34" charset="-122"/>
                <a:cs typeface="Alexandria Semi Bold" pitchFamily="34" charset="-120"/>
              </a:rPr>
              <a:t>Total Vulnerabilities</a:t>
            </a:r>
            <a:endParaRPr lang="en-US" sz="1350" dirty="0"/>
          </a:p>
        </p:txBody>
      </p:sp>
      <p:sp>
        <p:nvSpPr>
          <p:cNvPr id="8" name="Text 6"/>
          <p:cNvSpPr/>
          <p:nvPr/>
        </p:nvSpPr>
        <p:spPr>
          <a:xfrm>
            <a:off x="2124622" y="2650856"/>
            <a:ext cx="1457462" cy="437799"/>
          </a:xfrm>
          <a:prstGeom prst="rect">
            <a:avLst/>
          </a:prstGeom>
          <a:noFill/>
          <a:ln/>
        </p:spPr>
        <p:txBody>
          <a:bodyPr wrap="none" lIns="0" tIns="0" rIns="0" bIns="0" rtlCol="0" anchor="t"/>
          <a:lstStyle/>
          <a:p>
            <a:pPr marL="0" indent="0" algn="ctr">
              <a:lnSpc>
                <a:spcPts val="3400"/>
              </a:lnSpc>
              <a:buNone/>
            </a:pPr>
            <a:r>
              <a:rPr lang="en-US" sz="3400" dirty="0">
                <a:solidFill>
                  <a:srgbClr val="FFFFFF"/>
                </a:solidFill>
                <a:latin typeface="Alexandria Semi Bold" pitchFamily="34" charset="0"/>
                <a:ea typeface="Alexandria Semi Bold" pitchFamily="34" charset="-122"/>
                <a:cs typeface="Alexandria Semi Bold" pitchFamily="34" charset="-120"/>
              </a:rPr>
              <a:t>2</a:t>
            </a:r>
            <a:endParaRPr lang="en-US" sz="3400" dirty="0"/>
          </a:p>
        </p:txBody>
      </p:sp>
      <p:sp>
        <p:nvSpPr>
          <p:cNvPr id="9" name="Text 7"/>
          <p:cNvSpPr/>
          <p:nvPr/>
        </p:nvSpPr>
        <p:spPr>
          <a:xfrm>
            <a:off x="2124622" y="3254384"/>
            <a:ext cx="1457462" cy="218223"/>
          </a:xfrm>
          <a:prstGeom prst="rect">
            <a:avLst/>
          </a:prstGeom>
          <a:noFill/>
          <a:ln/>
        </p:spPr>
        <p:txBody>
          <a:bodyPr wrap="none" lIns="0" tIns="0" rIns="0" bIns="0" rtlCol="0" anchor="t"/>
          <a:lstStyle/>
          <a:p>
            <a:pPr marL="0" indent="0" algn="ctr">
              <a:lnSpc>
                <a:spcPts val="1700"/>
              </a:lnSpc>
              <a:buNone/>
            </a:pPr>
            <a:r>
              <a:rPr lang="en-US" sz="1350" dirty="0">
                <a:solidFill>
                  <a:srgbClr val="FFFFFF"/>
                </a:solidFill>
                <a:latin typeface="Alexandria Semi Bold" pitchFamily="34" charset="0"/>
                <a:ea typeface="Alexandria Semi Bold" pitchFamily="34" charset="-122"/>
                <a:cs typeface="Alexandria Semi Bold" pitchFamily="34" charset="-120"/>
              </a:rPr>
              <a:t>Zero-Days</a:t>
            </a:r>
            <a:endParaRPr lang="en-US" sz="1350" dirty="0"/>
          </a:p>
        </p:txBody>
      </p:sp>
      <p:sp>
        <p:nvSpPr>
          <p:cNvPr id="10" name="Text 8"/>
          <p:cNvSpPr/>
          <p:nvPr/>
        </p:nvSpPr>
        <p:spPr>
          <a:xfrm>
            <a:off x="3946772" y="2217119"/>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1F1E1E"/>
                </a:solidFill>
                <a:latin typeface="Alexandria Semi Bold" pitchFamily="34" charset="0"/>
                <a:ea typeface="Alexandria Semi Bold" pitchFamily="34" charset="-122"/>
                <a:cs typeface="Alexandria Semi Bold" pitchFamily="34" charset="-120"/>
              </a:rPr>
              <a:t>Affected Products</a:t>
            </a:r>
            <a:endParaRPr lang="en-US" sz="1350" dirty="0"/>
          </a:p>
        </p:txBody>
      </p:sp>
      <p:sp>
        <p:nvSpPr>
          <p:cNvPr id="11" name="Text 9"/>
          <p:cNvSpPr/>
          <p:nvPr/>
        </p:nvSpPr>
        <p:spPr>
          <a:xfrm>
            <a:off x="3946772" y="2567961"/>
            <a:ext cx="3154809" cy="1505526"/>
          </a:xfrm>
          <a:prstGeom prst="rect">
            <a:avLst/>
          </a:prstGeom>
          <a:noFill/>
          <a:ln/>
        </p:spPr>
        <p:txBody>
          <a:bodyPr wrap="square" lIns="0" tIns="0" rIns="0" bIns="0" rtlCol="0" anchor="t"/>
          <a:lstStyle/>
          <a:p>
            <a:pPr marL="342900" indent="-342900" algn="l">
              <a:lnSpc>
                <a:spcPts val="1650"/>
              </a:lnSpc>
              <a:buSzPct val="100000"/>
              <a:buChar char="•"/>
            </a:pPr>
            <a:r>
              <a:rPr lang="en-US" sz="1000" dirty="0">
                <a:solidFill>
                  <a:srgbClr val="3B3535"/>
                </a:solidFill>
                <a:latin typeface="Sora Light" pitchFamily="34" charset="0"/>
                <a:ea typeface="Sora Light" pitchFamily="34" charset="-122"/>
                <a:cs typeface="Sora Light" pitchFamily="34" charset="-120"/>
              </a:rPr>
              <a:t>SQL Server</a:t>
            </a:r>
            <a:endParaRPr lang="en-US" sz="1000" dirty="0"/>
          </a:p>
          <a:p>
            <a:pPr marL="342900" indent="-342900" algn="l">
              <a:lnSpc>
                <a:spcPts val="1650"/>
              </a:lnSpc>
              <a:buSzPct val="100000"/>
              <a:buChar char="•"/>
            </a:pPr>
            <a:r>
              <a:rPr lang="en-US" sz="1000" dirty="0">
                <a:solidFill>
                  <a:srgbClr val="3B3535"/>
                </a:solidFill>
                <a:latin typeface="Sora Light" pitchFamily="34" charset="0"/>
                <a:ea typeface="Sora Light" pitchFamily="34" charset="-122"/>
                <a:cs typeface="Sora Light" pitchFamily="34" charset="-120"/>
              </a:rPr>
              <a:t>.NET Framework</a:t>
            </a:r>
            <a:endParaRPr lang="en-US" sz="1000" dirty="0"/>
          </a:p>
          <a:p>
            <a:pPr marL="342900" indent="-342900" algn="l">
              <a:lnSpc>
                <a:spcPts val="1650"/>
              </a:lnSpc>
              <a:buSzPct val="100000"/>
              <a:buChar char="•"/>
            </a:pPr>
            <a:r>
              <a:rPr lang="en-US" sz="1000" dirty="0">
                <a:solidFill>
                  <a:srgbClr val="3B3535"/>
                </a:solidFill>
                <a:latin typeface="Sora Light" pitchFamily="34" charset="0"/>
                <a:ea typeface="Sora Light" pitchFamily="34" charset="-122"/>
                <a:cs typeface="Sora Light" pitchFamily="34" charset="-120"/>
              </a:rPr>
              <a:t>Microsoft Office</a:t>
            </a:r>
            <a:endParaRPr lang="en-US" sz="1000" dirty="0"/>
          </a:p>
          <a:p>
            <a:pPr marL="342900" indent="-342900" algn="l">
              <a:lnSpc>
                <a:spcPts val="1650"/>
              </a:lnSpc>
              <a:buSzPct val="100000"/>
              <a:buChar char="•"/>
            </a:pPr>
            <a:r>
              <a:rPr lang="en-US" sz="1000" dirty="0">
                <a:solidFill>
                  <a:srgbClr val="3B3535"/>
                </a:solidFill>
                <a:latin typeface="Sora Light" pitchFamily="34" charset="0"/>
                <a:ea typeface="Sora Light" pitchFamily="34" charset="-122"/>
                <a:cs typeface="Sora Light" pitchFamily="34" charset="-120"/>
              </a:rPr>
              <a:t>SharePoint</a:t>
            </a:r>
            <a:endParaRPr lang="en-US" sz="1000" dirty="0"/>
          </a:p>
          <a:p>
            <a:pPr marL="342900" indent="-342900" algn="l">
              <a:lnSpc>
                <a:spcPts val="1650"/>
              </a:lnSpc>
              <a:buSzPct val="100000"/>
              <a:buChar char="•"/>
            </a:pPr>
            <a:r>
              <a:rPr lang="en-US" sz="1000" dirty="0">
                <a:solidFill>
                  <a:srgbClr val="3B3535"/>
                </a:solidFill>
                <a:latin typeface="Sora Light" pitchFamily="34" charset="0"/>
                <a:ea typeface="Sora Light" pitchFamily="34" charset="-122"/>
                <a:cs typeface="Sora Light" pitchFamily="34" charset="-120"/>
              </a:rPr>
              <a:t>Azure</a:t>
            </a:r>
            <a:endParaRPr lang="en-US" sz="1000" dirty="0"/>
          </a:p>
          <a:p>
            <a:pPr marL="342900" indent="-342900" algn="l">
              <a:lnSpc>
                <a:spcPts val="1650"/>
              </a:lnSpc>
              <a:buSzPct val="100000"/>
              <a:buChar char="•"/>
            </a:pPr>
            <a:r>
              <a:rPr lang="en-US" sz="1000" dirty="0">
                <a:solidFill>
                  <a:srgbClr val="3B3535"/>
                </a:solidFill>
                <a:latin typeface="Sora Light" pitchFamily="34" charset="0"/>
                <a:ea typeface="Sora Light" pitchFamily="34" charset="-122"/>
                <a:cs typeface="Sora Light" pitchFamily="34" charset="-120"/>
              </a:rPr>
              <a:t>Windows</a:t>
            </a:r>
            <a:endParaRPr lang="en-US" sz="1000" dirty="0"/>
          </a:p>
        </p:txBody>
      </p:sp>
      <p:sp>
        <p:nvSpPr>
          <p:cNvPr id="12" name="Text 10"/>
          <p:cNvSpPr/>
          <p:nvPr/>
        </p:nvSpPr>
        <p:spPr>
          <a:xfrm>
            <a:off x="3946772" y="4192876"/>
            <a:ext cx="3154809"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Multiple </a:t>
            </a:r>
            <a:r>
              <a:rPr lang="en-US" sz="1000" b="1" dirty="0">
                <a:solidFill>
                  <a:srgbClr val="3B3535"/>
                </a:solidFill>
                <a:latin typeface="Sora Light" pitchFamily="34" charset="0"/>
                <a:ea typeface="Sora Light" pitchFamily="34" charset="-122"/>
                <a:cs typeface="Sora Light" pitchFamily="34" charset="-120"/>
              </a:rPr>
              <a:t>remote code execution flaws</a:t>
            </a:r>
            <a:r>
              <a:rPr lang="en-US" sz="1000" dirty="0">
                <a:solidFill>
                  <a:srgbClr val="3B3535"/>
                </a:solidFill>
                <a:latin typeface="Sora Light" pitchFamily="34" charset="0"/>
                <a:ea typeface="Sora Light" pitchFamily="34" charset="-122"/>
                <a:cs typeface="Sora Light" pitchFamily="34" charset="-120"/>
              </a:rPr>
              <a:t> were among the patched vulnerabilities.</a:t>
            </a:r>
            <a:endParaRPr lang="en-US" sz="1000" dirty="0"/>
          </a:p>
        </p:txBody>
      </p:sp>
      <p:sp>
        <p:nvSpPr>
          <p:cNvPr id="13" name="Shape 11"/>
          <p:cNvSpPr/>
          <p:nvPr/>
        </p:nvSpPr>
        <p:spPr>
          <a:xfrm>
            <a:off x="464323" y="4886007"/>
            <a:ext cx="6633381" cy="563649"/>
          </a:xfrm>
          <a:prstGeom prst="roundRect">
            <a:avLst>
              <a:gd name="adj" fmla="val 9886"/>
            </a:avLst>
          </a:prstGeom>
          <a:solidFill>
            <a:srgbClr val="C0CAF2"/>
          </a:solidFill>
          <a:ln/>
        </p:spPr>
      </p:sp>
      <p:pic>
        <p:nvPicPr>
          <p:cNvPr id="14" name="Image 0" descr="preencoded.png"/>
          <p:cNvPicPr>
            <a:picLocks noChangeAspect="1"/>
          </p:cNvPicPr>
          <p:nvPr/>
        </p:nvPicPr>
        <p:blipFill>
          <a:blip r:embed="rId3"/>
          <a:stretch>
            <a:fillRect/>
          </a:stretch>
        </p:blipFill>
        <p:spPr>
          <a:xfrm>
            <a:off x="596942" y="5085336"/>
            <a:ext cx="165790" cy="132620"/>
          </a:xfrm>
          <a:prstGeom prst="rect">
            <a:avLst/>
          </a:prstGeom>
        </p:spPr>
      </p:pic>
      <p:sp>
        <p:nvSpPr>
          <p:cNvPr id="15" name="Text 12"/>
          <p:cNvSpPr/>
          <p:nvPr/>
        </p:nvSpPr>
        <p:spPr>
          <a:xfrm>
            <a:off x="895352" y="5051735"/>
            <a:ext cx="6069733" cy="212253"/>
          </a:xfrm>
          <a:prstGeom prst="rect">
            <a:avLst/>
          </a:prstGeom>
          <a:noFill/>
          <a:ln/>
        </p:spPr>
        <p:txBody>
          <a:bodyPr wrap="none" lIns="0" tIns="0" rIns="0" bIns="0" rtlCol="0" anchor="t"/>
          <a:lstStyle/>
          <a:p>
            <a:pPr marL="0" indent="0" algn="l">
              <a:lnSpc>
                <a:spcPts val="1650"/>
              </a:lnSpc>
              <a:buNone/>
            </a:pPr>
            <a:r>
              <a:rPr lang="en-US" sz="1000" dirty="0">
                <a:solidFill>
                  <a:srgbClr val="000000"/>
                </a:solidFill>
                <a:latin typeface="Sora Light" pitchFamily="34" charset="0"/>
                <a:ea typeface="Sora Light" pitchFamily="34" charset="-122"/>
                <a:cs typeface="Sora Light" pitchFamily="34" charset="-120"/>
              </a:rPr>
              <a:t>🔗 Source: </a:t>
            </a:r>
            <a:r>
              <a:rPr lang="en-US" sz="1000" u="sng" dirty="0">
                <a:solidFill>
                  <a:srgbClr val="1A2D7A"/>
                </a:solidFill>
                <a:latin typeface="Sora Light" pitchFamily="34" charset="0"/>
                <a:ea typeface="Sora Light" pitchFamily="34" charset="-122"/>
                <a:cs typeface="Sora Light" pitchFamily="34" charset="-120"/>
                <a:hlinkClick r:id="rId4">
                  <a:extLst>
                    <a:ext uri="{A12FA001-AC4F-418D-AE19-62706E023703}">
                      <ahyp:hlinkClr xmlns:ahyp="http://schemas.microsoft.com/office/drawing/2018/hyperlinkcolor" val="tx"/>
                    </a:ext>
                  </a:extLst>
                </a:hlinkClick>
              </a:rPr>
              <a:t>The Cyber Express Weekly Roundup — March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64323" y="364812"/>
            <a:ext cx="6633381" cy="880644"/>
          </a:xfrm>
          <a:prstGeom prst="rect">
            <a:avLst/>
          </a:prstGeom>
          <a:noFill/>
          <a:ln/>
        </p:spPr>
        <p:txBody>
          <a:bodyPr wrap="square" lIns="0" tIns="0" rIns="0" bIns="0" rtlCol="0" anchor="t"/>
          <a:lstStyle/>
          <a:p>
            <a:pPr marL="0" indent="0" algn="l">
              <a:lnSpc>
                <a:spcPts val="3400"/>
              </a:lnSpc>
              <a:buNone/>
            </a:pPr>
            <a:r>
              <a:rPr lang="en-US" sz="2700" dirty="0">
                <a:solidFill>
                  <a:srgbClr val="000000"/>
                </a:solidFill>
                <a:latin typeface="Alexandria Semi Bold" pitchFamily="34" charset="0"/>
                <a:ea typeface="Alexandria Semi Bold" pitchFamily="34" charset="-122"/>
                <a:cs typeface="Alexandria Semi Bold" pitchFamily="34" charset="-120"/>
              </a:rPr>
              <a:t>🌍</a:t>
            </a:r>
            <a:r>
              <a:rPr lang="en-US" sz="2700" dirty="0">
                <a:solidFill>
                  <a:srgbClr val="1F1E1E"/>
                </a:solidFill>
                <a:latin typeface="Alexandria Semi Bold" pitchFamily="34" charset="0"/>
                <a:ea typeface="Alexandria Semi Bold" pitchFamily="34" charset="-122"/>
                <a:cs typeface="Alexandria Semi Bold" pitchFamily="34" charset="-120"/>
              </a:rPr>
              <a:t> Chrome Zero-Days Exploited in the Wild</a:t>
            </a:r>
            <a:endParaRPr lang="en-US" sz="2700" dirty="0"/>
          </a:p>
        </p:txBody>
      </p:sp>
      <p:sp>
        <p:nvSpPr>
          <p:cNvPr id="3" name="Text 1"/>
          <p:cNvSpPr/>
          <p:nvPr/>
        </p:nvSpPr>
        <p:spPr>
          <a:xfrm>
            <a:off x="464323" y="1510757"/>
            <a:ext cx="6633381"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Two newly discovered </a:t>
            </a:r>
            <a:r>
              <a:rPr lang="en-US" sz="1000" b="1" dirty="0">
                <a:solidFill>
                  <a:srgbClr val="3B3535"/>
                </a:solidFill>
                <a:latin typeface="Sora Light" pitchFamily="34" charset="0"/>
                <a:ea typeface="Sora Light" pitchFamily="34" charset="-122"/>
                <a:cs typeface="Sora Light" pitchFamily="34" charset="-120"/>
              </a:rPr>
              <a:t>Chrome zero-day vulnerabilities</a:t>
            </a:r>
            <a:r>
              <a:rPr lang="en-US" sz="1000" dirty="0">
                <a:solidFill>
                  <a:srgbClr val="3B3535"/>
                </a:solidFill>
                <a:latin typeface="Sora Light" pitchFamily="34" charset="0"/>
                <a:ea typeface="Sora Light" pitchFamily="34" charset="-122"/>
                <a:cs typeface="Sora Light" pitchFamily="34" charset="-120"/>
              </a:rPr>
              <a:t> are being actively exploited, allowing attackers to execute arbitrary malicious code on victims' devices via memory corruption.</a:t>
            </a:r>
            <a:endParaRPr lang="en-US" sz="1000" dirty="0"/>
          </a:p>
        </p:txBody>
      </p:sp>
      <p:sp>
        <p:nvSpPr>
          <p:cNvPr id="4" name="Shape 2"/>
          <p:cNvSpPr/>
          <p:nvPr/>
        </p:nvSpPr>
        <p:spPr>
          <a:xfrm>
            <a:off x="464323" y="2084499"/>
            <a:ext cx="2122714" cy="1655808"/>
          </a:xfrm>
          <a:prstGeom prst="roundRect">
            <a:avLst>
              <a:gd name="adj" fmla="val 4567"/>
            </a:avLst>
          </a:prstGeom>
          <a:solidFill>
            <a:srgbClr val="FFFAFA"/>
          </a:solidFill>
          <a:ln w="15754">
            <a:solidFill>
              <a:srgbClr val="BBC2DC"/>
            </a:solidFill>
            <a:prstDash val="solid"/>
          </a:ln>
        </p:spPr>
      </p:sp>
      <p:sp>
        <p:nvSpPr>
          <p:cNvPr id="5" name="Shape 3"/>
          <p:cNvSpPr/>
          <p:nvPr/>
        </p:nvSpPr>
        <p:spPr>
          <a:xfrm>
            <a:off x="448568" y="2084499"/>
            <a:ext cx="63017" cy="1655808"/>
          </a:xfrm>
          <a:prstGeom prst="roundRect">
            <a:avLst>
              <a:gd name="adj" fmla="val 88422"/>
            </a:avLst>
          </a:prstGeom>
          <a:solidFill>
            <a:srgbClr val="1A2D7A"/>
          </a:solidFill>
          <a:ln/>
        </p:spPr>
      </p:sp>
      <p:sp>
        <p:nvSpPr>
          <p:cNvPr id="6" name="Text 4"/>
          <p:cNvSpPr/>
          <p:nvPr/>
        </p:nvSpPr>
        <p:spPr>
          <a:xfrm>
            <a:off x="659960" y="2232873"/>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Active Exploitation</a:t>
            </a:r>
            <a:endParaRPr lang="en-US" sz="1350" dirty="0"/>
          </a:p>
        </p:txBody>
      </p:sp>
      <p:sp>
        <p:nvSpPr>
          <p:cNvPr id="7" name="Text 5"/>
          <p:cNvSpPr/>
          <p:nvPr/>
        </p:nvSpPr>
        <p:spPr>
          <a:xfrm>
            <a:off x="659960" y="2530668"/>
            <a:ext cx="1778703" cy="849013"/>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Both zero-days are being actively exploited in the wild — not just theoretical vulnerabilities.</a:t>
            </a:r>
            <a:endParaRPr lang="en-US" sz="1000" dirty="0"/>
          </a:p>
        </p:txBody>
      </p:sp>
      <p:sp>
        <p:nvSpPr>
          <p:cNvPr id="8" name="Shape 6"/>
          <p:cNvSpPr/>
          <p:nvPr/>
        </p:nvSpPr>
        <p:spPr>
          <a:xfrm>
            <a:off x="2719656" y="2084499"/>
            <a:ext cx="2122714" cy="1655808"/>
          </a:xfrm>
          <a:prstGeom prst="roundRect">
            <a:avLst>
              <a:gd name="adj" fmla="val 4567"/>
            </a:avLst>
          </a:prstGeom>
          <a:solidFill>
            <a:srgbClr val="FFFAFA"/>
          </a:solidFill>
          <a:ln w="15754">
            <a:solidFill>
              <a:srgbClr val="BBC2DC"/>
            </a:solidFill>
            <a:prstDash val="solid"/>
          </a:ln>
        </p:spPr>
      </p:sp>
      <p:sp>
        <p:nvSpPr>
          <p:cNvPr id="9" name="Shape 7"/>
          <p:cNvSpPr/>
          <p:nvPr/>
        </p:nvSpPr>
        <p:spPr>
          <a:xfrm>
            <a:off x="2703902" y="2084499"/>
            <a:ext cx="63017" cy="1655808"/>
          </a:xfrm>
          <a:prstGeom prst="roundRect">
            <a:avLst>
              <a:gd name="adj" fmla="val 88422"/>
            </a:avLst>
          </a:prstGeom>
          <a:solidFill>
            <a:srgbClr val="1A2D7A"/>
          </a:solidFill>
          <a:ln/>
        </p:spPr>
      </p:sp>
      <p:sp>
        <p:nvSpPr>
          <p:cNvPr id="10" name="Text 8"/>
          <p:cNvSpPr/>
          <p:nvPr/>
        </p:nvSpPr>
        <p:spPr>
          <a:xfrm>
            <a:off x="2915293" y="2232873"/>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Attack Vector</a:t>
            </a:r>
            <a:endParaRPr lang="en-US" sz="1350" dirty="0"/>
          </a:p>
        </p:txBody>
      </p:sp>
      <p:sp>
        <p:nvSpPr>
          <p:cNvPr id="11" name="Text 9"/>
          <p:cNvSpPr/>
          <p:nvPr/>
        </p:nvSpPr>
        <p:spPr>
          <a:xfrm>
            <a:off x="2915293" y="2530668"/>
            <a:ext cx="1778703" cy="106126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Attackers exploit </a:t>
            </a:r>
            <a:r>
              <a:rPr lang="en-US" sz="1000" b="1" dirty="0">
                <a:solidFill>
                  <a:srgbClr val="3B3535"/>
                </a:solidFill>
                <a:latin typeface="Sora Light" pitchFamily="34" charset="0"/>
                <a:ea typeface="Sora Light" pitchFamily="34" charset="-122"/>
                <a:cs typeface="Sora Light" pitchFamily="34" charset="-120"/>
              </a:rPr>
              <a:t>memory corruption</a:t>
            </a:r>
            <a:r>
              <a:rPr lang="en-US" sz="1000" dirty="0">
                <a:solidFill>
                  <a:srgbClr val="3B3535"/>
                </a:solidFill>
                <a:latin typeface="Sora Light" pitchFamily="34" charset="0"/>
                <a:ea typeface="Sora Light" pitchFamily="34" charset="-122"/>
                <a:cs typeface="Sora Light" pitchFamily="34" charset="-120"/>
              </a:rPr>
              <a:t> flaws to execute arbitrary malicious code on victims' devices.</a:t>
            </a:r>
            <a:endParaRPr lang="en-US" sz="1000" dirty="0"/>
          </a:p>
        </p:txBody>
      </p:sp>
      <p:sp>
        <p:nvSpPr>
          <p:cNvPr id="12" name="Shape 10"/>
          <p:cNvSpPr/>
          <p:nvPr/>
        </p:nvSpPr>
        <p:spPr>
          <a:xfrm>
            <a:off x="4974990" y="2084499"/>
            <a:ext cx="2122714" cy="1655808"/>
          </a:xfrm>
          <a:prstGeom prst="roundRect">
            <a:avLst>
              <a:gd name="adj" fmla="val 4567"/>
            </a:avLst>
          </a:prstGeom>
          <a:solidFill>
            <a:srgbClr val="FFFAFA"/>
          </a:solidFill>
          <a:ln w="15754">
            <a:solidFill>
              <a:srgbClr val="BBC2DC"/>
            </a:solidFill>
            <a:prstDash val="solid"/>
          </a:ln>
        </p:spPr>
      </p:sp>
      <p:sp>
        <p:nvSpPr>
          <p:cNvPr id="13" name="Shape 11"/>
          <p:cNvSpPr/>
          <p:nvPr/>
        </p:nvSpPr>
        <p:spPr>
          <a:xfrm>
            <a:off x="4959236" y="2084499"/>
            <a:ext cx="63017" cy="1655808"/>
          </a:xfrm>
          <a:prstGeom prst="roundRect">
            <a:avLst>
              <a:gd name="adj" fmla="val 88422"/>
            </a:avLst>
          </a:prstGeom>
          <a:solidFill>
            <a:srgbClr val="1A2D7A"/>
          </a:solidFill>
          <a:ln/>
        </p:spPr>
      </p:sp>
      <p:sp>
        <p:nvSpPr>
          <p:cNvPr id="14" name="Text 12"/>
          <p:cNvSpPr/>
          <p:nvPr/>
        </p:nvSpPr>
        <p:spPr>
          <a:xfrm>
            <a:off x="5170627" y="2232873"/>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Scope</a:t>
            </a:r>
            <a:endParaRPr lang="en-US" sz="1350" dirty="0"/>
          </a:p>
        </p:txBody>
      </p:sp>
      <p:sp>
        <p:nvSpPr>
          <p:cNvPr id="15" name="Text 13"/>
          <p:cNvSpPr/>
          <p:nvPr/>
        </p:nvSpPr>
        <p:spPr>
          <a:xfrm>
            <a:off x="5170627" y="2530668"/>
            <a:ext cx="1778703" cy="849013"/>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Two separate zero-day vulnerabilities discovered and confirmed as exploited.</a:t>
            </a:r>
            <a:endParaRPr lang="en-US" sz="1000" dirty="0"/>
          </a:p>
        </p:txBody>
      </p:sp>
      <p:sp>
        <p:nvSpPr>
          <p:cNvPr id="16" name="Shape 14"/>
          <p:cNvSpPr/>
          <p:nvPr/>
        </p:nvSpPr>
        <p:spPr>
          <a:xfrm>
            <a:off x="464323" y="3889543"/>
            <a:ext cx="6633381" cy="563649"/>
          </a:xfrm>
          <a:prstGeom prst="roundRect">
            <a:avLst>
              <a:gd name="adj" fmla="val 9886"/>
            </a:avLst>
          </a:prstGeom>
          <a:solidFill>
            <a:srgbClr val="C0CAF2"/>
          </a:solidFill>
          <a:ln/>
        </p:spPr>
      </p:sp>
      <p:pic>
        <p:nvPicPr>
          <p:cNvPr id="17" name="Image 0" descr="preencoded.png"/>
          <p:cNvPicPr>
            <a:picLocks noChangeAspect="1"/>
          </p:cNvPicPr>
          <p:nvPr/>
        </p:nvPicPr>
        <p:blipFill>
          <a:blip r:embed="rId3"/>
          <a:stretch>
            <a:fillRect/>
          </a:stretch>
        </p:blipFill>
        <p:spPr>
          <a:xfrm>
            <a:off x="596942" y="4088873"/>
            <a:ext cx="165790" cy="132620"/>
          </a:xfrm>
          <a:prstGeom prst="rect">
            <a:avLst/>
          </a:prstGeom>
        </p:spPr>
      </p:pic>
      <p:sp>
        <p:nvSpPr>
          <p:cNvPr id="18" name="Text 15"/>
          <p:cNvSpPr/>
          <p:nvPr/>
        </p:nvSpPr>
        <p:spPr>
          <a:xfrm>
            <a:off x="895352" y="4055272"/>
            <a:ext cx="6069733" cy="212253"/>
          </a:xfrm>
          <a:prstGeom prst="rect">
            <a:avLst/>
          </a:prstGeom>
          <a:noFill/>
          <a:ln/>
        </p:spPr>
        <p:txBody>
          <a:bodyPr wrap="none" lIns="0" tIns="0" rIns="0" bIns="0" rtlCol="0" anchor="t"/>
          <a:lstStyle/>
          <a:p>
            <a:pPr marL="0" indent="0" algn="l">
              <a:lnSpc>
                <a:spcPts val="1650"/>
              </a:lnSpc>
              <a:buNone/>
            </a:pPr>
            <a:r>
              <a:rPr lang="en-US" sz="1000" dirty="0">
                <a:solidFill>
                  <a:srgbClr val="000000"/>
                </a:solidFill>
                <a:latin typeface="Sora Light" pitchFamily="34" charset="0"/>
                <a:ea typeface="Sora Light" pitchFamily="34" charset="-122"/>
                <a:cs typeface="Sora Light" pitchFamily="34" charset="-120"/>
              </a:rPr>
              <a:t>🔗 Source: </a:t>
            </a:r>
            <a:r>
              <a:rPr lang="en-US" sz="1000" u="sng" dirty="0">
                <a:solidFill>
                  <a:srgbClr val="1A2D7A"/>
                </a:solidFill>
                <a:latin typeface="Sora Light" pitchFamily="34" charset="0"/>
                <a:ea typeface="Sora Light" pitchFamily="34" charset="-122"/>
                <a:cs typeface="Sora Light" pitchFamily="34" charset="-120"/>
                <a:hlinkClick r:id="rId4">
                  <a:extLst>
                    <a:ext uri="{A12FA001-AC4F-418D-AE19-62706E023703}">
                      <ahyp:hlinkClr xmlns:ahyp="http://schemas.microsoft.com/office/drawing/2018/hyperlinkcolor" val="tx"/>
                    </a:ext>
                  </a:extLst>
                </a:hlinkClick>
              </a:rPr>
              <a:t>GBHackers — Two Newly Discovered Chrome Zero-Days Exploited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64323" y="364812"/>
            <a:ext cx="6633381" cy="880644"/>
          </a:xfrm>
          <a:prstGeom prst="rect">
            <a:avLst/>
          </a:prstGeom>
          <a:noFill/>
          <a:ln/>
        </p:spPr>
        <p:txBody>
          <a:bodyPr wrap="square" lIns="0" tIns="0" rIns="0" bIns="0" rtlCol="0" anchor="t"/>
          <a:lstStyle/>
          <a:p>
            <a:pPr marL="0" indent="0" algn="l">
              <a:lnSpc>
                <a:spcPts val="3400"/>
              </a:lnSpc>
              <a:buNone/>
            </a:pPr>
            <a:r>
              <a:rPr lang="en-US" sz="2700" dirty="0">
                <a:solidFill>
                  <a:srgbClr val="000000"/>
                </a:solidFill>
                <a:latin typeface="Alexandria Semi Bold" pitchFamily="34" charset="0"/>
                <a:ea typeface="Alexandria Semi Bold" pitchFamily="34" charset="-122"/>
                <a:cs typeface="Alexandria Semi Bold" pitchFamily="34" charset="-120"/>
              </a:rPr>
              <a:t>🕵️</a:t>
            </a:r>
            <a:r>
              <a:rPr lang="en-US" sz="2700" dirty="0">
                <a:solidFill>
                  <a:srgbClr val="1F1E1E"/>
                </a:solidFill>
                <a:latin typeface="Alexandria Semi Bold" pitchFamily="34" charset="0"/>
                <a:ea typeface="Alexandria Semi Bold" pitchFamily="34" charset="-122"/>
                <a:cs typeface="Alexandria Semi Bold" pitchFamily="34" charset="-120"/>
              </a:rPr>
              <a:t> Finland Warns of Russian &amp; Chinese Espionage</a:t>
            </a:r>
            <a:endParaRPr lang="en-US" sz="2700" dirty="0"/>
          </a:p>
        </p:txBody>
      </p:sp>
      <p:sp>
        <p:nvSpPr>
          <p:cNvPr id="3" name="Text 1"/>
          <p:cNvSpPr/>
          <p:nvPr/>
        </p:nvSpPr>
        <p:spPr>
          <a:xfrm>
            <a:off x="464323" y="1510757"/>
            <a:ext cx="6633381" cy="636759"/>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Finland's Security and Intelligence Service (</a:t>
            </a:r>
            <a:r>
              <a:rPr lang="en-US" sz="1000" b="1" dirty="0">
                <a:solidFill>
                  <a:srgbClr val="3B3535"/>
                </a:solidFill>
                <a:latin typeface="Sora Light" pitchFamily="34" charset="0"/>
                <a:ea typeface="Sora Light" pitchFamily="34" charset="-122"/>
                <a:cs typeface="Sora Light" pitchFamily="34" charset="-120"/>
              </a:rPr>
              <a:t>SUPO</a:t>
            </a:r>
            <a:r>
              <a:rPr lang="en-US" sz="1000" dirty="0">
                <a:solidFill>
                  <a:srgbClr val="3B3535"/>
                </a:solidFill>
                <a:latin typeface="Sora Light" pitchFamily="34" charset="0"/>
                <a:ea typeface="Sora Light" pitchFamily="34" charset="-122"/>
                <a:cs typeface="Sora Light" pitchFamily="34" charset="-120"/>
              </a:rPr>
              <a:t>) issued a warning about ongoing state-backed cyber espionage from </a:t>
            </a:r>
            <a:r>
              <a:rPr lang="en-US" sz="1000" b="1" dirty="0">
                <a:solidFill>
                  <a:srgbClr val="3B3535"/>
                </a:solidFill>
                <a:latin typeface="Sora Light" pitchFamily="34" charset="0"/>
                <a:ea typeface="Sora Light" pitchFamily="34" charset="-122"/>
                <a:cs typeface="Sora Light" pitchFamily="34" charset="-120"/>
              </a:rPr>
              <a:t>Russia and China</a:t>
            </a:r>
            <a:r>
              <a:rPr lang="en-US" sz="1000" dirty="0">
                <a:solidFill>
                  <a:srgbClr val="3B3535"/>
                </a:solidFill>
                <a:latin typeface="Sora Light" pitchFamily="34" charset="0"/>
                <a:ea typeface="Sora Light" pitchFamily="34" charset="-122"/>
                <a:cs typeface="Sora Light" pitchFamily="34" charset="-120"/>
              </a:rPr>
              <a:t>, targeting technology companies, research institutions, and government networks.</a:t>
            </a:r>
            <a:endParaRPr lang="en-US" sz="1000" dirty="0"/>
          </a:p>
        </p:txBody>
      </p:sp>
      <p:sp>
        <p:nvSpPr>
          <p:cNvPr id="4" name="Shape 2"/>
          <p:cNvSpPr/>
          <p:nvPr/>
        </p:nvSpPr>
        <p:spPr>
          <a:xfrm>
            <a:off x="464323" y="2296752"/>
            <a:ext cx="3250381" cy="1533897"/>
          </a:xfrm>
          <a:prstGeom prst="roundRect">
            <a:avLst>
              <a:gd name="adj" fmla="val 3633"/>
            </a:avLst>
          </a:prstGeom>
          <a:solidFill>
            <a:srgbClr val="D5DCF6"/>
          </a:solidFill>
          <a:ln w="7877">
            <a:solidFill>
              <a:srgbClr val="BBC2DC"/>
            </a:solidFill>
            <a:prstDash val="solid"/>
          </a:ln>
        </p:spPr>
      </p:sp>
      <p:sp>
        <p:nvSpPr>
          <p:cNvPr id="5" name="Shape 3"/>
          <p:cNvSpPr/>
          <p:nvPr/>
        </p:nvSpPr>
        <p:spPr>
          <a:xfrm>
            <a:off x="604819" y="2437249"/>
            <a:ext cx="397982" cy="397982"/>
          </a:xfrm>
          <a:prstGeom prst="roundRect">
            <a:avLst>
              <a:gd name="adj" fmla="val 11874488"/>
            </a:avLst>
          </a:prstGeom>
          <a:solidFill>
            <a:srgbClr val="1A2D7A"/>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4238" y="2546668"/>
            <a:ext cx="179083" cy="179083"/>
          </a:xfrm>
          <a:prstGeom prst="rect">
            <a:avLst/>
          </a:prstGeom>
        </p:spPr>
      </p:pic>
      <p:sp>
        <p:nvSpPr>
          <p:cNvPr id="7" name="Text 4"/>
          <p:cNvSpPr/>
          <p:nvPr/>
        </p:nvSpPr>
        <p:spPr>
          <a:xfrm>
            <a:off x="604819" y="2967851"/>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Russia</a:t>
            </a:r>
            <a:endParaRPr lang="en-US" sz="1350" dirty="0"/>
          </a:p>
        </p:txBody>
      </p:sp>
      <p:sp>
        <p:nvSpPr>
          <p:cNvPr id="8" name="Text 5"/>
          <p:cNvSpPr/>
          <p:nvPr/>
        </p:nvSpPr>
        <p:spPr>
          <a:xfrm>
            <a:off x="604819" y="3265646"/>
            <a:ext cx="2969387"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State-backed cyber espionage operations targeting Finnish and allied networks</a:t>
            </a:r>
            <a:endParaRPr lang="en-US" sz="1000" dirty="0"/>
          </a:p>
        </p:txBody>
      </p:sp>
      <p:sp>
        <p:nvSpPr>
          <p:cNvPr id="9" name="Shape 6"/>
          <p:cNvSpPr/>
          <p:nvPr/>
        </p:nvSpPr>
        <p:spPr>
          <a:xfrm>
            <a:off x="3847323" y="2296752"/>
            <a:ext cx="3250381" cy="1533897"/>
          </a:xfrm>
          <a:prstGeom prst="roundRect">
            <a:avLst>
              <a:gd name="adj" fmla="val 3633"/>
            </a:avLst>
          </a:prstGeom>
          <a:solidFill>
            <a:srgbClr val="D5DCF6"/>
          </a:solidFill>
          <a:ln w="7877">
            <a:solidFill>
              <a:srgbClr val="BBC2DC"/>
            </a:solidFill>
            <a:prstDash val="solid"/>
          </a:ln>
        </p:spPr>
      </p:sp>
      <p:sp>
        <p:nvSpPr>
          <p:cNvPr id="10" name="Shape 7"/>
          <p:cNvSpPr/>
          <p:nvPr/>
        </p:nvSpPr>
        <p:spPr>
          <a:xfrm>
            <a:off x="3987820" y="2437249"/>
            <a:ext cx="397982" cy="397982"/>
          </a:xfrm>
          <a:prstGeom prst="roundRect">
            <a:avLst>
              <a:gd name="adj" fmla="val 11874488"/>
            </a:avLst>
          </a:prstGeom>
          <a:solidFill>
            <a:srgbClr val="1A2D7A"/>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97239" y="2546668"/>
            <a:ext cx="179083" cy="179083"/>
          </a:xfrm>
          <a:prstGeom prst="rect">
            <a:avLst/>
          </a:prstGeom>
        </p:spPr>
      </p:pic>
      <p:sp>
        <p:nvSpPr>
          <p:cNvPr id="12" name="Text 8"/>
          <p:cNvSpPr/>
          <p:nvPr/>
        </p:nvSpPr>
        <p:spPr>
          <a:xfrm>
            <a:off x="3987820" y="2967851"/>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China</a:t>
            </a:r>
            <a:endParaRPr lang="en-US" sz="1350" dirty="0"/>
          </a:p>
        </p:txBody>
      </p:sp>
      <p:sp>
        <p:nvSpPr>
          <p:cNvPr id="13" name="Text 9"/>
          <p:cNvSpPr/>
          <p:nvPr/>
        </p:nvSpPr>
        <p:spPr>
          <a:xfrm>
            <a:off x="3987820" y="3265646"/>
            <a:ext cx="2969387"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State-backed cyber espionage operations with focus on technology and research</a:t>
            </a:r>
            <a:endParaRPr lang="en-US" sz="1000" dirty="0"/>
          </a:p>
        </p:txBody>
      </p:sp>
      <p:sp>
        <p:nvSpPr>
          <p:cNvPr id="14" name="Text 10"/>
          <p:cNvSpPr/>
          <p:nvPr/>
        </p:nvSpPr>
        <p:spPr>
          <a:xfrm>
            <a:off x="464323" y="4029609"/>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1F1E1E"/>
                </a:solidFill>
                <a:latin typeface="Alexandria Semi Bold" pitchFamily="34" charset="0"/>
                <a:ea typeface="Alexandria Semi Bold" pitchFamily="34" charset="-122"/>
                <a:cs typeface="Alexandria Semi Bold" pitchFamily="34" charset="-120"/>
              </a:rPr>
              <a:t>Sectors Targeted</a:t>
            </a:r>
            <a:endParaRPr lang="en-US" sz="1350" dirty="0"/>
          </a:p>
        </p:txBody>
      </p:sp>
      <p:sp>
        <p:nvSpPr>
          <p:cNvPr id="15" name="Shape 11"/>
          <p:cNvSpPr/>
          <p:nvPr/>
        </p:nvSpPr>
        <p:spPr>
          <a:xfrm>
            <a:off x="464323" y="4446792"/>
            <a:ext cx="2122714" cy="1449525"/>
          </a:xfrm>
          <a:prstGeom prst="roundRect">
            <a:avLst>
              <a:gd name="adj" fmla="val 3844"/>
            </a:avLst>
          </a:prstGeom>
          <a:solidFill>
            <a:srgbClr val="FFFAFA"/>
          </a:solidFill>
          <a:ln w="15754">
            <a:solidFill>
              <a:srgbClr val="BBC2DC"/>
            </a:solidFill>
            <a:prstDash val="solid"/>
          </a:ln>
        </p:spPr>
      </p:sp>
      <p:sp>
        <p:nvSpPr>
          <p:cNvPr id="16" name="Text 12"/>
          <p:cNvSpPr/>
          <p:nvPr/>
        </p:nvSpPr>
        <p:spPr>
          <a:xfrm>
            <a:off x="612697" y="4595166"/>
            <a:ext cx="1825966" cy="436445"/>
          </a:xfrm>
          <a:prstGeom prst="rect">
            <a:avLst/>
          </a:prstGeom>
          <a:noFill/>
          <a:ln/>
        </p:spPr>
        <p:txBody>
          <a:bodyPr wrap="squar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Technology Companies</a:t>
            </a:r>
            <a:endParaRPr lang="en-US" sz="1350" dirty="0"/>
          </a:p>
        </p:txBody>
      </p:sp>
      <p:sp>
        <p:nvSpPr>
          <p:cNvPr id="17" name="Text 13"/>
          <p:cNvSpPr/>
          <p:nvPr/>
        </p:nvSpPr>
        <p:spPr>
          <a:xfrm>
            <a:off x="612697" y="5111183"/>
            <a:ext cx="1825966" cy="636759"/>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Private sector tech firms under active espionage threat</a:t>
            </a:r>
            <a:endParaRPr lang="en-US" sz="1000" dirty="0"/>
          </a:p>
        </p:txBody>
      </p:sp>
      <p:sp>
        <p:nvSpPr>
          <p:cNvPr id="18" name="Shape 14"/>
          <p:cNvSpPr/>
          <p:nvPr/>
        </p:nvSpPr>
        <p:spPr>
          <a:xfrm>
            <a:off x="2719656" y="4446792"/>
            <a:ext cx="2122714" cy="1449525"/>
          </a:xfrm>
          <a:prstGeom prst="roundRect">
            <a:avLst>
              <a:gd name="adj" fmla="val 3844"/>
            </a:avLst>
          </a:prstGeom>
          <a:solidFill>
            <a:srgbClr val="FFFAFA"/>
          </a:solidFill>
          <a:ln w="15754">
            <a:solidFill>
              <a:srgbClr val="BBC2DC"/>
            </a:solidFill>
            <a:prstDash val="solid"/>
          </a:ln>
        </p:spPr>
      </p:sp>
      <p:sp>
        <p:nvSpPr>
          <p:cNvPr id="19" name="Text 15"/>
          <p:cNvSpPr/>
          <p:nvPr/>
        </p:nvSpPr>
        <p:spPr>
          <a:xfrm>
            <a:off x="2868030" y="4595166"/>
            <a:ext cx="1825966" cy="436445"/>
          </a:xfrm>
          <a:prstGeom prst="rect">
            <a:avLst/>
          </a:prstGeom>
          <a:noFill/>
          <a:ln/>
        </p:spPr>
        <p:txBody>
          <a:bodyPr wrap="squar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Research Institutions</a:t>
            </a:r>
            <a:endParaRPr lang="en-US" sz="1350" dirty="0"/>
          </a:p>
        </p:txBody>
      </p:sp>
      <p:sp>
        <p:nvSpPr>
          <p:cNvPr id="20" name="Text 16"/>
          <p:cNvSpPr/>
          <p:nvPr/>
        </p:nvSpPr>
        <p:spPr>
          <a:xfrm>
            <a:off x="2868030" y="5111183"/>
            <a:ext cx="1825966" cy="636759"/>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Academic and scientific research bodies targeted for intellectual property</a:t>
            </a:r>
            <a:endParaRPr lang="en-US" sz="1000" dirty="0"/>
          </a:p>
        </p:txBody>
      </p:sp>
      <p:sp>
        <p:nvSpPr>
          <p:cNvPr id="21" name="Shape 17"/>
          <p:cNvSpPr/>
          <p:nvPr/>
        </p:nvSpPr>
        <p:spPr>
          <a:xfrm>
            <a:off x="4974990" y="4446792"/>
            <a:ext cx="2122714" cy="1449525"/>
          </a:xfrm>
          <a:prstGeom prst="roundRect">
            <a:avLst>
              <a:gd name="adj" fmla="val 3844"/>
            </a:avLst>
          </a:prstGeom>
          <a:solidFill>
            <a:srgbClr val="FFFAFA"/>
          </a:solidFill>
          <a:ln w="15754">
            <a:solidFill>
              <a:srgbClr val="BBC2DC"/>
            </a:solidFill>
            <a:prstDash val="solid"/>
          </a:ln>
        </p:spPr>
      </p:sp>
      <p:sp>
        <p:nvSpPr>
          <p:cNvPr id="22" name="Text 18"/>
          <p:cNvSpPr/>
          <p:nvPr/>
        </p:nvSpPr>
        <p:spPr>
          <a:xfrm>
            <a:off x="5123364" y="4595166"/>
            <a:ext cx="1825966" cy="436445"/>
          </a:xfrm>
          <a:prstGeom prst="rect">
            <a:avLst/>
          </a:prstGeom>
          <a:noFill/>
          <a:ln/>
        </p:spPr>
        <p:txBody>
          <a:bodyPr wrap="squar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Government Networks</a:t>
            </a:r>
            <a:endParaRPr lang="en-US" sz="1350" dirty="0"/>
          </a:p>
        </p:txBody>
      </p:sp>
      <p:sp>
        <p:nvSpPr>
          <p:cNvPr id="23" name="Text 19"/>
          <p:cNvSpPr/>
          <p:nvPr/>
        </p:nvSpPr>
        <p:spPr>
          <a:xfrm>
            <a:off x="5123364" y="5111183"/>
            <a:ext cx="1825966" cy="636759"/>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State infrastructure and government systems under persistent threat</a:t>
            </a:r>
            <a:endParaRPr lang="en-US" sz="1000" dirty="0"/>
          </a:p>
        </p:txBody>
      </p:sp>
      <p:sp>
        <p:nvSpPr>
          <p:cNvPr id="24" name="Shape 20"/>
          <p:cNvSpPr/>
          <p:nvPr/>
        </p:nvSpPr>
        <p:spPr>
          <a:xfrm>
            <a:off x="464323" y="6045553"/>
            <a:ext cx="6633381" cy="563649"/>
          </a:xfrm>
          <a:prstGeom prst="roundRect">
            <a:avLst>
              <a:gd name="adj" fmla="val 9886"/>
            </a:avLst>
          </a:prstGeom>
          <a:solidFill>
            <a:srgbClr val="C0CAF2"/>
          </a:solidFill>
          <a:ln/>
        </p:spPr>
      </p:sp>
      <p:pic>
        <p:nvPicPr>
          <p:cNvPr id="25" name="Image 2" descr="preencoded.png"/>
          <p:cNvPicPr>
            <a:picLocks noChangeAspect="1"/>
          </p:cNvPicPr>
          <p:nvPr/>
        </p:nvPicPr>
        <p:blipFill>
          <a:blip r:embed="rId7"/>
          <a:stretch>
            <a:fillRect/>
          </a:stretch>
        </p:blipFill>
        <p:spPr>
          <a:xfrm>
            <a:off x="596942" y="6244882"/>
            <a:ext cx="165790" cy="132620"/>
          </a:xfrm>
          <a:prstGeom prst="rect">
            <a:avLst/>
          </a:prstGeom>
        </p:spPr>
      </p:pic>
      <p:sp>
        <p:nvSpPr>
          <p:cNvPr id="26" name="Text 21"/>
          <p:cNvSpPr/>
          <p:nvPr/>
        </p:nvSpPr>
        <p:spPr>
          <a:xfrm>
            <a:off x="895352" y="6211281"/>
            <a:ext cx="6069733" cy="212253"/>
          </a:xfrm>
          <a:prstGeom prst="rect">
            <a:avLst/>
          </a:prstGeom>
          <a:noFill/>
          <a:ln/>
        </p:spPr>
        <p:txBody>
          <a:bodyPr wrap="none" lIns="0" tIns="0" rIns="0" bIns="0" rtlCol="0" anchor="t"/>
          <a:lstStyle/>
          <a:p>
            <a:pPr marL="0" indent="0" algn="l">
              <a:lnSpc>
                <a:spcPts val="1650"/>
              </a:lnSpc>
              <a:buNone/>
            </a:pPr>
            <a:r>
              <a:rPr lang="en-US" sz="1000" dirty="0">
                <a:solidFill>
                  <a:srgbClr val="000000"/>
                </a:solidFill>
                <a:latin typeface="Sora Light" pitchFamily="34" charset="0"/>
                <a:ea typeface="Sora Light" pitchFamily="34" charset="-122"/>
                <a:cs typeface="Sora Light" pitchFamily="34" charset="-120"/>
              </a:rPr>
              <a:t>🔗 Source: </a:t>
            </a:r>
            <a:r>
              <a:rPr lang="en-US" sz="1000" u="sng" dirty="0">
                <a:solidFill>
                  <a:srgbClr val="1A2D7A"/>
                </a:solidFill>
                <a:latin typeface="Sora Light" pitchFamily="34" charset="0"/>
                <a:ea typeface="Sora Light" pitchFamily="34" charset="-122"/>
                <a:cs typeface="Sora Light" pitchFamily="34" charset="-120"/>
                <a:hlinkClick r:id="rId8">
                  <a:extLst>
                    <a:ext uri="{A12FA001-AC4F-418D-AE19-62706E023703}">
                      <ahyp:hlinkClr xmlns:ahyp="http://schemas.microsoft.com/office/drawing/2018/hyperlinkcolor" val="tx"/>
                    </a:ext>
                  </a:extLst>
                </a:hlinkClick>
              </a:rPr>
              <a:t>The Cyber Express Weekly Roundup — March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64323" y="364812"/>
            <a:ext cx="6633381" cy="880644"/>
          </a:xfrm>
          <a:prstGeom prst="rect">
            <a:avLst/>
          </a:prstGeom>
          <a:noFill/>
          <a:ln/>
        </p:spPr>
        <p:txBody>
          <a:bodyPr wrap="square" lIns="0" tIns="0" rIns="0" bIns="0" rtlCol="0" anchor="t"/>
          <a:lstStyle/>
          <a:p>
            <a:pPr marL="0" indent="0" algn="l">
              <a:lnSpc>
                <a:spcPts val="3400"/>
              </a:lnSpc>
              <a:buNone/>
            </a:pPr>
            <a:r>
              <a:rPr lang="en-US" sz="2700" dirty="0">
                <a:solidFill>
                  <a:srgbClr val="000000"/>
                </a:solidFill>
                <a:latin typeface="Alexandria Semi Bold" pitchFamily="34" charset="0"/>
                <a:ea typeface="Alexandria Semi Bold" pitchFamily="34" charset="-122"/>
                <a:cs typeface="Alexandria Semi Bold" pitchFamily="34" charset="-120"/>
              </a:rPr>
              <a:t>🏦</a:t>
            </a:r>
            <a:r>
              <a:rPr lang="en-US" sz="2700" dirty="0">
                <a:solidFill>
                  <a:srgbClr val="1F1E1E"/>
                </a:solidFill>
                <a:latin typeface="Alexandria Semi Bold" pitchFamily="34" charset="0"/>
                <a:ea typeface="Alexandria Semi Bold" pitchFamily="34" charset="-122"/>
                <a:cs typeface="Alexandria Semi Bold" pitchFamily="34" charset="-120"/>
              </a:rPr>
              <a:t> ClipXDaemon: New Linux Crypto-Stealing Malware</a:t>
            </a:r>
            <a:endParaRPr lang="en-US" sz="2700" dirty="0"/>
          </a:p>
        </p:txBody>
      </p:sp>
      <p:sp>
        <p:nvSpPr>
          <p:cNvPr id="3" name="Text 1"/>
          <p:cNvSpPr/>
          <p:nvPr/>
        </p:nvSpPr>
        <p:spPr>
          <a:xfrm>
            <a:off x="464323" y="1510757"/>
            <a:ext cx="6633381" cy="636759"/>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A new Linux malware called </a:t>
            </a:r>
            <a:r>
              <a:rPr lang="en-US" sz="1000" b="1" dirty="0">
                <a:solidFill>
                  <a:srgbClr val="3B3535"/>
                </a:solidFill>
                <a:latin typeface="Sora Light" pitchFamily="34" charset="0"/>
                <a:ea typeface="Sora Light" pitchFamily="34" charset="-122"/>
                <a:cs typeface="Sora Light" pitchFamily="34" charset="-120"/>
              </a:rPr>
              <a:t>ClipXDaemon</a:t>
            </a:r>
            <a:r>
              <a:rPr lang="en-US" sz="1000" dirty="0">
                <a:solidFill>
                  <a:srgbClr val="3B3535"/>
                </a:solidFill>
                <a:latin typeface="Sora Light" pitchFamily="34" charset="0"/>
                <a:ea typeface="Sora Light" pitchFamily="34" charset="-122"/>
                <a:cs typeface="Sora Light" pitchFamily="34" charset="-120"/>
              </a:rPr>
              <a:t> silently hijacks clipboard data to replace cryptocurrency wallet addresses, targeting </a:t>
            </a:r>
            <a:r>
              <a:rPr lang="en-US" sz="1000" b="1" dirty="0">
                <a:solidFill>
                  <a:srgbClr val="3B3535"/>
                </a:solidFill>
                <a:latin typeface="Sora Light" pitchFamily="34" charset="0"/>
                <a:ea typeface="Sora Light" pitchFamily="34" charset="-122"/>
                <a:cs typeface="Sora Light" pitchFamily="34" charset="-120"/>
              </a:rPr>
              <a:t>Bitcoin, Ethereum, Monero, Dogecoin, and Litecoin</a:t>
            </a:r>
            <a:r>
              <a:rPr lang="en-US" sz="1000" dirty="0">
                <a:solidFill>
                  <a:srgbClr val="3B3535"/>
                </a:solidFill>
                <a:latin typeface="Sora Light" pitchFamily="34" charset="0"/>
                <a:ea typeface="Sora Light" pitchFamily="34" charset="-122"/>
                <a:cs typeface="Sora Light" pitchFamily="34" charset="-120"/>
              </a:rPr>
              <a:t>. It disguises itself as a kernel process and persists via ~/.profile modification.</a:t>
            </a:r>
            <a:endParaRPr lang="en-US" sz="1000" dirty="0"/>
          </a:p>
        </p:txBody>
      </p:sp>
      <p:sp>
        <p:nvSpPr>
          <p:cNvPr id="4" name="Shape 2"/>
          <p:cNvSpPr/>
          <p:nvPr/>
        </p:nvSpPr>
        <p:spPr>
          <a:xfrm>
            <a:off x="368750" y="2296752"/>
            <a:ext cx="3345953" cy="3858958"/>
          </a:xfrm>
          <a:prstGeom prst="roundRect">
            <a:avLst>
              <a:gd name="adj" fmla="val 2855"/>
            </a:avLst>
          </a:prstGeom>
          <a:solidFill>
            <a:srgbClr val="1A2D7A"/>
          </a:solidFill>
          <a:ln/>
        </p:spPr>
      </p:sp>
      <p:sp>
        <p:nvSpPr>
          <p:cNvPr id="5" name="Text 3"/>
          <p:cNvSpPr/>
          <p:nvPr/>
        </p:nvSpPr>
        <p:spPr>
          <a:xfrm>
            <a:off x="501370" y="2429372"/>
            <a:ext cx="2361060" cy="218223"/>
          </a:xfrm>
          <a:prstGeom prst="rect">
            <a:avLst/>
          </a:prstGeom>
          <a:noFill/>
          <a:ln/>
        </p:spPr>
        <p:txBody>
          <a:bodyPr wrap="none" lIns="0" tIns="0" rIns="0" bIns="0" rtlCol="0" anchor="t"/>
          <a:lstStyle/>
          <a:p>
            <a:pPr marL="0" indent="0" algn="l">
              <a:lnSpc>
                <a:spcPts val="1700"/>
              </a:lnSpc>
              <a:buNone/>
            </a:pPr>
            <a:r>
              <a:rPr lang="en-US" sz="1350" dirty="0">
                <a:solidFill>
                  <a:srgbClr val="FFFFFF"/>
                </a:solidFill>
                <a:latin typeface="Alexandria Semi Bold" pitchFamily="34" charset="0"/>
                <a:ea typeface="Alexandria Semi Bold" pitchFamily="34" charset="-122"/>
                <a:cs typeface="Alexandria Semi Bold" pitchFamily="34" charset="-120"/>
              </a:rPr>
              <a:t>Targeted Cryptocurrencies</a:t>
            </a:r>
            <a:endParaRPr lang="en-US" sz="1350" dirty="0"/>
          </a:p>
        </p:txBody>
      </p:sp>
      <p:sp>
        <p:nvSpPr>
          <p:cNvPr id="6" name="Text 4"/>
          <p:cNvSpPr/>
          <p:nvPr/>
        </p:nvSpPr>
        <p:spPr>
          <a:xfrm>
            <a:off x="501370" y="2780214"/>
            <a:ext cx="3080714" cy="1246872"/>
          </a:xfrm>
          <a:prstGeom prst="rect">
            <a:avLst/>
          </a:prstGeom>
          <a:noFill/>
          <a:ln/>
        </p:spPr>
        <p:txBody>
          <a:bodyPr wrap="square" lIns="0" tIns="0" rIns="0" bIns="0" rtlCol="0" anchor="t"/>
          <a:lstStyle/>
          <a:p>
            <a:pPr marL="342900" indent="-342900" algn="l">
              <a:lnSpc>
                <a:spcPts val="1650"/>
              </a:lnSpc>
              <a:buSzPct val="100000"/>
              <a:buChar char="•"/>
            </a:pPr>
            <a:r>
              <a:rPr lang="en-US" sz="1000" dirty="0">
                <a:solidFill>
                  <a:srgbClr val="FFFFFF"/>
                </a:solidFill>
                <a:latin typeface="Sora Light" pitchFamily="34" charset="0"/>
                <a:ea typeface="Sora Light" pitchFamily="34" charset="-122"/>
                <a:cs typeface="Sora Light" pitchFamily="34" charset="-120"/>
              </a:rPr>
              <a:t>Bitcoin</a:t>
            </a:r>
            <a:endParaRPr lang="en-US" sz="1000" dirty="0"/>
          </a:p>
          <a:p>
            <a:pPr marL="342900" indent="-342900" algn="l">
              <a:lnSpc>
                <a:spcPts val="1650"/>
              </a:lnSpc>
              <a:buSzPct val="100000"/>
              <a:buChar char="•"/>
            </a:pPr>
            <a:r>
              <a:rPr lang="en-US" sz="1000" dirty="0">
                <a:solidFill>
                  <a:srgbClr val="FFFFFF"/>
                </a:solidFill>
                <a:latin typeface="Sora Light" pitchFamily="34" charset="0"/>
                <a:ea typeface="Sora Light" pitchFamily="34" charset="-122"/>
                <a:cs typeface="Sora Light" pitchFamily="34" charset="-120"/>
              </a:rPr>
              <a:t>Ethereum</a:t>
            </a:r>
            <a:endParaRPr lang="en-US" sz="1000" dirty="0"/>
          </a:p>
          <a:p>
            <a:pPr marL="342900" indent="-342900" algn="l">
              <a:lnSpc>
                <a:spcPts val="1650"/>
              </a:lnSpc>
              <a:buSzPct val="100000"/>
              <a:buChar char="•"/>
            </a:pPr>
            <a:r>
              <a:rPr lang="en-US" sz="1000" dirty="0">
                <a:solidFill>
                  <a:srgbClr val="FFFFFF"/>
                </a:solidFill>
                <a:latin typeface="Sora Light" pitchFamily="34" charset="0"/>
                <a:ea typeface="Sora Light" pitchFamily="34" charset="-122"/>
                <a:cs typeface="Sora Light" pitchFamily="34" charset="-120"/>
              </a:rPr>
              <a:t>Monero</a:t>
            </a:r>
            <a:endParaRPr lang="en-US" sz="1000" dirty="0"/>
          </a:p>
          <a:p>
            <a:pPr marL="342900" indent="-342900" algn="l">
              <a:lnSpc>
                <a:spcPts val="1650"/>
              </a:lnSpc>
              <a:buSzPct val="100000"/>
              <a:buChar char="•"/>
            </a:pPr>
            <a:r>
              <a:rPr lang="en-US" sz="1000" dirty="0">
                <a:solidFill>
                  <a:srgbClr val="FFFFFF"/>
                </a:solidFill>
                <a:latin typeface="Sora Light" pitchFamily="34" charset="0"/>
                <a:ea typeface="Sora Light" pitchFamily="34" charset="-122"/>
                <a:cs typeface="Sora Light" pitchFamily="34" charset="-120"/>
              </a:rPr>
              <a:t>Dogecoin</a:t>
            </a:r>
            <a:endParaRPr lang="en-US" sz="1000" dirty="0"/>
          </a:p>
          <a:p>
            <a:pPr marL="342900" indent="-342900" algn="l">
              <a:lnSpc>
                <a:spcPts val="1650"/>
              </a:lnSpc>
              <a:buSzPct val="100000"/>
              <a:buChar char="•"/>
            </a:pPr>
            <a:r>
              <a:rPr lang="en-US" sz="1000" dirty="0">
                <a:solidFill>
                  <a:srgbClr val="FFFFFF"/>
                </a:solidFill>
                <a:latin typeface="Sora Light" pitchFamily="34" charset="0"/>
                <a:ea typeface="Sora Light" pitchFamily="34" charset="-122"/>
                <a:cs typeface="Sora Light" pitchFamily="34" charset="-120"/>
              </a:rPr>
              <a:t>Litecoin</a:t>
            </a:r>
            <a:endParaRPr lang="en-US" sz="1000" dirty="0"/>
          </a:p>
        </p:txBody>
      </p:sp>
      <p:sp>
        <p:nvSpPr>
          <p:cNvPr id="7" name="Text 5"/>
          <p:cNvSpPr/>
          <p:nvPr/>
        </p:nvSpPr>
        <p:spPr>
          <a:xfrm>
            <a:off x="3946772" y="2429372"/>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1F1E1E"/>
                </a:solidFill>
                <a:latin typeface="Alexandria Semi Bold" pitchFamily="34" charset="0"/>
                <a:ea typeface="Alexandria Semi Bold" pitchFamily="34" charset="-122"/>
                <a:cs typeface="Alexandria Semi Bold" pitchFamily="34" charset="-120"/>
              </a:rPr>
              <a:t>How It Works</a:t>
            </a:r>
            <a:endParaRPr lang="en-US" sz="1350" dirty="0"/>
          </a:p>
        </p:txBody>
      </p:sp>
      <p:sp>
        <p:nvSpPr>
          <p:cNvPr id="8" name="Shape 6"/>
          <p:cNvSpPr/>
          <p:nvPr/>
        </p:nvSpPr>
        <p:spPr>
          <a:xfrm>
            <a:off x="3946772" y="2796830"/>
            <a:ext cx="298471" cy="298471"/>
          </a:xfrm>
          <a:prstGeom prst="roundRect">
            <a:avLst>
              <a:gd name="adj" fmla="val 18669"/>
            </a:avLst>
          </a:prstGeom>
          <a:solidFill>
            <a:srgbClr val="D5DCF6"/>
          </a:solidFill>
          <a:ln w="7877">
            <a:solidFill>
              <a:srgbClr val="BBC2DC"/>
            </a:solidFill>
            <a:prstDash val="solid"/>
          </a:ln>
        </p:spPr>
      </p:sp>
      <p:sp>
        <p:nvSpPr>
          <p:cNvPr id="9" name="Text 7"/>
          <p:cNvSpPr/>
          <p:nvPr/>
        </p:nvSpPr>
        <p:spPr>
          <a:xfrm>
            <a:off x="3991297" y="2815169"/>
            <a:ext cx="209422" cy="261793"/>
          </a:xfrm>
          <a:prstGeom prst="rect">
            <a:avLst/>
          </a:prstGeom>
          <a:noFill/>
          <a:ln/>
        </p:spPr>
        <p:txBody>
          <a:bodyPr wrap="none" lIns="0" tIns="0" rIns="0" bIns="0" rtlCol="0" anchor="t"/>
          <a:lstStyle/>
          <a:p>
            <a:pPr marL="0" indent="0" algn="ctr">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1</a:t>
            </a:r>
            <a:endParaRPr lang="en-US" sz="1600" dirty="0"/>
          </a:p>
        </p:txBody>
      </p:sp>
      <p:sp>
        <p:nvSpPr>
          <p:cNvPr id="10" name="Text 8"/>
          <p:cNvSpPr/>
          <p:nvPr/>
        </p:nvSpPr>
        <p:spPr>
          <a:xfrm>
            <a:off x="4377863" y="2842432"/>
            <a:ext cx="1755625"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Clipboard Hijacking</a:t>
            </a:r>
            <a:endParaRPr lang="en-US" sz="1350" dirty="0"/>
          </a:p>
        </p:txBody>
      </p:sp>
      <p:sp>
        <p:nvSpPr>
          <p:cNvPr id="11" name="Text 9"/>
          <p:cNvSpPr/>
          <p:nvPr/>
        </p:nvSpPr>
        <p:spPr>
          <a:xfrm>
            <a:off x="4377863" y="3193274"/>
            <a:ext cx="2723718" cy="636759"/>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Silently monitors and replaces cryptocurrency wallet addresses in clipboard data</a:t>
            </a:r>
            <a:endParaRPr lang="en-US" sz="1000" dirty="0"/>
          </a:p>
        </p:txBody>
      </p:sp>
      <p:sp>
        <p:nvSpPr>
          <p:cNvPr id="12" name="Shape 10"/>
          <p:cNvSpPr/>
          <p:nvPr/>
        </p:nvSpPr>
        <p:spPr>
          <a:xfrm>
            <a:off x="3946772" y="4095335"/>
            <a:ext cx="298471" cy="298471"/>
          </a:xfrm>
          <a:prstGeom prst="roundRect">
            <a:avLst>
              <a:gd name="adj" fmla="val 18669"/>
            </a:avLst>
          </a:prstGeom>
          <a:solidFill>
            <a:srgbClr val="D5DCF6"/>
          </a:solidFill>
          <a:ln w="7877">
            <a:solidFill>
              <a:srgbClr val="BBC2DC"/>
            </a:solidFill>
            <a:prstDash val="solid"/>
          </a:ln>
        </p:spPr>
      </p:sp>
      <p:sp>
        <p:nvSpPr>
          <p:cNvPr id="13" name="Text 11"/>
          <p:cNvSpPr/>
          <p:nvPr/>
        </p:nvSpPr>
        <p:spPr>
          <a:xfrm>
            <a:off x="3991297" y="4113674"/>
            <a:ext cx="209422" cy="261793"/>
          </a:xfrm>
          <a:prstGeom prst="rect">
            <a:avLst/>
          </a:prstGeom>
          <a:noFill/>
          <a:ln/>
        </p:spPr>
        <p:txBody>
          <a:bodyPr wrap="none" lIns="0" tIns="0" rIns="0" bIns="0" rtlCol="0" anchor="t"/>
          <a:lstStyle/>
          <a:p>
            <a:pPr marL="0" indent="0" algn="ctr">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2</a:t>
            </a:r>
            <a:endParaRPr lang="en-US" sz="1600" dirty="0"/>
          </a:p>
        </p:txBody>
      </p:sp>
      <p:sp>
        <p:nvSpPr>
          <p:cNvPr id="14" name="Text 12"/>
          <p:cNvSpPr/>
          <p:nvPr/>
        </p:nvSpPr>
        <p:spPr>
          <a:xfrm>
            <a:off x="4377863" y="4140936"/>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Kernel Disguise</a:t>
            </a:r>
            <a:endParaRPr lang="en-US" sz="1350" dirty="0"/>
          </a:p>
        </p:txBody>
      </p:sp>
      <p:sp>
        <p:nvSpPr>
          <p:cNvPr id="15" name="Text 13"/>
          <p:cNvSpPr/>
          <p:nvPr/>
        </p:nvSpPr>
        <p:spPr>
          <a:xfrm>
            <a:off x="4377863" y="4491778"/>
            <a:ext cx="2723718"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Disguises itself as a legitimate kernel process to evade detection</a:t>
            </a:r>
            <a:endParaRPr lang="en-US" sz="1000" dirty="0"/>
          </a:p>
        </p:txBody>
      </p:sp>
      <p:sp>
        <p:nvSpPr>
          <p:cNvPr id="16" name="Shape 14"/>
          <p:cNvSpPr/>
          <p:nvPr/>
        </p:nvSpPr>
        <p:spPr>
          <a:xfrm>
            <a:off x="3946772" y="5181586"/>
            <a:ext cx="298471" cy="298471"/>
          </a:xfrm>
          <a:prstGeom prst="roundRect">
            <a:avLst>
              <a:gd name="adj" fmla="val 18669"/>
            </a:avLst>
          </a:prstGeom>
          <a:solidFill>
            <a:srgbClr val="D5DCF6"/>
          </a:solidFill>
          <a:ln w="7877">
            <a:solidFill>
              <a:srgbClr val="BBC2DC"/>
            </a:solidFill>
            <a:prstDash val="solid"/>
          </a:ln>
        </p:spPr>
      </p:sp>
      <p:sp>
        <p:nvSpPr>
          <p:cNvPr id="17" name="Text 15"/>
          <p:cNvSpPr/>
          <p:nvPr/>
        </p:nvSpPr>
        <p:spPr>
          <a:xfrm>
            <a:off x="3991297" y="5199925"/>
            <a:ext cx="209422" cy="261793"/>
          </a:xfrm>
          <a:prstGeom prst="rect">
            <a:avLst/>
          </a:prstGeom>
          <a:noFill/>
          <a:ln/>
        </p:spPr>
        <p:txBody>
          <a:bodyPr wrap="none" lIns="0" tIns="0" rIns="0" bIns="0" rtlCol="0" anchor="t"/>
          <a:lstStyle/>
          <a:p>
            <a:pPr marL="0" indent="0" algn="ctr">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3</a:t>
            </a:r>
            <a:endParaRPr lang="en-US" sz="1600" dirty="0"/>
          </a:p>
        </p:txBody>
      </p:sp>
      <p:sp>
        <p:nvSpPr>
          <p:cNvPr id="18" name="Text 16"/>
          <p:cNvSpPr/>
          <p:nvPr/>
        </p:nvSpPr>
        <p:spPr>
          <a:xfrm>
            <a:off x="4377863" y="5227187"/>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Persistence</a:t>
            </a:r>
            <a:endParaRPr lang="en-US" sz="1350" dirty="0"/>
          </a:p>
        </p:txBody>
      </p:sp>
      <p:sp>
        <p:nvSpPr>
          <p:cNvPr id="19" name="Text 17"/>
          <p:cNvSpPr/>
          <p:nvPr/>
        </p:nvSpPr>
        <p:spPr>
          <a:xfrm>
            <a:off x="4377863" y="5578030"/>
            <a:ext cx="2723718" cy="428445"/>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Persists on the system via </a:t>
            </a:r>
            <a:r>
              <a:rPr lang="en-US" sz="1000" dirty="0">
                <a:solidFill>
                  <a:srgbClr val="3B3535"/>
                </a:solidFill>
                <a:highlight>
                  <a:srgbClr val="F2EDED"/>
                </a:highlight>
                <a:latin typeface="Consolas" pitchFamily="34" charset="0"/>
                <a:ea typeface="Consolas" pitchFamily="34" charset="-122"/>
                <a:cs typeface="Consolas" pitchFamily="34" charset="-120"/>
              </a:rPr>
              <a:t>~/.profile</a:t>
            </a:r>
            <a:r>
              <a:rPr lang="en-US" sz="1000" dirty="0">
                <a:solidFill>
                  <a:srgbClr val="3B3535"/>
                </a:solidFill>
                <a:latin typeface="Sora Light" pitchFamily="34" charset="0"/>
                <a:ea typeface="Sora Light" pitchFamily="34" charset="-122"/>
                <a:cs typeface="Sora Light" pitchFamily="34" charset="-120"/>
              </a:rPr>
              <a:t> modification</a:t>
            </a:r>
            <a:endParaRPr lang="en-US" sz="1000" dirty="0"/>
          </a:p>
        </p:txBody>
      </p:sp>
      <p:sp>
        <p:nvSpPr>
          <p:cNvPr id="20" name="Shape 18"/>
          <p:cNvSpPr/>
          <p:nvPr/>
        </p:nvSpPr>
        <p:spPr>
          <a:xfrm>
            <a:off x="464323" y="6304946"/>
            <a:ext cx="6633381" cy="563649"/>
          </a:xfrm>
          <a:prstGeom prst="roundRect">
            <a:avLst>
              <a:gd name="adj" fmla="val 9886"/>
            </a:avLst>
          </a:prstGeom>
          <a:solidFill>
            <a:srgbClr val="C0CAF2"/>
          </a:solidFill>
          <a:ln/>
        </p:spPr>
      </p:sp>
      <p:pic>
        <p:nvPicPr>
          <p:cNvPr id="21" name="Image 0" descr="preencoded.png"/>
          <p:cNvPicPr>
            <a:picLocks noChangeAspect="1"/>
          </p:cNvPicPr>
          <p:nvPr/>
        </p:nvPicPr>
        <p:blipFill>
          <a:blip r:embed="rId3"/>
          <a:stretch>
            <a:fillRect/>
          </a:stretch>
        </p:blipFill>
        <p:spPr>
          <a:xfrm>
            <a:off x="596942" y="6504275"/>
            <a:ext cx="165790" cy="132620"/>
          </a:xfrm>
          <a:prstGeom prst="rect">
            <a:avLst/>
          </a:prstGeom>
        </p:spPr>
      </p:pic>
      <p:sp>
        <p:nvSpPr>
          <p:cNvPr id="22" name="Text 19"/>
          <p:cNvSpPr/>
          <p:nvPr/>
        </p:nvSpPr>
        <p:spPr>
          <a:xfrm>
            <a:off x="895352" y="6470674"/>
            <a:ext cx="6069733" cy="212253"/>
          </a:xfrm>
          <a:prstGeom prst="rect">
            <a:avLst/>
          </a:prstGeom>
          <a:noFill/>
          <a:ln/>
        </p:spPr>
        <p:txBody>
          <a:bodyPr wrap="none" lIns="0" tIns="0" rIns="0" bIns="0" rtlCol="0" anchor="t"/>
          <a:lstStyle/>
          <a:p>
            <a:pPr marL="0" indent="0" algn="l">
              <a:lnSpc>
                <a:spcPts val="1650"/>
              </a:lnSpc>
              <a:buNone/>
            </a:pPr>
            <a:r>
              <a:rPr lang="en-US" sz="1000" dirty="0">
                <a:solidFill>
                  <a:srgbClr val="000000"/>
                </a:solidFill>
                <a:latin typeface="Sora Light" pitchFamily="34" charset="0"/>
                <a:ea typeface="Sora Light" pitchFamily="34" charset="-122"/>
                <a:cs typeface="Sora Light" pitchFamily="34" charset="-120"/>
              </a:rPr>
              <a:t>🔗 Source: </a:t>
            </a:r>
            <a:r>
              <a:rPr lang="en-US" sz="1000" u="sng" dirty="0">
                <a:solidFill>
                  <a:srgbClr val="1A2D7A"/>
                </a:solidFill>
                <a:latin typeface="Sora Light" pitchFamily="34" charset="0"/>
                <a:ea typeface="Sora Light" pitchFamily="34" charset="-122"/>
                <a:cs typeface="Sora Light" pitchFamily="34" charset="-120"/>
                <a:hlinkClick r:id="rId4">
                  <a:extLst>
                    <a:ext uri="{A12FA001-AC4F-418D-AE19-62706E023703}">
                      <ahyp:hlinkClr xmlns:ahyp="http://schemas.microsoft.com/office/drawing/2018/hyperlinkcolor" val="tx"/>
                    </a:ext>
                  </a:extLst>
                </a:hlinkClick>
              </a:rPr>
              <a:t>The Cyber Express Weekly Roundup — March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64323" y="364812"/>
            <a:ext cx="6633381" cy="880644"/>
          </a:xfrm>
          <a:prstGeom prst="rect">
            <a:avLst/>
          </a:prstGeom>
          <a:noFill/>
          <a:ln/>
        </p:spPr>
        <p:txBody>
          <a:bodyPr wrap="square" lIns="0" tIns="0" rIns="0" bIns="0" rtlCol="0" anchor="t"/>
          <a:lstStyle/>
          <a:p>
            <a:pPr marL="0" indent="0" algn="l">
              <a:lnSpc>
                <a:spcPts val="3400"/>
              </a:lnSpc>
              <a:buNone/>
            </a:pPr>
            <a:r>
              <a:rPr lang="en-US" sz="2700" dirty="0">
                <a:solidFill>
                  <a:srgbClr val="000000"/>
                </a:solidFill>
                <a:latin typeface="Alexandria Semi Bold" pitchFamily="34" charset="0"/>
                <a:ea typeface="Alexandria Semi Bold" pitchFamily="34" charset="-122"/>
                <a:cs typeface="Alexandria Semi Bold" pitchFamily="34" charset="-120"/>
              </a:rPr>
              <a:t>🇵🇱</a:t>
            </a:r>
            <a:r>
              <a:rPr lang="en-US" sz="2700" dirty="0">
                <a:solidFill>
                  <a:srgbClr val="1F1E1E"/>
                </a:solidFill>
                <a:latin typeface="Alexandria Semi Bold" pitchFamily="34" charset="0"/>
                <a:ea typeface="Alexandria Semi Bold" pitchFamily="34" charset="-122"/>
                <a:cs typeface="Alexandria Semi Bold" pitchFamily="34" charset="-120"/>
              </a:rPr>
              <a:t> Polish Hospital Forced Back to Paper</a:t>
            </a:r>
            <a:endParaRPr lang="en-US" sz="2700" dirty="0"/>
          </a:p>
        </p:txBody>
      </p:sp>
      <p:sp>
        <p:nvSpPr>
          <p:cNvPr id="3" name="Text 1"/>
          <p:cNvSpPr/>
          <p:nvPr/>
        </p:nvSpPr>
        <p:spPr>
          <a:xfrm>
            <a:off x="464323" y="1510757"/>
            <a:ext cx="6633381"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A cyberattack on </a:t>
            </a:r>
            <a:r>
              <a:rPr lang="en-US" sz="1000" b="1" dirty="0">
                <a:solidFill>
                  <a:srgbClr val="3B3535"/>
                </a:solidFill>
                <a:latin typeface="Sora Light" pitchFamily="34" charset="0"/>
                <a:ea typeface="Sora Light" pitchFamily="34" charset="-122"/>
                <a:cs typeface="Sora Light" pitchFamily="34" charset="-120"/>
              </a:rPr>
              <a:t>March 7–8</a:t>
            </a:r>
            <a:r>
              <a:rPr lang="en-US" sz="1000" dirty="0">
                <a:solidFill>
                  <a:srgbClr val="3B3535"/>
                </a:solidFill>
                <a:latin typeface="Sora Light" pitchFamily="34" charset="0"/>
                <a:ea typeface="Sora Light" pitchFamily="34" charset="-122"/>
                <a:cs typeface="Sora Light" pitchFamily="34" charset="-120"/>
              </a:rPr>
              <a:t> encrypted IT systems at a regional hospital in </a:t>
            </a:r>
            <a:r>
              <a:rPr lang="en-US" sz="1000" b="1" dirty="0">
                <a:solidFill>
                  <a:srgbClr val="3B3535"/>
                </a:solidFill>
                <a:latin typeface="Sora Light" pitchFamily="34" charset="0"/>
                <a:ea typeface="Sora Light" pitchFamily="34" charset="-122"/>
                <a:cs typeface="Sora Light" pitchFamily="34" charset="-120"/>
              </a:rPr>
              <a:t>Szczecin, Poland</a:t>
            </a:r>
            <a:r>
              <a:rPr lang="en-US" sz="1000" dirty="0">
                <a:solidFill>
                  <a:srgbClr val="3B3535"/>
                </a:solidFill>
                <a:latin typeface="Sora Light" pitchFamily="34" charset="0"/>
                <a:ea typeface="Sora Light" pitchFamily="34" charset="-122"/>
                <a:cs typeface="Sora Light" pitchFamily="34" charset="-120"/>
              </a:rPr>
              <a:t>, forcing staff to revert to manual paper-based operations, though patient care continued.</a:t>
            </a:r>
            <a:endParaRPr lang="en-US" sz="1000" dirty="0"/>
          </a:p>
        </p:txBody>
      </p:sp>
      <p:sp>
        <p:nvSpPr>
          <p:cNvPr id="4" name="Shape 2"/>
          <p:cNvSpPr/>
          <p:nvPr/>
        </p:nvSpPr>
        <p:spPr>
          <a:xfrm>
            <a:off x="464323" y="3337464"/>
            <a:ext cx="6633381" cy="15754"/>
          </a:xfrm>
          <a:prstGeom prst="roundRect">
            <a:avLst>
              <a:gd name="adj" fmla="val 353693"/>
            </a:avLst>
          </a:prstGeom>
          <a:solidFill>
            <a:srgbClr val="BBC2DC"/>
          </a:solidFill>
          <a:ln/>
        </p:spPr>
      </p:sp>
      <p:sp>
        <p:nvSpPr>
          <p:cNvPr id="5" name="Shape 3"/>
          <p:cNvSpPr/>
          <p:nvPr/>
        </p:nvSpPr>
        <p:spPr>
          <a:xfrm>
            <a:off x="2073297" y="2939481"/>
            <a:ext cx="15754" cy="397982"/>
          </a:xfrm>
          <a:prstGeom prst="roundRect">
            <a:avLst>
              <a:gd name="adj" fmla="val 353693"/>
            </a:avLst>
          </a:prstGeom>
          <a:solidFill>
            <a:srgbClr val="BBC2DC"/>
          </a:solidFill>
          <a:ln/>
        </p:spPr>
      </p:sp>
      <p:sp>
        <p:nvSpPr>
          <p:cNvPr id="6" name="Shape 4"/>
          <p:cNvSpPr/>
          <p:nvPr/>
        </p:nvSpPr>
        <p:spPr>
          <a:xfrm>
            <a:off x="1931939" y="3188228"/>
            <a:ext cx="298471" cy="298471"/>
          </a:xfrm>
          <a:prstGeom prst="roundRect">
            <a:avLst>
              <a:gd name="adj" fmla="val 18669"/>
            </a:avLst>
          </a:prstGeom>
          <a:solidFill>
            <a:srgbClr val="D5DCF6"/>
          </a:solidFill>
          <a:ln w="7877">
            <a:solidFill>
              <a:srgbClr val="BBC2DC"/>
            </a:solidFill>
            <a:prstDash val="solid"/>
          </a:ln>
        </p:spPr>
      </p:sp>
      <p:sp>
        <p:nvSpPr>
          <p:cNvPr id="7" name="Text 5"/>
          <p:cNvSpPr/>
          <p:nvPr/>
        </p:nvSpPr>
        <p:spPr>
          <a:xfrm>
            <a:off x="1976463" y="3206567"/>
            <a:ext cx="209422" cy="261793"/>
          </a:xfrm>
          <a:prstGeom prst="rect">
            <a:avLst/>
          </a:prstGeom>
          <a:noFill/>
          <a:ln/>
        </p:spPr>
        <p:txBody>
          <a:bodyPr wrap="none" lIns="0" tIns="0" rIns="0" bIns="0" rtlCol="0" anchor="t"/>
          <a:lstStyle/>
          <a:p>
            <a:pPr marL="0" indent="0" algn="ctr">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1</a:t>
            </a:r>
            <a:endParaRPr lang="en-US" sz="1600" dirty="0"/>
          </a:p>
        </p:txBody>
      </p:sp>
      <p:sp>
        <p:nvSpPr>
          <p:cNvPr id="8" name="Text 6"/>
          <p:cNvSpPr/>
          <p:nvPr/>
        </p:nvSpPr>
        <p:spPr>
          <a:xfrm>
            <a:off x="1208408" y="2084499"/>
            <a:ext cx="1745594" cy="218223"/>
          </a:xfrm>
          <a:prstGeom prst="rect">
            <a:avLst/>
          </a:prstGeom>
          <a:noFill/>
          <a:ln/>
        </p:spPr>
        <p:txBody>
          <a:bodyPr wrap="none" lIns="0" tIns="0" rIns="0" bIns="0" rtlCol="0" anchor="t"/>
          <a:lstStyle/>
          <a:p>
            <a:pPr marL="0" indent="0" algn="ctr">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March 7</a:t>
            </a:r>
            <a:endParaRPr lang="en-US" sz="1350" dirty="0"/>
          </a:p>
        </p:txBody>
      </p:sp>
      <p:sp>
        <p:nvSpPr>
          <p:cNvPr id="9" name="Text 7"/>
          <p:cNvSpPr/>
          <p:nvPr/>
        </p:nvSpPr>
        <p:spPr>
          <a:xfrm>
            <a:off x="596942" y="2382294"/>
            <a:ext cx="2968526" cy="424506"/>
          </a:xfrm>
          <a:prstGeom prst="rect">
            <a:avLst/>
          </a:prstGeom>
          <a:noFill/>
          <a:ln/>
        </p:spPr>
        <p:txBody>
          <a:bodyPr wrap="square" lIns="0" tIns="0" rIns="0" bIns="0" rtlCol="0" anchor="t"/>
          <a:lstStyle/>
          <a:p>
            <a:pPr marL="0" indent="0" algn="ctr">
              <a:lnSpc>
                <a:spcPts val="1650"/>
              </a:lnSpc>
              <a:buNone/>
            </a:pPr>
            <a:r>
              <a:rPr lang="en-US" sz="1000" dirty="0">
                <a:solidFill>
                  <a:srgbClr val="3B3535"/>
                </a:solidFill>
                <a:latin typeface="Sora Light" pitchFamily="34" charset="0"/>
                <a:ea typeface="Sora Light" pitchFamily="34" charset="-122"/>
                <a:cs typeface="Sora Light" pitchFamily="34" charset="-120"/>
              </a:rPr>
              <a:t>Cyberattack begins — IT systems at the regional hospital in Szczecin targeted</a:t>
            </a:r>
            <a:endParaRPr lang="en-US" sz="1000" dirty="0"/>
          </a:p>
        </p:txBody>
      </p:sp>
      <p:sp>
        <p:nvSpPr>
          <p:cNvPr id="10" name="Shape 8"/>
          <p:cNvSpPr/>
          <p:nvPr/>
        </p:nvSpPr>
        <p:spPr>
          <a:xfrm>
            <a:off x="3773105" y="3337464"/>
            <a:ext cx="15754" cy="397982"/>
          </a:xfrm>
          <a:prstGeom prst="roundRect">
            <a:avLst>
              <a:gd name="adj" fmla="val 353693"/>
            </a:avLst>
          </a:prstGeom>
          <a:solidFill>
            <a:srgbClr val="BBC2DC"/>
          </a:solidFill>
          <a:ln/>
        </p:spPr>
      </p:sp>
      <p:sp>
        <p:nvSpPr>
          <p:cNvPr id="11" name="Shape 9"/>
          <p:cNvSpPr/>
          <p:nvPr/>
        </p:nvSpPr>
        <p:spPr>
          <a:xfrm>
            <a:off x="3631747" y="3188228"/>
            <a:ext cx="298471" cy="298471"/>
          </a:xfrm>
          <a:prstGeom prst="roundRect">
            <a:avLst>
              <a:gd name="adj" fmla="val 18669"/>
            </a:avLst>
          </a:prstGeom>
          <a:solidFill>
            <a:srgbClr val="D5DCF6"/>
          </a:solidFill>
          <a:ln w="7877">
            <a:solidFill>
              <a:srgbClr val="BBC2DC"/>
            </a:solidFill>
            <a:prstDash val="solid"/>
          </a:ln>
        </p:spPr>
      </p:sp>
      <p:sp>
        <p:nvSpPr>
          <p:cNvPr id="12" name="Text 10"/>
          <p:cNvSpPr/>
          <p:nvPr/>
        </p:nvSpPr>
        <p:spPr>
          <a:xfrm>
            <a:off x="3676271" y="3206567"/>
            <a:ext cx="209422" cy="261793"/>
          </a:xfrm>
          <a:prstGeom prst="rect">
            <a:avLst/>
          </a:prstGeom>
          <a:noFill/>
          <a:ln/>
        </p:spPr>
        <p:txBody>
          <a:bodyPr wrap="none" lIns="0" tIns="0" rIns="0" bIns="0" rtlCol="0" anchor="t"/>
          <a:lstStyle/>
          <a:p>
            <a:pPr marL="0" indent="0" algn="ctr">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2</a:t>
            </a:r>
            <a:endParaRPr lang="en-US" sz="1600" dirty="0"/>
          </a:p>
        </p:txBody>
      </p:sp>
      <p:sp>
        <p:nvSpPr>
          <p:cNvPr id="13" name="Text 11"/>
          <p:cNvSpPr/>
          <p:nvPr/>
        </p:nvSpPr>
        <p:spPr>
          <a:xfrm>
            <a:off x="2908155" y="3868127"/>
            <a:ext cx="1745594" cy="218223"/>
          </a:xfrm>
          <a:prstGeom prst="rect">
            <a:avLst/>
          </a:prstGeom>
          <a:noFill/>
          <a:ln/>
        </p:spPr>
        <p:txBody>
          <a:bodyPr wrap="none" lIns="0" tIns="0" rIns="0" bIns="0" rtlCol="0" anchor="t"/>
          <a:lstStyle/>
          <a:p>
            <a:pPr marL="0" indent="0" algn="ctr">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March 7–8</a:t>
            </a:r>
            <a:endParaRPr lang="en-US" sz="1350" dirty="0"/>
          </a:p>
        </p:txBody>
      </p:sp>
      <p:sp>
        <p:nvSpPr>
          <p:cNvPr id="14" name="Text 12"/>
          <p:cNvSpPr/>
          <p:nvPr/>
        </p:nvSpPr>
        <p:spPr>
          <a:xfrm>
            <a:off x="2296689" y="4165922"/>
            <a:ext cx="2968587" cy="424506"/>
          </a:xfrm>
          <a:prstGeom prst="rect">
            <a:avLst/>
          </a:prstGeom>
          <a:noFill/>
          <a:ln/>
        </p:spPr>
        <p:txBody>
          <a:bodyPr wrap="square" lIns="0" tIns="0" rIns="0" bIns="0" rtlCol="0" anchor="t"/>
          <a:lstStyle/>
          <a:p>
            <a:pPr marL="0" indent="0" algn="ctr">
              <a:lnSpc>
                <a:spcPts val="1650"/>
              </a:lnSpc>
              <a:buNone/>
            </a:pPr>
            <a:r>
              <a:rPr lang="en-US" sz="1000" dirty="0">
                <a:solidFill>
                  <a:srgbClr val="3B3535"/>
                </a:solidFill>
                <a:latin typeface="Sora Light" pitchFamily="34" charset="0"/>
                <a:ea typeface="Sora Light" pitchFamily="34" charset="-122"/>
                <a:cs typeface="Sora Light" pitchFamily="34" charset="-120"/>
              </a:rPr>
              <a:t>IT systems encrypted — staff forced to revert to manual paper-based operations</a:t>
            </a:r>
            <a:endParaRPr lang="en-US" sz="1000" dirty="0"/>
          </a:p>
        </p:txBody>
      </p:sp>
      <p:sp>
        <p:nvSpPr>
          <p:cNvPr id="15" name="Shape 13"/>
          <p:cNvSpPr/>
          <p:nvPr/>
        </p:nvSpPr>
        <p:spPr>
          <a:xfrm>
            <a:off x="5472913" y="2939481"/>
            <a:ext cx="15754" cy="397982"/>
          </a:xfrm>
          <a:prstGeom prst="roundRect">
            <a:avLst>
              <a:gd name="adj" fmla="val 353693"/>
            </a:avLst>
          </a:prstGeom>
          <a:solidFill>
            <a:srgbClr val="BBC2DC"/>
          </a:solidFill>
          <a:ln/>
        </p:spPr>
      </p:sp>
      <p:sp>
        <p:nvSpPr>
          <p:cNvPr id="16" name="Shape 14"/>
          <p:cNvSpPr/>
          <p:nvPr/>
        </p:nvSpPr>
        <p:spPr>
          <a:xfrm>
            <a:off x="5331555" y="3188228"/>
            <a:ext cx="298471" cy="298471"/>
          </a:xfrm>
          <a:prstGeom prst="roundRect">
            <a:avLst>
              <a:gd name="adj" fmla="val 18669"/>
            </a:avLst>
          </a:prstGeom>
          <a:solidFill>
            <a:srgbClr val="D5DCF6"/>
          </a:solidFill>
          <a:ln w="7877">
            <a:solidFill>
              <a:srgbClr val="BBC2DC"/>
            </a:solidFill>
            <a:prstDash val="solid"/>
          </a:ln>
        </p:spPr>
      </p:sp>
      <p:sp>
        <p:nvSpPr>
          <p:cNvPr id="17" name="Text 15"/>
          <p:cNvSpPr/>
          <p:nvPr/>
        </p:nvSpPr>
        <p:spPr>
          <a:xfrm>
            <a:off x="5376080" y="3206567"/>
            <a:ext cx="209422" cy="261793"/>
          </a:xfrm>
          <a:prstGeom prst="rect">
            <a:avLst/>
          </a:prstGeom>
          <a:noFill/>
          <a:ln/>
        </p:spPr>
        <p:txBody>
          <a:bodyPr wrap="none" lIns="0" tIns="0" rIns="0" bIns="0" rtlCol="0" anchor="t"/>
          <a:lstStyle/>
          <a:p>
            <a:pPr marL="0" indent="0" algn="ctr">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3</a:t>
            </a:r>
            <a:endParaRPr lang="en-US" sz="1600" dirty="0"/>
          </a:p>
        </p:txBody>
      </p:sp>
      <p:sp>
        <p:nvSpPr>
          <p:cNvPr id="18" name="Text 16"/>
          <p:cNvSpPr/>
          <p:nvPr/>
        </p:nvSpPr>
        <p:spPr>
          <a:xfrm>
            <a:off x="4607963" y="2084499"/>
            <a:ext cx="1745594" cy="218223"/>
          </a:xfrm>
          <a:prstGeom prst="rect">
            <a:avLst/>
          </a:prstGeom>
          <a:noFill/>
          <a:ln/>
        </p:spPr>
        <p:txBody>
          <a:bodyPr wrap="none" lIns="0" tIns="0" rIns="0" bIns="0" rtlCol="0" anchor="t"/>
          <a:lstStyle/>
          <a:p>
            <a:pPr marL="0" indent="0" algn="ctr">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Ongoing</a:t>
            </a:r>
            <a:endParaRPr lang="en-US" sz="1350" dirty="0"/>
          </a:p>
        </p:txBody>
      </p:sp>
      <p:sp>
        <p:nvSpPr>
          <p:cNvPr id="19" name="Text 17"/>
          <p:cNvSpPr/>
          <p:nvPr/>
        </p:nvSpPr>
        <p:spPr>
          <a:xfrm>
            <a:off x="3996497" y="2382294"/>
            <a:ext cx="2968587" cy="424506"/>
          </a:xfrm>
          <a:prstGeom prst="rect">
            <a:avLst/>
          </a:prstGeom>
          <a:noFill/>
          <a:ln/>
        </p:spPr>
        <p:txBody>
          <a:bodyPr wrap="square" lIns="0" tIns="0" rIns="0" bIns="0" rtlCol="0" anchor="t"/>
          <a:lstStyle/>
          <a:p>
            <a:pPr marL="0" indent="0" algn="ctr">
              <a:lnSpc>
                <a:spcPts val="1650"/>
              </a:lnSpc>
              <a:buNone/>
            </a:pPr>
            <a:r>
              <a:rPr lang="en-US" sz="1000" dirty="0">
                <a:solidFill>
                  <a:srgbClr val="3B3535"/>
                </a:solidFill>
                <a:latin typeface="Sora Light" pitchFamily="34" charset="0"/>
                <a:ea typeface="Sora Light" pitchFamily="34" charset="-122"/>
                <a:cs typeface="Sora Light" pitchFamily="34" charset="-120"/>
              </a:rPr>
              <a:t>Patient care continued despite the disruption to digital systems</a:t>
            </a:r>
            <a:endParaRPr lang="en-US" sz="1000" dirty="0"/>
          </a:p>
        </p:txBody>
      </p:sp>
      <p:sp>
        <p:nvSpPr>
          <p:cNvPr id="20" name="Shape 18"/>
          <p:cNvSpPr/>
          <p:nvPr/>
        </p:nvSpPr>
        <p:spPr>
          <a:xfrm>
            <a:off x="464323" y="4739663"/>
            <a:ext cx="6633381" cy="563649"/>
          </a:xfrm>
          <a:prstGeom prst="roundRect">
            <a:avLst>
              <a:gd name="adj" fmla="val 9886"/>
            </a:avLst>
          </a:prstGeom>
          <a:solidFill>
            <a:srgbClr val="C0CAF2"/>
          </a:solidFill>
          <a:ln/>
        </p:spPr>
      </p:sp>
      <p:pic>
        <p:nvPicPr>
          <p:cNvPr id="21" name="Image 0" descr="preencoded.png"/>
          <p:cNvPicPr>
            <a:picLocks noChangeAspect="1"/>
          </p:cNvPicPr>
          <p:nvPr/>
        </p:nvPicPr>
        <p:blipFill>
          <a:blip r:embed="rId3"/>
          <a:stretch>
            <a:fillRect/>
          </a:stretch>
        </p:blipFill>
        <p:spPr>
          <a:xfrm>
            <a:off x="596942" y="4938993"/>
            <a:ext cx="165790" cy="132620"/>
          </a:xfrm>
          <a:prstGeom prst="rect">
            <a:avLst/>
          </a:prstGeom>
        </p:spPr>
      </p:pic>
      <p:sp>
        <p:nvSpPr>
          <p:cNvPr id="22" name="Text 19"/>
          <p:cNvSpPr/>
          <p:nvPr/>
        </p:nvSpPr>
        <p:spPr>
          <a:xfrm>
            <a:off x="895352" y="4905392"/>
            <a:ext cx="6069733" cy="212253"/>
          </a:xfrm>
          <a:prstGeom prst="rect">
            <a:avLst/>
          </a:prstGeom>
          <a:noFill/>
          <a:ln/>
        </p:spPr>
        <p:txBody>
          <a:bodyPr wrap="none" lIns="0" tIns="0" rIns="0" bIns="0" rtlCol="0" anchor="t"/>
          <a:lstStyle/>
          <a:p>
            <a:pPr marL="0" indent="0" algn="l">
              <a:lnSpc>
                <a:spcPts val="1650"/>
              </a:lnSpc>
              <a:buNone/>
            </a:pPr>
            <a:r>
              <a:rPr lang="en-US" sz="1000" dirty="0">
                <a:solidFill>
                  <a:srgbClr val="000000"/>
                </a:solidFill>
                <a:latin typeface="Sora Light" pitchFamily="34" charset="0"/>
                <a:ea typeface="Sora Light" pitchFamily="34" charset="-122"/>
                <a:cs typeface="Sora Light" pitchFamily="34" charset="-120"/>
              </a:rPr>
              <a:t>🔗 Source: </a:t>
            </a:r>
            <a:r>
              <a:rPr lang="en-US" sz="1000" u="sng" dirty="0">
                <a:solidFill>
                  <a:srgbClr val="1A2D7A"/>
                </a:solidFill>
                <a:latin typeface="Sora Light" pitchFamily="34" charset="0"/>
                <a:ea typeface="Sora Light" pitchFamily="34" charset="-122"/>
                <a:cs typeface="Sora Light" pitchFamily="34" charset="-120"/>
                <a:hlinkClick r:id="rId4">
                  <a:extLst>
                    <a:ext uri="{A12FA001-AC4F-418D-AE19-62706E023703}">
                      <ahyp:hlinkClr xmlns:ahyp="http://schemas.microsoft.com/office/drawing/2018/hyperlinkcolor" val="tx"/>
                    </a:ext>
                  </a:extLst>
                </a:hlinkClick>
              </a:rPr>
              <a:t>The Cyber Express Weekly Roundup — March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2835721" cy="10689336"/>
          </a:xfrm>
          <a:prstGeom prst="rect">
            <a:avLst/>
          </a:prstGeom>
        </p:spPr>
      </p:pic>
      <p:sp>
        <p:nvSpPr>
          <p:cNvPr id="3" name="Text 0"/>
          <p:cNvSpPr/>
          <p:nvPr/>
        </p:nvSpPr>
        <p:spPr>
          <a:xfrm>
            <a:off x="3300044" y="364812"/>
            <a:ext cx="3797598" cy="1317028"/>
          </a:xfrm>
          <a:prstGeom prst="rect">
            <a:avLst/>
          </a:prstGeom>
          <a:noFill/>
          <a:ln/>
        </p:spPr>
        <p:txBody>
          <a:bodyPr wrap="square" lIns="0" tIns="0" rIns="0" bIns="0" rtlCol="0" anchor="t"/>
          <a:lstStyle/>
          <a:p>
            <a:pPr marL="0" indent="0" algn="l">
              <a:lnSpc>
                <a:spcPts val="3400"/>
              </a:lnSpc>
              <a:buNone/>
            </a:pPr>
            <a:r>
              <a:rPr lang="en-US" sz="2700" dirty="0">
                <a:solidFill>
                  <a:srgbClr val="000000"/>
                </a:solidFill>
                <a:latin typeface="Alexandria Semi Bold" pitchFamily="34" charset="0"/>
                <a:ea typeface="Alexandria Semi Bold" pitchFamily="34" charset="-122"/>
                <a:cs typeface="Alexandria Semi Bold" pitchFamily="34" charset="-120"/>
              </a:rPr>
              <a:t>🦹</a:t>
            </a:r>
            <a:r>
              <a:rPr lang="en-US" sz="2700" dirty="0">
                <a:solidFill>
                  <a:srgbClr val="1F1E1E"/>
                </a:solidFill>
                <a:latin typeface="Alexandria Semi Bold" pitchFamily="34" charset="0"/>
                <a:ea typeface="Alexandria Semi Bold" pitchFamily="34" charset="-122"/>
                <a:cs typeface="Alexandria Semi Bold" pitchFamily="34" charset="-120"/>
              </a:rPr>
              <a:t> DragonForce Ransomware — Escalating Threat</a:t>
            </a:r>
            <a:endParaRPr lang="en-US" sz="2700" dirty="0"/>
          </a:p>
        </p:txBody>
      </p:sp>
      <p:sp>
        <p:nvSpPr>
          <p:cNvPr id="4" name="Text 1"/>
          <p:cNvSpPr/>
          <p:nvPr/>
        </p:nvSpPr>
        <p:spPr>
          <a:xfrm>
            <a:off x="3300044" y="1880800"/>
            <a:ext cx="3797598" cy="106126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The </a:t>
            </a:r>
            <a:r>
              <a:rPr lang="en-US" sz="1000" b="1" dirty="0">
                <a:solidFill>
                  <a:srgbClr val="3B3535"/>
                </a:solidFill>
                <a:latin typeface="Sora Light" pitchFamily="34" charset="0"/>
                <a:ea typeface="Sora Light" pitchFamily="34" charset="-122"/>
                <a:cs typeface="Sora Light" pitchFamily="34" charset="-120"/>
              </a:rPr>
              <a:t>DragonForce</a:t>
            </a:r>
            <a:r>
              <a:rPr lang="en-US" sz="1000" dirty="0">
                <a:solidFill>
                  <a:srgbClr val="3B3535"/>
                </a:solidFill>
                <a:latin typeface="Sora Light" pitchFamily="34" charset="0"/>
                <a:ea typeface="Sora Light" pitchFamily="34" charset="-122"/>
                <a:cs typeface="Sora Light" pitchFamily="34" charset="-120"/>
              </a:rPr>
              <a:t> ransomware group continues to pose a significant threat, employing advanced evasion techniques, cross-platform deployment, and targeting high-profile organizations across multiple industries and regions.</a:t>
            </a:r>
            <a:endParaRPr lang="en-US" sz="1000" dirty="0"/>
          </a:p>
        </p:txBody>
      </p:sp>
      <p:sp>
        <p:nvSpPr>
          <p:cNvPr id="5" name="Shape 2"/>
          <p:cNvSpPr/>
          <p:nvPr/>
        </p:nvSpPr>
        <p:spPr>
          <a:xfrm>
            <a:off x="3300044" y="3091302"/>
            <a:ext cx="3797598" cy="1533897"/>
          </a:xfrm>
          <a:prstGeom prst="roundRect">
            <a:avLst>
              <a:gd name="adj" fmla="val 3633"/>
            </a:avLst>
          </a:prstGeom>
          <a:solidFill>
            <a:srgbClr val="D5DCF6"/>
          </a:solidFill>
          <a:ln w="7877">
            <a:solidFill>
              <a:srgbClr val="BBC2DC"/>
            </a:solidFill>
            <a:prstDash val="solid"/>
          </a:ln>
        </p:spPr>
      </p:sp>
      <p:sp>
        <p:nvSpPr>
          <p:cNvPr id="6" name="Shape 3"/>
          <p:cNvSpPr/>
          <p:nvPr/>
        </p:nvSpPr>
        <p:spPr>
          <a:xfrm>
            <a:off x="3440541" y="3231799"/>
            <a:ext cx="397982" cy="397982"/>
          </a:xfrm>
          <a:prstGeom prst="roundRect">
            <a:avLst>
              <a:gd name="adj" fmla="val 11874488"/>
            </a:avLst>
          </a:prstGeom>
          <a:solidFill>
            <a:srgbClr val="1A2D7A"/>
          </a:solidFill>
          <a:ln/>
        </p:spPr>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49960" y="3341218"/>
            <a:ext cx="179083" cy="179083"/>
          </a:xfrm>
          <a:prstGeom prst="rect">
            <a:avLst/>
          </a:prstGeom>
        </p:spPr>
      </p:pic>
      <p:sp>
        <p:nvSpPr>
          <p:cNvPr id="8" name="Text 4"/>
          <p:cNvSpPr/>
          <p:nvPr/>
        </p:nvSpPr>
        <p:spPr>
          <a:xfrm>
            <a:off x="3440541" y="3762401"/>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Advanced Evasion</a:t>
            </a:r>
            <a:endParaRPr lang="en-US" sz="1350" dirty="0"/>
          </a:p>
        </p:txBody>
      </p:sp>
      <p:sp>
        <p:nvSpPr>
          <p:cNvPr id="9" name="Text 5"/>
          <p:cNvSpPr/>
          <p:nvPr/>
        </p:nvSpPr>
        <p:spPr>
          <a:xfrm>
            <a:off x="3440541" y="4060195"/>
            <a:ext cx="3516605"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Employs sophisticated techniques to bypass security defenses and avoid detection</a:t>
            </a:r>
            <a:endParaRPr lang="en-US" sz="1000" dirty="0"/>
          </a:p>
        </p:txBody>
      </p:sp>
      <p:sp>
        <p:nvSpPr>
          <p:cNvPr id="10" name="Shape 6"/>
          <p:cNvSpPr/>
          <p:nvPr/>
        </p:nvSpPr>
        <p:spPr>
          <a:xfrm>
            <a:off x="3300044" y="4757818"/>
            <a:ext cx="3797598" cy="1533897"/>
          </a:xfrm>
          <a:prstGeom prst="roundRect">
            <a:avLst>
              <a:gd name="adj" fmla="val 3633"/>
            </a:avLst>
          </a:prstGeom>
          <a:solidFill>
            <a:srgbClr val="D5DCF6"/>
          </a:solidFill>
          <a:ln w="7877">
            <a:solidFill>
              <a:srgbClr val="BBC2DC"/>
            </a:solidFill>
            <a:prstDash val="solid"/>
          </a:ln>
        </p:spPr>
      </p:sp>
      <p:sp>
        <p:nvSpPr>
          <p:cNvPr id="11" name="Shape 7"/>
          <p:cNvSpPr/>
          <p:nvPr/>
        </p:nvSpPr>
        <p:spPr>
          <a:xfrm>
            <a:off x="3440541" y="4898315"/>
            <a:ext cx="397982" cy="397982"/>
          </a:xfrm>
          <a:prstGeom prst="roundRect">
            <a:avLst>
              <a:gd name="adj" fmla="val 11874488"/>
            </a:avLst>
          </a:prstGeom>
          <a:solidFill>
            <a:srgbClr val="1A2D7A"/>
          </a:solidFill>
          <a:ln/>
        </p:spPr>
      </p:sp>
      <p:pic>
        <p:nvPicPr>
          <p:cNvPr id="12"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49960" y="5007734"/>
            <a:ext cx="179083" cy="179083"/>
          </a:xfrm>
          <a:prstGeom prst="rect">
            <a:avLst/>
          </a:prstGeom>
        </p:spPr>
      </p:pic>
      <p:sp>
        <p:nvSpPr>
          <p:cNvPr id="13" name="Text 8"/>
          <p:cNvSpPr/>
          <p:nvPr/>
        </p:nvSpPr>
        <p:spPr>
          <a:xfrm>
            <a:off x="3440541" y="5428917"/>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Cross-Platform</a:t>
            </a:r>
            <a:endParaRPr lang="en-US" sz="1350" dirty="0"/>
          </a:p>
        </p:txBody>
      </p:sp>
      <p:sp>
        <p:nvSpPr>
          <p:cNvPr id="14" name="Text 9"/>
          <p:cNvSpPr/>
          <p:nvPr/>
        </p:nvSpPr>
        <p:spPr>
          <a:xfrm>
            <a:off x="3440541" y="5726711"/>
            <a:ext cx="3516605"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Deploys across multiple operating systems and platforms for maximum reach</a:t>
            </a:r>
            <a:endParaRPr lang="en-US" sz="1000" dirty="0"/>
          </a:p>
        </p:txBody>
      </p:sp>
      <p:sp>
        <p:nvSpPr>
          <p:cNvPr id="15" name="Shape 10"/>
          <p:cNvSpPr/>
          <p:nvPr/>
        </p:nvSpPr>
        <p:spPr>
          <a:xfrm>
            <a:off x="3300044" y="6424334"/>
            <a:ext cx="3797598" cy="1533897"/>
          </a:xfrm>
          <a:prstGeom prst="roundRect">
            <a:avLst>
              <a:gd name="adj" fmla="val 3633"/>
            </a:avLst>
          </a:prstGeom>
          <a:solidFill>
            <a:srgbClr val="D5DCF6"/>
          </a:solidFill>
          <a:ln w="7877">
            <a:solidFill>
              <a:srgbClr val="BBC2DC"/>
            </a:solidFill>
            <a:prstDash val="solid"/>
          </a:ln>
        </p:spPr>
      </p:sp>
      <p:sp>
        <p:nvSpPr>
          <p:cNvPr id="16" name="Shape 11"/>
          <p:cNvSpPr/>
          <p:nvPr/>
        </p:nvSpPr>
        <p:spPr>
          <a:xfrm>
            <a:off x="3440541" y="6564831"/>
            <a:ext cx="397982" cy="397982"/>
          </a:xfrm>
          <a:prstGeom prst="roundRect">
            <a:avLst>
              <a:gd name="adj" fmla="val 11874488"/>
            </a:avLst>
          </a:prstGeom>
          <a:solidFill>
            <a:srgbClr val="1A2D7A"/>
          </a:solidFill>
          <a:ln/>
        </p:spPr>
      </p:sp>
      <p:pic>
        <p:nvPicPr>
          <p:cNvPr id="17"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49960" y="6674250"/>
            <a:ext cx="179083" cy="179083"/>
          </a:xfrm>
          <a:prstGeom prst="rect">
            <a:avLst/>
          </a:prstGeom>
        </p:spPr>
      </p:pic>
      <p:sp>
        <p:nvSpPr>
          <p:cNvPr id="18" name="Text 12"/>
          <p:cNvSpPr/>
          <p:nvPr/>
        </p:nvSpPr>
        <p:spPr>
          <a:xfrm>
            <a:off x="3440541" y="7095433"/>
            <a:ext cx="1766580"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High-Profile Targets</a:t>
            </a:r>
            <a:endParaRPr lang="en-US" sz="1350" dirty="0"/>
          </a:p>
        </p:txBody>
      </p:sp>
      <p:sp>
        <p:nvSpPr>
          <p:cNvPr id="19" name="Text 13"/>
          <p:cNvSpPr/>
          <p:nvPr/>
        </p:nvSpPr>
        <p:spPr>
          <a:xfrm>
            <a:off x="3440541" y="7393228"/>
            <a:ext cx="3516605"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Focuses on high-profile organizations across multiple industries and regions</a:t>
            </a:r>
            <a:endParaRPr lang="en-US" sz="1000" dirty="0"/>
          </a:p>
        </p:txBody>
      </p:sp>
      <p:sp>
        <p:nvSpPr>
          <p:cNvPr id="20" name="Shape 14"/>
          <p:cNvSpPr/>
          <p:nvPr/>
        </p:nvSpPr>
        <p:spPr>
          <a:xfrm>
            <a:off x="3300044" y="8107467"/>
            <a:ext cx="3797598" cy="775902"/>
          </a:xfrm>
          <a:prstGeom prst="roundRect">
            <a:avLst>
              <a:gd name="adj" fmla="val 7181"/>
            </a:avLst>
          </a:prstGeom>
          <a:solidFill>
            <a:srgbClr val="C0CAF2"/>
          </a:solidFill>
          <a:ln/>
        </p:spPr>
      </p:sp>
      <p:pic>
        <p:nvPicPr>
          <p:cNvPr id="21" name="Image 4" descr="preencoded.png"/>
          <p:cNvPicPr>
            <a:picLocks noChangeAspect="1"/>
          </p:cNvPicPr>
          <p:nvPr/>
        </p:nvPicPr>
        <p:blipFill>
          <a:blip r:embed="rId10"/>
          <a:stretch>
            <a:fillRect/>
          </a:stretch>
        </p:blipFill>
        <p:spPr>
          <a:xfrm>
            <a:off x="3432664" y="8306796"/>
            <a:ext cx="165790" cy="132620"/>
          </a:xfrm>
          <a:prstGeom prst="rect">
            <a:avLst/>
          </a:prstGeom>
        </p:spPr>
      </p:pic>
      <p:sp>
        <p:nvSpPr>
          <p:cNvPr id="22" name="Text 15"/>
          <p:cNvSpPr/>
          <p:nvPr/>
        </p:nvSpPr>
        <p:spPr>
          <a:xfrm>
            <a:off x="3731073" y="8273195"/>
            <a:ext cx="3233950" cy="424506"/>
          </a:xfrm>
          <a:prstGeom prst="rect">
            <a:avLst/>
          </a:prstGeom>
          <a:noFill/>
          <a:ln/>
        </p:spPr>
        <p:txBody>
          <a:bodyPr wrap="square" lIns="0" tIns="0" rIns="0" bIns="0" rtlCol="0" anchor="t"/>
          <a:lstStyle/>
          <a:p>
            <a:pPr marL="0" indent="0" algn="l">
              <a:lnSpc>
                <a:spcPts val="1650"/>
              </a:lnSpc>
              <a:buNone/>
            </a:pPr>
            <a:r>
              <a:rPr lang="en-US" sz="1000" dirty="0">
                <a:solidFill>
                  <a:srgbClr val="000000"/>
                </a:solidFill>
                <a:latin typeface="Sora Light" pitchFamily="34" charset="0"/>
                <a:ea typeface="Sora Light" pitchFamily="34" charset="-122"/>
                <a:cs typeface="Sora Light" pitchFamily="34" charset="-120"/>
              </a:rPr>
              <a:t>🔗 Source: </a:t>
            </a:r>
            <a:r>
              <a:rPr lang="en-US" sz="1000" u="sng" dirty="0">
                <a:solidFill>
                  <a:srgbClr val="1A2D7A"/>
                </a:solidFill>
                <a:latin typeface="Sora Light" pitchFamily="34" charset="0"/>
                <a:ea typeface="Sora Light" pitchFamily="34" charset="-122"/>
                <a:cs typeface="Sora Light" pitchFamily="34" charset="-120"/>
                <a:hlinkClick r:id="rId11">
                  <a:extLst>
                    <a:ext uri="{A12FA001-AC4F-418D-AE19-62706E023703}">
                      <ahyp:hlinkClr xmlns:ahyp="http://schemas.microsoft.com/office/drawing/2018/hyperlinkcolor" val="tx"/>
                    </a:ext>
                  </a:extLst>
                </a:hlinkClick>
              </a:rPr>
              <a:t>CYFIRMA — Weekly Intelligence Report, 13 March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2835721" cy="10689336"/>
          </a:xfrm>
          <a:prstGeom prst="rect">
            <a:avLst/>
          </a:prstGeom>
        </p:spPr>
      </p:pic>
      <p:sp>
        <p:nvSpPr>
          <p:cNvPr id="3" name="Text 0"/>
          <p:cNvSpPr/>
          <p:nvPr/>
        </p:nvSpPr>
        <p:spPr>
          <a:xfrm>
            <a:off x="3300044" y="364812"/>
            <a:ext cx="3797598" cy="1317028"/>
          </a:xfrm>
          <a:prstGeom prst="rect">
            <a:avLst/>
          </a:prstGeom>
          <a:noFill/>
          <a:ln/>
        </p:spPr>
        <p:txBody>
          <a:bodyPr wrap="square" lIns="0" tIns="0" rIns="0" bIns="0" rtlCol="0" anchor="t"/>
          <a:lstStyle/>
          <a:p>
            <a:pPr marL="0" indent="0" algn="l">
              <a:lnSpc>
                <a:spcPts val="3400"/>
              </a:lnSpc>
              <a:buNone/>
            </a:pPr>
            <a:r>
              <a:rPr lang="en-US" sz="2700" dirty="0">
                <a:solidFill>
                  <a:srgbClr val="000000"/>
                </a:solidFill>
                <a:latin typeface="Alexandria Semi Bold" pitchFamily="34" charset="0"/>
                <a:ea typeface="Alexandria Semi Bold" pitchFamily="34" charset="-122"/>
                <a:cs typeface="Alexandria Semi Bold" pitchFamily="34" charset="-120"/>
              </a:rPr>
              <a:t>🇬🇧</a:t>
            </a:r>
            <a:r>
              <a:rPr lang="en-US" sz="2700" dirty="0">
                <a:solidFill>
                  <a:srgbClr val="1F1E1E"/>
                </a:solidFill>
                <a:latin typeface="Alexandria Semi Bold" pitchFamily="34" charset="0"/>
                <a:ea typeface="Alexandria Semi Bold" pitchFamily="34" charset="-122"/>
                <a:cs typeface="Alexandria Semi Bold" pitchFamily="34" charset="-120"/>
              </a:rPr>
              <a:t> NCSC Warns UK Orgs Over Middle East Conflict</a:t>
            </a:r>
            <a:endParaRPr lang="en-US" sz="2700" dirty="0"/>
          </a:p>
        </p:txBody>
      </p:sp>
      <p:sp>
        <p:nvSpPr>
          <p:cNvPr id="4" name="Text 1"/>
          <p:cNvSpPr/>
          <p:nvPr/>
        </p:nvSpPr>
        <p:spPr>
          <a:xfrm>
            <a:off x="3300044" y="1880800"/>
            <a:ext cx="3797598" cy="106126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The UK's </a:t>
            </a:r>
            <a:r>
              <a:rPr lang="en-US" sz="1000" b="1" dirty="0">
                <a:solidFill>
                  <a:srgbClr val="3B3535"/>
                </a:solidFill>
                <a:latin typeface="Sora Light" pitchFamily="34" charset="0"/>
                <a:ea typeface="Sora Light" pitchFamily="34" charset="-122"/>
                <a:cs typeface="Sora Light" pitchFamily="34" charset="-120"/>
              </a:rPr>
              <a:t>National Cyber Security Centre (NCSC)</a:t>
            </a:r>
            <a:r>
              <a:rPr lang="en-US" sz="1000" dirty="0">
                <a:solidFill>
                  <a:srgbClr val="3B3535"/>
                </a:solidFill>
                <a:latin typeface="Sora Light" pitchFamily="34" charset="0"/>
                <a:ea typeface="Sora Light" pitchFamily="34" charset="-122"/>
                <a:cs typeface="Sora Light" pitchFamily="34" charset="-120"/>
              </a:rPr>
              <a:t> has advised UK organizations — especially critical national infrastructure — to review cyber defenses amid the fast-evolving Middle East conflict, noting the Iranian cyber threat may escalate.</a:t>
            </a:r>
            <a:endParaRPr lang="en-US" sz="1000" dirty="0"/>
          </a:p>
        </p:txBody>
      </p:sp>
      <p:sp>
        <p:nvSpPr>
          <p:cNvPr id="5" name="Shape 2"/>
          <p:cNvSpPr/>
          <p:nvPr/>
        </p:nvSpPr>
        <p:spPr>
          <a:xfrm>
            <a:off x="3300044" y="3091302"/>
            <a:ext cx="3797598" cy="1231302"/>
          </a:xfrm>
          <a:prstGeom prst="roundRect">
            <a:avLst>
              <a:gd name="adj" fmla="val 6142"/>
            </a:avLst>
          </a:prstGeom>
          <a:solidFill>
            <a:srgbClr val="FFFAFA"/>
          </a:solidFill>
          <a:ln w="15754">
            <a:solidFill>
              <a:srgbClr val="BBC2DC"/>
            </a:solidFill>
            <a:prstDash val="solid"/>
          </a:ln>
        </p:spPr>
      </p:sp>
      <p:sp>
        <p:nvSpPr>
          <p:cNvPr id="6" name="Shape 3"/>
          <p:cNvSpPr/>
          <p:nvPr/>
        </p:nvSpPr>
        <p:spPr>
          <a:xfrm>
            <a:off x="3284290" y="3091302"/>
            <a:ext cx="63017" cy="1231302"/>
          </a:xfrm>
          <a:prstGeom prst="roundRect">
            <a:avLst>
              <a:gd name="adj" fmla="val 88422"/>
            </a:avLst>
          </a:prstGeom>
          <a:solidFill>
            <a:srgbClr val="1A2D7A"/>
          </a:solidFill>
          <a:ln/>
        </p:spPr>
      </p:sp>
      <p:sp>
        <p:nvSpPr>
          <p:cNvPr id="7" name="Text 4"/>
          <p:cNvSpPr/>
          <p:nvPr/>
        </p:nvSpPr>
        <p:spPr>
          <a:xfrm>
            <a:off x="3495681" y="3239676"/>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Who Should Act</a:t>
            </a:r>
            <a:endParaRPr lang="en-US" sz="1350" dirty="0"/>
          </a:p>
        </p:txBody>
      </p:sp>
      <p:sp>
        <p:nvSpPr>
          <p:cNvPr id="8" name="Text 5"/>
          <p:cNvSpPr/>
          <p:nvPr/>
        </p:nvSpPr>
        <p:spPr>
          <a:xfrm>
            <a:off x="3495681" y="3537470"/>
            <a:ext cx="3453587" cy="636759"/>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UK organizations — </a:t>
            </a:r>
            <a:r>
              <a:rPr lang="en-US" sz="1000" b="1" dirty="0">
                <a:solidFill>
                  <a:srgbClr val="3B3535"/>
                </a:solidFill>
                <a:latin typeface="Sora Light" pitchFamily="34" charset="0"/>
                <a:ea typeface="Sora Light" pitchFamily="34" charset="-122"/>
                <a:cs typeface="Sora Light" pitchFamily="34" charset="-120"/>
              </a:rPr>
              <a:t>especially critical national infrastructure</a:t>
            </a:r>
            <a:r>
              <a:rPr lang="en-US" sz="1000" dirty="0">
                <a:solidFill>
                  <a:srgbClr val="3B3535"/>
                </a:solidFill>
                <a:latin typeface="Sora Light" pitchFamily="34" charset="0"/>
                <a:ea typeface="Sora Light" pitchFamily="34" charset="-122"/>
                <a:cs typeface="Sora Light" pitchFamily="34" charset="-120"/>
              </a:rPr>
              <a:t> — are specifically called out in the NCSC advisory.</a:t>
            </a:r>
            <a:endParaRPr lang="en-US" sz="1000" dirty="0"/>
          </a:p>
        </p:txBody>
      </p:sp>
      <p:sp>
        <p:nvSpPr>
          <p:cNvPr id="9" name="Shape 6"/>
          <p:cNvSpPr/>
          <p:nvPr/>
        </p:nvSpPr>
        <p:spPr>
          <a:xfrm>
            <a:off x="3300044" y="4455223"/>
            <a:ext cx="3797598" cy="1019049"/>
          </a:xfrm>
          <a:prstGeom prst="roundRect">
            <a:avLst>
              <a:gd name="adj" fmla="val 7421"/>
            </a:avLst>
          </a:prstGeom>
          <a:solidFill>
            <a:srgbClr val="FFFAFA"/>
          </a:solidFill>
          <a:ln w="15754">
            <a:solidFill>
              <a:srgbClr val="BBC2DC"/>
            </a:solidFill>
            <a:prstDash val="solid"/>
          </a:ln>
        </p:spPr>
      </p:sp>
      <p:sp>
        <p:nvSpPr>
          <p:cNvPr id="10" name="Shape 7"/>
          <p:cNvSpPr/>
          <p:nvPr/>
        </p:nvSpPr>
        <p:spPr>
          <a:xfrm>
            <a:off x="3284290" y="4455223"/>
            <a:ext cx="63017" cy="1019049"/>
          </a:xfrm>
          <a:prstGeom prst="roundRect">
            <a:avLst>
              <a:gd name="adj" fmla="val 88422"/>
            </a:avLst>
          </a:prstGeom>
          <a:solidFill>
            <a:srgbClr val="1A2D7A"/>
          </a:solidFill>
          <a:ln/>
        </p:spPr>
      </p:sp>
      <p:sp>
        <p:nvSpPr>
          <p:cNvPr id="11" name="Text 8"/>
          <p:cNvSpPr/>
          <p:nvPr/>
        </p:nvSpPr>
        <p:spPr>
          <a:xfrm>
            <a:off x="3495681" y="4603597"/>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What to Do</a:t>
            </a:r>
            <a:endParaRPr lang="en-US" sz="1350" dirty="0"/>
          </a:p>
        </p:txBody>
      </p:sp>
      <p:sp>
        <p:nvSpPr>
          <p:cNvPr id="12" name="Text 9"/>
          <p:cNvSpPr/>
          <p:nvPr/>
        </p:nvSpPr>
        <p:spPr>
          <a:xfrm>
            <a:off x="3495681" y="4901392"/>
            <a:ext cx="3453587"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Review and strengthen cyber defenses amid the fast-evolving Middle East conflict.</a:t>
            </a:r>
            <a:endParaRPr lang="en-US" sz="1000" dirty="0"/>
          </a:p>
        </p:txBody>
      </p:sp>
      <p:sp>
        <p:nvSpPr>
          <p:cNvPr id="13" name="Shape 10"/>
          <p:cNvSpPr/>
          <p:nvPr/>
        </p:nvSpPr>
        <p:spPr>
          <a:xfrm>
            <a:off x="3300044" y="5606892"/>
            <a:ext cx="3797598" cy="1019049"/>
          </a:xfrm>
          <a:prstGeom prst="roundRect">
            <a:avLst>
              <a:gd name="adj" fmla="val 7421"/>
            </a:avLst>
          </a:prstGeom>
          <a:solidFill>
            <a:srgbClr val="FFFAFA"/>
          </a:solidFill>
          <a:ln w="15754">
            <a:solidFill>
              <a:srgbClr val="BBC2DC"/>
            </a:solidFill>
            <a:prstDash val="solid"/>
          </a:ln>
        </p:spPr>
      </p:sp>
      <p:sp>
        <p:nvSpPr>
          <p:cNvPr id="14" name="Shape 11"/>
          <p:cNvSpPr/>
          <p:nvPr/>
        </p:nvSpPr>
        <p:spPr>
          <a:xfrm>
            <a:off x="3284290" y="5606892"/>
            <a:ext cx="63017" cy="1019049"/>
          </a:xfrm>
          <a:prstGeom prst="roundRect">
            <a:avLst>
              <a:gd name="adj" fmla="val 88422"/>
            </a:avLst>
          </a:prstGeom>
          <a:solidFill>
            <a:srgbClr val="1A2D7A"/>
          </a:solidFill>
          <a:ln/>
        </p:spPr>
      </p:sp>
      <p:sp>
        <p:nvSpPr>
          <p:cNvPr id="15" name="Text 12"/>
          <p:cNvSpPr/>
          <p:nvPr/>
        </p:nvSpPr>
        <p:spPr>
          <a:xfrm>
            <a:off x="3495681" y="5755266"/>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The Threat</a:t>
            </a:r>
            <a:endParaRPr lang="en-US" sz="1350" dirty="0"/>
          </a:p>
        </p:txBody>
      </p:sp>
      <p:sp>
        <p:nvSpPr>
          <p:cNvPr id="16" name="Text 13"/>
          <p:cNvSpPr/>
          <p:nvPr/>
        </p:nvSpPr>
        <p:spPr>
          <a:xfrm>
            <a:off x="3495681" y="6053061"/>
            <a:ext cx="3453587"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The NCSC notes the </a:t>
            </a:r>
            <a:r>
              <a:rPr lang="en-US" sz="1000" b="1" dirty="0">
                <a:solidFill>
                  <a:srgbClr val="3B3535"/>
                </a:solidFill>
                <a:latin typeface="Sora Light" pitchFamily="34" charset="0"/>
                <a:ea typeface="Sora Light" pitchFamily="34" charset="-122"/>
                <a:cs typeface="Sora Light" pitchFamily="34" charset="-120"/>
              </a:rPr>
              <a:t>Iranian cyber threat may escalate</a:t>
            </a:r>
            <a:r>
              <a:rPr lang="en-US" sz="1000" dirty="0">
                <a:solidFill>
                  <a:srgbClr val="3B3535"/>
                </a:solidFill>
                <a:latin typeface="Sora Light" pitchFamily="34" charset="0"/>
                <a:ea typeface="Sora Light" pitchFamily="34" charset="-122"/>
                <a:cs typeface="Sora Light" pitchFamily="34" charset="-120"/>
              </a:rPr>
              <a:t> as the geopolitical situation develops.</a:t>
            </a:r>
            <a:endParaRPr lang="en-US" sz="1000" dirty="0"/>
          </a:p>
        </p:txBody>
      </p:sp>
      <p:sp>
        <p:nvSpPr>
          <p:cNvPr id="17" name="Shape 14"/>
          <p:cNvSpPr/>
          <p:nvPr/>
        </p:nvSpPr>
        <p:spPr>
          <a:xfrm>
            <a:off x="3300044" y="6775177"/>
            <a:ext cx="3797598" cy="988156"/>
          </a:xfrm>
          <a:prstGeom prst="roundRect">
            <a:avLst>
              <a:gd name="adj" fmla="val 5639"/>
            </a:avLst>
          </a:prstGeom>
          <a:solidFill>
            <a:srgbClr val="C0CAF2"/>
          </a:solidFill>
          <a:ln/>
        </p:spPr>
      </p:sp>
      <p:pic>
        <p:nvPicPr>
          <p:cNvPr id="18" name="Image 1" descr="preencoded.png"/>
          <p:cNvPicPr>
            <a:picLocks noChangeAspect="1"/>
          </p:cNvPicPr>
          <p:nvPr/>
        </p:nvPicPr>
        <p:blipFill>
          <a:blip r:embed="rId4"/>
          <a:stretch>
            <a:fillRect/>
          </a:stretch>
        </p:blipFill>
        <p:spPr>
          <a:xfrm>
            <a:off x="3432664" y="6974506"/>
            <a:ext cx="165790" cy="132620"/>
          </a:xfrm>
          <a:prstGeom prst="rect">
            <a:avLst/>
          </a:prstGeom>
        </p:spPr>
      </p:pic>
      <p:sp>
        <p:nvSpPr>
          <p:cNvPr id="19" name="Text 15"/>
          <p:cNvSpPr/>
          <p:nvPr/>
        </p:nvSpPr>
        <p:spPr>
          <a:xfrm>
            <a:off x="3731073" y="6940905"/>
            <a:ext cx="3233950" cy="636759"/>
          </a:xfrm>
          <a:prstGeom prst="rect">
            <a:avLst/>
          </a:prstGeom>
          <a:noFill/>
          <a:ln/>
        </p:spPr>
        <p:txBody>
          <a:bodyPr wrap="square" lIns="0" tIns="0" rIns="0" bIns="0" rtlCol="0" anchor="t"/>
          <a:lstStyle/>
          <a:p>
            <a:pPr marL="0" indent="0" algn="l">
              <a:lnSpc>
                <a:spcPts val="1650"/>
              </a:lnSpc>
              <a:buNone/>
            </a:pPr>
            <a:r>
              <a:rPr lang="en-US" sz="1000" dirty="0">
                <a:solidFill>
                  <a:srgbClr val="000000"/>
                </a:solidFill>
                <a:latin typeface="Sora Light" pitchFamily="34" charset="0"/>
                <a:ea typeface="Sora Light" pitchFamily="34" charset="-122"/>
                <a:cs typeface="Sora Light" pitchFamily="34" charset="-120"/>
              </a:rPr>
              <a:t>🔗 Source: </a:t>
            </a:r>
            <a:r>
              <a:rPr lang="en-US" sz="1000" u="sng" dirty="0">
                <a:solidFill>
                  <a:srgbClr val="1A2D7A"/>
                </a:solidFill>
                <a:latin typeface="Sora Light" pitchFamily="34" charset="0"/>
                <a:ea typeface="Sora Light" pitchFamily="34" charset="-122"/>
                <a:cs typeface="Sora Light" pitchFamily="34" charset="-120"/>
                <a:hlinkClick r:id="rId5">
                  <a:extLst>
                    <a:ext uri="{A12FA001-AC4F-418D-AE19-62706E023703}">
                      <ahyp:hlinkClr xmlns:ahyp="http://schemas.microsoft.com/office/drawing/2018/hyperlinkcolor" val="tx"/>
                    </a:ext>
                  </a:extLst>
                </a:hlinkClick>
              </a:rPr>
              <a:t>NCSC — Advises UK Organisations to Take Action Following Conflict in Middle East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3283" y="514048"/>
            <a:ext cx="6434421" cy="636759"/>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This week underscores a dangerous convergence of </a:t>
            </a:r>
            <a:r>
              <a:rPr lang="en-US" sz="1000" b="1" dirty="0">
                <a:solidFill>
                  <a:srgbClr val="3B3535"/>
                </a:solidFill>
                <a:latin typeface="Sora Light" pitchFamily="34" charset="0"/>
                <a:ea typeface="Sora Light" pitchFamily="34" charset="-122"/>
                <a:cs typeface="Sora Light" pitchFamily="34" charset="-120"/>
              </a:rPr>
              <a:t>geopolitical retaliation attacks</a:t>
            </a:r>
            <a:r>
              <a:rPr lang="en-US" sz="1000" dirty="0">
                <a:solidFill>
                  <a:srgbClr val="3B3535"/>
                </a:solidFill>
                <a:latin typeface="Sora Light" pitchFamily="34" charset="0"/>
                <a:ea typeface="Sora Light" pitchFamily="34" charset="-122"/>
                <a:cs typeface="Sora Light" pitchFamily="34" charset="-120"/>
              </a:rPr>
              <a:t>, </a:t>
            </a:r>
            <a:r>
              <a:rPr lang="en-US" sz="1000" b="1" dirty="0">
                <a:solidFill>
                  <a:srgbClr val="3B3535"/>
                </a:solidFill>
                <a:latin typeface="Sora Light" pitchFamily="34" charset="0"/>
                <a:ea typeface="Sora Light" pitchFamily="34" charset="-122"/>
                <a:cs typeface="Sora Light" pitchFamily="34" charset="-120"/>
              </a:rPr>
              <a:t>active zero-days</a:t>
            </a:r>
            <a:r>
              <a:rPr lang="en-US" sz="1000" dirty="0">
                <a:solidFill>
                  <a:srgbClr val="3B3535"/>
                </a:solidFill>
                <a:latin typeface="Sora Light" pitchFamily="34" charset="0"/>
                <a:ea typeface="Sora Light" pitchFamily="34" charset="-122"/>
                <a:cs typeface="Sora Light" pitchFamily="34" charset="-120"/>
              </a:rPr>
              <a:t>, and </a:t>
            </a:r>
            <a:r>
              <a:rPr lang="en-US" sz="1000" b="1" dirty="0">
                <a:solidFill>
                  <a:srgbClr val="3B3535"/>
                </a:solidFill>
                <a:latin typeface="Sora Light" pitchFamily="34" charset="0"/>
                <a:ea typeface="Sora Light" pitchFamily="34" charset="-122"/>
                <a:cs typeface="Sora Light" pitchFamily="34" charset="-120"/>
              </a:rPr>
              <a:t>ransomware escalation</a:t>
            </a:r>
            <a:r>
              <a:rPr lang="en-US" sz="1000" dirty="0">
                <a:solidFill>
                  <a:srgbClr val="3B3535"/>
                </a:solidFill>
                <a:latin typeface="Sora Light" pitchFamily="34" charset="0"/>
                <a:ea typeface="Sora Light" pitchFamily="34" charset="-122"/>
                <a:cs typeface="Sora Light" pitchFamily="34" charset="-120"/>
              </a:rPr>
              <a:t> — organizations should prioritize patching and threat monitoring immediately.</a:t>
            </a:r>
            <a:endParaRPr lang="en-US" sz="1000" dirty="0"/>
          </a:p>
        </p:txBody>
      </p:sp>
      <p:sp>
        <p:nvSpPr>
          <p:cNvPr id="3" name="Shape 1"/>
          <p:cNvSpPr/>
          <p:nvPr/>
        </p:nvSpPr>
        <p:spPr>
          <a:xfrm>
            <a:off x="464323" y="364812"/>
            <a:ext cx="15754" cy="935231"/>
          </a:xfrm>
          <a:prstGeom prst="rect">
            <a:avLst/>
          </a:prstGeom>
          <a:solidFill>
            <a:srgbClr val="1A2D7A"/>
          </a:solidFill>
          <a:ln/>
        </p:spPr>
      </p:sp>
      <p:sp>
        <p:nvSpPr>
          <p:cNvPr id="4" name="Shape 2"/>
          <p:cNvSpPr/>
          <p:nvPr/>
        </p:nvSpPr>
        <p:spPr>
          <a:xfrm>
            <a:off x="464323" y="1449278"/>
            <a:ext cx="2122714" cy="1858276"/>
          </a:xfrm>
          <a:prstGeom prst="roundRect">
            <a:avLst>
              <a:gd name="adj" fmla="val 2999"/>
            </a:avLst>
          </a:prstGeom>
          <a:solidFill>
            <a:srgbClr val="D5DCF6"/>
          </a:solidFill>
          <a:ln w="7877">
            <a:solidFill>
              <a:srgbClr val="BBC2DC"/>
            </a:solidFill>
            <a:prstDash val="solid"/>
          </a:ln>
        </p:spPr>
      </p:sp>
      <p:sp>
        <p:nvSpPr>
          <p:cNvPr id="5" name="Text 3"/>
          <p:cNvSpPr/>
          <p:nvPr/>
        </p:nvSpPr>
        <p:spPr>
          <a:xfrm>
            <a:off x="604819" y="1589775"/>
            <a:ext cx="1841720" cy="436445"/>
          </a:xfrm>
          <a:prstGeom prst="rect">
            <a:avLst/>
          </a:prstGeom>
          <a:noFill/>
          <a:ln/>
        </p:spPr>
        <p:txBody>
          <a:bodyPr wrap="square" lIns="0" tIns="0" rIns="0" bIns="0" rtlCol="0" anchor="t"/>
          <a:lstStyle/>
          <a:p>
            <a:pPr marL="0" indent="0" algn="l">
              <a:lnSpc>
                <a:spcPts val="1700"/>
              </a:lnSpc>
              <a:buNone/>
            </a:pPr>
            <a:r>
              <a:rPr lang="en-US" sz="1350" dirty="0">
                <a:solidFill>
                  <a:srgbClr val="D3DCF6"/>
                </a:solidFill>
                <a:latin typeface="Alexandria Semi Bold" pitchFamily="34" charset="0"/>
                <a:ea typeface="Alexandria Semi Bold" pitchFamily="34" charset="-122"/>
                <a:cs typeface="Alexandria Semi Bold" pitchFamily="34" charset="-120"/>
              </a:rPr>
              <a:t>Geopolitical Retaliation</a:t>
            </a:r>
            <a:endParaRPr lang="en-US" sz="1350" dirty="0"/>
          </a:p>
        </p:txBody>
      </p:sp>
      <p:sp>
        <p:nvSpPr>
          <p:cNvPr id="6" name="Text 4"/>
          <p:cNvSpPr/>
          <p:nvPr/>
        </p:nvSpPr>
        <p:spPr>
          <a:xfrm>
            <a:off x="604819" y="2105792"/>
            <a:ext cx="1841720" cy="106126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Iran-linked attacks on Stryker and escalating Middle East cyber threats signal a new era of state-sponsored retaliation</a:t>
            </a:r>
            <a:endParaRPr lang="en-US" sz="1000" dirty="0"/>
          </a:p>
        </p:txBody>
      </p:sp>
      <p:sp>
        <p:nvSpPr>
          <p:cNvPr id="7" name="Shape 5"/>
          <p:cNvSpPr/>
          <p:nvPr/>
        </p:nvSpPr>
        <p:spPr>
          <a:xfrm>
            <a:off x="2719656" y="1449278"/>
            <a:ext cx="2122714" cy="1858276"/>
          </a:xfrm>
          <a:prstGeom prst="roundRect">
            <a:avLst>
              <a:gd name="adj" fmla="val 2999"/>
            </a:avLst>
          </a:prstGeom>
          <a:solidFill>
            <a:srgbClr val="D5DCF6"/>
          </a:solidFill>
          <a:ln w="7877">
            <a:solidFill>
              <a:srgbClr val="BBC2DC"/>
            </a:solidFill>
            <a:prstDash val="solid"/>
          </a:ln>
        </p:spPr>
      </p:sp>
      <p:sp>
        <p:nvSpPr>
          <p:cNvPr id="8" name="Text 6"/>
          <p:cNvSpPr/>
          <p:nvPr/>
        </p:nvSpPr>
        <p:spPr>
          <a:xfrm>
            <a:off x="2860153" y="1589775"/>
            <a:ext cx="1745594" cy="218223"/>
          </a:xfrm>
          <a:prstGeom prst="rect">
            <a:avLst/>
          </a:prstGeom>
          <a:noFill/>
          <a:ln/>
        </p:spPr>
        <p:txBody>
          <a:bodyPr wrap="none" lIns="0" tIns="0" rIns="0" bIns="0" rtlCol="0" anchor="t"/>
          <a:lstStyle/>
          <a:p>
            <a:pPr marL="0" indent="0" algn="l">
              <a:lnSpc>
                <a:spcPts val="1700"/>
              </a:lnSpc>
              <a:buNone/>
            </a:pPr>
            <a:r>
              <a:rPr lang="en-US" sz="1350" dirty="0">
                <a:solidFill>
                  <a:srgbClr val="D3DCF6"/>
                </a:solidFill>
                <a:latin typeface="Alexandria Semi Bold" pitchFamily="34" charset="0"/>
                <a:ea typeface="Alexandria Semi Bold" pitchFamily="34" charset="-122"/>
                <a:cs typeface="Alexandria Semi Bold" pitchFamily="34" charset="-120"/>
              </a:rPr>
              <a:t>Active Zero-Days</a:t>
            </a:r>
            <a:endParaRPr lang="en-US" sz="1350" dirty="0"/>
          </a:p>
        </p:txBody>
      </p:sp>
      <p:sp>
        <p:nvSpPr>
          <p:cNvPr id="9" name="Text 7"/>
          <p:cNvSpPr/>
          <p:nvPr/>
        </p:nvSpPr>
        <p:spPr>
          <a:xfrm>
            <a:off x="2860153" y="1887570"/>
            <a:ext cx="1841720" cy="106126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Chrome zero-days and Microsoft Patch Tuesday highlight the urgency of immediate patching across all platforms</a:t>
            </a:r>
            <a:endParaRPr lang="en-US" sz="1000" dirty="0"/>
          </a:p>
        </p:txBody>
      </p:sp>
      <p:sp>
        <p:nvSpPr>
          <p:cNvPr id="10" name="Shape 8"/>
          <p:cNvSpPr/>
          <p:nvPr/>
        </p:nvSpPr>
        <p:spPr>
          <a:xfrm>
            <a:off x="4974990" y="1449278"/>
            <a:ext cx="2122714" cy="1858276"/>
          </a:xfrm>
          <a:prstGeom prst="roundRect">
            <a:avLst>
              <a:gd name="adj" fmla="val 2999"/>
            </a:avLst>
          </a:prstGeom>
          <a:solidFill>
            <a:srgbClr val="D5DCF6"/>
          </a:solidFill>
          <a:ln w="7877">
            <a:solidFill>
              <a:srgbClr val="BBC2DC"/>
            </a:solidFill>
            <a:prstDash val="solid"/>
          </a:ln>
        </p:spPr>
      </p:sp>
      <p:sp>
        <p:nvSpPr>
          <p:cNvPr id="11" name="Text 9"/>
          <p:cNvSpPr/>
          <p:nvPr/>
        </p:nvSpPr>
        <p:spPr>
          <a:xfrm>
            <a:off x="5115487" y="1589775"/>
            <a:ext cx="1841720" cy="436445"/>
          </a:xfrm>
          <a:prstGeom prst="rect">
            <a:avLst/>
          </a:prstGeom>
          <a:noFill/>
          <a:ln/>
        </p:spPr>
        <p:txBody>
          <a:bodyPr wrap="square" lIns="0" tIns="0" rIns="0" bIns="0" rtlCol="0" anchor="t"/>
          <a:lstStyle/>
          <a:p>
            <a:pPr marL="0" indent="0" algn="l">
              <a:lnSpc>
                <a:spcPts val="1700"/>
              </a:lnSpc>
              <a:buNone/>
            </a:pPr>
            <a:r>
              <a:rPr lang="en-US" sz="1350" dirty="0">
                <a:solidFill>
                  <a:srgbClr val="D3DCF6"/>
                </a:solidFill>
                <a:latin typeface="Alexandria Semi Bold" pitchFamily="34" charset="0"/>
                <a:ea typeface="Alexandria Semi Bold" pitchFamily="34" charset="-122"/>
                <a:cs typeface="Alexandria Semi Bold" pitchFamily="34" charset="-120"/>
              </a:rPr>
              <a:t>Ransomware Escalation</a:t>
            </a:r>
            <a:endParaRPr lang="en-US" sz="1350" dirty="0"/>
          </a:p>
        </p:txBody>
      </p:sp>
      <p:sp>
        <p:nvSpPr>
          <p:cNvPr id="12" name="Text 10"/>
          <p:cNvSpPr/>
          <p:nvPr/>
        </p:nvSpPr>
        <p:spPr>
          <a:xfrm>
            <a:off x="5115487" y="2105792"/>
            <a:ext cx="1841720" cy="106126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DragonForce and hospital attacks demonstrate ransomware groups are growing bolder and more capable</a:t>
            </a:r>
            <a:endParaRPr lang="en-US" sz="1000" dirty="0"/>
          </a:p>
        </p:txBody>
      </p:sp>
      <p:pic>
        <p:nvPicPr>
          <p:cNvPr id="13" name="Image 0" descr="preencoded.png"/>
          <p:cNvPicPr>
            <a:picLocks noChangeAspect="1"/>
          </p:cNvPicPr>
          <p:nvPr/>
        </p:nvPicPr>
        <p:blipFill>
          <a:blip r:embed="rId3"/>
          <a:stretch>
            <a:fillRect/>
          </a:stretch>
        </p:blipFill>
        <p:spPr>
          <a:xfrm>
            <a:off x="498970" y="3456791"/>
            <a:ext cx="6564087" cy="2739044"/>
          </a:xfrm>
          <a:prstGeom prst="rect">
            <a:avLst/>
          </a:prstGeom>
        </p:spPr>
      </p:pic>
      <p:pic>
        <p:nvPicPr>
          <p:cNvPr id="1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9792" y="4895980"/>
            <a:ext cx="245635" cy="245635"/>
          </a:xfrm>
          <a:prstGeom prst="rect">
            <a:avLst/>
          </a:prstGeom>
        </p:spPr>
      </p:pic>
      <p:sp>
        <p:nvSpPr>
          <p:cNvPr id="15" name="Text 11"/>
          <p:cNvSpPr/>
          <p:nvPr/>
        </p:nvSpPr>
        <p:spPr>
          <a:xfrm>
            <a:off x="4348459" y="3583020"/>
            <a:ext cx="1570927" cy="196405"/>
          </a:xfrm>
          <a:prstGeom prst="rect">
            <a:avLst/>
          </a:prstGeom>
          <a:noFill/>
          <a:ln/>
        </p:spPr>
        <p:txBody>
          <a:bodyPr wrap="none" lIns="0" tIns="0" rIns="0" bIns="0" rtlCol="0" anchor="t"/>
          <a:lstStyle/>
          <a:p>
            <a:pPr marL="0" indent="0" algn="l">
              <a:lnSpc>
                <a:spcPts val="1500"/>
              </a:lnSpc>
              <a:buNone/>
            </a:pPr>
            <a:r>
              <a:rPr lang="en-US" sz="1200" dirty="0">
                <a:solidFill>
                  <a:srgbClr val="1F1E1E"/>
                </a:solidFill>
                <a:latin typeface="Alexandria Semi Bold" pitchFamily="34" charset="0"/>
                <a:ea typeface="Alexandria Semi Bold" pitchFamily="34" charset="-122"/>
                <a:cs typeface="Alexandria Semi Bold" pitchFamily="34" charset="-120"/>
              </a:rPr>
              <a:t>Patch Now</a:t>
            </a:r>
            <a:endParaRPr lang="en-US" sz="1200" dirty="0"/>
          </a:p>
        </p:txBody>
      </p:sp>
      <p:sp>
        <p:nvSpPr>
          <p:cNvPr id="16" name="Text 12"/>
          <p:cNvSpPr/>
          <p:nvPr/>
        </p:nvSpPr>
        <p:spPr>
          <a:xfrm>
            <a:off x="4348459" y="3832491"/>
            <a:ext cx="2558340" cy="298494"/>
          </a:xfrm>
          <a:prstGeom prst="rect">
            <a:avLst/>
          </a:prstGeom>
          <a:noFill/>
          <a:ln/>
        </p:spPr>
        <p:txBody>
          <a:bodyPr wrap="square" lIns="0" tIns="0" rIns="0" bIns="0" rtlCol="0" anchor="t"/>
          <a:lstStyle/>
          <a:p>
            <a:pPr marL="0" indent="0" algn="l">
              <a:lnSpc>
                <a:spcPts val="1150"/>
              </a:lnSpc>
              <a:buNone/>
            </a:pPr>
            <a:r>
              <a:rPr lang="en-US" sz="900" dirty="0">
                <a:solidFill>
                  <a:srgbClr val="3B3535"/>
                </a:solidFill>
                <a:latin typeface="Sora Light" pitchFamily="34" charset="0"/>
                <a:ea typeface="Sora Light" pitchFamily="34" charset="-122"/>
                <a:cs typeface="Sora Light" pitchFamily="34" charset="-120"/>
              </a:rPr>
              <a:t>Apply all critical patches, Chrome and Microsoft</a:t>
            </a:r>
            <a:endParaRPr lang="en-US" sz="900" dirty="0"/>
          </a:p>
        </p:txBody>
      </p:sp>
      <p:pic>
        <p:nvPicPr>
          <p:cNvPr id="1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25876" y="4895980"/>
            <a:ext cx="245635" cy="245635"/>
          </a:xfrm>
          <a:prstGeom prst="rect">
            <a:avLst/>
          </a:prstGeom>
        </p:spPr>
      </p:pic>
      <p:sp>
        <p:nvSpPr>
          <p:cNvPr id="18" name="Text 13"/>
          <p:cNvSpPr/>
          <p:nvPr/>
        </p:nvSpPr>
        <p:spPr>
          <a:xfrm>
            <a:off x="4348563" y="4474357"/>
            <a:ext cx="1570927" cy="196405"/>
          </a:xfrm>
          <a:prstGeom prst="rect">
            <a:avLst/>
          </a:prstGeom>
          <a:noFill/>
          <a:ln/>
        </p:spPr>
        <p:txBody>
          <a:bodyPr wrap="none" lIns="0" tIns="0" rIns="0" bIns="0" rtlCol="0" anchor="t"/>
          <a:lstStyle/>
          <a:p>
            <a:pPr marL="0" indent="0" algn="l">
              <a:lnSpc>
                <a:spcPts val="1500"/>
              </a:lnSpc>
              <a:buNone/>
            </a:pPr>
            <a:r>
              <a:rPr lang="en-US" sz="1200" dirty="0">
                <a:solidFill>
                  <a:srgbClr val="1F1E1E"/>
                </a:solidFill>
                <a:latin typeface="Alexandria Semi Bold" pitchFamily="34" charset="0"/>
                <a:ea typeface="Alexandria Semi Bold" pitchFamily="34" charset="-122"/>
                <a:cs typeface="Alexandria Semi Bold" pitchFamily="34" charset="-120"/>
              </a:rPr>
              <a:t>Monitor Threats</a:t>
            </a:r>
            <a:endParaRPr lang="en-US" sz="1200" dirty="0"/>
          </a:p>
        </p:txBody>
      </p:sp>
      <p:sp>
        <p:nvSpPr>
          <p:cNvPr id="19" name="Text 14"/>
          <p:cNvSpPr/>
          <p:nvPr/>
        </p:nvSpPr>
        <p:spPr>
          <a:xfrm>
            <a:off x="4348563" y="4723827"/>
            <a:ext cx="2558340" cy="298494"/>
          </a:xfrm>
          <a:prstGeom prst="rect">
            <a:avLst/>
          </a:prstGeom>
          <a:noFill/>
          <a:ln/>
        </p:spPr>
        <p:txBody>
          <a:bodyPr wrap="square" lIns="0" tIns="0" rIns="0" bIns="0" rtlCol="0" anchor="t"/>
          <a:lstStyle/>
          <a:p>
            <a:pPr marL="0" indent="0" algn="l">
              <a:lnSpc>
                <a:spcPts val="1150"/>
              </a:lnSpc>
              <a:buNone/>
            </a:pPr>
            <a:r>
              <a:rPr lang="en-US" sz="900" dirty="0">
                <a:solidFill>
                  <a:srgbClr val="3B3535"/>
                </a:solidFill>
                <a:latin typeface="Sora Light" pitchFamily="34" charset="0"/>
                <a:ea typeface="Sora Light" pitchFamily="34" charset="-122"/>
                <a:cs typeface="Sora Light" pitchFamily="34" charset="-120"/>
              </a:rPr>
              <a:t>Increase monitoring for geopolitical and ransomware activity</a:t>
            </a:r>
            <a:endParaRPr lang="en-US" sz="900" dirty="0"/>
          </a:p>
        </p:txBody>
      </p:sp>
      <p:pic>
        <p:nvPicPr>
          <p:cNvPr id="2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95327" y="4895980"/>
            <a:ext cx="245635" cy="245635"/>
          </a:xfrm>
          <a:prstGeom prst="rect">
            <a:avLst/>
          </a:prstGeom>
        </p:spPr>
      </p:pic>
      <p:sp>
        <p:nvSpPr>
          <p:cNvPr id="21" name="Text 15"/>
          <p:cNvSpPr/>
          <p:nvPr/>
        </p:nvSpPr>
        <p:spPr>
          <a:xfrm>
            <a:off x="4348563" y="5393781"/>
            <a:ext cx="1570927" cy="196405"/>
          </a:xfrm>
          <a:prstGeom prst="rect">
            <a:avLst/>
          </a:prstGeom>
          <a:noFill/>
          <a:ln/>
        </p:spPr>
        <p:txBody>
          <a:bodyPr wrap="none" lIns="0" tIns="0" rIns="0" bIns="0" rtlCol="0" anchor="t"/>
          <a:lstStyle/>
          <a:p>
            <a:pPr marL="0" indent="0" algn="l">
              <a:lnSpc>
                <a:spcPts val="1500"/>
              </a:lnSpc>
              <a:buNone/>
            </a:pPr>
            <a:r>
              <a:rPr lang="en-US" sz="1200" dirty="0">
                <a:solidFill>
                  <a:srgbClr val="1F1E1E"/>
                </a:solidFill>
                <a:latin typeface="Alexandria Semi Bold" pitchFamily="34" charset="0"/>
                <a:ea typeface="Alexandria Semi Bold" pitchFamily="34" charset="-122"/>
                <a:cs typeface="Alexandria Semi Bold" pitchFamily="34" charset="-120"/>
              </a:rPr>
              <a:t>Review Defenses</a:t>
            </a:r>
            <a:endParaRPr lang="en-US" sz="1200" dirty="0"/>
          </a:p>
        </p:txBody>
      </p:sp>
      <p:sp>
        <p:nvSpPr>
          <p:cNvPr id="22" name="Text 16"/>
          <p:cNvSpPr/>
          <p:nvPr/>
        </p:nvSpPr>
        <p:spPr>
          <a:xfrm>
            <a:off x="4348563" y="5643251"/>
            <a:ext cx="2558340" cy="298494"/>
          </a:xfrm>
          <a:prstGeom prst="rect">
            <a:avLst/>
          </a:prstGeom>
          <a:noFill/>
          <a:ln/>
        </p:spPr>
        <p:txBody>
          <a:bodyPr wrap="square" lIns="0" tIns="0" rIns="0" bIns="0" rtlCol="0" anchor="t"/>
          <a:lstStyle/>
          <a:p>
            <a:pPr marL="0" indent="0" algn="l">
              <a:lnSpc>
                <a:spcPts val="1150"/>
              </a:lnSpc>
              <a:buNone/>
            </a:pPr>
            <a:r>
              <a:rPr lang="en-US" sz="900" dirty="0">
                <a:solidFill>
                  <a:srgbClr val="3B3535"/>
                </a:solidFill>
                <a:latin typeface="Sora Light" pitchFamily="34" charset="0"/>
                <a:ea typeface="Sora Light" pitchFamily="34" charset="-122"/>
                <a:cs typeface="Sora Light" pitchFamily="34" charset="-120"/>
              </a:rPr>
              <a:t>Audit critical cyber defenses per NCSC guidance</a:t>
            </a:r>
            <a:endParaRPr lang="en-US" sz="900" dirty="0"/>
          </a:p>
        </p:txBody>
      </p:sp>
      <p:sp>
        <p:nvSpPr>
          <p:cNvPr id="23" name="Text 17"/>
          <p:cNvSpPr/>
          <p:nvPr/>
        </p:nvSpPr>
        <p:spPr>
          <a:xfrm>
            <a:off x="464323" y="6345070"/>
            <a:ext cx="6633381" cy="424506"/>
          </a:xfrm>
          <a:prstGeom prst="rect">
            <a:avLst/>
          </a:prstGeom>
          <a:noFill/>
          <a:ln/>
        </p:spPr>
        <p:txBody>
          <a:bodyPr wrap="square" lIns="0" tIns="0" rIns="0" bIns="0" rtlCol="0" anchor="t"/>
          <a:lstStyle/>
          <a:p>
            <a:pPr marL="0" indent="0" algn="l">
              <a:lnSpc>
                <a:spcPts val="1650"/>
              </a:lnSpc>
              <a:buNone/>
            </a:pPr>
            <a:r>
              <a:rPr lang="en-US" sz="1000" dirty="0">
                <a:solidFill>
                  <a:srgbClr val="3B3535"/>
                </a:solidFill>
                <a:latin typeface="Sora Light" pitchFamily="34" charset="0"/>
                <a:ea typeface="Sora Light" pitchFamily="34" charset="-122"/>
                <a:cs typeface="Sora Light" pitchFamily="34" charset="-120"/>
              </a:rPr>
              <a:t>Organizations should prioritize </a:t>
            </a:r>
            <a:r>
              <a:rPr lang="en-US" sz="1000" b="1" dirty="0">
                <a:solidFill>
                  <a:srgbClr val="3B3535"/>
                </a:solidFill>
                <a:latin typeface="Sora Light" pitchFamily="34" charset="0"/>
                <a:ea typeface="Sora Light" pitchFamily="34" charset="-122"/>
                <a:cs typeface="Sora Light" pitchFamily="34" charset="-120"/>
              </a:rPr>
              <a:t>patching and threat monitoring immediately</a:t>
            </a:r>
            <a:r>
              <a:rPr lang="en-US" sz="1000" dirty="0">
                <a:solidFill>
                  <a:srgbClr val="3B3535"/>
                </a:solidFill>
                <a:latin typeface="Sora Light" pitchFamily="34" charset="0"/>
                <a:ea typeface="Sora Light" pitchFamily="34" charset="-122"/>
                <a:cs typeface="Sora Light" pitchFamily="34" charset="-120"/>
              </a:rPr>
              <a:t> in response to this week's threat landscape.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1013</Words>
  <Application>Microsoft Office PowerPoint</Application>
  <PresentationFormat>Custom</PresentationFormat>
  <Paragraphs>135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Alexandria Semi Bold</vt:lpstr>
      <vt:lpstr>Arial</vt:lpstr>
      <vt:lpstr>Sora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2026-03-15T06:04:24Z</dcterms:created>
  <dcterms:modified xsi:type="dcterms:W3CDTF">2026-03-15T06:07:31Z</dcterms:modified>
</cp:coreProperties>
</file>