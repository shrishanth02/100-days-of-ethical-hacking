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Roboto" panose="02000000000000000000" pitchFamily="2" charset="0"/>
      <p:regular r:id="rId15"/>
    </p:embeddedFont>
    <p:embeddedFont>
      <p:font typeface="Roboto Slab" panose="020F0502020204030204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715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546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svg"/><Relationship Id="rId3" Type="http://schemas.openxmlformats.org/officeDocument/2006/relationships/image" Target="../media/image24.png"/><Relationship Id="rId21" Type="http://schemas.openxmlformats.org/officeDocument/2006/relationships/image" Target="../media/image42.sv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24" Type="http://schemas.openxmlformats.org/officeDocument/2006/relationships/image" Target="../media/image45.svg"/><Relationship Id="rId5" Type="http://schemas.openxmlformats.org/officeDocument/2006/relationships/image" Target="../media/image26.png"/><Relationship Id="rId15" Type="http://schemas.openxmlformats.org/officeDocument/2006/relationships/image" Target="../media/image36.svg"/><Relationship Id="rId23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png"/><Relationship Id="rId18" Type="http://schemas.openxmlformats.org/officeDocument/2006/relationships/image" Target="../media/image6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5.svg"/><Relationship Id="rId20" Type="http://schemas.openxmlformats.org/officeDocument/2006/relationships/image" Target="../media/image69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5.sv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svg"/><Relationship Id="rId19" Type="http://schemas.openxmlformats.org/officeDocument/2006/relationships/image" Target="../media/image68.png"/><Relationship Id="rId4" Type="http://schemas.openxmlformats.org/officeDocument/2006/relationships/image" Target="../media/image53.svg"/><Relationship Id="rId9" Type="http://schemas.openxmlformats.org/officeDocument/2006/relationships/image" Target="../media/image58.png"/><Relationship Id="rId14" Type="http://schemas.openxmlformats.org/officeDocument/2006/relationships/image" Target="../media/image6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5348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Study on Cybersecurity and Information Technology Laws: Indian and Global Perspectives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15314"/>
            <a:ext cx="1341120" cy="1341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039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Indian Laws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4415314"/>
            <a:ext cx="1341120" cy="1341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25278" y="6039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Global Scope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4415314"/>
            <a:ext cx="1341120" cy="13411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56884" y="6039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Privacy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4415314"/>
            <a:ext cx="1341120" cy="13411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788491" y="6039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Cyber Threats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676882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</a:t>
            </a: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🇮🇳</a:t>
            </a: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The Information Technology Act, 2000 (India)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787122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8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Technology Act, 2000</a:t>
            </a: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India's primary law dealing with cybercrime and electronic commerce. It was enacted to give legal recognition to electronic records and digital signatures.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1186696"/>
            <a:ext cx="1748790" cy="24124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35560" y="117967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435560" y="1519833"/>
            <a:ext cx="579989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recognition of electronic transactions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Prevention and punishment of cybercrime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 e-governance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 data and privacy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402449" y="374784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Provisions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402449" y="4116348"/>
            <a:ext cx="2570678" cy="709970"/>
          </a:xfrm>
          <a:prstGeom prst="roundRect">
            <a:avLst>
              <a:gd name="adj" fmla="val 2396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3515797" y="422969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43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15797" y="4440793"/>
            <a:ext cx="234398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Penalty for unauthorized access, data theft, introducing viruses, and damaging systems.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29801" y="4116348"/>
            <a:ext cx="2570678" cy="709970"/>
          </a:xfrm>
          <a:prstGeom prst="roundRect">
            <a:avLst>
              <a:gd name="adj" fmla="val 2396"/>
            </a:avLst>
          </a:pr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6143149" y="422969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65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3149" y="4440793"/>
            <a:ext cx="234398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Tampering with computer source documents.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657153" y="4116348"/>
            <a:ext cx="2570797" cy="709970"/>
          </a:xfrm>
          <a:prstGeom prst="roundRect">
            <a:avLst>
              <a:gd name="adj" fmla="val 2396"/>
            </a:avLst>
          </a:prstGeom>
          <a:solidFill>
            <a:srgbClr val="3F4652"/>
          </a:solidFill>
          <a:ln/>
        </p:spPr>
      </p:sp>
      <p:sp>
        <p:nvSpPr>
          <p:cNvPr id="15" name="Text 12"/>
          <p:cNvSpPr/>
          <p:nvPr/>
        </p:nvSpPr>
        <p:spPr>
          <a:xfrm>
            <a:off x="8770501" y="422969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66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70501" y="4440793"/>
            <a:ext cx="234410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Computer-related offenses (hacking, fraud).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402449" y="4890016"/>
            <a:ext cx="2570678" cy="740450"/>
          </a:xfrm>
          <a:prstGeom prst="roundRect">
            <a:avLst>
              <a:gd name="adj" fmla="val 2298"/>
            </a:avLst>
          </a:prstGeom>
          <a:solidFill>
            <a:srgbClr val="202733"/>
          </a:solidFill>
          <a:ln w="15240">
            <a:solidFill>
              <a:srgbClr val="585F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31037" y="50186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66C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31037" y="5229701"/>
            <a:ext cx="231350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Identity theft (misuse of digital signatures, passwords).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29801" y="4890016"/>
            <a:ext cx="2570678" cy="740450"/>
          </a:xfrm>
          <a:prstGeom prst="roundRect">
            <a:avLst>
              <a:gd name="adj" fmla="val 2298"/>
            </a:avLst>
          </a:prstGeom>
          <a:solidFill>
            <a:srgbClr val="202733"/>
          </a:solidFill>
          <a:ln w="15240">
            <a:solidFill>
              <a:srgbClr val="585F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58389" y="50186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66D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58389" y="5229701"/>
            <a:ext cx="231350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Cheating by personation using computer resources (online scams).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657153" y="4890016"/>
            <a:ext cx="2570797" cy="740450"/>
          </a:xfrm>
          <a:prstGeom prst="roundRect">
            <a:avLst>
              <a:gd name="adj" fmla="val 2298"/>
            </a:avLst>
          </a:prstGeom>
          <a:solidFill>
            <a:srgbClr val="202733"/>
          </a:solidFill>
          <a:ln w="15240">
            <a:solidFill>
              <a:srgbClr val="585F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85741" y="50186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66E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785741" y="5229701"/>
            <a:ext cx="231362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Violation of privacy (capturing/transmitting private images).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02449" y="575083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66F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02449" y="5984677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 terrorism.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402449" y="617743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67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402449" y="6411278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Publishing or transmitting obscene material electronically.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402449" y="660404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69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402389" y="6760809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Government power to intercept, monitor, or decrypt information.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461171" y="575083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70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461171" y="5984677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Protected systems (critical infrastructure protection).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461171" y="617743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72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61171" y="6411278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Breach of confidentiality and privacy.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380192" y="6939462"/>
            <a:ext cx="7569460" cy="1127689"/>
          </a:xfrm>
          <a:prstGeom prst="roundRect">
            <a:avLst>
              <a:gd name="adj" fmla="val 1393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668" y="7025329"/>
            <a:ext cx="212646" cy="170021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837205" y="7023936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2008 Amendment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3826550" y="7269528"/>
            <a:ext cx="7272814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IT Act was significantly amended in 2008: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3826550" y="7463504"/>
            <a:ext cx="7272814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Introduced data protection concepts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Added cyber terrorism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Recognized electronic signatures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Strengthened penalties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337" y="1066800"/>
            <a:ext cx="7707511" cy="20953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83337" y="3245644"/>
            <a:ext cx="8142089" cy="41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</a:t>
            </a:r>
            <a:r>
              <a:rPr lang="en-US" sz="2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🇮🇳</a:t>
            </a:r>
            <a:r>
              <a:rPr 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Digital Personal Data Protection Act, 2023 (India)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883337" y="3771305"/>
            <a:ext cx="8863727" cy="160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0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Personal Data Protection Act, 2023</a:t>
            </a: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regulates processing of digital personal data.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883337" y="4041338"/>
            <a:ext cx="2569131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3337" y="4513183"/>
            <a:ext cx="128349" cy="128349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3337" y="4674394"/>
            <a:ext cx="2906078" cy="152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883337" y="4769048"/>
            <a:ext cx="2354699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Consent-based data processing</a:t>
            </a:r>
            <a:endParaRPr lang="en-US" sz="12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62161" y="4513183"/>
            <a:ext cx="128349" cy="128349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2161" y="4674394"/>
            <a:ext cx="2906078" cy="1524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862161" y="4769048"/>
            <a:ext cx="2850713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Rights of individuals (data principals)</a:t>
            </a:r>
            <a:endParaRPr lang="en-US" sz="12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40986" y="4513183"/>
            <a:ext cx="128349" cy="128349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0986" y="4674394"/>
            <a:ext cx="2906078" cy="1524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840986" y="4769048"/>
            <a:ext cx="2271951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fiduciary responsibilities</a:t>
            </a:r>
            <a:endParaRPr lang="en-US" sz="125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83337" y="5154930"/>
            <a:ext cx="128349" cy="128349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83337" y="5328999"/>
            <a:ext cx="4395430" cy="1524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2883337" y="5436394"/>
            <a:ext cx="1936790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Penalties up to ₹250 crore</a:t>
            </a:r>
            <a:endParaRPr lang="en-US" sz="125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51514" y="5154930"/>
            <a:ext cx="128349" cy="128349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1514" y="5328999"/>
            <a:ext cx="4395549" cy="1524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7351514" y="5436394"/>
            <a:ext cx="358723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Establishment of Data Protection Board of India</a:t>
            </a:r>
            <a:endParaRPr lang="en-US" sz="1250" dirty="0"/>
          </a:p>
        </p:txBody>
      </p:sp>
      <p:sp>
        <p:nvSpPr>
          <p:cNvPr id="21" name="Text 8"/>
          <p:cNvSpPr/>
          <p:nvPr/>
        </p:nvSpPr>
        <p:spPr>
          <a:xfrm>
            <a:off x="2883337" y="5842516"/>
            <a:ext cx="2569131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Individual Rights</a:t>
            </a:r>
            <a:endParaRPr lang="en-US" sz="20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83337" y="6247090"/>
            <a:ext cx="2954536" cy="513755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3011686" y="6859191"/>
            <a:ext cx="1605677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Right to access data</a:t>
            </a:r>
            <a:endParaRPr lang="en-US" sz="125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37873" y="6247090"/>
            <a:ext cx="2954536" cy="513755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5966222" y="6859191"/>
            <a:ext cx="23413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Right to correction and erasure</a:t>
            </a:r>
            <a:endParaRPr lang="en-US" sz="125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92408" y="6247090"/>
            <a:ext cx="2954536" cy="513755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8920758" y="6859191"/>
            <a:ext cx="2111573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Right to grievance redressal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697123"/>
            <a:ext cx="130428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GLOBAL</a:t>
            </a:r>
            <a:r>
              <a:rPr lang="en-US" sz="8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CYBERSECURITY LAWS</a:t>
            </a:r>
            <a:endParaRPr lang="en-US" sz="8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2910" y="611029"/>
            <a:ext cx="6590586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</a:t>
            </a:r>
            <a:r>
              <a:rPr lang="en-US" sz="2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🇪🇺</a:t>
            </a:r>
            <a:r>
              <a:rPr lang="en-US" sz="2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General Data Protection Regulation (GDPR)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910" y="1141809"/>
            <a:ext cx="2971205" cy="20064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46771" y="1128236"/>
            <a:ext cx="480810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46771" y="1324094"/>
            <a:ext cx="480810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46771" y="1519952"/>
            <a:ext cx="4808101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9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 Data Protection Regulation</a:t>
            </a: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European Union's data protection law (effective 2018).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82910" y="3306247"/>
            <a:ext cx="2337435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Principles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82910" y="3688556"/>
            <a:ext cx="1970961" cy="1009293"/>
          </a:xfrm>
          <a:prstGeom prst="roundRect">
            <a:avLst>
              <a:gd name="adj" fmla="val 1737"/>
            </a:avLst>
          </a:prstGeom>
          <a:solidFill>
            <a:srgbClr val="3F465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711" y="3805357"/>
            <a:ext cx="350520" cy="35052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6032" y="3901678"/>
            <a:ext cx="157758" cy="1577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99711" y="4216003"/>
            <a:ext cx="1737360" cy="365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Lawfulness, fairness, transparency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313998" y="3688556"/>
            <a:ext cx="1971080" cy="1009293"/>
          </a:xfrm>
          <a:prstGeom prst="roundRect">
            <a:avLst>
              <a:gd name="adj" fmla="val 1737"/>
            </a:avLst>
          </a:prstGeom>
          <a:solidFill>
            <a:srgbClr val="3F4652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0798" y="3805357"/>
            <a:ext cx="350520" cy="35052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7119" y="3901678"/>
            <a:ext cx="157758" cy="1577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30798" y="4216003"/>
            <a:ext cx="1460897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Purpose limitation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7345204" y="3688556"/>
            <a:ext cx="1970961" cy="1009293"/>
          </a:xfrm>
          <a:prstGeom prst="roundRect">
            <a:avLst>
              <a:gd name="adj" fmla="val 1737"/>
            </a:avLst>
          </a:prstGeom>
          <a:solidFill>
            <a:srgbClr val="3F4652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2004" y="3805357"/>
            <a:ext cx="350520" cy="35052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8326" y="3901678"/>
            <a:ext cx="157758" cy="15775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462004" y="4216003"/>
            <a:ext cx="1460897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minimization</a:t>
            </a:r>
            <a:endParaRPr lang="en-US" sz="1150" dirty="0"/>
          </a:p>
        </p:txBody>
      </p:sp>
      <p:sp>
        <p:nvSpPr>
          <p:cNvPr id="20" name="Shape 11"/>
          <p:cNvSpPr/>
          <p:nvPr/>
        </p:nvSpPr>
        <p:spPr>
          <a:xfrm>
            <a:off x="9376291" y="3688556"/>
            <a:ext cx="1971080" cy="1009293"/>
          </a:xfrm>
          <a:prstGeom prst="roundRect">
            <a:avLst>
              <a:gd name="adj" fmla="val 1737"/>
            </a:avLst>
          </a:prstGeom>
          <a:solidFill>
            <a:srgbClr val="3F4652"/>
          </a:solidFill>
          <a:ln/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3091" y="3805357"/>
            <a:ext cx="350520" cy="350520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89413" y="3901678"/>
            <a:ext cx="157758" cy="15775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9493091" y="4216003"/>
            <a:ext cx="1460897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Accuracy</a:t>
            </a:r>
            <a:endParaRPr lang="en-US" sz="1150" dirty="0"/>
          </a:p>
        </p:txBody>
      </p:sp>
      <p:sp>
        <p:nvSpPr>
          <p:cNvPr id="24" name="Shape 13"/>
          <p:cNvSpPr/>
          <p:nvPr/>
        </p:nvSpPr>
        <p:spPr>
          <a:xfrm>
            <a:off x="3282910" y="4757976"/>
            <a:ext cx="2648069" cy="826770"/>
          </a:xfrm>
          <a:prstGeom prst="roundRect">
            <a:avLst>
              <a:gd name="adj" fmla="val 2120"/>
            </a:avLst>
          </a:prstGeom>
          <a:solidFill>
            <a:srgbClr val="3F4652"/>
          </a:solidFill>
          <a:ln/>
        </p:spPr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99711" y="4874776"/>
            <a:ext cx="350520" cy="35052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96032" y="4971098"/>
            <a:ext cx="157758" cy="15775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3399711" y="5285423"/>
            <a:ext cx="1460897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Storage limitation</a:t>
            </a:r>
            <a:endParaRPr lang="en-US" sz="1150" dirty="0"/>
          </a:p>
        </p:txBody>
      </p:sp>
      <p:sp>
        <p:nvSpPr>
          <p:cNvPr id="28" name="Shape 15"/>
          <p:cNvSpPr/>
          <p:nvPr/>
        </p:nvSpPr>
        <p:spPr>
          <a:xfrm>
            <a:off x="5991106" y="4757976"/>
            <a:ext cx="2648069" cy="826770"/>
          </a:xfrm>
          <a:prstGeom prst="roundRect">
            <a:avLst>
              <a:gd name="adj" fmla="val 2120"/>
            </a:avLst>
          </a:prstGeom>
          <a:solidFill>
            <a:srgbClr val="3F4652"/>
          </a:solidFill>
          <a:ln/>
        </p:spPr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07906" y="4874776"/>
            <a:ext cx="350520" cy="350520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04228" y="4971098"/>
            <a:ext cx="157758" cy="157758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107906" y="5285423"/>
            <a:ext cx="1777722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Integrity &amp; confidentiality</a:t>
            </a:r>
            <a:endParaRPr lang="en-US" sz="1150" dirty="0"/>
          </a:p>
        </p:txBody>
      </p:sp>
      <p:sp>
        <p:nvSpPr>
          <p:cNvPr id="32" name="Shape 17"/>
          <p:cNvSpPr/>
          <p:nvPr/>
        </p:nvSpPr>
        <p:spPr>
          <a:xfrm>
            <a:off x="8699302" y="4757976"/>
            <a:ext cx="2648069" cy="826770"/>
          </a:xfrm>
          <a:prstGeom prst="roundRect">
            <a:avLst>
              <a:gd name="adj" fmla="val 2120"/>
            </a:avLst>
          </a:prstGeom>
          <a:solidFill>
            <a:srgbClr val="3F4652"/>
          </a:solidFill>
          <a:ln/>
        </p:spPr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16102" y="4874776"/>
            <a:ext cx="350520" cy="350520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12423" y="4971098"/>
            <a:ext cx="157758" cy="157758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8816102" y="5285423"/>
            <a:ext cx="1460897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Accountability</a:t>
            </a:r>
            <a:endParaRPr lang="en-US" sz="1150" dirty="0"/>
          </a:p>
        </p:txBody>
      </p:sp>
      <p:sp>
        <p:nvSpPr>
          <p:cNvPr id="36" name="Shape 19"/>
          <p:cNvSpPr/>
          <p:nvPr/>
        </p:nvSpPr>
        <p:spPr>
          <a:xfrm>
            <a:off x="3198733" y="5652492"/>
            <a:ext cx="2805589" cy="1965960"/>
          </a:xfrm>
          <a:prstGeom prst="roundRect">
            <a:avLst>
              <a:gd name="adj" fmla="val 892"/>
            </a:avLst>
          </a:prstGeom>
          <a:solidFill>
            <a:srgbClr val="66A8EE"/>
          </a:solidFill>
          <a:ln/>
        </p:spPr>
      </p:sp>
      <p:sp>
        <p:nvSpPr>
          <p:cNvPr id="37" name="Text 20"/>
          <p:cNvSpPr/>
          <p:nvPr/>
        </p:nvSpPr>
        <p:spPr>
          <a:xfrm>
            <a:off x="3315533" y="6285309"/>
            <a:ext cx="2337435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Penalties</a:t>
            </a:r>
            <a:endParaRPr lang="en-US" sz="1800" dirty="0"/>
          </a:p>
        </p:txBody>
      </p:sp>
      <p:sp>
        <p:nvSpPr>
          <p:cNvPr id="38" name="Text 21"/>
          <p:cNvSpPr/>
          <p:nvPr/>
        </p:nvSpPr>
        <p:spPr>
          <a:xfrm>
            <a:off x="3315533" y="6637496"/>
            <a:ext cx="2571988" cy="35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 to €20 million or 4% of global annual turnover (whichever is higher).</a:t>
            </a:r>
            <a:endParaRPr lang="en-US" sz="115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56132" y="5720239"/>
            <a:ext cx="3255288" cy="18304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931664"/>
            <a:ext cx="4919305" cy="6366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901303"/>
            <a:ext cx="7556421" cy="144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</a:t>
            </a:r>
            <a:r>
              <a:rPr lang="en-US" sz="4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🇺🇸</a:t>
            </a: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Computer Fraud and Abuse Act (CFAA)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268188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Fraud and Abuse Act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primary anti-hacking law in the United States.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280190" y="374784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Covers</a:t>
            </a:r>
            <a:endParaRPr lang="en-US" sz="3550" dirty="0"/>
          </a:p>
        </p:txBody>
      </p:sp>
      <p:sp>
        <p:nvSpPr>
          <p:cNvPr id="7" name="Shape 3"/>
          <p:cNvSpPr/>
          <p:nvPr/>
        </p:nvSpPr>
        <p:spPr>
          <a:xfrm>
            <a:off x="6280190" y="4654987"/>
            <a:ext cx="3664744" cy="1223248"/>
          </a:xfrm>
          <a:prstGeom prst="roundRect">
            <a:avLst>
              <a:gd name="adj" fmla="val 1196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710" y="4654987"/>
            <a:ext cx="121920" cy="12232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28924" y="4912281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Unauthorized access to computers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10171748" y="4654987"/>
            <a:ext cx="3664863" cy="1223248"/>
          </a:xfrm>
          <a:prstGeom prst="roundRect">
            <a:avLst>
              <a:gd name="adj" fmla="val 1196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1268" y="4654987"/>
            <a:ext cx="121920" cy="12232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20482" y="4912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Fraud via computers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6280190" y="6105049"/>
            <a:ext cx="3664744" cy="1223248"/>
          </a:xfrm>
          <a:prstGeom prst="roundRect">
            <a:avLst>
              <a:gd name="adj" fmla="val 1196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710" y="6105049"/>
            <a:ext cx="121920" cy="12232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28924" y="6362343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Damage to protected systems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10171748" y="6105049"/>
            <a:ext cx="3664863" cy="1223248"/>
          </a:xfrm>
          <a:prstGeom prst="roundRect">
            <a:avLst>
              <a:gd name="adj" fmla="val 1196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1268" y="6105049"/>
            <a:ext cx="121920" cy="12232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20482" y="6362343"/>
            <a:ext cx="3058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Trafficking in passwords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1128" y="792361"/>
            <a:ext cx="7774543" cy="124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5. </a:t>
            </a:r>
            <a:r>
              <a:rPr lang="en-US" sz="3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🇬🇧</a:t>
            </a:r>
            <a:r>
              <a:rPr lang="en-US" sz="3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UK Computer Misuse Act, 1990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171128" y="2291120"/>
            <a:ext cx="7774543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Misuse Act 1990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criminalizes unauthorized access to computer systems.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171128" y="2835712"/>
            <a:ext cx="3913227" cy="48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Offenses</a:t>
            </a:r>
            <a:endParaRPr lang="en-US" sz="3050" dirty="0"/>
          </a:p>
        </p:txBody>
      </p:sp>
      <p:sp>
        <p:nvSpPr>
          <p:cNvPr id="6" name="Shape 3"/>
          <p:cNvSpPr/>
          <p:nvPr/>
        </p:nvSpPr>
        <p:spPr>
          <a:xfrm>
            <a:off x="6171128" y="3577947"/>
            <a:ext cx="782598" cy="1173956"/>
          </a:xfrm>
          <a:prstGeom prst="roundRect">
            <a:avLst>
              <a:gd name="adj" fmla="val 360031"/>
            </a:avLst>
          </a:prstGeom>
          <a:solidFill>
            <a:srgbClr val="3F4652"/>
          </a:solidFill>
          <a:ln/>
        </p:spPr>
      </p:sp>
      <p:sp>
        <p:nvSpPr>
          <p:cNvPr id="7" name="Text 4"/>
          <p:cNvSpPr/>
          <p:nvPr/>
        </p:nvSpPr>
        <p:spPr>
          <a:xfrm>
            <a:off x="6415683" y="3981450"/>
            <a:ext cx="29348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122438" y="3773567"/>
            <a:ext cx="2445782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Unauthorized access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171128" y="4920615"/>
            <a:ext cx="782598" cy="1173956"/>
          </a:xfrm>
          <a:prstGeom prst="roundRect">
            <a:avLst>
              <a:gd name="adj" fmla="val 360031"/>
            </a:avLst>
          </a:prstGeom>
          <a:solidFill>
            <a:srgbClr val="3F4652"/>
          </a:solidFill>
          <a:ln/>
        </p:spPr>
      </p:sp>
      <p:sp>
        <p:nvSpPr>
          <p:cNvPr id="10" name="Text 7"/>
          <p:cNvSpPr/>
          <p:nvPr/>
        </p:nvSpPr>
        <p:spPr>
          <a:xfrm>
            <a:off x="6415683" y="5324118"/>
            <a:ext cx="29348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122438" y="5116235"/>
            <a:ext cx="5299353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Access with intent to commit further offenses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171128" y="6263283"/>
            <a:ext cx="782598" cy="1173956"/>
          </a:xfrm>
          <a:prstGeom prst="roundRect">
            <a:avLst>
              <a:gd name="adj" fmla="val 360031"/>
            </a:avLst>
          </a:prstGeom>
          <a:solidFill>
            <a:srgbClr val="3F4652"/>
          </a:solidFill>
          <a:ln/>
        </p:spPr>
      </p:sp>
      <p:sp>
        <p:nvSpPr>
          <p:cNvPr id="13" name="Text 10"/>
          <p:cNvSpPr/>
          <p:nvPr/>
        </p:nvSpPr>
        <p:spPr>
          <a:xfrm>
            <a:off x="6415683" y="6666786"/>
            <a:ext cx="29348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122438" y="6458903"/>
            <a:ext cx="3969663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Unauthorized modification of data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70942"/>
            <a:ext cx="7556421" cy="144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6. </a:t>
            </a:r>
            <a:r>
              <a:rPr lang="en-US" sz="4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🇦🇺</a:t>
            </a: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Australian Cybercrime Act, 2001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51521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2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Cybercrime Act 2001</a:t>
            </a:r>
            <a:r>
              <a:rPr lang="en-US" sz="2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addresses hacking, online fraud, and cyber terrorism.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539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OTHER IMPORTANT</a:t>
            </a: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INDIAN CYBER-RELATED LAWS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048941" y="3146584"/>
            <a:ext cx="30480" cy="3807619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4" name="Shape 2"/>
          <p:cNvSpPr/>
          <p:nvPr/>
        </p:nvSpPr>
        <p:spPr>
          <a:xfrm>
            <a:off x="1273612" y="3386495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1465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878860" y="318908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183011" y="3189089"/>
            <a:ext cx="493442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Indian Penal Code (IPC), 1860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2183011" y="3750469"/>
            <a:ext cx="11653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in cyber fraud, cheating, identity theft.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273612" y="4806910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0" name="Shape 8"/>
          <p:cNvSpPr/>
          <p:nvPr/>
        </p:nvSpPr>
        <p:spPr>
          <a:xfrm>
            <a:off x="793790" y="456699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878860" y="460950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2183011" y="4609505"/>
            <a:ext cx="363831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Companies Act, 2013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2183011" y="5170884"/>
            <a:ext cx="11653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Mandates cybersecurity and data protection for companies.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273612" y="6227326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5" name="Shape 13"/>
          <p:cNvSpPr/>
          <p:nvPr/>
        </p:nvSpPr>
        <p:spPr>
          <a:xfrm>
            <a:off x="793790" y="598741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6" name="Text 14"/>
          <p:cNvSpPr/>
          <p:nvPr/>
        </p:nvSpPr>
        <p:spPr>
          <a:xfrm>
            <a:off x="878860" y="60299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2183011" y="6029920"/>
            <a:ext cx="369593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CERT-In Rules (2022)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2183011" y="6591300"/>
            <a:ext cx="11653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Mandatory cyber incident reporting within 6 hours.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868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TYPES OF CYBER CRIMES COVERED UNDER THESE ACTS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749873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8277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Hacking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749873"/>
            <a:ext cx="453628" cy="4536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3008" y="38277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Identity theft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749873"/>
            <a:ext cx="453628" cy="4536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415111" y="38277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Phishing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657130"/>
            <a:ext cx="453628" cy="45362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30906" y="4734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Cyber terrorism</a:t>
            </a:r>
            <a:endParaRPr lang="en-US" sz="2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4657130"/>
            <a:ext cx="453628" cy="45362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973008" y="4734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Online fraud</a:t>
            </a:r>
            <a:endParaRPr lang="en-US" sz="2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77995" y="4657130"/>
            <a:ext cx="453628" cy="45362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415111" y="4734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breaches</a:t>
            </a:r>
            <a:endParaRPr lang="en-US" sz="2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3790" y="5564386"/>
            <a:ext cx="453628" cy="45362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530906" y="5642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Ransomware attacks</a:t>
            </a:r>
            <a:endParaRPr lang="en-US" sz="22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35893" y="5564386"/>
            <a:ext cx="453628" cy="45362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973008" y="5642253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Publishing obscene content</a:t>
            </a:r>
            <a:endParaRPr lang="en-US" sz="22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77995" y="5564386"/>
            <a:ext cx="453628" cy="453628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0415111" y="5642253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Denial of Service (DoS) attacks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3508"/>
            <a:ext cx="56747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COMPARISON TABLE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55915"/>
            <a:ext cx="13042821" cy="4280059"/>
          </a:xfrm>
          <a:prstGeom prst="roundRect">
            <a:avLst>
              <a:gd name="adj" fmla="val 79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56353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70724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Law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70724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Country Focus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94552" y="270724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 Penalty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151388" y="270724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213854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35756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Act 2000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35756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894552" y="335756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Cybercrime + E-commerce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151388" y="3357563"/>
            <a:ext cx="3450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Life imprisonment (terrorism cases)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22707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37078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DPDP Act 2023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437078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894552" y="437078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Protection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151388" y="437078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₹250 Crore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87739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502110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GDPR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502110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894552" y="502110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Protection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151388" y="502110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€20M / 4% turnover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52771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67142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CFAA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89108" y="567142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894552" y="567142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Hacking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151388" y="567142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 to 20 years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01410" y="617803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28462" y="632174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Misuse Act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4289108" y="632174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UK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6894552" y="632174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Unauthorized access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0151388" y="632174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10+ years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4529"/>
            <a:ext cx="70905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Cybersecurity laws aim to: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06936"/>
            <a:ext cx="4196358" cy="1162288"/>
          </a:xfrm>
          <a:prstGeom prst="roundRect">
            <a:avLst>
              <a:gd name="adj" fmla="val 2927"/>
            </a:avLst>
          </a:prstGeom>
          <a:solidFill>
            <a:srgbClr val="3F465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33750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Protect digital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16962" y="3106936"/>
            <a:ext cx="4196358" cy="1162288"/>
          </a:xfrm>
          <a:prstGeom prst="roundRect">
            <a:avLst>
              <a:gd name="adj" fmla="val 2927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5443776" y="3333750"/>
            <a:ext cx="32368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Safeguard personal data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40133" y="3106936"/>
            <a:ext cx="4196358" cy="1162288"/>
          </a:xfrm>
          <a:prstGeom prst="roundRect">
            <a:avLst>
              <a:gd name="adj" fmla="val 2927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9866948" y="33337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Prevent cybercrime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496038"/>
            <a:ext cx="6407944" cy="807958"/>
          </a:xfrm>
          <a:prstGeom prst="roundRect">
            <a:avLst>
              <a:gd name="adj" fmla="val 4211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722852"/>
            <a:ext cx="3842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Regulate online transactions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28548" y="4496038"/>
            <a:ext cx="6407944" cy="807958"/>
          </a:xfrm>
          <a:prstGeom prst="roundRect">
            <a:avLst>
              <a:gd name="adj" fmla="val 4211"/>
            </a:avLst>
          </a:prstGeom>
          <a:solidFill>
            <a:srgbClr val="3F4652"/>
          </a:solidFill>
          <a:ln/>
        </p:spPr>
      </p:sp>
      <p:sp>
        <p:nvSpPr>
          <p:cNvPr id="12" name="Text 10"/>
          <p:cNvSpPr/>
          <p:nvPr/>
        </p:nvSpPr>
        <p:spPr>
          <a:xfrm>
            <a:off x="7655362" y="4722852"/>
            <a:ext cx="51682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Ensure accountability of organizations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555914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India's IT Act forms the backbone of cyber law, while global frameworks like GDPR set strong standards for privacy and compliance.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654</Words>
  <Application>Microsoft Office PowerPoint</Application>
  <PresentationFormat>Custom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Roboto</vt:lpstr>
      <vt:lpstr>Roboto Slab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2026-02-15T17:38:57Z</dcterms:created>
  <dcterms:modified xsi:type="dcterms:W3CDTF">2026-02-15T17:44:28Z</dcterms:modified>
</cp:coreProperties>
</file>