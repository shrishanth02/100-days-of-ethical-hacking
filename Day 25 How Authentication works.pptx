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composite_infographic_displays_an_HTTP_login_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7" y="1312605"/>
            <a:ext cx="7647041" cy="50980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6D9B38-8636-1C8F-8A31-8AF708B6220F}"/>
              </a:ext>
            </a:extLst>
          </p:cNvPr>
          <p:cNvSpPr txBox="1"/>
          <p:nvPr/>
        </p:nvSpPr>
        <p:spPr>
          <a:xfrm>
            <a:off x="802640" y="154980"/>
            <a:ext cx="71923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Web Authentication: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3" y="78658"/>
            <a:ext cx="8839199" cy="67793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i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authenticating with a server, multiple pieces of data are transmitted beyond just the username and password payload. This guide provides detailed examples to help you understand each component.</a:t>
            </a:r>
          </a:p>
          <a:p>
            <a:endParaRPr lang="en-IN" sz="2000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Authentication request </a:t>
            </a:r>
          </a:p>
          <a:p>
            <a:pPr marL="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 to a web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Complete HTTP request: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/login HTTP/1.1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Host: example.com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Content-Type: application/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Accept: application/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User-Agent: Mozilla/5.0 (Windows NT 10.0; Win64; x64)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Origin: https://example.com</a:t>
            </a:r>
          </a:p>
          <a:p>
            <a:pPr marL="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https://example.com/login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Authorization: Basic am9objpkb2U=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=xyz789;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csrfToken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=abc123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X-CSRF-Token: abc123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A3DB6-7106-BAC1-B293-6C1106A426EB}"/>
              </a:ext>
            </a:extLst>
          </p:cNvPr>
          <p:cNvSpPr txBox="1"/>
          <p:nvPr/>
        </p:nvSpPr>
        <p:spPr>
          <a:xfrm>
            <a:off x="5211097" y="4906297"/>
            <a:ext cx="39329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"username": "</a:t>
            </a:r>
            <a:r>
              <a:rPr lang="en-IN" dirty="0" err="1"/>
              <a:t>john.doe</a:t>
            </a:r>
            <a:r>
              <a:rPr lang="en-IN" dirty="0"/>
              <a:t>",</a:t>
            </a:r>
          </a:p>
          <a:p>
            <a:r>
              <a:rPr lang="en-IN" dirty="0"/>
              <a:t>  "password": "MySecret123",</a:t>
            </a:r>
          </a:p>
          <a:p>
            <a:r>
              <a:rPr lang="en-IN" dirty="0"/>
              <a:t>  "</a:t>
            </a:r>
            <a:r>
              <a:rPr lang="en-IN" dirty="0" err="1"/>
              <a:t>rememberMe</a:t>
            </a:r>
            <a:r>
              <a:rPr lang="en-IN" dirty="0"/>
              <a:t>": true,</a:t>
            </a:r>
          </a:p>
          <a:p>
            <a:r>
              <a:rPr lang="en-IN" dirty="0"/>
              <a:t>  "</a:t>
            </a:r>
            <a:r>
              <a:rPr lang="en-IN" dirty="0" err="1"/>
              <a:t>captchaToken</a:t>
            </a:r>
            <a:r>
              <a:rPr lang="en-IN" dirty="0"/>
              <a:t>": "03AFcWeA...",</a:t>
            </a:r>
          </a:p>
          <a:p>
            <a:r>
              <a:rPr lang="en-IN" dirty="0"/>
              <a:t>  "</a:t>
            </a:r>
            <a:r>
              <a:rPr lang="en-IN" dirty="0" err="1"/>
              <a:t>deviceId</a:t>
            </a:r>
            <a:r>
              <a:rPr lang="en-IN" dirty="0"/>
              <a:t>": "a1b2c3d4"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3" y="351503"/>
            <a:ext cx="8450827" cy="6177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2. What the server actually receives (Payload): </a:t>
            </a:r>
            <a:r>
              <a:rPr lang="en-US" sz="2500" dirty="0"/>
              <a:t>Used for identity and login logic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username</a:t>
            </a:r>
          </a:p>
          <a:p>
            <a:pPr marL="0" indent="0">
              <a:buNone/>
            </a:pPr>
            <a:r>
              <a:rPr lang="en-US" sz="2500" dirty="0"/>
              <a:t>password</a:t>
            </a:r>
          </a:p>
          <a:p>
            <a:pPr marL="0" indent="0">
              <a:buNone/>
            </a:pPr>
            <a:r>
              <a:rPr lang="en-US" sz="2500" dirty="0" err="1"/>
              <a:t>rememberMe</a:t>
            </a:r>
            <a:endParaRPr lang="en-US" sz="2500" dirty="0"/>
          </a:p>
          <a:p>
            <a:pPr marL="0" indent="0">
              <a:buNone/>
            </a:pPr>
            <a:r>
              <a:rPr lang="en-US" sz="2500" dirty="0" err="1"/>
              <a:t>captchaToken</a:t>
            </a:r>
            <a:endParaRPr lang="en-US" sz="2500" dirty="0"/>
          </a:p>
          <a:p>
            <a:pPr marL="0" indent="0">
              <a:buNone/>
            </a:pPr>
            <a:r>
              <a:rPr lang="en-US" sz="2500" dirty="0" err="1"/>
              <a:t>deviceId</a:t>
            </a:r>
            <a:endParaRPr lang="en-US" sz="2500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93501547-D268-610E-96E3-99BD5C54B7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Generated image">
            <a:extLst>
              <a:ext uri="{FF2B5EF4-FFF2-40B4-BE49-F238E27FC236}">
                <a16:creationId xmlns:a16="http://schemas.microsoft.com/office/drawing/2014/main" id="{DE1349C1-90DD-6CE2-B722-89E34660D3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345809" cy="415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410DC9-3F54-09A7-A8C8-F39765EE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83" t="16937"/>
          <a:stretch>
            <a:fillRect/>
          </a:stretch>
        </p:blipFill>
        <p:spPr>
          <a:xfrm>
            <a:off x="4760495" y="1625599"/>
            <a:ext cx="3721382" cy="38506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219" y="50881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3. Headers : </a:t>
            </a:r>
            <a:r>
              <a:rPr lang="en-US" sz="2500" dirty="0"/>
              <a:t>Used for auth rules, security checks, logging.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Authorization</a:t>
            </a:r>
          </a:p>
          <a:p>
            <a:pPr marL="0" indent="0">
              <a:buNone/>
            </a:pPr>
            <a:r>
              <a:rPr lang="en-US" sz="2500" dirty="0"/>
              <a:t>Content-Type</a:t>
            </a:r>
          </a:p>
          <a:p>
            <a:pPr marL="0" indent="0">
              <a:buNone/>
            </a:pPr>
            <a:r>
              <a:rPr lang="en-US" sz="2500" dirty="0"/>
              <a:t>User-Agent</a:t>
            </a:r>
          </a:p>
          <a:p>
            <a:pPr marL="0" indent="0">
              <a:buNone/>
            </a:pPr>
            <a:r>
              <a:rPr lang="en-US" sz="2500" dirty="0"/>
              <a:t>Origin</a:t>
            </a:r>
          </a:p>
          <a:p>
            <a:pPr marL="0" indent="0">
              <a:buNone/>
            </a:pPr>
            <a:r>
              <a:rPr lang="en-US" sz="2500" dirty="0" err="1"/>
              <a:t>Referer</a:t>
            </a:r>
            <a:endParaRPr lang="en-US" sz="2500" dirty="0"/>
          </a:p>
          <a:p>
            <a:pPr marL="0" indent="0">
              <a:buNone/>
            </a:pPr>
            <a:r>
              <a:rPr lang="en-US" sz="2500" dirty="0"/>
              <a:t>Accept</a:t>
            </a:r>
          </a:p>
          <a:p>
            <a:pPr marL="0" indent="0">
              <a:buNone/>
            </a:pPr>
            <a:r>
              <a:rPr lang="en-US" sz="2500" dirty="0"/>
              <a:t>X-CSRF-Token</a:t>
            </a:r>
          </a:p>
          <a:p>
            <a:pPr marL="0" indent="0">
              <a:buNone/>
            </a:pPr>
            <a:endParaRPr lang="en-US"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8E5648-1AB0-3E33-BDD8-6E6A944B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07" t="26399" b="12194"/>
          <a:stretch>
            <a:fillRect/>
          </a:stretch>
        </p:blipFill>
        <p:spPr>
          <a:xfrm>
            <a:off x="4395019" y="1737360"/>
            <a:ext cx="3808682" cy="2830062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4" y="6661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4. Cookies : </a:t>
            </a:r>
            <a:r>
              <a:rPr lang="en-US" sz="2500" dirty="0"/>
              <a:t>Sent automatically by browser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 err="1"/>
              <a:t>sessionId</a:t>
            </a:r>
            <a:endParaRPr lang="en-US" sz="2500" dirty="0"/>
          </a:p>
          <a:p>
            <a:pPr marL="0" indent="0">
              <a:buNone/>
            </a:pPr>
            <a:r>
              <a:rPr lang="en-US" sz="2500" dirty="0" err="1"/>
              <a:t>crfToken</a:t>
            </a: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3F6162-4DD4-2140-7E28-63F591DC1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89" b="27672"/>
          <a:stretch>
            <a:fillRect/>
          </a:stretch>
        </p:blipFill>
        <p:spPr>
          <a:xfrm>
            <a:off x="2286246" y="1665901"/>
            <a:ext cx="6469380" cy="229616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57764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5.  N/W &amp; transport data : </a:t>
            </a:r>
            <a:r>
              <a:rPr lang="en-US" sz="2500" dirty="0"/>
              <a:t>Not Visible in request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IP address</a:t>
            </a:r>
          </a:p>
          <a:p>
            <a:pPr marL="0" indent="0">
              <a:buNone/>
            </a:pPr>
            <a:r>
              <a:rPr lang="en-US" sz="2500" dirty="0"/>
              <a:t>TLS/HTTPS details</a:t>
            </a:r>
          </a:p>
          <a:p>
            <a:pPr marL="0" indent="0">
              <a:buNone/>
            </a:pPr>
            <a:r>
              <a:rPr lang="en-US" sz="2500" dirty="0"/>
              <a:t>Request timestamp</a:t>
            </a:r>
            <a:endParaRPr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FC6E4E-3AB1-2E4B-C17C-0F12EB652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689"/>
          <a:stretch>
            <a:fillRect/>
          </a:stretch>
        </p:blipFill>
        <p:spPr>
          <a:xfrm>
            <a:off x="2948940" y="1574799"/>
            <a:ext cx="6195060" cy="33581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" y="7938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Server Uses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018"/>
            <a:ext cx="7010400" cy="4525963"/>
          </a:xfrm>
        </p:spPr>
        <p:txBody>
          <a:bodyPr>
            <a:normAutofit/>
          </a:bodyPr>
          <a:lstStyle/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→ Verify credentials and MFA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Headers → Token and device validation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→ Session and CSRF protection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→ Fraud detection and rate limiting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63714-88D0-FD98-51AD-A2FAE5F7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61"/>
          <a:stretch>
            <a:fillRect/>
          </a:stretch>
        </p:blipFill>
        <p:spPr>
          <a:xfrm>
            <a:off x="3657600" y="3127058"/>
            <a:ext cx="5374640" cy="2971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5D65-1814-854E-24F9-6BAA4CA1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6EC57-D6B0-4438-9879-E71737B28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0"/>
            <a:ext cx="8421329" cy="67543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00" dirty="0"/>
              <a:t>🛡️</a:t>
            </a:r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prevent Brute Force Attacks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Brute-force attacks try many passwords until one works. Real systems. stop this by 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layering multiple controls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one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to prevent the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bruteforce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800" dirty="0"/>
              <a:t>🚦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how many login attempts are allowed in a time window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 : 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5 login attempts per IP per minute, After that requests are blocked(it stops automated guessing)</a:t>
            </a:r>
          </a:p>
          <a:p>
            <a:pPr marL="0" indent="0">
              <a:buNone/>
            </a:pPr>
            <a:r>
              <a:rPr lang="en-IN" sz="2800" dirty="0"/>
              <a:t>🔒</a:t>
            </a:r>
            <a:r>
              <a:rPr lang="it-IT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 Lockout(temporary):</a:t>
            </a:r>
            <a:r>
              <a:rPr lang="it-IT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Locks the account after multiple failed attempts.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failed attempts → account locked for 15 minutes</a:t>
            </a:r>
          </a:p>
          <a:p>
            <a:pPr marL="0" indent="0">
              <a:buNone/>
            </a:pPr>
            <a:r>
              <a:rPr lang="en-IN" sz="2800" dirty="0"/>
              <a:t>🤖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Captcha: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 the user to prove they’re human.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2–3 failed logins or On suspicious IPs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50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4CCE-DCA7-165A-EDC2-BDC42D9E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DC44C-E1AF-6A27-3519-5C14FAB8C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0"/>
            <a:ext cx="8421329" cy="6754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⏳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 delays: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failed attempt increases the wait time.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 1</a:t>
            </a:r>
            <a:r>
              <a:rPr lang="en-US" sz="25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= no delay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3</a:t>
            </a:r>
            <a:r>
              <a:rPr lang="en-US" sz="25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= 10secs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5</a:t>
            </a:r>
            <a:r>
              <a:rPr lang="en-US" sz="25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= 5mins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brute force impractical</a:t>
            </a:r>
          </a:p>
          <a:p>
            <a:pPr marL="0" indent="0">
              <a:buNone/>
            </a:pPr>
            <a:r>
              <a:rPr lang="en-IN" sz="2800" dirty="0"/>
              <a:t>🚫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blocking &amp; reputation checks: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known malicious IPs or ranges.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uses: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blacklists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Geo blocking</a:t>
            </a:r>
          </a:p>
          <a:p>
            <a:pPr marL="0" indent="0">
              <a:buNone/>
            </a:pPr>
            <a:r>
              <a:rPr lang="en-IN" sz="2800" dirty="0"/>
              <a:t>📲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Authentication(MFA):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the password is guessed, login still fails.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(SMS / Authenticator app), Email verification, Hardware security key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665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B360-6EB1-A72F-BA6F-421E010B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CC8E8-2983-65FE-21A0-4F46BCCE6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0"/>
            <a:ext cx="8421329" cy="6754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🧱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passwords policies: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success of guessing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Rules: 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length (12+)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common or breached passwords</a:t>
            </a:r>
          </a:p>
          <a:p>
            <a:pPr marL="0" indent="0">
              <a:buNone/>
            </a:pPr>
            <a:r>
              <a:rPr lang="en-IN" sz="2800" dirty="0"/>
              <a:t>🧩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&amp; behavior fingerprinting: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login behavior looks normal. Like new device, new location, unusual login time.</a:t>
            </a:r>
          </a:p>
          <a:p>
            <a:pPr marL="0" indent="0">
              <a:buNone/>
            </a:pP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/>
              <a:t>💻</a:t>
            </a:r>
            <a:r>
              <a:rPr lang="en-US" sz="2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Monitoring/logging &amp; alerts: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attacks early.</a:t>
            </a:r>
          </a:p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after 100 failed logins in 5 minutes,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Auto-block source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996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543</Words>
  <Application>Microsoft Office PowerPoint</Application>
  <PresentationFormat>On-screen Show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📍How the Server Uses the Data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shrishanth battu</cp:lastModifiedBy>
  <cp:revision>5</cp:revision>
  <dcterms:created xsi:type="dcterms:W3CDTF">2013-01-27T09:14:16Z</dcterms:created>
  <dcterms:modified xsi:type="dcterms:W3CDTF">2026-01-21T09:14:59Z</dcterms:modified>
  <cp:category/>
</cp:coreProperties>
</file>