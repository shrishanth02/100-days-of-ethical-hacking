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4630400" cy="8229600"/>
  <p:notesSz cx="8229600" cy="14630400"/>
  <p:embeddedFontLst>
    <p:embeddedFont>
      <p:font typeface="Alice" panose="020B0604020202020204" charset="0"/>
      <p:regular r:id="rId18"/>
    </p:embeddedFont>
    <p:embeddedFont>
      <p:font typeface="Lora" pitchFamily="2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2954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.png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6452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BLUE TEAM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91346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</a:t>
            </a: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Blue Team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is a group of cybersecurity professionals responsible for </a:t>
            </a: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defending an organization's systems, networks, and data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against cyber threats. They work reactively (responding to attacks) and proactively (preventing future attacks).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334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65753"/>
            <a:ext cx="6407944" cy="868918"/>
          </a:xfrm>
          <a:prstGeom prst="roundRect">
            <a:avLst>
              <a:gd name="adj" fmla="val 16837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165753"/>
            <a:ext cx="121920" cy="868918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423047"/>
            <a:ext cx="45515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Detect and respond to cyber threats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28548" y="3165753"/>
            <a:ext cx="6408063" cy="868918"/>
          </a:xfrm>
          <a:prstGeom prst="roundRect">
            <a:avLst>
              <a:gd name="adj" fmla="val 16837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98067" y="3165753"/>
            <a:ext cx="121920" cy="868918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8" name="Text 6"/>
          <p:cNvSpPr/>
          <p:nvPr/>
        </p:nvSpPr>
        <p:spPr>
          <a:xfrm>
            <a:off x="7777282" y="3423047"/>
            <a:ext cx="44868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Monitor networks and systems 24/7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93790" y="4261485"/>
            <a:ext cx="6407944" cy="868918"/>
          </a:xfrm>
          <a:prstGeom prst="roundRect">
            <a:avLst>
              <a:gd name="adj" fmla="val 16837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310" y="4261485"/>
            <a:ext cx="121920" cy="868918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11" name="Text 9"/>
          <p:cNvSpPr/>
          <p:nvPr/>
        </p:nvSpPr>
        <p:spPr>
          <a:xfrm>
            <a:off x="1142524" y="4518779"/>
            <a:ext cx="36481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Prevent unauthorized access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428548" y="4261485"/>
            <a:ext cx="6408063" cy="868918"/>
          </a:xfrm>
          <a:prstGeom prst="roundRect">
            <a:avLst>
              <a:gd name="adj" fmla="val 16837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98067" y="4261485"/>
            <a:ext cx="121920" cy="868918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7282" y="4518779"/>
            <a:ext cx="52872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Minimize damage from security incidents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93790" y="5357217"/>
            <a:ext cx="6407944" cy="868918"/>
          </a:xfrm>
          <a:prstGeom prst="roundRect">
            <a:avLst>
              <a:gd name="adj" fmla="val 16837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310" y="5357217"/>
            <a:ext cx="121920" cy="868918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17" name="Text 15"/>
          <p:cNvSpPr/>
          <p:nvPr/>
        </p:nvSpPr>
        <p:spPr>
          <a:xfrm>
            <a:off x="1142524" y="5614511"/>
            <a:ext cx="49731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Continuously improve security posture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428548" y="5357217"/>
            <a:ext cx="6408063" cy="868918"/>
          </a:xfrm>
          <a:prstGeom prst="roundRect">
            <a:avLst>
              <a:gd name="adj" fmla="val 16837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98067" y="5357217"/>
            <a:ext cx="121920" cy="868918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20" name="Text 18"/>
          <p:cNvSpPr/>
          <p:nvPr/>
        </p:nvSpPr>
        <p:spPr>
          <a:xfrm>
            <a:off x="7777282" y="5614511"/>
            <a:ext cx="51888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Ensure compliance with security policies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5586"/>
            <a:ext cx="8030647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Blue Team Roles &amp; Responsibilities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93790" y="1880949"/>
            <a:ext cx="13042821" cy="5473065"/>
          </a:xfrm>
          <a:prstGeom prst="roundRect">
            <a:avLst>
              <a:gd name="adj" fmla="val 55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1888569"/>
            <a:ext cx="13027581" cy="5457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05602" y="2006322"/>
            <a:ext cx="34962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917638" y="2006322"/>
            <a:ext cx="870727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Responsibility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1410" y="2434352"/>
            <a:ext cx="13027581" cy="5457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602" y="2552105"/>
            <a:ext cx="34962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SOC Analyst (L1)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17638" y="2552105"/>
            <a:ext cx="870727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Monitor alerts, triage incidents, escalate issues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1410" y="2980134"/>
            <a:ext cx="13027581" cy="5457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05602" y="3097887"/>
            <a:ext cx="34962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SOC Analyst (L2)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17638" y="3097887"/>
            <a:ext cx="870727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Investigate escalated alerts, perform deeper analysis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1410" y="3525917"/>
            <a:ext cx="13027581" cy="5457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05602" y="3643670"/>
            <a:ext cx="34962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SOC Analyst (L3)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17638" y="3643670"/>
            <a:ext cx="870727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Advanced threat hunting, forensics, incident response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1410" y="4071699"/>
            <a:ext cx="13027581" cy="5457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05602" y="4189452"/>
            <a:ext cx="34962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Incident Responder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17638" y="4189452"/>
            <a:ext cx="870727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Lead response to active security incidents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1410" y="4617482"/>
            <a:ext cx="13027581" cy="5457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05602" y="4735235"/>
            <a:ext cx="34962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Threat Hunter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17638" y="4735235"/>
            <a:ext cx="870727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Proactively search for hidden threats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1410" y="5163264"/>
            <a:ext cx="13027581" cy="5457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05602" y="5281017"/>
            <a:ext cx="34962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Forensic Analyst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17638" y="5281017"/>
            <a:ext cx="870727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Investigate breaches, collect evidence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01410" y="5709047"/>
            <a:ext cx="13027581" cy="5457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05602" y="5826800"/>
            <a:ext cx="34962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Threat Intelligence Analyst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17638" y="5826800"/>
            <a:ext cx="870727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Analyze threat data, track threat actors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1410" y="6254829"/>
            <a:ext cx="13027581" cy="5457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05602" y="6372582"/>
            <a:ext cx="34962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Security Engineer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17638" y="6372582"/>
            <a:ext cx="870727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Build and maintain security tools &amp; infrastructure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01410" y="6800612"/>
            <a:ext cx="13027581" cy="5457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005602" y="6918365"/>
            <a:ext cx="34962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SOC Manager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917638" y="6918365"/>
            <a:ext cx="870727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Oversee SOC operations, reporting, team management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5321" y="522684"/>
            <a:ext cx="2255044" cy="337304"/>
          </a:xfrm>
          <a:prstGeom prst="roundRect">
            <a:avLst>
              <a:gd name="adj" fmla="val 6763"/>
            </a:avLst>
          </a:prstGeom>
          <a:solidFill>
            <a:srgbClr val="D7F4E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9264" y="615315"/>
            <a:ext cx="152043" cy="1520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7269" y="579596"/>
            <a:ext cx="1799153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BLUE TEAM WORKFLOW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5321" y="923687"/>
            <a:ext cx="4752380" cy="594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Step 1: </a:t>
            </a:r>
            <a:r>
              <a:rPr lang="en-US" sz="3700" dirty="0">
                <a:solidFill>
                  <a:srgbClr val="1B5F39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PREPARE</a:t>
            </a:r>
            <a:endParaRPr lang="en-US" sz="3700" dirty="0"/>
          </a:p>
        </p:txBody>
      </p:sp>
      <p:sp>
        <p:nvSpPr>
          <p:cNvPr id="6" name="Shape 3"/>
          <p:cNvSpPr/>
          <p:nvPr/>
        </p:nvSpPr>
        <p:spPr>
          <a:xfrm>
            <a:off x="528518" y="1756767"/>
            <a:ext cx="4627126" cy="5988010"/>
          </a:xfrm>
          <a:prstGeom prst="roundRect">
            <a:avLst>
              <a:gd name="adj" fmla="val 616"/>
            </a:avLst>
          </a:prstGeom>
          <a:solidFill>
            <a:srgbClr val="1B5F39"/>
          </a:solidFill>
          <a:ln/>
        </p:spPr>
      </p:sp>
      <p:sp>
        <p:nvSpPr>
          <p:cNvPr id="7" name="Text 4"/>
          <p:cNvSpPr/>
          <p:nvPr/>
        </p:nvSpPr>
        <p:spPr>
          <a:xfrm>
            <a:off x="718542" y="3596402"/>
            <a:ext cx="2376130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What they do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718542" y="4052768"/>
            <a:ext cx="4247078" cy="1955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Deploy security tools (SIEM, EDR, IDS/IPS)</a:t>
            </a:r>
            <a:endParaRPr lang="en-US" sz="145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Define security policies &amp; procedures</a:t>
            </a:r>
            <a:endParaRPr lang="en-US" sz="145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Create incident response playbooks</a:t>
            </a:r>
            <a:endParaRPr lang="en-US" sz="145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Conduct security awareness training</a:t>
            </a:r>
            <a:endParaRPr lang="en-US" sz="145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Perform vulnerability assessments</a:t>
            </a:r>
            <a:endParaRPr lang="en-US" sz="145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Set up monitoring dashboards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490091" y="1916073"/>
            <a:ext cx="2376130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Goal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5490091" y="2372439"/>
            <a:ext cx="8482489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 ready before an attack happens</a:t>
            </a:r>
            <a:endParaRPr lang="en-US" sz="14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0091" y="2831187"/>
            <a:ext cx="8482489" cy="47344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646396"/>
            <a:ext cx="2691765" cy="426244"/>
          </a:xfrm>
          <a:prstGeom prst="roundRect">
            <a:avLst>
              <a:gd name="adj" fmla="val 6386"/>
            </a:avLst>
          </a:prstGeom>
          <a:solidFill>
            <a:srgbClr val="D7F4E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878" y="1768793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714381"/>
            <a:ext cx="214741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BLUE TEAM WORKFLOW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16336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Step 2: </a:t>
            </a:r>
            <a:r>
              <a:rPr lang="en-US" sz="4450" dirty="0">
                <a:solidFill>
                  <a:srgbClr val="1B5F39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DETECT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630436" y="3212306"/>
            <a:ext cx="6571417" cy="3370778"/>
          </a:xfrm>
          <a:prstGeom prst="roundRect">
            <a:avLst>
              <a:gd name="adj" fmla="val 1009"/>
            </a:avLst>
          </a:prstGeom>
          <a:solidFill>
            <a:srgbClr val="1B5F39"/>
          </a:solidFill>
          <a:ln/>
        </p:spPr>
      </p:sp>
      <p:sp>
        <p:nvSpPr>
          <p:cNvPr id="7" name="Text 4"/>
          <p:cNvSpPr/>
          <p:nvPr/>
        </p:nvSpPr>
        <p:spPr>
          <a:xfrm>
            <a:off x="857250" y="34391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What they do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57250" y="4020264"/>
            <a:ext cx="6117788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Monitor SIEM alerts 24/7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Analyze logs from firewalls, endpoints, servers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 IDS/IPS to detect network anomalies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Monitor threat intelligence feeds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Set up detection rules &amp; use cases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599521" y="34391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Goal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599521" y="402026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Identify threats as early as possible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599521" y="4638318"/>
            <a:ext cx="6244709" cy="1689616"/>
          </a:xfrm>
          <a:prstGeom prst="roundRect">
            <a:avLst>
              <a:gd name="adj" fmla="val 2014"/>
            </a:avLst>
          </a:prstGeom>
          <a:solidFill>
            <a:srgbClr val="C3EED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6335" y="4982408"/>
            <a:ext cx="283488" cy="22681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336637" y="4921806"/>
            <a:ext cx="52807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Example:</a:t>
            </a:r>
            <a:r>
              <a:rPr lang="en-US" sz="1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SIEM alerts → "Multiple failed logins from 203.0.113.5 on server-web01" → Possible brute force attack detected!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646396"/>
            <a:ext cx="2691765" cy="426244"/>
          </a:xfrm>
          <a:prstGeom prst="roundRect">
            <a:avLst>
              <a:gd name="adj" fmla="val 6386"/>
            </a:avLst>
          </a:prstGeom>
          <a:solidFill>
            <a:srgbClr val="D7F4E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878" y="1768793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714381"/>
            <a:ext cx="214741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BLUE TEAM WORKFLOW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16336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Step 3: </a:t>
            </a:r>
            <a:r>
              <a:rPr lang="en-US" sz="4450" dirty="0">
                <a:solidFill>
                  <a:srgbClr val="1B5F39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ANALYZE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630436" y="3212306"/>
            <a:ext cx="6571417" cy="3370778"/>
          </a:xfrm>
          <a:prstGeom prst="roundRect">
            <a:avLst>
              <a:gd name="adj" fmla="val 1009"/>
            </a:avLst>
          </a:prstGeom>
          <a:solidFill>
            <a:srgbClr val="1B5F39"/>
          </a:solidFill>
          <a:ln/>
        </p:spPr>
      </p:sp>
      <p:sp>
        <p:nvSpPr>
          <p:cNvPr id="7" name="Text 4"/>
          <p:cNvSpPr/>
          <p:nvPr/>
        </p:nvSpPr>
        <p:spPr>
          <a:xfrm>
            <a:off x="857250" y="34391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What they do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57250" y="4020264"/>
            <a:ext cx="6117788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Triage alerts (true positive vs false positive)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Investigate affected systems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Correlate events across multiple sources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Check threat intelligence (MISP, VirusTotal)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Determine scope &amp; impact of the attack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599521" y="34391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Goal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599521" y="402026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Understand what happened &amp; how bad it is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599521" y="4638318"/>
            <a:ext cx="6244709" cy="1689616"/>
          </a:xfrm>
          <a:prstGeom prst="roundRect">
            <a:avLst>
              <a:gd name="adj" fmla="val 2014"/>
            </a:avLst>
          </a:prstGeom>
          <a:solidFill>
            <a:srgbClr val="C3EED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6335" y="4982408"/>
            <a:ext cx="283488" cy="22681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336637" y="4921806"/>
            <a:ext cx="52807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Example:</a:t>
            </a:r>
            <a:r>
              <a:rPr lang="en-US" sz="1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→ IP 203.0.113.5 checked in MISP → Linked to known ransomware group "LockBit" → Escalated to L2 analyst immediately!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646396"/>
            <a:ext cx="2691765" cy="426244"/>
          </a:xfrm>
          <a:prstGeom prst="roundRect">
            <a:avLst>
              <a:gd name="adj" fmla="val 6386"/>
            </a:avLst>
          </a:prstGeom>
          <a:solidFill>
            <a:srgbClr val="D7F4E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878" y="1768793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714381"/>
            <a:ext cx="214741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BLUE TEAM WORKFLOW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16336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Step 4: </a:t>
            </a:r>
            <a:r>
              <a:rPr lang="en-US" sz="4450" dirty="0">
                <a:solidFill>
                  <a:srgbClr val="1B5F39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CONTAIN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630436" y="3212306"/>
            <a:ext cx="6571417" cy="3370778"/>
          </a:xfrm>
          <a:prstGeom prst="roundRect">
            <a:avLst>
              <a:gd name="adj" fmla="val 1009"/>
            </a:avLst>
          </a:prstGeom>
          <a:solidFill>
            <a:srgbClr val="1B5F39"/>
          </a:solidFill>
          <a:ln/>
        </p:spPr>
      </p:sp>
      <p:sp>
        <p:nvSpPr>
          <p:cNvPr id="7" name="Text 4"/>
          <p:cNvSpPr/>
          <p:nvPr/>
        </p:nvSpPr>
        <p:spPr>
          <a:xfrm>
            <a:off x="857250" y="34391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What they do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57250" y="4020264"/>
            <a:ext cx="6117788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Isolate infected systems via EDR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Block malicious IPs/domains in firewall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Disable compromised user accounts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Segment affected network zones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Preserve evidence for forensics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599521" y="34391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Goal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599521" y="402026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Stop the attack from spreading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599521" y="4638318"/>
            <a:ext cx="6244709" cy="1689616"/>
          </a:xfrm>
          <a:prstGeom prst="roundRect">
            <a:avLst>
              <a:gd name="adj" fmla="val 2014"/>
            </a:avLst>
          </a:prstGeom>
          <a:solidFill>
            <a:srgbClr val="C3EED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6335" y="4982408"/>
            <a:ext cx="283488" cy="22681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336637" y="4921806"/>
            <a:ext cx="52807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Example:</a:t>
            </a:r>
            <a:r>
              <a:rPr lang="en-US" sz="1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→ CrowdStrike isolates infected laptop → Firewall blocks 203.0.113.5 → User account "john.doe" disabled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646396"/>
            <a:ext cx="2691765" cy="426244"/>
          </a:xfrm>
          <a:prstGeom prst="roundRect">
            <a:avLst>
              <a:gd name="adj" fmla="val 6386"/>
            </a:avLst>
          </a:prstGeom>
          <a:solidFill>
            <a:srgbClr val="D7F4E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878" y="1768793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714381"/>
            <a:ext cx="214741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BLUE TEAM WORKFLOW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16336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Step 5: </a:t>
            </a:r>
            <a:r>
              <a:rPr lang="en-US" sz="4450" dirty="0">
                <a:solidFill>
                  <a:srgbClr val="1B5F39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ERADICATE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630436" y="3212306"/>
            <a:ext cx="6571417" cy="3370778"/>
          </a:xfrm>
          <a:prstGeom prst="roundRect">
            <a:avLst>
              <a:gd name="adj" fmla="val 1009"/>
            </a:avLst>
          </a:prstGeom>
          <a:solidFill>
            <a:srgbClr val="1B5F39"/>
          </a:solidFill>
          <a:ln/>
        </p:spPr>
      </p:sp>
      <p:sp>
        <p:nvSpPr>
          <p:cNvPr id="7" name="Text 4"/>
          <p:cNvSpPr/>
          <p:nvPr/>
        </p:nvSpPr>
        <p:spPr>
          <a:xfrm>
            <a:off x="857250" y="34391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What they do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57250" y="4020264"/>
            <a:ext cx="6117788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Remove malware from infected systems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Delete malicious files &amp; registry entries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Patch exploited vulnerabilities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Reset compromised credentials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Scan all systems for similar threats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599521" y="34391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Goal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599521" y="402026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Completely remove the threat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599521" y="4638318"/>
            <a:ext cx="6244709" cy="1689616"/>
          </a:xfrm>
          <a:prstGeom prst="roundRect">
            <a:avLst>
              <a:gd name="adj" fmla="val 2014"/>
            </a:avLst>
          </a:prstGeom>
          <a:solidFill>
            <a:srgbClr val="C3EED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6335" y="4982408"/>
            <a:ext cx="283488" cy="22681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336637" y="4921806"/>
            <a:ext cx="52807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Example:</a:t>
            </a:r>
            <a:r>
              <a:rPr lang="en-US" sz="1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→ Malware "emotet.exe" removed from 3 systems → Apache vulnerability CVE-2021-41773 patched → All user passwords reset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464945"/>
            <a:ext cx="2691765" cy="426244"/>
          </a:xfrm>
          <a:prstGeom prst="roundRect">
            <a:avLst>
              <a:gd name="adj" fmla="val 6386"/>
            </a:avLst>
          </a:prstGeom>
          <a:solidFill>
            <a:srgbClr val="D7F4E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878" y="1587341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532930"/>
            <a:ext cx="214741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BLUE TEAM WORKFLOW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98191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Step 6: </a:t>
            </a:r>
            <a:r>
              <a:rPr lang="en-US" sz="4450" dirty="0">
                <a:solidFill>
                  <a:srgbClr val="1B5F39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RECOVER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630436" y="3030855"/>
            <a:ext cx="6571417" cy="3733681"/>
          </a:xfrm>
          <a:prstGeom prst="roundRect">
            <a:avLst>
              <a:gd name="adj" fmla="val 911"/>
            </a:avLst>
          </a:prstGeom>
          <a:solidFill>
            <a:srgbClr val="1B5F39"/>
          </a:solidFill>
          <a:ln/>
        </p:spPr>
      </p:sp>
      <p:sp>
        <p:nvSpPr>
          <p:cNvPr id="7" name="Text 4"/>
          <p:cNvSpPr/>
          <p:nvPr/>
        </p:nvSpPr>
        <p:spPr>
          <a:xfrm>
            <a:off x="857250" y="32576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What they do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57250" y="3838813"/>
            <a:ext cx="6117788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Restore systems from clean backups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Verify systems are clean before reconnecting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Monitor restored systems closely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Gradually restore normal operations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Test systems before full production use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599521" y="32576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Goal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599521" y="383881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Return to normal operations safely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599521" y="4456867"/>
            <a:ext cx="6244709" cy="2052518"/>
          </a:xfrm>
          <a:prstGeom prst="roundRect">
            <a:avLst>
              <a:gd name="adj" fmla="val 1658"/>
            </a:avLst>
          </a:prstGeom>
          <a:solidFill>
            <a:srgbClr val="C3EED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6335" y="4800957"/>
            <a:ext cx="283488" cy="22681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336637" y="4740354"/>
            <a:ext cx="528077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Example:</a:t>
            </a:r>
            <a:r>
              <a:rPr lang="en-US" sz="1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→ Server-web01 restored from last clean backup → Monitored for 48 hours before going live → No further suspicious activity detected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52644"/>
            <a:ext cx="2691765" cy="426244"/>
          </a:xfrm>
          <a:prstGeom prst="roundRect">
            <a:avLst>
              <a:gd name="adj" fmla="val 6386"/>
            </a:avLst>
          </a:prstGeom>
          <a:solidFill>
            <a:srgbClr val="D7F4E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878" y="1275040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220629"/>
            <a:ext cx="214741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BLUE TEAM WORKFLOW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66961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Step 7: </a:t>
            </a:r>
            <a:r>
              <a:rPr lang="en-US" sz="4450" dirty="0">
                <a:solidFill>
                  <a:srgbClr val="1B5F39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REPORT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630436" y="2718554"/>
            <a:ext cx="6571417" cy="4358283"/>
          </a:xfrm>
          <a:prstGeom prst="roundRect">
            <a:avLst>
              <a:gd name="adj" fmla="val 781"/>
            </a:avLst>
          </a:prstGeom>
          <a:solidFill>
            <a:srgbClr val="1B5F39"/>
          </a:solidFill>
          <a:ln/>
        </p:spPr>
      </p:sp>
      <p:sp>
        <p:nvSpPr>
          <p:cNvPr id="7" name="Text 4"/>
          <p:cNvSpPr/>
          <p:nvPr/>
        </p:nvSpPr>
        <p:spPr>
          <a:xfrm>
            <a:off x="857250" y="29453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What they do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57250" y="3526512"/>
            <a:ext cx="6117788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Document full incident timeline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List affected systems &amp; users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Detail actions taken by analysts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Calculate business impact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Present findings to management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57250" y="58850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Goal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57250" y="6466165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Ensure accountability &amp; compliance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599521" y="2945368"/>
            <a:ext cx="33414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Example Report Summary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7599521" y="3554849"/>
            <a:ext cx="6244709" cy="3266837"/>
          </a:xfrm>
          <a:prstGeom prst="roundRect">
            <a:avLst>
              <a:gd name="adj" fmla="val 104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07141" y="3562469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834074" y="3706178"/>
            <a:ext cx="23457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Attack Type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0641092" y="3706178"/>
            <a:ext cx="296870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Ransomware (LockBit)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7607141" y="4212788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7834074" y="4356497"/>
            <a:ext cx="23457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Entry Point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10641092" y="4356497"/>
            <a:ext cx="296870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Phishing email</a:t>
            </a:r>
            <a:endParaRPr lang="en-US" sz="1750" dirty="0"/>
          </a:p>
        </p:txBody>
      </p:sp>
      <p:sp>
        <p:nvSpPr>
          <p:cNvPr id="19" name="Shape 16"/>
          <p:cNvSpPr/>
          <p:nvPr/>
        </p:nvSpPr>
        <p:spPr>
          <a:xfrm>
            <a:off x="7607141" y="4863108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7834074" y="5006816"/>
            <a:ext cx="23457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Affected Systems</a:t>
            </a: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10641092" y="5006816"/>
            <a:ext cx="296870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 endpoints</a:t>
            </a:r>
            <a:endParaRPr lang="en-US" sz="1750" dirty="0"/>
          </a:p>
        </p:txBody>
      </p:sp>
      <p:sp>
        <p:nvSpPr>
          <p:cNvPr id="22" name="Shape 19"/>
          <p:cNvSpPr/>
          <p:nvPr/>
        </p:nvSpPr>
        <p:spPr>
          <a:xfrm>
            <a:off x="7607141" y="5513427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7834074" y="5657136"/>
            <a:ext cx="23457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Compromised</a:t>
            </a:r>
            <a:endParaRPr lang="en-US" sz="1750" dirty="0"/>
          </a:p>
        </p:txBody>
      </p:sp>
      <p:sp>
        <p:nvSpPr>
          <p:cNvPr id="24" name="Text 21"/>
          <p:cNvSpPr/>
          <p:nvPr/>
        </p:nvSpPr>
        <p:spPr>
          <a:xfrm>
            <a:off x="10641092" y="5657136"/>
            <a:ext cx="296870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None</a:t>
            </a:r>
            <a:endParaRPr lang="en-US" sz="1750" dirty="0"/>
          </a:p>
        </p:txBody>
      </p:sp>
      <p:sp>
        <p:nvSpPr>
          <p:cNvPr id="25" name="Shape 22"/>
          <p:cNvSpPr/>
          <p:nvPr/>
        </p:nvSpPr>
        <p:spPr>
          <a:xfrm>
            <a:off x="7607141" y="6163747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7834074" y="6307455"/>
            <a:ext cx="23457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Resolution Time</a:t>
            </a:r>
            <a:endParaRPr lang="en-US" sz="1750" dirty="0"/>
          </a:p>
        </p:txBody>
      </p:sp>
      <p:sp>
        <p:nvSpPr>
          <p:cNvPr id="27" name="Text 24"/>
          <p:cNvSpPr/>
          <p:nvPr/>
        </p:nvSpPr>
        <p:spPr>
          <a:xfrm>
            <a:off x="10641092" y="6307455"/>
            <a:ext cx="296870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 hours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527" y="630555"/>
            <a:ext cx="5337691" cy="667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Step 8: IMPROVE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786527" y="1599009"/>
            <a:ext cx="7570946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they do: Conduct post-incident review (lessons learned) · Update detection rules in SIEM · Improve incident response playbooks · Deploy additional security controls · Conduct targeted security awareness training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786527" y="2819400"/>
            <a:ext cx="7570946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Goal:</a:t>
            </a: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Prevent the same attack from happening again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786527" y="3376851"/>
            <a:ext cx="7570946" cy="1273493"/>
          </a:xfrm>
          <a:prstGeom prst="roundRect">
            <a:avLst>
              <a:gd name="adj" fmla="val 11488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56047" y="3376851"/>
            <a:ext cx="121920" cy="1273493"/>
          </a:xfrm>
          <a:prstGeom prst="roundRect">
            <a:avLst>
              <a:gd name="adj" fmla="val 26268"/>
            </a:avLst>
          </a:prstGeom>
          <a:solidFill>
            <a:srgbClr val="1B5F39"/>
          </a:solidFill>
          <a:ln/>
        </p:spPr>
      </p:sp>
      <p:sp>
        <p:nvSpPr>
          <p:cNvPr id="8" name="Text 5"/>
          <p:cNvSpPr/>
          <p:nvPr/>
        </p:nvSpPr>
        <p:spPr>
          <a:xfrm>
            <a:off x="1121926" y="3620810"/>
            <a:ext cx="2668786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New SIEM Rule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121926" y="4074914"/>
            <a:ext cx="6991588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"Alert on LockBit IOCs"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86527" y="4851202"/>
            <a:ext cx="7570946" cy="1273493"/>
          </a:xfrm>
          <a:prstGeom prst="roundRect">
            <a:avLst>
              <a:gd name="adj" fmla="val 11488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6047" y="4851202"/>
            <a:ext cx="121920" cy="1273493"/>
          </a:xfrm>
          <a:prstGeom prst="roundRect">
            <a:avLst>
              <a:gd name="adj" fmla="val 26268"/>
            </a:avLst>
          </a:prstGeom>
          <a:solidFill>
            <a:srgbClr val="1B5F39"/>
          </a:solidFill>
          <a:ln/>
        </p:spPr>
      </p:sp>
      <p:sp>
        <p:nvSpPr>
          <p:cNvPr id="12" name="Text 9"/>
          <p:cNvSpPr/>
          <p:nvPr/>
        </p:nvSpPr>
        <p:spPr>
          <a:xfrm>
            <a:off x="1121926" y="5095161"/>
            <a:ext cx="2668786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Phishing Simulation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121926" y="5549265"/>
            <a:ext cx="6991588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Deployed for Finance team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786527" y="6325553"/>
            <a:ext cx="7570946" cy="1273493"/>
          </a:xfrm>
          <a:prstGeom prst="roundRect">
            <a:avLst>
              <a:gd name="adj" fmla="val 11488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56047" y="6325553"/>
            <a:ext cx="121920" cy="1273493"/>
          </a:xfrm>
          <a:prstGeom prst="roundRect">
            <a:avLst>
              <a:gd name="adj" fmla="val 26268"/>
            </a:avLst>
          </a:prstGeom>
          <a:solidFill>
            <a:srgbClr val="1B5F39"/>
          </a:solidFill>
          <a:ln/>
        </p:spPr>
      </p:sp>
      <p:sp>
        <p:nvSpPr>
          <p:cNvPr id="16" name="Text 13"/>
          <p:cNvSpPr/>
          <p:nvPr/>
        </p:nvSpPr>
        <p:spPr>
          <a:xfrm>
            <a:off x="1121926" y="6569512"/>
            <a:ext cx="2668786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EDR Policy Updated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121926" y="7023616"/>
            <a:ext cx="6991588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Block PowerShell abuse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8804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Blue Team Tools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93790" y="1838920"/>
            <a:ext cx="13042821" cy="5481876"/>
          </a:xfrm>
          <a:prstGeom prst="roundRect">
            <a:avLst>
              <a:gd name="adj" fmla="val 52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1846540"/>
            <a:ext cx="13027581" cy="4969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4291" y="1952387"/>
            <a:ext cx="221611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Category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03546" y="1952387"/>
            <a:ext cx="351508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Tool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11772" y="1952387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Purpose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1410" y="2343507"/>
            <a:ext cx="13027581" cy="4969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94291" y="2449354"/>
            <a:ext cx="221611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03546" y="2449354"/>
            <a:ext cx="351508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Splunk, Microsoft Sentinel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11772" y="2449354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Log monitoring &amp; alerting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1410" y="2840474"/>
            <a:ext cx="13027581" cy="4969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94291" y="2946321"/>
            <a:ext cx="221611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EDR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03546" y="2946321"/>
            <a:ext cx="351508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CrowdStrike, SentinelOne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11772" y="2946321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Endpoint detection &amp; response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1410" y="3337441"/>
            <a:ext cx="13027581" cy="4969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94291" y="3443288"/>
            <a:ext cx="221611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IDS/IPS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03546" y="3443288"/>
            <a:ext cx="351508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Snort, Suricata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11772" y="3443288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Network intrusion detection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1410" y="3834408"/>
            <a:ext cx="13027581" cy="4969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94291" y="3940254"/>
            <a:ext cx="221611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SOAR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603546" y="3940254"/>
            <a:ext cx="351508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Palo Alto XSOAR, Splunk SOAR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11772" y="3940254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Automation &amp; orchestration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1410" y="4331375"/>
            <a:ext cx="13027581" cy="4969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94291" y="4437221"/>
            <a:ext cx="221611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Threat Intel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603546" y="4437221"/>
            <a:ext cx="351508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MISP, VirusTotal, Recorded Future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511772" y="4437221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Threat enrichment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1410" y="4828342"/>
            <a:ext cx="13027581" cy="4969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94291" y="4934188"/>
            <a:ext cx="221611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Forensics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603546" y="4934188"/>
            <a:ext cx="351508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Volatility, Wireshark, Autopsy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511772" y="4934188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Incident investigation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01410" y="5325308"/>
            <a:ext cx="13027581" cy="4969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94291" y="5431155"/>
            <a:ext cx="221611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Vulnerability Scanner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603546" y="5431155"/>
            <a:ext cx="351508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Nessus, Qualys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511772" y="5431155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Risk assessment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01410" y="5822275"/>
            <a:ext cx="13027581" cy="4969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994291" y="5928122"/>
            <a:ext cx="221611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Ticketing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3603546" y="5928122"/>
            <a:ext cx="351508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TheHive, ServiceNow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511772" y="5928122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Case management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801410" y="6319242"/>
            <a:ext cx="13027581" cy="4969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94291" y="6425089"/>
            <a:ext cx="221611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3603546" y="6425089"/>
            <a:ext cx="351508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Kibana, Grafana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511772" y="6425089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Visualization &amp; reporting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801410" y="6816209"/>
            <a:ext cx="13027581" cy="4969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994291" y="6922056"/>
            <a:ext cx="221611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Email Security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3603546" y="6922056"/>
            <a:ext cx="351508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Proofpoint, Mimecast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7511772" y="6922056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Phishing detection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59756"/>
            <a:ext cx="59464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Blue Team vs Red Team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2908697"/>
            <a:ext cx="6571417" cy="3461147"/>
          </a:xfrm>
          <a:prstGeom prst="roundRect">
            <a:avLst>
              <a:gd name="adj" fmla="val 983"/>
            </a:avLst>
          </a:prstGeom>
          <a:solidFill>
            <a:srgbClr val="1B5F39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31355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Blue Team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3716655"/>
            <a:ext cx="6117788" cy="2573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Role:</a:t>
            </a: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Defend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Goal:</a:t>
            </a: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Detect &amp; respond to threats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Approach:</a:t>
            </a: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Reactive &amp; Proactive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Tools:</a:t>
            </a: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SIEM, EDR, SOAR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Mindset:</a:t>
            </a: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Defender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Output:</a:t>
            </a: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Incident reports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1355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Red Team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3716655"/>
            <a:ext cx="6244709" cy="2573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Role: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Attack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Goal: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Find vulnerabilities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Approach: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Offensive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Tools: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Metasploit, Cobalt Strike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Mindset: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Attacker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Output: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Penetration test reports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778" y="859512"/>
            <a:ext cx="6973133" cy="623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Purple Team &amp; Blue Team KPIs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98778" y="1834753"/>
            <a:ext cx="13232844" cy="1242060"/>
          </a:xfrm>
          <a:prstGeom prst="roundRect">
            <a:avLst>
              <a:gd name="adj" fmla="val 2411"/>
            </a:avLst>
          </a:prstGeom>
          <a:solidFill>
            <a:srgbClr val="C3EED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327" y="2130504"/>
            <a:ext cx="249555" cy="1995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47430" y="2060258"/>
            <a:ext cx="12384643" cy="300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When </a:t>
            </a:r>
            <a:r>
              <a:rPr lang="en-US" sz="155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Blue Team</a:t>
            </a:r>
            <a:r>
              <a:rPr lang="en-US" sz="15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and </a:t>
            </a:r>
            <a:r>
              <a:rPr lang="en-US" sz="155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Red Team</a:t>
            </a:r>
            <a:r>
              <a:rPr lang="en-US" sz="15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work </a:t>
            </a:r>
            <a:r>
              <a:rPr lang="en-US" sz="155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together</a:t>
            </a:r>
            <a:r>
              <a:rPr lang="en-US" sz="15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to improve defenses, it's called a </a:t>
            </a:r>
            <a:r>
              <a:rPr lang="en-US" sz="155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Purple Team</a:t>
            </a:r>
            <a:r>
              <a:rPr lang="en-US" sz="15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exercise.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347430" y="2518648"/>
            <a:ext cx="12384643" cy="300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Red Team attacks → Blue Team detects → Both teams improve defenses together.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98778" y="3340298"/>
            <a:ext cx="8072199" cy="499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Blue Team KPIs (Key Performance Indicators)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698778" y="4202668"/>
            <a:ext cx="3143488" cy="658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&lt;1h</a:t>
            </a:r>
            <a:endParaRPr lang="en-US" sz="5150" dirty="0"/>
          </a:p>
        </p:txBody>
      </p:sp>
      <p:sp>
        <p:nvSpPr>
          <p:cNvPr id="9" name="Text 6"/>
          <p:cNvSpPr/>
          <p:nvPr/>
        </p:nvSpPr>
        <p:spPr>
          <a:xfrm>
            <a:off x="698778" y="5092898"/>
            <a:ext cx="3143488" cy="623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Mean Time to Detect (MTTD)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4061817" y="4202668"/>
            <a:ext cx="3143607" cy="658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&lt;4h</a:t>
            </a:r>
            <a:endParaRPr lang="en-US" sz="5150" dirty="0"/>
          </a:p>
        </p:txBody>
      </p:sp>
      <p:sp>
        <p:nvSpPr>
          <p:cNvPr id="11" name="Text 8"/>
          <p:cNvSpPr/>
          <p:nvPr/>
        </p:nvSpPr>
        <p:spPr>
          <a:xfrm>
            <a:off x="4061817" y="5092898"/>
            <a:ext cx="3143607" cy="623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Mean Time to Respond (MTTR)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7424976" y="4202668"/>
            <a:ext cx="3143488" cy="658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&lt;10%</a:t>
            </a:r>
            <a:endParaRPr lang="en-US" sz="5150" dirty="0"/>
          </a:p>
        </p:txBody>
      </p:sp>
      <p:sp>
        <p:nvSpPr>
          <p:cNvPr id="13" name="Text 10"/>
          <p:cNvSpPr/>
          <p:nvPr/>
        </p:nvSpPr>
        <p:spPr>
          <a:xfrm>
            <a:off x="7748945" y="5092898"/>
            <a:ext cx="2495550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False Positive Rate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10788015" y="4202668"/>
            <a:ext cx="3143607" cy="658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&gt;95%</a:t>
            </a:r>
            <a:endParaRPr lang="en-US" sz="5150" dirty="0"/>
          </a:p>
        </p:txBody>
      </p:sp>
      <p:sp>
        <p:nvSpPr>
          <p:cNvPr id="15" name="Text 12"/>
          <p:cNvSpPr/>
          <p:nvPr/>
        </p:nvSpPr>
        <p:spPr>
          <a:xfrm>
            <a:off x="11111984" y="5092898"/>
            <a:ext cx="2495550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Alert Coverage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4061817" y="6167914"/>
            <a:ext cx="3143607" cy="658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&gt;98%</a:t>
            </a:r>
            <a:endParaRPr lang="en-US" sz="5150" dirty="0"/>
          </a:p>
        </p:txBody>
      </p:sp>
      <p:sp>
        <p:nvSpPr>
          <p:cNvPr id="17" name="Text 14"/>
          <p:cNvSpPr/>
          <p:nvPr/>
        </p:nvSpPr>
        <p:spPr>
          <a:xfrm>
            <a:off x="4385786" y="7058144"/>
            <a:ext cx="2495550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Patch Compliance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7424976" y="6167914"/>
            <a:ext cx="3143488" cy="658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&gt;99%</a:t>
            </a:r>
            <a:endParaRPr lang="en-US" sz="5150" dirty="0"/>
          </a:p>
        </p:txBody>
      </p:sp>
      <p:sp>
        <p:nvSpPr>
          <p:cNvPr id="19" name="Text 16"/>
          <p:cNvSpPr/>
          <p:nvPr/>
        </p:nvSpPr>
        <p:spPr>
          <a:xfrm>
            <a:off x="7649528" y="7058144"/>
            <a:ext cx="2694265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Phishing Detection Rate</a:t>
            </a:r>
            <a:endParaRPr lang="en-US" sz="1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9245"/>
            <a:ext cx="6644045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Blue Team Best Practices &amp; Frameworks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93790" y="1329452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Best Practices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93790" y="1667589"/>
            <a:ext cx="147399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01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93790" y="1902738"/>
            <a:ext cx="6341626" cy="1524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2006917"/>
            <a:ext cx="634162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Monitor 24/7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Threats don't follow business hours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93790" y="2407682"/>
            <a:ext cx="147399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02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93790" y="2642830"/>
            <a:ext cx="6341626" cy="1524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9" name="Text 7"/>
          <p:cNvSpPr/>
          <p:nvPr/>
        </p:nvSpPr>
        <p:spPr>
          <a:xfrm>
            <a:off x="793790" y="2747010"/>
            <a:ext cx="634162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Automate repetitive tasks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Use SOAR to save time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93790" y="3147774"/>
            <a:ext cx="147399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3790" y="3382923"/>
            <a:ext cx="6341626" cy="1524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2" name="Text 10"/>
          <p:cNvSpPr/>
          <p:nvPr/>
        </p:nvSpPr>
        <p:spPr>
          <a:xfrm>
            <a:off x="793790" y="3487103"/>
            <a:ext cx="634162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Threat hunt regularly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Don't wait for alerts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93790" y="3887867"/>
            <a:ext cx="147399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3790" y="4123015"/>
            <a:ext cx="6341626" cy="1524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5" name="Text 13"/>
          <p:cNvSpPr/>
          <p:nvPr/>
        </p:nvSpPr>
        <p:spPr>
          <a:xfrm>
            <a:off x="793790" y="4227195"/>
            <a:ext cx="634162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Keep tools updated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Outdated signatures miss new threats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93790" y="4627959"/>
            <a:ext cx="147399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05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93790" y="4863108"/>
            <a:ext cx="6341626" cy="1524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8" name="Text 16"/>
          <p:cNvSpPr/>
          <p:nvPr/>
        </p:nvSpPr>
        <p:spPr>
          <a:xfrm>
            <a:off x="793790" y="4967288"/>
            <a:ext cx="634162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Train your team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Regular drills &amp; simulations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93790" y="5368052"/>
            <a:ext cx="147399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06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3790" y="5603200"/>
            <a:ext cx="6341626" cy="1524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21" name="Text 19"/>
          <p:cNvSpPr/>
          <p:nvPr/>
        </p:nvSpPr>
        <p:spPr>
          <a:xfrm>
            <a:off x="793790" y="5707380"/>
            <a:ext cx="634162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Collaborate with Red Team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Purple team exercises improve defenses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93790" y="6108144"/>
            <a:ext cx="147399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07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93790" y="6343293"/>
            <a:ext cx="6341626" cy="1524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24" name="Text 22"/>
          <p:cNvSpPr/>
          <p:nvPr/>
        </p:nvSpPr>
        <p:spPr>
          <a:xfrm>
            <a:off x="793790" y="6447473"/>
            <a:ext cx="634162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Document everything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Audit trails are critical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93790" y="6848237"/>
            <a:ext cx="147399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08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93790" y="7083385"/>
            <a:ext cx="6341626" cy="1524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27" name="Text 25"/>
          <p:cNvSpPr/>
          <p:nvPr/>
        </p:nvSpPr>
        <p:spPr>
          <a:xfrm>
            <a:off x="793790" y="7187565"/>
            <a:ext cx="634162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Follow the NIST framework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Identify, Protect, Detect, Respond, Recover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502604" y="1329452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Frameworks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7502604" y="1667589"/>
            <a:ext cx="6341626" cy="1962626"/>
          </a:xfrm>
          <a:prstGeom prst="roundRect">
            <a:avLst>
              <a:gd name="adj" fmla="val 112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10224" y="1675209"/>
            <a:ext cx="6326386" cy="3245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657624" y="1740218"/>
            <a:ext cx="223194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Framework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191988" y="1740218"/>
            <a:ext cx="3497223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Purpose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510224" y="1999774"/>
            <a:ext cx="6326386" cy="3245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657624" y="2064782"/>
            <a:ext cx="223194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NIST CSF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191988" y="2064782"/>
            <a:ext cx="3497223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Cybersecurity framework for defense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510224" y="2324338"/>
            <a:ext cx="6326386" cy="3245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657624" y="2389346"/>
            <a:ext cx="223194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MITRE ATT&amp;CK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0191988" y="2389346"/>
            <a:ext cx="3497223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Threat actor tactics &amp; techniques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510224" y="2648903"/>
            <a:ext cx="6326386" cy="3245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657624" y="2713911"/>
            <a:ext cx="223194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ISO 27001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0191988" y="2713911"/>
            <a:ext cx="3497223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Information security management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510224" y="2973467"/>
            <a:ext cx="6326386" cy="3245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657624" y="3038475"/>
            <a:ext cx="223194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SANS Incident Response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0191988" y="3038475"/>
            <a:ext cx="3497223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IR process guidelines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510224" y="3298031"/>
            <a:ext cx="6326386" cy="3245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657624" y="3363039"/>
            <a:ext cx="223194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Cyber Kill Chain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0191988" y="3363039"/>
            <a:ext cx="3497223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Understanding attack stages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1047</Words>
  <Application>Microsoft Office PowerPoint</Application>
  <PresentationFormat>Custom</PresentationFormat>
  <Paragraphs>237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Alice</vt:lpstr>
      <vt:lpstr>Alice Light</vt:lpstr>
      <vt:lpstr>Lora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2</cp:revision>
  <dcterms:created xsi:type="dcterms:W3CDTF">2026-03-24T12:53:13Z</dcterms:created>
  <dcterms:modified xsi:type="dcterms:W3CDTF">2026-03-24T12:55:47Z</dcterms:modified>
</cp:coreProperties>
</file>