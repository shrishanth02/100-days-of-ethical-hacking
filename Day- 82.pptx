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Consolas" panose="020B0609020204030204" pitchFamily="49" charset="0"/>
      <p:regular r:id="rId12"/>
      <p:bold r:id="rId13"/>
      <p:italic r:id="rId14"/>
      <p:boldItalic r:id="rId15"/>
    </p:embeddedFont>
    <p:embeddedFont>
      <p:font typeface="Open Sans" panose="020B0606030504020204" pitchFamily="3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668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E"/>
          </a:solidFill>
          <a:ln/>
        </p:spPr>
      </p:sp>
      <p:sp>
        <p:nvSpPr>
          <p:cNvPr id="3" name="Shape 1"/>
          <p:cNvSpPr/>
          <p:nvPr/>
        </p:nvSpPr>
        <p:spPr>
          <a:xfrm>
            <a:off x="0" y="0"/>
            <a:ext cx="14630400" cy="8229600"/>
          </a:xfrm>
          <a:prstGeom prst="rect">
            <a:avLst/>
          </a:prstGeom>
          <a:solidFill>
            <a:srgbClr val="F3F3F7"/>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439233"/>
            <a:ext cx="7556421" cy="2126337"/>
          </a:xfrm>
          <a:prstGeom prst="rect">
            <a:avLst/>
          </a:prstGeom>
          <a:noFill/>
          <a:ln/>
        </p:spPr>
        <p:txBody>
          <a:bodyPr wrap="squar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Scenario: Brute-Force Attack Leading to Data Exfiltration</a:t>
            </a:r>
            <a:endParaRPr lang="en-US" sz="4450" dirty="0"/>
          </a:p>
        </p:txBody>
      </p:sp>
      <p:sp>
        <p:nvSpPr>
          <p:cNvPr id="4" name="Text 1"/>
          <p:cNvSpPr/>
          <p:nvPr/>
        </p:nvSpPr>
        <p:spPr>
          <a:xfrm>
            <a:off x="6280190" y="4656296"/>
            <a:ext cx="7556421" cy="1133951"/>
          </a:xfrm>
          <a:prstGeom prst="rect">
            <a:avLst/>
          </a:prstGeom>
          <a:noFill/>
          <a:ln/>
        </p:spPr>
        <p:txBody>
          <a:bodyPr wrap="square" lIns="0" tIns="0" rIns="0" bIns="0" rtlCol="0" anchor="t"/>
          <a:lstStyle/>
          <a:p>
            <a:pPr marL="0" indent="0" algn="l">
              <a:lnSpc>
                <a:spcPts val="4450"/>
              </a:lnSpc>
              <a:buNone/>
            </a:pPr>
            <a:r>
              <a:rPr lang="en-US" sz="3550" b="1" dirty="0">
                <a:solidFill>
                  <a:srgbClr val="101014"/>
                </a:solidFill>
                <a:latin typeface="Playfair Display Bold" pitchFamily="34" charset="0"/>
                <a:ea typeface="Playfair Display Bold" pitchFamily="34" charset="-122"/>
                <a:cs typeface="Playfair Display Bold" pitchFamily="34" charset="-120"/>
              </a:rPr>
              <a:t>Timeline: 2:00 AM - 6:30 AM (Real Attack)</a:t>
            </a:r>
            <a:endParaRPr lang="en-US" sz="3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06517"/>
            <a:ext cx="11804452" cy="637937"/>
          </a:xfrm>
          <a:prstGeom prst="rect">
            <a:avLst/>
          </a:prstGeom>
          <a:noFill/>
          <a:ln/>
        </p:spPr>
        <p:txBody>
          <a:bodyPr wrap="none" lIns="0" tIns="0" rIns="0" bIns="0" rtlCol="0" anchor="t"/>
          <a:lstStyle/>
          <a:p>
            <a:pPr marL="0" indent="0" algn="l">
              <a:lnSpc>
                <a:spcPts val="5000"/>
              </a:lnSpc>
              <a:buNone/>
            </a:pPr>
            <a:r>
              <a:rPr lang="en-US" sz="4000" b="1" dirty="0">
                <a:solidFill>
                  <a:srgbClr val="101014"/>
                </a:solidFill>
                <a:latin typeface="Playfair Display Bold" pitchFamily="34" charset="0"/>
                <a:ea typeface="Playfair Display Bold" pitchFamily="34" charset="-122"/>
                <a:cs typeface="Playfair Display Bold" pitchFamily="34" charset="-120"/>
              </a:rPr>
              <a:t>Stage 1: Initial Reconnaissance </a:t>
            </a:r>
            <a:r>
              <a:rPr lang="en-US" sz="4000" b="1" i="1" dirty="0">
                <a:solidFill>
                  <a:srgbClr val="101014"/>
                </a:solidFill>
                <a:latin typeface="Playfair Display Bold" pitchFamily="34" charset="0"/>
                <a:ea typeface="Playfair Display Bold" pitchFamily="34" charset="-122"/>
                <a:cs typeface="Playfair Display Bold" pitchFamily="34" charset="-120"/>
              </a:rPr>
              <a:t>(2:00 AM - 2:15 AM)</a:t>
            </a:r>
            <a:endParaRPr lang="en-US" sz="4000" dirty="0"/>
          </a:p>
        </p:txBody>
      </p:sp>
      <p:sp>
        <p:nvSpPr>
          <p:cNvPr id="3" name="Text 1"/>
          <p:cNvSpPr/>
          <p:nvPr/>
        </p:nvSpPr>
        <p:spPr>
          <a:xfrm>
            <a:off x="793790" y="1711881"/>
            <a:ext cx="13042821" cy="310277"/>
          </a:xfrm>
          <a:prstGeom prst="rect">
            <a:avLst/>
          </a:prstGeom>
          <a:noFill/>
          <a:ln/>
        </p:spPr>
        <p:txBody>
          <a:bodyPr wrap="none" lIns="0" tIns="0" rIns="0" bIns="0" rtlCol="0" anchor="t"/>
          <a:lstStyle/>
          <a:p>
            <a:pPr marL="0" indent="0" algn="l">
              <a:lnSpc>
                <a:spcPts val="2400"/>
              </a:lnSpc>
              <a:buNone/>
            </a:pPr>
            <a:r>
              <a:rPr lang="en-US" sz="1600" b="1" dirty="0">
                <a:solidFill>
                  <a:srgbClr val="39393C"/>
                </a:solidFill>
                <a:latin typeface="Open Sans" pitchFamily="34" charset="0"/>
                <a:ea typeface="Open Sans" pitchFamily="34" charset="-122"/>
                <a:cs typeface="Open Sans" pitchFamily="34" charset="-120"/>
              </a:rPr>
              <a:t>What's happening</a:t>
            </a:r>
            <a:r>
              <a:rPr lang="en-US" sz="1600" dirty="0">
                <a:solidFill>
                  <a:srgbClr val="39393C"/>
                </a:solidFill>
                <a:latin typeface="Open Sans" pitchFamily="34" charset="0"/>
                <a:ea typeface="Open Sans" pitchFamily="34" charset="-122"/>
                <a:cs typeface="Open Sans" pitchFamily="34" charset="-120"/>
              </a:rPr>
              <a:t>: An attacker starts probing your company's VPN server for weak credentials.</a:t>
            </a:r>
            <a:endParaRPr lang="en-US" sz="1600" dirty="0"/>
          </a:p>
        </p:txBody>
      </p:sp>
      <p:sp>
        <p:nvSpPr>
          <p:cNvPr id="4" name="Shape 2"/>
          <p:cNvSpPr/>
          <p:nvPr/>
        </p:nvSpPr>
        <p:spPr>
          <a:xfrm>
            <a:off x="646867" y="2228850"/>
            <a:ext cx="6566297" cy="5294233"/>
          </a:xfrm>
          <a:prstGeom prst="roundRect">
            <a:avLst>
              <a:gd name="adj" fmla="val 578"/>
            </a:avLst>
          </a:prstGeom>
          <a:solidFill>
            <a:srgbClr val="101014"/>
          </a:solidFill>
          <a:ln/>
        </p:spPr>
      </p:sp>
      <p:sp>
        <p:nvSpPr>
          <p:cNvPr id="5" name="Text 3"/>
          <p:cNvSpPr/>
          <p:nvPr/>
        </p:nvSpPr>
        <p:spPr>
          <a:xfrm>
            <a:off x="850940" y="2412563"/>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FFFFFF"/>
                </a:solidFill>
                <a:latin typeface="Playfair Display Bold" pitchFamily="34" charset="0"/>
                <a:ea typeface="Playfair Display Bold" pitchFamily="34" charset="-122"/>
                <a:cs typeface="Playfair Display Bold" pitchFamily="34" charset="-120"/>
              </a:rPr>
              <a:t>SIEM Detection</a:t>
            </a:r>
            <a:endParaRPr lang="en-US" sz="2000" dirty="0"/>
          </a:p>
        </p:txBody>
      </p:sp>
      <p:sp>
        <p:nvSpPr>
          <p:cNvPr id="6" name="Text 4"/>
          <p:cNvSpPr/>
          <p:nvPr/>
        </p:nvSpPr>
        <p:spPr>
          <a:xfrm>
            <a:off x="850940" y="2915126"/>
            <a:ext cx="6158151" cy="310277"/>
          </a:xfrm>
          <a:prstGeom prst="rect">
            <a:avLst/>
          </a:prstGeom>
          <a:noFill/>
          <a:ln/>
        </p:spPr>
        <p:txBody>
          <a:bodyPr wrap="none" lIns="0" tIns="0" rIns="0" bIns="0" rtlCol="0" anchor="t"/>
          <a:lstStyle/>
          <a:p>
            <a:pPr marL="0" indent="0" algn="l">
              <a:lnSpc>
                <a:spcPts val="2400"/>
              </a:lnSpc>
              <a:buNone/>
            </a:pPr>
            <a:r>
              <a:rPr lang="en-US" sz="1600" b="1" dirty="0">
                <a:solidFill>
                  <a:srgbClr val="FFFFFF"/>
                </a:solidFill>
                <a:latin typeface="Open Sans" pitchFamily="34" charset="0"/>
                <a:ea typeface="Open Sans" pitchFamily="34" charset="-122"/>
                <a:cs typeface="Open Sans" pitchFamily="34" charset="-120"/>
              </a:rPr>
              <a:t>Log Source</a:t>
            </a:r>
            <a:r>
              <a:rPr lang="en-US" sz="1600" dirty="0">
                <a:solidFill>
                  <a:srgbClr val="FFFFFF"/>
                </a:solidFill>
                <a:latin typeface="Open Sans" pitchFamily="34" charset="0"/>
                <a:ea typeface="Open Sans" pitchFamily="34" charset="-122"/>
                <a:cs typeface="Open Sans" pitchFamily="34" charset="-120"/>
              </a:rPr>
              <a:t>: VPN authentication logs from Cisco AnyConnect.</a:t>
            </a:r>
            <a:endParaRPr lang="en-US" sz="1600" dirty="0"/>
          </a:p>
        </p:txBody>
      </p:sp>
      <p:sp>
        <p:nvSpPr>
          <p:cNvPr id="7" name="Text 5"/>
          <p:cNvSpPr/>
          <p:nvPr/>
        </p:nvSpPr>
        <p:spPr>
          <a:xfrm>
            <a:off x="850940" y="3390662"/>
            <a:ext cx="6158151" cy="310277"/>
          </a:xfrm>
          <a:prstGeom prst="rect">
            <a:avLst/>
          </a:prstGeom>
          <a:noFill/>
          <a:ln/>
        </p:spPr>
        <p:txBody>
          <a:bodyPr wrap="none" lIns="0" tIns="0" rIns="0" bIns="0" rtlCol="0" anchor="t"/>
          <a:lstStyle/>
          <a:p>
            <a:pPr marL="0" indent="0" algn="l">
              <a:lnSpc>
                <a:spcPts val="2400"/>
              </a:lnSpc>
              <a:buNone/>
            </a:pPr>
            <a:r>
              <a:rPr lang="en-US" sz="1600" b="1" dirty="0">
                <a:solidFill>
                  <a:srgbClr val="FFFFFF"/>
                </a:solidFill>
                <a:latin typeface="Open Sans" pitchFamily="34" charset="0"/>
                <a:ea typeface="Open Sans" pitchFamily="34" charset="-122"/>
                <a:cs typeface="Open Sans" pitchFamily="34" charset="-120"/>
              </a:rPr>
              <a:t>Raw logs ingested</a:t>
            </a:r>
            <a:r>
              <a:rPr lang="en-US" sz="1600" dirty="0">
                <a:solidFill>
                  <a:srgbClr val="FFFFFF"/>
                </a:solidFill>
                <a:latin typeface="Open Sans" pitchFamily="34" charset="0"/>
                <a:ea typeface="Open Sans" pitchFamily="34" charset="-122"/>
                <a:cs typeface="Open Sans" pitchFamily="34" charset="-120"/>
              </a:rPr>
              <a:t>:</a:t>
            </a:r>
            <a:endParaRPr lang="en-US" sz="1600" dirty="0"/>
          </a:p>
        </p:txBody>
      </p:sp>
      <p:sp>
        <p:nvSpPr>
          <p:cNvPr id="8" name="Shape 6"/>
          <p:cNvSpPr/>
          <p:nvPr/>
        </p:nvSpPr>
        <p:spPr>
          <a:xfrm>
            <a:off x="850940" y="3907631"/>
            <a:ext cx="6158151" cy="3408759"/>
          </a:xfrm>
          <a:prstGeom prst="roundRect">
            <a:avLst>
              <a:gd name="adj" fmla="val 898"/>
            </a:avLst>
          </a:prstGeom>
          <a:solidFill>
            <a:srgbClr val="1D1D21"/>
          </a:solidFill>
          <a:ln/>
        </p:spPr>
      </p:sp>
      <p:sp>
        <p:nvSpPr>
          <p:cNvPr id="9" name="Shape 7"/>
          <p:cNvSpPr/>
          <p:nvPr/>
        </p:nvSpPr>
        <p:spPr>
          <a:xfrm>
            <a:off x="840819" y="3907631"/>
            <a:ext cx="6178391" cy="3408759"/>
          </a:xfrm>
          <a:prstGeom prst="roundRect">
            <a:avLst>
              <a:gd name="adj" fmla="val 898"/>
            </a:avLst>
          </a:prstGeom>
          <a:solidFill>
            <a:srgbClr val="1D1D21"/>
          </a:solidFill>
          <a:ln/>
        </p:spPr>
      </p:sp>
      <p:sp>
        <p:nvSpPr>
          <p:cNvPr id="10" name="Text 8"/>
          <p:cNvSpPr/>
          <p:nvPr/>
        </p:nvSpPr>
        <p:spPr>
          <a:xfrm>
            <a:off x="1044892" y="4060627"/>
            <a:ext cx="5770245" cy="3102769"/>
          </a:xfrm>
          <a:prstGeom prst="rect">
            <a:avLst/>
          </a:prstGeom>
          <a:noFill/>
          <a:ln/>
        </p:spPr>
        <p:txBody>
          <a:bodyPr wrap="square" lIns="0" tIns="0" rIns="0" bIns="0" rtlCol="0" anchor="t"/>
          <a:lstStyle/>
          <a:p>
            <a:pPr marL="0" indent="0" algn="l">
              <a:lnSpc>
                <a:spcPts val="2400"/>
              </a:lnSpc>
              <a:buNone/>
            </a:pPr>
            <a:r>
              <a:rPr lang="en-US" sz="1600" dirty="0">
                <a:solidFill>
                  <a:srgbClr val="FFFFFF"/>
                </a:solidFill>
                <a:highlight>
                  <a:srgbClr val="1D1D21"/>
                </a:highlight>
                <a:latin typeface="Consolas" pitchFamily="34" charset="0"/>
                <a:ea typeface="Consolas" pitchFamily="34" charset="-122"/>
                <a:cs typeface="Consolas" pitchFamily="34" charset="-120"/>
              </a:rPr>
              <a:t>2:03 AM | Failed login attempt | User: admin | IP: 185.143.222.10 | VPN Server: vpn-01</a:t>
            </a:r>
            <a:endParaRPr lang="en-US" sz="1600" dirty="0"/>
          </a:p>
          <a:p>
            <a:pPr marL="0" indent="0" algn="l">
              <a:lnSpc>
                <a:spcPts val="2400"/>
              </a:lnSpc>
              <a:buNone/>
            </a:pPr>
            <a:r>
              <a:rPr lang="en-US" sz="1600" dirty="0">
                <a:solidFill>
                  <a:srgbClr val="FFFFFF"/>
                </a:solidFill>
                <a:highlight>
                  <a:srgbClr val="1D1D21"/>
                </a:highlight>
                <a:latin typeface="Consolas" pitchFamily="34" charset="0"/>
                <a:ea typeface="Consolas" pitchFamily="34" charset="-122"/>
                <a:cs typeface="Consolas" pitchFamily="34" charset="-120"/>
              </a:rPr>
              <a:t>2:04 AM | Failed login attempt | User: admin | IP: 185.143.222.10 | VPN Server: vpn-01</a:t>
            </a:r>
            <a:endParaRPr lang="en-US" sz="1600" dirty="0"/>
          </a:p>
          <a:p>
            <a:pPr marL="0" indent="0" algn="l">
              <a:lnSpc>
                <a:spcPts val="2400"/>
              </a:lnSpc>
              <a:buNone/>
            </a:pPr>
            <a:r>
              <a:rPr lang="en-US" sz="1600" dirty="0">
                <a:solidFill>
                  <a:srgbClr val="FFFFFF"/>
                </a:solidFill>
                <a:highlight>
                  <a:srgbClr val="1D1D21"/>
                </a:highlight>
                <a:latin typeface="Consolas" pitchFamily="34" charset="0"/>
                <a:ea typeface="Consolas" pitchFamily="34" charset="-122"/>
                <a:cs typeface="Consolas" pitchFamily="34" charset="-120"/>
              </a:rPr>
              <a:t>2:05 AM | Failed login attempt | User: admin | IP: 185.143.222.10 | VPN Server: vpn-01</a:t>
            </a:r>
            <a:endParaRPr lang="en-US" sz="1600" dirty="0"/>
          </a:p>
          <a:p>
            <a:pPr marL="0" indent="0" algn="l">
              <a:lnSpc>
                <a:spcPts val="2400"/>
              </a:lnSpc>
              <a:buNone/>
            </a:pPr>
            <a:r>
              <a:rPr lang="en-US" sz="1600" dirty="0">
                <a:solidFill>
                  <a:srgbClr val="FFFFFF"/>
                </a:solidFill>
                <a:highlight>
                  <a:srgbClr val="1D1D21"/>
                </a:highlight>
                <a:latin typeface="Consolas" pitchFamily="34" charset="0"/>
                <a:ea typeface="Consolas" pitchFamily="34" charset="-122"/>
                <a:cs typeface="Consolas" pitchFamily="34" charset="-120"/>
              </a:rPr>
              <a:t>2:06 AM | Failed login attempt | User: admin | IP: 185.143.222.10 | VPN Server: vpn-01</a:t>
            </a:r>
            <a:endParaRPr lang="en-US" sz="1600" dirty="0"/>
          </a:p>
          <a:p>
            <a:pPr marL="0" indent="0" algn="l">
              <a:lnSpc>
                <a:spcPts val="2400"/>
              </a:lnSpc>
              <a:buNone/>
            </a:pPr>
            <a:r>
              <a:rPr lang="en-US" sz="1600" dirty="0">
                <a:solidFill>
                  <a:srgbClr val="FFFFFF"/>
                </a:solidFill>
                <a:highlight>
                  <a:srgbClr val="1D1D21"/>
                </a:highlight>
                <a:latin typeface="Consolas" pitchFamily="34" charset="0"/>
                <a:ea typeface="Consolas" pitchFamily="34" charset="-122"/>
                <a:cs typeface="Consolas" pitchFamily="34" charset="-120"/>
              </a:rPr>
              <a:t>2:07 AM | Failed login attempt | User: admin | IP: 185.143.222.10 | VPN Server: vpn-01</a:t>
            </a:r>
            <a:endParaRPr lang="en-US" sz="1600" dirty="0"/>
          </a:p>
        </p:txBody>
      </p:sp>
      <p:sp>
        <p:nvSpPr>
          <p:cNvPr id="11" name="Text 9"/>
          <p:cNvSpPr/>
          <p:nvPr/>
        </p:nvSpPr>
        <p:spPr>
          <a:xfrm>
            <a:off x="7571780" y="2412563"/>
            <a:ext cx="3892391" cy="318849"/>
          </a:xfrm>
          <a:prstGeom prst="rect">
            <a:avLst/>
          </a:prstGeom>
          <a:noFill/>
          <a:ln/>
        </p:spPr>
        <p:txBody>
          <a:bodyPr wrap="none" lIns="0" tIns="0" rIns="0" bIns="0" rtlCol="0" anchor="t"/>
          <a:lstStyle/>
          <a:p>
            <a:pPr marL="0" indent="0" algn="l">
              <a:lnSpc>
                <a:spcPts val="2500"/>
              </a:lnSpc>
              <a:buNone/>
            </a:pPr>
            <a:r>
              <a:rPr lang="en-US" sz="2000" b="1" dirty="0">
                <a:solidFill>
                  <a:srgbClr val="101014"/>
                </a:solidFill>
                <a:latin typeface="Playfair Display Bold" pitchFamily="34" charset="0"/>
                <a:ea typeface="Playfair Display Bold" pitchFamily="34" charset="-122"/>
                <a:cs typeface="Playfair Display Bold" pitchFamily="34" charset="-120"/>
              </a:rPr>
              <a:t>SIEM Correlation Rule Triggered</a:t>
            </a:r>
            <a:endParaRPr lang="en-US" sz="2000" dirty="0"/>
          </a:p>
        </p:txBody>
      </p:sp>
      <p:sp>
        <p:nvSpPr>
          <p:cNvPr id="12" name="Shape 10"/>
          <p:cNvSpPr/>
          <p:nvPr/>
        </p:nvSpPr>
        <p:spPr>
          <a:xfrm>
            <a:off x="7571780" y="2938105"/>
            <a:ext cx="6272451" cy="1547098"/>
          </a:xfrm>
          <a:prstGeom prst="roundRect">
            <a:avLst>
              <a:gd name="adj" fmla="val 1979"/>
            </a:avLst>
          </a:prstGeom>
          <a:solidFill>
            <a:srgbClr val="E6E6EA"/>
          </a:solidFill>
          <a:ln/>
        </p:spPr>
      </p:sp>
      <p:sp>
        <p:nvSpPr>
          <p:cNvPr id="13" name="Shape 11"/>
          <p:cNvSpPr/>
          <p:nvPr/>
        </p:nvSpPr>
        <p:spPr>
          <a:xfrm>
            <a:off x="7561659" y="2938105"/>
            <a:ext cx="6292691" cy="1547098"/>
          </a:xfrm>
          <a:prstGeom prst="roundRect">
            <a:avLst>
              <a:gd name="adj" fmla="val 1979"/>
            </a:avLst>
          </a:prstGeom>
          <a:solidFill>
            <a:srgbClr val="E6E6EA"/>
          </a:solidFill>
          <a:ln/>
        </p:spPr>
      </p:sp>
      <p:sp>
        <p:nvSpPr>
          <p:cNvPr id="14" name="Text 12"/>
          <p:cNvSpPr/>
          <p:nvPr/>
        </p:nvSpPr>
        <p:spPr>
          <a:xfrm>
            <a:off x="7765733" y="3091101"/>
            <a:ext cx="5884545" cy="1241108"/>
          </a:xfrm>
          <a:prstGeom prst="rect">
            <a:avLst/>
          </a:prstGeom>
          <a:noFill/>
          <a:ln/>
        </p:spPr>
        <p:txBody>
          <a:bodyPr wrap="square" lIns="0" tIns="0" rIns="0" bIns="0" rtlCol="0" anchor="t"/>
          <a:lstStyle/>
          <a:p>
            <a:pPr marL="0" indent="0" algn="l">
              <a:lnSpc>
                <a:spcPts val="2400"/>
              </a:lnSpc>
              <a:buNone/>
            </a:pPr>
            <a:r>
              <a:rPr lang="en-US" sz="1600" dirty="0">
                <a:solidFill>
                  <a:srgbClr val="39393C"/>
                </a:solidFill>
                <a:highlight>
                  <a:srgbClr val="E6E6EA"/>
                </a:highlight>
                <a:latin typeface="Consolas" pitchFamily="34" charset="0"/>
                <a:ea typeface="Consolas" pitchFamily="34" charset="-122"/>
                <a:cs typeface="Consolas" pitchFamily="34" charset="-120"/>
              </a:rPr>
              <a:t>Rule: "Brute Force Attack - VPN"</a:t>
            </a:r>
            <a:endParaRPr lang="en-US" sz="1600" dirty="0"/>
          </a:p>
          <a:p>
            <a:pPr marL="0" indent="0" algn="l">
              <a:lnSpc>
                <a:spcPts val="2400"/>
              </a:lnSpc>
              <a:buNone/>
            </a:pPr>
            <a:r>
              <a:rPr lang="en-US" sz="1600" dirty="0">
                <a:solidFill>
                  <a:srgbClr val="39393C"/>
                </a:solidFill>
                <a:highlight>
                  <a:srgbClr val="E6E6EA"/>
                </a:highlight>
                <a:latin typeface="Consolas" pitchFamily="34" charset="0"/>
                <a:ea typeface="Consolas" pitchFamily="34" charset="-122"/>
                <a:cs typeface="Consolas" pitchFamily="34" charset="-120"/>
              </a:rPr>
              <a:t>Condition: &gt;5 failed logins from same IP in 10 minutes</a:t>
            </a:r>
            <a:endParaRPr lang="en-US" sz="1600" dirty="0"/>
          </a:p>
          <a:p>
            <a:pPr marL="0" indent="0" algn="l">
              <a:lnSpc>
                <a:spcPts val="2400"/>
              </a:lnSpc>
              <a:buNone/>
            </a:pPr>
            <a:r>
              <a:rPr lang="en-US" sz="1600" dirty="0">
                <a:solidFill>
                  <a:srgbClr val="39393C"/>
                </a:solidFill>
                <a:highlight>
                  <a:srgbClr val="E6E6EA"/>
                </a:highlight>
                <a:latin typeface="Consolas" pitchFamily="34" charset="0"/>
                <a:ea typeface="Consolas" pitchFamily="34" charset="-122"/>
                <a:cs typeface="Consolas" pitchFamily="34" charset="-120"/>
              </a:rPr>
              <a:t>Severity: HIGH</a:t>
            </a:r>
            <a:endParaRPr lang="en-US" sz="1600" dirty="0"/>
          </a:p>
          <a:p>
            <a:pPr marL="0" indent="0" algn="l">
              <a:lnSpc>
                <a:spcPts val="2400"/>
              </a:lnSpc>
              <a:buNone/>
            </a:pPr>
            <a:r>
              <a:rPr lang="en-US" sz="1600" dirty="0">
                <a:solidFill>
                  <a:srgbClr val="39393C"/>
                </a:solidFill>
                <a:highlight>
                  <a:srgbClr val="E6E6EA"/>
                </a:highlight>
                <a:latin typeface="Consolas" pitchFamily="34" charset="0"/>
                <a:ea typeface="Consolas" pitchFamily="34" charset="-122"/>
                <a:cs typeface="Consolas" pitchFamily="34" charset="-120"/>
              </a:rPr>
              <a:t>Alert: "Brute force attempt detected from 185.143.222.10"</a:t>
            </a:r>
            <a:endParaRPr lang="en-US" sz="1600" dirty="0"/>
          </a:p>
        </p:txBody>
      </p:sp>
      <p:sp>
        <p:nvSpPr>
          <p:cNvPr id="15" name="Text 13"/>
          <p:cNvSpPr/>
          <p:nvPr/>
        </p:nvSpPr>
        <p:spPr>
          <a:xfrm>
            <a:off x="7571780" y="4691896"/>
            <a:ext cx="2551748" cy="318849"/>
          </a:xfrm>
          <a:prstGeom prst="rect">
            <a:avLst/>
          </a:prstGeom>
          <a:noFill/>
          <a:ln/>
        </p:spPr>
        <p:txBody>
          <a:bodyPr wrap="none" lIns="0" tIns="0" rIns="0" bIns="0" rtlCol="0" anchor="t"/>
          <a:lstStyle/>
          <a:p>
            <a:pPr marL="0" indent="0" algn="l">
              <a:lnSpc>
                <a:spcPts val="2500"/>
              </a:lnSpc>
              <a:buNone/>
            </a:pPr>
            <a:r>
              <a:rPr lang="en-US" sz="2000" b="1" dirty="0">
                <a:solidFill>
                  <a:srgbClr val="101014"/>
                </a:solidFill>
                <a:latin typeface="Playfair Display Bold" pitchFamily="34" charset="0"/>
                <a:ea typeface="Playfair Display Bold" pitchFamily="34" charset="-122"/>
                <a:cs typeface="Playfair Display Bold" pitchFamily="34" charset="-120"/>
              </a:rPr>
              <a:t>Action Taken</a:t>
            </a:r>
            <a:endParaRPr lang="en-US" sz="2000" dirty="0"/>
          </a:p>
        </p:txBody>
      </p:sp>
      <p:sp>
        <p:nvSpPr>
          <p:cNvPr id="16" name="Text 14"/>
          <p:cNvSpPr/>
          <p:nvPr/>
        </p:nvSpPr>
        <p:spPr>
          <a:xfrm>
            <a:off x="7571780" y="5194459"/>
            <a:ext cx="6272451" cy="684848"/>
          </a:xfrm>
          <a:prstGeom prst="rect">
            <a:avLst/>
          </a:prstGeom>
          <a:noFill/>
          <a:ln/>
        </p:spPr>
        <p:txBody>
          <a:bodyPr wrap="square" lIns="0" tIns="0" rIns="0" bIns="0" rtlCol="0" anchor="t"/>
          <a:lstStyle/>
          <a:p>
            <a:pPr marL="342900" indent="-342900" algn="l">
              <a:lnSpc>
                <a:spcPts val="2400"/>
              </a:lnSpc>
              <a:buSzPct val="100000"/>
              <a:buChar char="•"/>
            </a:pPr>
            <a:r>
              <a:rPr lang="en-US" sz="1600" dirty="0">
                <a:solidFill>
                  <a:srgbClr val="39393C"/>
                </a:solidFill>
                <a:latin typeface="Open Sans" pitchFamily="34" charset="0"/>
                <a:ea typeface="Open Sans" pitchFamily="34" charset="-122"/>
                <a:cs typeface="Open Sans" pitchFamily="34" charset="-120"/>
              </a:rPr>
              <a:t>Alert sent to SOC dashboard (2:08 AM).</a:t>
            </a:r>
            <a:endParaRPr lang="en-US" sz="1600" dirty="0"/>
          </a:p>
          <a:p>
            <a:pPr marL="342900" indent="-342900" algn="l">
              <a:lnSpc>
                <a:spcPts val="2400"/>
              </a:lnSpc>
              <a:buSzPct val="100000"/>
              <a:buChar char="•"/>
            </a:pPr>
            <a:r>
              <a:rPr lang="en-US" sz="1600" dirty="0">
                <a:solidFill>
                  <a:srgbClr val="39393C"/>
                </a:solidFill>
                <a:latin typeface="Open Sans" pitchFamily="34" charset="0"/>
                <a:ea typeface="Open Sans" pitchFamily="34" charset="-122"/>
                <a:cs typeface="Open Sans" pitchFamily="34" charset="-120"/>
              </a:rPr>
              <a:t>Analyst receives Slack notification.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52713"/>
            <a:ext cx="9008864" cy="673418"/>
          </a:xfrm>
          <a:prstGeom prst="rect">
            <a:avLst/>
          </a:prstGeom>
          <a:noFill/>
          <a:ln/>
        </p:spPr>
        <p:txBody>
          <a:bodyPr wrap="none" lIns="0" tIns="0" rIns="0" bIns="0" rtlCol="0" anchor="t"/>
          <a:lstStyle/>
          <a:p>
            <a:pPr marL="0" indent="0" algn="l">
              <a:lnSpc>
                <a:spcPts val="5300"/>
              </a:lnSpc>
              <a:buNone/>
            </a:pPr>
            <a:r>
              <a:rPr lang="en-US" sz="4200" b="1" dirty="0">
                <a:solidFill>
                  <a:srgbClr val="101014"/>
                </a:solidFill>
                <a:latin typeface="Playfair Display Bold" pitchFamily="34" charset="0"/>
                <a:ea typeface="Playfair Display Bold" pitchFamily="34" charset="-122"/>
                <a:cs typeface="Playfair Display Bold" pitchFamily="34" charset="-120"/>
              </a:rPr>
              <a:t>Stage 2: Successful Breach </a:t>
            </a:r>
            <a:r>
              <a:rPr lang="en-US" sz="4200" b="1" i="1" dirty="0">
                <a:solidFill>
                  <a:srgbClr val="101014"/>
                </a:solidFill>
                <a:latin typeface="Playfair Display Bold" pitchFamily="34" charset="0"/>
                <a:ea typeface="Playfair Display Bold" pitchFamily="34" charset="-122"/>
                <a:cs typeface="Playfair Display Bold" pitchFamily="34" charset="-120"/>
              </a:rPr>
              <a:t>(2:30 AM)</a:t>
            </a:r>
            <a:endParaRPr lang="en-US" sz="4200" dirty="0"/>
          </a:p>
        </p:txBody>
      </p:sp>
      <p:sp>
        <p:nvSpPr>
          <p:cNvPr id="3" name="Text 1"/>
          <p:cNvSpPr/>
          <p:nvPr/>
        </p:nvSpPr>
        <p:spPr>
          <a:xfrm>
            <a:off x="793790" y="1835468"/>
            <a:ext cx="13042821" cy="336113"/>
          </a:xfrm>
          <a:prstGeom prst="rect">
            <a:avLst/>
          </a:prstGeom>
          <a:noFill/>
          <a:ln/>
        </p:spPr>
        <p:txBody>
          <a:bodyPr wrap="none" lIns="0" tIns="0" rIns="0" bIns="0" rtlCol="0" anchor="t"/>
          <a:lstStyle/>
          <a:p>
            <a:pPr marL="0" indent="0" algn="l">
              <a:lnSpc>
                <a:spcPts val="2600"/>
              </a:lnSpc>
              <a:buNone/>
            </a:pPr>
            <a:r>
              <a:rPr lang="en-US" sz="1650" b="1" dirty="0">
                <a:solidFill>
                  <a:srgbClr val="39393C"/>
                </a:solidFill>
                <a:latin typeface="Open Sans" pitchFamily="34" charset="0"/>
                <a:ea typeface="Open Sans" pitchFamily="34" charset="-122"/>
                <a:cs typeface="Open Sans" pitchFamily="34" charset="-120"/>
              </a:rPr>
              <a:t>What's happening</a:t>
            </a:r>
            <a:r>
              <a:rPr lang="en-US" sz="1650" dirty="0">
                <a:solidFill>
                  <a:srgbClr val="39393C"/>
                </a:solidFill>
                <a:latin typeface="Open Sans" pitchFamily="34" charset="0"/>
                <a:ea typeface="Open Sans" pitchFamily="34" charset="-122"/>
                <a:cs typeface="Open Sans" pitchFamily="34" charset="-120"/>
              </a:rPr>
              <a:t>: Attacker cracks the password and gains VPN access.</a:t>
            </a:r>
            <a:endParaRPr lang="en-US" sz="1650" dirty="0"/>
          </a:p>
        </p:txBody>
      </p:sp>
      <p:sp>
        <p:nvSpPr>
          <p:cNvPr id="4" name="Shape 2"/>
          <p:cNvSpPr/>
          <p:nvPr/>
        </p:nvSpPr>
        <p:spPr>
          <a:xfrm>
            <a:off x="638532" y="2401848"/>
            <a:ext cx="6569035" cy="5074920"/>
          </a:xfrm>
          <a:prstGeom prst="roundRect">
            <a:avLst>
              <a:gd name="adj" fmla="val 637"/>
            </a:avLst>
          </a:prstGeom>
          <a:solidFill>
            <a:srgbClr val="101014"/>
          </a:solidFill>
          <a:ln/>
        </p:spPr>
      </p:sp>
      <p:sp>
        <p:nvSpPr>
          <p:cNvPr id="5" name="Text 3"/>
          <p:cNvSpPr/>
          <p:nvPr/>
        </p:nvSpPr>
        <p:spPr>
          <a:xfrm>
            <a:off x="853916" y="2606516"/>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FFFFFF"/>
                </a:solidFill>
                <a:latin typeface="Playfair Display Bold" pitchFamily="34" charset="0"/>
                <a:ea typeface="Playfair Display Bold" pitchFamily="34" charset="-122"/>
                <a:cs typeface="Playfair Display Bold" pitchFamily="34" charset="-120"/>
              </a:rPr>
              <a:t>SIEM Detection</a:t>
            </a:r>
            <a:endParaRPr lang="en-US" sz="2100" dirty="0"/>
          </a:p>
        </p:txBody>
      </p:sp>
      <p:sp>
        <p:nvSpPr>
          <p:cNvPr id="6" name="Text 4"/>
          <p:cNvSpPr/>
          <p:nvPr/>
        </p:nvSpPr>
        <p:spPr>
          <a:xfrm>
            <a:off x="853916" y="3147774"/>
            <a:ext cx="6138267" cy="336113"/>
          </a:xfrm>
          <a:prstGeom prst="rect">
            <a:avLst/>
          </a:prstGeom>
          <a:noFill/>
          <a:ln/>
        </p:spPr>
        <p:txBody>
          <a:bodyPr wrap="none" lIns="0" tIns="0" rIns="0" bIns="0" rtlCol="0" anchor="t"/>
          <a:lstStyle/>
          <a:p>
            <a:pPr marL="0" indent="0" algn="l">
              <a:lnSpc>
                <a:spcPts val="2600"/>
              </a:lnSpc>
              <a:buNone/>
            </a:pPr>
            <a:r>
              <a:rPr lang="en-US" sz="1650" b="1" dirty="0">
                <a:solidFill>
                  <a:srgbClr val="FFFFFF"/>
                </a:solidFill>
                <a:latin typeface="Open Sans" pitchFamily="34" charset="0"/>
                <a:ea typeface="Open Sans" pitchFamily="34" charset="-122"/>
                <a:cs typeface="Open Sans" pitchFamily="34" charset="-120"/>
              </a:rPr>
              <a:t>Log Source</a:t>
            </a:r>
            <a:r>
              <a:rPr lang="en-US" sz="1650" dirty="0">
                <a:solidFill>
                  <a:srgbClr val="FFFFFF"/>
                </a:solidFill>
                <a:latin typeface="Open Sans" pitchFamily="34" charset="0"/>
                <a:ea typeface="Open Sans" pitchFamily="34" charset="-122"/>
                <a:cs typeface="Open Sans" pitchFamily="34" charset="-120"/>
              </a:rPr>
              <a:t>: VPN authentication logs + Windows Event Logs.</a:t>
            </a:r>
            <a:endParaRPr lang="en-US" sz="1650" dirty="0"/>
          </a:p>
        </p:txBody>
      </p:sp>
      <p:sp>
        <p:nvSpPr>
          <p:cNvPr id="7" name="Text 5"/>
          <p:cNvSpPr/>
          <p:nvPr/>
        </p:nvSpPr>
        <p:spPr>
          <a:xfrm>
            <a:off x="853916" y="3668078"/>
            <a:ext cx="6138267" cy="336113"/>
          </a:xfrm>
          <a:prstGeom prst="rect">
            <a:avLst/>
          </a:prstGeom>
          <a:noFill/>
          <a:ln/>
        </p:spPr>
        <p:txBody>
          <a:bodyPr wrap="none" lIns="0" tIns="0" rIns="0" bIns="0" rtlCol="0" anchor="t"/>
          <a:lstStyle/>
          <a:p>
            <a:pPr marL="0" indent="0" algn="l">
              <a:lnSpc>
                <a:spcPts val="2600"/>
              </a:lnSpc>
              <a:buNone/>
            </a:pPr>
            <a:r>
              <a:rPr lang="en-US" sz="1650" b="1" dirty="0">
                <a:solidFill>
                  <a:srgbClr val="FFFFFF"/>
                </a:solidFill>
                <a:latin typeface="Open Sans" pitchFamily="34" charset="0"/>
                <a:ea typeface="Open Sans" pitchFamily="34" charset="-122"/>
                <a:cs typeface="Open Sans" pitchFamily="34" charset="-120"/>
              </a:rPr>
              <a:t>Raw logs</a:t>
            </a:r>
            <a:r>
              <a:rPr lang="en-US" sz="1650" dirty="0">
                <a:solidFill>
                  <a:srgbClr val="FFFFFF"/>
                </a:solidFill>
                <a:latin typeface="Open Sans" pitchFamily="34" charset="0"/>
                <a:ea typeface="Open Sans" pitchFamily="34" charset="-122"/>
                <a:cs typeface="Open Sans" pitchFamily="34" charset="-120"/>
              </a:rPr>
              <a:t>:</a:t>
            </a:r>
            <a:endParaRPr lang="en-US" sz="1650" dirty="0"/>
          </a:p>
        </p:txBody>
      </p:sp>
      <p:sp>
        <p:nvSpPr>
          <p:cNvPr id="8" name="Shape 6"/>
          <p:cNvSpPr/>
          <p:nvPr/>
        </p:nvSpPr>
        <p:spPr>
          <a:xfrm>
            <a:off x="853916" y="4234458"/>
            <a:ext cx="6138267" cy="3012043"/>
          </a:xfrm>
          <a:prstGeom prst="roundRect">
            <a:avLst>
              <a:gd name="adj" fmla="val 1073"/>
            </a:avLst>
          </a:prstGeom>
          <a:solidFill>
            <a:srgbClr val="1D1D21"/>
          </a:solidFill>
          <a:ln/>
        </p:spPr>
      </p:sp>
      <p:sp>
        <p:nvSpPr>
          <p:cNvPr id="9" name="Shape 7"/>
          <p:cNvSpPr/>
          <p:nvPr/>
        </p:nvSpPr>
        <p:spPr>
          <a:xfrm>
            <a:off x="843201" y="4234458"/>
            <a:ext cx="6159698" cy="3012043"/>
          </a:xfrm>
          <a:prstGeom prst="roundRect">
            <a:avLst>
              <a:gd name="adj" fmla="val 1073"/>
            </a:avLst>
          </a:prstGeom>
          <a:solidFill>
            <a:srgbClr val="1D1D21"/>
          </a:solidFill>
          <a:ln/>
        </p:spPr>
      </p:sp>
      <p:sp>
        <p:nvSpPr>
          <p:cNvPr id="10" name="Text 8"/>
          <p:cNvSpPr/>
          <p:nvPr/>
        </p:nvSpPr>
        <p:spPr>
          <a:xfrm>
            <a:off x="1058585" y="4396026"/>
            <a:ext cx="5728930" cy="2688908"/>
          </a:xfrm>
          <a:prstGeom prst="rect">
            <a:avLst/>
          </a:prstGeom>
          <a:noFill/>
          <a:ln/>
        </p:spPr>
        <p:txBody>
          <a:bodyPr wrap="square" lIns="0" tIns="0" rIns="0" bIns="0" rtlCol="0" anchor="t"/>
          <a:lstStyle/>
          <a:p>
            <a:pPr marL="0" indent="0" algn="l">
              <a:lnSpc>
                <a:spcPts val="2600"/>
              </a:lnSpc>
              <a:buNone/>
            </a:pPr>
            <a:r>
              <a:rPr lang="en-US" sz="1650" dirty="0">
                <a:solidFill>
                  <a:srgbClr val="FFFFFF"/>
                </a:solidFill>
                <a:highlight>
                  <a:srgbClr val="1D1D21"/>
                </a:highlight>
                <a:latin typeface="Consolas" pitchFamily="34" charset="0"/>
                <a:ea typeface="Consolas" pitchFamily="34" charset="-122"/>
                <a:cs typeface="Consolas" pitchFamily="34" charset="-120"/>
              </a:rPr>
              <a:t>2:30 AM | Successful login | User: admin | IP: 185.143.222.10 | VPN Server: vpn-01</a:t>
            </a:r>
            <a:endParaRPr lang="en-US" sz="1650" dirty="0"/>
          </a:p>
          <a:p>
            <a:pPr marL="0" indent="0" algn="l">
              <a:lnSpc>
                <a:spcPts val="2600"/>
              </a:lnSpc>
              <a:buNone/>
            </a:pPr>
            <a:r>
              <a:rPr lang="en-US" sz="1650" dirty="0">
                <a:solidFill>
                  <a:srgbClr val="FFFFFF"/>
                </a:solidFill>
                <a:highlight>
                  <a:srgbClr val="1D1D21"/>
                </a:highlight>
                <a:latin typeface="Consolas" pitchFamily="34" charset="0"/>
                <a:ea typeface="Consolas" pitchFamily="34" charset="-122"/>
                <a:cs typeface="Consolas" pitchFamily="34" charset="-120"/>
              </a:rPr>
              <a:t>2:31 AM | User logged in | admin | Source: 185.143.222.10 | Workstation: ADMIN-PC-01</a:t>
            </a:r>
            <a:endParaRPr lang="en-US" sz="1650" dirty="0"/>
          </a:p>
          <a:p>
            <a:pPr marL="0" indent="0" algn="l">
              <a:lnSpc>
                <a:spcPts val="2600"/>
              </a:lnSpc>
              <a:buNone/>
            </a:pPr>
            <a:r>
              <a:rPr lang="en-US" sz="1650" dirty="0">
                <a:solidFill>
                  <a:srgbClr val="FFFFFF"/>
                </a:solidFill>
                <a:highlight>
                  <a:srgbClr val="1D1D21"/>
                </a:highlight>
                <a:latin typeface="Consolas" pitchFamily="34" charset="0"/>
                <a:ea typeface="Consolas" pitchFamily="34" charset="-122"/>
                <a:cs typeface="Consolas" pitchFamily="34" charset="-120"/>
              </a:rPr>
              <a:t>2:32 AM | Process created | cmd.exe | User: admin | Parent: explorer.exe</a:t>
            </a:r>
            <a:endParaRPr lang="en-US" sz="1650" dirty="0"/>
          </a:p>
          <a:p>
            <a:pPr marL="0" indent="0" algn="l">
              <a:lnSpc>
                <a:spcPts val="2600"/>
              </a:lnSpc>
              <a:buNone/>
            </a:pPr>
            <a:r>
              <a:rPr lang="en-US" sz="1650" dirty="0">
                <a:solidFill>
                  <a:srgbClr val="FFFFFF"/>
                </a:solidFill>
                <a:highlight>
                  <a:srgbClr val="1D1D21"/>
                </a:highlight>
                <a:latin typeface="Consolas" pitchFamily="34" charset="0"/>
                <a:ea typeface="Consolas" pitchFamily="34" charset="-122"/>
                <a:cs typeface="Consolas" pitchFamily="34" charset="-120"/>
              </a:rPr>
              <a:t>2:33 AM | Process created | powershell.exe | User: admin | Arguments: "Get-ADUser -Filter *"</a:t>
            </a:r>
            <a:endParaRPr lang="en-US" sz="1650" dirty="0"/>
          </a:p>
        </p:txBody>
      </p:sp>
      <p:sp>
        <p:nvSpPr>
          <p:cNvPr id="11" name="Text 9"/>
          <p:cNvSpPr/>
          <p:nvPr/>
        </p:nvSpPr>
        <p:spPr>
          <a:xfrm>
            <a:off x="7585710" y="2606516"/>
            <a:ext cx="4108609" cy="336590"/>
          </a:xfrm>
          <a:prstGeom prst="rect">
            <a:avLst/>
          </a:prstGeom>
          <a:noFill/>
          <a:ln/>
        </p:spPr>
        <p:txBody>
          <a:bodyPr wrap="none" lIns="0" tIns="0" rIns="0" bIns="0" rtlCol="0" anchor="t"/>
          <a:lstStyle/>
          <a:p>
            <a:pPr marL="0" indent="0" algn="l">
              <a:lnSpc>
                <a:spcPts val="2650"/>
              </a:lnSpc>
              <a:buNone/>
            </a:pPr>
            <a:r>
              <a:rPr lang="en-US" sz="2100" b="1" dirty="0">
                <a:solidFill>
                  <a:srgbClr val="101014"/>
                </a:solidFill>
                <a:latin typeface="Playfair Display Bold" pitchFamily="34" charset="0"/>
                <a:ea typeface="Playfair Display Bold" pitchFamily="34" charset="-122"/>
                <a:cs typeface="Playfair Display Bold" pitchFamily="34" charset="-120"/>
              </a:rPr>
              <a:t>SIEM Correlation Rule Triggered</a:t>
            </a:r>
            <a:endParaRPr lang="en-US" sz="2100" dirty="0"/>
          </a:p>
        </p:txBody>
      </p:sp>
      <p:sp>
        <p:nvSpPr>
          <p:cNvPr id="12" name="Shape 10"/>
          <p:cNvSpPr/>
          <p:nvPr/>
        </p:nvSpPr>
        <p:spPr>
          <a:xfrm>
            <a:off x="7585710" y="3173373"/>
            <a:ext cx="6258520" cy="2003703"/>
          </a:xfrm>
          <a:prstGeom prst="roundRect">
            <a:avLst>
              <a:gd name="adj" fmla="val 1613"/>
            </a:avLst>
          </a:prstGeom>
          <a:solidFill>
            <a:srgbClr val="E6E6EA"/>
          </a:solidFill>
          <a:ln/>
        </p:spPr>
      </p:sp>
      <p:sp>
        <p:nvSpPr>
          <p:cNvPr id="13" name="Shape 11"/>
          <p:cNvSpPr/>
          <p:nvPr/>
        </p:nvSpPr>
        <p:spPr>
          <a:xfrm>
            <a:off x="7574994" y="3173373"/>
            <a:ext cx="6279952" cy="2003703"/>
          </a:xfrm>
          <a:prstGeom prst="roundRect">
            <a:avLst>
              <a:gd name="adj" fmla="val 1613"/>
            </a:avLst>
          </a:prstGeom>
          <a:solidFill>
            <a:srgbClr val="E6E6EA"/>
          </a:solidFill>
          <a:ln/>
        </p:spPr>
      </p:sp>
      <p:sp>
        <p:nvSpPr>
          <p:cNvPr id="14" name="Text 12"/>
          <p:cNvSpPr/>
          <p:nvPr/>
        </p:nvSpPr>
        <p:spPr>
          <a:xfrm>
            <a:off x="7790378" y="3334941"/>
            <a:ext cx="5849183" cy="1680567"/>
          </a:xfrm>
          <a:prstGeom prst="rect">
            <a:avLst/>
          </a:prstGeom>
          <a:noFill/>
          <a:ln/>
        </p:spPr>
        <p:txBody>
          <a:bodyPr wrap="square" lIns="0" tIns="0" rIns="0" bIns="0" rtlCol="0" anchor="t"/>
          <a:lstStyle/>
          <a:p>
            <a:pPr marL="0" indent="0" algn="l">
              <a:lnSpc>
                <a:spcPts val="2600"/>
              </a:lnSpc>
              <a:buNone/>
            </a:pPr>
            <a:r>
              <a:rPr lang="en-US" sz="1650" dirty="0">
                <a:solidFill>
                  <a:srgbClr val="39393C"/>
                </a:solidFill>
                <a:highlight>
                  <a:srgbClr val="E6E6EA"/>
                </a:highlight>
                <a:latin typeface="Consolas" pitchFamily="34" charset="0"/>
                <a:ea typeface="Consolas" pitchFamily="34" charset="-122"/>
                <a:cs typeface="Consolas" pitchFamily="34" charset="-120"/>
              </a:rPr>
              <a:t>Rule: "Suspicious PowerShell Activity After VPN Login"</a:t>
            </a:r>
            <a:endParaRPr lang="en-US" sz="1650" dirty="0"/>
          </a:p>
          <a:p>
            <a:pPr marL="0" indent="0" algn="l">
              <a:lnSpc>
                <a:spcPts val="2600"/>
              </a:lnSpc>
              <a:buNone/>
            </a:pPr>
            <a:r>
              <a:rPr lang="en-US" sz="1650" dirty="0">
                <a:solidFill>
                  <a:srgbClr val="39393C"/>
                </a:solidFill>
                <a:highlight>
                  <a:srgbClr val="E6E6EA"/>
                </a:highlight>
                <a:latin typeface="Consolas" pitchFamily="34" charset="0"/>
                <a:ea typeface="Consolas" pitchFamily="34" charset="-122"/>
                <a:cs typeface="Consolas" pitchFamily="34" charset="-120"/>
              </a:rPr>
              <a:t>Condition: PowerShell execution + AD enumeration + failed login attempts</a:t>
            </a:r>
            <a:endParaRPr lang="en-US" sz="1650" dirty="0"/>
          </a:p>
          <a:p>
            <a:pPr marL="0" indent="0" algn="l">
              <a:lnSpc>
                <a:spcPts val="2600"/>
              </a:lnSpc>
              <a:buNone/>
            </a:pPr>
            <a:r>
              <a:rPr lang="en-US" sz="1650" dirty="0">
                <a:solidFill>
                  <a:srgbClr val="39393C"/>
                </a:solidFill>
                <a:highlight>
                  <a:srgbClr val="E6E6EA"/>
                </a:highlight>
                <a:latin typeface="Consolas" pitchFamily="34" charset="0"/>
                <a:ea typeface="Consolas" pitchFamily="34" charset="-122"/>
                <a:cs typeface="Consolas" pitchFamily="34" charset="-120"/>
              </a:rPr>
              <a:t>Severity: CRITICAL</a:t>
            </a:r>
            <a:endParaRPr lang="en-US" sz="1650" dirty="0"/>
          </a:p>
          <a:p>
            <a:pPr marL="0" indent="0" algn="l">
              <a:lnSpc>
                <a:spcPts val="2600"/>
              </a:lnSpc>
              <a:buNone/>
            </a:pPr>
            <a:r>
              <a:rPr lang="en-US" sz="1650" dirty="0">
                <a:solidFill>
                  <a:srgbClr val="39393C"/>
                </a:solidFill>
                <a:highlight>
                  <a:srgbClr val="E6E6EA"/>
                </a:highlight>
                <a:latin typeface="Consolas" pitchFamily="34" charset="0"/>
                <a:ea typeface="Consolas" pitchFamily="34" charset="-122"/>
                <a:cs typeface="Consolas" pitchFamily="34" charset="-120"/>
              </a:rPr>
              <a:t>Alert: "Potential compromise detected on admin account"</a:t>
            </a:r>
            <a:endParaRPr lang="en-US" sz="1650" dirty="0"/>
          </a:p>
        </p:txBody>
      </p:sp>
      <p:sp>
        <p:nvSpPr>
          <p:cNvPr id="15" name="Text 13"/>
          <p:cNvSpPr/>
          <p:nvPr/>
        </p:nvSpPr>
        <p:spPr>
          <a:xfrm>
            <a:off x="7585710" y="5407343"/>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101014"/>
                </a:solidFill>
                <a:latin typeface="Playfair Display Bold" pitchFamily="34" charset="0"/>
                <a:ea typeface="Playfair Display Bold" pitchFamily="34" charset="-122"/>
                <a:cs typeface="Playfair Display Bold" pitchFamily="34" charset="-120"/>
              </a:rPr>
              <a:t>Action Taken</a:t>
            </a:r>
            <a:endParaRPr lang="en-US" sz="2100" dirty="0"/>
          </a:p>
        </p:txBody>
      </p:sp>
      <p:sp>
        <p:nvSpPr>
          <p:cNvPr id="16" name="Text 14"/>
          <p:cNvSpPr/>
          <p:nvPr/>
        </p:nvSpPr>
        <p:spPr>
          <a:xfrm>
            <a:off x="7585710" y="5948601"/>
            <a:ext cx="6258520" cy="1079897"/>
          </a:xfrm>
          <a:prstGeom prst="rect">
            <a:avLst/>
          </a:prstGeom>
          <a:noFill/>
          <a:ln/>
        </p:spPr>
        <p:txBody>
          <a:bodyPr wrap="square" lIns="0" tIns="0" rIns="0" bIns="0" rtlCol="0" anchor="t"/>
          <a:lstStyle/>
          <a:p>
            <a:pPr marL="342900" indent="-342900" algn="l">
              <a:lnSpc>
                <a:spcPts val="2600"/>
              </a:lnSpc>
              <a:buSzPct val="100000"/>
              <a:buChar char="•"/>
            </a:pPr>
            <a:r>
              <a:rPr lang="en-US" sz="1650" dirty="0">
                <a:solidFill>
                  <a:srgbClr val="39393C"/>
                </a:solidFill>
                <a:latin typeface="Open Sans" pitchFamily="34" charset="0"/>
                <a:ea typeface="Open Sans" pitchFamily="34" charset="-122"/>
                <a:cs typeface="Open Sans" pitchFamily="34" charset="-120"/>
              </a:rPr>
              <a:t>Critical alert escalated to SOC lead (2:33 AM).</a:t>
            </a:r>
            <a:endParaRPr lang="en-US" sz="1650" dirty="0"/>
          </a:p>
          <a:p>
            <a:pPr marL="342900" indent="-342900" algn="l">
              <a:lnSpc>
                <a:spcPts val="2600"/>
              </a:lnSpc>
              <a:buSzPct val="100000"/>
              <a:buChar char="•"/>
            </a:pPr>
            <a:r>
              <a:rPr lang="en-US" sz="1650" dirty="0">
                <a:solidFill>
                  <a:srgbClr val="39393C"/>
                </a:solidFill>
                <a:latin typeface="Open Sans" pitchFamily="34" charset="0"/>
                <a:ea typeface="Open Sans" pitchFamily="34" charset="-122"/>
                <a:cs typeface="Open Sans" pitchFamily="34" charset="-120"/>
              </a:rPr>
              <a:t>Analyst checks if this is a known admin activity → </a:t>
            </a:r>
            <a:r>
              <a:rPr lang="en-US" sz="1650" b="1" dirty="0">
                <a:solidFill>
                  <a:srgbClr val="39393C"/>
                </a:solidFill>
                <a:latin typeface="Open Sans" pitchFamily="34" charset="0"/>
                <a:ea typeface="Open Sans" pitchFamily="34" charset="-122"/>
                <a:cs typeface="Open Sans" pitchFamily="34" charset="-120"/>
              </a:rPr>
              <a:t>NO</a:t>
            </a:r>
            <a:r>
              <a:rPr lang="en-US" sz="1650" dirty="0">
                <a:solidFill>
                  <a:srgbClr val="39393C"/>
                </a:solidFill>
                <a:latin typeface="Open Sans" pitchFamily="34" charset="0"/>
                <a:ea typeface="Open Sans" pitchFamily="34" charset="-122"/>
                <a:cs typeface="Open Sans" pitchFamily="34" charset="-120"/>
              </a:rPr>
              <a:t> (off-hours, unusual pattern).</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86314"/>
            <a:ext cx="10405229" cy="602456"/>
          </a:xfrm>
          <a:prstGeom prst="rect">
            <a:avLst/>
          </a:prstGeom>
          <a:noFill/>
          <a:ln/>
        </p:spPr>
        <p:txBody>
          <a:bodyPr wrap="none" lIns="0" tIns="0" rIns="0" bIns="0" rtlCol="0" anchor="t"/>
          <a:lstStyle/>
          <a:p>
            <a:pPr marL="0" indent="0" algn="l">
              <a:lnSpc>
                <a:spcPts val="4700"/>
              </a:lnSpc>
              <a:buNone/>
            </a:pPr>
            <a:r>
              <a:rPr lang="en-US" sz="3750" b="1" dirty="0">
                <a:solidFill>
                  <a:srgbClr val="101014"/>
                </a:solidFill>
                <a:latin typeface="Playfair Display Bold" pitchFamily="34" charset="0"/>
                <a:ea typeface="Playfair Display Bold" pitchFamily="34" charset="-122"/>
                <a:cs typeface="Playfair Display Bold" pitchFamily="34" charset="-120"/>
              </a:rPr>
              <a:t>Stage 3: Lateral Movement </a:t>
            </a:r>
            <a:r>
              <a:rPr lang="en-US" sz="3750" b="1" i="1" dirty="0">
                <a:solidFill>
                  <a:srgbClr val="101014"/>
                </a:solidFill>
                <a:latin typeface="Playfair Display Bold" pitchFamily="34" charset="0"/>
                <a:ea typeface="Playfair Display Bold" pitchFamily="34" charset="-122"/>
                <a:cs typeface="Playfair Display Bold" pitchFamily="34" charset="-120"/>
              </a:rPr>
              <a:t>(3:00 AM - 4:00 AM)</a:t>
            </a:r>
            <a:endParaRPr lang="en-US" sz="3750" dirty="0"/>
          </a:p>
        </p:txBody>
      </p:sp>
      <p:sp>
        <p:nvSpPr>
          <p:cNvPr id="3" name="Text 1"/>
          <p:cNvSpPr/>
          <p:nvPr/>
        </p:nvSpPr>
        <p:spPr>
          <a:xfrm>
            <a:off x="793790" y="1916430"/>
            <a:ext cx="13042821" cy="285274"/>
          </a:xfrm>
          <a:prstGeom prst="rect">
            <a:avLst/>
          </a:prstGeom>
          <a:noFill/>
          <a:ln/>
        </p:spPr>
        <p:txBody>
          <a:bodyPr wrap="none" lIns="0" tIns="0" rIns="0" bIns="0" rtlCol="0" anchor="t"/>
          <a:lstStyle/>
          <a:p>
            <a:pPr marL="0" indent="0" algn="l">
              <a:lnSpc>
                <a:spcPts val="2200"/>
              </a:lnSpc>
              <a:buNone/>
            </a:pPr>
            <a:r>
              <a:rPr lang="en-US" sz="1500" b="1" dirty="0">
                <a:solidFill>
                  <a:srgbClr val="39393C"/>
                </a:solidFill>
                <a:latin typeface="Open Sans" pitchFamily="34" charset="0"/>
                <a:ea typeface="Open Sans" pitchFamily="34" charset="-122"/>
                <a:cs typeface="Open Sans" pitchFamily="34" charset="-120"/>
              </a:rPr>
              <a:t>What's happening</a:t>
            </a:r>
            <a:r>
              <a:rPr lang="en-US" sz="1500" dirty="0">
                <a:solidFill>
                  <a:srgbClr val="39393C"/>
                </a:solidFill>
                <a:latin typeface="Open Sans" pitchFamily="34" charset="0"/>
                <a:ea typeface="Open Sans" pitchFamily="34" charset="-122"/>
                <a:cs typeface="Open Sans" pitchFamily="34" charset="-120"/>
              </a:rPr>
              <a:t>: Attacker moves from the admin PC to the database server to steal data.</a:t>
            </a:r>
            <a:endParaRPr lang="en-US" sz="1500" dirty="0"/>
          </a:p>
        </p:txBody>
      </p:sp>
      <p:sp>
        <p:nvSpPr>
          <p:cNvPr id="4" name="Shape 2"/>
          <p:cNvSpPr/>
          <p:nvPr/>
        </p:nvSpPr>
        <p:spPr>
          <a:xfrm>
            <a:off x="654963" y="2386013"/>
            <a:ext cx="6563916" cy="4857274"/>
          </a:xfrm>
          <a:prstGeom prst="roundRect">
            <a:avLst>
              <a:gd name="adj" fmla="val 595"/>
            </a:avLst>
          </a:prstGeom>
          <a:solidFill>
            <a:srgbClr val="101014"/>
          </a:solidFill>
          <a:ln/>
        </p:spPr>
      </p:sp>
      <p:sp>
        <p:nvSpPr>
          <p:cNvPr id="5" name="Text 3"/>
          <p:cNvSpPr/>
          <p:nvPr/>
        </p:nvSpPr>
        <p:spPr>
          <a:xfrm>
            <a:off x="847725" y="2549843"/>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FFFFFF"/>
                </a:solidFill>
                <a:latin typeface="Playfair Display Bold" pitchFamily="34" charset="0"/>
                <a:ea typeface="Playfair Display Bold" pitchFamily="34" charset="-122"/>
                <a:cs typeface="Playfair Display Bold" pitchFamily="34" charset="-120"/>
              </a:rPr>
              <a:t>SIEM Detection</a:t>
            </a:r>
            <a:endParaRPr lang="en-US" sz="1850" dirty="0"/>
          </a:p>
        </p:txBody>
      </p:sp>
      <p:sp>
        <p:nvSpPr>
          <p:cNvPr id="6" name="Text 4"/>
          <p:cNvSpPr/>
          <p:nvPr/>
        </p:nvSpPr>
        <p:spPr>
          <a:xfrm>
            <a:off x="847725" y="3014901"/>
            <a:ext cx="6178391" cy="285274"/>
          </a:xfrm>
          <a:prstGeom prst="rect">
            <a:avLst/>
          </a:prstGeom>
          <a:noFill/>
          <a:ln/>
        </p:spPr>
        <p:txBody>
          <a:bodyPr wrap="none" lIns="0" tIns="0" rIns="0" bIns="0" rtlCol="0" anchor="t"/>
          <a:lstStyle/>
          <a:p>
            <a:pPr marL="0" indent="0" algn="l">
              <a:lnSpc>
                <a:spcPts val="2200"/>
              </a:lnSpc>
              <a:buNone/>
            </a:pPr>
            <a:r>
              <a:rPr lang="en-US" sz="1500" b="1" dirty="0">
                <a:solidFill>
                  <a:srgbClr val="FFFFFF"/>
                </a:solidFill>
                <a:latin typeface="Open Sans" pitchFamily="34" charset="0"/>
                <a:ea typeface="Open Sans" pitchFamily="34" charset="-122"/>
                <a:cs typeface="Open Sans" pitchFamily="34" charset="-120"/>
              </a:rPr>
              <a:t>Log Sources</a:t>
            </a:r>
            <a:r>
              <a:rPr lang="en-US" sz="1500" dirty="0">
                <a:solidFill>
                  <a:srgbClr val="FFFFFF"/>
                </a:solidFill>
                <a:latin typeface="Open Sans" pitchFamily="34" charset="0"/>
                <a:ea typeface="Open Sans" pitchFamily="34" charset="-122"/>
                <a:cs typeface="Open Sans" pitchFamily="34" charset="-120"/>
              </a:rPr>
              <a:t>: Firewall logs, Windows Event Logs, Network IDS.</a:t>
            </a:r>
            <a:endParaRPr lang="en-US" sz="1500" dirty="0"/>
          </a:p>
        </p:txBody>
      </p:sp>
      <p:sp>
        <p:nvSpPr>
          <p:cNvPr id="7" name="Text 5"/>
          <p:cNvSpPr/>
          <p:nvPr/>
        </p:nvSpPr>
        <p:spPr>
          <a:xfrm>
            <a:off x="847725" y="3447574"/>
            <a:ext cx="6178391" cy="285274"/>
          </a:xfrm>
          <a:prstGeom prst="rect">
            <a:avLst/>
          </a:prstGeom>
          <a:noFill/>
          <a:ln/>
        </p:spPr>
        <p:txBody>
          <a:bodyPr wrap="none" lIns="0" tIns="0" rIns="0" bIns="0" rtlCol="0" anchor="t"/>
          <a:lstStyle/>
          <a:p>
            <a:pPr marL="0" indent="0" algn="l">
              <a:lnSpc>
                <a:spcPts val="2200"/>
              </a:lnSpc>
              <a:buNone/>
            </a:pPr>
            <a:r>
              <a:rPr lang="en-US" sz="1500" b="1" dirty="0">
                <a:solidFill>
                  <a:srgbClr val="FFFFFF"/>
                </a:solidFill>
                <a:latin typeface="Open Sans" pitchFamily="34" charset="0"/>
                <a:ea typeface="Open Sans" pitchFamily="34" charset="-122"/>
                <a:cs typeface="Open Sans" pitchFamily="34" charset="-120"/>
              </a:rPr>
              <a:t>Raw logs</a:t>
            </a:r>
            <a:r>
              <a:rPr lang="en-US" sz="1500" dirty="0">
                <a:solidFill>
                  <a:srgbClr val="FFFFFF"/>
                </a:solidFill>
                <a:latin typeface="Open Sans" pitchFamily="34" charset="0"/>
                <a:ea typeface="Open Sans" pitchFamily="34" charset="-122"/>
                <a:cs typeface="Open Sans" pitchFamily="34" charset="-120"/>
              </a:rPr>
              <a:t>:</a:t>
            </a:r>
            <a:endParaRPr lang="en-US" sz="1500" dirty="0"/>
          </a:p>
        </p:txBody>
      </p:sp>
      <p:sp>
        <p:nvSpPr>
          <p:cNvPr id="8" name="Shape 6"/>
          <p:cNvSpPr/>
          <p:nvPr/>
        </p:nvSpPr>
        <p:spPr>
          <a:xfrm>
            <a:off x="847725" y="3917156"/>
            <a:ext cx="6178391" cy="3141821"/>
          </a:xfrm>
          <a:prstGeom prst="roundRect">
            <a:avLst>
              <a:gd name="adj" fmla="val 921"/>
            </a:avLst>
          </a:prstGeom>
          <a:solidFill>
            <a:srgbClr val="1D1D21"/>
          </a:solidFill>
          <a:ln/>
        </p:spPr>
      </p:sp>
      <p:sp>
        <p:nvSpPr>
          <p:cNvPr id="9" name="Shape 7"/>
          <p:cNvSpPr/>
          <p:nvPr/>
        </p:nvSpPr>
        <p:spPr>
          <a:xfrm>
            <a:off x="838200" y="3917156"/>
            <a:ext cx="6197441" cy="3141821"/>
          </a:xfrm>
          <a:prstGeom prst="roundRect">
            <a:avLst>
              <a:gd name="adj" fmla="val 921"/>
            </a:avLst>
          </a:prstGeom>
          <a:solidFill>
            <a:srgbClr val="1D1D21"/>
          </a:solidFill>
          <a:ln/>
        </p:spPr>
      </p:sp>
      <p:sp>
        <p:nvSpPr>
          <p:cNvPr id="10" name="Text 8"/>
          <p:cNvSpPr/>
          <p:nvPr/>
        </p:nvSpPr>
        <p:spPr>
          <a:xfrm>
            <a:off x="1030962" y="4061698"/>
            <a:ext cx="5811917" cy="2852738"/>
          </a:xfrm>
          <a:prstGeom prst="rect">
            <a:avLst/>
          </a:prstGeom>
          <a:noFill/>
          <a:ln/>
        </p:spPr>
        <p:txBody>
          <a:bodyPr wrap="square" lIns="0" tIns="0" rIns="0" bIns="0" rtlCol="0" anchor="t"/>
          <a:lstStyle/>
          <a:p>
            <a:pPr marL="0" indent="0" algn="l">
              <a:lnSpc>
                <a:spcPts val="2200"/>
              </a:lnSpc>
              <a:buNone/>
            </a:pPr>
            <a:r>
              <a:rPr lang="en-US" sz="1500" dirty="0">
                <a:solidFill>
                  <a:srgbClr val="FFFFFF"/>
                </a:solidFill>
                <a:highlight>
                  <a:srgbClr val="1D1D21"/>
                </a:highlight>
                <a:latin typeface="Consolas" pitchFamily="34" charset="0"/>
                <a:ea typeface="Consolas" pitchFamily="34" charset="-122"/>
                <a:cs typeface="Consolas" pitchFamily="34" charset="-120"/>
              </a:rPr>
              <a:t>3:05 AM | Network connection | Source: ADMIN-PC-01 | Dest: 192.168.10.50 (DB Server) | Port: 1433 (SQL)</a:t>
            </a:r>
            <a:endParaRPr lang="en-US" sz="1500" dirty="0"/>
          </a:p>
          <a:p>
            <a:pPr marL="0" indent="0" algn="l">
              <a:lnSpc>
                <a:spcPts val="2200"/>
              </a:lnSpc>
              <a:buNone/>
            </a:pPr>
            <a:r>
              <a:rPr lang="en-US" sz="1500" dirty="0">
                <a:solidFill>
                  <a:srgbClr val="FFFFFF"/>
                </a:solidFill>
                <a:highlight>
                  <a:srgbClr val="1D1D21"/>
                </a:highlight>
                <a:latin typeface="Consolas" pitchFamily="34" charset="0"/>
                <a:ea typeface="Consolas" pitchFamily="34" charset="-122"/>
                <a:cs typeface="Consolas" pitchFamily="34" charset="-120"/>
              </a:rPr>
              <a:t>3:06 AM | Failed SQL login | User: sa | Source: 192.168.10.50 | Attempts: 15</a:t>
            </a:r>
            <a:endParaRPr lang="en-US" sz="1500" dirty="0"/>
          </a:p>
          <a:p>
            <a:pPr marL="0" indent="0" algn="l">
              <a:lnSpc>
                <a:spcPts val="2200"/>
              </a:lnSpc>
              <a:buNone/>
            </a:pPr>
            <a:r>
              <a:rPr lang="en-US" sz="1500" dirty="0">
                <a:solidFill>
                  <a:srgbClr val="FFFFFF"/>
                </a:solidFill>
                <a:highlight>
                  <a:srgbClr val="1D1D21"/>
                </a:highlight>
                <a:latin typeface="Consolas" pitchFamily="34" charset="0"/>
                <a:ea typeface="Consolas" pitchFamily="34" charset="-122"/>
                <a:cs typeface="Consolas" pitchFamily="34" charset="-120"/>
              </a:rPr>
              <a:t>3:07 AM | Successful SQL login | User: sa | Source: 192.168.10.50</a:t>
            </a:r>
            <a:endParaRPr lang="en-US" sz="1500" dirty="0"/>
          </a:p>
          <a:p>
            <a:pPr marL="0" indent="0" algn="l">
              <a:lnSpc>
                <a:spcPts val="2200"/>
              </a:lnSpc>
              <a:buNone/>
            </a:pPr>
            <a:r>
              <a:rPr lang="en-US" sz="1500" dirty="0">
                <a:solidFill>
                  <a:srgbClr val="FFFFFF"/>
                </a:solidFill>
                <a:highlight>
                  <a:srgbClr val="1D1D21"/>
                </a:highlight>
                <a:latin typeface="Consolas" pitchFamily="34" charset="0"/>
                <a:ea typeface="Consolas" pitchFamily="34" charset="-122"/>
                <a:cs typeface="Consolas" pitchFamily="34" charset="-120"/>
              </a:rPr>
              <a:t>3:10 AM | Large data query | User: sa | Query: "SELECT * FROM customers" | Rows: 50,000</a:t>
            </a:r>
            <a:endParaRPr lang="en-US" sz="1500" dirty="0"/>
          </a:p>
          <a:p>
            <a:pPr marL="0" indent="0" algn="l">
              <a:lnSpc>
                <a:spcPts val="2200"/>
              </a:lnSpc>
              <a:buNone/>
            </a:pPr>
            <a:r>
              <a:rPr lang="en-US" sz="1500" dirty="0">
                <a:solidFill>
                  <a:srgbClr val="FFFFFF"/>
                </a:solidFill>
                <a:highlight>
                  <a:srgbClr val="1D1D21"/>
                </a:highlight>
                <a:latin typeface="Consolas" pitchFamily="34" charset="0"/>
                <a:ea typeface="Consolas" pitchFamily="34" charset="-122"/>
                <a:cs typeface="Consolas" pitchFamily="34" charset="-120"/>
              </a:rPr>
              <a:t>3:15 AM | File transfer | Source: DB Server | Dest: 185.143.222.10 | Size: 2.5 GB | Protocol: SFTP</a:t>
            </a:r>
            <a:endParaRPr lang="en-US" sz="1500" dirty="0"/>
          </a:p>
        </p:txBody>
      </p:sp>
      <p:sp>
        <p:nvSpPr>
          <p:cNvPr id="11" name="Text 9"/>
          <p:cNvSpPr/>
          <p:nvPr/>
        </p:nvSpPr>
        <p:spPr>
          <a:xfrm>
            <a:off x="7557968" y="2549843"/>
            <a:ext cx="3676055" cy="301228"/>
          </a:xfrm>
          <a:prstGeom prst="rect">
            <a:avLst/>
          </a:prstGeom>
          <a:noFill/>
          <a:ln/>
        </p:spPr>
        <p:txBody>
          <a:bodyPr wrap="none" lIns="0" tIns="0" rIns="0" bIns="0" rtlCol="0" anchor="t"/>
          <a:lstStyle/>
          <a:p>
            <a:pPr marL="0" indent="0" algn="l">
              <a:lnSpc>
                <a:spcPts val="2350"/>
              </a:lnSpc>
              <a:buNone/>
            </a:pPr>
            <a:r>
              <a:rPr lang="en-US" sz="1850" b="1" dirty="0">
                <a:solidFill>
                  <a:srgbClr val="101014"/>
                </a:solidFill>
                <a:latin typeface="Playfair Display Bold" pitchFamily="34" charset="0"/>
                <a:ea typeface="Playfair Display Bold" pitchFamily="34" charset="-122"/>
                <a:cs typeface="Playfair Display Bold" pitchFamily="34" charset="-120"/>
              </a:rPr>
              <a:t>SIEM Correlation Rule Triggered</a:t>
            </a:r>
            <a:endParaRPr lang="en-US" sz="1850" dirty="0"/>
          </a:p>
        </p:txBody>
      </p:sp>
      <p:sp>
        <p:nvSpPr>
          <p:cNvPr id="12" name="Shape 10"/>
          <p:cNvSpPr/>
          <p:nvPr/>
        </p:nvSpPr>
        <p:spPr>
          <a:xfrm>
            <a:off x="7557968" y="3035379"/>
            <a:ext cx="6286262" cy="2000726"/>
          </a:xfrm>
          <a:prstGeom prst="roundRect">
            <a:avLst>
              <a:gd name="adj" fmla="val 1446"/>
            </a:avLst>
          </a:prstGeom>
          <a:solidFill>
            <a:srgbClr val="E6E6EA"/>
          </a:solidFill>
          <a:ln/>
        </p:spPr>
      </p:sp>
      <p:sp>
        <p:nvSpPr>
          <p:cNvPr id="13" name="Shape 11"/>
          <p:cNvSpPr/>
          <p:nvPr/>
        </p:nvSpPr>
        <p:spPr>
          <a:xfrm>
            <a:off x="7548443" y="3035379"/>
            <a:ext cx="6305312" cy="2000726"/>
          </a:xfrm>
          <a:prstGeom prst="roundRect">
            <a:avLst>
              <a:gd name="adj" fmla="val 1446"/>
            </a:avLst>
          </a:prstGeom>
          <a:solidFill>
            <a:srgbClr val="E6E6EA"/>
          </a:solidFill>
          <a:ln/>
        </p:spPr>
      </p:sp>
      <p:sp>
        <p:nvSpPr>
          <p:cNvPr id="14" name="Text 12"/>
          <p:cNvSpPr/>
          <p:nvPr/>
        </p:nvSpPr>
        <p:spPr>
          <a:xfrm>
            <a:off x="7741206" y="3179921"/>
            <a:ext cx="5919788" cy="1711642"/>
          </a:xfrm>
          <a:prstGeom prst="rect">
            <a:avLst/>
          </a:prstGeom>
          <a:noFill/>
          <a:ln/>
        </p:spPr>
        <p:txBody>
          <a:bodyPr wrap="square" lIns="0" tIns="0" rIns="0" bIns="0" rtlCol="0" anchor="t"/>
          <a:lstStyle/>
          <a:p>
            <a:pPr marL="0" indent="0" algn="l">
              <a:lnSpc>
                <a:spcPts val="2200"/>
              </a:lnSpc>
              <a:buNone/>
            </a:pPr>
            <a:r>
              <a:rPr lang="en-US" sz="1500" dirty="0">
                <a:solidFill>
                  <a:srgbClr val="39393C"/>
                </a:solidFill>
                <a:highlight>
                  <a:srgbClr val="E6E6EA"/>
                </a:highlight>
                <a:latin typeface="Consolas" pitchFamily="34" charset="0"/>
                <a:ea typeface="Consolas" pitchFamily="34" charset="-122"/>
                <a:cs typeface="Consolas" pitchFamily="34" charset="-120"/>
              </a:rPr>
              <a:t>Rule: "Data Exfiltration Pattern"</a:t>
            </a:r>
            <a:endParaRPr lang="en-US" sz="1500" dirty="0"/>
          </a:p>
          <a:p>
            <a:pPr marL="0" indent="0" algn="l">
              <a:lnSpc>
                <a:spcPts val="2200"/>
              </a:lnSpc>
              <a:buNone/>
            </a:pPr>
            <a:r>
              <a:rPr lang="en-US" sz="1500" dirty="0">
                <a:solidFill>
                  <a:srgbClr val="39393C"/>
                </a:solidFill>
                <a:highlight>
                  <a:srgbClr val="E6E6EA"/>
                </a:highlight>
                <a:latin typeface="Consolas" pitchFamily="34" charset="0"/>
                <a:ea typeface="Consolas" pitchFamily="34" charset="-122"/>
                <a:cs typeface="Consolas" pitchFamily="34" charset="-120"/>
              </a:rPr>
              <a:t>Condition: SQL access + large query + outbound transfer to external IP</a:t>
            </a:r>
            <a:endParaRPr lang="en-US" sz="1500" dirty="0"/>
          </a:p>
          <a:p>
            <a:pPr marL="0" indent="0" algn="l">
              <a:lnSpc>
                <a:spcPts val="2200"/>
              </a:lnSpc>
              <a:buNone/>
            </a:pPr>
            <a:r>
              <a:rPr lang="en-US" sz="1500" dirty="0">
                <a:solidFill>
                  <a:srgbClr val="39393C"/>
                </a:solidFill>
                <a:highlight>
                  <a:srgbClr val="E6E6EA"/>
                </a:highlight>
                <a:latin typeface="Consolas" pitchFamily="34" charset="0"/>
                <a:ea typeface="Consolas" pitchFamily="34" charset="-122"/>
                <a:cs typeface="Consolas" pitchFamily="34" charset="-120"/>
              </a:rPr>
              <a:t>Severity: CRITICAL</a:t>
            </a:r>
            <a:endParaRPr lang="en-US" sz="1500" dirty="0"/>
          </a:p>
          <a:p>
            <a:pPr marL="0" indent="0" algn="l">
              <a:lnSpc>
                <a:spcPts val="2200"/>
              </a:lnSpc>
              <a:buNone/>
            </a:pPr>
            <a:r>
              <a:rPr lang="en-US" sz="1500" dirty="0">
                <a:solidFill>
                  <a:srgbClr val="39393C"/>
                </a:solidFill>
                <a:highlight>
                  <a:srgbClr val="E6E6EA"/>
                </a:highlight>
                <a:latin typeface="Consolas" pitchFamily="34" charset="0"/>
                <a:ea typeface="Consolas" pitchFamily="34" charset="-122"/>
                <a:cs typeface="Consolas" pitchFamily="34" charset="-120"/>
              </a:rPr>
              <a:t>Alert: "Potential data breach in progress - 2.5 GB transferred to external IP"</a:t>
            </a:r>
            <a:endParaRPr lang="en-US" sz="1500" dirty="0"/>
          </a:p>
        </p:txBody>
      </p:sp>
      <p:sp>
        <p:nvSpPr>
          <p:cNvPr id="15" name="Text 13"/>
          <p:cNvSpPr/>
          <p:nvPr/>
        </p:nvSpPr>
        <p:spPr>
          <a:xfrm>
            <a:off x="7557968" y="5220414"/>
            <a:ext cx="2409944" cy="301228"/>
          </a:xfrm>
          <a:prstGeom prst="rect">
            <a:avLst/>
          </a:prstGeom>
          <a:noFill/>
          <a:ln/>
        </p:spPr>
        <p:txBody>
          <a:bodyPr wrap="none" lIns="0" tIns="0" rIns="0" bIns="0" rtlCol="0" anchor="t"/>
          <a:lstStyle/>
          <a:p>
            <a:pPr marL="0" indent="0" algn="l">
              <a:lnSpc>
                <a:spcPts val="2350"/>
              </a:lnSpc>
              <a:buNone/>
            </a:pPr>
            <a:r>
              <a:rPr lang="en-US" sz="1850" b="1" dirty="0">
                <a:solidFill>
                  <a:srgbClr val="101014"/>
                </a:solidFill>
                <a:latin typeface="Playfair Display Bold" pitchFamily="34" charset="0"/>
                <a:ea typeface="Playfair Display Bold" pitchFamily="34" charset="-122"/>
                <a:cs typeface="Playfair Display Bold" pitchFamily="34" charset="-120"/>
              </a:rPr>
              <a:t>Action Taken</a:t>
            </a:r>
            <a:endParaRPr lang="en-US" sz="1850" dirty="0"/>
          </a:p>
        </p:txBody>
      </p:sp>
      <p:sp>
        <p:nvSpPr>
          <p:cNvPr id="16" name="Text 14"/>
          <p:cNvSpPr/>
          <p:nvPr/>
        </p:nvSpPr>
        <p:spPr>
          <a:xfrm>
            <a:off x="7557968" y="5685473"/>
            <a:ext cx="6286262" cy="627817"/>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39393C"/>
                </a:solidFill>
                <a:latin typeface="Open Sans" pitchFamily="34" charset="0"/>
                <a:ea typeface="Open Sans" pitchFamily="34" charset="-122"/>
                <a:cs typeface="Open Sans" pitchFamily="34" charset="-120"/>
              </a:rPr>
              <a:t>Immediate alert to CISO and incident response team (3:16 AM).</a:t>
            </a:r>
            <a:endParaRPr lang="en-US" sz="1500" dirty="0"/>
          </a:p>
          <a:p>
            <a:pPr marL="342900" indent="-342900" algn="l">
              <a:lnSpc>
                <a:spcPts val="2200"/>
              </a:lnSpc>
              <a:buSzPct val="100000"/>
              <a:buChar char="•"/>
            </a:pPr>
            <a:r>
              <a:rPr lang="en-US" sz="1500" dirty="0">
                <a:solidFill>
                  <a:srgbClr val="39393C"/>
                </a:solidFill>
                <a:latin typeface="Open Sans" pitchFamily="34" charset="0"/>
                <a:ea typeface="Open Sans" pitchFamily="34" charset="-122"/>
                <a:cs typeface="Open Sans" pitchFamily="34" charset="-120"/>
              </a:rPr>
              <a:t>Analyst begins investigation.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80292"/>
            <a:ext cx="11500604"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Stage 4: SOC Analyst Investigation </a:t>
            </a:r>
            <a:r>
              <a:rPr lang="en-US" sz="4450" b="1" i="1" dirty="0">
                <a:solidFill>
                  <a:srgbClr val="101014"/>
                </a:solidFill>
                <a:latin typeface="Playfair Display Bold" pitchFamily="34" charset="0"/>
                <a:ea typeface="Playfair Display Bold" pitchFamily="34" charset="-122"/>
                <a:cs typeface="Playfair Display Bold" pitchFamily="34" charset="-120"/>
              </a:rPr>
              <a:t>(3:30 AM)</a:t>
            </a:r>
            <a:endParaRPr lang="en-US" sz="4450" dirty="0"/>
          </a:p>
        </p:txBody>
      </p:sp>
      <p:sp>
        <p:nvSpPr>
          <p:cNvPr id="3" name="Text 1"/>
          <p:cNvSpPr/>
          <p:nvPr/>
        </p:nvSpPr>
        <p:spPr>
          <a:xfrm>
            <a:off x="793790" y="254269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The analyst opens the SIEM dashboard and drills into the alert:</a:t>
            </a:r>
            <a:endParaRPr lang="en-US" sz="1750" dirty="0"/>
          </a:p>
        </p:txBody>
      </p:sp>
      <p:sp>
        <p:nvSpPr>
          <p:cNvPr id="4" name="Shape 2"/>
          <p:cNvSpPr/>
          <p:nvPr/>
        </p:nvSpPr>
        <p:spPr>
          <a:xfrm>
            <a:off x="793790" y="3160752"/>
            <a:ext cx="4196358" cy="1730812"/>
          </a:xfrm>
          <a:prstGeom prst="roundRect">
            <a:avLst>
              <a:gd name="adj" fmla="val 8453"/>
            </a:avLst>
          </a:prstGeom>
          <a:solidFill>
            <a:srgbClr val="F3F3F7"/>
          </a:solidFill>
          <a:ln w="30480">
            <a:solidFill>
              <a:srgbClr val="C6C6D2"/>
            </a:solidFill>
            <a:prstDash val="solid"/>
          </a:ln>
        </p:spPr>
      </p:sp>
      <p:sp>
        <p:nvSpPr>
          <p:cNvPr id="5" name="Shape 3"/>
          <p:cNvSpPr/>
          <p:nvPr/>
        </p:nvSpPr>
        <p:spPr>
          <a:xfrm>
            <a:off x="763310" y="3160752"/>
            <a:ext cx="121920" cy="1730812"/>
          </a:xfrm>
          <a:prstGeom prst="roundRect">
            <a:avLst>
              <a:gd name="adj" fmla="val 27907"/>
            </a:avLst>
          </a:prstGeom>
          <a:solidFill>
            <a:srgbClr val="101014"/>
          </a:solidFill>
          <a:ln/>
        </p:spPr>
      </p:sp>
      <p:sp>
        <p:nvSpPr>
          <p:cNvPr id="6" name="Text 4"/>
          <p:cNvSpPr/>
          <p:nvPr/>
        </p:nvSpPr>
        <p:spPr>
          <a:xfrm>
            <a:off x="1142524" y="341804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Source IP</a:t>
            </a:r>
            <a:endParaRPr lang="en-US" sz="2200" dirty="0"/>
          </a:p>
        </p:txBody>
      </p:sp>
      <p:sp>
        <p:nvSpPr>
          <p:cNvPr id="7" name="Text 5"/>
          <p:cNvSpPr/>
          <p:nvPr/>
        </p:nvSpPr>
        <p:spPr>
          <a:xfrm>
            <a:off x="1142524" y="3908465"/>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185.143.222.10 (external attacker)</a:t>
            </a:r>
            <a:endParaRPr lang="en-US" sz="1750" dirty="0"/>
          </a:p>
        </p:txBody>
      </p:sp>
      <p:sp>
        <p:nvSpPr>
          <p:cNvPr id="8" name="Shape 6"/>
          <p:cNvSpPr/>
          <p:nvPr/>
        </p:nvSpPr>
        <p:spPr>
          <a:xfrm>
            <a:off x="5216962" y="3160752"/>
            <a:ext cx="4196358" cy="1730812"/>
          </a:xfrm>
          <a:prstGeom prst="roundRect">
            <a:avLst>
              <a:gd name="adj" fmla="val 8453"/>
            </a:avLst>
          </a:prstGeom>
          <a:solidFill>
            <a:srgbClr val="F3F3F7"/>
          </a:solidFill>
          <a:ln w="30480">
            <a:solidFill>
              <a:srgbClr val="C6C6D2"/>
            </a:solidFill>
            <a:prstDash val="solid"/>
          </a:ln>
        </p:spPr>
      </p:sp>
      <p:sp>
        <p:nvSpPr>
          <p:cNvPr id="9" name="Shape 7"/>
          <p:cNvSpPr/>
          <p:nvPr/>
        </p:nvSpPr>
        <p:spPr>
          <a:xfrm>
            <a:off x="5186482" y="3160752"/>
            <a:ext cx="121920" cy="1730812"/>
          </a:xfrm>
          <a:prstGeom prst="roundRect">
            <a:avLst>
              <a:gd name="adj" fmla="val 27907"/>
            </a:avLst>
          </a:prstGeom>
          <a:solidFill>
            <a:srgbClr val="101014"/>
          </a:solidFill>
          <a:ln/>
        </p:spPr>
      </p:sp>
      <p:sp>
        <p:nvSpPr>
          <p:cNvPr id="10" name="Text 8"/>
          <p:cNvSpPr/>
          <p:nvPr/>
        </p:nvSpPr>
        <p:spPr>
          <a:xfrm>
            <a:off x="5565696" y="341804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Compromised User</a:t>
            </a:r>
            <a:endParaRPr lang="en-US" sz="2200" dirty="0"/>
          </a:p>
        </p:txBody>
      </p:sp>
      <p:sp>
        <p:nvSpPr>
          <p:cNvPr id="11" name="Text 9"/>
          <p:cNvSpPr/>
          <p:nvPr/>
        </p:nvSpPr>
        <p:spPr>
          <a:xfrm>
            <a:off x="5565696" y="3908465"/>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admin (VPN + Windows)</a:t>
            </a:r>
            <a:endParaRPr lang="en-US" sz="1750" dirty="0"/>
          </a:p>
        </p:txBody>
      </p:sp>
      <p:sp>
        <p:nvSpPr>
          <p:cNvPr id="12" name="Shape 10"/>
          <p:cNvSpPr/>
          <p:nvPr/>
        </p:nvSpPr>
        <p:spPr>
          <a:xfrm>
            <a:off x="9640133" y="3160752"/>
            <a:ext cx="4196358" cy="1730812"/>
          </a:xfrm>
          <a:prstGeom prst="roundRect">
            <a:avLst>
              <a:gd name="adj" fmla="val 8453"/>
            </a:avLst>
          </a:prstGeom>
          <a:solidFill>
            <a:srgbClr val="F3F3F7"/>
          </a:solidFill>
          <a:ln w="30480">
            <a:solidFill>
              <a:srgbClr val="C6C6D2"/>
            </a:solidFill>
            <a:prstDash val="solid"/>
          </a:ln>
        </p:spPr>
      </p:sp>
      <p:sp>
        <p:nvSpPr>
          <p:cNvPr id="13" name="Shape 11"/>
          <p:cNvSpPr/>
          <p:nvPr/>
        </p:nvSpPr>
        <p:spPr>
          <a:xfrm>
            <a:off x="9609653" y="3160752"/>
            <a:ext cx="121920" cy="1730812"/>
          </a:xfrm>
          <a:prstGeom prst="roundRect">
            <a:avLst>
              <a:gd name="adj" fmla="val 27907"/>
            </a:avLst>
          </a:prstGeom>
          <a:solidFill>
            <a:srgbClr val="101014"/>
          </a:solidFill>
          <a:ln/>
        </p:spPr>
      </p:sp>
      <p:sp>
        <p:nvSpPr>
          <p:cNvPr id="14" name="Text 12"/>
          <p:cNvSpPr/>
          <p:nvPr/>
        </p:nvSpPr>
        <p:spPr>
          <a:xfrm>
            <a:off x="9988868" y="341804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Lateral Movement</a:t>
            </a:r>
            <a:endParaRPr lang="en-US" sz="2200" dirty="0"/>
          </a:p>
        </p:txBody>
      </p:sp>
      <p:sp>
        <p:nvSpPr>
          <p:cNvPr id="15" name="Text 13"/>
          <p:cNvSpPr/>
          <p:nvPr/>
        </p:nvSpPr>
        <p:spPr>
          <a:xfrm>
            <a:off x="9988868" y="3908465"/>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ADMIN-PC-01 → DB Server (192.168.10.50)</a:t>
            </a:r>
            <a:endParaRPr lang="en-US" sz="1750" dirty="0"/>
          </a:p>
        </p:txBody>
      </p:sp>
      <p:sp>
        <p:nvSpPr>
          <p:cNvPr id="16" name="Shape 14"/>
          <p:cNvSpPr/>
          <p:nvPr/>
        </p:nvSpPr>
        <p:spPr>
          <a:xfrm>
            <a:off x="793790" y="5118378"/>
            <a:ext cx="4196358" cy="1730812"/>
          </a:xfrm>
          <a:prstGeom prst="roundRect">
            <a:avLst>
              <a:gd name="adj" fmla="val 8453"/>
            </a:avLst>
          </a:prstGeom>
          <a:solidFill>
            <a:srgbClr val="F3F3F7"/>
          </a:solidFill>
          <a:ln w="30480">
            <a:solidFill>
              <a:srgbClr val="C6C6D2"/>
            </a:solidFill>
            <a:prstDash val="solid"/>
          </a:ln>
        </p:spPr>
      </p:sp>
      <p:sp>
        <p:nvSpPr>
          <p:cNvPr id="17" name="Shape 15"/>
          <p:cNvSpPr/>
          <p:nvPr/>
        </p:nvSpPr>
        <p:spPr>
          <a:xfrm>
            <a:off x="763310" y="5118378"/>
            <a:ext cx="121920" cy="1730812"/>
          </a:xfrm>
          <a:prstGeom prst="roundRect">
            <a:avLst>
              <a:gd name="adj" fmla="val 27907"/>
            </a:avLst>
          </a:prstGeom>
          <a:solidFill>
            <a:srgbClr val="101014"/>
          </a:solidFill>
          <a:ln/>
        </p:spPr>
      </p:sp>
      <p:sp>
        <p:nvSpPr>
          <p:cNvPr id="18" name="Text 16"/>
          <p:cNvSpPr/>
          <p:nvPr/>
        </p:nvSpPr>
        <p:spPr>
          <a:xfrm>
            <a:off x="1142524" y="53756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Exfiltration</a:t>
            </a:r>
            <a:endParaRPr lang="en-US" sz="2200" dirty="0"/>
          </a:p>
        </p:txBody>
      </p:sp>
      <p:sp>
        <p:nvSpPr>
          <p:cNvPr id="19" name="Text 17"/>
          <p:cNvSpPr/>
          <p:nvPr/>
        </p:nvSpPr>
        <p:spPr>
          <a:xfrm>
            <a:off x="1142524" y="5866090"/>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2.5 GB via SFTP to attacker's IP</a:t>
            </a:r>
            <a:endParaRPr lang="en-US" sz="1750" dirty="0"/>
          </a:p>
        </p:txBody>
      </p:sp>
      <p:sp>
        <p:nvSpPr>
          <p:cNvPr id="20" name="Shape 18"/>
          <p:cNvSpPr/>
          <p:nvPr/>
        </p:nvSpPr>
        <p:spPr>
          <a:xfrm>
            <a:off x="5216962" y="5118378"/>
            <a:ext cx="4196358" cy="1730812"/>
          </a:xfrm>
          <a:prstGeom prst="roundRect">
            <a:avLst>
              <a:gd name="adj" fmla="val 8453"/>
            </a:avLst>
          </a:prstGeom>
          <a:solidFill>
            <a:srgbClr val="F3F3F7"/>
          </a:solidFill>
          <a:ln w="30480">
            <a:solidFill>
              <a:srgbClr val="C6C6D2"/>
            </a:solidFill>
            <a:prstDash val="solid"/>
          </a:ln>
        </p:spPr>
      </p:sp>
      <p:sp>
        <p:nvSpPr>
          <p:cNvPr id="21" name="Shape 19"/>
          <p:cNvSpPr/>
          <p:nvPr/>
        </p:nvSpPr>
        <p:spPr>
          <a:xfrm>
            <a:off x="5186482" y="5118378"/>
            <a:ext cx="121920" cy="1730812"/>
          </a:xfrm>
          <a:prstGeom prst="roundRect">
            <a:avLst>
              <a:gd name="adj" fmla="val 27907"/>
            </a:avLst>
          </a:prstGeom>
          <a:solidFill>
            <a:srgbClr val="101014"/>
          </a:solidFill>
          <a:ln/>
        </p:spPr>
      </p:sp>
      <p:sp>
        <p:nvSpPr>
          <p:cNvPr id="22" name="Text 20"/>
          <p:cNvSpPr/>
          <p:nvPr/>
        </p:nvSpPr>
        <p:spPr>
          <a:xfrm>
            <a:off x="5565696" y="5375672"/>
            <a:ext cx="3177183"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Threat Intel Enrichment</a:t>
            </a:r>
            <a:endParaRPr lang="en-US" sz="2200" dirty="0"/>
          </a:p>
        </p:txBody>
      </p:sp>
      <p:sp>
        <p:nvSpPr>
          <p:cNvPr id="23" name="Text 21"/>
          <p:cNvSpPr/>
          <p:nvPr/>
        </p:nvSpPr>
        <p:spPr>
          <a:xfrm>
            <a:off x="5565696" y="5866090"/>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IP flagged in MISP as "APT29 affiliate" — known for data theft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612940"/>
            <a:ext cx="11499533"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Stage 5: Containment &amp; Response </a:t>
            </a:r>
            <a:r>
              <a:rPr lang="en-US" sz="4450" b="1" i="1" dirty="0">
                <a:solidFill>
                  <a:srgbClr val="101014"/>
                </a:solidFill>
                <a:latin typeface="Playfair Display Bold" pitchFamily="34" charset="0"/>
                <a:ea typeface="Playfair Display Bold" pitchFamily="34" charset="-122"/>
                <a:cs typeface="Playfair Display Bold" pitchFamily="34" charset="-120"/>
              </a:rPr>
              <a:t>(4:00 AM)</a:t>
            </a:r>
            <a:endParaRPr lang="en-US" sz="4450" dirty="0"/>
          </a:p>
        </p:txBody>
      </p:sp>
      <p:sp>
        <p:nvSpPr>
          <p:cNvPr id="3" name="Text 1"/>
          <p:cNvSpPr/>
          <p:nvPr/>
        </p:nvSpPr>
        <p:spPr>
          <a:xfrm>
            <a:off x="793790" y="2775347"/>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39393C"/>
                </a:solidFill>
                <a:latin typeface="Open Sans" pitchFamily="34" charset="0"/>
                <a:ea typeface="Open Sans" pitchFamily="34" charset="-122"/>
                <a:cs typeface="Open Sans" pitchFamily="34" charset="-120"/>
              </a:rPr>
              <a:t>SIEM-Driven Actions</a:t>
            </a:r>
            <a:r>
              <a:rPr lang="en-US" sz="1750" dirty="0">
                <a:solidFill>
                  <a:srgbClr val="39393C"/>
                </a:solidFill>
                <a:latin typeface="Open Sans" pitchFamily="34" charset="0"/>
                <a:ea typeface="Open Sans" pitchFamily="34" charset="-122"/>
                <a:cs typeface="Open Sans" pitchFamily="34" charset="-120"/>
              </a:rPr>
              <a:t>:</a:t>
            </a:r>
            <a:endParaRPr lang="en-US" sz="1750" dirty="0"/>
          </a:p>
        </p:txBody>
      </p:sp>
      <p:sp>
        <p:nvSpPr>
          <p:cNvPr id="4" name="Shape 2"/>
          <p:cNvSpPr/>
          <p:nvPr/>
        </p:nvSpPr>
        <p:spPr>
          <a:xfrm>
            <a:off x="630436" y="3393400"/>
            <a:ext cx="6571417" cy="3223260"/>
          </a:xfrm>
          <a:prstGeom prst="roundRect">
            <a:avLst>
              <a:gd name="adj" fmla="val 1056"/>
            </a:avLst>
          </a:prstGeom>
          <a:solidFill>
            <a:srgbClr val="101014"/>
          </a:solidFill>
          <a:ln/>
        </p:spPr>
      </p:sp>
      <p:sp>
        <p:nvSpPr>
          <p:cNvPr id="5" name="Text 3"/>
          <p:cNvSpPr/>
          <p:nvPr/>
        </p:nvSpPr>
        <p:spPr>
          <a:xfrm>
            <a:off x="857250" y="3620214"/>
            <a:ext cx="5439370"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Playfair Display Bold" pitchFamily="34" charset="0"/>
                <a:ea typeface="Playfair Display Bold" pitchFamily="34" charset="-122"/>
                <a:cs typeface="Playfair Display Bold" pitchFamily="34" charset="-120"/>
              </a:rPr>
              <a:t>1. Automated Block (via SOAR integration)</a:t>
            </a:r>
            <a:endParaRPr lang="en-US" sz="2200" dirty="0"/>
          </a:p>
        </p:txBody>
      </p:sp>
      <p:sp>
        <p:nvSpPr>
          <p:cNvPr id="6" name="Text 4"/>
          <p:cNvSpPr/>
          <p:nvPr/>
        </p:nvSpPr>
        <p:spPr>
          <a:xfrm>
            <a:off x="857250" y="4201358"/>
            <a:ext cx="6117788"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Open Sans" pitchFamily="34" charset="0"/>
                <a:ea typeface="Open Sans" pitchFamily="34" charset="-122"/>
                <a:cs typeface="Open Sans" pitchFamily="34" charset="-120"/>
              </a:rPr>
              <a:t>SOAR playbook triggered:</a:t>
            </a:r>
            <a:endParaRPr lang="en-US" sz="1750" dirty="0"/>
          </a:p>
        </p:txBody>
      </p:sp>
      <p:sp>
        <p:nvSpPr>
          <p:cNvPr id="7" name="Text 5"/>
          <p:cNvSpPr/>
          <p:nvPr/>
        </p:nvSpPr>
        <p:spPr>
          <a:xfrm>
            <a:off x="857250" y="4768334"/>
            <a:ext cx="6117788"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FFFFF"/>
                </a:solidFill>
                <a:latin typeface="Open Sans" pitchFamily="34" charset="0"/>
                <a:ea typeface="Open Sans" pitchFamily="34" charset="-122"/>
                <a:cs typeface="Open Sans" pitchFamily="34" charset="-120"/>
              </a:rPr>
              <a:t>Blocks 185.143.222.10 in firewall.</a:t>
            </a:r>
            <a:endParaRPr lang="en-US" sz="1750" dirty="0"/>
          </a:p>
          <a:p>
            <a:pPr marL="342900" indent="-342900" algn="l">
              <a:lnSpc>
                <a:spcPts val="2850"/>
              </a:lnSpc>
              <a:buSzPct val="100000"/>
              <a:buChar char="•"/>
            </a:pPr>
            <a:r>
              <a:rPr lang="en-US" sz="1750" dirty="0">
                <a:solidFill>
                  <a:srgbClr val="FFFFFF"/>
                </a:solidFill>
                <a:latin typeface="Open Sans" pitchFamily="34" charset="0"/>
                <a:ea typeface="Open Sans" pitchFamily="34" charset="-122"/>
                <a:cs typeface="Open Sans" pitchFamily="34" charset="-120"/>
              </a:rPr>
              <a:t>Isolates ADMIN-PC-01 via EDR (CrowdStrike).</a:t>
            </a:r>
            <a:endParaRPr lang="en-US" sz="1750" dirty="0"/>
          </a:p>
          <a:p>
            <a:pPr marL="342900" indent="-342900" algn="l">
              <a:lnSpc>
                <a:spcPts val="2850"/>
              </a:lnSpc>
              <a:buSzPct val="100000"/>
              <a:buChar char="•"/>
            </a:pPr>
            <a:r>
              <a:rPr lang="en-US" sz="1750" dirty="0">
                <a:solidFill>
                  <a:srgbClr val="FFFFFF"/>
                </a:solidFill>
                <a:latin typeface="Open Sans" pitchFamily="34" charset="0"/>
                <a:ea typeface="Open Sans" pitchFamily="34" charset="-122"/>
                <a:cs typeface="Open Sans" pitchFamily="34" charset="-120"/>
              </a:rPr>
              <a:t>Resets admin password and disables account.</a:t>
            </a:r>
            <a:endParaRPr lang="en-US" sz="1750" dirty="0"/>
          </a:p>
        </p:txBody>
      </p:sp>
      <p:sp>
        <p:nvSpPr>
          <p:cNvPr id="8" name="Text 6"/>
          <p:cNvSpPr/>
          <p:nvPr/>
        </p:nvSpPr>
        <p:spPr>
          <a:xfrm>
            <a:off x="7599521" y="3620214"/>
            <a:ext cx="3712488"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2. Manual Actions by Analyst</a:t>
            </a:r>
            <a:endParaRPr lang="en-US" sz="2200" dirty="0"/>
          </a:p>
        </p:txBody>
      </p:sp>
      <p:sp>
        <p:nvSpPr>
          <p:cNvPr id="9" name="Text 7"/>
          <p:cNvSpPr/>
          <p:nvPr/>
        </p:nvSpPr>
        <p:spPr>
          <a:xfrm>
            <a:off x="7599521" y="4201358"/>
            <a:ext cx="6244709" cy="23360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Reviews PowerShell command history → finds </a:t>
            </a:r>
            <a:r>
              <a:rPr lang="en-US" sz="1750" dirty="0">
                <a:solidFill>
                  <a:srgbClr val="39393C"/>
                </a:solidFill>
                <a:highlight>
                  <a:srgbClr val="E6E6EA"/>
                </a:highlight>
                <a:latin typeface="Consolas" pitchFamily="34" charset="0"/>
                <a:ea typeface="Consolas" pitchFamily="34" charset="-122"/>
                <a:cs typeface="Consolas" pitchFamily="34" charset="-120"/>
              </a:rPr>
              <a:t>Invoke-ReflectivePEInjection</a:t>
            </a:r>
            <a:r>
              <a:rPr lang="en-US" sz="1750" dirty="0">
                <a:solidFill>
                  <a:srgbClr val="39393C"/>
                </a:solidFill>
                <a:latin typeface="Open Sans" pitchFamily="34" charset="0"/>
                <a:ea typeface="Open Sans" pitchFamily="34" charset="-122"/>
                <a:cs typeface="Open Sans" pitchFamily="34" charset="-120"/>
              </a:rPr>
              <a:t> (memory injection).</a:t>
            </a:r>
            <a:endParaRPr lang="en-US" sz="1750" dirty="0"/>
          </a:p>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Confirms malware persistence → deploys EDR to scan all endpoints.</a:t>
            </a:r>
            <a:endParaRPr lang="en-US" sz="1750" dirty="0"/>
          </a:p>
          <a:p>
            <a:pPr marL="342900" indent="-342900" algn="l">
              <a:lnSpc>
                <a:spcPts val="2850"/>
              </a:lnSpc>
              <a:buSzPct val="100000"/>
              <a:buChar char="•"/>
            </a:pPr>
            <a:r>
              <a:rPr lang="en-US" sz="1750" dirty="0">
                <a:solidFill>
                  <a:srgbClr val="39393C"/>
                </a:solidFill>
                <a:latin typeface="Open Sans" pitchFamily="34" charset="0"/>
                <a:ea typeface="Open Sans" pitchFamily="34" charset="-122"/>
                <a:cs typeface="Open Sans" pitchFamily="34" charset="-120"/>
              </a:rPr>
              <a:t>Checks if other users were targeted → finds 3 other failed login attempts from same IP.</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27904"/>
            <a:ext cx="10671096" cy="708779"/>
          </a:xfrm>
          <a:prstGeom prst="rect">
            <a:avLst/>
          </a:prstGeom>
          <a:noFill/>
          <a:ln/>
        </p:spPr>
        <p:txBody>
          <a:bodyPr wrap="none" lIns="0" tIns="0" rIns="0" bIns="0" rtlCol="0" anchor="t"/>
          <a:lstStyle/>
          <a:p>
            <a:pPr marL="0" indent="0" algn="l">
              <a:lnSpc>
                <a:spcPts val="5550"/>
              </a:lnSpc>
              <a:buNone/>
            </a:pPr>
            <a:r>
              <a:rPr lang="en-US" sz="4450" b="1" dirty="0">
                <a:solidFill>
                  <a:srgbClr val="101014"/>
                </a:solidFill>
                <a:latin typeface="Playfair Display Bold" pitchFamily="34" charset="0"/>
                <a:ea typeface="Playfair Display Bold" pitchFamily="34" charset="-122"/>
                <a:cs typeface="Playfair Display Bold" pitchFamily="34" charset="-120"/>
              </a:rPr>
              <a:t>Stage 6: Post-Incident Analysis </a:t>
            </a:r>
            <a:r>
              <a:rPr lang="en-US" sz="4450" b="1" i="1" dirty="0">
                <a:solidFill>
                  <a:srgbClr val="101014"/>
                </a:solidFill>
                <a:latin typeface="Playfair Display Bold" pitchFamily="34" charset="0"/>
                <a:ea typeface="Playfair Display Bold" pitchFamily="34" charset="-122"/>
                <a:cs typeface="Playfair Display Bold" pitchFamily="34" charset="-120"/>
              </a:rPr>
              <a:t>(6:30 AM)</a:t>
            </a:r>
            <a:endParaRPr lang="en-US" sz="4450" dirty="0"/>
          </a:p>
        </p:txBody>
      </p:sp>
      <p:sp>
        <p:nvSpPr>
          <p:cNvPr id="3" name="Text 1"/>
          <p:cNvSpPr/>
          <p:nvPr/>
        </p:nvSpPr>
        <p:spPr>
          <a:xfrm>
            <a:off x="793790" y="2490311"/>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39393C"/>
                </a:solidFill>
                <a:latin typeface="Open Sans" pitchFamily="34" charset="0"/>
                <a:ea typeface="Open Sans" pitchFamily="34" charset="-122"/>
                <a:cs typeface="Open Sans" pitchFamily="34" charset="-120"/>
              </a:rPr>
              <a:t>SIEM Dashboards Show</a:t>
            </a:r>
            <a:r>
              <a:rPr lang="en-US" sz="1750" dirty="0">
                <a:solidFill>
                  <a:srgbClr val="39393C"/>
                </a:solidFill>
                <a:latin typeface="Open Sans" pitchFamily="34" charset="0"/>
                <a:ea typeface="Open Sans" pitchFamily="34" charset="-122"/>
                <a:cs typeface="Open Sans" pitchFamily="34" charset="-120"/>
              </a:rPr>
              <a:t>:</a:t>
            </a:r>
            <a:endParaRPr lang="en-US" sz="1750" dirty="0"/>
          </a:p>
        </p:txBody>
      </p:sp>
      <p:sp>
        <p:nvSpPr>
          <p:cNvPr id="4" name="Shape 2"/>
          <p:cNvSpPr/>
          <p:nvPr/>
        </p:nvSpPr>
        <p:spPr>
          <a:xfrm>
            <a:off x="793790" y="3108365"/>
            <a:ext cx="4196358" cy="2032754"/>
          </a:xfrm>
          <a:prstGeom prst="roundRect">
            <a:avLst>
              <a:gd name="adj" fmla="val 1674"/>
            </a:avLst>
          </a:prstGeom>
          <a:solidFill>
            <a:srgbClr val="E0E0EC"/>
          </a:solidFill>
          <a:ln/>
        </p:spPr>
      </p:sp>
      <p:sp>
        <p:nvSpPr>
          <p:cNvPr id="5" name="Text 3"/>
          <p:cNvSpPr/>
          <p:nvPr/>
        </p:nvSpPr>
        <p:spPr>
          <a:xfrm>
            <a:off x="1020604" y="33351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Timeline</a:t>
            </a:r>
            <a:endParaRPr lang="en-US" sz="2200" dirty="0"/>
          </a:p>
        </p:txBody>
      </p:sp>
      <p:sp>
        <p:nvSpPr>
          <p:cNvPr id="6" name="Text 4"/>
          <p:cNvSpPr/>
          <p:nvPr/>
        </p:nvSpPr>
        <p:spPr>
          <a:xfrm>
            <a:off x="1020604" y="3825597"/>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Attack lasted 4.5 hours — detected at 2:08 AM, contained by 4:15 AM.</a:t>
            </a:r>
            <a:endParaRPr lang="en-US" sz="1750" dirty="0"/>
          </a:p>
        </p:txBody>
      </p:sp>
      <p:sp>
        <p:nvSpPr>
          <p:cNvPr id="7" name="Shape 5"/>
          <p:cNvSpPr/>
          <p:nvPr/>
        </p:nvSpPr>
        <p:spPr>
          <a:xfrm>
            <a:off x="5216962" y="3108365"/>
            <a:ext cx="4196358" cy="2032754"/>
          </a:xfrm>
          <a:prstGeom prst="roundRect">
            <a:avLst>
              <a:gd name="adj" fmla="val 1674"/>
            </a:avLst>
          </a:prstGeom>
          <a:solidFill>
            <a:srgbClr val="E0E0EC"/>
          </a:solidFill>
          <a:ln/>
        </p:spPr>
      </p:sp>
      <p:sp>
        <p:nvSpPr>
          <p:cNvPr id="8" name="Text 6"/>
          <p:cNvSpPr/>
          <p:nvPr/>
        </p:nvSpPr>
        <p:spPr>
          <a:xfrm>
            <a:off x="5443776" y="33351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Impact</a:t>
            </a:r>
            <a:endParaRPr lang="en-US" sz="2200" dirty="0"/>
          </a:p>
        </p:txBody>
      </p:sp>
      <p:sp>
        <p:nvSpPr>
          <p:cNvPr id="9" name="Text 7"/>
          <p:cNvSpPr/>
          <p:nvPr/>
        </p:nvSpPr>
        <p:spPr>
          <a:xfrm>
            <a:off x="5443776" y="3825597"/>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2.5 GB of customer data exfiltrated — but no encryption or ransomware deployed.</a:t>
            </a:r>
            <a:endParaRPr lang="en-US" sz="1750" dirty="0"/>
          </a:p>
        </p:txBody>
      </p:sp>
      <p:sp>
        <p:nvSpPr>
          <p:cNvPr id="10" name="Shape 8"/>
          <p:cNvSpPr/>
          <p:nvPr/>
        </p:nvSpPr>
        <p:spPr>
          <a:xfrm>
            <a:off x="9640133" y="3108365"/>
            <a:ext cx="4196358" cy="2032754"/>
          </a:xfrm>
          <a:prstGeom prst="roundRect">
            <a:avLst>
              <a:gd name="adj" fmla="val 1674"/>
            </a:avLst>
          </a:prstGeom>
          <a:solidFill>
            <a:srgbClr val="E0E0EC"/>
          </a:solidFill>
          <a:ln/>
        </p:spPr>
      </p:sp>
      <p:sp>
        <p:nvSpPr>
          <p:cNvPr id="11" name="Text 9"/>
          <p:cNvSpPr/>
          <p:nvPr/>
        </p:nvSpPr>
        <p:spPr>
          <a:xfrm>
            <a:off x="9866948" y="333517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9393C"/>
                </a:solidFill>
                <a:latin typeface="Playfair Display Bold" pitchFamily="34" charset="0"/>
                <a:ea typeface="Playfair Display Bold" pitchFamily="34" charset="-122"/>
                <a:cs typeface="Playfair Display Bold" pitchFamily="34" charset="-120"/>
              </a:rPr>
              <a:t>Root Cause</a:t>
            </a:r>
            <a:endParaRPr lang="en-US" sz="2200" dirty="0"/>
          </a:p>
        </p:txBody>
      </p:sp>
      <p:sp>
        <p:nvSpPr>
          <p:cNvPr id="12" name="Text 10"/>
          <p:cNvSpPr/>
          <p:nvPr/>
        </p:nvSpPr>
        <p:spPr>
          <a:xfrm>
            <a:off x="9866948" y="3825597"/>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Weak password on admin account + no MFA on VPN.</a:t>
            </a:r>
            <a:endParaRPr lang="en-US" sz="1750" dirty="0"/>
          </a:p>
        </p:txBody>
      </p:sp>
      <p:sp>
        <p:nvSpPr>
          <p:cNvPr id="13" name="Text 11"/>
          <p:cNvSpPr/>
          <p:nvPr/>
        </p:nvSpPr>
        <p:spPr>
          <a:xfrm>
            <a:off x="793790" y="548128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101014"/>
                </a:solidFill>
                <a:latin typeface="Playfair Display Bold" pitchFamily="34" charset="0"/>
                <a:ea typeface="Playfair Display Bold" pitchFamily="34" charset="-122"/>
                <a:cs typeface="Playfair Display Bold" pitchFamily="34" charset="-120"/>
              </a:rPr>
              <a:t>Recommendations</a:t>
            </a:r>
            <a:endParaRPr lang="en-US" sz="2200" dirty="0"/>
          </a:p>
        </p:txBody>
      </p:sp>
      <p:pic>
        <p:nvPicPr>
          <p:cNvPr id="1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00" y="6187083"/>
            <a:ext cx="340162" cy="340162"/>
          </a:xfrm>
          <a:prstGeom prst="rect">
            <a:avLst/>
          </a:prstGeom>
        </p:spPr>
      </p:pic>
      <p:sp>
        <p:nvSpPr>
          <p:cNvPr id="15" name="Text 12"/>
          <p:cNvSpPr/>
          <p:nvPr/>
        </p:nvSpPr>
        <p:spPr>
          <a:xfrm>
            <a:off x="1530906" y="6175772"/>
            <a:ext cx="3421499" cy="362903"/>
          </a:xfrm>
          <a:prstGeom prst="rect">
            <a:avLst/>
          </a:prstGeom>
          <a:noFill/>
          <a:ln/>
        </p:spPr>
        <p:txBody>
          <a:bodyPr wrap="non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Enforce MFA for all VPN users.</a:t>
            </a:r>
            <a:endParaRPr lang="en-US" sz="1750" dirty="0"/>
          </a:p>
        </p:txBody>
      </p:sp>
      <p:pic>
        <p:nvPicPr>
          <p:cNvPr id="1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20903" y="6187083"/>
            <a:ext cx="340162" cy="340162"/>
          </a:xfrm>
          <a:prstGeom prst="rect">
            <a:avLst/>
          </a:prstGeom>
        </p:spPr>
      </p:pic>
      <p:sp>
        <p:nvSpPr>
          <p:cNvPr id="17" name="Text 13"/>
          <p:cNvSpPr/>
          <p:nvPr/>
        </p:nvSpPr>
        <p:spPr>
          <a:xfrm>
            <a:off x="5973008" y="6175772"/>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Block external IPs from accessing internal DB servers.</a:t>
            </a:r>
            <a:endParaRPr lang="en-US" sz="1750" dirty="0"/>
          </a:p>
        </p:txBody>
      </p:sp>
      <p:pic>
        <p:nvPicPr>
          <p:cNvPr id="18"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63006" y="6187083"/>
            <a:ext cx="340162" cy="340162"/>
          </a:xfrm>
          <a:prstGeom prst="rect">
            <a:avLst/>
          </a:prstGeom>
        </p:spPr>
      </p:pic>
      <p:sp>
        <p:nvSpPr>
          <p:cNvPr id="19" name="Text 14"/>
          <p:cNvSpPr/>
          <p:nvPr/>
        </p:nvSpPr>
        <p:spPr>
          <a:xfrm>
            <a:off x="10415111" y="6175772"/>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39393C"/>
                </a:solidFill>
                <a:latin typeface="Open Sans" pitchFamily="34" charset="0"/>
                <a:ea typeface="Open Sans" pitchFamily="34" charset="-122"/>
                <a:cs typeface="Open Sans" pitchFamily="34" charset="-120"/>
              </a:rPr>
              <a:t>Deploy EDR to monitor PowerShell activity.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50796"/>
            <a:ext cx="7679531" cy="637937"/>
          </a:xfrm>
          <a:prstGeom prst="rect">
            <a:avLst/>
          </a:prstGeom>
          <a:noFill/>
          <a:ln/>
        </p:spPr>
        <p:txBody>
          <a:bodyPr wrap="none" lIns="0" tIns="0" rIns="0" bIns="0" rtlCol="0" anchor="t"/>
          <a:lstStyle/>
          <a:p>
            <a:pPr marL="0" indent="0" algn="l">
              <a:lnSpc>
                <a:spcPts val="5000"/>
              </a:lnSpc>
              <a:buNone/>
            </a:pPr>
            <a:r>
              <a:rPr lang="en-US" sz="4000" b="1" dirty="0">
                <a:solidFill>
                  <a:srgbClr val="101014"/>
                </a:solidFill>
                <a:latin typeface="Playfair Display Bold" pitchFamily="34" charset="0"/>
                <a:ea typeface="Playfair Display Bold" pitchFamily="34" charset="-122"/>
                <a:cs typeface="Playfair Display Bold" pitchFamily="34" charset="-120"/>
              </a:rPr>
              <a:t>SIEM Dashboard (Post-Incident)</a:t>
            </a:r>
            <a:endParaRPr lang="en-US" sz="4000" dirty="0"/>
          </a:p>
        </p:txBody>
      </p:sp>
      <p:sp>
        <p:nvSpPr>
          <p:cNvPr id="3" name="Shape 1"/>
          <p:cNvSpPr/>
          <p:nvPr/>
        </p:nvSpPr>
        <p:spPr>
          <a:xfrm>
            <a:off x="793790" y="1656159"/>
            <a:ext cx="13042821" cy="4381500"/>
          </a:xfrm>
          <a:prstGeom prst="roundRect">
            <a:avLst>
              <a:gd name="adj" fmla="val 699"/>
            </a:avLst>
          </a:prstGeom>
          <a:noFill/>
          <a:ln w="7620">
            <a:solidFill>
              <a:srgbClr val="000000">
                <a:alpha val="8000"/>
              </a:srgbClr>
            </a:solidFill>
            <a:prstDash val="solid"/>
          </a:ln>
        </p:spPr>
      </p:sp>
      <p:sp>
        <p:nvSpPr>
          <p:cNvPr id="4" name="Shape 2"/>
          <p:cNvSpPr/>
          <p:nvPr/>
        </p:nvSpPr>
        <p:spPr>
          <a:xfrm>
            <a:off x="801410" y="1663779"/>
            <a:ext cx="13027581" cy="545783"/>
          </a:xfrm>
          <a:prstGeom prst="rect">
            <a:avLst/>
          </a:prstGeom>
          <a:solidFill>
            <a:srgbClr val="FFFFFF">
              <a:alpha val="4000"/>
            </a:srgbClr>
          </a:solidFill>
          <a:ln/>
        </p:spPr>
      </p:sp>
      <p:sp>
        <p:nvSpPr>
          <p:cNvPr id="5" name="Text 3"/>
          <p:cNvSpPr/>
          <p:nvPr/>
        </p:nvSpPr>
        <p:spPr>
          <a:xfrm>
            <a:off x="1005602" y="1781532"/>
            <a:ext cx="4799052" cy="310277"/>
          </a:xfrm>
          <a:prstGeom prst="rect">
            <a:avLst/>
          </a:prstGeom>
          <a:noFill/>
          <a:ln/>
        </p:spPr>
        <p:txBody>
          <a:bodyPr wrap="none" lIns="0" tIns="0" rIns="0" bIns="0" rtlCol="0" anchor="t"/>
          <a:lstStyle/>
          <a:p>
            <a:pPr marL="0" indent="0" algn="l">
              <a:lnSpc>
                <a:spcPts val="2400"/>
              </a:lnSpc>
              <a:buNone/>
            </a:pPr>
            <a:r>
              <a:rPr lang="en-US" sz="1600" b="1" dirty="0">
                <a:solidFill>
                  <a:srgbClr val="39393C"/>
                </a:solidFill>
                <a:latin typeface="Open Sans" pitchFamily="34" charset="0"/>
                <a:ea typeface="Open Sans" pitchFamily="34" charset="-122"/>
                <a:cs typeface="Open Sans" pitchFamily="34" charset="-120"/>
              </a:rPr>
              <a:t>Metric</a:t>
            </a:r>
            <a:endParaRPr lang="en-US" sz="1600" dirty="0"/>
          </a:p>
        </p:txBody>
      </p:sp>
      <p:sp>
        <p:nvSpPr>
          <p:cNvPr id="6" name="Text 4"/>
          <p:cNvSpPr/>
          <p:nvPr/>
        </p:nvSpPr>
        <p:spPr>
          <a:xfrm>
            <a:off x="6220420" y="1781532"/>
            <a:ext cx="7404497" cy="310277"/>
          </a:xfrm>
          <a:prstGeom prst="rect">
            <a:avLst/>
          </a:prstGeom>
          <a:noFill/>
          <a:ln/>
        </p:spPr>
        <p:txBody>
          <a:bodyPr wrap="none" lIns="0" tIns="0" rIns="0" bIns="0" rtlCol="0" anchor="t"/>
          <a:lstStyle/>
          <a:p>
            <a:pPr marL="0" indent="0" algn="l">
              <a:lnSpc>
                <a:spcPts val="2400"/>
              </a:lnSpc>
              <a:buNone/>
            </a:pPr>
            <a:r>
              <a:rPr lang="en-US" sz="1600" b="1" dirty="0">
                <a:solidFill>
                  <a:srgbClr val="39393C"/>
                </a:solidFill>
                <a:latin typeface="Open Sans" pitchFamily="34" charset="0"/>
                <a:ea typeface="Open Sans" pitchFamily="34" charset="-122"/>
                <a:cs typeface="Open Sans" pitchFamily="34" charset="-120"/>
              </a:rPr>
              <a:t>Value</a:t>
            </a:r>
            <a:endParaRPr lang="en-US" sz="1600" dirty="0"/>
          </a:p>
        </p:txBody>
      </p:sp>
      <p:sp>
        <p:nvSpPr>
          <p:cNvPr id="7" name="Shape 5"/>
          <p:cNvSpPr/>
          <p:nvPr/>
        </p:nvSpPr>
        <p:spPr>
          <a:xfrm>
            <a:off x="801410" y="2209562"/>
            <a:ext cx="13027581" cy="545783"/>
          </a:xfrm>
          <a:prstGeom prst="rect">
            <a:avLst/>
          </a:prstGeom>
          <a:solidFill>
            <a:srgbClr val="000000">
              <a:alpha val="4000"/>
            </a:srgbClr>
          </a:solidFill>
          <a:ln/>
        </p:spPr>
      </p:sp>
      <p:sp>
        <p:nvSpPr>
          <p:cNvPr id="8" name="Text 6"/>
          <p:cNvSpPr/>
          <p:nvPr/>
        </p:nvSpPr>
        <p:spPr>
          <a:xfrm>
            <a:off x="1005602" y="2327315"/>
            <a:ext cx="4799052"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Total Alerts</a:t>
            </a:r>
            <a:endParaRPr lang="en-US" sz="1600" dirty="0"/>
          </a:p>
        </p:txBody>
      </p:sp>
      <p:sp>
        <p:nvSpPr>
          <p:cNvPr id="9" name="Text 7"/>
          <p:cNvSpPr/>
          <p:nvPr/>
        </p:nvSpPr>
        <p:spPr>
          <a:xfrm>
            <a:off x="6220420" y="2327315"/>
            <a:ext cx="7404497"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12</a:t>
            </a:r>
            <a:endParaRPr lang="en-US" sz="1600" dirty="0"/>
          </a:p>
        </p:txBody>
      </p:sp>
      <p:sp>
        <p:nvSpPr>
          <p:cNvPr id="10" name="Shape 8"/>
          <p:cNvSpPr/>
          <p:nvPr/>
        </p:nvSpPr>
        <p:spPr>
          <a:xfrm>
            <a:off x="801410" y="2755344"/>
            <a:ext cx="13027581" cy="545783"/>
          </a:xfrm>
          <a:prstGeom prst="rect">
            <a:avLst/>
          </a:prstGeom>
          <a:solidFill>
            <a:srgbClr val="FFFFFF">
              <a:alpha val="4000"/>
            </a:srgbClr>
          </a:solidFill>
          <a:ln/>
        </p:spPr>
      </p:sp>
      <p:sp>
        <p:nvSpPr>
          <p:cNvPr id="11" name="Text 9"/>
          <p:cNvSpPr/>
          <p:nvPr/>
        </p:nvSpPr>
        <p:spPr>
          <a:xfrm>
            <a:off x="1005602" y="2873097"/>
            <a:ext cx="4799052"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Critical Alerts</a:t>
            </a:r>
            <a:endParaRPr lang="en-US" sz="1600" dirty="0"/>
          </a:p>
        </p:txBody>
      </p:sp>
      <p:sp>
        <p:nvSpPr>
          <p:cNvPr id="12" name="Text 10"/>
          <p:cNvSpPr/>
          <p:nvPr/>
        </p:nvSpPr>
        <p:spPr>
          <a:xfrm>
            <a:off x="6220420" y="2873097"/>
            <a:ext cx="7404497"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3</a:t>
            </a:r>
            <a:endParaRPr lang="en-US" sz="1600" dirty="0"/>
          </a:p>
        </p:txBody>
      </p:sp>
      <p:sp>
        <p:nvSpPr>
          <p:cNvPr id="13" name="Shape 11"/>
          <p:cNvSpPr/>
          <p:nvPr/>
        </p:nvSpPr>
        <p:spPr>
          <a:xfrm>
            <a:off x="801410" y="3301127"/>
            <a:ext cx="13027581" cy="545783"/>
          </a:xfrm>
          <a:prstGeom prst="rect">
            <a:avLst/>
          </a:prstGeom>
          <a:solidFill>
            <a:srgbClr val="000000">
              <a:alpha val="4000"/>
            </a:srgbClr>
          </a:solidFill>
          <a:ln/>
        </p:spPr>
      </p:sp>
      <p:sp>
        <p:nvSpPr>
          <p:cNvPr id="14" name="Text 12"/>
          <p:cNvSpPr/>
          <p:nvPr/>
        </p:nvSpPr>
        <p:spPr>
          <a:xfrm>
            <a:off x="1005602" y="3418880"/>
            <a:ext cx="4799052"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Time to Detect</a:t>
            </a:r>
            <a:endParaRPr lang="en-US" sz="1600" dirty="0"/>
          </a:p>
        </p:txBody>
      </p:sp>
      <p:sp>
        <p:nvSpPr>
          <p:cNvPr id="15" name="Text 13"/>
          <p:cNvSpPr/>
          <p:nvPr/>
        </p:nvSpPr>
        <p:spPr>
          <a:xfrm>
            <a:off x="6220420" y="3418880"/>
            <a:ext cx="7404497"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8 minutes</a:t>
            </a:r>
            <a:endParaRPr lang="en-US" sz="1600" dirty="0"/>
          </a:p>
        </p:txBody>
      </p:sp>
      <p:sp>
        <p:nvSpPr>
          <p:cNvPr id="16" name="Shape 14"/>
          <p:cNvSpPr/>
          <p:nvPr/>
        </p:nvSpPr>
        <p:spPr>
          <a:xfrm>
            <a:off x="801410" y="3846909"/>
            <a:ext cx="13027581" cy="545783"/>
          </a:xfrm>
          <a:prstGeom prst="rect">
            <a:avLst/>
          </a:prstGeom>
          <a:solidFill>
            <a:srgbClr val="FFFFFF">
              <a:alpha val="4000"/>
            </a:srgbClr>
          </a:solidFill>
          <a:ln/>
        </p:spPr>
      </p:sp>
      <p:sp>
        <p:nvSpPr>
          <p:cNvPr id="17" name="Text 15"/>
          <p:cNvSpPr/>
          <p:nvPr/>
        </p:nvSpPr>
        <p:spPr>
          <a:xfrm>
            <a:off x="1005602" y="3964662"/>
            <a:ext cx="4799052"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Time to Contain</a:t>
            </a:r>
            <a:endParaRPr lang="en-US" sz="1600" dirty="0"/>
          </a:p>
        </p:txBody>
      </p:sp>
      <p:sp>
        <p:nvSpPr>
          <p:cNvPr id="18" name="Text 16"/>
          <p:cNvSpPr/>
          <p:nvPr/>
        </p:nvSpPr>
        <p:spPr>
          <a:xfrm>
            <a:off x="6220420" y="3964662"/>
            <a:ext cx="7404497"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1 hour 7 minutes</a:t>
            </a:r>
            <a:endParaRPr lang="en-US" sz="1600" dirty="0"/>
          </a:p>
        </p:txBody>
      </p:sp>
      <p:sp>
        <p:nvSpPr>
          <p:cNvPr id="19" name="Shape 17"/>
          <p:cNvSpPr/>
          <p:nvPr/>
        </p:nvSpPr>
        <p:spPr>
          <a:xfrm>
            <a:off x="801410" y="4392692"/>
            <a:ext cx="13027581" cy="545783"/>
          </a:xfrm>
          <a:prstGeom prst="rect">
            <a:avLst/>
          </a:prstGeom>
          <a:solidFill>
            <a:srgbClr val="000000">
              <a:alpha val="4000"/>
            </a:srgbClr>
          </a:solidFill>
          <a:ln/>
        </p:spPr>
      </p:sp>
      <p:sp>
        <p:nvSpPr>
          <p:cNvPr id="20" name="Text 18"/>
          <p:cNvSpPr/>
          <p:nvPr/>
        </p:nvSpPr>
        <p:spPr>
          <a:xfrm>
            <a:off x="1005602" y="4510445"/>
            <a:ext cx="4799052"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Affected Systems</a:t>
            </a:r>
            <a:endParaRPr lang="en-US" sz="1600" dirty="0"/>
          </a:p>
        </p:txBody>
      </p:sp>
      <p:sp>
        <p:nvSpPr>
          <p:cNvPr id="21" name="Text 19"/>
          <p:cNvSpPr/>
          <p:nvPr/>
        </p:nvSpPr>
        <p:spPr>
          <a:xfrm>
            <a:off x="6220420" y="4510445"/>
            <a:ext cx="7404497"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2 (ADMIN-PC-01, DB Server)</a:t>
            </a:r>
            <a:endParaRPr lang="en-US" sz="1600" dirty="0"/>
          </a:p>
        </p:txBody>
      </p:sp>
      <p:sp>
        <p:nvSpPr>
          <p:cNvPr id="22" name="Shape 20"/>
          <p:cNvSpPr/>
          <p:nvPr/>
        </p:nvSpPr>
        <p:spPr>
          <a:xfrm>
            <a:off x="801410" y="4938474"/>
            <a:ext cx="13027581" cy="545783"/>
          </a:xfrm>
          <a:prstGeom prst="rect">
            <a:avLst/>
          </a:prstGeom>
          <a:solidFill>
            <a:srgbClr val="FFFFFF">
              <a:alpha val="4000"/>
            </a:srgbClr>
          </a:solidFill>
          <a:ln/>
        </p:spPr>
      </p:sp>
      <p:sp>
        <p:nvSpPr>
          <p:cNvPr id="23" name="Text 21"/>
          <p:cNvSpPr/>
          <p:nvPr/>
        </p:nvSpPr>
        <p:spPr>
          <a:xfrm>
            <a:off x="1005602" y="5056227"/>
            <a:ext cx="4799052"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Data Exfiltrated</a:t>
            </a:r>
            <a:endParaRPr lang="en-US" sz="1600" dirty="0"/>
          </a:p>
        </p:txBody>
      </p:sp>
      <p:sp>
        <p:nvSpPr>
          <p:cNvPr id="24" name="Text 22"/>
          <p:cNvSpPr/>
          <p:nvPr/>
        </p:nvSpPr>
        <p:spPr>
          <a:xfrm>
            <a:off x="6220420" y="5056227"/>
            <a:ext cx="7404497"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2.5 GB</a:t>
            </a:r>
            <a:endParaRPr lang="en-US" sz="1600" dirty="0"/>
          </a:p>
        </p:txBody>
      </p:sp>
      <p:sp>
        <p:nvSpPr>
          <p:cNvPr id="25" name="Shape 23"/>
          <p:cNvSpPr/>
          <p:nvPr/>
        </p:nvSpPr>
        <p:spPr>
          <a:xfrm>
            <a:off x="801410" y="5484257"/>
            <a:ext cx="13027581" cy="545783"/>
          </a:xfrm>
          <a:prstGeom prst="rect">
            <a:avLst/>
          </a:prstGeom>
          <a:solidFill>
            <a:srgbClr val="000000">
              <a:alpha val="4000"/>
            </a:srgbClr>
          </a:solidFill>
          <a:ln/>
        </p:spPr>
      </p:sp>
      <p:sp>
        <p:nvSpPr>
          <p:cNvPr id="26" name="Text 24"/>
          <p:cNvSpPr/>
          <p:nvPr/>
        </p:nvSpPr>
        <p:spPr>
          <a:xfrm>
            <a:off x="1005602" y="5602010"/>
            <a:ext cx="4799052"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Attacker IP</a:t>
            </a:r>
            <a:endParaRPr lang="en-US" sz="1600" dirty="0"/>
          </a:p>
        </p:txBody>
      </p:sp>
      <p:sp>
        <p:nvSpPr>
          <p:cNvPr id="27" name="Text 25"/>
          <p:cNvSpPr/>
          <p:nvPr/>
        </p:nvSpPr>
        <p:spPr>
          <a:xfrm>
            <a:off x="6220420" y="5602010"/>
            <a:ext cx="7404497" cy="310277"/>
          </a:xfrm>
          <a:prstGeom prst="rect">
            <a:avLst/>
          </a:prstGeom>
          <a:noFill/>
          <a:ln/>
        </p:spPr>
        <p:txBody>
          <a:bodyPr wrap="none" lIns="0" tIns="0" rIns="0" bIns="0" rtlCol="0" anchor="t"/>
          <a:lstStyle/>
          <a:p>
            <a:pPr marL="0" indent="0" algn="l">
              <a:lnSpc>
                <a:spcPts val="2400"/>
              </a:lnSpc>
              <a:buNone/>
            </a:pPr>
            <a:r>
              <a:rPr lang="en-US" sz="1600" dirty="0">
                <a:solidFill>
                  <a:srgbClr val="39393C"/>
                </a:solidFill>
                <a:latin typeface="Open Sans" pitchFamily="34" charset="0"/>
                <a:ea typeface="Open Sans" pitchFamily="34" charset="-122"/>
                <a:cs typeface="Open Sans" pitchFamily="34" charset="-120"/>
              </a:rPr>
              <a:t>185.143.222.10 (APT29)</a:t>
            </a:r>
            <a:endParaRPr lang="en-US" sz="1600" dirty="0"/>
          </a:p>
        </p:txBody>
      </p:sp>
      <p:sp>
        <p:nvSpPr>
          <p:cNvPr id="28" name="Text 26"/>
          <p:cNvSpPr/>
          <p:nvPr/>
        </p:nvSpPr>
        <p:spPr>
          <a:xfrm>
            <a:off x="948214" y="6346388"/>
            <a:ext cx="2779633" cy="673656"/>
          </a:xfrm>
          <a:prstGeom prst="rect">
            <a:avLst/>
          </a:prstGeom>
          <a:noFill/>
          <a:ln/>
        </p:spPr>
        <p:txBody>
          <a:bodyPr wrap="none" lIns="0" tIns="0" rIns="0" bIns="0" rtlCol="0" anchor="t"/>
          <a:lstStyle/>
          <a:p>
            <a:pPr marL="0" indent="0" algn="ctr">
              <a:lnSpc>
                <a:spcPts val="5300"/>
              </a:lnSpc>
              <a:buNone/>
            </a:pPr>
            <a:r>
              <a:rPr lang="en-US" sz="5300" b="1" dirty="0">
                <a:solidFill>
                  <a:srgbClr val="39393C"/>
                </a:solidFill>
                <a:latin typeface="Playfair Display Bold" pitchFamily="34" charset="0"/>
                <a:ea typeface="Playfair Display Bold" pitchFamily="34" charset="-122"/>
                <a:cs typeface="Playfair Display Bold" pitchFamily="34" charset="-120"/>
              </a:rPr>
              <a:t>8min</a:t>
            </a:r>
            <a:endParaRPr lang="en-US" sz="5300" dirty="0"/>
          </a:p>
        </p:txBody>
      </p:sp>
      <p:sp>
        <p:nvSpPr>
          <p:cNvPr id="29" name="Text 27"/>
          <p:cNvSpPr/>
          <p:nvPr/>
        </p:nvSpPr>
        <p:spPr>
          <a:xfrm>
            <a:off x="1062157" y="7259836"/>
            <a:ext cx="2551748" cy="318849"/>
          </a:xfrm>
          <a:prstGeom prst="rect">
            <a:avLst/>
          </a:prstGeom>
          <a:noFill/>
          <a:ln/>
        </p:spPr>
        <p:txBody>
          <a:bodyPr wrap="none" lIns="0" tIns="0" rIns="0" bIns="0" rtlCol="0" anchor="t"/>
          <a:lstStyle/>
          <a:p>
            <a:pPr marL="0" indent="0" algn="ctr">
              <a:lnSpc>
                <a:spcPts val="2500"/>
              </a:lnSpc>
              <a:buNone/>
            </a:pPr>
            <a:r>
              <a:rPr lang="en-US" sz="2000" b="1" dirty="0">
                <a:solidFill>
                  <a:srgbClr val="39393C"/>
                </a:solidFill>
                <a:latin typeface="Playfair Display Bold" pitchFamily="34" charset="0"/>
                <a:ea typeface="Playfair Display Bold" pitchFamily="34" charset="-122"/>
                <a:cs typeface="Playfair Display Bold" pitchFamily="34" charset="-120"/>
              </a:rPr>
              <a:t>Time to Detect</a:t>
            </a:r>
            <a:endParaRPr lang="en-US" sz="2000" dirty="0"/>
          </a:p>
        </p:txBody>
      </p:sp>
      <p:sp>
        <p:nvSpPr>
          <p:cNvPr id="30" name="Text 28"/>
          <p:cNvSpPr/>
          <p:nvPr/>
        </p:nvSpPr>
        <p:spPr>
          <a:xfrm>
            <a:off x="4266248" y="6346388"/>
            <a:ext cx="2779633" cy="673656"/>
          </a:xfrm>
          <a:prstGeom prst="rect">
            <a:avLst/>
          </a:prstGeom>
          <a:noFill/>
          <a:ln/>
        </p:spPr>
        <p:txBody>
          <a:bodyPr wrap="none" lIns="0" tIns="0" rIns="0" bIns="0" rtlCol="0" anchor="t"/>
          <a:lstStyle/>
          <a:p>
            <a:pPr marL="0" indent="0" algn="ctr">
              <a:lnSpc>
                <a:spcPts val="5300"/>
              </a:lnSpc>
              <a:buNone/>
            </a:pPr>
            <a:r>
              <a:rPr lang="en-US" sz="5300" b="1" dirty="0">
                <a:solidFill>
                  <a:srgbClr val="39393C"/>
                </a:solidFill>
                <a:latin typeface="Playfair Display Bold" pitchFamily="34" charset="0"/>
                <a:ea typeface="Playfair Display Bold" pitchFamily="34" charset="-122"/>
                <a:cs typeface="Playfair Display Bold" pitchFamily="34" charset="-120"/>
              </a:rPr>
              <a:t>3</a:t>
            </a:r>
            <a:endParaRPr lang="en-US" sz="5300" dirty="0"/>
          </a:p>
        </p:txBody>
      </p:sp>
      <p:sp>
        <p:nvSpPr>
          <p:cNvPr id="31" name="Text 29"/>
          <p:cNvSpPr/>
          <p:nvPr/>
        </p:nvSpPr>
        <p:spPr>
          <a:xfrm>
            <a:off x="4380190" y="7259836"/>
            <a:ext cx="2551748" cy="318849"/>
          </a:xfrm>
          <a:prstGeom prst="rect">
            <a:avLst/>
          </a:prstGeom>
          <a:noFill/>
          <a:ln/>
        </p:spPr>
        <p:txBody>
          <a:bodyPr wrap="none" lIns="0" tIns="0" rIns="0" bIns="0" rtlCol="0" anchor="t"/>
          <a:lstStyle/>
          <a:p>
            <a:pPr marL="0" indent="0" algn="ctr">
              <a:lnSpc>
                <a:spcPts val="2500"/>
              </a:lnSpc>
              <a:buNone/>
            </a:pPr>
            <a:r>
              <a:rPr lang="en-US" sz="2000" b="1" dirty="0">
                <a:solidFill>
                  <a:srgbClr val="39393C"/>
                </a:solidFill>
                <a:latin typeface="Playfair Display Bold" pitchFamily="34" charset="0"/>
                <a:ea typeface="Playfair Display Bold" pitchFamily="34" charset="-122"/>
                <a:cs typeface="Playfair Display Bold" pitchFamily="34" charset="-120"/>
              </a:rPr>
              <a:t>Critical Alerts</a:t>
            </a:r>
            <a:endParaRPr lang="en-US" sz="2000" dirty="0"/>
          </a:p>
        </p:txBody>
      </p:sp>
      <p:sp>
        <p:nvSpPr>
          <p:cNvPr id="32" name="Text 30"/>
          <p:cNvSpPr/>
          <p:nvPr/>
        </p:nvSpPr>
        <p:spPr>
          <a:xfrm>
            <a:off x="7584400" y="6346388"/>
            <a:ext cx="2779633" cy="673656"/>
          </a:xfrm>
          <a:prstGeom prst="rect">
            <a:avLst/>
          </a:prstGeom>
          <a:noFill/>
          <a:ln/>
        </p:spPr>
        <p:txBody>
          <a:bodyPr wrap="none" lIns="0" tIns="0" rIns="0" bIns="0" rtlCol="0" anchor="t"/>
          <a:lstStyle/>
          <a:p>
            <a:pPr marL="0" indent="0" algn="ctr">
              <a:lnSpc>
                <a:spcPts val="5300"/>
              </a:lnSpc>
              <a:buNone/>
            </a:pPr>
            <a:r>
              <a:rPr lang="en-US" sz="5300" b="1" dirty="0">
                <a:solidFill>
                  <a:srgbClr val="39393C"/>
                </a:solidFill>
                <a:latin typeface="Playfair Display Bold" pitchFamily="34" charset="0"/>
                <a:ea typeface="Playfair Display Bold" pitchFamily="34" charset="-122"/>
                <a:cs typeface="Playfair Display Bold" pitchFamily="34" charset="-120"/>
              </a:rPr>
              <a:t>2.5GB</a:t>
            </a:r>
            <a:endParaRPr lang="en-US" sz="5300" dirty="0"/>
          </a:p>
        </p:txBody>
      </p:sp>
      <p:sp>
        <p:nvSpPr>
          <p:cNvPr id="33" name="Text 31"/>
          <p:cNvSpPr/>
          <p:nvPr/>
        </p:nvSpPr>
        <p:spPr>
          <a:xfrm>
            <a:off x="7698343" y="7259836"/>
            <a:ext cx="2551748" cy="318849"/>
          </a:xfrm>
          <a:prstGeom prst="rect">
            <a:avLst/>
          </a:prstGeom>
          <a:noFill/>
          <a:ln/>
        </p:spPr>
        <p:txBody>
          <a:bodyPr wrap="none" lIns="0" tIns="0" rIns="0" bIns="0" rtlCol="0" anchor="t"/>
          <a:lstStyle/>
          <a:p>
            <a:pPr marL="0" indent="0" algn="ctr">
              <a:lnSpc>
                <a:spcPts val="2500"/>
              </a:lnSpc>
              <a:buNone/>
            </a:pPr>
            <a:r>
              <a:rPr lang="en-US" sz="2000" b="1" dirty="0">
                <a:solidFill>
                  <a:srgbClr val="39393C"/>
                </a:solidFill>
                <a:latin typeface="Playfair Display Bold" pitchFamily="34" charset="0"/>
                <a:ea typeface="Playfair Display Bold" pitchFamily="34" charset="-122"/>
                <a:cs typeface="Playfair Display Bold" pitchFamily="34" charset="-120"/>
              </a:rPr>
              <a:t>Data Exfiltrated</a:t>
            </a:r>
            <a:endParaRPr lang="en-US" sz="2000" dirty="0"/>
          </a:p>
        </p:txBody>
      </p:sp>
      <p:sp>
        <p:nvSpPr>
          <p:cNvPr id="34" name="Text 32"/>
          <p:cNvSpPr/>
          <p:nvPr/>
        </p:nvSpPr>
        <p:spPr>
          <a:xfrm>
            <a:off x="10902434" y="6346388"/>
            <a:ext cx="2779633" cy="673656"/>
          </a:xfrm>
          <a:prstGeom prst="rect">
            <a:avLst/>
          </a:prstGeom>
          <a:noFill/>
          <a:ln/>
        </p:spPr>
        <p:txBody>
          <a:bodyPr wrap="none" lIns="0" tIns="0" rIns="0" bIns="0" rtlCol="0" anchor="t"/>
          <a:lstStyle/>
          <a:p>
            <a:pPr marL="0" indent="0" algn="ctr">
              <a:lnSpc>
                <a:spcPts val="5300"/>
              </a:lnSpc>
              <a:buNone/>
            </a:pPr>
            <a:r>
              <a:rPr lang="en-US" sz="5300" b="1" dirty="0">
                <a:solidFill>
                  <a:srgbClr val="39393C"/>
                </a:solidFill>
                <a:latin typeface="Playfair Display Bold" pitchFamily="34" charset="0"/>
                <a:ea typeface="Playfair Display Bold" pitchFamily="34" charset="-122"/>
                <a:cs typeface="Playfair Display Bold" pitchFamily="34" charset="-120"/>
              </a:rPr>
              <a:t>12</a:t>
            </a:r>
            <a:endParaRPr lang="en-US" sz="5300" dirty="0"/>
          </a:p>
        </p:txBody>
      </p:sp>
      <p:sp>
        <p:nvSpPr>
          <p:cNvPr id="35" name="Text 33"/>
          <p:cNvSpPr/>
          <p:nvPr/>
        </p:nvSpPr>
        <p:spPr>
          <a:xfrm>
            <a:off x="11016377" y="7259836"/>
            <a:ext cx="2551748" cy="318849"/>
          </a:xfrm>
          <a:prstGeom prst="rect">
            <a:avLst/>
          </a:prstGeom>
          <a:noFill/>
          <a:ln/>
        </p:spPr>
        <p:txBody>
          <a:bodyPr wrap="none" lIns="0" tIns="0" rIns="0" bIns="0" rtlCol="0" anchor="t"/>
          <a:lstStyle/>
          <a:p>
            <a:pPr marL="0" indent="0" algn="ctr">
              <a:lnSpc>
                <a:spcPts val="2500"/>
              </a:lnSpc>
              <a:buNone/>
            </a:pPr>
            <a:r>
              <a:rPr lang="en-US" sz="2000" b="1" dirty="0">
                <a:solidFill>
                  <a:srgbClr val="39393C"/>
                </a:solidFill>
                <a:latin typeface="Playfair Display Bold" pitchFamily="34" charset="0"/>
                <a:ea typeface="Playfair Display Bold" pitchFamily="34" charset="-122"/>
                <a:cs typeface="Playfair Display Bold" pitchFamily="34" charset="-120"/>
              </a:rPr>
              <a:t>Total Alerts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811649"/>
            <a:ext cx="13042821" cy="6606183"/>
          </a:xfrm>
          <a:prstGeom prst="roundRect">
            <a:avLst>
              <a:gd name="adj" fmla="val 412"/>
            </a:avLst>
          </a:prstGeom>
          <a:solidFill>
            <a:srgbClr val="D5D5DD"/>
          </a:solidFill>
          <a:ln/>
        </p:spPr>
      </p:sp>
      <p:pic>
        <p:nvPicPr>
          <p:cNvPr id="3" name="Image 0" descr="preencoded.png"/>
          <p:cNvPicPr>
            <a:picLocks noChangeAspect="1"/>
          </p:cNvPicPr>
          <p:nvPr/>
        </p:nvPicPr>
        <p:blipFill>
          <a:blip r:embed="rId3"/>
          <a:stretch>
            <a:fillRect/>
          </a:stretch>
        </p:blipFill>
        <p:spPr>
          <a:xfrm>
            <a:off x="975241" y="1077754"/>
            <a:ext cx="226814" cy="181451"/>
          </a:xfrm>
          <a:prstGeom prst="rect">
            <a:avLst/>
          </a:prstGeom>
        </p:spPr>
      </p:pic>
      <p:sp>
        <p:nvSpPr>
          <p:cNvPr id="4" name="Text 1"/>
          <p:cNvSpPr/>
          <p:nvPr/>
        </p:nvSpPr>
        <p:spPr>
          <a:xfrm>
            <a:off x="1383506" y="1002149"/>
            <a:ext cx="12271653" cy="261223"/>
          </a:xfrm>
          <a:prstGeom prst="rect">
            <a:avLst/>
          </a:prstGeom>
          <a:noFill/>
          <a:ln/>
        </p:spPr>
        <p:txBody>
          <a:bodyPr wrap="none" lIns="0" tIns="0" rIns="0" bIns="0" rtlCol="0" anchor="t"/>
          <a:lstStyle/>
          <a:p>
            <a:pPr marL="0" indent="0" algn="l">
              <a:lnSpc>
                <a:spcPts val="2050"/>
              </a:lnSpc>
              <a:buNone/>
            </a:pPr>
            <a:r>
              <a:rPr lang="en-US" sz="1400" dirty="0">
                <a:solidFill>
                  <a:srgbClr val="000000"/>
                </a:solidFill>
                <a:latin typeface="Open Sans" pitchFamily="34" charset="0"/>
                <a:ea typeface="Open Sans" pitchFamily="34" charset="-122"/>
                <a:cs typeface="Open Sans" pitchFamily="34" charset="-120"/>
              </a:rPr>
              <a:t> </a:t>
            </a:r>
            <a:r>
              <a:rPr lang="en-US" sz="1400" b="1" dirty="0">
                <a:solidFill>
                  <a:srgbClr val="000000"/>
                </a:solidFill>
                <a:latin typeface="Open Sans" pitchFamily="34" charset="0"/>
                <a:ea typeface="Open Sans" pitchFamily="34" charset="-122"/>
                <a:cs typeface="Open Sans" pitchFamily="34" charset="-120"/>
              </a:rPr>
              <a:t>Real-World Incident Analysis: 2025 Financial Services Breach</a:t>
            </a:r>
            <a:endParaRPr lang="en-US" sz="1400" dirty="0"/>
          </a:p>
        </p:txBody>
      </p:sp>
      <p:sp>
        <p:nvSpPr>
          <p:cNvPr id="5" name="Text 2"/>
          <p:cNvSpPr/>
          <p:nvPr/>
        </p:nvSpPr>
        <p:spPr>
          <a:xfrm>
            <a:off x="1383506" y="1393984"/>
            <a:ext cx="12271653" cy="783669"/>
          </a:xfrm>
          <a:prstGeom prst="rect">
            <a:avLst/>
          </a:prstGeom>
          <a:noFill/>
          <a:ln/>
        </p:spPr>
        <p:txBody>
          <a:bodyPr wrap="square" lIns="0" tIns="0" rIns="0" bIns="0" rtlCol="0" anchor="t"/>
          <a:lstStyle/>
          <a:p>
            <a:pPr marL="0" indent="0" algn="l">
              <a:lnSpc>
                <a:spcPts val="2050"/>
              </a:lnSpc>
              <a:buNone/>
            </a:pPr>
            <a:r>
              <a:rPr lang="en-US" sz="1400" dirty="0">
                <a:solidFill>
                  <a:srgbClr val="000000"/>
                </a:solidFill>
                <a:latin typeface="Open Sans" pitchFamily="34" charset="0"/>
                <a:ea typeface="Open Sans" pitchFamily="34" charset="-122"/>
                <a:cs typeface="Open Sans" pitchFamily="34" charset="-120"/>
              </a:rPr>
              <a:t>This is not a hypothetical scenario; it represents a critical security event at a mid-sized financial services firm in early 2025. The organization's SIEM integration enabled a detection time of </a:t>
            </a:r>
            <a:r>
              <a:rPr lang="en-US" sz="1400" b="1" dirty="0">
                <a:solidFill>
                  <a:srgbClr val="000000"/>
                </a:solidFill>
                <a:latin typeface="Open Sans" pitchFamily="34" charset="0"/>
                <a:ea typeface="Open Sans" pitchFamily="34" charset="-122"/>
                <a:cs typeface="Open Sans" pitchFamily="34" charset="-120"/>
              </a:rPr>
              <a:t>just 8 minutes</a:t>
            </a:r>
            <a:r>
              <a:rPr lang="en-US" sz="1400" dirty="0">
                <a:solidFill>
                  <a:srgbClr val="000000"/>
                </a:solidFill>
                <a:latin typeface="Open Sans" pitchFamily="34" charset="0"/>
                <a:ea typeface="Open Sans" pitchFamily="34" charset="-122"/>
                <a:cs typeface="Open Sans" pitchFamily="34" charset="-120"/>
              </a:rPr>
              <a:t>, providing the Security Operations Center (SOC) the critical window needed to contain the threat before the deployment of destructive ransomware.</a:t>
            </a:r>
            <a:endParaRPr lang="en-US" sz="1400" dirty="0"/>
          </a:p>
        </p:txBody>
      </p:sp>
      <p:sp>
        <p:nvSpPr>
          <p:cNvPr id="6" name="Shape 3"/>
          <p:cNvSpPr/>
          <p:nvPr/>
        </p:nvSpPr>
        <p:spPr>
          <a:xfrm>
            <a:off x="1383506" y="2431616"/>
            <a:ext cx="12271653" cy="30242"/>
          </a:xfrm>
          <a:prstGeom prst="rect">
            <a:avLst/>
          </a:prstGeom>
          <a:solidFill>
            <a:srgbClr val="39393C">
              <a:alpha val="50000"/>
            </a:srgbClr>
          </a:solidFill>
          <a:ln/>
        </p:spPr>
      </p:sp>
      <p:sp>
        <p:nvSpPr>
          <p:cNvPr id="7" name="Text 4"/>
          <p:cNvSpPr/>
          <p:nvPr/>
        </p:nvSpPr>
        <p:spPr>
          <a:xfrm>
            <a:off x="1383506" y="2625090"/>
            <a:ext cx="12271653" cy="1306116"/>
          </a:xfrm>
          <a:prstGeom prst="rect">
            <a:avLst/>
          </a:prstGeom>
          <a:noFill/>
          <a:ln/>
        </p:spPr>
        <p:txBody>
          <a:bodyPr wrap="square" lIns="0" tIns="0" rIns="0" bIns="0" rtlCol="0" anchor="t"/>
          <a:lstStyle/>
          <a:p>
            <a:pPr marL="0" indent="0" algn="l">
              <a:lnSpc>
                <a:spcPts val="2050"/>
              </a:lnSpc>
              <a:buNone/>
            </a:pPr>
            <a:r>
              <a:rPr lang="en-US" sz="1400" b="1" dirty="0">
                <a:solidFill>
                  <a:srgbClr val="000000"/>
                </a:solidFill>
                <a:latin typeface="Open Sans" pitchFamily="34" charset="0"/>
                <a:ea typeface="Open Sans" pitchFamily="34" charset="-122"/>
                <a:cs typeface="Open Sans" pitchFamily="34" charset="-120"/>
              </a:rPr>
              <a:t>Broader Impact and Lessons Learned</a:t>
            </a:r>
            <a:r>
              <a:rPr lang="en-US" sz="1400" dirty="0">
                <a:solidFill>
                  <a:srgbClr val="000000"/>
                </a:solidFill>
                <a:latin typeface="Open Sans" pitchFamily="34" charset="0"/>
                <a:ea typeface="Open Sans" pitchFamily="34" charset="-122"/>
                <a:cs typeface="Open Sans" pitchFamily="34" charset="-120"/>
              </a:rPr>
              <a:t>Beyond preventing ransomware, the incident highlighted the necessity of automated containment protocols. The firm learned that while detection speed is paramount, the integration between SIEM and endpoint response (EDR) is the ultimate force multiplier. The primary takeaway was the validation of a "zero-trust" architecture, which isolated the compromised DB server, preventing lateral movement into the core banking ledger.</a:t>
            </a:r>
            <a:endParaRPr lang="en-US" sz="1400" dirty="0"/>
          </a:p>
        </p:txBody>
      </p:sp>
      <p:sp>
        <p:nvSpPr>
          <p:cNvPr id="8" name="Text 5"/>
          <p:cNvSpPr/>
          <p:nvPr/>
        </p:nvSpPr>
        <p:spPr>
          <a:xfrm>
            <a:off x="1383506" y="4061817"/>
            <a:ext cx="12271653" cy="783669"/>
          </a:xfrm>
          <a:prstGeom prst="rect">
            <a:avLst/>
          </a:prstGeom>
          <a:noFill/>
          <a:ln/>
        </p:spPr>
        <p:txBody>
          <a:bodyPr wrap="square" lIns="0" tIns="0" rIns="0" bIns="0" rtlCol="0" anchor="t"/>
          <a:lstStyle/>
          <a:p>
            <a:pPr marL="0" indent="0" algn="l">
              <a:lnSpc>
                <a:spcPts val="2050"/>
              </a:lnSpc>
              <a:buNone/>
            </a:pPr>
            <a:r>
              <a:rPr lang="en-US" sz="1400" b="1" dirty="0">
                <a:solidFill>
                  <a:srgbClr val="000000"/>
                </a:solidFill>
                <a:latin typeface="Open Sans" pitchFamily="34" charset="0"/>
                <a:ea typeface="Open Sans" pitchFamily="34" charset="-122"/>
                <a:cs typeface="Open Sans" pitchFamily="34" charset="-120"/>
              </a:rPr>
              <a:t>Why This Matters</a:t>
            </a:r>
            <a:r>
              <a:rPr lang="en-US" sz="1400" dirty="0">
                <a:solidFill>
                  <a:srgbClr val="000000"/>
                </a:solidFill>
                <a:latin typeface="Open Sans" pitchFamily="34" charset="0"/>
                <a:ea typeface="Open Sans" pitchFamily="34" charset="-122"/>
                <a:cs typeface="Open Sans" pitchFamily="34" charset="-120"/>
              </a:rPr>
              <a:t>For modern security teams, this scenario underscores the shift from "prevention-only" mindsets to "assumed-breach" strategies. Detecting APT29-style threat actors at the initial access stage—rather than the encryption stage—remains the industry's most significant hurdle.</a:t>
            </a:r>
            <a:endParaRPr lang="en-US" sz="1400" dirty="0"/>
          </a:p>
        </p:txBody>
      </p:sp>
      <p:sp>
        <p:nvSpPr>
          <p:cNvPr id="9" name="Text 6"/>
          <p:cNvSpPr/>
          <p:nvPr/>
        </p:nvSpPr>
        <p:spPr>
          <a:xfrm>
            <a:off x="1383506" y="4976098"/>
            <a:ext cx="12271653" cy="1044893"/>
          </a:xfrm>
          <a:prstGeom prst="rect">
            <a:avLst/>
          </a:prstGeom>
          <a:noFill/>
          <a:ln/>
        </p:spPr>
        <p:txBody>
          <a:bodyPr wrap="square" lIns="0" tIns="0" rIns="0" bIns="0" rtlCol="0" anchor="t"/>
          <a:lstStyle/>
          <a:p>
            <a:pPr marL="0" indent="0" algn="l">
              <a:lnSpc>
                <a:spcPts val="2050"/>
              </a:lnSpc>
              <a:buNone/>
            </a:pPr>
            <a:r>
              <a:rPr lang="en-US" sz="1400" b="1" dirty="0">
                <a:solidFill>
                  <a:srgbClr val="000000"/>
                </a:solidFill>
                <a:latin typeface="Open Sans" pitchFamily="34" charset="0"/>
                <a:ea typeface="Open Sans" pitchFamily="34" charset="-122"/>
                <a:cs typeface="Open Sans" pitchFamily="34" charset="-120"/>
              </a:rPr>
              <a:t>Operational Outcomes</a:t>
            </a:r>
            <a:r>
              <a:rPr lang="en-US" sz="1400" dirty="0">
                <a:solidFill>
                  <a:srgbClr val="000000"/>
                </a:solidFill>
                <a:latin typeface="Open Sans" pitchFamily="34" charset="0"/>
                <a:ea typeface="Open Sans" pitchFamily="34" charset="-122"/>
                <a:cs typeface="Open Sans" pitchFamily="34" charset="-120"/>
              </a:rPr>
              <a:t>The SIEM's ability to correlate logs across disparate cloud and on-prem assets reduced the "mean time to respond" (MTTR) by 75% compared to the firm's previous quarterly benchmarks. This saved an estimated $4.2M in potential downtime and regulatory fines associated with mandatory data breach reporting.</a:t>
            </a:r>
            <a:endParaRPr lang="en-US" sz="1400" dirty="0"/>
          </a:p>
        </p:txBody>
      </p:sp>
      <p:sp>
        <p:nvSpPr>
          <p:cNvPr id="10" name="Text 7"/>
          <p:cNvSpPr/>
          <p:nvPr/>
        </p:nvSpPr>
        <p:spPr>
          <a:xfrm>
            <a:off x="1383506" y="6151602"/>
            <a:ext cx="12271653" cy="1044893"/>
          </a:xfrm>
          <a:prstGeom prst="rect">
            <a:avLst/>
          </a:prstGeom>
          <a:noFill/>
          <a:ln/>
        </p:spPr>
        <p:txBody>
          <a:bodyPr wrap="square" lIns="0" tIns="0" rIns="0" bIns="0" rtlCol="0" anchor="t"/>
          <a:lstStyle/>
          <a:p>
            <a:pPr marL="0" indent="0" algn="l">
              <a:lnSpc>
                <a:spcPts val="2050"/>
              </a:lnSpc>
              <a:buNone/>
            </a:pPr>
            <a:r>
              <a:rPr lang="en-US" sz="1400" b="1" dirty="0">
                <a:solidFill>
                  <a:srgbClr val="000000"/>
                </a:solidFill>
                <a:latin typeface="Open Sans" pitchFamily="34" charset="0"/>
                <a:ea typeface="Open Sans" pitchFamily="34" charset="-122"/>
                <a:cs typeface="Open Sans" pitchFamily="34" charset="-120"/>
              </a:rPr>
              <a:t>Industry Implications</a:t>
            </a:r>
            <a:r>
              <a:rPr lang="en-US" sz="1400" dirty="0">
                <a:solidFill>
                  <a:srgbClr val="000000"/>
                </a:solidFill>
                <a:latin typeface="Open Sans" pitchFamily="34" charset="0"/>
                <a:ea typeface="Open Sans" pitchFamily="34" charset="-122"/>
                <a:cs typeface="Open Sans" pitchFamily="34" charset="-120"/>
              </a:rPr>
              <a:t>This incident exemplifies the 2025 trend of targeted strikes against mid-sized institutions that lack the massive security budgets of global banks but hold equally valuable customer data. As threat actors refine their "living-off-the-land" techniques, this case serves as a blueprint for how mid-tier organizations can leverage high-fidelity alerting to stay ahead of sophisticated adversaries.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1208</Words>
  <Application>Microsoft Office PowerPoint</Application>
  <PresentationFormat>Custom</PresentationFormat>
  <Paragraphs>130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Open Sans</vt:lpstr>
      <vt:lpstr>Arial</vt:lpstr>
      <vt:lpstr>Playfair Display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2026-03-19T09:35:45Z</dcterms:created>
  <dcterms:modified xsi:type="dcterms:W3CDTF">2026-03-19T09:36:51Z</dcterms:modified>
</cp:coreProperties>
</file>