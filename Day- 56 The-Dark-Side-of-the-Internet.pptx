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41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Dark Side of the Internet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internet has revolutionized communication, education, and business. However, it also has a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dark side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that poses serious threats to individuals, organizations, and society. This document explores the hidden dangers lurking online.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651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Cybercrime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89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Cybercrime is one of the biggest threats on the internet.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36971"/>
            <a:ext cx="13042821" cy="3917156"/>
          </a:xfrm>
          <a:prstGeom prst="roundRect">
            <a:avLst>
              <a:gd name="adj" fmla="val 24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44459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25883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Type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824" y="25883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Description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094911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23861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Hacking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824" y="323861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Unauthorized access to systems and data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374523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388893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Phishing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824" y="388893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Fake emails/websites to steal personal info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39554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45392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Ransomware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45392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Malware that locks files until ransom is paid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04586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18957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Identity Theft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5824" y="518957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Stealing personal data for fraud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69618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224" y="58398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Fraud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824" y="58398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Online banking scams and credit card theft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93790" y="6609278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D4D5DE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953369"/>
            <a:ext cx="283488" cy="2268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530906" y="6892766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💡 </a:t>
            </a: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Fact: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Cybercrime is expected to cost the world </a:t>
            </a: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$10.5 trillion annually by 2025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(Cybersecurity Ventures).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087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The Dark Web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577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Dark Web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hidden part of the internet that requires special software (like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Tor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to access.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723680"/>
            <a:ext cx="525315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happens on the Dark Web?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489133"/>
            <a:ext cx="75564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Illegal marketplaces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Sale of stolen data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Weapons and drug trafficking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❌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Hiring of illegal services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But also used by journalists and activists for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privacy protection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61699"/>
            <a:ext cx="101024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3. Cyberbullying &amp; Online Harassment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14713"/>
            <a:ext cx="8284131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43% of internet users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have experienced online harassment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Platforms like social media are common places for: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Trolling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Hate speech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Threats and intimidation</a:t>
            </a:r>
            <a:endParaRPr lang="en-US" sz="1750" dirty="0"/>
          </a:p>
          <a:p>
            <a:pPr marL="685800" lvl="1" indent="-342900" algn="l">
              <a:lnSpc>
                <a:spcPts val="2850"/>
              </a:lnSpc>
              <a:buSzPct val="100000"/>
              <a:buChar char="◦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Doxxing (exposing personal info)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9475589" y="3210639"/>
            <a:ext cx="4531876" cy="2857262"/>
          </a:xfrm>
          <a:prstGeom prst="roundRect">
            <a:avLst>
              <a:gd name="adj" fmla="val 5716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702403" y="343745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9702403" y="4089559"/>
            <a:ext cx="4078248" cy="1610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Depression and anxiety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isolation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 extreme cases, </a:t>
            </a: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self-harm or suicide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0118"/>
            <a:ext cx="8129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4. Misinformation &amp; Fake News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62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spread of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false information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growing concern.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80579"/>
            <a:ext cx="6407944" cy="2648783"/>
          </a:xfrm>
          <a:prstGeom prst="roundRect">
            <a:avLst>
              <a:gd name="adj" fmla="val 359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224" y="3915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it spreads: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405432"/>
            <a:ext cx="5939076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media algorithms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Bots and fake accounts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Clickbait headlines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 videos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680579"/>
            <a:ext cx="6408063" cy="2648783"/>
          </a:xfrm>
          <a:prstGeom prst="roundRect">
            <a:avLst>
              <a:gd name="adj" fmla="val 3597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62982" y="3915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Consequences: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62982" y="4405432"/>
            <a:ext cx="5939195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Public confusion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Political manipulation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Health misinformation (e.g., during pandemics)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Erosion of trust in media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3540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5. Privacy Invasion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458754"/>
            <a:ext cx="3306008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Who is watching you?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93790" y="2169795"/>
            <a:ext cx="6419017" cy="1287185"/>
          </a:xfrm>
          <a:prstGeom prst="roundRect">
            <a:avLst>
              <a:gd name="adj" fmla="val 1136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169795"/>
            <a:ext cx="121920" cy="12871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1094" y="241565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🏢</a:t>
            </a: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1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Corporations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31094" y="2875002"/>
            <a:ext cx="58358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collect and sell your data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7475" y="2169795"/>
            <a:ext cx="6419136" cy="1287185"/>
          </a:xfrm>
          <a:prstGeom prst="roundRect">
            <a:avLst>
              <a:gd name="adj" fmla="val 1136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995" y="2169795"/>
            <a:ext cx="121920" cy="12871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54779" y="241565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🏛️</a:t>
            </a: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1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Governments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7754779" y="2875002"/>
            <a:ext cx="58359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mass surveillance programs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93790" y="3661648"/>
            <a:ext cx="6419017" cy="1287185"/>
          </a:xfrm>
          <a:prstGeom prst="roundRect">
            <a:avLst>
              <a:gd name="adj" fmla="val 1136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661648"/>
            <a:ext cx="121920" cy="128718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1094" y="390751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🕵️</a:t>
            </a: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1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Hackers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1131094" y="4366855"/>
            <a:ext cx="583584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steal personal information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417475" y="3661648"/>
            <a:ext cx="6419136" cy="1287185"/>
          </a:xfrm>
          <a:prstGeom prst="roundRect">
            <a:avLst>
              <a:gd name="adj" fmla="val 11366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8C9C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995" y="3661648"/>
            <a:ext cx="121920" cy="128718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54779" y="390751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📱</a:t>
            </a:r>
            <a:r>
              <a:rPr lang="en-US" sz="21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</a:t>
            </a:r>
            <a:r>
              <a:rPr lang="en-US" sz="21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Apps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754779" y="4366855"/>
            <a:ext cx="583596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location, contacts, and habits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793790" y="5255895"/>
            <a:ext cx="393192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Common Privacy Threats:</a:t>
            </a:r>
            <a:endParaRPr lang="en-US" sz="2500" dirty="0"/>
          </a:p>
        </p:txBody>
      </p:sp>
      <p:sp>
        <p:nvSpPr>
          <p:cNvPr id="21" name="Text 15"/>
          <p:cNvSpPr/>
          <p:nvPr/>
        </p:nvSpPr>
        <p:spPr>
          <a:xfrm>
            <a:off x="793790" y="5966936"/>
            <a:ext cx="13042821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harvesting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Cookies and trackers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Unauthorized access to cameras/microphones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Social engineering attacks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00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6. Online Addiction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89522"/>
            <a:ext cx="442174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Types of Internet Addiction: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654975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📱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Social media addiction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🎮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Gaming addiction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🛒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Online shopping addiction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📺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Binge-watching/streaming addiction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846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Effects: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280190" y="5450086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Sleep deprivation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Poor academic/work performance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Relationship problems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Mental health issues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8308"/>
            <a:ext cx="9478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 Exploitation of Vulnerable Groups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207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3898582"/>
            <a:ext cx="49810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Children targeted by online predators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56884" y="382071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4000" y="3898582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Human trafficking facilitated through the internet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50608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0906" y="5138738"/>
            <a:ext cx="4971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Exploitation of elderly through scams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456884" y="506087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94000" y="5138738"/>
            <a:ext cx="45942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Recruitment into extremist groups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5706"/>
            <a:ext cx="569606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to Stay Safe Online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891070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15039"/>
            <a:ext cx="6429494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362795"/>
            <a:ext cx="567868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 strong, unique passwords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for each account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06997" y="1891070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7" y="2215039"/>
            <a:ext cx="6429613" cy="22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997" y="2362795"/>
            <a:ext cx="474333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Enable two-factor authentication (2FA)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93790" y="3018353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21963"/>
            <a:ext cx="6429494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3490079"/>
            <a:ext cx="494847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 cautious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of suspicious links and emails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7406997" y="3018353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7" y="3321963"/>
            <a:ext cx="6429613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6997" y="3490079"/>
            <a:ext cx="394394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Keep software updated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regularly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93790" y="414563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428887"/>
            <a:ext cx="6429494" cy="22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4617363"/>
            <a:ext cx="365700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 a VPN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for secure browsing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7406997" y="4145637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06</a:t>
            </a:r>
            <a:endParaRPr lang="en-US" sz="16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7" y="4428887"/>
            <a:ext cx="6429613" cy="228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6997" y="4617363"/>
            <a:ext cx="488418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Limit personal information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shared online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793790" y="527292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07</a:t>
            </a:r>
            <a:endParaRPr lang="en-US" sz="16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535811"/>
            <a:ext cx="6429494" cy="228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5744647"/>
            <a:ext cx="438281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Educate children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about online safety</a:t>
            </a:r>
            <a:endParaRPr lang="en-US" sz="2000" dirty="0"/>
          </a:p>
        </p:txBody>
      </p:sp>
      <p:sp>
        <p:nvSpPr>
          <p:cNvPr id="24" name="Text 15"/>
          <p:cNvSpPr/>
          <p:nvPr/>
        </p:nvSpPr>
        <p:spPr>
          <a:xfrm>
            <a:off x="7406997" y="5272921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08</a:t>
            </a:r>
            <a:endParaRPr lang="en-US" sz="16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7" y="5535811"/>
            <a:ext cx="6429613" cy="228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06997" y="5744647"/>
            <a:ext cx="443769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Report</a:t>
            </a:r>
            <a:r>
              <a:rPr lang="en-US" sz="2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suspicious or harmful content</a:t>
            </a:r>
            <a:endParaRPr lang="en-US" sz="2000" dirty="0"/>
          </a:p>
        </p:txBody>
      </p:sp>
      <p:sp>
        <p:nvSpPr>
          <p:cNvPr id="27" name="Text 17"/>
          <p:cNvSpPr/>
          <p:nvPr/>
        </p:nvSpPr>
        <p:spPr>
          <a:xfrm>
            <a:off x="793790" y="640020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09</a:t>
            </a:r>
            <a:endParaRPr lang="en-US" sz="160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642735"/>
            <a:ext cx="6429494" cy="2286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93790" y="6871930"/>
            <a:ext cx="269450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 antivirus software</a:t>
            </a:r>
            <a:endParaRPr lang="en-US" sz="2000" dirty="0"/>
          </a:p>
        </p:txBody>
      </p:sp>
      <p:sp>
        <p:nvSpPr>
          <p:cNvPr id="30" name="Text 19"/>
          <p:cNvSpPr/>
          <p:nvPr/>
        </p:nvSpPr>
        <p:spPr>
          <a:xfrm>
            <a:off x="7406997" y="6400205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10</a:t>
            </a:r>
            <a:endParaRPr lang="en-US" sz="16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97" y="6642735"/>
            <a:ext cx="6429613" cy="228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06997" y="6871930"/>
            <a:ext cx="368224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Think before you click or share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46867"/>
            <a:ext cx="4466153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📊</a:t>
            </a:r>
            <a:r>
              <a:rPr lang="en-US" sz="3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Statistics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81526" y="1493996"/>
            <a:ext cx="13067348" cy="2651998"/>
          </a:xfrm>
          <a:prstGeom prst="roundRect">
            <a:avLst>
              <a:gd name="adj" fmla="val 282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9146" y="1501616"/>
            <a:ext cx="13052108" cy="4394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7740" y="1593652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Statistic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7604" y="1593652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9146" y="1941076"/>
            <a:ext cx="13052108" cy="4394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7740" y="203311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Cybercrime cost (2025 est.)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7604" y="203311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$10.5 Trillion/year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9146" y="2380536"/>
            <a:ext cx="13052108" cy="4394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67740" y="247257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breaches (2023)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7604" y="247257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2,800+ reported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9146" y="2819995"/>
            <a:ext cx="13052108" cy="4394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" y="291203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People affected by cyberbullying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7604" y="2912031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43% of users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89146" y="3259455"/>
            <a:ext cx="13052108" cy="43946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7740" y="3351490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Daily phishing emails sent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7604" y="3351490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3.4 Billion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9146" y="3698915"/>
            <a:ext cx="13052108" cy="43946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67740" y="3790950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time to detect a breach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7604" y="3790950"/>
            <a:ext cx="61650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197 days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526" y="4304228"/>
            <a:ext cx="13067348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internet is a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powerful tool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but it comes with serious risks. Being </a:t>
            </a:r>
            <a:r>
              <a:rPr lang="en-US" sz="14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aware, educated, and cautious</a:t>
            </a: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the first step toward protecting yourself and others from the dark side of the internet.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9417" y="5131475"/>
            <a:ext cx="12799457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internet is a great place to learn, connect, and grow — but only if we use it responsibly.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81526" y="4973241"/>
            <a:ext cx="22860" cy="571857"/>
          </a:xfrm>
          <a:prstGeom prst="rect">
            <a:avLst/>
          </a:prstGeom>
          <a:solidFill>
            <a:srgbClr val="505468"/>
          </a:solidFill>
          <a:ln/>
        </p:spPr>
      </p:sp>
      <p:sp>
        <p:nvSpPr>
          <p:cNvPr id="25" name="Text 23"/>
          <p:cNvSpPr/>
          <p:nvPr/>
        </p:nvSpPr>
        <p:spPr>
          <a:xfrm>
            <a:off x="781526" y="5756077"/>
            <a:ext cx="3572947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📎</a:t>
            </a:r>
            <a:r>
              <a:rPr lang="en-US" sz="2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References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1526" y="6413659"/>
            <a:ext cx="13067348" cy="116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Cybersecurity Ventures Report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Pew Research Center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FBI Internet Crime Report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Norton Cybersecurity Insights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Custom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Semi Bold</vt:lpstr>
      <vt:lpstr>Instrument Sans Medium</vt:lpstr>
      <vt:lpstr>Instrument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shrishanth battu</cp:lastModifiedBy>
  <cp:revision>2</cp:revision>
  <dcterms:created xsi:type="dcterms:W3CDTF">2026-02-21T05:30:28Z</dcterms:created>
  <dcterms:modified xsi:type="dcterms:W3CDTF">2026-02-21T05:32:36Z</dcterms:modified>
</cp:coreProperties>
</file>