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1393" y="157317"/>
            <a:ext cx="8804787" cy="6341806"/>
          </a:xfrm>
        </p:spPr>
        <p:txBody>
          <a:bodyPr>
            <a:normAutofit fontScale="77500" lnSpcReduction="20000"/>
          </a:bodyPr>
          <a:lstStyle/>
          <a:p>
            <a:pPr marL="0" indent="0">
              <a:buNone/>
            </a:pPr>
            <a:r>
              <a:rPr lang="en-IN" dirty="0">
                <a:latin typeface="Times New Roman" panose="02020603050405020304" pitchFamily="18" charset="0"/>
                <a:cs typeface="Times New Roman" panose="02020603050405020304" pitchFamily="18" charset="0"/>
              </a:rPr>
              <a:t>🧠</a:t>
            </a:r>
            <a:r>
              <a:rPr lang="en-IN" b="1" dirty="0">
                <a:latin typeface="Times New Roman" panose="02020603050405020304" pitchFamily="18" charset="0"/>
                <a:cs typeface="Times New Roman" panose="02020603050405020304" pitchFamily="18" charset="0"/>
              </a:rPr>
              <a:t>How to perform Brute force attack!?</a:t>
            </a:r>
            <a:endParaRPr lang="en-IN" b="1" dirty="0">
              <a:solidFill>
                <a:schemeClr val="tx2"/>
              </a:solidFill>
              <a:latin typeface="Chiller" panose="04020404031007020602" pitchFamily="82"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pPr marL="0" indent="0">
              <a:buNone/>
            </a:pPr>
            <a:r>
              <a:rPr lang="en-IN" b="1" dirty="0">
                <a:latin typeface="Times New Roman" panose="02020603050405020304" pitchFamily="18" charset="0"/>
                <a:cs typeface="Times New Roman" panose="02020603050405020304" pitchFamily="18" charset="0"/>
              </a:rPr>
              <a:t>Step 1: </a:t>
            </a:r>
            <a:r>
              <a:rPr lang="en-IN" dirty="0">
                <a:latin typeface="Times New Roman" panose="02020603050405020304" pitchFamily="18" charset="0"/>
                <a:cs typeface="Times New Roman" panose="02020603050405020304" pitchFamily="18" charset="0"/>
              </a:rPr>
              <a:t>Identify the Target and gather information of the target. </a:t>
            </a:r>
          </a:p>
          <a:p>
            <a:endParaRPr lang="en-IN" dirty="0">
              <a:latin typeface="Times New Roman" panose="02020603050405020304" pitchFamily="18" charset="0"/>
              <a:cs typeface="Times New Roman" panose="02020603050405020304" pitchFamily="18" charset="0"/>
            </a:endParaRPr>
          </a:p>
          <a:p>
            <a:pPr marL="0" indent="0">
              <a:buNone/>
            </a:pPr>
            <a:r>
              <a:rPr lang="en-IN" b="1" dirty="0">
                <a:latin typeface="Times New Roman" panose="02020603050405020304" pitchFamily="18" charset="0"/>
                <a:cs typeface="Times New Roman" panose="02020603050405020304" pitchFamily="18" charset="0"/>
              </a:rPr>
              <a:t>Main categories of information gathering:</a:t>
            </a:r>
          </a:p>
          <a:p>
            <a:pPr marL="0" indent="0">
              <a:buNone/>
            </a:pPr>
            <a:endParaRPr lang="en-IN" b="1"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Passive Recon : </a:t>
            </a:r>
            <a:r>
              <a:rPr lang="en-IN" dirty="0">
                <a:latin typeface="Times New Roman" panose="02020603050405020304" pitchFamily="18" charset="0"/>
                <a:cs typeface="Times New Roman" panose="02020603050405020304" pitchFamily="18" charset="0"/>
              </a:rPr>
              <a:t>No direct interaction with target, used OSINT sources( Google dorks, </a:t>
            </a:r>
            <a:r>
              <a:rPr lang="en-IN" dirty="0" err="1">
                <a:latin typeface="Times New Roman" panose="02020603050405020304" pitchFamily="18" charset="0"/>
                <a:cs typeface="Times New Roman" panose="02020603050405020304" pitchFamily="18" charset="0"/>
              </a:rPr>
              <a:t>Whoislokup</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Socialmedia</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Builtwith</a:t>
            </a:r>
            <a:r>
              <a:rPr lang="en-IN" dirty="0">
                <a:latin typeface="Times New Roman" panose="02020603050405020304" pitchFamily="18" charset="0"/>
                <a:cs typeface="Times New Roman" panose="02020603050405020304" pitchFamily="18" charset="0"/>
              </a:rPr>
              <a:t> etc..)</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Tools used: </a:t>
            </a:r>
          </a:p>
          <a:p>
            <a:r>
              <a:rPr lang="en-IN" dirty="0">
                <a:latin typeface="Times New Roman" panose="02020603050405020304" pitchFamily="18" charset="0"/>
                <a:cs typeface="Times New Roman" panose="02020603050405020304" pitchFamily="18" charset="0"/>
              </a:rPr>
              <a:t>Recon-ng</a:t>
            </a:r>
          </a:p>
          <a:p>
            <a:r>
              <a:rPr lang="en-IN" dirty="0" err="1">
                <a:latin typeface="Times New Roman" panose="02020603050405020304" pitchFamily="18" charset="0"/>
                <a:cs typeface="Times New Roman" panose="02020603050405020304" pitchFamily="18" charset="0"/>
              </a:rPr>
              <a:t>urlscan</a:t>
            </a:r>
            <a:endParaRPr lang="en-IN" dirty="0">
              <a:latin typeface="Times New Roman" panose="02020603050405020304" pitchFamily="18" charset="0"/>
              <a:cs typeface="Times New Roman" panose="02020603050405020304" pitchFamily="18" charset="0"/>
            </a:endParaRPr>
          </a:p>
          <a:p>
            <a:r>
              <a:rPr lang="en-IN" dirty="0" err="1">
                <a:latin typeface="Times New Roman" panose="02020603050405020304" pitchFamily="18" charset="0"/>
                <a:cs typeface="Times New Roman" panose="02020603050405020304" pitchFamily="18" charset="0"/>
              </a:rPr>
              <a:t>virustotal</a:t>
            </a:r>
            <a:endParaRPr lang="en-IN" dirty="0">
              <a:latin typeface="Times New Roman" panose="02020603050405020304" pitchFamily="18" charset="0"/>
              <a:cs typeface="Times New Roman" panose="02020603050405020304" pitchFamily="18" charset="0"/>
            </a:endParaRPr>
          </a:p>
          <a:p>
            <a:r>
              <a:rPr lang="en-IN" dirty="0" err="1">
                <a:latin typeface="Times New Roman" panose="02020603050405020304" pitchFamily="18" charset="0"/>
                <a:cs typeface="Times New Roman" panose="02020603050405020304" pitchFamily="18" charset="0"/>
              </a:rPr>
              <a:t>exiftool</a:t>
            </a:r>
            <a:endParaRPr lang="en-IN" dirty="0">
              <a:latin typeface="Times New Roman" panose="02020603050405020304" pitchFamily="18" charset="0"/>
              <a:cs typeface="Times New Roman" panose="02020603050405020304" pitchFamily="18" charset="0"/>
            </a:endParaRPr>
          </a:p>
          <a:p>
            <a:r>
              <a:rPr lang="en-IN" dirty="0" err="1">
                <a:latin typeface="Times New Roman" panose="02020603050405020304" pitchFamily="18" charset="0"/>
                <a:cs typeface="Times New Roman" panose="02020603050405020304" pitchFamily="18" charset="0"/>
              </a:rPr>
              <a:t>theHarvester</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OSINT Framework 🔍</a:t>
            </a:r>
          </a:p>
          <a:p>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0220" y="176980"/>
            <a:ext cx="8229600" cy="6341807"/>
          </a:xfrm>
        </p:spPr>
        <p:txBody>
          <a:bodyPr>
            <a:normAutofit fontScale="77500" lnSpcReduction="20000"/>
          </a:bodyPr>
          <a:lstStyle/>
          <a:p>
            <a:pPr marL="0" indent="0">
              <a:buNone/>
            </a:pPr>
            <a:r>
              <a:rPr lang="en-IN" dirty="0"/>
              <a:t>⚡</a:t>
            </a:r>
            <a:r>
              <a:rPr lang="en-IN" b="1" dirty="0"/>
              <a:t>Active Recon : </a:t>
            </a:r>
            <a:r>
              <a:rPr lang="en-IN" dirty="0"/>
              <a:t>Direct Probes like ping, scans , queries to target system.</a:t>
            </a:r>
          </a:p>
          <a:p>
            <a:pPr marL="0" indent="0">
              <a:buNone/>
            </a:pPr>
            <a:r>
              <a:rPr lang="en-IN" dirty="0"/>
              <a:t>⚙️</a:t>
            </a:r>
            <a:r>
              <a:rPr lang="en-IN" b="1" dirty="0"/>
              <a:t>Tools:</a:t>
            </a:r>
          </a:p>
          <a:p>
            <a:pPr>
              <a:buFont typeface="Courier New" panose="02070309020205020404" pitchFamily="49" charset="0"/>
              <a:buChar char="o"/>
            </a:pPr>
            <a:r>
              <a:rPr lang="en-IN" dirty="0"/>
              <a:t>Nmap</a:t>
            </a:r>
          </a:p>
          <a:p>
            <a:pPr>
              <a:buFont typeface="Courier New" panose="02070309020205020404" pitchFamily="49" charset="0"/>
              <a:buChar char="o"/>
            </a:pPr>
            <a:r>
              <a:rPr lang="en-IN" dirty="0" err="1"/>
              <a:t>Nikto</a:t>
            </a:r>
            <a:endParaRPr lang="en-IN" dirty="0"/>
          </a:p>
          <a:p>
            <a:pPr>
              <a:buFont typeface="Courier New" panose="02070309020205020404" pitchFamily="49" charset="0"/>
              <a:buChar char="o"/>
            </a:pPr>
            <a:r>
              <a:rPr lang="en-IN" dirty="0" err="1"/>
              <a:t>gobuster</a:t>
            </a:r>
            <a:endParaRPr lang="en-IN" dirty="0"/>
          </a:p>
          <a:p>
            <a:pPr>
              <a:buFont typeface="Courier New" panose="02070309020205020404" pitchFamily="49" charset="0"/>
              <a:buChar char="o"/>
            </a:pPr>
            <a:r>
              <a:rPr lang="en-IN" dirty="0"/>
              <a:t>OpenVAS/Nessus</a:t>
            </a:r>
          </a:p>
          <a:p>
            <a:endParaRPr lang="en-IN" dirty="0"/>
          </a:p>
          <a:p>
            <a:pPr>
              <a:buFont typeface="Wingdings" panose="05000000000000000000" pitchFamily="2" charset="2"/>
              <a:buChar char="Ø"/>
            </a:pPr>
            <a:r>
              <a:rPr lang="en-IN" dirty="0"/>
              <a:t>Common Techniques Host Discovery → ping sweeps, ARP (local), ICMP alternatives</a:t>
            </a:r>
          </a:p>
          <a:p>
            <a:pPr>
              <a:buFont typeface="Wingdings" panose="05000000000000000000" pitchFamily="2" charset="2"/>
              <a:buChar char="Ø"/>
            </a:pPr>
            <a:r>
              <a:rPr lang="en-IN" dirty="0"/>
              <a:t>Port Scanning → TCP SYN, UDP, full connect</a:t>
            </a:r>
          </a:p>
          <a:p>
            <a:pPr>
              <a:buFont typeface="Wingdings" panose="05000000000000000000" pitchFamily="2" charset="2"/>
              <a:buChar char="Ø"/>
            </a:pPr>
            <a:r>
              <a:rPr lang="en-IN" dirty="0"/>
              <a:t>Service Enumeration → banner grabbing, version detection</a:t>
            </a:r>
          </a:p>
          <a:p>
            <a:pPr>
              <a:buFont typeface="Wingdings" panose="05000000000000000000" pitchFamily="2" charset="2"/>
              <a:buChar char="Ø"/>
            </a:pPr>
            <a:r>
              <a:rPr lang="en-IN" dirty="0"/>
              <a:t>Vulnerability Scanning → automated scanners looking for known CVEs</a:t>
            </a:r>
          </a:p>
          <a:p>
            <a:pPr>
              <a:buFont typeface="Wingdings" panose="05000000000000000000" pitchFamily="2" charset="2"/>
              <a:buChar char="Ø"/>
            </a:pPr>
            <a:r>
              <a:rPr lang="en-IN" dirty="0"/>
              <a:t>Web Enumeration → directory brute-forcing, parameter fuzzing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1562" y="216310"/>
            <a:ext cx="8229600" cy="5988511"/>
          </a:xfrm>
        </p:spPr>
        <p:txBody>
          <a:bodyPr>
            <a:normAutofit fontScale="77500" lnSpcReduction="20000"/>
          </a:bodyPr>
          <a:lstStyle/>
          <a:p>
            <a:pPr marL="0" indent="0">
              <a:buNone/>
            </a:pPr>
            <a:r>
              <a:rPr lang="en-US"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Social Engineering :</a:t>
            </a:r>
            <a:r>
              <a:rPr lang="en-US" dirty="0">
                <a:latin typeface="Times New Roman" panose="02020603050405020304" pitchFamily="18" charset="0"/>
                <a:cs typeface="Times New Roman" panose="02020603050405020304" pitchFamily="18" charset="0"/>
              </a:rPr>
              <a:t> Social engineering is a manipulation technique that exploits human psychology to trick people into divulging confidential information, granting access, or performing actions that compromise security. Rather than hacking technology directly, attackers manipulate people often the weakest link in security.</a:t>
            </a:r>
          </a:p>
          <a:p>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Common types: </a:t>
            </a:r>
          </a:p>
          <a:p>
            <a:pPr marL="571500" indent="-571500">
              <a:buFont typeface="+mj-lt"/>
              <a:buAutoNum type="romanUcPeriod"/>
            </a:pPr>
            <a:r>
              <a:rPr lang="en-US" dirty="0">
                <a:latin typeface="Times New Roman" panose="02020603050405020304" pitchFamily="18" charset="0"/>
                <a:cs typeface="Times New Roman" panose="02020603050405020304" pitchFamily="18" charset="0"/>
              </a:rPr>
              <a:t>Phishing: Fraudulent emails/messages pretending to be from trusted sources.</a:t>
            </a:r>
          </a:p>
          <a:p>
            <a:pPr marL="571500" indent="-571500">
              <a:buFont typeface="+mj-lt"/>
              <a:buAutoNum type="romanUcPeriod"/>
            </a:pPr>
            <a:r>
              <a:rPr lang="en-US" dirty="0">
                <a:latin typeface="Times New Roman" panose="02020603050405020304" pitchFamily="18" charset="0"/>
                <a:cs typeface="Times New Roman" panose="02020603050405020304" pitchFamily="18" charset="0"/>
              </a:rPr>
              <a:t>Pretexting : Creating a fabricated scenario to extract information.</a:t>
            </a:r>
          </a:p>
          <a:p>
            <a:pPr marL="571500" indent="-571500">
              <a:buFont typeface="+mj-lt"/>
              <a:buAutoNum type="romanUcPeriod"/>
            </a:pPr>
            <a:r>
              <a:rPr lang="en-US" dirty="0">
                <a:latin typeface="Times New Roman" panose="02020603050405020304" pitchFamily="18" charset="0"/>
                <a:cs typeface="Times New Roman" panose="02020603050405020304" pitchFamily="18" charset="0"/>
              </a:rPr>
              <a:t>Baiting - Offering something enticing (free download, USB drive) that contains malware.</a:t>
            </a:r>
          </a:p>
          <a:p>
            <a:pPr marL="571500" indent="-571500">
              <a:buFont typeface="+mj-lt"/>
              <a:buAutoNum type="romanUcPeriod"/>
            </a:pPr>
            <a:r>
              <a:rPr lang="en-US" dirty="0">
                <a:latin typeface="Times New Roman" panose="02020603050405020304" pitchFamily="18" charset="0"/>
                <a:cs typeface="Times New Roman" panose="02020603050405020304" pitchFamily="18" charset="0"/>
              </a:rPr>
              <a:t>Spear phishing - Targeted attacks using personal information.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0219" y="324465"/>
            <a:ext cx="8229600" cy="5693544"/>
          </a:xfrm>
        </p:spPr>
        <p:txBody>
          <a:bodyPr>
            <a:normAutofit/>
          </a:bodyPr>
          <a:lstStyle/>
          <a:p>
            <a:pPr marL="0" indent="0">
              <a:buNone/>
            </a:pPr>
            <a:r>
              <a:rPr lang="en-US" sz="2500" b="1" dirty="0">
                <a:latin typeface="Times New Roman" panose="02020603050405020304" pitchFamily="18" charset="0"/>
                <a:cs typeface="Times New Roman" panose="02020603050405020304" pitchFamily="18" charset="0"/>
              </a:rPr>
              <a:t>Ex: </a:t>
            </a:r>
          </a:p>
          <a:p>
            <a:pPr marL="0" indent="0">
              <a:buNone/>
            </a:pPr>
            <a:r>
              <a:rPr lang="en-US" sz="2500" dirty="0">
                <a:latin typeface="Times New Roman" panose="02020603050405020304" pitchFamily="18" charset="0"/>
                <a:cs typeface="Times New Roman" panose="02020603050405020304" pitchFamily="18" charset="0"/>
              </a:rPr>
              <a:t>Tech Support Scam,  Fake Job Offer,  LinkedIn Reconnaissance, The Fake Wi-Fi Hotspot etc..</a:t>
            </a:r>
          </a:p>
          <a:p>
            <a:endParaRPr lang="en-US" sz="2500" dirty="0">
              <a:latin typeface="Times New Roman" panose="02020603050405020304" pitchFamily="18" charset="0"/>
              <a:cs typeface="Times New Roman" panose="02020603050405020304" pitchFamily="18" charset="0"/>
            </a:endParaRPr>
          </a:p>
          <a:p>
            <a:pPr marL="0" indent="0">
              <a:buNone/>
            </a:pPr>
            <a:r>
              <a:rPr lang="en-IN" sz="2800" dirty="0"/>
              <a:t>📧</a:t>
            </a:r>
            <a:r>
              <a:rPr lang="en-US" sz="2500" b="1" dirty="0">
                <a:latin typeface="Times New Roman" panose="02020603050405020304" pitchFamily="18" charset="0"/>
                <a:cs typeface="Times New Roman" panose="02020603050405020304" pitchFamily="18" charset="0"/>
              </a:rPr>
              <a:t>Famous Real Cases:</a:t>
            </a:r>
          </a:p>
          <a:p>
            <a:r>
              <a:rPr lang="en-US" sz="2500" dirty="0">
                <a:latin typeface="Times New Roman" panose="02020603050405020304" pitchFamily="18" charset="0"/>
                <a:cs typeface="Times New Roman" panose="02020603050405020304" pitchFamily="18" charset="0"/>
              </a:rPr>
              <a:t>Target breach (2013) - Started with phishing email to HVAC contractor</a:t>
            </a:r>
          </a:p>
          <a:p>
            <a:r>
              <a:rPr lang="en-US" sz="2500" dirty="0">
                <a:latin typeface="Times New Roman" panose="02020603050405020304" pitchFamily="18" charset="0"/>
                <a:cs typeface="Times New Roman" panose="02020603050405020304" pitchFamily="18" charset="0"/>
              </a:rPr>
              <a:t>Twitter hack (2020) - Phone spear-phishing of employees led to celebrity account takeovers</a:t>
            </a:r>
          </a:p>
          <a:p>
            <a:endParaRPr lang="en-US" sz="25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8156" y="285136"/>
            <a:ext cx="8362335" cy="5841028"/>
          </a:xfrm>
        </p:spPr>
        <p:txBody>
          <a:bodyPr>
            <a:normAutofit fontScale="77500" lnSpcReduction="20000"/>
          </a:bodyPr>
          <a:lstStyle/>
          <a:p>
            <a:pPr marL="0" indent="0">
              <a:buNone/>
            </a:pPr>
            <a:r>
              <a:rPr lang="en-IN" b="1" dirty="0"/>
              <a:t>🧍‍♂️</a:t>
            </a:r>
            <a:r>
              <a:rPr lang="en-US" b="1" dirty="0">
                <a:latin typeface="Times New Roman" panose="02020603050405020304" pitchFamily="18" charset="0"/>
                <a:cs typeface="Times New Roman" panose="02020603050405020304" pitchFamily="18" charset="0"/>
              </a:rPr>
              <a:t>Physical Social Engineering:</a:t>
            </a:r>
          </a:p>
          <a:p>
            <a:endParaRPr lang="en-US" b="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1. Piggybacking : Attacker follows authorized person through secure door</a:t>
            </a:r>
          </a:p>
          <a:p>
            <a:pPr marL="0" indent="0">
              <a:buNone/>
            </a:pPr>
            <a:r>
              <a:rPr lang="en-US" dirty="0">
                <a:latin typeface="Times New Roman" panose="02020603050405020304" pitchFamily="18" charset="0"/>
                <a:cs typeface="Times New Roman" panose="02020603050405020304" pitchFamily="18" charset="0"/>
              </a:rPr>
              <a:t>2. Impersonation : Dressing as delivery person, IT tech, Wearing fake uniforms, badges, People rarely question someone who looks official.</a:t>
            </a:r>
          </a:p>
          <a:p>
            <a:pPr marL="0" indent="0">
              <a:buNone/>
            </a:pPr>
            <a:r>
              <a:rPr lang="en-US" dirty="0">
                <a:latin typeface="Times New Roman" panose="02020603050405020304" pitchFamily="18" charset="0"/>
                <a:cs typeface="Times New Roman" panose="02020603050405020304" pitchFamily="18" charset="0"/>
              </a:rPr>
              <a:t>3. Dumpster Diving : Searching trash for documents with passwords, account numbers, employee lists</a:t>
            </a:r>
          </a:p>
          <a:p>
            <a:pPr marL="0" indent="0">
              <a:buNone/>
            </a:pPr>
            <a:r>
              <a:rPr lang="en-US" dirty="0">
                <a:latin typeface="Times New Roman" panose="02020603050405020304" pitchFamily="18" charset="0"/>
                <a:cs typeface="Times New Roman" panose="02020603050405020304" pitchFamily="18" charset="0"/>
              </a:rPr>
              <a:t>4. Shoulder Surfing : Watching someone type passwords or PINs over their shoulder in cafes, airports, ATMs, or offices.</a:t>
            </a:r>
          </a:p>
          <a:p>
            <a:endParaRPr lang="en-US" dirty="0">
              <a:latin typeface="Times New Roman" panose="02020603050405020304" pitchFamily="18" charset="0"/>
              <a:cs typeface="Times New Roman" panose="02020603050405020304" pitchFamily="18" charset="0"/>
            </a:endParaRPr>
          </a:p>
          <a:p>
            <a:pPr marL="0" indent="0">
              <a:buNone/>
            </a:pPr>
            <a:r>
              <a:rPr lang="en-IN" dirty="0"/>
              <a:t>🏢 </a:t>
            </a:r>
            <a:r>
              <a:rPr lang="en-US" b="1" dirty="0">
                <a:latin typeface="Times New Roman" panose="02020603050405020304" pitchFamily="18" charset="0"/>
                <a:cs typeface="Times New Roman" panose="02020603050405020304" pitchFamily="18" charset="0"/>
              </a:rPr>
              <a:t>Real-World Example:</a:t>
            </a:r>
          </a:p>
          <a:p>
            <a:pPr marL="0" indent="0">
              <a:buNone/>
            </a:pPr>
            <a:r>
              <a:rPr lang="en-US" dirty="0">
                <a:latin typeface="Times New Roman" panose="02020603050405020304" pitchFamily="18" charset="0"/>
                <a:cs typeface="Times New Roman" panose="02020603050405020304" pitchFamily="18" charset="0"/>
              </a:rPr>
              <a:t>A penetration tester walked into a bank wearing a suit, carrying a ladder and toolbox. Said here to fix the cameras. Gained full access to server room, no one questioned him.</a:t>
            </a:r>
          </a:p>
          <a:p>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8155" y="285135"/>
            <a:ext cx="8391832" cy="5821364"/>
          </a:xfrm>
        </p:spPr>
        <p:txBody>
          <a:bodyPr>
            <a:noAutofit/>
          </a:bodyPr>
          <a:lstStyle/>
          <a:p>
            <a:pPr marL="0" indent="0">
              <a:buNone/>
            </a:pPr>
            <a:r>
              <a:rPr lang="en-IN" sz="2800" b="1" dirty="0">
                <a:latin typeface="Times New Roman" panose="02020603050405020304" pitchFamily="18" charset="0"/>
                <a:cs typeface="Times New Roman" panose="02020603050405020304" pitchFamily="18" charset="0"/>
              </a:rPr>
              <a:t>Step 2 : </a:t>
            </a:r>
            <a:r>
              <a:rPr lang="en-IN" sz="2500" b="1" dirty="0">
                <a:latin typeface="Times New Roman" panose="02020603050405020304" pitchFamily="18" charset="0"/>
                <a:cs typeface="Times New Roman" panose="02020603050405020304" pitchFamily="18" charset="0"/>
              </a:rPr>
              <a:t>Preparing </a:t>
            </a:r>
            <a:r>
              <a:rPr lang="en-IN" sz="2500" b="1" dirty="0" err="1">
                <a:latin typeface="Times New Roman" panose="02020603050405020304" pitchFamily="18" charset="0"/>
                <a:cs typeface="Times New Roman" panose="02020603050405020304" pitchFamily="18" charset="0"/>
              </a:rPr>
              <a:t>worldlists</a:t>
            </a:r>
            <a:r>
              <a:rPr lang="en-IN" sz="2500" b="1" dirty="0">
                <a:latin typeface="Times New Roman" panose="02020603050405020304" pitchFamily="18" charset="0"/>
                <a:cs typeface="Times New Roman" panose="02020603050405020304" pitchFamily="18" charset="0"/>
              </a:rPr>
              <a:t> </a:t>
            </a:r>
            <a:r>
              <a:rPr lang="en-IN" sz="2500" dirty="0">
                <a:latin typeface="Times New Roman" panose="02020603050405020304" pitchFamily="18" charset="0"/>
                <a:cs typeface="Times New Roman" panose="02020603050405020304" pitchFamily="18" charset="0"/>
              </a:rPr>
              <a:t>is Collections of words, passwords, usernames, or phrases used in password cracking, Brute force attack and also in finding vulnerabilities.</a:t>
            </a:r>
          </a:p>
          <a:p>
            <a:endParaRPr lang="en-IN" sz="2500" dirty="0">
              <a:latin typeface="Times New Roman" panose="02020603050405020304" pitchFamily="18" charset="0"/>
              <a:cs typeface="Times New Roman" panose="02020603050405020304" pitchFamily="18" charset="0"/>
            </a:endParaRPr>
          </a:p>
          <a:p>
            <a:pPr marL="0" indent="0">
              <a:buNone/>
            </a:pPr>
            <a:r>
              <a:rPr lang="en-IN" sz="2800" dirty="0"/>
              <a:t>📂</a:t>
            </a:r>
            <a:r>
              <a:rPr lang="en-IN" sz="2500" b="1" dirty="0">
                <a:latin typeface="Times New Roman" panose="02020603050405020304" pitchFamily="18" charset="0"/>
                <a:cs typeface="Times New Roman" panose="02020603050405020304" pitchFamily="18" charset="0"/>
              </a:rPr>
              <a:t>Common Wordlist Types:</a:t>
            </a:r>
          </a:p>
          <a:p>
            <a:pPr marL="0" indent="0">
              <a:buNone/>
            </a:pPr>
            <a:r>
              <a:rPr lang="en-IN" sz="2500" dirty="0">
                <a:latin typeface="Times New Roman" panose="02020603050405020304" pitchFamily="18" charset="0"/>
                <a:cs typeface="Times New Roman" panose="02020603050405020304" pitchFamily="18" charset="0"/>
              </a:rPr>
              <a:t>1. passwords lists : Common passwords (123456, password, qwerty), Leaked password databases and Pattern-based combinations.</a:t>
            </a:r>
          </a:p>
          <a:p>
            <a:pPr marL="0" indent="0">
              <a:buNone/>
            </a:pPr>
            <a:r>
              <a:rPr lang="en-IN" sz="2500" dirty="0">
                <a:latin typeface="Times New Roman" panose="02020603050405020304" pitchFamily="18" charset="0"/>
                <a:cs typeface="Times New Roman" panose="02020603050405020304" pitchFamily="18" charset="0"/>
              </a:rPr>
              <a:t>2. username Lists : Common usernames (admin, root, user) and Email patterns (</a:t>
            </a:r>
            <a:r>
              <a:rPr lang="en-IN" sz="2500" dirty="0" err="1">
                <a:latin typeface="Times New Roman" panose="02020603050405020304" pitchFamily="18" charset="0"/>
                <a:cs typeface="Times New Roman" panose="02020603050405020304" pitchFamily="18" charset="0"/>
              </a:rPr>
              <a:t>firstname.lastname@domain</a:t>
            </a:r>
            <a:r>
              <a:rPr lang="en-IN" sz="2500" dirty="0">
                <a:latin typeface="Times New Roman" panose="02020603050405020304" pitchFamily="18" charset="0"/>
                <a:cs typeface="Times New Roman" panose="02020603050405020304" pitchFamily="18" charset="0"/>
              </a:rPr>
              <a:t>)</a:t>
            </a:r>
          </a:p>
          <a:p>
            <a:pPr marL="0" indent="0">
              <a:buNone/>
            </a:pPr>
            <a:r>
              <a:rPr lang="en-IN" sz="2500" dirty="0">
                <a:latin typeface="Times New Roman" panose="02020603050405020304" pitchFamily="18" charset="0"/>
                <a:cs typeface="Times New Roman" panose="02020603050405020304" pitchFamily="18" charset="0"/>
              </a:rPr>
              <a:t>3. Directory/File Lists : Common web paths (/admin, /backup, /config)</a:t>
            </a:r>
          </a:p>
          <a:p>
            <a:pPr marL="0" indent="0">
              <a:buNone/>
            </a:pPr>
            <a:endParaRPr lang="en-IN" sz="25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57938-3101-686B-FE24-35CAF2C776B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22B167-B3DD-9691-809F-10D4FE3D99D8}"/>
              </a:ext>
            </a:extLst>
          </p:cNvPr>
          <p:cNvSpPr>
            <a:spLocks noGrp="1"/>
          </p:cNvSpPr>
          <p:nvPr>
            <p:ph idx="1"/>
          </p:nvPr>
        </p:nvSpPr>
        <p:spPr>
          <a:xfrm>
            <a:off x="108155" y="285135"/>
            <a:ext cx="8391832" cy="5821364"/>
          </a:xfrm>
        </p:spPr>
        <p:txBody>
          <a:bodyPr>
            <a:noAutofit/>
          </a:bodyPr>
          <a:lstStyle/>
          <a:p>
            <a:pPr marL="0" indent="0">
              <a:buNone/>
            </a:pPr>
            <a:r>
              <a:rPr lang="en-IN" sz="2500" b="1" dirty="0" err="1">
                <a:latin typeface="Times New Roman" panose="02020603050405020304" pitchFamily="18" charset="0"/>
                <a:cs typeface="Times New Roman" panose="02020603050405020304" pitchFamily="18" charset="0"/>
              </a:rPr>
              <a:t>Worldists</a:t>
            </a:r>
            <a:r>
              <a:rPr lang="en-IN" sz="2500" b="1" dirty="0">
                <a:latin typeface="Times New Roman" panose="02020603050405020304" pitchFamily="18" charset="0"/>
                <a:cs typeface="Times New Roman" panose="02020603050405020304" pitchFamily="18" charset="0"/>
              </a:rPr>
              <a:t> Tools(Pre-made Lists):</a:t>
            </a:r>
          </a:p>
          <a:p>
            <a:pPr marL="0" indent="0">
              <a:buNone/>
            </a:pPr>
            <a:endParaRPr lang="en-IN" sz="25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2500" dirty="0" err="1">
                <a:latin typeface="Times New Roman" panose="02020603050405020304" pitchFamily="18" charset="0"/>
                <a:cs typeface="Times New Roman" panose="02020603050405020304" pitchFamily="18" charset="0"/>
              </a:rPr>
              <a:t>rockyou</a:t>
            </a:r>
            <a:r>
              <a:rPr lang="en-IN" sz="2500" dirty="0">
                <a:latin typeface="Times New Roman" panose="02020603050405020304" pitchFamily="18" charset="0"/>
                <a:cs typeface="Times New Roman" panose="02020603050405020304" pitchFamily="18" charset="0"/>
              </a:rPr>
              <a:t> - 14M passwords from 2009 Breach.</a:t>
            </a:r>
          </a:p>
          <a:p>
            <a:pPr>
              <a:buFont typeface="Wingdings" panose="05000000000000000000" pitchFamily="2" charset="2"/>
              <a:buChar char="Ø"/>
            </a:pPr>
            <a:r>
              <a:rPr lang="en-IN" sz="2500" dirty="0" err="1">
                <a:latin typeface="Times New Roman" panose="02020603050405020304" pitchFamily="18" charset="0"/>
                <a:cs typeface="Times New Roman" panose="02020603050405020304" pitchFamily="18" charset="0"/>
              </a:rPr>
              <a:t>CeWL</a:t>
            </a:r>
            <a:r>
              <a:rPr lang="en-IN" sz="2500" dirty="0">
                <a:latin typeface="Times New Roman" panose="02020603050405020304" pitchFamily="18" charset="0"/>
                <a:cs typeface="Times New Roman" panose="02020603050405020304" pitchFamily="18" charset="0"/>
              </a:rPr>
              <a:t> - Custom wordlist generator from websites</a:t>
            </a:r>
          </a:p>
          <a:p>
            <a:pPr>
              <a:buFont typeface="Wingdings" panose="05000000000000000000" pitchFamily="2" charset="2"/>
              <a:buChar char="Ø"/>
            </a:pPr>
            <a:r>
              <a:rPr lang="en-IN" sz="2500" dirty="0">
                <a:latin typeface="Times New Roman" panose="02020603050405020304" pitchFamily="18" charset="0"/>
                <a:cs typeface="Times New Roman" panose="02020603050405020304" pitchFamily="18" charset="0"/>
              </a:rPr>
              <a:t>Crunch - Generate custom wordlists by pattern</a:t>
            </a:r>
          </a:p>
          <a:p>
            <a:pPr>
              <a:buFont typeface="Wingdings" panose="05000000000000000000" pitchFamily="2" charset="2"/>
              <a:buChar char="Ø"/>
            </a:pPr>
            <a:endParaRPr lang="en-IN" sz="2500" dirty="0">
              <a:latin typeface="Times New Roman" panose="02020603050405020304" pitchFamily="18" charset="0"/>
              <a:cs typeface="Times New Roman" panose="02020603050405020304" pitchFamily="18" charset="0"/>
            </a:endParaRPr>
          </a:p>
          <a:p>
            <a:pPr marL="0" indent="0">
              <a:buNone/>
            </a:pPr>
            <a:r>
              <a:rPr lang="en-IN" sz="2800" dirty="0"/>
              <a:t>🔢</a:t>
            </a:r>
            <a:r>
              <a:rPr lang="en-IN" sz="2500" b="1" dirty="0">
                <a:latin typeface="Times New Roman" panose="02020603050405020304" pitchFamily="18" charset="0"/>
                <a:cs typeface="Times New Roman" panose="02020603050405020304" pitchFamily="18" charset="0"/>
              </a:rPr>
              <a:t>Creating Custom Wordlists:</a:t>
            </a:r>
          </a:p>
          <a:p>
            <a:pPr marL="0" indent="0">
              <a:buNone/>
            </a:pPr>
            <a:r>
              <a:rPr lang="en-IN" sz="2500" dirty="0">
                <a:latin typeface="Times New Roman" panose="02020603050405020304" pitchFamily="18" charset="0"/>
                <a:cs typeface="Times New Roman" panose="02020603050405020304" pitchFamily="18" charset="0"/>
              </a:rPr>
              <a:t>Using Crunch - generate 4-6 character passwords</a:t>
            </a:r>
          </a:p>
          <a:p>
            <a:pPr marL="0" indent="0">
              <a:buNone/>
            </a:pPr>
            <a:r>
              <a:rPr lang="en-IN" sz="2500" dirty="0">
                <a:latin typeface="Times New Roman" panose="02020603050405020304" pitchFamily="18" charset="0"/>
                <a:cs typeface="Times New Roman" panose="02020603050405020304" pitchFamily="18" charset="0"/>
              </a:rPr>
              <a:t>crunch 4 6 -o wordlist.txt</a:t>
            </a:r>
          </a:p>
          <a:p>
            <a:pPr marL="0" indent="0">
              <a:buNone/>
            </a:pPr>
            <a:endParaRPr lang="en-IN" sz="2500" dirty="0">
              <a:latin typeface="Times New Roman" panose="02020603050405020304" pitchFamily="18" charset="0"/>
              <a:cs typeface="Times New Roman" panose="02020603050405020304" pitchFamily="18" charset="0"/>
            </a:endParaRPr>
          </a:p>
          <a:p>
            <a:pPr marL="0" indent="0">
              <a:buNone/>
            </a:pPr>
            <a:r>
              <a:rPr lang="en-IN" sz="2500" dirty="0">
                <a:latin typeface="Times New Roman" panose="02020603050405020304" pitchFamily="18" charset="0"/>
                <a:cs typeface="Times New Roman" panose="02020603050405020304" pitchFamily="18" charset="0"/>
              </a:rPr>
              <a:t>Using </a:t>
            </a:r>
            <a:r>
              <a:rPr lang="en-IN" sz="2500" dirty="0" err="1">
                <a:latin typeface="Times New Roman" panose="02020603050405020304" pitchFamily="18" charset="0"/>
                <a:cs typeface="Times New Roman" panose="02020603050405020304" pitchFamily="18" charset="0"/>
              </a:rPr>
              <a:t>CeWL</a:t>
            </a:r>
            <a:r>
              <a:rPr lang="en-IN" sz="2500" dirty="0">
                <a:latin typeface="Times New Roman" panose="02020603050405020304" pitchFamily="18" charset="0"/>
                <a:cs typeface="Times New Roman" panose="02020603050405020304" pitchFamily="18" charset="0"/>
              </a:rPr>
              <a:t> - scrape words from website</a:t>
            </a:r>
          </a:p>
          <a:p>
            <a:pPr marL="0" indent="0">
              <a:buNone/>
            </a:pPr>
            <a:r>
              <a:rPr lang="en-IN" sz="2500" dirty="0" err="1">
                <a:latin typeface="Times New Roman" panose="02020603050405020304" pitchFamily="18" charset="0"/>
                <a:cs typeface="Times New Roman" panose="02020603050405020304" pitchFamily="18" charset="0"/>
              </a:rPr>
              <a:t>cewl</a:t>
            </a:r>
            <a:r>
              <a:rPr lang="en-IN" sz="2500" dirty="0">
                <a:latin typeface="Times New Roman" panose="02020603050405020304" pitchFamily="18" charset="0"/>
                <a:cs typeface="Times New Roman" panose="02020603050405020304" pitchFamily="18" charset="0"/>
              </a:rPr>
              <a:t> https://example.com -w custom_list.txt</a:t>
            </a:r>
          </a:p>
          <a:p>
            <a:pPr marL="0" indent="0">
              <a:buNone/>
            </a:pPr>
            <a:endParaRPr lang="en-IN"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94398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0548D-2350-BFA7-3FE1-1DAF60DCF62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8E09B7-56D9-AD6E-A2DD-6A6F473889BC}"/>
              </a:ext>
            </a:extLst>
          </p:cNvPr>
          <p:cNvSpPr>
            <a:spLocks noGrp="1"/>
          </p:cNvSpPr>
          <p:nvPr>
            <p:ph idx="1"/>
          </p:nvPr>
        </p:nvSpPr>
        <p:spPr>
          <a:xfrm>
            <a:off x="108154" y="285134"/>
            <a:ext cx="9035845" cy="6572865"/>
          </a:xfrm>
        </p:spPr>
        <p:txBody>
          <a:bodyPr>
            <a:noAutofit/>
          </a:bodyPr>
          <a:lstStyle/>
          <a:p>
            <a:pPr marL="0" indent="0">
              <a:buNone/>
            </a:pPr>
            <a:r>
              <a:rPr lang="en-IN" sz="2800" dirty="0"/>
              <a:t>🛠️</a:t>
            </a:r>
            <a:r>
              <a:rPr lang="en-IN" sz="2800" b="1" dirty="0">
                <a:latin typeface="Times New Roman" panose="02020603050405020304" pitchFamily="18" charset="0"/>
                <a:cs typeface="Times New Roman" panose="02020603050405020304" pitchFamily="18" charset="0"/>
              </a:rPr>
              <a:t>Step 3 :</a:t>
            </a:r>
            <a:r>
              <a:rPr lang="en-US" sz="2500" b="1" dirty="0">
                <a:latin typeface="Times New Roman" panose="02020603050405020304" pitchFamily="18" charset="0"/>
                <a:cs typeface="Times New Roman" panose="02020603050405020304" pitchFamily="18" charset="0"/>
              </a:rPr>
              <a:t>Popular Tools to perform the Brute Force attack</a:t>
            </a:r>
          </a:p>
          <a:p>
            <a:pPr marL="0" indent="0">
              <a:buNone/>
            </a:pPr>
            <a:r>
              <a:rPr lang="en-US" sz="2500" dirty="0">
                <a:latin typeface="Times New Roman" panose="02020603050405020304" pitchFamily="18" charset="0"/>
                <a:cs typeface="Times New Roman" panose="02020603050405020304" pitchFamily="18" charset="0"/>
              </a:rPr>
              <a:t>1. </a:t>
            </a:r>
            <a:r>
              <a:rPr lang="en-US" sz="2500" dirty="0" err="1">
                <a:latin typeface="Times New Roman" panose="02020603050405020304" pitchFamily="18" charset="0"/>
                <a:cs typeface="Times New Roman" panose="02020603050405020304" pitchFamily="18" charset="0"/>
              </a:rPr>
              <a:t>Hashcat</a:t>
            </a:r>
            <a:r>
              <a:rPr lang="en-US" sz="2500" dirty="0">
                <a:latin typeface="Times New Roman" panose="02020603050405020304" pitchFamily="18" charset="0"/>
                <a:cs typeface="Times New Roman" panose="02020603050405020304" pitchFamily="18" charset="0"/>
              </a:rPr>
              <a:t>: Its is a powerful password cracking tool supporting the algorithms and attack types and rules based attacks.</a:t>
            </a:r>
          </a:p>
          <a:p>
            <a:pPr marL="0" indent="0">
              <a:buNone/>
            </a:pPr>
            <a:r>
              <a:rPr lang="en-US" sz="2500" dirty="0">
                <a:latin typeface="Times New Roman" panose="02020603050405020304" pitchFamily="18" charset="0"/>
                <a:cs typeface="Times New Roman" panose="02020603050405020304" pitchFamily="18" charset="0"/>
              </a:rPr>
              <a:t>2. Jhon the Ripper: A open source tool that supports hundreds of cipher and hash types passwords including macOS, </a:t>
            </a:r>
            <a:r>
              <a:rPr lang="en-US" sz="2500" dirty="0" err="1">
                <a:latin typeface="Times New Roman" panose="02020603050405020304" pitchFamily="18" charset="0"/>
                <a:cs typeface="Times New Roman" panose="02020603050405020304" pitchFamily="18" charset="0"/>
              </a:rPr>
              <a:t>UNix</a:t>
            </a:r>
            <a:r>
              <a:rPr lang="en-US" sz="2500" dirty="0">
                <a:latin typeface="Times New Roman" panose="02020603050405020304" pitchFamily="18" charset="0"/>
                <a:cs typeface="Times New Roman" panose="02020603050405020304" pitchFamily="18" charset="0"/>
              </a:rPr>
              <a:t>, Windows and Databases.</a:t>
            </a:r>
          </a:p>
          <a:p>
            <a:pPr marL="0" indent="0">
              <a:buNone/>
            </a:pPr>
            <a:r>
              <a:rPr lang="en-US" sz="2500" dirty="0">
                <a:latin typeface="Times New Roman" panose="02020603050405020304" pitchFamily="18" charset="0"/>
                <a:cs typeface="Times New Roman" panose="02020603050405020304" pitchFamily="18" charset="0"/>
              </a:rPr>
              <a:t>3. Burp Suite: Provides features to perform dictionary and exhaustive brute-force attacks on web applications.</a:t>
            </a:r>
          </a:p>
          <a:p>
            <a:pPr marL="0" indent="0">
              <a:buNone/>
            </a:pPr>
            <a:r>
              <a:rPr lang="en-US" sz="2500" dirty="0">
                <a:latin typeface="Times New Roman" panose="02020603050405020304" pitchFamily="18" charset="0"/>
                <a:cs typeface="Times New Roman" panose="02020603050405020304" pitchFamily="18" charset="0"/>
              </a:rPr>
              <a:t>4. </a:t>
            </a:r>
            <a:r>
              <a:rPr lang="en-US" sz="2500" dirty="0" err="1">
                <a:latin typeface="Times New Roman" panose="02020603050405020304" pitchFamily="18" charset="0"/>
                <a:cs typeface="Times New Roman" panose="02020603050405020304" pitchFamily="18" charset="0"/>
              </a:rPr>
              <a:t>Aircrack</a:t>
            </a:r>
            <a:r>
              <a:rPr lang="en-US" sz="2500" dirty="0">
                <a:latin typeface="Times New Roman" panose="02020603050405020304" pitchFamily="18" charset="0"/>
                <a:cs typeface="Times New Roman" panose="02020603050405020304" pitchFamily="18" charset="0"/>
              </a:rPr>
              <a:t>-ng: A tool for cracking Wi-Fi passwords using dictionary attacks.</a:t>
            </a:r>
          </a:p>
          <a:p>
            <a:pPr marL="0" indent="0">
              <a:buNone/>
            </a:pPr>
            <a:r>
              <a:rPr lang="en-US" sz="2500" dirty="0">
                <a:latin typeface="Times New Roman" panose="02020603050405020304" pitchFamily="18" charset="0"/>
                <a:cs typeface="Times New Roman" panose="02020603050405020304" pitchFamily="18" charset="0"/>
              </a:rPr>
              <a:t>5. Hydra : For cracking Network authentication passwords across 30 </a:t>
            </a:r>
            <a:r>
              <a:rPr lang="en-US" sz="2500" dirty="0" err="1">
                <a:latin typeface="Times New Roman" panose="02020603050405020304" pitchFamily="18" charset="0"/>
                <a:cs typeface="Times New Roman" panose="02020603050405020304" pitchFamily="18" charset="0"/>
              </a:rPr>
              <a:t>protcols</a:t>
            </a:r>
            <a:r>
              <a:rPr lang="en-US" sz="2500" dirty="0">
                <a:latin typeface="Times New Roman" panose="02020603050405020304" pitchFamily="18" charset="0"/>
                <a:cs typeface="Times New Roman" panose="02020603050405020304" pitchFamily="18" charset="0"/>
              </a:rPr>
              <a:t> including FTP,HTTP and SMB. </a:t>
            </a:r>
          </a:p>
          <a:p>
            <a:pPr marL="0" indent="0">
              <a:buNone/>
            </a:pPr>
            <a:r>
              <a:rPr lang="en-US" sz="2500" dirty="0">
                <a:latin typeface="Times New Roman" panose="02020603050405020304" pitchFamily="18" charset="0"/>
                <a:cs typeface="Times New Roman" panose="02020603050405020304" pitchFamily="18" charset="0"/>
              </a:rPr>
              <a:t>6. L0phtCrack: Known for cracking Windows passwords using rainbow tables.</a:t>
            </a:r>
          </a:p>
        </p:txBody>
      </p:sp>
    </p:spTree>
    <p:extLst>
      <p:ext uri="{BB962C8B-B14F-4D97-AF65-F5344CB8AC3E}">
        <p14:creationId xmlns:p14="http://schemas.microsoft.com/office/powerpoint/2010/main" val="31716932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80</TotalTime>
  <Words>704</Words>
  <Application>Microsoft Office PowerPoint</Application>
  <PresentationFormat>On-screen Show (4:3)</PresentationFormat>
  <Paragraphs>74</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Calibri</vt:lpstr>
      <vt:lpstr>Chiller</vt:lpstr>
      <vt:lpstr>Courier New</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shrishanth battu</cp:lastModifiedBy>
  <cp:revision>6</cp:revision>
  <dcterms:created xsi:type="dcterms:W3CDTF">2013-01-27T09:14:16Z</dcterms:created>
  <dcterms:modified xsi:type="dcterms:W3CDTF">2026-01-20T09:38:24Z</dcterms:modified>
  <cp:category/>
</cp:coreProperties>
</file>