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Open Sans" panose="020B0606030504020204" pitchFamily="3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705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453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5567"/>
            <a:ext cx="950916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End-to-End Phishing Attack Response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808321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a SOC detects, responds &amp; shuts down a phishing attack in real time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374702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3790" y="2710339"/>
            <a:ext cx="4211122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287893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Detection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3790" y="3338274"/>
            <a:ext cx="4211122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gateway flags a suspicious email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209580" y="2374702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09580" y="2710339"/>
            <a:ext cx="4211122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0" name="Text 8"/>
          <p:cNvSpPr/>
          <p:nvPr/>
        </p:nvSpPr>
        <p:spPr>
          <a:xfrm>
            <a:off x="5209580" y="287893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Enrichment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209580" y="3338274"/>
            <a:ext cx="4211122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SOAR automatically enriches alert with threat context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625370" y="2374702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25370" y="2710339"/>
            <a:ext cx="4211122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4" name="Text 12"/>
          <p:cNvSpPr/>
          <p:nvPr/>
        </p:nvSpPr>
        <p:spPr>
          <a:xfrm>
            <a:off x="9625370" y="287893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Containment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25370" y="3338274"/>
            <a:ext cx="4211122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SOAR playbook triggers automatically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93790" y="4376738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93790" y="4712375"/>
            <a:ext cx="4211122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488096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Investigation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93790" y="5340310"/>
            <a:ext cx="4211122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Analyst uses forensic tools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209580" y="4376738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209580" y="4712375"/>
            <a:ext cx="4211122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2" name="Text 20"/>
          <p:cNvSpPr/>
          <p:nvPr/>
        </p:nvSpPr>
        <p:spPr>
          <a:xfrm>
            <a:off x="5209580" y="488096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Remediation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209580" y="5340310"/>
            <a:ext cx="4211122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Actions taken to clean and secure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625370" y="4376738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06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625370" y="4712375"/>
            <a:ext cx="4211122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6" name="Text 24"/>
          <p:cNvSpPr/>
          <p:nvPr/>
        </p:nvSpPr>
        <p:spPr>
          <a:xfrm>
            <a:off x="9625370" y="488096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Documentation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625370" y="5340310"/>
            <a:ext cx="4211122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Logs timeline, artifacts &amp; audit trail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93790" y="6042660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07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93790" y="6378297"/>
            <a:ext cx="13042702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30" name="Text 28"/>
          <p:cNvSpPr/>
          <p:nvPr/>
        </p:nvSpPr>
        <p:spPr>
          <a:xfrm>
            <a:off x="793790" y="654689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Reporting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93790" y="7006233"/>
            <a:ext cx="13042702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insights &amp; lessons learned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2927" y="621744"/>
            <a:ext cx="1039416" cy="393144"/>
          </a:xfrm>
          <a:prstGeom prst="roundRect">
            <a:avLst>
              <a:gd name="adj" fmla="val 6517"/>
            </a:avLst>
          </a:prstGeom>
          <a:solidFill>
            <a:srgbClr val="E3E3E8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0919" y="732949"/>
            <a:ext cx="170736" cy="1707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57023" y="685681"/>
            <a:ext cx="527328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272927" y="1095256"/>
            <a:ext cx="5337572" cy="667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Detection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6272927" y="2063710"/>
            <a:ext cx="7570946" cy="1235393"/>
          </a:xfrm>
          <a:prstGeom prst="roundRect">
            <a:avLst>
              <a:gd name="adj" fmla="val 2592"/>
            </a:avLst>
          </a:prstGeom>
          <a:solidFill>
            <a:srgbClr val="E0E0EC"/>
          </a:solidFill>
          <a:ln/>
        </p:spPr>
      </p:sp>
      <p:sp>
        <p:nvSpPr>
          <p:cNvPr id="8" name="Text 4"/>
          <p:cNvSpPr/>
          <p:nvPr/>
        </p:nvSpPr>
        <p:spPr>
          <a:xfrm>
            <a:off x="6486406" y="2277189"/>
            <a:ext cx="2668786" cy="356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📧</a:t>
            </a: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Email Gateway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486406" y="2754154"/>
            <a:ext cx="7143988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gateway flags a suspicious email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6272927" y="3499961"/>
            <a:ext cx="7570946" cy="1235393"/>
          </a:xfrm>
          <a:prstGeom prst="roundRect">
            <a:avLst>
              <a:gd name="adj" fmla="val 2592"/>
            </a:avLst>
          </a:prstGeom>
          <a:solidFill>
            <a:srgbClr val="E0E0EC"/>
          </a:solidFill>
          <a:ln/>
        </p:spPr>
      </p:sp>
      <p:sp>
        <p:nvSpPr>
          <p:cNvPr id="11" name="Text 7"/>
          <p:cNvSpPr/>
          <p:nvPr/>
        </p:nvSpPr>
        <p:spPr>
          <a:xfrm>
            <a:off x="6486406" y="3713440"/>
            <a:ext cx="2668786" cy="356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🔗</a:t>
            </a: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Malicious URL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486406" y="4190405"/>
            <a:ext cx="7143988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Malicious URL detected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6272927" y="4936212"/>
            <a:ext cx="7570946" cy="1235393"/>
          </a:xfrm>
          <a:prstGeom prst="roundRect">
            <a:avLst>
              <a:gd name="adj" fmla="val 2592"/>
            </a:avLst>
          </a:prstGeom>
          <a:solidFill>
            <a:srgbClr val="E0E0EC"/>
          </a:solidFill>
          <a:ln/>
        </p:spPr>
      </p:sp>
      <p:sp>
        <p:nvSpPr>
          <p:cNvPr id="14" name="Text 10"/>
          <p:cNvSpPr/>
          <p:nvPr/>
        </p:nvSpPr>
        <p:spPr>
          <a:xfrm>
            <a:off x="6486406" y="5149691"/>
            <a:ext cx="2668786" cy="356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📡</a:t>
            </a: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SIEM Alert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486406" y="5626656"/>
            <a:ext cx="7143988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 sent to SIEM (e.g., Splunk)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6272927" y="6372463"/>
            <a:ext cx="7570946" cy="1235393"/>
          </a:xfrm>
          <a:prstGeom prst="roundRect">
            <a:avLst>
              <a:gd name="adj" fmla="val 2592"/>
            </a:avLst>
          </a:prstGeom>
          <a:solidFill>
            <a:srgbClr val="E0E0EC"/>
          </a:solidFill>
          <a:ln/>
        </p:spPr>
      </p:sp>
      <p:sp>
        <p:nvSpPr>
          <p:cNvPr id="17" name="Text 13"/>
          <p:cNvSpPr/>
          <p:nvPr/>
        </p:nvSpPr>
        <p:spPr>
          <a:xfrm>
            <a:off x="6486406" y="6585942"/>
            <a:ext cx="2668786" cy="356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🚨</a:t>
            </a: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SOC Analyst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6486406" y="7062907"/>
            <a:ext cx="7143988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 Analyst receives the alert!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79721"/>
            <a:ext cx="1104305" cy="426244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702118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647706"/>
            <a:ext cx="55995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0966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Enrichment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314563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SOAR automatically enriches the alert with full threat context: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00" y="3770709"/>
            <a:ext cx="340162" cy="340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3763685"/>
            <a:ext cx="35288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Extracts the malicious URL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530906" y="4254103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SOAR pulls the URL from the flagged email for analysis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1895" y="3770709"/>
            <a:ext cx="340162" cy="3401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94000" y="3763685"/>
            <a:ext cx="43198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Checks VirusTotal → </a:t>
            </a: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MALICIOUS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194000" y="4254103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lookup confirms the URL is malicious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00" y="5440561"/>
            <a:ext cx="340162" cy="3401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5433536"/>
            <a:ext cx="42761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Queries MISP → Linked to APT29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30906" y="5923955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Threat intelligence platform links the indicator to known threat actor APT29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1895" y="5440561"/>
            <a:ext cx="340162" cy="34016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94000" y="5433536"/>
            <a:ext cx="43534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Enriches alert with threat context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8194000" y="592395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context is appended to the alert for analyst review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34365"/>
            <a:ext cx="993696" cy="370642"/>
          </a:xfrm>
          <a:prstGeom prst="roundRect">
            <a:avLst>
              <a:gd name="adj" fmla="val 6609"/>
            </a:avLst>
          </a:prstGeom>
          <a:solidFill>
            <a:srgbClr val="E3E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186" y="738068"/>
            <a:ext cx="163235" cy="163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0978" y="695563"/>
            <a:ext cx="50411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078468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Containment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6867" y="1991916"/>
            <a:ext cx="4535091" cy="5603319"/>
          </a:xfrm>
          <a:prstGeom prst="roundRect">
            <a:avLst>
              <a:gd name="adj" fmla="val 675"/>
            </a:avLst>
          </a:prstGeom>
          <a:solidFill>
            <a:srgbClr val="101014"/>
          </a:solidFill>
          <a:ln/>
        </p:spPr>
      </p:sp>
      <p:sp>
        <p:nvSpPr>
          <p:cNvPr id="7" name="Text 4"/>
          <p:cNvSpPr/>
          <p:nvPr/>
        </p:nvSpPr>
        <p:spPr>
          <a:xfrm>
            <a:off x="850940" y="3055025"/>
            <a:ext cx="4126944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SOAR Playbook Triggers Automatically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50940" y="3899416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sp>
        <p:nvSpPr>
          <p:cNvPr id="9" name="Text 6"/>
          <p:cNvSpPr/>
          <p:nvPr/>
        </p:nvSpPr>
        <p:spPr>
          <a:xfrm>
            <a:off x="1493877" y="3969544"/>
            <a:ext cx="3484007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Blocks URL in firewall &amp; proxy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50940" y="4974669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sp>
        <p:nvSpPr>
          <p:cNvPr id="11" name="Text 8"/>
          <p:cNvSpPr/>
          <p:nvPr/>
        </p:nvSpPr>
        <p:spPr>
          <a:xfrm>
            <a:off x="1493877" y="5044797"/>
            <a:ext cx="34355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Isolates user's device via EDR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50940" y="5801320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sp>
        <p:nvSpPr>
          <p:cNvPr id="13" name="Text 10"/>
          <p:cNvSpPr/>
          <p:nvPr/>
        </p:nvSpPr>
        <p:spPr>
          <a:xfrm>
            <a:off x="1493877" y="5871448"/>
            <a:ext cx="3484007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Removes phishing email from all inboxes</a:t>
            </a:r>
            <a:endParaRPr lang="en-US" sz="2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5744" y="2198608"/>
            <a:ext cx="7473077" cy="417099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540573" y="6576298"/>
            <a:ext cx="8303538" cy="812244"/>
          </a:xfrm>
          <a:prstGeom prst="roundRect">
            <a:avLst>
              <a:gd name="adj" fmla="val 3770"/>
            </a:avLst>
          </a:prstGeom>
          <a:solidFill>
            <a:srgbClr val="D5D5D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4647" y="6881336"/>
            <a:ext cx="255151" cy="2040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03871" y="6810970"/>
            <a:ext cx="743616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All done in </a:t>
            </a:r>
            <a:r>
              <a:rPr lang="en-US" sz="16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 90 seconds!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26200"/>
            <a:ext cx="1104305" cy="426244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148596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094184"/>
            <a:ext cx="55995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5431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Investigation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5921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Analyst uses forensic tools to determine the full scope of the threat: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210163"/>
            <a:ext cx="4196358" cy="2774156"/>
          </a:xfrm>
          <a:prstGeom prst="roundRect">
            <a:avLst>
              <a:gd name="adj" fmla="val 1226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4270" y="3240643"/>
            <a:ext cx="4135398" cy="680442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9" name="Text 6"/>
          <p:cNvSpPr/>
          <p:nvPr/>
        </p:nvSpPr>
        <p:spPr>
          <a:xfrm>
            <a:off x="1051084" y="41478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Volatility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51084" y="463831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Checks RAM for malware — memory forensics to detect in-memory threats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3210163"/>
            <a:ext cx="4196358" cy="2774156"/>
          </a:xfrm>
          <a:prstGeom prst="roundRect">
            <a:avLst>
              <a:gd name="adj" fmla="val 1226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47442" y="3240643"/>
            <a:ext cx="4135398" cy="680442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13" name="Text 10"/>
          <p:cNvSpPr/>
          <p:nvPr/>
        </p:nvSpPr>
        <p:spPr>
          <a:xfrm>
            <a:off x="5474256" y="41478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Wireshark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74256" y="463831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Checks for data exfiltration — network packet analysis to detect outbound data leaks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9640133" y="3210163"/>
            <a:ext cx="4196358" cy="2774156"/>
          </a:xfrm>
          <a:prstGeom prst="roundRect">
            <a:avLst>
              <a:gd name="adj" fmla="val 1226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70613" y="3240643"/>
            <a:ext cx="4135398" cy="680442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17" name="Text 14"/>
          <p:cNvSpPr/>
          <p:nvPr/>
        </p:nvSpPr>
        <p:spPr>
          <a:xfrm>
            <a:off x="9897427" y="41478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Autopsy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897427" y="463831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Reviews disk for persistence — disk forensics to find any installed backdoors or artifacts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793790" y="6239470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D5D5DD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04" y="6591181"/>
            <a:ext cx="283488" cy="22681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530906" y="652295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Result: No malware executed. Threat neutralized!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5206"/>
            <a:ext cx="1104305" cy="426244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817602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763191"/>
            <a:ext cx="55995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2121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Remediation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2611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Actions taken to fully restore security posture: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2879169"/>
            <a:ext cx="4196358" cy="2214205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8" name="Shape 5"/>
          <p:cNvSpPr/>
          <p:nvPr/>
        </p:nvSpPr>
        <p:spPr>
          <a:xfrm>
            <a:off x="1020604" y="31059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770" y="3293031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0604" y="4013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Password Reset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020604" y="450365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User's password reset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16962" y="2879169"/>
            <a:ext cx="4196358" cy="2214205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13" name="Shape 9"/>
          <p:cNvSpPr/>
          <p:nvPr/>
        </p:nvSpPr>
        <p:spPr>
          <a:xfrm>
            <a:off x="5443776" y="31059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0942" y="3293031"/>
            <a:ext cx="306110" cy="3061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3776" y="4013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Device Cleaned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5443776" y="450365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Device scanned &amp; cleaned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9640133" y="2879169"/>
            <a:ext cx="4196358" cy="2214205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18" name="Shape 13"/>
          <p:cNvSpPr/>
          <p:nvPr/>
        </p:nvSpPr>
        <p:spPr>
          <a:xfrm>
            <a:off x="9866948" y="31059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54114" y="3293031"/>
            <a:ext cx="306110" cy="3061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66948" y="4013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Firewall Updated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9866948" y="450365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Firewall rules updated</a:t>
            </a:r>
            <a:endParaRPr lang="en-US" sz="1750" dirty="0"/>
          </a:p>
        </p:txBody>
      </p:sp>
      <p:sp>
        <p:nvSpPr>
          <p:cNvPr id="22" name="Shape 16"/>
          <p:cNvSpPr/>
          <p:nvPr/>
        </p:nvSpPr>
        <p:spPr>
          <a:xfrm>
            <a:off x="793790" y="5320189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23" name="Shape 17"/>
          <p:cNvSpPr/>
          <p:nvPr/>
        </p:nvSpPr>
        <p:spPr>
          <a:xfrm>
            <a:off x="1020604" y="55470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07770" y="5734050"/>
            <a:ext cx="306110" cy="30611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20604" y="64542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Vulnerability Patched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1020604" y="694467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Vulnerability patched</a:t>
            </a:r>
            <a:endParaRPr lang="en-US" sz="1750" dirty="0"/>
          </a:p>
        </p:txBody>
      </p:sp>
      <p:sp>
        <p:nvSpPr>
          <p:cNvPr id="27" name="Shape 20"/>
          <p:cNvSpPr/>
          <p:nvPr/>
        </p:nvSpPr>
        <p:spPr>
          <a:xfrm>
            <a:off x="7428548" y="5320189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28" name="Shape 21"/>
          <p:cNvSpPr/>
          <p:nvPr/>
        </p:nvSpPr>
        <p:spPr>
          <a:xfrm>
            <a:off x="7655362" y="55470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42528" y="5734050"/>
            <a:ext cx="306110" cy="30611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655362" y="64542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 Notified</a:t>
            </a:r>
            <a:endParaRPr lang="en-US" sz="2200" dirty="0"/>
          </a:p>
        </p:txBody>
      </p:sp>
      <p:sp>
        <p:nvSpPr>
          <p:cNvPr id="31" name="Text 23"/>
          <p:cNvSpPr/>
          <p:nvPr/>
        </p:nvSpPr>
        <p:spPr>
          <a:xfrm>
            <a:off x="7655362" y="694467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notified &amp; educated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78794"/>
            <a:ext cx="1104305" cy="426244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901190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846778"/>
            <a:ext cx="55995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29576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Documentation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30895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TheHive / ServiceNow logs: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63310" y="3677126"/>
            <a:ext cx="60960" cy="76962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8" name="Text 5"/>
          <p:cNvSpPr/>
          <p:nvPr/>
        </p:nvSpPr>
        <p:spPr>
          <a:xfrm>
            <a:off x="1081564" y="3707606"/>
            <a:ext cx="26928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Timeline of the attack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027408" y="3677126"/>
            <a:ext cx="60960" cy="76962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0" name="Text 7"/>
          <p:cNvSpPr/>
          <p:nvPr/>
        </p:nvSpPr>
        <p:spPr>
          <a:xfrm>
            <a:off x="4345662" y="3707606"/>
            <a:ext cx="26928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Affected users &amp; systems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63310" y="4839414"/>
            <a:ext cx="60960" cy="76962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2" name="Text 9"/>
          <p:cNvSpPr/>
          <p:nvPr/>
        </p:nvSpPr>
        <p:spPr>
          <a:xfrm>
            <a:off x="1081564" y="4869894"/>
            <a:ext cx="26928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Actions taken by analysts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027408" y="4839414"/>
            <a:ext cx="60960" cy="76962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4" name="Text 11"/>
          <p:cNvSpPr/>
          <p:nvPr/>
        </p:nvSpPr>
        <p:spPr>
          <a:xfrm>
            <a:off x="4345662" y="4869894"/>
            <a:ext cx="26928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Artifacts collected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3790" y="58337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Ensures </a:t>
            </a: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accountability &amp; audit trail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599521" y="1778794"/>
            <a:ext cx="1104305" cy="426244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5610" y="1901190"/>
            <a:ext cx="181451" cy="18145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07787" y="1846778"/>
            <a:ext cx="55995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7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599521" y="2295763"/>
            <a:ext cx="623494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Reporting &amp; Lessons Learned</a:t>
            </a:r>
            <a:endParaRPr lang="en-US" sz="3550" dirty="0"/>
          </a:p>
        </p:txBody>
      </p:sp>
      <p:sp>
        <p:nvSpPr>
          <p:cNvPr id="20" name="Text 16"/>
          <p:cNvSpPr/>
          <p:nvPr/>
        </p:nvSpPr>
        <p:spPr>
          <a:xfrm>
            <a:off x="7599521" y="30895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Kibana Dashboard shows:</a:t>
            </a:r>
            <a:endParaRPr lang="en-US" sz="1750" dirty="0"/>
          </a:p>
        </p:txBody>
      </p:sp>
      <p:sp>
        <p:nvSpPr>
          <p:cNvPr id="21" name="Shape 17"/>
          <p:cNvSpPr/>
          <p:nvPr/>
        </p:nvSpPr>
        <p:spPr>
          <a:xfrm>
            <a:off x="7569041" y="3677126"/>
            <a:ext cx="60960" cy="76962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2" name="Text 18"/>
          <p:cNvSpPr/>
          <p:nvPr/>
        </p:nvSpPr>
        <p:spPr>
          <a:xfrm>
            <a:off x="7887295" y="3707606"/>
            <a:ext cx="26928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Phishing attacks up 20% this week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10833140" y="3677126"/>
            <a:ext cx="60960" cy="76962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4" name="Text 20"/>
          <p:cNvSpPr/>
          <p:nvPr/>
        </p:nvSpPr>
        <p:spPr>
          <a:xfrm>
            <a:off x="11151394" y="3707606"/>
            <a:ext cx="26928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Top affected dept: Finance &amp; HR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7569041" y="4839414"/>
            <a:ext cx="60960" cy="41529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6" name="Text 22"/>
          <p:cNvSpPr/>
          <p:nvPr/>
        </p:nvSpPr>
        <p:spPr>
          <a:xfrm>
            <a:off x="7887295" y="4869894"/>
            <a:ext cx="4140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Most common malware: Emotet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7599521" y="5479375"/>
            <a:ext cx="6244709" cy="971431"/>
          </a:xfrm>
          <a:prstGeom prst="roundRect">
            <a:avLst>
              <a:gd name="adj" fmla="val 3502"/>
            </a:avLst>
          </a:prstGeom>
          <a:solidFill>
            <a:srgbClr val="D5D5DD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6335" y="5831086"/>
            <a:ext cx="283488" cy="22681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36637" y="5762863"/>
            <a:ext cx="528077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🎯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Action: Deploy security awareness training!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8580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 Strong SOC Uses: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2023943"/>
            <a:ext cx="13042821" cy="2213372"/>
          </a:xfrm>
          <a:prstGeom prst="roundRect">
            <a:avLst>
              <a:gd name="adj" fmla="val 1383"/>
            </a:avLst>
          </a:prstGeom>
          <a:solidFill>
            <a:srgbClr val="E0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023943"/>
            <a:ext cx="4347567" cy="1106686"/>
          </a:xfrm>
          <a:prstGeom prst="roundRect">
            <a:avLst>
              <a:gd name="adj" fmla="val 2767"/>
            </a:avLst>
          </a:prstGeom>
          <a:solidFill>
            <a:srgbClr val="E0E0EC"/>
          </a:solidFill>
          <a:ln/>
        </p:spPr>
      </p:sp>
      <p:sp>
        <p:nvSpPr>
          <p:cNvPr id="5" name="Text 3"/>
          <p:cNvSpPr/>
          <p:nvPr/>
        </p:nvSpPr>
        <p:spPr>
          <a:xfrm>
            <a:off x="977503" y="220765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7503" y="2636639"/>
            <a:ext cx="370463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41357" y="2023943"/>
            <a:ext cx="4347567" cy="1106686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8" name="Shape 6"/>
          <p:cNvSpPr/>
          <p:nvPr/>
        </p:nvSpPr>
        <p:spPr>
          <a:xfrm>
            <a:off x="5141357" y="2023943"/>
            <a:ext cx="22860" cy="1106686"/>
          </a:xfrm>
          <a:prstGeom prst="roundRect">
            <a:avLst>
              <a:gd name="adj" fmla="val 133954"/>
            </a:avLst>
          </a:prstGeom>
          <a:solidFill>
            <a:srgbClr val="C6C6D2"/>
          </a:solidFill>
          <a:ln/>
        </p:spPr>
      </p:sp>
      <p:sp>
        <p:nvSpPr>
          <p:cNvPr id="9" name="Text 7"/>
          <p:cNvSpPr/>
          <p:nvPr/>
        </p:nvSpPr>
        <p:spPr>
          <a:xfrm>
            <a:off x="5600581" y="220765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00581" y="2636639"/>
            <a:ext cx="342911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86206" y="2322076"/>
            <a:ext cx="510302" cy="510302"/>
          </a:xfrm>
          <a:prstGeom prst="roundRect">
            <a:avLst>
              <a:gd name="adj" fmla="val 6001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3722" y="2449592"/>
            <a:ext cx="255151" cy="25515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488924" y="2023943"/>
            <a:ext cx="4347567" cy="1106686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14" name="Shape 11"/>
          <p:cNvSpPr/>
          <p:nvPr/>
        </p:nvSpPr>
        <p:spPr>
          <a:xfrm>
            <a:off x="9488924" y="2023943"/>
            <a:ext cx="22860" cy="1106686"/>
          </a:xfrm>
          <a:prstGeom prst="roundRect">
            <a:avLst>
              <a:gd name="adj" fmla="val 133954"/>
            </a:avLst>
          </a:prstGeom>
          <a:solidFill>
            <a:srgbClr val="C6C6D2"/>
          </a:solidFill>
          <a:ln/>
        </p:spPr>
      </p:sp>
      <p:sp>
        <p:nvSpPr>
          <p:cNvPr id="15" name="Text 12"/>
          <p:cNvSpPr/>
          <p:nvPr/>
        </p:nvSpPr>
        <p:spPr>
          <a:xfrm>
            <a:off x="9948148" y="220765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EDR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948148" y="2636639"/>
            <a:ext cx="370463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Contain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233773" y="2322076"/>
            <a:ext cx="510302" cy="510302"/>
          </a:xfrm>
          <a:prstGeom prst="roundRect">
            <a:avLst>
              <a:gd name="adj" fmla="val 6001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1289" y="2449592"/>
            <a:ext cx="255151" cy="25515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3790" y="3130629"/>
            <a:ext cx="6521291" cy="1106686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20" name="Shape 16"/>
          <p:cNvSpPr/>
          <p:nvPr/>
        </p:nvSpPr>
        <p:spPr>
          <a:xfrm>
            <a:off x="793790" y="3130629"/>
            <a:ext cx="6521291" cy="22860"/>
          </a:xfrm>
          <a:prstGeom prst="roundRect">
            <a:avLst>
              <a:gd name="adj" fmla="val 133954"/>
            </a:avLst>
          </a:prstGeom>
          <a:solidFill>
            <a:srgbClr val="C6C6D2"/>
          </a:solidFill>
          <a:ln/>
        </p:spPr>
      </p:sp>
      <p:sp>
        <p:nvSpPr>
          <p:cNvPr id="21" name="Text 17"/>
          <p:cNvSpPr/>
          <p:nvPr/>
        </p:nvSpPr>
        <p:spPr>
          <a:xfrm>
            <a:off x="977503" y="331434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Forensics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977503" y="3743325"/>
            <a:ext cx="587835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Investigate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315081" y="3130629"/>
            <a:ext cx="6521410" cy="1106686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24" name="Shape 20"/>
          <p:cNvSpPr/>
          <p:nvPr/>
        </p:nvSpPr>
        <p:spPr>
          <a:xfrm>
            <a:off x="7315081" y="3130629"/>
            <a:ext cx="22860" cy="1106686"/>
          </a:xfrm>
          <a:prstGeom prst="roundRect">
            <a:avLst>
              <a:gd name="adj" fmla="val 133954"/>
            </a:avLst>
          </a:prstGeom>
          <a:solidFill>
            <a:srgbClr val="C6C6D2"/>
          </a:solidFill>
          <a:ln/>
        </p:spPr>
      </p:sp>
      <p:sp>
        <p:nvSpPr>
          <p:cNvPr id="25" name="Shape 21"/>
          <p:cNvSpPr/>
          <p:nvPr/>
        </p:nvSpPr>
        <p:spPr>
          <a:xfrm>
            <a:off x="7315081" y="3130629"/>
            <a:ext cx="6521410" cy="22860"/>
          </a:xfrm>
          <a:prstGeom prst="roundRect">
            <a:avLst>
              <a:gd name="adj" fmla="val 133954"/>
            </a:avLst>
          </a:prstGeom>
          <a:solidFill>
            <a:srgbClr val="C6C6D2"/>
          </a:solidFill>
          <a:ln/>
        </p:spPr>
      </p:sp>
      <p:sp>
        <p:nvSpPr>
          <p:cNvPr id="26" name="Text 22"/>
          <p:cNvSpPr/>
          <p:nvPr/>
        </p:nvSpPr>
        <p:spPr>
          <a:xfrm>
            <a:off x="7774305" y="331434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7774305" y="3743325"/>
            <a:ext cx="587847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7059930" y="3428762"/>
            <a:ext cx="510302" cy="510302"/>
          </a:xfrm>
          <a:prstGeom prst="roundRect">
            <a:avLst>
              <a:gd name="adj" fmla="val 6001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87446" y="3556278"/>
            <a:ext cx="255151" cy="255151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99899" y="4650700"/>
            <a:ext cx="12736711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💬</a:t>
            </a: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tool does your SOC rely on most? Drop it in the comments!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793790" y="4444008"/>
            <a:ext cx="22860" cy="731282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32" name="Shape 27"/>
          <p:cNvSpPr/>
          <p:nvPr/>
        </p:nvSpPr>
        <p:spPr>
          <a:xfrm>
            <a:off x="793790" y="5483977"/>
            <a:ext cx="13042821" cy="33099"/>
          </a:xfrm>
          <a:prstGeom prst="rect">
            <a:avLst/>
          </a:prstGeom>
          <a:solidFill>
            <a:srgbClr val="39393C">
              <a:alpha val="5000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793790" y="5907405"/>
            <a:ext cx="2551748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📱</a:t>
            </a: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Platform</a:t>
            </a:r>
            <a:endParaRPr lang="en-US" sz="2000" dirty="0"/>
          </a:p>
        </p:txBody>
      </p:sp>
      <p:sp>
        <p:nvSpPr>
          <p:cNvPr id="34" name="Text 29"/>
          <p:cNvSpPr/>
          <p:nvPr/>
        </p:nvSpPr>
        <p:spPr>
          <a:xfrm>
            <a:off x="793790" y="6425208"/>
            <a:ext cx="2887266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LinkedIn or Instagram works best for carousels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4186595" y="5907405"/>
            <a:ext cx="2551748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🎨</a:t>
            </a: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Design</a:t>
            </a:r>
            <a:endParaRPr lang="en-US" sz="2000" dirty="0"/>
          </a:p>
        </p:txBody>
      </p:sp>
      <p:sp>
        <p:nvSpPr>
          <p:cNvPr id="36" name="Text 31"/>
          <p:cNvSpPr/>
          <p:nvPr/>
        </p:nvSpPr>
        <p:spPr>
          <a:xfrm>
            <a:off x="4186595" y="6425208"/>
            <a:ext cx="2887266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 consistent color theme (e.g., dark blue + white text)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7579400" y="5907405"/>
            <a:ext cx="2551748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🛠️</a:t>
            </a: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Tools</a:t>
            </a:r>
            <a:endParaRPr lang="en-US" sz="2000" dirty="0"/>
          </a:p>
        </p:txBody>
      </p:sp>
      <p:sp>
        <p:nvSpPr>
          <p:cNvPr id="38" name="Text 33"/>
          <p:cNvSpPr/>
          <p:nvPr/>
        </p:nvSpPr>
        <p:spPr>
          <a:xfrm>
            <a:off x="7579400" y="6425208"/>
            <a:ext cx="2887266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Canva, Adobe Express, or PowerPoint for design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10972205" y="5907405"/>
            <a:ext cx="2551748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⏰</a:t>
            </a: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Best Time to Post</a:t>
            </a:r>
            <a:endParaRPr lang="en-US" sz="2000" dirty="0"/>
          </a:p>
        </p:txBody>
      </p:sp>
      <p:sp>
        <p:nvSpPr>
          <p:cNvPr id="40" name="Text 35"/>
          <p:cNvSpPr/>
          <p:nvPr/>
        </p:nvSpPr>
        <p:spPr>
          <a:xfrm>
            <a:off x="10972205" y="6425208"/>
            <a:ext cx="2887266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Tuesday–Thursday, 9AM–11AM</a:t>
            </a: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maximum reach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Custom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Playfair Display Bold</vt:lpstr>
      <vt:lpstr>Arial</vt:lpstr>
      <vt:lpstr>Open Sans</vt:lpstr>
      <vt:lpstr>Playfair Display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2026-03-22T12:30:46Z</dcterms:created>
  <dcterms:modified xsi:type="dcterms:W3CDTF">2026-03-22T12:31:59Z</dcterms:modified>
</cp:coreProperties>
</file>