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Gelasio" panose="020B0604020202020204" charset="0"/>
      <p:regular r:id="rId11"/>
    </p:embeddedFont>
    <p:embeddedFont>
      <p:font typeface="Lato" panose="020F0502020204030203" pitchFamily="34"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373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hyperlink" Target="https://www.geeksforgeeks.org/ethical-hacking/cyber-kill-chain/" TargetMode="External"/><Relationship Id="rId3" Type="http://schemas.openxmlformats.org/officeDocument/2006/relationships/hyperlink" Target="https://www.splunk.com/en_us/blog/learn/cyber-kill-chains.html" TargetMode="External"/><Relationship Id="rId7" Type="http://schemas.openxmlformats.org/officeDocument/2006/relationships/hyperlink" Target="https://www.picussecurity.com/resource/blog/cyber-kill-chain-explained"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hyperlink" Target="https://www.lockheedmartin.com/en-us/capabilities/cyber/cyber-kill-chain.html" TargetMode="External"/><Relationship Id="rId5" Type="http://schemas.openxmlformats.org/officeDocument/2006/relationships/hyperlink" Target="https://www.darktrace.com/cyber-ai-glossary/cyber-kill-chain" TargetMode="External"/><Relationship Id="rId10" Type="http://schemas.openxmlformats.org/officeDocument/2006/relationships/hyperlink" Target="https://www.netskope.com/security-defined/cyber-security-kill-chain" TargetMode="External"/><Relationship Id="rId4" Type="http://schemas.openxmlformats.org/officeDocument/2006/relationships/hyperlink" Target="https://www.eccouncil.org/cybersecurity-exchange/threat-intelligence/cyber-kill-chain-seven-steps-cyberattack/" TargetMode="External"/><Relationship Id="rId9" Type="http://schemas.openxmlformats.org/officeDocument/2006/relationships/hyperlink" Target="https://www.microsoft.com/en-us/security/business/security-101/what-is-cyber-kill-ch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751058"/>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312F2B"/>
                </a:solidFill>
                <a:latin typeface="Gelasio" pitchFamily="34" charset="0"/>
                <a:ea typeface="Gelasio" pitchFamily="34" charset="-122"/>
                <a:cs typeface="Gelasio" pitchFamily="34" charset="-120"/>
              </a:rPr>
              <a:t>Cyber Kill Chain</a:t>
            </a:r>
            <a:endParaRPr lang="en-US" sz="3550" dirty="0"/>
          </a:p>
        </p:txBody>
      </p:sp>
      <p:sp>
        <p:nvSpPr>
          <p:cNvPr id="3" name="Text 1"/>
          <p:cNvSpPr/>
          <p:nvPr/>
        </p:nvSpPr>
        <p:spPr>
          <a:xfrm>
            <a:off x="793790" y="377166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The Cyber Kill Chain is the lifecycle of a cyberattack into discrete, identifiable stages. It enables security teams to detect, analyze, and disrupt adversarial activity at any point in the attack lifecycle, thereby reducing the likelihood of successful compromise.</a:t>
            </a:r>
            <a:endParaRPr lang="en-US" sz="1750" dirty="0"/>
          </a:p>
        </p:txBody>
      </p:sp>
      <p:sp>
        <p:nvSpPr>
          <p:cNvPr id="4" name="Text 2"/>
          <p:cNvSpPr/>
          <p:nvPr/>
        </p:nvSpPr>
        <p:spPr>
          <a:xfrm>
            <a:off x="793790" y="475261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The framework is derived from military operational doctrine and adapted to the digital domain to address advanced persistent threats (APTs) such as </a:t>
            </a:r>
            <a:r>
              <a:rPr lang="en-US" sz="1750" b="1" dirty="0">
                <a:solidFill>
                  <a:srgbClr val="272525"/>
                </a:solidFill>
                <a:latin typeface="Lato" pitchFamily="34" charset="0"/>
                <a:ea typeface="Lato" pitchFamily="34" charset="-122"/>
                <a:cs typeface="Lato" pitchFamily="34" charset="-120"/>
              </a:rPr>
              <a:t>malware, ransomware, phishing, and social engineering attacks</a:t>
            </a:r>
            <a:r>
              <a:rPr lang="en-US" sz="1750" dirty="0">
                <a:solidFill>
                  <a:srgbClr val="272525"/>
                </a:solidFill>
                <a:latin typeface="Lato" pitchFamily="34" charset="0"/>
                <a:ea typeface="Lato" pitchFamily="34" charset="-122"/>
                <a:cs typeface="Lato" pitchFamily="34" charset="-120"/>
              </a:rPr>
              <a: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5325" y="653653"/>
            <a:ext cx="4609267" cy="322778"/>
          </a:xfrm>
          <a:prstGeom prst="rect">
            <a:avLst/>
          </a:prstGeom>
          <a:noFill/>
          <a:ln/>
        </p:spPr>
        <p:txBody>
          <a:bodyPr wrap="none" lIns="0" tIns="0" rIns="0" bIns="0" rtlCol="0" anchor="t"/>
          <a:lstStyle/>
          <a:p>
            <a:pPr marL="0" indent="0" algn="l">
              <a:lnSpc>
                <a:spcPts val="2500"/>
              </a:lnSpc>
              <a:buNone/>
            </a:pPr>
            <a:r>
              <a:rPr lang="en-US" sz="2000" dirty="0">
                <a:solidFill>
                  <a:srgbClr val="312F2B"/>
                </a:solidFill>
                <a:latin typeface="Gelasio" pitchFamily="34" charset="0"/>
                <a:ea typeface="Gelasio" pitchFamily="34" charset="-122"/>
                <a:cs typeface="Gelasio" pitchFamily="34" charset="-120"/>
              </a:rPr>
              <a:t>The Seven Stages of the Cyber Kill Chain</a:t>
            </a:r>
            <a:endParaRPr lang="en-US" sz="2000" dirty="0"/>
          </a:p>
        </p:txBody>
      </p:sp>
      <p:sp>
        <p:nvSpPr>
          <p:cNvPr id="3" name="Shape 1"/>
          <p:cNvSpPr/>
          <p:nvPr/>
        </p:nvSpPr>
        <p:spPr>
          <a:xfrm>
            <a:off x="695325" y="1123474"/>
            <a:ext cx="13239750" cy="858798"/>
          </a:xfrm>
          <a:prstGeom prst="roundRect">
            <a:avLst>
              <a:gd name="adj" fmla="val 6316"/>
            </a:avLst>
          </a:prstGeom>
          <a:solidFill>
            <a:srgbClr val="FFFFFF">
              <a:alpha val="95000"/>
            </a:srgbClr>
          </a:solidFill>
          <a:ln w="15240">
            <a:solidFill>
              <a:srgbClr val="CECEC9"/>
            </a:solidFill>
            <a:prstDash val="solid"/>
          </a:ln>
        </p:spPr>
      </p:sp>
      <p:sp>
        <p:nvSpPr>
          <p:cNvPr id="4" name="Shape 2"/>
          <p:cNvSpPr/>
          <p:nvPr/>
        </p:nvSpPr>
        <p:spPr>
          <a:xfrm>
            <a:off x="710565" y="1138714"/>
            <a:ext cx="516493" cy="828318"/>
          </a:xfrm>
          <a:prstGeom prst="roundRect">
            <a:avLst>
              <a:gd name="adj" fmla="val 6961"/>
            </a:avLst>
          </a:prstGeom>
          <a:solidFill>
            <a:srgbClr val="E8E8E3"/>
          </a:solidFill>
          <a:ln/>
        </p:spPr>
      </p:sp>
      <p:sp>
        <p:nvSpPr>
          <p:cNvPr id="5" name="Text 3"/>
          <p:cNvSpPr/>
          <p:nvPr/>
        </p:nvSpPr>
        <p:spPr>
          <a:xfrm>
            <a:off x="868204" y="1431846"/>
            <a:ext cx="193596" cy="242054"/>
          </a:xfrm>
          <a:prstGeom prst="rect">
            <a:avLst/>
          </a:prstGeom>
          <a:noFill/>
          <a:ln/>
        </p:spPr>
        <p:txBody>
          <a:bodyPr wrap="none" lIns="0" tIns="0" rIns="0" bIns="0" rtlCol="0" anchor="t"/>
          <a:lstStyle/>
          <a:p>
            <a:pPr marL="0" indent="0" algn="l">
              <a:lnSpc>
                <a:spcPts val="1500"/>
              </a:lnSpc>
              <a:buNone/>
            </a:pPr>
            <a:r>
              <a:rPr lang="en-US" sz="1500" dirty="0">
                <a:solidFill>
                  <a:srgbClr val="272525"/>
                </a:solidFill>
                <a:latin typeface="Gelasio" pitchFamily="34" charset="0"/>
                <a:ea typeface="Gelasio" pitchFamily="34" charset="-122"/>
                <a:cs typeface="Gelasio" pitchFamily="34" charset="-120"/>
              </a:rPr>
              <a:t>1</a:t>
            </a:r>
            <a:endParaRPr lang="en-US" sz="1500" dirty="0"/>
          </a:p>
        </p:txBody>
      </p:sp>
      <p:sp>
        <p:nvSpPr>
          <p:cNvPr id="6" name="Text 4"/>
          <p:cNvSpPr/>
          <p:nvPr/>
        </p:nvSpPr>
        <p:spPr>
          <a:xfrm>
            <a:off x="1300520" y="1267778"/>
            <a:ext cx="1614249" cy="201811"/>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Reconnaissance</a:t>
            </a:r>
            <a:endParaRPr lang="en-US" sz="1250" dirty="0"/>
          </a:p>
        </p:txBody>
      </p:sp>
      <p:sp>
        <p:nvSpPr>
          <p:cNvPr id="7" name="Text 5"/>
          <p:cNvSpPr/>
          <p:nvPr/>
        </p:nvSpPr>
        <p:spPr>
          <a:xfrm>
            <a:off x="1300520" y="1513642"/>
            <a:ext cx="12490252" cy="324326"/>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latin typeface="Lato" pitchFamily="34" charset="0"/>
                <a:ea typeface="Lato" pitchFamily="34" charset="-122"/>
                <a:cs typeface="Lato" pitchFamily="34" charset="-120"/>
              </a:rPr>
              <a:t>Attackers gather intelligence about the target organization. This may include open-source intelligence (OSINT), scanning for exposed services, identifying key personnel, or mapping network architecture. Reconnaissance is often passive and may involve automated tools to detect vulnerabilities or misconfigurations.</a:t>
            </a:r>
            <a:endParaRPr lang="en-US" sz="1000" dirty="0"/>
          </a:p>
        </p:txBody>
      </p:sp>
      <p:sp>
        <p:nvSpPr>
          <p:cNvPr id="8" name="Shape 6"/>
          <p:cNvSpPr/>
          <p:nvPr/>
        </p:nvSpPr>
        <p:spPr>
          <a:xfrm>
            <a:off x="695325" y="2055733"/>
            <a:ext cx="13239750" cy="858798"/>
          </a:xfrm>
          <a:prstGeom prst="roundRect">
            <a:avLst>
              <a:gd name="adj" fmla="val 6316"/>
            </a:avLst>
          </a:prstGeom>
          <a:solidFill>
            <a:srgbClr val="FFFFFF">
              <a:alpha val="95000"/>
            </a:srgbClr>
          </a:solidFill>
          <a:ln w="15240">
            <a:solidFill>
              <a:srgbClr val="CECEC9"/>
            </a:solidFill>
            <a:prstDash val="solid"/>
          </a:ln>
        </p:spPr>
      </p:sp>
      <p:sp>
        <p:nvSpPr>
          <p:cNvPr id="9" name="Shape 7"/>
          <p:cNvSpPr/>
          <p:nvPr/>
        </p:nvSpPr>
        <p:spPr>
          <a:xfrm>
            <a:off x="710565" y="2070973"/>
            <a:ext cx="516493" cy="828318"/>
          </a:xfrm>
          <a:prstGeom prst="roundRect">
            <a:avLst>
              <a:gd name="adj" fmla="val 6961"/>
            </a:avLst>
          </a:prstGeom>
          <a:solidFill>
            <a:srgbClr val="E8E8E3"/>
          </a:solidFill>
          <a:ln/>
        </p:spPr>
      </p:sp>
      <p:sp>
        <p:nvSpPr>
          <p:cNvPr id="10" name="Text 8"/>
          <p:cNvSpPr/>
          <p:nvPr/>
        </p:nvSpPr>
        <p:spPr>
          <a:xfrm>
            <a:off x="868204" y="2364105"/>
            <a:ext cx="193596" cy="242054"/>
          </a:xfrm>
          <a:prstGeom prst="rect">
            <a:avLst/>
          </a:prstGeom>
          <a:noFill/>
          <a:ln/>
        </p:spPr>
        <p:txBody>
          <a:bodyPr wrap="none" lIns="0" tIns="0" rIns="0" bIns="0" rtlCol="0" anchor="t"/>
          <a:lstStyle/>
          <a:p>
            <a:pPr marL="0" indent="0" algn="l">
              <a:lnSpc>
                <a:spcPts val="1500"/>
              </a:lnSpc>
              <a:buNone/>
            </a:pPr>
            <a:r>
              <a:rPr lang="en-US" sz="1500" dirty="0">
                <a:solidFill>
                  <a:srgbClr val="272525"/>
                </a:solidFill>
                <a:latin typeface="Gelasio" pitchFamily="34" charset="0"/>
                <a:ea typeface="Gelasio" pitchFamily="34" charset="-122"/>
                <a:cs typeface="Gelasio" pitchFamily="34" charset="-120"/>
              </a:rPr>
              <a:t>2</a:t>
            </a:r>
            <a:endParaRPr lang="en-US" sz="1500" dirty="0"/>
          </a:p>
        </p:txBody>
      </p:sp>
      <p:sp>
        <p:nvSpPr>
          <p:cNvPr id="11" name="Text 9"/>
          <p:cNvSpPr/>
          <p:nvPr/>
        </p:nvSpPr>
        <p:spPr>
          <a:xfrm>
            <a:off x="1300520" y="2200037"/>
            <a:ext cx="1614249" cy="201811"/>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Weaponization</a:t>
            </a:r>
            <a:endParaRPr lang="en-US" sz="1250" dirty="0"/>
          </a:p>
        </p:txBody>
      </p:sp>
      <p:sp>
        <p:nvSpPr>
          <p:cNvPr id="12" name="Text 10"/>
          <p:cNvSpPr/>
          <p:nvPr/>
        </p:nvSpPr>
        <p:spPr>
          <a:xfrm>
            <a:off x="1300520" y="2445901"/>
            <a:ext cx="12490252" cy="324326"/>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latin typeface="Lato" pitchFamily="34" charset="0"/>
                <a:ea typeface="Lato" pitchFamily="34" charset="-122"/>
                <a:cs typeface="Lato" pitchFamily="34" charset="-120"/>
              </a:rPr>
              <a:t>Based on reconnaissance findings, attackers develop or customize malicious payloads. This may involve embedding malware into legitimate files, crafting phishing emails with malicious attachments, or exploiting known software vulnerabilities to create exploit kits.</a:t>
            </a:r>
            <a:endParaRPr lang="en-US" sz="1000" dirty="0"/>
          </a:p>
        </p:txBody>
      </p:sp>
      <p:sp>
        <p:nvSpPr>
          <p:cNvPr id="13" name="Shape 11"/>
          <p:cNvSpPr/>
          <p:nvPr/>
        </p:nvSpPr>
        <p:spPr>
          <a:xfrm>
            <a:off x="695325" y="2987993"/>
            <a:ext cx="13239750" cy="858798"/>
          </a:xfrm>
          <a:prstGeom prst="roundRect">
            <a:avLst>
              <a:gd name="adj" fmla="val 6316"/>
            </a:avLst>
          </a:prstGeom>
          <a:solidFill>
            <a:srgbClr val="FFFFFF">
              <a:alpha val="95000"/>
            </a:srgbClr>
          </a:solidFill>
          <a:ln w="15240">
            <a:solidFill>
              <a:srgbClr val="CECEC9"/>
            </a:solidFill>
            <a:prstDash val="solid"/>
          </a:ln>
        </p:spPr>
      </p:sp>
      <p:sp>
        <p:nvSpPr>
          <p:cNvPr id="14" name="Shape 12"/>
          <p:cNvSpPr/>
          <p:nvPr/>
        </p:nvSpPr>
        <p:spPr>
          <a:xfrm>
            <a:off x="710565" y="3003233"/>
            <a:ext cx="516493" cy="828318"/>
          </a:xfrm>
          <a:prstGeom prst="roundRect">
            <a:avLst>
              <a:gd name="adj" fmla="val 6961"/>
            </a:avLst>
          </a:prstGeom>
          <a:solidFill>
            <a:srgbClr val="E8E8E3"/>
          </a:solidFill>
          <a:ln/>
        </p:spPr>
      </p:sp>
      <p:sp>
        <p:nvSpPr>
          <p:cNvPr id="15" name="Text 13"/>
          <p:cNvSpPr/>
          <p:nvPr/>
        </p:nvSpPr>
        <p:spPr>
          <a:xfrm>
            <a:off x="868204" y="3296364"/>
            <a:ext cx="193596" cy="242054"/>
          </a:xfrm>
          <a:prstGeom prst="rect">
            <a:avLst/>
          </a:prstGeom>
          <a:noFill/>
          <a:ln/>
        </p:spPr>
        <p:txBody>
          <a:bodyPr wrap="none" lIns="0" tIns="0" rIns="0" bIns="0" rtlCol="0" anchor="t"/>
          <a:lstStyle/>
          <a:p>
            <a:pPr marL="0" indent="0" algn="l">
              <a:lnSpc>
                <a:spcPts val="1500"/>
              </a:lnSpc>
              <a:buNone/>
            </a:pPr>
            <a:r>
              <a:rPr lang="en-US" sz="1500" dirty="0">
                <a:solidFill>
                  <a:srgbClr val="272525"/>
                </a:solidFill>
                <a:latin typeface="Gelasio" pitchFamily="34" charset="0"/>
                <a:ea typeface="Gelasio" pitchFamily="34" charset="-122"/>
                <a:cs typeface="Gelasio" pitchFamily="34" charset="-120"/>
              </a:rPr>
              <a:t>3</a:t>
            </a:r>
            <a:endParaRPr lang="en-US" sz="1500" dirty="0"/>
          </a:p>
        </p:txBody>
      </p:sp>
      <p:sp>
        <p:nvSpPr>
          <p:cNvPr id="16" name="Text 14"/>
          <p:cNvSpPr/>
          <p:nvPr/>
        </p:nvSpPr>
        <p:spPr>
          <a:xfrm>
            <a:off x="1300520" y="3132296"/>
            <a:ext cx="1614249" cy="201811"/>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Delivery</a:t>
            </a:r>
            <a:endParaRPr lang="en-US" sz="1250" dirty="0"/>
          </a:p>
        </p:txBody>
      </p:sp>
      <p:sp>
        <p:nvSpPr>
          <p:cNvPr id="17" name="Text 15"/>
          <p:cNvSpPr/>
          <p:nvPr/>
        </p:nvSpPr>
        <p:spPr>
          <a:xfrm>
            <a:off x="1300520" y="3378160"/>
            <a:ext cx="12490252" cy="324326"/>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latin typeface="Lato" pitchFamily="34" charset="0"/>
                <a:ea typeface="Lato" pitchFamily="34" charset="-122"/>
                <a:cs typeface="Lato" pitchFamily="34" charset="-120"/>
              </a:rPr>
              <a:t>The weaponized payload is transmitted to the target. Common delivery vectors include email (phishing), compromised websites (drive-by downloads), or removable media. The goal is to bypass perimeter defenses and reach a user or system within the target environment.</a:t>
            </a:r>
            <a:endParaRPr lang="en-US" sz="1000" dirty="0"/>
          </a:p>
        </p:txBody>
      </p:sp>
      <p:sp>
        <p:nvSpPr>
          <p:cNvPr id="18" name="Shape 16"/>
          <p:cNvSpPr/>
          <p:nvPr/>
        </p:nvSpPr>
        <p:spPr>
          <a:xfrm>
            <a:off x="695325" y="3920252"/>
            <a:ext cx="13239750" cy="858798"/>
          </a:xfrm>
          <a:prstGeom prst="roundRect">
            <a:avLst>
              <a:gd name="adj" fmla="val 6316"/>
            </a:avLst>
          </a:prstGeom>
          <a:solidFill>
            <a:srgbClr val="FFFFFF">
              <a:alpha val="95000"/>
            </a:srgbClr>
          </a:solidFill>
          <a:ln w="15240">
            <a:solidFill>
              <a:srgbClr val="CECEC9"/>
            </a:solidFill>
            <a:prstDash val="solid"/>
          </a:ln>
        </p:spPr>
      </p:sp>
      <p:sp>
        <p:nvSpPr>
          <p:cNvPr id="19" name="Shape 17"/>
          <p:cNvSpPr/>
          <p:nvPr/>
        </p:nvSpPr>
        <p:spPr>
          <a:xfrm>
            <a:off x="710565" y="3935492"/>
            <a:ext cx="516493" cy="828318"/>
          </a:xfrm>
          <a:prstGeom prst="roundRect">
            <a:avLst>
              <a:gd name="adj" fmla="val 6961"/>
            </a:avLst>
          </a:prstGeom>
          <a:solidFill>
            <a:srgbClr val="E8E8E3"/>
          </a:solidFill>
          <a:ln/>
        </p:spPr>
      </p:sp>
      <p:sp>
        <p:nvSpPr>
          <p:cNvPr id="20" name="Text 18"/>
          <p:cNvSpPr/>
          <p:nvPr/>
        </p:nvSpPr>
        <p:spPr>
          <a:xfrm>
            <a:off x="868204" y="4228624"/>
            <a:ext cx="193596" cy="242054"/>
          </a:xfrm>
          <a:prstGeom prst="rect">
            <a:avLst/>
          </a:prstGeom>
          <a:noFill/>
          <a:ln/>
        </p:spPr>
        <p:txBody>
          <a:bodyPr wrap="none" lIns="0" tIns="0" rIns="0" bIns="0" rtlCol="0" anchor="t"/>
          <a:lstStyle/>
          <a:p>
            <a:pPr marL="0" indent="0" algn="l">
              <a:lnSpc>
                <a:spcPts val="1500"/>
              </a:lnSpc>
              <a:buNone/>
            </a:pPr>
            <a:r>
              <a:rPr lang="en-US" sz="1500" dirty="0">
                <a:solidFill>
                  <a:srgbClr val="272525"/>
                </a:solidFill>
                <a:latin typeface="Gelasio" pitchFamily="34" charset="0"/>
                <a:ea typeface="Gelasio" pitchFamily="34" charset="-122"/>
                <a:cs typeface="Gelasio" pitchFamily="34" charset="-120"/>
              </a:rPr>
              <a:t>4</a:t>
            </a:r>
            <a:endParaRPr lang="en-US" sz="1500" dirty="0"/>
          </a:p>
        </p:txBody>
      </p:sp>
      <p:sp>
        <p:nvSpPr>
          <p:cNvPr id="21" name="Text 19"/>
          <p:cNvSpPr/>
          <p:nvPr/>
        </p:nvSpPr>
        <p:spPr>
          <a:xfrm>
            <a:off x="1300520" y="4064556"/>
            <a:ext cx="1614249" cy="201811"/>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Exploitation</a:t>
            </a:r>
            <a:endParaRPr lang="en-US" sz="1250" dirty="0"/>
          </a:p>
        </p:txBody>
      </p:sp>
      <p:sp>
        <p:nvSpPr>
          <p:cNvPr id="22" name="Text 20"/>
          <p:cNvSpPr/>
          <p:nvPr/>
        </p:nvSpPr>
        <p:spPr>
          <a:xfrm>
            <a:off x="1300520" y="4310420"/>
            <a:ext cx="12490252" cy="324326"/>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latin typeface="Lato" pitchFamily="34" charset="0"/>
                <a:ea typeface="Lato" pitchFamily="34" charset="-122"/>
                <a:cs typeface="Lato" pitchFamily="34" charset="-120"/>
              </a:rPr>
              <a:t>Once the payload is delivered, the attacker exploits a vulnerability to execute code on the target system. This may involve exploiting unpatched software, misconfigured services, or user error (e.g., clicking a malicious link). Exploitation allows the attacker to gain initial access and begin lateral movement.</a:t>
            </a:r>
            <a:endParaRPr lang="en-US" sz="1000" dirty="0"/>
          </a:p>
        </p:txBody>
      </p:sp>
      <p:sp>
        <p:nvSpPr>
          <p:cNvPr id="23" name="Shape 21"/>
          <p:cNvSpPr/>
          <p:nvPr/>
        </p:nvSpPr>
        <p:spPr>
          <a:xfrm>
            <a:off x="695325" y="4852511"/>
            <a:ext cx="13239750" cy="858798"/>
          </a:xfrm>
          <a:prstGeom prst="roundRect">
            <a:avLst>
              <a:gd name="adj" fmla="val 6316"/>
            </a:avLst>
          </a:prstGeom>
          <a:solidFill>
            <a:srgbClr val="FFFFFF">
              <a:alpha val="95000"/>
            </a:srgbClr>
          </a:solidFill>
          <a:ln w="15240">
            <a:solidFill>
              <a:srgbClr val="CECEC9"/>
            </a:solidFill>
            <a:prstDash val="solid"/>
          </a:ln>
        </p:spPr>
      </p:sp>
      <p:sp>
        <p:nvSpPr>
          <p:cNvPr id="24" name="Shape 22"/>
          <p:cNvSpPr/>
          <p:nvPr/>
        </p:nvSpPr>
        <p:spPr>
          <a:xfrm>
            <a:off x="710565" y="4867751"/>
            <a:ext cx="516493" cy="828318"/>
          </a:xfrm>
          <a:prstGeom prst="roundRect">
            <a:avLst>
              <a:gd name="adj" fmla="val 6961"/>
            </a:avLst>
          </a:prstGeom>
          <a:solidFill>
            <a:srgbClr val="E8E8E3"/>
          </a:solidFill>
          <a:ln/>
        </p:spPr>
      </p:sp>
      <p:sp>
        <p:nvSpPr>
          <p:cNvPr id="25" name="Text 23"/>
          <p:cNvSpPr/>
          <p:nvPr/>
        </p:nvSpPr>
        <p:spPr>
          <a:xfrm>
            <a:off x="868204" y="5160883"/>
            <a:ext cx="193596" cy="242054"/>
          </a:xfrm>
          <a:prstGeom prst="rect">
            <a:avLst/>
          </a:prstGeom>
          <a:noFill/>
          <a:ln/>
        </p:spPr>
        <p:txBody>
          <a:bodyPr wrap="none" lIns="0" tIns="0" rIns="0" bIns="0" rtlCol="0" anchor="t"/>
          <a:lstStyle/>
          <a:p>
            <a:pPr marL="0" indent="0" algn="l">
              <a:lnSpc>
                <a:spcPts val="1500"/>
              </a:lnSpc>
              <a:buNone/>
            </a:pPr>
            <a:r>
              <a:rPr lang="en-US" sz="1500" dirty="0">
                <a:solidFill>
                  <a:srgbClr val="272525"/>
                </a:solidFill>
                <a:latin typeface="Gelasio" pitchFamily="34" charset="0"/>
                <a:ea typeface="Gelasio" pitchFamily="34" charset="-122"/>
                <a:cs typeface="Gelasio" pitchFamily="34" charset="-120"/>
              </a:rPr>
              <a:t>5</a:t>
            </a:r>
            <a:endParaRPr lang="en-US" sz="1500" dirty="0"/>
          </a:p>
        </p:txBody>
      </p:sp>
      <p:sp>
        <p:nvSpPr>
          <p:cNvPr id="26" name="Text 24"/>
          <p:cNvSpPr/>
          <p:nvPr/>
        </p:nvSpPr>
        <p:spPr>
          <a:xfrm>
            <a:off x="1300520" y="4996815"/>
            <a:ext cx="1614249" cy="201811"/>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Installation</a:t>
            </a:r>
            <a:endParaRPr lang="en-US" sz="1250" dirty="0"/>
          </a:p>
        </p:txBody>
      </p:sp>
      <p:sp>
        <p:nvSpPr>
          <p:cNvPr id="27" name="Text 25"/>
          <p:cNvSpPr/>
          <p:nvPr/>
        </p:nvSpPr>
        <p:spPr>
          <a:xfrm>
            <a:off x="1300520" y="5242679"/>
            <a:ext cx="12490252" cy="324326"/>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latin typeface="Lato" pitchFamily="34" charset="0"/>
                <a:ea typeface="Lato" pitchFamily="34" charset="-122"/>
                <a:cs typeface="Lato" pitchFamily="34" charset="-120"/>
              </a:rPr>
              <a:t>The attacker installs malware or backdoors to maintain persistent access. This may include deploying remote access trojans (RATs), creating scheduled tasks, or modifying system configurations to evade detection. Installation ensures the attacker can return even if initial access is lost.</a:t>
            </a:r>
            <a:endParaRPr lang="en-US" sz="1000" dirty="0"/>
          </a:p>
        </p:txBody>
      </p:sp>
      <p:sp>
        <p:nvSpPr>
          <p:cNvPr id="28" name="Shape 26"/>
          <p:cNvSpPr/>
          <p:nvPr/>
        </p:nvSpPr>
        <p:spPr>
          <a:xfrm>
            <a:off x="695325" y="5784771"/>
            <a:ext cx="13239750" cy="858798"/>
          </a:xfrm>
          <a:prstGeom prst="roundRect">
            <a:avLst>
              <a:gd name="adj" fmla="val 6316"/>
            </a:avLst>
          </a:prstGeom>
          <a:solidFill>
            <a:srgbClr val="FFFFFF">
              <a:alpha val="95000"/>
            </a:srgbClr>
          </a:solidFill>
          <a:ln w="15240">
            <a:solidFill>
              <a:srgbClr val="CECEC9"/>
            </a:solidFill>
            <a:prstDash val="solid"/>
          </a:ln>
        </p:spPr>
      </p:sp>
      <p:sp>
        <p:nvSpPr>
          <p:cNvPr id="29" name="Shape 27"/>
          <p:cNvSpPr/>
          <p:nvPr/>
        </p:nvSpPr>
        <p:spPr>
          <a:xfrm>
            <a:off x="710565" y="5800011"/>
            <a:ext cx="516493" cy="828318"/>
          </a:xfrm>
          <a:prstGeom prst="roundRect">
            <a:avLst>
              <a:gd name="adj" fmla="val 6961"/>
            </a:avLst>
          </a:prstGeom>
          <a:solidFill>
            <a:srgbClr val="E8E8E3"/>
          </a:solidFill>
          <a:ln/>
        </p:spPr>
      </p:sp>
      <p:sp>
        <p:nvSpPr>
          <p:cNvPr id="30" name="Text 28"/>
          <p:cNvSpPr/>
          <p:nvPr/>
        </p:nvSpPr>
        <p:spPr>
          <a:xfrm>
            <a:off x="868204" y="6093142"/>
            <a:ext cx="193596" cy="242054"/>
          </a:xfrm>
          <a:prstGeom prst="rect">
            <a:avLst/>
          </a:prstGeom>
          <a:noFill/>
          <a:ln/>
        </p:spPr>
        <p:txBody>
          <a:bodyPr wrap="none" lIns="0" tIns="0" rIns="0" bIns="0" rtlCol="0" anchor="t"/>
          <a:lstStyle/>
          <a:p>
            <a:pPr marL="0" indent="0" algn="l">
              <a:lnSpc>
                <a:spcPts val="1500"/>
              </a:lnSpc>
              <a:buNone/>
            </a:pPr>
            <a:r>
              <a:rPr lang="en-US" sz="1500" dirty="0">
                <a:solidFill>
                  <a:srgbClr val="272525"/>
                </a:solidFill>
                <a:latin typeface="Gelasio" pitchFamily="34" charset="0"/>
                <a:ea typeface="Gelasio" pitchFamily="34" charset="-122"/>
                <a:cs typeface="Gelasio" pitchFamily="34" charset="-120"/>
              </a:rPr>
              <a:t>6</a:t>
            </a:r>
            <a:endParaRPr lang="en-US" sz="1500" dirty="0"/>
          </a:p>
        </p:txBody>
      </p:sp>
      <p:sp>
        <p:nvSpPr>
          <p:cNvPr id="31" name="Text 29"/>
          <p:cNvSpPr/>
          <p:nvPr/>
        </p:nvSpPr>
        <p:spPr>
          <a:xfrm>
            <a:off x="1300520" y="5929074"/>
            <a:ext cx="1985605" cy="201811"/>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Command and Control (C2)</a:t>
            </a:r>
            <a:endParaRPr lang="en-US" sz="1250" dirty="0"/>
          </a:p>
        </p:txBody>
      </p:sp>
      <p:sp>
        <p:nvSpPr>
          <p:cNvPr id="32" name="Text 30"/>
          <p:cNvSpPr/>
          <p:nvPr/>
        </p:nvSpPr>
        <p:spPr>
          <a:xfrm>
            <a:off x="1300520" y="6174938"/>
            <a:ext cx="12490252" cy="324326"/>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latin typeface="Lato" pitchFamily="34" charset="0"/>
                <a:ea typeface="Lato" pitchFamily="34" charset="-122"/>
                <a:cs typeface="Lato" pitchFamily="34" charset="-120"/>
              </a:rPr>
              <a:t>The compromised system establishes communication with the attacker's infrastructure. This enables remote control, data exfiltration, and further command execution. Attackers often use encrypted channels, domain generation algorithms (DGAs), or legitimate cloud services to mask C2 traffic.</a:t>
            </a:r>
            <a:endParaRPr lang="en-US" sz="1000" dirty="0"/>
          </a:p>
        </p:txBody>
      </p:sp>
      <p:sp>
        <p:nvSpPr>
          <p:cNvPr id="33" name="Shape 31"/>
          <p:cNvSpPr/>
          <p:nvPr/>
        </p:nvSpPr>
        <p:spPr>
          <a:xfrm>
            <a:off x="695325" y="6717030"/>
            <a:ext cx="13239750" cy="858798"/>
          </a:xfrm>
          <a:prstGeom prst="roundRect">
            <a:avLst>
              <a:gd name="adj" fmla="val 6316"/>
            </a:avLst>
          </a:prstGeom>
          <a:solidFill>
            <a:srgbClr val="FFFFFF">
              <a:alpha val="95000"/>
            </a:srgbClr>
          </a:solidFill>
          <a:ln w="15240">
            <a:solidFill>
              <a:srgbClr val="CECEC9"/>
            </a:solidFill>
            <a:prstDash val="solid"/>
          </a:ln>
        </p:spPr>
      </p:sp>
      <p:sp>
        <p:nvSpPr>
          <p:cNvPr id="34" name="Shape 32"/>
          <p:cNvSpPr/>
          <p:nvPr/>
        </p:nvSpPr>
        <p:spPr>
          <a:xfrm>
            <a:off x="710565" y="6732270"/>
            <a:ext cx="516493" cy="828318"/>
          </a:xfrm>
          <a:prstGeom prst="roundRect">
            <a:avLst>
              <a:gd name="adj" fmla="val 6961"/>
            </a:avLst>
          </a:prstGeom>
          <a:solidFill>
            <a:srgbClr val="E8E8E3"/>
          </a:solidFill>
          <a:ln/>
        </p:spPr>
      </p:sp>
      <p:sp>
        <p:nvSpPr>
          <p:cNvPr id="35" name="Text 33"/>
          <p:cNvSpPr/>
          <p:nvPr/>
        </p:nvSpPr>
        <p:spPr>
          <a:xfrm>
            <a:off x="868204" y="7025402"/>
            <a:ext cx="193596" cy="242054"/>
          </a:xfrm>
          <a:prstGeom prst="rect">
            <a:avLst/>
          </a:prstGeom>
          <a:noFill/>
          <a:ln/>
        </p:spPr>
        <p:txBody>
          <a:bodyPr wrap="none" lIns="0" tIns="0" rIns="0" bIns="0" rtlCol="0" anchor="t"/>
          <a:lstStyle/>
          <a:p>
            <a:pPr marL="0" indent="0" algn="l">
              <a:lnSpc>
                <a:spcPts val="1500"/>
              </a:lnSpc>
              <a:buNone/>
            </a:pPr>
            <a:r>
              <a:rPr lang="en-US" sz="1500" dirty="0">
                <a:solidFill>
                  <a:srgbClr val="272525"/>
                </a:solidFill>
                <a:latin typeface="Gelasio" pitchFamily="34" charset="0"/>
                <a:ea typeface="Gelasio" pitchFamily="34" charset="-122"/>
                <a:cs typeface="Gelasio" pitchFamily="34" charset="-120"/>
              </a:rPr>
              <a:t>7</a:t>
            </a:r>
            <a:endParaRPr lang="en-US" sz="1500" dirty="0"/>
          </a:p>
        </p:txBody>
      </p:sp>
      <p:sp>
        <p:nvSpPr>
          <p:cNvPr id="36" name="Text 34"/>
          <p:cNvSpPr/>
          <p:nvPr/>
        </p:nvSpPr>
        <p:spPr>
          <a:xfrm>
            <a:off x="1300520" y="6861334"/>
            <a:ext cx="1614249" cy="201811"/>
          </a:xfrm>
          <a:prstGeom prst="rect">
            <a:avLst/>
          </a:prstGeom>
          <a:noFill/>
          <a:ln/>
        </p:spPr>
        <p:txBody>
          <a:bodyPr wrap="none" lIns="0" tIns="0" rIns="0" bIns="0" rtlCol="0" anchor="t"/>
          <a:lstStyle/>
          <a:p>
            <a:pPr marL="0" indent="0" algn="l">
              <a:lnSpc>
                <a:spcPts val="1550"/>
              </a:lnSpc>
              <a:buNone/>
            </a:pPr>
            <a:r>
              <a:rPr lang="en-US" sz="1250" dirty="0">
                <a:solidFill>
                  <a:srgbClr val="272525"/>
                </a:solidFill>
                <a:latin typeface="Gelasio" pitchFamily="34" charset="0"/>
                <a:ea typeface="Gelasio" pitchFamily="34" charset="-122"/>
                <a:cs typeface="Gelasio" pitchFamily="34" charset="-120"/>
              </a:rPr>
              <a:t>Actions on Objectives</a:t>
            </a:r>
            <a:endParaRPr lang="en-US" sz="1250" dirty="0"/>
          </a:p>
        </p:txBody>
      </p:sp>
      <p:sp>
        <p:nvSpPr>
          <p:cNvPr id="37" name="Text 35"/>
          <p:cNvSpPr/>
          <p:nvPr/>
        </p:nvSpPr>
        <p:spPr>
          <a:xfrm>
            <a:off x="1300520" y="7107198"/>
            <a:ext cx="12490252" cy="324326"/>
          </a:xfrm>
          <a:prstGeom prst="rect">
            <a:avLst/>
          </a:prstGeom>
          <a:noFill/>
          <a:ln/>
        </p:spPr>
        <p:txBody>
          <a:bodyPr wrap="square" lIns="0" tIns="0" rIns="0" bIns="0" rtlCol="0" anchor="t"/>
          <a:lstStyle/>
          <a:p>
            <a:pPr marL="0" indent="0" algn="l">
              <a:lnSpc>
                <a:spcPts val="1250"/>
              </a:lnSpc>
              <a:buNone/>
            </a:pPr>
            <a:r>
              <a:rPr lang="en-US" sz="1000" dirty="0">
                <a:solidFill>
                  <a:srgbClr val="272525"/>
                </a:solidFill>
                <a:latin typeface="Lato" pitchFamily="34" charset="0"/>
                <a:ea typeface="Lato" pitchFamily="34" charset="-122"/>
                <a:cs typeface="Lato" pitchFamily="34" charset="-120"/>
              </a:rPr>
              <a:t>The final stage involves executing the attacker's primary goal. This may include data exfiltration, encryption (ransomware), destruction of systems, or espionage. In some cases, attackers may remain dormant for extended periods to maximize impact or avoid detection.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87241"/>
            <a:ext cx="7273885" cy="425291"/>
          </a:xfrm>
          <a:prstGeom prst="rect">
            <a:avLst/>
          </a:prstGeom>
          <a:noFill/>
          <a:ln/>
        </p:spPr>
        <p:txBody>
          <a:bodyPr wrap="none" lIns="0" tIns="0" rIns="0" bIns="0" rtlCol="0" anchor="t"/>
          <a:lstStyle/>
          <a:p>
            <a:pPr marL="0" indent="0" algn="l">
              <a:lnSpc>
                <a:spcPts val="3300"/>
              </a:lnSpc>
              <a:buNone/>
            </a:pPr>
            <a:r>
              <a:rPr lang="en-US" sz="2650" dirty="0">
                <a:solidFill>
                  <a:srgbClr val="312F2B"/>
                </a:solidFill>
                <a:latin typeface="Gelasio" pitchFamily="34" charset="0"/>
                <a:ea typeface="Gelasio" pitchFamily="34" charset="-122"/>
                <a:cs typeface="Gelasio" pitchFamily="34" charset="-120"/>
              </a:rPr>
              <a:t>Example: A Phishing-Based Ransomware Attack</a:t>
            </a:r>
            <a:endParaRPr lang="en-US" sz="2650" dirty="0"/>
          </a:p>
        </p:txBody>
      </p:sp>
      <p:sp>
        <p:nvSpPr>
          <p:cNvPr id="3" name="Text 1"/>
          <p:cNvSpPr/>
          <p:nvPr/>
        </p:nvSpPr>
        <p:spPr>
          <a:xfrm>
            <a:off x="793790" y="1467683"/>
            <a:ext cx="13042821"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An organization receives a phishing email with a malicious Excel attachment. The attacker's actions align with the Cyber Kill Chain as follows:</a:t>
            </a:r>
            <a:endParaRPr lang="en-US" sz="13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488" y="1854518"/>
            <a:ext cx="255151" cy="255151"/>
          </a:xfrm>
          <a:prstGeom prst="rect">
            <a:avLst/>
          </a:prstGeom>
        </p:spPr>
      </p:pic>
      <p:sp>
        <p:nvSpPr>
          <p:cNvPr id="5" name="Text 2"/>
          <p:cNvSpPr/>
          <p:nvPr/>
        </p:nvSpPr>
        <p:spPr>
          <a:xfrm>
            <a:off x="1346478" y="1849279"/>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Gelasio" pitchFamily="34" charset="0"/>
                <a:ea typeface="Gelasio" pitchFamily="34" charset="-122"/>
                <a:cs typeface="Gelasio" pitchFamily="34" charset="-120"/>
              </a:rPr>
              <a:t>Reconnaissance</a:t>
            </a:r>
            <a:endParaRPr lang="en-US" sz="1650" dirty="0"/>
          </a:p>
        </p:txBody>
      </p:sp>
      <p:sp>
        <p:nvSpPr>
          <p:cNvPr id="6" name="Text 3"/>
          <p:cNvSpPr/>
          <p:nvPr/>
        </p:nvSpPr>
        <p:spPr>
          <a:xfrm>
            <a:off x="1346478" y="2191464"/>
            <a:ext cx="12490133"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The attacker identifies employees in the finance department via LinkedIn and corporate websites.</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488" y="2689979"/>
            <a:ext cx="255151" cy="255151"/>
          </a:xfrm>
          <a:prstGeom prst="rect">
            <a:avLst/>
          </a:prstGeom>
        </p:spPr>
      </p:pic>
      <p:sp>
        <p:nvSpPr>
          <p:cNvPr id="8" name="Text 4"/>
          <p:cNvSpPr/>
          <p:nvPr/>
        </p:nvSpPr>
        <p:spPr>
          <a:xfrm>
            <a:off x="1346478" y="2684740"/>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Gelasio" pitchFamily="34" charset="0"/>
                <a:ea typeface="Gelasio" pitchFamily="34" charset="-122"/>
                <a:cs typeface="Gelasio" pitchFamily="34" charset="-120"/>
              </a:rPr>
              <a:t>Weaponization</a:t>
            </a:r>
            <a:endParaRPr lang="en-US" sz="1650" dirty="0"/>
          </a:p>
        </p:txBody>
      </p:sp>
      <p:sp>
        <p:nvSpPr>
          <p:cNvPr id="9" name="Text 5"/>
          <p:cNvSpPr/>
          <p:nvPr/>
        </p:nvSpPr>
        <p:spPr>
          <a:xfrm>
            <a:off x="1346478" y="3026926"/>
            <a:ext cx="12490133"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A macro-enabled Excel file is created, embedding a PowerShell script that downloads ransomware.</a:t>
            </a:r>
            <a:endParaRPr lang="en-US" sz="13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488" y="3525441"/>
            <a:ext cx="255151" cy="255151"/>
          </a:xfrm>
          <a:prstGeom prst="rect">
            <a:avLst/>
          </a:prstGeom>
        </p:spPr>
      </p:pic>
      <p:sp>
        <p:nvSpPr>
          <p:cNvPr id="11" name="Text 6"/>
          <p:cNvSpPr/>
          <p:nvPr/>
        </p:nvSpPr>
        <p:spPr>
          <a:xfrm>
            <a:off x="1346478" y="3520202"/>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Gelasio" pitchFamily="34" charset="0"/>
                <a:ea typeface="Gelasio" pitchFamily="34" charset="-122"/>
                <a:cs typeface="Gelasio" pitchFamily="34" charset="-120"/>
              </a:rPr>
              <a:t>Delivery</a:t>
            </a:r>
            <a:endParaRPr lang="en-US" sz="1650" dirty="0"/>
          </a:p>
        </p:txBody>
      </p:sp>
      <p:sp>
        <p:nvSpPr>
          <p:cNvPr id="12" name="Text 7"/>
          <p:cNvSpPr/>
          <p:nvPr/>
        </p:nvSpPr>
        <p:spPr>
          <a:xfrm>
            <a:off x="1346478" y="3862388"/>
            <a:ext cx="12490133"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The email is sent to 50 finance employees, bypassing spam filters via domain spoofing.</a:t>
            </a:r>
            <a:endParaRPr lang="en-US" sz="13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488" y="4360902"/>
            <a:ext cx="255151" cy="255151"/>
          </a:xfrm>
          <a:prstGeom prst="rect">
            <a:avLst/>
          </a:prstGeom>
        </p:spPr>
      </p:pic>
      <p:sp>
        <p:nvSpPr>
          <p:cNvPr id="14" name="Text 8"/>
          <p:cNvSpPr/>
          <p:nvPr/>
        </p:nvSpPr>
        <p:spPr>
          <a:xfrm>
            <a:off x="1346478" y="4355663"/>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Gelasio" pitchFamily="34" charset="0"/>
                <a:ea typeface="Gelasio" pitchFamily="34" charset="-122"/>
                <a:cs typeface="Gelasio" pitchFamily="34" charset="-120"/>
              </a:rPr>
              <a:t>Exploitation</a:t>
            </a:r>
            <a:endParaRPr lang="en-US" sz="1650" dirty="0"/>
          </a:p>
        </p:txBody>
      </p:sp>
      <p:sp>
        <p:nvSpPr>
          <p:cNvPr id="15" name="Text 9"/>
          <p:cNvSpPr/>
          <p:nvPr/>
        </p:nvSpPr>
        <p:spPr>
          <a:xfrm>
            <a:off x="1346478" y="4697849"/>
            <a:ext cx="12490133"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An employee enables macros, executing the script and exploiting a vulnerability in Microsoft Office.</a:t>
            </a:r>
            <a:endParaRPr lang="en-US" sz="13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488" y="5196364"/>
            <a:ext cx="255151" cy="255151"/>
          </a:xfrm>
          <a:prstGeom prst="rect">
            <a:avLst/>
          </a:prstGeom>
        </p:spPr>
      </p:pic>
      <p:sp>
        <p:nvSpPr>
          <p:cNvPr id="17" name="Text 10"/>
          <p:cNvSpPr/>
          <p:nvPr/>
        </p:nvSpPr>
        <p:spPr>
          <a:xfrm>
            <a:off x="1346478" y="5191125"/>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Gelasio" pitchFamily="34" charset="0"/>
                <a:ea typeface="Gelasio" pitchFamily="34" charset="-122"/>
                <a:cs typeface="Gelasio" pitchFamily="34" charset="-120"/>
              </a:rPr>
              <a:t>Installation</a:t>
            </a:r>
            <a:endParaRPr lang="en-US" sz="1650" dirty="0"/>
          </a:p>
        </p:txBody>
      </p:sp>
      <p:sp>
        <p:nvSpPr>
          <p:cNvPr id="18" name="Text 11"/>
          <p:cNvSpPr/>
          <p:nvPr/>
        </p:nvSpPr>
        <p:spPr>
          <a:xfrm>
            <a:off x="1346478" y="5533311"/>
            <a:ext cx="12490133"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The ransomware installs itself as a Windows service and disables security tools.</a:t>
            </a:r>
            <a:endParaRPr lang="en-US" sz="13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488" y="6031825"/>
            <a:ext cx="255151" cy="255151"/>
          </a:xfrm>
          <a:prstGeom prst="rect">
            <a:avLst/>
          </a:prstGeom>
        </p:spPr>
      </p:pic>
      <p:sp>
        <p:nvSpPr>
          <p:cNvPr id="20" name="Text 12"/>
          <p:cNvSpPr/>
          <p:nvPr/>
        </p:nvSpPr>
        <p:spPr>
          <a:xfrm>
            <a:off x="1346478" y="6026587"/>
            <a:ext cx="2149793" cy="265747"/>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Gelasio" pitchFamily="34" charset="0"/>
                <a:ea typeface="Gelasio" pitchFamily="34" charset="-122"/>
                <a:cs typeface="Gelasio" pitchFamily="34" charset="-120"/>
              </a:rPr>
              <a:t>Command and Control</a:t>
            </a:r>
            <a:endParaRPr lang="en-US" sz="1650" dirty="0"/>
          </a:p>
        </p:txBody>
      </p:sp>
      <p:sp>
        <p:nvSpPr>
          <p:cNvPr id="21" name="Text 13"/>
          <p:cNvSpPr/>
          <p:nvPr/>
        </p:nvSpPr>
        <p:spPr>
          <a:xfrm>
            <a:off x="1346478" y="6368772"/>
            <a:ext cx="12490133"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The malware contacts a C2 server hosted on a compromised AWS instance to receive encryption keys.</a:t>
            </a:r>
            <a:endParaRPr lang="en-US" sz="1300" dirty="0"/>
          </a:p>
        </p:txBody>
      </p:sp>
      <p:pic>
        <p:nvPicPr>
          <p:cNvPr id="22"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7488" y="6867287"/>
            <a:ext cx="255151" cy="255151"/>
          </a:xfrm>
          <a:prstGeom prst="rect">
            <a:avLst/>
          </a:prstGeom>
        </p:spPr>
      </p:pic>
      <p:sp>
        <p:nvSpPr>
          <p:cNvPr id="23" name="Text 14"/>
          <p:cNvSpPr/>
          <p:nvPr/>
        </p:nvSpPr>
        <p:spPr>
          <a:xfrm>
            <a:off x="1346478" y="6862048"/>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272525"/>
                </a:solidFill>
                <a:latin typeface="Gelasio" pitchFamily="34" charset="0"/>
                <a:ea typeface="Gelasio" pitchFamily="34" charset="-122"/>
                <a:cs typeface="Gelasio" pitchFamily="34" charset="-120"/>
              </a:rPr>
              <a:t>Actions on Objectives</a:t>
            </a:r>
            <a:endParaRPr lang="en-US" sz="1650" dirty="0"/>
          </a:p>
        </p:txBody>
      </p:sp>
      <p:sp>
        <p:nvSpPr>
          <p:cNvPr id="24" name="Text 15"/>
          <p:cNvSpPr/>
          <p:nvPr/>
        </p:nvSpPr>
        <p:spPr>
          <a:xfrm>
            <a:off x="1346478" y="7204234"/>
            <a:ext cx="12490133" cy="238125"/>
          </a:xfrm>
          <a:prstGeom prst="rect">
            <a:avLst/>
          </a:prstGeom>
          <a:noFill/>
          <a:ln/>
        </p:spPr>
        <p:txBody>
          <a:bodyPr wrap="none" lIns="0" tIns="0" rIns="0" bIns="0" rtlCol="0" anchor="t"/>
          <a:lstStyle/>
          <a:p>
            <a:pPr marL="0" indent="0" algn="l">
              <a:lnSpc>
                <a:spcPts val="1850"/>
              </a:lnSpc>
              <a:buNone/>
            </a:pPr>
            <a:r>
              <a:rPr lang="en-US" sz="1300" dirty="0">
                <a:solidFill>
                  <a:srgbClr val="272525"/>
                </a:solidFill>
                <a:latin typeface="Lato" pitchFamily="34" charset="0"/>
                <a:ea typeface="Lato" pitchFamily="34" charset="-122"/>
                <a:cs typeface="Lato" pitchFamily="34" charset="-120"/>
              </a:rPr>
              <a:t>The ransomware encrypts all network shares, displays a ransom note, and exfiltrates sensitive financial data.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885712"/>
            <a:ext cx="6965633" cy="566976"/>
          </a:xfrm>
          <a:prstGeom prst="rect">
            <a:avLst/>
          </a:prstGeom>
          <a:noFill/>
          <a:ln/>
        </p:spPr>
        <p:txBody>
          <a:bodyPr wrap="none" lIns="0" tIns="0" rIns="0" bIns="0" rtlCol="0" anchor="t"/>
          <a:lstStyle/>
          <a:p>
            <a:pPr marL="0" indent="0" algn="l">
              <a:lnSpc>
                <a:spcPts val="4450"/>
              </a:lnSpc>
              <a:buNone/>
            </a:pPr>
            <a:r>
              <a:rPr lang="en-US" sz="3550" dirty="0">
                <a:solidFill>
                  <a:srgbClr val="312F2B"/>
                </a:solidFill>
                <a:latin typeface="Gelasio" pitchFamily="34" charset="0"/>
                <a:ea typeface="Gelasio" pitchFamily="34" charset="-122"/>
                <a:cs typeface="Gelasio" pitchFamily="34" charset="-120"/>
              </a:rPr>
              <a:t>Limitations of the Cyber Kill Chain</a:t>
            </a:r>
            <a:endParaRPr lang="en-US" sz="3550" dirty="0"/>
          </a:p>
        </p:txBody>
      </p:sp>
      <p:sp>
        <p:nvSpPr>
          <p:cNvPr id="3" name="Text 1"/>
          <p:cNvSpPr/>
          <p:nvPr/>
        </p:nvSpPr>
        <p:spPr>
          <a:xfrm>
            <a:off x="793790" y="2906316"/>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While the Cyber Kill Chain provides a structured approach to understanding attack progression, it has notable limitations.</a:t>
            </a:r>
            <a:endParaRPr lang="en-US" sz="1750" dirty="0"/>
          </a:p>
        </p:txBody>
      </p:sp>
      <p:sp>
        <p:nvSpPr>
          <p:cNvPr id="4" name="Shape 2"/>
          <p:cNvSpPr/>
          <p:nvPr/>
        </p:nvSpPr>
        <p:spPr>
          <a:xfrm>
            <a:off x="793790" y="3524369"/>
            <a:ext cx="4196358" cy="2819519"/>
          </a:xfrm>
          <a:prstGeom prst="roundRect">
            <a:avLst>
              <a:gd name="adj" fmla="val 5189"/>
            </a:avLst>
          </a:prstGeom>
          <a:solidFill>
            <a:srgbClr val="FFFFFF">
              <a:alpha val="95000"/>
            </a:srgbClr>
          </a:solidFill>
          <a:ln w="30480">
            <a:solidFill>
              <a:srgbClr val="CECEC9"/>
            </a:solidFill>
            <a:prstDash val="solid"/>
          </a:ln>
        </p:spPr>
      </p:sp>
      <p:sp>
        <p:nvSpPr>
          <p:cNvPr id="5" name="Shape 3"/>
          <p:cNvSpPr/>
          <p:nvPr/>
        </p:nvSpPr>
        <p:spPr>
          <a:xfrm>
            <a:off x="763310" y="3524369"/>
            <a:ext cx="121920" cy="2819519"/>
          </a:xfrm>
          <a:prstGeom prst="roundRect">
            <a:avLst>
              <a:gd name="adj" fmla="val 78139"/>
            </a:avLst>
          </a:prstGeom>
          <a:solidFill>
            <a:srgbClr val="E5E5E0"/>
          </a:solidFill>
          <a:ln/>
        </p:spPr>
      </p:sp>
      <p:sp>
        <p:nvSpPr>
          <p:cNvPr id="6" name="Text 4"/>
          <p:cNvSpPr/>
          <p:nvPr/>
        </p:nvSpPr>
        <p:spPr>
          <a:xfrm>
            <a:off x="1142524" y="3781663"/>
            <a:ext cx="3260884"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Linear Model Assumption</a:t>
            </a:r>
            <a:endParaRPr lang="en-US" sz="2200" dirty="0"/>
          </a:p>
        </p:txBody>
      </p:sp>
      <p:sp>
        <p:nvSpPr>
          <p:cNvPr id="7" name="Text 5"/>
          <p:cNvSpPr/>
          <p:nvPr/>
        </p:nvSpPr>
        <p:spPr>
          <a:xfrm>
            <a:off x="1142524" y="4272082"/>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The model assumes a </a:t>
            </a:r>
            <a:r>
              <a:rPr lang="en-US" sz="1750" b="1" dirty="0">
                <a:solidFill>
                  <a:srgbClr val="272525"/>
                </a:solidFill>
                <a:latin typeface="Lato" pitchFamily="34" charset="0"/>
                <a:ea typeface="Lato" pitchFamily="34" charset="-122"/>
                <a:cs typeface="Lato" pitchFamily="34" charset="-120"/>
              </a:rPr>
              <a:t>linear, sequential attack</a:t>
            </a:r>
            <a:r>
              <a:rPr lang="en-US" sz="1750" dirty="0">
                <a:solidFill>
                  <a:srgbClr val="272525"/>
                </a:solidFill>
                <a:latin typeface="Lato" pitchFamily="34" charset="0"/>
                <a:ea typeface="Lato" pitchFamily="34" charset="-122"/>
                <a:cs typeface="Lato" pitchFamily="34" charset="-120"/>
              </a:rPr>
              <a:t>, which does not reflect modern, non-linear or fileless attacks.</a:t>
            </a:r>
            <a:endParaRPr lang="en-US" sz="1750" dirty="0"/>
          </a:p>
        </p:txBody>
      </p:sp>
      <p:sp>
        <p:nvSpPr>
          <p:cNvPr id="8" name="Shape 6"/>
          <p:cNvSpPr/>
          <p:nvPr/>
        </p:nvSpPr>
        <p:spPr>
          <a:xfrm>
            <a:off x="5216962" y="3524369"/>
            <a:ext cx="4196358" cy="2819519"/>
          </a:xfrm>
          <a:prstGeom prst="roundRect">
            <a:avLst>
              <a:gd name="adj" fmla="val 5189"/>
            </a:avLst>
          </a:prstGeom>
          <a:solidFill>
            <a:srgbClr val="FFFFFF">
              <a:alpha val="95000"/>
            </a:srgbClr>
          </a:solidFill>
          <a:ln w="30480">
            <a:solidFill>
              <a:srgbClr val="CECEC9"/>
            </a:solidFill>
            <a:prstDash val="solid"/>
          </a:ln>
        </p:spPr>
      </p:sp>
      <p:sp>
        <p:nvSpPr>
          <p:cNvPr id="9" name="Shape 7"/>
          <p:cNvSpPr/>
          <p:nvPr/>
        </p:nvSpPr>
        <p:spPr>
          <a:xfrm>
            <a:off x="5186482" y="3524369"/>
            <a:ext cx="121920" cy="2819519"/>
          </a:xfrm>
          <a:prstGeom prst="roundRect">
            <a:avLst>
              <a:gd name="adj" fmla="val 78139"/>
            </a:avLst>
          </a:prstGeom>
          <a:solidFill>
            <a:srgbClr val="E5E5E0"/>
          </a:solidFill>
          <a:ln/>
        </p:spPr>
      </p:sp>
      <p:sp>
        <p:nvSpPr>
          <p:cNvPr id="10" name="Text 8"/>
          <p:cNvSpPr/>
          <p:nvPr/>
        </p:nvSpPr>
        <p:spPr>
          <a:xfrm>
            <a:off x="5565696" y="378166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Coverage Gaps</a:t>
            </a:r>
            <a:endParaRPr lang="en-US" sz="2200" dirty="0"/>
          </a:p>
        </p:txBody>
      </p:sp>
      <p:sp>
        <p:nvSpPr>
          <p:cNvPr id="11" name="Text 9"/>
          <p:cNvSpPr/>
          <p:nvPr/>
        </p:nvSpPr>
        <p:spPr>
          <a:xfrm>
            <a:off x="5565696" y="4272082"/>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It lacks coverage for </a:t>
            </a:r>
            <a:r>
              <a:rPr lang="en-US" sz="1750" b="1" dirty="0">
                <a:solidFill>
                  <a:srgbClr val="272525"/>
                </a:solidFill>
                <a:latin typeface="Lato" pitchFamily="34" charset="0"/>
                <a:ea typeface="Lato" pitchFamily="34" charset="-122"/>
                <a:cs typeface="Lato" pitchFamily="34" charset="-120"/>
              </a:rPr>
              <a:t>insider threats, credential-based attacks</a:t>
            </a:r>
            <a:r>
              <a:rPr lang="en-US" sz="1750" dirty="0">
                <a:solidFill>
                  <a:srgbClr val="272525"/>
                </a:solidFill>
                <a:latin typeface="Lato" pitchFamily="34" charset="0"/>
                <a:ea typeface="Lato" pitchFamily="34" charset="-122"/>
                <a:cs typeface="Lato" pitchFamily="34" charset="-120"/>
              </a:rPr>
              <a:t>, and advanced techniques such as living-off-the-land (LOLBAS) or zero-day exploits.</a:t>
            </a:r>
            <a:endParaRPr lang="en-US" sz="1750" dirty="0"/>
          </a:p>
        </p:txBody>
      </p:sp>
      <p:sp>
        <p:nvSpPr>
          <p:cNvPr id="12" name="Shape 10"/>
          <p:cNvSpPr/>
          <p:nvPr/>
        </p:nvSpPr>
        <p:spPr>
          <a:xfrm>
            <a:off x="9640133" y="3524369"/>
            <a:ext cx="4196358" cy="2819519"/>
          </a:xfrm>
          <a:prstGeom prst="roundRect">
            <a:avLst>
              <a:gd name="adj" fmla="val 5189"/>
            </a:avLst>
          </a:prstGeom>
          <a:solidFill>
            <a:srgbClr val="FFFFFF">
              <a:alpha val="95000"/>
            </a:srgbClr>
          </a:solidFill>
          <a:ln w="30480">
            <a:solidFill>
              <a:srgbClr val="CECEC9"/>
            </a:solidFill>
            <a:prstDash val="solid"/>
          </a:ln>
        </p:spPr>
      </p:sp>
      <p:sp>
        <p:nvSpPr>
          <p:cNvPr id="13" name="Shape 11"/>
          <p:cNvSpPr/>
          <p:nvPr/>
        </p:nvSpPr>
        <p:spPr>
          <a:xfrm>
            <a:off x="9609653" y="3524369"/>
            <a:ext cx="121920" cy="2819519"/>
          </a:xfrm>
          <a:prstGeom prst="roundRect">
            <a:avLst>
              <a:gd name="adj" fmla="val 78139"/>
            </a:avLst>
          </a:prstGeom>
          <a:solidFill>
            <a:srgbClr val="E5E5E0"/>
          </a:solidFill>
          <a:ln/>
        </p:spPr>
      </p:sp>
      <p:sp>
        <p:nvSpPr>
          <p:cNvPr id="14" name="Text 12"/>
          <p:cNvSpPr/>
          <p:nvPr/>
        </p:nvSpPr>
        <p:spPr>
          <a:xfrm>
            <a:off x="9988868" y="3781663"/>
            <a:ext cx="3037403"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Perimeter-Based Design</a:t>
            </a:r>
            <a:endParaRPr lang="en-US" sz="2200" dirty="0"/>
          </a:p>
        </p:txBody>
      </p:sp>
      <p:sp>
        <p:nvSpPr>
          <p:cNvPr id="15" name="Text 13"/>
          <p:cNvSpPr/>
          <p:nvPr/>
        </p:nvSpPr>
        <p:spPr>
          <a:xfrm>
            <a:off x="9988868" y="4272082"/>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The framework was designed for </a:t>
            </a:r>
            <a:r>
              <a:rPr lang="en-US" sz="1750" b="1" dirty="0">
                <a:solidFill>
                  <a:srgbClr val="272525"/>
                </a:solidFill>
                <a:latin typeface="Lato" pitchFamily="34" charset="0"/>
                <a:ea typeface="Lato" pitchFamily="34" charset="-122"/>
                <a:cs typeface="Lato" pitchFamily="34" charset="-120"/>
              </a:rPr>
              <a:t>perimeter-based defense</a:t>
            </a:r>
            <a:r>
              <a:rPr lang="en-US" sz="1750" dirty="0">
                <a:solidFill>
                  <a:srgbClr val="272525"/>
                </a:solidFill>
                <a:latin typeface="Lato" pitchFamily="34" charset="0"/>
                <a:ea typeface="Lato" pitchFamily="34" charset="-122"/>
                <a:cs typeface="Lato" pitchFamily="34" charset="-120"/>
              </a:rPr>
              <a:t> and may not adequately address cloud-native or DevOps environments.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418034"/>
            <a:ext cx="11627406" cy="566976"/>
          </a:xfrm>
          <a:prstGeom prst="rect">
            <a:avLst/>
          </a:prstGeom>
          <a:noFill/>
          <a:ln/>
        </p:spPr>
        <p:txBody>
          <a:bodyPr wrap="none" lIns="0" tIns="0" rIns="0" bIns="0" rtlCol="0" anchor="t"/>
          <a:lstStyle/>
          <a:p>
            <a:pPr marL="0" indent="0" algn="l">
              <a:lnSpc>
                <a:spcPts val="4450"/>
              </a:lnSpc>
              <a:buNone/>
            </a:pPr>
            <a:r>
              <a:rPr lang="en-US" sz="3550" dirty="0">
                <a:solidFill>
                  <a:srgbClr val="312F2B"/>
                </a:solidFill>
                <a:latin typeface="Gelasio" pitchFamily="34" charset="0"/>
                <a:ea typeface="Gelasio" pitchFamily="34" charset="-122"/>
                <a:cs typeface="Gelasio" pitchFamily="34" charset="-120"/>
              </a:rPr>
              <a:t>Enhancing the Cyber Kill Chain with Modern Frameworks</a:t>
            </a:r>
            <a:endParaRPr lang="en-US" sz="3550" dirty="0"/>
          </a:p>
        </p:txBody>
      </p:sp>
      <p:sp>
        <p:nvSpPr>
          <p:cNvPr id="3" name="Text 1"/>
          <p:cNvSpPr/>
          <p:nvPr/>
        </p:nvSpPr>
        <p:spPr>
          <a:xfrm>
            <a:off x="793790" y="2438638"/>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To address these limitations, organizations often integrate the Cyber Kill Chain with complementary frameworks such as </a:t>
            </a:r>
            <a:r>
              <a:rPr lang="en-US" sz="1750" b="1" dirty="0">
                <a:solidFill>
                  <a:srgbClr val="272525"/>
                </a:solidFill>
                <a:latin typeface="Lato" pitchFamily="34" charset="0"/>
                <a:ea typeface="Lato" pitchFamily="34" charset="-122"/>
                <a:cs typeface="Lato" pitchFamily="34" charset="-120"/>
              </a:rPr>
              <a:t>MITRE ATT&amp;CK</a:t>
            </a:r>
            <a:r>
              <a:rPr lang="en-US" sz="1750" dirty="0">
                <a:solidFill>
                  <a:srgbClr val="272525"/>
                </a:solidFill>
                <a:latin typeface="Lato" pitchFamily="34" charset="0"/>
                <a:ea typeface="Lato" pitchFamily="34" charset="-122"/>
                <a:cs typeface="Lato" pitchFamily="34" charset="-120"/>
              </a:rPr>
              <a:t>, which provides a more granular, technique-based taxonomy of adversarial behavior. MITRE ATT&amp;CK does not enforce a linear structure, allowing for more flexible mapping of real-world attack patterns.</a:t>
            </a:r>
            <a:endParaRPr lang="en-US" sz="1750" dirty="0"/>
          </a:p>
        </p:txBody>
      </p:sp>
      <p:sp>
        <p:nvSpPr>
          <p:cNvPr id="4" name="Text 2"/>
          <p:cNvSpPr/>
          <p:nvPr/>
        </p:nvSpPr>
        <p:spPr>
          <a:xfrm>
            <a:off x="793790" y="378249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Additionally, tools like </a:t>
            </a:r>
            <a:r>
              <a:rPr lang="en-US" sz="1750" b="1" dirty="0">
                <a:solidFill>
                  <a:srgbClr val="272525"/>
                </a:solidFill>
                <a:latin typeface="Lato" pitchFamily="34" charset="0"/>
                <a:ea typeface="Lato" pitchFamily="34" charset="-122"/>
                <a:cs typeface="Lato" pitchFamily="34" charset="-120"/>
              </a:rPr>
              <a:t>Picus Security Control Validation</a:t>
            </a:r>
            <a:r>
              <a:rPr lang="en-US" sz="1750" dirty="0">
                <a:solidFill>
                  <a:srgbClr val="272525"/>
                </a:solidFill>
                <a:latin typeface="Lato" pitchFamily="34" charset="0"/>
                <a:ea typeface="Lato" pitchFamily="34" charset="-122"/>
                <a:cs typeface="Lato" pitchFamily="34" charset="-120"/>
              </a:rPr>
              <a:t> use Breach and Attack Simulation (BAS) to test whether existing security controls can effectively disrupt attacks at each kill chain stage.</a:t>
            </a:r>
            <a:endParaRPr lang="en-US" sz="1750" dirty="0"/>
          </a:p>
        </p:txBody>
      </p:sp>
      <p:sp>
        <p:nvSpPr>
          <p:cNvPr id="5" name="Shape 3"/>
          <p:cNvSpPr/>
          <p:nvPr/>
        </p:nvSpPr>
        <p:spPr>
          <a:xfrm>
            <a:off x="793790" y="4763453"/>
            <a:ext cx="6407944" cy="2047994"/>
          </a:xfrm>
          <a:prstGeom prst="roundRect">
            <a:avLst>
              <a:gd name="adj" fmla="val 4652"/>
            </a:avLst>
          </a:prstGeom>
          <a:solidFill>
            <a:srgbClr val="E8E8E3"/>
          </a:solidFill>
          <a:ln w="7620">
            <a:solidFill>
              <a:srgbClr val="CECEC9"/>
            </a:solidFill>
            <a:prstDash val="solid"/>
          </a:ln>
        </p:spPr>
      </p:sp>
      <p:sp>
        <p:nvSpPr>
          <p:cNvPr id="6" name="Text 4"/>
          <p:cNvSpPr/>
          <p:nvPr/>
        </p:nvSpPr>
        <p:spPr>
          <a:xfrm>
            <a:off x="1028224" y="499788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MITRE ATT&amp;CK</a:t>
            </a:r>
            <a:endParaRPr lang="en-US" sz="2200" dirty="0"/>
          </a:p>
        </p:txBody>
      </p:sp>
      <p:sp>
        <p:nvSpPr>
          <p:cNvPr id="7" name="Text 5"/>
          <p:cNvSpPr/>
          <p:nvPr/>
        </p:nvSpPr>
        <p:spPr>
          <a:xfrm>
            <a:off x="1028224" y="5488305"/>
            <a:ext cx="5939076"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Granular, technique-based taxonomy of adversarial behavior. Does not enforce a linear structure, allowing for more flexible mapping of real-world attack patterns.</a:t>
            </a:r>
            <a:endParaRPr lang="en-US" sz="1750" dirty="0"/>
          </a:p>
        </p:txBody>
      </p:sp>
      <p:sp>
        <p:nvSpPr>
          <p:cNvPr id="8" name="Shape 6"/>
          <p:cNvSpPr/>
          <p:nvPr/>
        </p:nvSpPr>
        <p:spPr>
          <a:xfrm>
            <a:off x="7428548" y="4763453"/>
            <a:ext cx="6408063" cy="2047994"/>
          </a:xfrm>
          <a:prstGeom prst="roundRect">
            <a:avLst>
              <a:gd name="adj" fmla="val 4652"/>
            </a:avLst>
          </a:prstGeom>
          <a:solidFill>
            <a:srgbClr val="E8E8E3"/>
          </a:solidFill>
          <a:ln w="7620">
            <a:solidFill>
              <a:srgbClr val="CECEC9"/>
            </a:solidFill>
            <a:prstDash val="solid"/>
          </a:ln>
        </p:spPr>
      </p:sp>
      <p:sp>
        <p:nvSpPr>
          <p:cNvPr id="9" name="Text 7"/>
          <p:cNvSpPr/>
          <p:nvPr/>
        </p:nvSpPr>
        <p:spPr>
          <a:xfrm>
            <a:off x="7662982" y="4997887"/>
            <a:ext cx="4151233"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Picus Security Control Validation</a:t>
            </a:r>
            <a:endParaRPr lang="en-US" sz="2200" dirty="0"/>
          </a:p>
        </p:txBody>
      </p:sp>
      <p:sp>
        <p:nvSpPr>
          <p:cNvPr id="10" name="Text 8"/>
          <p:cNvSpPr/>
          <p:nvPr/>
        </p:nvSpPr>
        <p:spPr>
          <a:xfrm>
            <a:off x="7662982" y="5488305"/>
            <a:ext cx="593919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Uses Breach and Attack Simulation (BAS) to test whether existing security controls can effectively disrupt attacks at each kill chain stage.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01410"/>
            <a:ext cx="8915876" cy="566976"/>
          </a:xfrm>
          <a:prstGeom prst="rect">
            <a:avLst/>
          </a:prstGeom>
          <a:noFill/>
          <a:ln/>
        </p:spPr>
        <p:txBody>
          <a:bodyPr wrap="none" lIns="0" tIns="0" rIns="0" bIns="0" rtlCol="0" anchor="t"/>
          <a:lstStyle/>
          <a:p>
            <a:pPr marL="0" indent="0" algn="l">
              <a:lnSpc>
                <a:spcPts val="4450"/>
              </a:lnSpc>
              <a:buNone/>
            </a:pPr>
            <a:r>
              <a:rPr lang="en-US" sz="3550" dirty="0">
                <a:solidFill>
                  <a:srgbClr val="312F2B"/>
                </a:solidFill>
                <a:latin typeface="Gelasio" pitchFamily="34" charset="0"/>
                <a:ea typeface="Gelasio" pitchFamily="34" charset="-122"/>
                <a:cs typeface="Gelasio" pitchFamily="34" charset="-120"/>
              </a:rPr>
              <a:t>Defensive Strategies: Early-Stage Disruption</a:t>
            </a:r>
            <a:endParaRPr lang="en-US" sz="3550" dirty="0"/>
          </a:p>
        </p:txBody>
      </p:sp>
      <p:sp>
        <p:nvSpPr>
          <p:cNvPr id="3" name="Text 1"/>
          <p:cNvSpPr/>
          <p:nvPr/>
        </p:nvSpPr>
        <p:spPr>
          <a:xfrm>
            <a:off x="793790" y="182201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Organizations can implement layered defenses to disrupt attacks at each stage. This card covers the first four stages:</a:t>
            </a:r>
            <a:endParaRPr lang="en-US" sz="1750" dirty="0"/>
          </a:p>
        </p:txBody>
      </p:sp>
      <p:sp>
        <p:nvSpPr>
          <p:cNvPr id="4" name="Shape 2"/>
          <p:cNvSpPr/>
          <p:nvPr/>
        </p:nvSpPr>
        <p:spPr>
          <a:xfrm>
            <a:off x="793790" y="2780228"/>
            <a:ext cx="4196358" cy="2403396"/>
          </a:xfrm>
          <a:prstGeom prst="roundRect">
            <a:avLst>
              <a:gd name="adj" fmla="val 6087"/>
            </a:avLst>
          </a:prstGeom>
          <a:solidFill>
            <a:srgbClr val="FFFFFF">
              <a:alpha val="95000"/>
            </a:srgbClr>
          </a:solidFill>
          <a:ln/>
        </p:spPr>
      </p:sp>
      <p:sp>
        <p:nvSpPr>
          <p:cNvPr id="5" name="Shape 3"/>
          <p:cNvSpPr/>
          <p:nvPr/>
        </p:nvSpPr>
        <p:spPr>
          <a:xfrm>
            <a:off x="793790" y="2749748"/>
            <a:ext cx="4196358" cy="121920"/>
          </a:xfrm>
          <a:prstGeom prst="roundRect">
            <a:avLst>
              <a:gd name="adj" fmla="val 78139"/>
            </a:avLst>
          </a:prstGeom>
          <a:solidFill>
            <a:srgbClr val="E5E5E0"/>
          </a:solidFill>
          <a:ln/>
        </p:spPr>
      </p:sp>
      <p:sp>
        <p:nvSpPr>
          <p:cNvPr id="6" name="Shape 4"/>
          <p:cNvSpPr/>
          <p:nvPr/>
        </p:nvSpPr>
        <p:spPr>
          <a:xfrm>
            <a:off x="2551688" y="2440067"/>
            <a:ext cx="680442" cy="680442"/>
          </a:xfrm>
          <a:prstGeom prst="roundRect">
            <a:avLst>
              <a:gd name="adj" fmla="val 134383"/>
            </a:avLst>
          </a:prstGeom>
          <a:solidFill>
            <a:srgbClr val="E5E5E0"/>
          </a:solidFill>
          <a:ln/>
        </p:spPr>
      </p:sp>
      <p:sp>
        <p:nvSpPr>
          <p:cNvPr id="7" name="Text 5"/>
          <p:cNvSpPr/>
          <p:nvPr/>
        </p:nvSpPr>
        <p:spPr>
          <a:xfrm>
            <a:off x="2755761" y="2610207"/>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1</a:t>
            </a:r>
            <a:endParaRPr lang="en-US" sz="2100" dirty="0"/>
          </a:p>
        </p:txBody>
      </p:sp>
      <p:sp>
        <p:nvSpPr>
          <p:cNvPr id="8" name="Text 6"/>
          <p:cNvSpPr/>
          <p:nvPr/>
        </p:nvSpPr>
        <p:spPr>
          <a:xfrm>
            <a:off x="1051084" y="334720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Reconnaissance</a:t>
            </a:r>
            <a:endParaRPr lang="en-US" sz="2200" dirty="0"/>
          </a:p>
        </p:txBody>
      </p:sp>
      <p:sp>
        <p:nvSpPr>
          <p:cNvPr id="9" name="Text 7"/>
          <p:cNvSpPr/>
          <p:nvPr/>
        </p:nvSpPr>
        <p:spPr>
          <a:xfrm>
            <a:off x="1051084" y="3837623"/>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Deploy threat intelligence platforms to monitor exposure of public assets and domains.</a:t>
            </a:r>
            <a:endParaRPr lang="en-US" sz="1750" dirty="0"/>
          </a:p>
        </p:txBody>
      </p:sp>
      <p:sp>
        <p:nvSpPr>
          <p:cNvPr id="10" name="Shape 8"/>
          <p:cNvSpPr/>
          <p:nvPr/>
        </p:nvSpPr>
        <p:spPr>
          <a:xfrm>
            <a:off x="5216962" y="2780228"/>
            <a:ext cx="4196358" cy="2403396"/>
          </a:xfrm>
          <a:prstGeom prst="roundRect">
            <a:avLst>
              <a:gd name="adj" fmla="val 6087"/>
            </a:avLst>
          </a:prstGeom>
          <a:solidFill>
            <a:srgbClr val="FFFFFF">
              <a:alpha val="95000"/>
            </a:srgbClr>
          </a:solidFill>
          <a:ln/>
        </p:spPr>
      </p:sp>
      <p:sp>
        <p:nvSpPr>
          <p:cNvPr id="11" name="Shape 9"/>
          <p:cNvSpPr/>
          <p:nvPr/>
        </p:nvSpPr>
        <p:spPr>
          <a:xfrm>
            <a:off x="5216962" y="2749748"/>
            <a:ext cx="4196358" cy="121920"/>
          </a:xfrm>
          <a:prstGeom prst="roundRect">
            <a:avLst>
              <a:gd name="adj" fmla="val 78139"/>
            </a:avLst>
          </a:prstGeom>
          <a:solidFill>
            <a:srgbClr val="E5E5E0"/>
          </a:solidFill>
          <a:ln/>
        </p:spPr>
      </p:sp>
      <p:sp>
        <p:nvSpPr>
          <p:cNvPr id="12" name="Shape 10"/>
          <p:cNvSpPr/>
          <p:nvPr/>
        </p:nvSpPr>
        <p:spPr>
          <a:xfrm>
            <a:off x="6974860" y="2440067"/>
            <a:ext cx="680442" cy="680442"/>
          </a:xfrm>
          <a:prstGeom prst="roundRect">
            <a:avLst>
              <a:gd name="adj" fmla="val 134383"/>
            </a:avLst>
          </a:prstGeom>
          <a:solidFill>
            <a:srgbClr val="E5E5E0"/>
          </a:solidFill>
          <a:ln/>
        </p:spPr>
      </p:sp>
      <p:sp>
        <p:nvSpPr>
          <p:cNvPr id="13" name="Text 11"/>
          <p:cNvSpPr/>
          <p:nvPr/>
        </p:nvSpPr>
        <p:spPr>
          <a:xfrm>
            <a:off x="7178933" y="2610207"/>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2</a:t>
            </a:r>
            <a:endParaRPr lang="en-US" sz="2100" dirty="0"/>
          </a:p>
        </p:txBody>
      </p:sp>
      <p:sp>
        <p:nvSpPr>
          <p:cNvPr id="14" name="Text 12"/>
          <p:cNvSpPr/>
          <p:nvPr/>
        </p:nvSpPr>
        <p:spPr>
          <a:xfrm>
            <a:off x="5474256" y="334720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Weaponization</a:t>
            </a:r>
            <a:endParaRPr lang="en-US" sz="2200" dirty="0"/>
          </a:p>
        </p:txBody>
      </p:sp>
      <p:sp>
        <p:nvSpPr>
          <p:cNvPr id="15" name="Text 13"/>
          <p:cNvSpPr/>
          <p:nvPr/>
        </p:nvSpPr>
        <p:spPr>
          <a:xfrm>
            <a:off x="5474256" y="3837623"/>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Use email security gateways with sandboxing to analyze attachments and URLs.</a:t>
            </a:r>
            <a:endParaRPr lang="en-US" sz="1750" dirty="0"/>
          </a:p>
        </p:txBody>
      </p:sp>
      <p:sp>
        <p:nvSpPr>
          <p:cNvPr id="16" name="Shape 14"/>
          <p:cNvSpPr/>
          <p:nvPr/>
        </p:nvSpPr>
        <p:spPr>
          <a:xfrm>
            <a:off x="9640133" y="2780228"/>
            <a:ext cx="4196358" cy="2403396"/>
          </a:xfrm>
          <a:prstGeom prst="roundRect">
            <a:avLst>
              <a:gd name="adj" fmla="val 6087"/>
            </a:avLst>
          </a:prstGeom>
          <a:solidFill>
            <a:srgbClr val="FFFFFF">
              <a:alpha val="95000"/>
            </a:srgbClr>
          </a:solidFill>
          <a:ln/>
        </p:spPr>
      </p:sp>
      <p:sp>
        <p:nvSpPr>
          <p:cNvPr id="17" name="Shape 15"/>
          <p:cNvSpPr/>
          <p:nvPr/>
        </p:nvSpPr>
        <p:spPr>
          <a:xfrm>
            <a:off x="9640133" y="2749748"/>
            <a:ext cx="4196358" cy="121920"/>
          </a:xfrm>
          <a:prstGeom prst="roundRect">
            <a:avLst>
              <a:gd name="adj" fmla="val 78139"/>
            </a:avLst>
          </a:prstGeom>
          <a:solidFill>
            <a:srgbClr val="E5E5E0"/>
          </a:solidFill>
          <a:ln/>
        </p:spPr>
      </p:sp>
      <p:sp>
        <p:nvSpPr>
          <p:cNvPr id="18" name="Shape 16"/>
          <p:cNvSpPr/>
          <p:nvPr/>
        </p:nvSpPr>
        <p:spPr>
          <a:xfrm>
            <a:off x="11398032" y="2440067"/>
            <a:ext cx="680442" cy="680442"/>
          </a:xfrm>
          <a:prstGeom prst="roundRect">
            <a:avLst>
              <a:gd name="adj" fmla="val 134383"/>
            </a:avLst>
          </a:prstGeom>
          <a:solidFill>
            <a:srgbClr val="E5E5E0"/>
          </a:solidFill>
          <a:ln/>
        </p:spPr>
      </p:sp>
      <p:sp>
        <p:nvSpPr>
          <p:cNvPr id="19" name="Text 17"/>
          <p:cNvSpPr/>
          <p:nvPr/>
        </p:nvSpPr>
        <p:spPr>
          <a:xfrm>
            <a:off x="11602105" y="2610207"/>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3</a:t>
            </a:r>
            <a:endParaRPr lang="en-US" sz="2100" dirty="0"/>
          </a:p>
        </p:txBody>
      </p:sp>
      <p:sp>
        <p:nvSpPr>
          <p:cNvPr id="20" name="Text 18"/>
          <p:cNvSpPr/>
          <p:nvPr/>
        </p:nvSpPr>
        <p:spPr>
          <a:xfrm>
            <a:off x="9897427" y="334720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Delivery</a:t>
            </a:r>
            <a:endParaRPr lang="en-US" sz="2200" dirty="0"/>
          </a:p>
        </p:txBody>
      </p:sp>
      <p:sp>
        <p:nvSpPr>
          <p:cNvPr id="21" name="Text 19"/>
          <p:cNvSpPr/>
          <p:nvPr/>
        </p:nvSpPr>
        <p:spPr>
          <a:xfrm>
            <a:off x="9897427" y="3837623"/>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Implement DNS filtering and web application firewalls (WAFs) to block malicious content.</a:t>
            </a:r>
            <a:endParaRPr lang="en-US" sz="1750" dirty="0"/>
          </a:p>
        </p:txBody>
      </p:sp>
      <p:sp>
        <p:nvSpPr>
          <p:cNvPr id="22" name="Shape 20"/>
          <p:cNvSpPr/>
          <p:nvPr/>
        </p:nvSpPr>
        <p:spPr>
          <a:xfrm>
            <a:off x="793790" y="5750600"/>
            <a:ext cx="13042702" cy="1677591"/>
          </a:xfrm>
          <a:prstGeom prst="roundRect">
            <a:avLst>
              <a:gd name="adj" fmla="val 8721"/>
            </a:avLst>
          </a:prstGeom>
          <a:solidFill>
            <a:srgbClr val="FFFFFF">
              <a:alpha val="95000"/>
            </a:srgbClr>
          </a:solidFill>
          <a:ln/>
        </p:spPr>
      </p:sp>
      <p:sp>
        <p:nvSpPr>
          <p:cNvPr id="23" name="Shape 21"/>
          <p:cNvSpPr/>
          <p:nvPr/>
        </p:nvSpPr>
        <p:spPr>
          <a:xfrm>
            <a:off x="793790" y="5720120"/>
            <a:ext cx="13042702" cy="121920"/>
          </a:xfrm>
          <a:prstGeom prst="roundRect">
            <a:avLst>
              <a:gd name="adj" fmla="val 78139"/>
            </a:avLst>
          </a:prstGeom>
          <a:solidFill>
            <a:srgbClr val="E5E5E0"/>
          </a:solidFill>
          <a:ln/>
        </p:spPr>
      </p:sp>
      <p:sp>
        <p:nvSpPr>
          <p:cNvPr id="24" name="Shape 22"/>
          <p:cNvSpPr/>
          <p:nvPr/>
        </p:nvSpPr>
        <p:spPr>
          <a:xfrm>
            <a:off x="6974860" y="5410438"/>
            <a:ext cx="680442" cy="680442"/>
          </a:xfrm>
          <a:prstGeom prst="roundRect">
            <a:avLst>
              <a:gd name="adj" fmla="val 134383"/>
            </a:avLst>
          </a:prstGeom>
          <a:solidFill>
            <a:srgbClr val="E5E5E0"/>
          </a:solidFill>
          <a:ln/>
        </p:spPr>
      </p:sp>
      <p:sp>
        <p:nvSpPr>
          <p:cNvPr id="25" name="Text 23"/>
          <p:cNvSpPr/>
          <p:nvPr/>
        </p:nvSpPr>
        <p:spPr>
          <a:xfrm>
            <a:off x="7178933" y="5580578"/>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Gelasio" pitchFamily="34" charset="0"/>
                <a:ea typeface="Gelasio" pitchFamily="34" charset="-122"/>
                <a:cs typeface="Gelasio" pitchFamily="34" charset="-120"/>
              </a:rPr>
              <a:t>4</a:t>
            </a:r>
            <a:endParaRPr lang="en-US" sz="2100" dirty="0"/>
          </a:p>
        </p:txBody>
      </p:sp>
      <p:sp>
        <p:nvSpPr>
          <p:cNvPr id="26" name="Text 24"/>
          <p:cNvSpPr/>
          <p:nvPr/>
        </p:nvSpPr>
        <p:spPr>
          <a:xfrm>
            <a:off x="1051084" y="631757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Exploitation</a:t>
            </a:r>
            <a:endParaRPr lang="en-US" sz="2200" dirty="0"/>
          </a:p>
        </p:txBody>
      </p:sp>
      <p:sp>
        <p:nvSpPr>
          <p:cNvPr id="27" name="Text 25"/>
          <p:cNvSpPr/>
          <p:nvPr/>
        </p:nvSpPr>
        <p:spPr>
          <a:xfrm>
            <a:off x="1051084" y="6807994"/>
            <a:ext cx="1252811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Enforce patch management and application allowlisting to reduce attack surface.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1836063"/>
            <a:ext cx="13042821" cy="1367909"/>
          </a:xfrm>
          <a:prstGeom prst="roundRect">
            <a:avLst>
              <a:gd name="adj" fmla="val 6964"/>
            </a:avLst>
          </a:prstGeom>
          <a:solidFill>
            <a:srgbClr val="FFFFFF">
              <a:alpha val="95000"/>
            </a:srgbClr>
          </a:solidFill>
          <a:ln w="30480">
            <a:solidFill>
              <a:srgbClr val="CECEC9"/>
            </a:solidFill>
            <a:prstDash val="solid"/>
          </a:ln>
        </p:spPr>
      </p:sp>
      <p:sp>
        <p:nvSpPr>
          <p:cNvPr id="3" name="Shape 1"/>
          <p:cNvSpPr/>
          <p:nvPr/>
        </p:nvSpPr>
        <p:spPr>
          <a:xfrm>
            <a:off x="824270" y="1866543"/>
            <a:ext cx="907256" cy="1306949"/>
          </a:xfrm>
          <a:prstGeom prst="roundRect">
            <a:avLst>
              <a:gd name="adj" fmla="val 6469"/>
            </a:avLst>
          </a:prstGeom>
          <a:solidFill>
            <a:srgbClr val="E8E8E3"/>
          </a:solidFill>
          <a:ln/>
        </p:spPr>
      </p:sp>
      <p:sp>
        <p:nvSpPr>
          <p:cNvPr id="4" name="Text 2"/>
          <p:cNvSpPr/>
          <p:nvPr/>
        </p:nvSpPr>
        <p:spPr>
          <a:xfrm>
            <a:off x="1958340" y="209335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Installation</a:t>
            </a:r>
            <a:endParaRPr lang="en-US" sz="2200" dirty="0"/>
          </a:p>
        </p:txBody>
      </p:sp>
      <p:sp>
        <p:nvSpPr>
          <p:cNvPr id="5" name="Text 3"/>
          <p:cNvSpPr/>
          <p:nvPr/>
        </p:nvSpPr>
        <p:spPr>
          <a:xfrm>
            <a:off x="1958340" y="2583775"/>
            <a:ext cx="116209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Deploy </a:t>
            </a:r>
            <a:r>
              <a:rPr lang="en-US" sz="1750" b="1" dirty="0">
                <a:solidFill>
                  <a:srgbClr val="272525"/>
                </a:solidFill>
                <a:latin typeface="Lato" pitchFamily="34" charset="0"/>
                <a:ea typeface="Lato" pitchFamily="34" charset="-122"/>
                <a:cs typeface="Lato" pitchFamily="34" charset="-120"/>
              </a:rPr>
              <a:t>endpoint detection and response (EDR)</a:t>
            </a:r>
            <a:r>
              <a:rPr lang="en-US" sz="1750" dirty="0">
                <a:solidFill>
                  <a:srgbClr val="272525"/>
                </a:solidFill>
                <a:latin typeface="Lato" pitchFamily="34" charset="0"/>
                <a:ea typeface="Lato" pitchFamily="34" charset="-122"/>
                <a:cs typeface="Lato" pitchFamily="34" charset="-120"/>
              </a:rPr>
              <a:t> solutions to detect and block malicious processes.</a:t>
            </a:r>
            <a:endParaRPr lang="en-US" sz="1750" dirty="0"/>
          </a:p>
        </p:txBody>
      </p:sp>
      <p:sp>
        <p:nvSpPr>
          <p:cNvPr id="6" name="Shape 4"/>
          <p:cNvSpPr/>
          <p:nvPr/>
        </p:nvSpPr>
        <p:spPr>
          <a:xfrm>
            <a:off x="793790" y="3430786"/>
            <a:ext cx="13042821" cy="1367909"/>
          </a:xfrm>
          <a:prstGeom prst="roundRect">
            <a:avLst>
              <a:gd name="adj" fmla="val 6964"/>
            </a:avLst>
          </a:prstGeom>
          <a:solidFill>
            <a:srgbClr val="FFFFFF">
              <a:alpha val="95000"/>
            </a:srgbClr>
          </a:solidFill>
          <a:ln w="30480">
            <a:solidFill>
              <a:srgbClr val="CECEC9"/>
            </a:solidFill>
            <a:prstDash val="solid"/>
          </a:ln>
        </p:spPr>
      </p:sp>
      <p:sp>
        <p:nvSpPr>
          <p:cNvPr id="7" name="Shape 5"/>
          <p:cNvSpPr/>
          <p:nvPr/>
        </p:nvSpPr>
        <p:spPr>
          <a:xfrm>
            <a:off x="824270" y="3461266"/>
            <a:ext cx="907256" cy="1306949"/>
          </a:xfrm>
          <a:prstGeom prst="roundRect">
            <a:avLst>
              <a:gd name="adj" fmla="val 6469"/>
            </a:avLst>
          </a:prstGeom>
          <a:solidFill>
            <a:srgbClr val="E8E8E3"/>
          </a:solidFill>
          <a:ln/>
        </p:spPr>
      </p:sp>
      <p:sp>
        <p:nvSpPr>
          <p:cNvPr id="8" name="Text 6"/>
          <p:cNvSpPr/>
          <p:nvPr/>
        </p:nvSpPr>
        <p:spPr>
          <a:xfrm>
            <a:off x="1958340" y="3688080"/>
            <a:ext cx="2866430"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Command and Control</a:t>
            </a:r>
            <a:endParaRPr lang="en-US" sz="2200" dirty="0"/>
          </a:p>
        </p:txBody>
      </p:sp>
      <p:sp>
        <p:nvSpPr>
          <p:cNvPr id="9" name="Text 7"/>
          <p:cNvSpPr/>
          <p:nvPr/>
        </p:nvSpPr>
        <p:spPr>
          <a:xfrm>
            <a:off x="1958340" y="4178498"/>
            <a:ext cx="116209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Use </a:t>
            </a:r>
            <a:r>
              <a:rPr lang="en-US" sz="1750" b="1" dirty="0">
                <a:solidFill>
                  <a:srgbClr val="272525"/>
                </a:solidFill>
                <a:latin typeface="Lato" pitchFamily="34" charset="0"/>
                <a:ea typeface="Lato" pitchFamily="34" charset="-122"/>
                <a:cs typeface="Lato" pitchFamily="34" charset="-120"/>
              </a:rPr>
              <a:t>network detection and response (NDR)</a:t>
            </a:r>
            <a:r>
              <a:rPr lang="en-US" sz="1750" dirty="0">
                <a:solidFill>
                  <a:srgbClr val="272525"/>
                </a:solidFill>
                <a:latin typeface="Lato" pitchFamily="34" charset="0"/>
                <a:ea typeface="Lato" pitchFamily="34" charset="-122"/>
                <a:cs typeface="Lato" pitchFamily="34" charset="-120"/>
              </a:rPr>
              <a:t> tools to identify anomalous outbound traffic.</a:t>
            </a:r>
            <a:endParaRPr lang="en-US" sz="1750" dirty="0"/>
          </a:p>
        </p:txBody>
      </p:sp>
      <p:sp>
        <p:nvSpPr>
          <p:cNvPr id="10" name="Shape 8"/>
          <p:cNvSpPr/>
          <p:nvPr/>
        </p:nvSpPr>
        <p:spPr>
          <a:xfrm>
            <a:off x="793790" y="5025509"/>
            <a:ext cx="13042821" cy="1367909"/>
          </a:xfrm>
          <a:prstGeom prst="roundRect">
            <a:avLst>
              <a:gd name="adj" fmla="val 6964"/>
            </a:avLst>
          </a:prstGeom>
          <a:solidFill>
            <a:srgbClr val="FFFFFF">
              <a:alpha val="95000"/>
            </a:srgbClr>
          </a:solidFill>
          <a:ln w="30480">
            <a:solidFill>
              <a:srgbClr val="CECEC9"/>
            </a:solidFill>
            <a:prstDash val="solid"/>
          </a:ln>
        </p:spPr>
      </p:sp>
      <p:sp>
        <p:nvSpPr>
          <p:cNvPr id="11" name="Shape 9"/>
          <p:cNvSpPr/>
          <p:nvPr/>
        </p:nvSpPr>
        <p:spPr>
          <a:xfrm>
            <a:off x="824270" y="5055989"/>
            <a:ext cx="907256" cy="1306949"/>
          </a:xfrm>
          <a:prstGeom prst="roundRect">
            <a:avLst>
              <a:gd name="adj" fmla="val 6469"/>
            </a:avLst>
          </a:prstGeom>
          <a:solidFill>
            <a:srgbClr val="E8E8E3"/>
          </a:solidFill>
          <a:ln/>
        </p:spPr>
      </p:sp>
      <p:sp>
        <p:nvSpPr>
          <p:cNvPr id="12" name="Text 10"/>
          <p:cNvSpPr/>
          <p:nvPr/>
        </p:nvSpPr>
        <p:spPr>
          <a:xfrm>
            <a:off x="1958340" y="528280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72525"/>
                </a:solidFill>
                <a:latin typeface="Gelasio" pitchFamily="34" charset="0"/>
                <a:ea typeface="Gelasio" pitchFamily="34" charset="-122"/>
                <a:cs typeface="Gelasio" pitchFamily="34" charset="-120"/>
              </a:rPr>
              <a:t>Actions on Objectives</a:t>
            </a:r>
            <a:endParaRPr lang="en-US" sz="2200" dirty="0"/>
          </a:p>
        </p:txBody>
      </p:sp>
      <p:sp>
        <p:nvSpPr>
          <p:cNvPr id="13" name="Text 11"/>
          <p:cNvSpPr/>
          <p:nvPr/>
        </p:nvSpPr>
        <p:spPr>
          <a:xfrm>
            <a:off x="1958340" y="5773222"/>
            <a:ext cx="11620976"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Lato" pitchFamily="34" charset="0"/>
                <a:ea typeface="Lato" pitchFamily="34" charset="-122"/>
                <a:cs typeface="Lato" pitchFamily="34" charset="-120"/>
              </a:rPr>
              <a:t>Implement </a:t>
            </a:r>
            <a:r>
              <a:rPr lang="en-US" sz="1750" b="1" dirty="0">
                <a:solidFill>
                  <a:srgbClr val="272525"/>
                </a:solidFill>
                <a:latin typeface="Lato" pitchFamily="34" charset="0"/>
                <a:ea typeface="Lato" pitchFamily="34" charset="-122"/>
                <a:cs typeface="Lato" pitchFamily="34" charset="-120"/>
              </a:rPr>
              <a:t>data loss prevention (DLP) and behavioral analytics</a:t>
            </a:r>
            <a:r>
              <a:rPr lang="en-US" sz="1750" dirty="0">
                <a:solidFill>
                  <a:srgbClr val="272525"/>
                </a:solidFill>
                <a:latin typeface="Lato" pitchFamily="34" charset="0"/>
                <a:ea typeface="Lato" pitchFamily="34" charset="-122"/>
                <a:cs typeface="Lato" pitchFamily="34" charset="-120"/>
              </a:rPr>
              <a:t> to detect exfiltration or encryption patterns.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42010"/>
            <a:ext cx="4309705" cy="538758"/>
          </a:xfrm>
          <a:prstGeom prst="rect">
            <a:avLst/>
          </a:prstGeom>
          <a:noFill/>
          <a:ln/>
        </p:spPr>
        <p:txBody>
          <a:bodyPr wrap="none" lIns="0" tIns="0" rIns="0" bIns="0" rtlCol="0" anchor="t"/>
          <a:lstStyle/>
          <a:p>
            <a:pPr marL="0" indent="0" algn="l">
              <a:lnSpc>
                <a:spcPts val="4200"/>
              </a:lnSpc>
              <a:buNone/>
            </a:pPr>
            <a:r>
              <a:rPr lang="en-US" sz="3350" dirty="0">
                <a:solidFill>
                  <a:srgbClr val="312F2B"/>
                </a:solidFill>
                <a:latin typeface="Gelasio" pitchFamily="34" charset="0"/>
                <a:ea typeface="Gelasio" pitchFamily="34" charset="-122"/>
                <a:cs typeface="Gelasio" pitchFamily="34" charset="-120"/>
              </a:rPr>
              <a:t>References</a:t>
            </a:r>
            <a:endParaRPr lang="en-US" sz="3350" dirty="0"/>
          </a:p>
        </p:txBody>
      </p:sp>
      <p:sp>
        <p:nvSpPr>
          <p:cNvPr id="3" name="Shape 1"/>
          <p:cNvSpPr/>
          <p:nvPr/>
        </p:nvSpPr>
        <p:spPr>
          <a:xfrm>
            <a:off x="763310" y="1759625"/>
            <a:ext cx="60960" cy="1405414"/>
          </a:xfrm>
          <a:prstGeom prst="rect">
            <a:avLst/>
          </a:prstGeom>
          <a:solidFill>
            <a:srgbClr val="E5E5E0"/>
          </a:solidFill>
          <a:ln/>
        </p:spPr>
      </p:sp>
      <p:sp>
        <p:nvSpPr>
          <p:cNvPr id="4" name="Text 2"/>
          <p:cNvSpPr/>
          <p:nvPr/>
        </p:nvSpPr>
        <p:spPr>
          <a:xfrm>
            <a:off x="1070134" y="1790105"/>
            <a:ext cx="6117074" cy="1008340"/>
          </a:xfrm>
          <a:prstGeom prst="rect">
            <a:avLst/>
          </a:prstGeom>
          <a:noFill/>
          <a:ln/>
        </p:spPr>
        <p:txBody>
          <a:bodyPr wrap="square" lIns="0" tIns="0" rIns="0" bIns="0" rtlCol="0" anchor="t"/>
          <a:lstStyle/>
          <a:p>
            <a:pPr marL="0" indent="0" algn="l">
              <a:lnSpc>
                <a:spcPts val="2600"/>
              </a:lnSpc>
              <a:buNone/>
            </a:pPr>
            <a:r>
              <a:rPr lang="en-US" sz="1650" u="sng" dirty="0">
                <a:solidFill>
                  <a:srgbClr val="6F6F5D"/>
                </a:solidFill>
                <a:latin typeface="Lato" pitchFamily="34" charset="0"/>
                <a:ea typeface="Lato" pitchFamily="34" charset="-122"/>
                <a:cs typeface="Lato" pitchFamily="34" charset="-120"/>
                <a:hlinkClick r:id="rId3">
                  <a:extLst>
                    <a:ext uri="{A12FA001-AC4F-418D-AE19-62706E023703}">
                      <ahyp:hlinkClr xmlns:ahyp="http://schemas.microsoft.com/office/drawing/2018/hyperlinkcolor" val="tx"/>
                    </a:ext>
                  </a:extLst>
                </a:hlinkClick>
              </a:rPr>
              <a:t>https://www.splunk.com/en_us/blog/learn/cyber-kill-chains.html</a:t>
            </a:r>
            <a:r>
              <a:rPr lang="en-US" sz="1650" dirty="0">
                <a:solidFill>
                  <a:srgbClr val="272525"/>
                </a:solidFill>
                <a:latin typeface="Lato" pitchFamily="34" charset="0"/>
                <a:ea typeface="Lato" pitchFamily="34" charset="-122"/>
                <a:cs typeface="Lato" pitchFamily="34" charset="-120"/>
              </a:rPr>
              <a:t> </a:t>
            </a:r>
            <a:r>
              <a:rPr lang="en-US" sz="1650" b="1" dirty="0">
                <a:solidFill>
                  <a:srgbClr val="272525"/>
                </a:solidFill>
                <a:latin typeface="Lato" pitchFamily="34" charset="0"/>
                <a:ea typeface="Lato" pitchFamily="34" charset="-122"/>
                <a:cs typeface="Lato" pitchFamily="34" charset="-120"/>
              </a:rPr>
              <a:t>Splunk.</a:t>
            </a:r>
            <a:r>
              <a:rPr lang="en-US" sz="1650" dirty="0">
                <a:solidFill>
                  <a:srgbClr val="272525"/>
                </a:solidFill>
                <a:latin typeface="Lato" pitchFamily="34" charset="0"/>
                <a:ea typeface="Lato" pitchFamily="34" charset="-122"/>
                <a:cs typeface="Lato" pitchFamily="34" charset="-120"/>
              </a:rPr>
              <a:t> "Cyber Kill Chains: Strategies &amp; Tactics." August 26, 2024.</a:t>
            </a:r>
            <a:endParaRPr lang="en-US" sz="1650" dirty="0"/>
          </a:p>
        </p:txBody>
      </p:sp>
      <p:sp>
        <p:nvSpPr>
          <p:cNvPr id="5" name="Shape 3"/>
          <p:cNvSpPr/>
          <p:nvPr/>
        </p:nvSpPr>
        <p:spPr>
          <a:xfrm>
            <a:off x="7412593" y="1759625"/>
            <a:ext cx="60960" cy="1405414"/>
          </a:xfrm>
          <a:prstGeom prst="rect">
            <a:avLst/>
          </a:prstGeom>
          <a:solidFill>
            <a:srgbClr val="E5E5E0"/>
          </a:solidFill>
          <a:ln/>
        </p:spPr>
      </p:sp>
      <p:sp>
        <p:nvSpPr>
          <p:cNvPr id="6" name="Text 4"/>
          <p:cNvSpPr/>
          <p:nvPr/>
        </p:nvSpPr>
        <p:spPr>
          <a:xfrm>
            <a:off x="7719417" y="1790105"/>
            <a:ext cx="6117193" cy="1344454"/>
          </a:xfrm>
          <a:prstGeom prst="rect">
            <a:avLst/>
          </a:prstGeom>
          <a:noFill/>
          <a:ln/>
        </p:spPr>
        <p:txBody>
          <a:bodyPr wrap="square" lIns="0" tIns="0" rIns="0" bIns="0" rtlCol="0" anchor="t"/>
          <a:lstStyle/>
          <a:p>
            <a:pPr marL="0" indent="0" algn="l">
              <a:lnSpc>
                <a:spcPts val="2600"/>
              </a:lnSpc>
              <a:buNone/>
            </a:pPr>
            <a:r>
              <a:rPr lang="en-US" sz="1650" u="sng" dirty="0">
                <a:solidFill>
                  <a:srgbClr val="6F6F5D"/>
                </a:solidFill>
                <a:latin typeface="Lato" pitchFamily="34" charset="0"/>
                <a:ea typeface="Lato" pitchFamily="34" charset="-122"/>
                <a:cs typeface="Lato" pitchFamily="34" charset="-120"/>
                <a:hlinkClick r:id="rId4">
                  <a:extLst>
                    <a:ext uri="{A12FA001-AC4F-418D-AE19-62706E023703}">
                      <ahyp:hlinkClr xmlns:ahyp="http://schemas.microsoft.com/office/drawing/2018/hyperlinkcolor" val="tx"/>
                    </a:ext>
                  </a:extLst>
                </a:hlinkClick>
              </a:rPr>
              <a:t>https://www.eccouncil.org/cybersecurity-exchange/threat-intelligence/cyber-kill-chain-seven-steps-cyberattack/</a:t>
            </a:r>
            <a:r>
              <a:rPr lang="en-US" sz="1650" dirty="0">
                <a:solidFill>
                  <a:srgbClr val="272525"/>
                </a:solidFill>
                <a:latin typeface="Lato" pitchFamily="34" charset="0"/>
                <a:ea typeface="Lato" pitchFamily="34" charset="-122"/>
                <a:cs typeface="Lato" pitchFamily="34" charset="-120"/>
              </a:rPr>
              <a:t> </a:t>
            </a:r>
            <a:r>
              <a:rPr lang="en-US" sz="1650" b="1" dirty="0">
                <a:solidFill>
                  <a:srgbClr val="272525"/>
                </a:solidFill>
                <a:latin typeface="Lato" pitchFamily="34" charset="0"/>
                <a:ea typeface="Lato" pitchFamily="34" charset="-122"/>
                <a:cs typeface="Lato" pitchFamily="34" charset="-120"/>
              </a:rPr>
              <a:t>EC-Council.</a:t>
            </a:r>
            <a:r>
              <a:rPr lang="en-US" sz="1650" dirty="0">
                <a:solidFill>
                  <a:srgbClr val="272525"/>
                </a:solidFill>
                <a:latin typeface="Lato" pitchFamily="34" charset="0"/>
                <a:ea typeface="Lato" pitchFamily="34" charset="-122"/>
                <a:cs typeface="Lato" pitchFamily="34" charset="-120"/>
              </a:rPr>
              <a:t> "Seven Steps Of Cyber Kill Chain Process in Cyberattack." 2022.</a:t>
            </a:r>
            <a:endParaRPr lang="en-US" sz="1650" dirty="0"/>
          </a:p>
        </p:txBody>
      </p:sp>
      <p:sp>
        <p:nvSpPr>
          <p:cNvPr id="7" name="Shape 5"/>
          <p:cNvSpPr/>
          <p:nvPr/>
        </p:nvSpPr>
        <p:spPr>
          <a:xfrm>
            <a:off x="763310" y="3513415"/>
            <a:ext cx="60960" cy="1069300"/>
          </a:xfrm>
          <a:prstGeom prst="rect">
            <a:avLst/>
          </a:prstGeom>
          <a:solidFill>
            <a:srgbClr val="E5E5E0"/>
          </a:solidFill>
          <a:ln/>
        </p:spPr>
      </p:sp>
      <p:sp>
        <p:nvSpPr>
          <p:cNvPr id="8" name="Text 6"/>
          <p:cNvSpPr/>
          <p:nvPr/>
        </p:nvSpPr>
        <p:spPr>
          <a:xfrm>
            <a:off x="1070134" y="3543895"/>
            <a:ext cx="6117074" cy="672227"/>
          </a:xfrm>
          <a:prstGeom prst="rect">
            <a:avLst/>
          </a:prstGeom>
          <a:noFill/>
          <a:ln/>
        </p:spPr>
        <p:txBody>
          <a:bodyPr wrap="square" lIns="0" tIns="0" rIns="0" bIns="0" rtlCol="0" anchor="t"/>
          <a:lstStyle/>
          <a:p>
            <a:pPr marL="0" indent="0" algn="l">
              <a:lnSpc>
                <a:spcPts val="2600"/>
              </a:lnSpc>
              <a:buNone/>
            </a:pPr>
            <a:r>
              <a:rPr lang="en-US" sz="1650" u="sng" dirty="0">
                <a:solidFill>
                  <a:srgbClr val="6F6F5D"/>
                </a:solidFill>
                <a:latin typeface="Lato" pitchFamily="34" charset="0"/>
                <a:ea typeface="Lato" pitchFamily="34" charset="-122"/>
                <a:cs typeface="Lato" pitchFamily="34" charset="-120"/>
                <a:hlinkClick r:id="rId5">
                  <a:extLst>
                    <a:ext uri="{A12FA001-AC4F-418D-AE19-62706E023703}">
                      <ahyp:hlinkClr xmlns:ahyp="http://schemas.microsoft.com/office/drawing/2018/hyperlinkcolor" val="tx"/>
                    </a:ext>
                  </a:extLst>
                </a:hlinkClick>
              </a:rPr>
              <a:t>https://www.darktrace.com/cyber-ai-glossary/cyber-kill-chain</a:t>
            </a:r>
            <a:r>
              <a:rPr lang="en-US" sz="1650" dirty="0">
                <a:solidFill>
                  <a:srgbClr val="272525"/>
                </a:solidFill>
                <a:latin typeface="Lato" pitchFamily="34" charset="0"/>
                <a:ea typeface="Lato" pitchFamily="34" charset="-122"/>
                <a:cs typeface="Lato" pitchFamily="34" charset="-120"/>
              </a:rPr>
              <a:t> </a:t>
            </a:r>
            <a:r>
              <a:rPr lang="en-US" sz="1650" b="1" dirty="0">
                <a:solidFill>
                  <a:srgbClr val="272525"/>
                </a:solidFill>
                <a:latin typeface="Lato" pitchFamily="34" charset="0"/>
                <a:ea typeface="Lato" pitchFamily="34" charset="-122"/>
                <a:cs typeface="Lato" pitchFamily="34" charset="-120"/>
              </a:rPr>
              <a:t>Darktrace.</a:t>
            </a:r>
            <a:r>
              <a:rPr lang="en-US" sz="1650" dirty="0">
                <a:solidFill>
                  <a:srgbClr val="272525"/>
                </a:solidFill>
                <a:latin typeface="Lato" pitchFamily="34" charset="0"/>
                <a:ea typeface="Lato" pitchFamily="34" charset="-122"/>
                <a:cs typeface="Lato" pitchFamily="34" charset="-120"/>
              </a:rPr>
              <a:t> "Cyber Kill Chain: Definition &amp; Examples."</a:t>
            </a:r>
            <a:endParaRPr lang="en-US" sz="1650" dirty="0"/>
          </a:p>
        </p:txBody>
      </p:sp>
      <p:sp>
        <p:nvSpPr>
          <p:cNvPr id="9" name="Shape 7"/>
          <p:cNvSpPr/>
          <p:nvPr/>
        </p:nvSpPr>
        <p:spPr>
          <a:xfrm>
            <a:off x="7412593" y="3513415"/>
            <a:ext cx="60960" cy="1069300"/>
          </a:xfrm>
          <a:prstGeom prst="rect">
            <a:avLst/>
          </a:prstGeom>
          <a:solidFill>
            <a:srgbClr val="E5E5E0"/>
          </a:solidFill>
          <a:ln/>
        </p:spPr>
      </p:sp>
      <p:sp>
        <p:nvSpPr>
          <p:cNvPr id="10" name="Text 8"/>
          <p:cNvSpPr/>
          <p:nvPr/>
        </p:nvSpPr>
        <p:spPr>
          <a:xfrm>
            <a:off x="7719417" y="3543895"/>
            <a:ext cx="6117193" cy="1008340"/>
          </a:xfrm>
          <a:prstGeom prst="rect">
            <a:avLst/>
          </a:prstGeom>
          <a:noFill/>
          <a:ln/>
        </p:spPr>
        <p:txBody>
          <a:bodyPr wrap="square" lIns="0" tIns="0" rIns="0" bIns="0" rtlCol="0" anchor="t"/>
          <a:lstStyle/>
          <a:p>
            <a:pPr marL="0" indent="0" algn="l">
              <a:lnSpc>
                <a:spcPts val="2600"/>
              </a:lnSpc>
              <a:buNone/>
            </a:pPr>
            <a:r>
              <a:rPr lang="en-US" sz="1650" u="sng" dirty="0">
                <a:solidFill>
                  <a:srgbClr val="6F6F5D"/>
                </a:solidFill>
                <a:latin typeface="Lato" pitchFamily="34" charset="0"/>
                <a:ea typeface="Lato" pitchFamily="34" charset="-122"/>
                <a:cs typeface="Lato" pitchFamily="34" charset="-120"/>
                <a:hlinkClick r:id="rId6">
                  <a:extLst>
                    <a:ext uri="{A12FA001-AC4F-418D-AE19-62706E023703}">
                      <ahyp:hlinkClr xmlns:ahyp="http://schemas.microsoft.com/office/drawing/2018/hyperlinkcolor" val="tx"/>
                    </a:ext>
                  </a:extLst>
                </a:hlinkClick>
              </a:rPr>
              <a:t>https://www.lockheedmartin.com/en-us/capabilities/cyber/cyber-kill-chain.html</a:t>
            </a:r>
            <a:r>
              <a:rPr lang="en-US" sz="1650" dirty="0">
                <a:solidFill>
                  <a:srgbClr val="272525"/>
                </a:solidFill>
                <a:latin typeface="Lato" pitchFamily="34" charset="0"/>
                <a:ea typeface="Lato" pitchFamily="34" charset="-122"/>
                <a:cs typeface="Lato" pitchFamily="34" charset="-120"/>
              </a:rPr>
              <a:t> </a:t>
            </a:r>
            <a:r>
              <a:rPr lang="en-US" sz="1650" b="1" dirty="0">
                <a:solidFill>
                  <a:srgbClr val="272525"/>
                </a:solidFill>
                <a:latin typeface="Lato" pitchFamily="34" charset="0"/>
                <a:ea typeface="Lato" pitchFamily="34" charset="-122"/>
                <a:cs typeface="Lato" pitchFamily="34" charset="-120"/>
              </a:rPr>
              <a:t>Lockheed Martin.</a:t>
            </a:r>
            <a:r>
              <a:rPr lang="en-US" sz="1650" dirty="0">
                <a:solidFill>
                  <a:srgbClr val="272525"/>
                </a:solidFill>
                <a:latin typeface="Lato" pitchFamily="34" charset="0"/>
                <a:ea typeface="Lato" pitchFamily="34" charset="-122"/>
                <a:cs typeface="Lato" pitchFamily="34" charset="-120"/>
              </a:rPr>
              <a:t> "Cyber Kill Chain®."</a:t>
            </a:r>
            <a:endParaRPr lang="en-US" sz="1650" dirty="0"/>
          </a:p>
        </p:txBody>
      </p:sp>
      <p:sp>
        <p:nvSpPr>
          <p:cNvPr id="11" name="Shape 9"/>
          <p:cNvSpPr/>
          <p:nvPr/>
        </p:nvSpPr>
        <p:spPr>
          <a:xfrm>
            <a:off x="763310" y="4931093"/>
            <a:ext cx="60960" cy="1069300"/>
          </a:xfrm>
          <a:prstGeom prst="rect">
            <a:avLst/>
          </a:prstGeom>
          <a:solidFill>
            <a:srgbClr val="E5E5E0"/>
          </a:solidFill>
          <a:ln/>
        </p:spPr>
      </p:sp>
      <p:sp>
        <p:nvSpPr>
          <p:cNvPr id="12" name="Text 10"/>
          <p:cNvSpPr/>
          <p:nvPr/>
        </p:nvSpPr>
        <p:spPr>
          <a:xfrm>
            <a:off x="1070134" y="4961573"/>
            <a:ext cx="6117074" cy="1008340"/>
          </a:xfrm>
          <a:prstGeom prst="rect">
            <a:avLst/>
          </a:prstGeom>
          <a:noFill/>
          <a:ln/>
        </p:spPr>
        <p:txBody>
          <a:bodyPr wrap="square" lIns="0" tIns="0" rIns="0" bIns="0" rtlCol="0" anchor="t"/>
          <a:lstStyle/>
          <a:p>
            <a:pPr marL="0" indent="0" algn="l">
              <a:lnSpc>
                <a:spcPts val="2600"/>
              </a:lnSpc>
              <a:buNone/>
            </a:pPr>
            <a:r>
              <a:rPr lang="en-US" sz="1650" u="sng" dirty="0">
                <a:solidFill>
                  <a:srgbClr val="6F6F5D"/>
                </a:solidFill>
                <a:latin typeface="Lato" pitchFamily="34" charset="0"/>
                <a:ea typeface="Lato" pitchFamily="34" charset="-122"/>
                <a:cs typeface="Lato" pitchFamily="34" charset="-120"/>
                <a:hlinkClick r:id="rId7">
                  <a:extLst>
                    <a:ext uri="{A12FA001-AC4F-418D-AE19-62706E023703}">
                      <ahyp:hlinkClr xmlns:ahyp="http://schemas.microsoft.com/office/drawing/2018/hyperlinkcolor" val="tx"/>
                    </a:ext>
                  </a:extLst>
                </a:hlinkClick>
              </a:rPr>
              <a:t>https://www.picussecurity.com/resource/blog/cyber-kill-chain-explained</a:t>
            </a:r>
            <a:r>
              <a:rPr lang="en-US" sz="1650" dirty="0">
                <a:solidFill>
                  <a:srgbClr val="272525"/>
                </a:solidFill>
                <a:latin typeface="Lato" pitchFamily="34" charset="0"/>
                <a:ea typeface="Lato" pitchFamily="34" charset="-122"/>
                <a:cs typeface="Lato" pitchFamily="34" charset="-120"/>
              </a:rPr>
              <a:t> </a:t>
            </a:r>
            <a:r>
              <a:rPr lang="en-US" sz="1650" b="1" dirty="0">
                <a:solidFill>
                  <a:srgbClr val="272525"/>
                </a:solidFill>
                <a:latin typeface="Lato" pitchFamily="34" charset="0"/>
                <a:ea typeface="Lato" pitchFamily="34" charset="-122"/>
                <a:cs typeface="Lato" pitchFamily="34" charset="-120"/>
              </a:rPr>
              <a:t>Picus Security.</a:t>
            </a:r>
            <a:r>
              <a:rPr lang="en-US" sz="1650" dirty="0">
                <a:solidFill>
                  <a:srgbClr val="272525"/>
                </a:solidFill>
                <a:latin typeface="Lato" pitchFamily="34" charset="0"/>
                <a:ea typeface="Lato" pitchFamily="34" charset="-122"/>
                <a:cs typeface="Lato" pitchFamily="34" charset="-120"/>
              </a:rPr>
              <a:t> "Cyber Kill Chain and Breach and Attack Simulation."</a:t>
            </a:r>
            <a:endParaRPr lang="en-US" sz="1650" dirty="0"/>
          </a:p>
        </p:txBody>
      </p:sp>
      <p:sp>
        <p:nvSpPr>
          <p:cNvPr id="13" name="Shape 11"/>
          <p:cNvSpPr/>
          <p:nvPr/>
        </p:nvSpPr>
        <p:spPr>
          <a:xfrm>
            <a:off x="7412593" y="4931093"/>
            <a:ext cx="60960" cy="1069300"/>
          </a:xfrm>
          <a:prstGeom prst="rect">
            <a:avLst/>
          </a:prstGeom>
          <a:solidFill>
            <a:srgbClr val="E5E5E0"/>
          </a:solidFill>
          <a:ln/>
        </p:spPr>
      </p:sp>
      <p:sp>
        <p:nvSpPr>
          <p:cNvPr id="14" name="Text 12"/>
          <p:cNvSpPr/>
          <p:nvPr/>
        </p:nvSpPr>
        <p:spPr>
          <a:xfrm>
            <a:off x="7719417" y="4961573"/>
            <a:ext cx="6117193" cy="672227"/>
          </a:xfrm>
          <a:prstGeom prst="rect">
            <a:avLst/>
          </a:prstGeom>
          <a:noFill/>
          <a:ln/>
        </p:spPr>
        <p:txBody>
          <a:bodyPr wrap="square" lIns="0" tIns="0" rIns="0" bIns="0" rtlCol="0" anchor="t"/>
          <a:lstStyle/>
          <a:p>
            <a:pPr marL="0" indent="0" algn="l">
              <a:lnSpc>
                <a:spcPts val="2600"/>
              </a:lnSpc>
              <a:buNone/>
            </a:pPr>
            <a:r>
              <a:rPr lang="en-US" sz="1650" u="sng" dirty="0">
                <a:solidFill>
                  <a:srgbClr val="6F6F5D"/>
                </a:solidFill>
                <a:latin typeface="Lato" pitchFamily="34" charset="0"/>
                <a:ea typeface="Lato" pitchFamily="34" charset="-122"/>
                <a:cs typeface="Lato" pitchFamily="34" charset="-120"/>
                <a:hlinkClick r:id="rId8">
                  <a:extLst>
                    <a:ext uri="{A12FA001-AC4F-418D-AE19-62706E023703}">
                      <ahyp:hlinkClr xmlns:ahyp="http://schemas.microsoft.com/office/drawing/2018/hyperlinkcolor" val="tx"/>
                    </a:ext>
                  </a:extLst>
                </a:hlinkClick>
              </a:rPr>
              <a:t>https://www.geeksforgeeks.org/ethical-hacking/cyber-kill-chain/</a:t>
            </a:r>
            <a:r>
              <a:rPr lang="en-US" sz="1650" dirty="0">
                <a:solidFill>
                  <a:srgbClr val="272525"/>
                </a:solidFill>
                <a:latin typeface="Lato" pitchFamily="34" charset="0"/>
                <a:ea typeface="Lato" pitchFamily="34" charset="-122"/>
                <a:cs typeface="Lato" pitchFamily="34" charset="-120"/>
              </a:rPr>
              <a:t> </a:t>
            </a:r>
            <a:r>
              <a:rPr lang="en-US" sz="1650" b="1" dirty="0">
                <a:solidFill>
                  <a:srgbClr val="272525"/>
                </a:solidFill>
                <a:latin typeface="Lato" pitchFamily="34" charset="0"/>
                <a:ea typeface="Lato" pitchFamily="34" charset="-122"/>
                <a:cs typeface="Lato" pitchFamily="34" charset="-120"/>
              </a:rPr>
              <a:t>GeeksforGeeks.</a:t>
            </a:r>
            <a:r>
              <a:rPr lang="en-US" sz="1650" dirty="0">
                <a:solidFill>
                  <a:srgbClr val="272525"/>
                </a:solidFill>
                <a:latin typeface="Lato" pitchFamily="34" charset="0"/>
                <a:ea typeface="Lato" pitchFamily="34" charset="-122"/>
                <a:cs typeface="Lato" pitchFamily="34" charset="-120"/>
              </a:rPr>
              <a:t> "Cyber Kill Chain."</a:t>
            </a:r>
            <a:endParaRPr lang="en-US" sz="1650" dirty="0"/>
          </a:p>
        </p:txBody>
      </p:sp>
      <p:sp>
        <p:nvSpPr>
          <p:cNvPr id="15" name="Shape 13"/>
          <p:cNvSpPr/>
          <p:nvPr/>
        </p:nvSpPr>
        <p:spPr>
          <a:xfrm>
            <a:off x="763310" y="6348770"/>
            <a:ext cx="60960" cy="1069300"/>
          </a:xfrm>
          <a:prstGeom prst="rect">
            <a:avLst/>
          </a:prstGeom>
          <a:solidFill>
            <a:srgbClr val="E5E5E0"/>
          </a:solidFill>
          <a:ln/>
        </p:spPr>
      </p:sp>
      <p:sp>
        <p:nvSpPr>
          <p:cNvPr id="16" name="Text 14"/>
          <p:cNvSpPr/>
          <p:nvPr/>
        </p:nvSpPr>
        <p:spPr>
          <a:xfrm>
            <a:off x="1070134" y="6379250"/>
            <a:ext cx="6117074" cy="1008340"/>
          </a:xfrm>
          <a:prstGeom prst="rect">
            <a:avLst/>
          </a:prstGeom>
          <a:noFill/>
          <a:ln/>
        </p:spPr>
        <p:txBody>
          <a:bodyPr wrap="square" lIns="0" tIns="0" rIns="0" bIns="0" rtlCol="0" anchor="t"/>
          <a:lstStyle/>
          <a:p>
            <a:pPr marL="0" indent="0" algn="l">
              <a:lnSpc>
                <a:spcPts val="2600"/>
              </a:lnSpc>
              <a:buNone/>
            </a:pPr>
            <a:r>
              <a:rPr lang="en-US" sz="1650" u="sng" dirty="0">
                <a:solidFill>
                  <a:srgbClr val="6F6F5D"/>
                </a:solidFill>
                <a:latin typeface="Lato" pitchFamily="34" charset="0"/>
                <a:ea typeface="Lato" pitchFamily="34" charset="-122"/>
                <a:cs typeface="Lato" pitchFamily="34" charset="-120"/>
                <a:hlinkClick r:id="rId9">
                  <a:extLst>
                    <a:ext uri="{A12FA001-AC4F-418D-AE19-62706E023703}">
                      <ahyp:hlinkClr xmlns:ahyp="http://schemas.microsoft.com/office/drawing/2018/hyperlinkcolor" val="tx"/>
                    </a:ext>
                  </a:extLst>
                </a:hlinkClick>
              </a:rPr>
              <a:t>https://www.microsoft.com/en-us/security/business/security-101/what-is-cyber-kill-chain</a:t>
            </a:r>
            <a:r>
              <a:rPr lang="en-US" sz="1650" dirty="0">
                <a:solidFill>
                  <a:srgbClr val="272525"/>
                </a:solidFill>
                <a:latin typeface="Lato" pitchFamily="34" charset="0"/>
                <a:ea typeface="Lato" pitchFamily="34" charset="-122"/>
                <a:cs typeface="Lato" pitchFamily="34" charset="-120"/>
              </a:rPr>
              <a:t> </a:t>
            </a:r>
            <a:r>
              <a:rPr lang="en-US" sz="1650" b="1" dirty="0">
                <a:solidFill>
                  <a:srgbClr val="272525"/>
                </a:solidFill>
                <a:latin typeface="Lato" pitchFamily="34" charset="0"/>
                <a:ea typeface="Lato" pitchFamily="34" charset="-122"/>
                <a:cs typeface="Lato" pitchFamily="34" charset="-120"/>
              </a:rPr>
              <a:t>Microsoft Security.</a:t>
            </a:r>
            <a:r>
              <a:rPr lang="en-US" sz="1650" dirty="0">
                <a:solidFill>
                  <a:srgbClr val="272525"/>
                </a:solidFill>
                <a:latin typeface="Lato" pitchFamily="34" charset="0"/>
                <a:ea typeface="Lato" pitchFamily="34" charset="-122"/>
                <a:cs typeface="Lato" pitchFamily="34" charset="-120"/>
              </a:rPr>
              <a:t> "What Is the Cyber Kill Chain?"</a:t>
            </a:r>
            <a:endParaRPr lang="en-US" sz="1650" dirty="0"/>
          </a:p>
        </p:txBody>
      </p:sp>
      <p:sp>
        <p:nvSpPr>
          <p:cNvPr id="17" name="Shape 15"/>
          <p:cNvSpPr/>
          <p:nvPr/>
        </p:nvSpPr>
        <p:spPr>
          <a:xfrm>
            <a:off x="7412593" y="6348770"/>
            <a:ext cx="60960" cy="1069300"/>
          </a:xfrm>
          <a:prstGeom prst="rect">
            <a:avLst/>
          </a:prstGeom>
          <a:solidFill>
            <a:srgbClr val="E5E5E0"/>
          </a:solidFill>
          <a:ln/>
        </p:spPr>
      </p:sp>
      <p:sp>
        <p:nvSpPr>
          <p:cNvPr id="18" name="Text 16"/>
          <p:cNvSpPr/>
          <p:nvPr/>
        </p:nvSpPr>
        <p:spPr>
          <a:xfrm>
            <a:off x="7719417" y="6379250"/>
            <a:ext cx="6117193" cy="672227"/>
          </a:xfrm>
          <a:prstGeom prst="rect">
            <a:avLst/>
          </a:prstGeom>
          <a:noFill/>
          <a:ln/>
        </p:spPr>
        <p:txBody>
          <a:bodyPr wrap="square" lIns="0" tIns="0" rIns="0" bIns="0" rtlCol="0" anchor="t"/>
          <a:lstStyle/>
          <a:p>
            <a:pPr marL="0" indent="0" algn="l">
              <a:lnSpc>
                <a:spcPts val="2600"/>
              </a:lnSpc>
              <a:buNone/>
            </a:pPr>
            <a:r>
              <a:rPr lang="en-US" sz="1650" u="sng" dirty="0">
                <a:solidFill>
                  <a:srgbClr val="6F6F5D"/>
                </a:solidFill>
                <a:latin typeface="Lato" pitchFamily="34" charset="0"/>
                <a:ea typeface="Lato" pitchFamily="34" charset="-122"/>
                <a:cs typeface="Lato" pitchFamily="34" charset="-120"/>
                <a:hlinkClick r:id="rId10">
                  <a:extLst>
                    <a:ext uri="{A12FA001-AC4F-418D-AE19-62706E023703}">
                      <ahyp:hlinkClr xmlns:ahyp="http://schemas.microsoft.com/office/drawing/2018/hyperlinkcolor" val="tx"/>
                    </a:ext>
                  </a:extLst>
                </a:hlinkClick>
              </a:rPr>
              <a:t>https://www.netskope.com/security-defined/cyber-security-kill-chain</a:t>
            </a:r>
            <a:r>
              <a:rPr lang="en-US" sz="1650" dirty="0">
                <a:solidFill>
                  <a:srgbClr val="272525"/>
                </a:solidFill>
                <a:latin typeface="Lato" pitchFamily="34" charset="0"/>
                <a:ea typeface="Lato" pitchFamily="34" charset="-122"/>
                <a:cs typeface="Lato" pitchFamily="34" charset="-120"/>
              </a:rPr>
              <a:t> </a:t>
            </a:r>
            <a:r>
              <a:rPr lang="en-US" sz="1650" b="1" dirty="0">
                <a:solidFill>
                  <a:srgbClr val="272525"/>
                </a:solidFill>
                <a:latin typeface="Lato" pitchFamily="34" charset="0"/>
                <a:ea typeface="Lato" pitchFamily="34" charset="-122"/>
                <a:cs typeface="Lato" pitchFamily="34" charset="-120"/>
              </a:rPr>
              <a:t>Netskope.</a:t>
            </a:r>
            <a:r>
              <a:rPr lang="en-US" sz="1650" dirty="0">
                <a:solidFill>
                  <a:srgbClr val="272525"/>
                </a:solidFill>
                <a:latin typeface="Lato" pitchFamily="34" charset="0"/>
                <a:ea typeface="Lato" pitchFamily="34" charset="-122"/>
                <a:cs typeface="Lato" pitchFamily="34" charset="-120"/>
              </a:rPr>
              <a:t> "What is a Cyber Security Kill Chain?"</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1178</Words>
  <Application>Microsoft Office PowerPoint</Application>
  <PresentationFormat>Custom</PresentationFormat>
  <Paragraphs>93</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Lato</vt:lpstr>
      <vt:lpstr>Gelasio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2026-04-03T12:18:44Z</dcterms:created>
  <dcterms:modified xsi:type="dcterms:W3CDTF">2026-04-03T12:20:38Z</dcterms:modified>
</cp:coreProperties>
</file>