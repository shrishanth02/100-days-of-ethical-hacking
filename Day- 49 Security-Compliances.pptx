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4630400" cy="8229600"/>
  <p:notesSz cx="8229600" cy="14630400"/>
  <p:embeddedFontLst>
    <p:embeddedFont>
      <p:font typeface="Barlow Light" panose="00000400000000000000" pitchFamily="2" charset="0"/>
      <p:regular r:id="rId13"/>
    </p:embeddedFont>
    <p:embeddedFont>
      <p:font typeface="Montserrat" panose="00000500000000000000" pitchFamily="2" charset="0"/>
      <p:regular r:id="rId14"/>
      <p:bold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9" d="100"/>
          <a:sy n="69" d="100"/>
        </p:scale>
        <p:origin x="677"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1637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22302"/>
            <a:ext cx="14630400" cy="8229600"/>
          </a:xfrm>
          <a:prstGeom prst="rect">
            <a:avLst/>
          </a:prstGeom>
          <a:solidFill>
            <a:srgbClr val="FFFFFF"/>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sv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6.sv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svg"/><Relationship Id="rId4" Type="http://schemas.openxmlformats.org/officeDocument/2006/relationships/image" Target="../media/image4.svg"/><Relationship Id="rId9" Type="http://schemas.openxmlformats.org/officeDocument/2006/relationships/image" Target="../media/image9.png"/></Relationships>
</file>

<file path=ppt/slides/_rels/slide3.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svg"/></Relationships>
</file>

<file path=ppt/slides/_rels/slide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22.svg"/></Relationships>
</file>

<file path=ppt/slides/_rels/slide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24.png"/></Relationships>
</file>

<file path=ppt/slides/_rels/slide8.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notesSlide" Target="../notesSlides/notesSlide8.xml"/><Relationship Id="rId1" Type="http://schemas.openxmlformats.org/officeDocument/2006/relationships/slideLayout" Target="../slideLayouts/slideLayout9.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svg"/></Relationships>
</file>

<file path=ppt/slides/_rels/slide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9.xml"/><Relationship Id="rId1" Type="http://schemas.openxmlformats.org/officeDocument/2006/relationships/slideLayout" Target="../slideLayouts/slideLayout10.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1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11.xml"/><Relationship Id="rId4" Type="http://schemas.openxmlformats.org/officeDocument/2006/relationships/image" Target="../media/image36.sv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869680" y="0"/>
            <a:ext cx="5760720" cy="8229600"/>
          </a:xfrm>
          <a:prstGeom prst="rect">
            <a:avLst/>
          </a:prstGeom>
        </p:spPr>
      </p:pic>
      <p:sp>
        <p:nvSpPr>
          <p:cNvPr id="3" name="Text 0"/>
          <p:cNvSpPr/>
          <p:nvPr/>
        </p:nvSpPr>
        <p:spPr>
          <a:xfrm>
            <a:off x="758309" y="3357563"/>
            <a:ext cx="4988838" cy="623530"/>
          </a:xfrm>
          <a:prstGeom prst="rect">
            <a:avLst/>
          </a:prstGeom>
          <a:noFill/>
          <a:ln/>
        </p:spPr>
        <p:txBody>
          <a:bodyPr wrap="none" lIns="0" tIns="0" rIns="0" bIns="0" rtlCol="0" anchor="t"/>
          <a:lstStyle/>
          <a:p>
            <a:pPr marL="0" indent="0" algn="l">
              <a:lnSpc>
                <a:spcPts val="4900"/>
              </a:lnSpc>
              <a:buNone/>
            </a:pPr>
            <a:r>
              <a:rPr lang="en-US" sz="3900" b="1" dirty="0">
                <a:solidFill>
                  <a:srgbClr val="2E3C4E"/>
                </a:solidFill>
                <a:latin typeface="Barlow Bold" pitchFamily="34" charset="0"/>
                <a:ea typeface="Barlow Bold" pitchFamily="34" charset="-122"/>
                <a:cs typeface="Barlow Bold" pitchFamily="34" charset="-120"/>
              </a:rPr>
              <a:t>Security Compliances</a:t>
            </a:r>
            <a:endParaRPr lang="en-US" sz="3900" dirty="0"/>
          </a:p>
        </p:txBody>
      </p:sp>
      <p:sp>
        <p:nvSpPr>
          <p:cNvPr id="4" name="Text 1"/>
          <p:cNvSpPr/>
          <p:nvPr/>
        </p:nvSpPr>
        <p:spPr>
          <a:xfrm>
            <a:off x="758309" y="4265414"/>
            <a:ext cx="7627382" cy="606504"/>
          </a:xfrm>
          <a:prstGeom prst="rect">
            <a:avLst/>
          </a:prstGeom>
          <a:noFill/>
          <a:ln/>
        </p:spPr>
        <p:txBody>
          <a:bodyPr wrap="square" lIns="0" tIns="0" rIns="0" bIns="0" rtlCol="0" anchor="t"/>
          <a:lstStyle/>
          <a:p>
            <a:pPr marL="0" indent="0" algn="l">
              <a:lnSpc>
                <a:spcPts val="2350"/>
              </a:lnSpc>
              <a:buNone/>
            </a:pPr>
            <a:r>
              <a:rPr lang="en-US" sz="1450" dirty="0">
                <a:solidFill>
                  <a:srgbClr val="384653"/>
                </a:solidFill>
                <a:latin typeface="Montserrat" pitchFamily="34" charset="0"/>
                <a:ea typeface="Montserrat" pitchFamily="34" charset="-122"/>
                <a:cs typeface="Montserrat" pitchFamily="34" charset="-120"/>
              </a:rPr>
              <a:t>Critical frameworks that protect your organization's digital assets and build trust with customers in an increasingly regulated world.</a:t>
            </a:r>
            <a:endParaRPr lang="en-US" sz="14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692825" y="737711"/>
            <a:ext cx="1482804" cy="315992"/>
          </a:xfrm>
          <a:prstGeom prst="roundRect">
            <a:avLst>
              <a:gd name="adj" fmla="val 65781"/>
            </a:avLst>
          </a:prstGeom>
          <a:solidFill>
            <a:srgbClr val="D4E9F7"/>
          </a:solidFill>
          <a:ln/>
        </p:spPr>
      </p:sp>
      <p:pic>
        <p:nvPicPr>
          <p:cNvPr id="3"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96647" y="826413"/>
            <a:ext cx="138470" cy="138470"/>
          </a:xfrm>
          <a:prstGeom prst="rect">
            <a:avLst/>
          </a:prstGeom>
        </p:spPr>
      </p:pic>
      <p:sp>
        <p:nvSpPr>
          <p:cNvPr id="4" name="Text 1"/>
          <p:cNvSpPr/>
          <p:nvPr/>
        </p:nvSpPr>
        <p:spPr>
          <a:xfrm>
            <a:off x="1004292" y="789622"/>
            <a:ext cx="1067514" cy="212169"/>
          </a:xfrm>
          <a:prstGeom prst="rect">
            <a:avLst/>
          </a:prstGeom>
          <a:noFill/>
          <a:ln/>
        </p:spPr>
        <p:txBody>
          <a:bodyPr wrap="none" lIns="0" tIns="0" rIns="0" bIns="0" rtlCol="0" anchor="t"/>
          <a:lstStyle/>
          <a:p>
            <a:pPr marL="0" indent="0" algn="l">
              <a:lnSpc>
                <a:spcPts val="1650"/>
              </a:lnSpc>
              <a:buNone/>
            </a:pPr>
            <a:r>
              <a:rPr lang="en-US" sz="1050" dirty="0">
                <a:solidFill>
                  <a:srgbClr val="384653"/>
                </a:solidFill>
                <a:latin typeface="Montserrat" pitchFamily="34" charset="0"/>
                <a:ea typeface="Montserrat" pitchFamily="34" charset="-122"/>
                <a:cs typeface="Montserrat" pitchFamily="34" charset="-120"/>
              </a:rPr>
              <a:t>FOUNDATIONS</a:t>
            </a:r>
            <a:endParaRPr lang="en-US" sz="1050" dirty="0"/>
          </a:p>
        </p:txBody>
      </p:sp>
      <p:sp>
        <p:nvSpPr>
          <p:cNvPr id="5" name="Text 2"/>
          <p:cNvSpPr/>
          <p:nvPr/>
        </p:nvSpPr>
        <p:spPr>
          <a:xfrm>
            <a:off x="692825" y="1116925"/>
            <a:ext cx="5951934" cy="569833"/>
          </a:xfrm>
          <a:prstGeom prst="rect">
            <a:avLst/>
          </a:prstGeom>
          <a:noFill/>
          <a:ln/>
        </p:spPr>
        <p:txBody>
          <a:bodyPr wrap="none" lIns="0" tIns="0" rIns="0" bIns="0" rtlCol="0" anchor="t"/>
          <a:lstStyle/>
          <a:p>
            <a:pPr marL="0" indent="0" algn="l">
              <a:lnSpc>
                <a:spcPts val="4450"/>
              </a:lnSpc>
              <a:buNone/>
            </a:pPr>
            <a:r>
              <a:rPr lang="en-US" sz="3550" b="1" dirty="0">
                <a:solidFill>
                  <a:srgbClr val="2E3C4E"/>
                </a:solidFill>
                <a:latin typeface="Barlow Bold" pitchFamily="34" charset="0"/>
                <a:ea typeface="Barlow Bold" pitchFamily="34" charset="-122"/>
                <a:cs typeface="Barlow Bold" pitchFamily="34" charset="-120"/>
              </a:rPr>
              <a:t>Defining Security Compliance</a:t>
            </a:r>
            <a:endParaRPr lang="en-US" sz="3550" dirty="0"/>
          </a:p>
        </p:txBody>
      </p:sp>
      <p:sp>
        <p:nvSpPr>
          <p:cNvPr id="6" name="Shape 3"/>
          <p:cNvSpPr/>
          <p:nvPr/>
        </p:nvSpPr>
        <p:spPr>
          <a:xfrm>
            <a:off x="568166" y="1924050"/>
            <a:ext cx="5977057" cy="2148483"/>
          </a:xfrm>
          <a:prstGeom prst="roundRect">
            <a:avLst>
              <a:gd name="adj" fmla="val 19350"/>
            </a:avLst>
          </a:prstGeom>
          <a:solidFill>
            <a:srgbClr val="75BAE6"/>
          </a:solidFill>
          <a:ln/>
        </p:spPr>
      </p:sp>
      <p:sp>
        <p:nvSpPr>
          <p:cNvPr id="7" name="Text 4"/>
          <p:cNvSpPr/>
          <p:nvPr/>
        </p:nvSpPr>
        <p:spPr>
          <a:xfrm>
            <a:off x="741283" y="2082284"/>
            <a:ext cx="2279094" cy="284798"/>
          </a:xfrm>
          <a:prstGeom prst="rect">
            <a:avLst/>
          </a:prstGeom>
          <a:noFill/>
          <a:ln/>
        </p:spPr>
        <p:txBody>
          <a:bodyPr wrap="none" lIns="0" tIns="0" rIns="0" bIns="0" rtlCol="0" anchor="t"/>
          <a:lstStyle/>
          <a:p>
            <a:pPr marL="0" indent="0" algn="l">
              <a:lnSpc>
                <a:spcPts val="2200"/>
              </a:lnSpc>
              <a:buNone/>
            </a:pPr>
            <a:r>
              <a:rPr lang="en-US" sz="1750" b="1" dirty="0">
                <a:solidFill>
                  <a:srgbClr val="2E3C4E"/>
                </a:solidFill>
                <a:latin typeface="Barlow Bold" pitchFamily="34" charset="0"/>
                <a:ea typeface="Barlow Bold" pitchFamily="34" charset="-122"/>
                <a:cs typeface="Barlow Bold" pitchFamily="34" charset="-120"/>
              </a:rPr>
              <a:t>What It Means</a:t>
            </a:r>
            <a:endParaRPr lang="en-US" sz="1750" dirty="0"/>
          </a:p>
        </p:txBody>
      </p:sp>
      <p:sp>
        <p:nvSpPr>
          <p:cNvPr id="8" name="Text 5"/>
          <p:cNvSpPr/>
          <p:nvPr/>
        </p:nvSpPr>
        <p:spPr>
          <a:xfrm>
            <a:off x="741283" y="2525316"/>
            <a:ext cx="5630823" cy="795457"/>
          </a:xfrm>
          <a:prstGeom prst="rect">
            <a:avLst/>
          </a:prstGeom>
          <a:noFill/>
          <a:ln/>
        </p:spPr>
        <p:txBody>
          <a:bodyPr wrap="square" lIns="0" tIns="0" rIns="0" bIns="0" rtlCol="0" anchor="t"/>
          <a:lstStyle/>
          <a:p>
            <a:pPr marL="0" indent="0" algn="l">
              <a:lnSpc>
                <a:spcPts val="2050"/>
              </a:lnSpc>
              <a:buNone/>
            </a:pPr>
            <a:r>
              <a:rPr lang="en-US" sz="1350" dirty="0">
                <a:solidFill>
                  <a:srgbClr val="000000"/>
                </a:solidFill>
                <a:latin typeface="Montserrat" pitchFamily="34" charset="0"/>
                <a:ea typeface="Montserrat" pitchFamily="34" charset="-122"/>
                <a:cs typeface="Montserrat" pitchFamily="34" charset="-120"/>
              </a:rPr>
              <a:t>Security compliance means following laws, regulations, and industry standards specifically designed to protect sensitive data and IT systems from threats and unauthorized access.</a:t>
            </a:r>
            <a:endParaRPr lang="en-US" sz="1350" dirty="0"/>
          </a:p>
        </p:txBody>
      </p:sp>
      <p:sp>
        <p:nvSpPr>
          <p:cNvPr id="9" name="Text 6"/>
          <p:cNvSpPr/>
          <p:nvPr/>
        </p:nvSpPr>
        <p:spPr>
          <a:xfrm>
            <a:off x="6850618" y="2082284"/>
            <a:ext cx="2279094" cy="284798"/>
          </a:xfrm>
          <a:prstGeom prst="rect">
            <a:avLst/>
          </a:prstGeom>
          <a:noFill/>
          <a:ln/>
        </p:spPr>
        <p:txBody>
          <a:bodyPr wrap="none" lIns="0" tIns="0" rIns="0" bIns="0" rtlCol="0" anchor="t"/>
          <a:lstStyle/>
          <a:p>
            <a:pPr marL="0" indent="0" algn="l">
              <a:lnSpc>
                <a:spcPts val="2200"/>
              </a:lnSpc>
              <a:buNone/>
            </a:pPr>
            <a:r>
              <a:rPr lang="en-US" sz="1750" b="1" dirty="0">
                <a:solidFill>
                  <a:srgbClr val="2E3C4E"/>
                </a:solidFill>
                <a:latin typeface="Barlow Bold" pitchFamily="34" charset="0"/>
                <a:ea typeface="Barlow Bold" pitchFamily="34" charset="-122"/>
                <a:cs typeface="Barlow Bold" pitchFamily="34" charset="-120"/>
              </a:rPr>
              <a:t>Key Components</a:t>
            </a:r>
            <a:endParaRPr lang="en-US" sz="1750" dirty="0"/>
          </a:p>
        </p:txBody>
      </p:sp>
      <p:sp>
        <p:nvSpPr>
          <p:cNvPr id="10" name="Text 7"/>
          <p:cNvSpPr/>
          <p:nvPr/>
        </p:nvSpPr>
        <p:spPr>
          <a:xfrm>
            <a:off x="6850618" y="2525316"/>
            <a:ext cx="7094458" cy="1491853"/>
          </a:xfrm>
          <a:prstGeom prst="rect">
            <a:avLst/>
          </a:prstGeom>
          <a:noFill/>
          <a:ln/>
        </p:spPr>
        <p:txBody>
          <a:bodyPr wrap="square" lIns="0" tIns="0" rIns="0" bIns="0" rtlCol="0" anchor="t"/>
          <a:lstStyle/>
          <a:p>
            <a:pPr marL="342900" indent="-342900" algn="l">
              <a:lnSpc>
                <a:spcPts val="2050"/>
              </a:lnSpc>
              <a:buSzPct val="100000"/>
              <a:buChar char="•"/>
            </a:pPr>
            <a:r>
              <a:rPr lang="en-US" sz="1350" dirty="0">
                <a:solidFill>
                  <a:srgbClr val="384653"/>
                </a:solidFill>
                <a:latin typeface="Montserrat" pitchFamily="34" charset="0"/>
                <a:ea typeface="Montserrat" pitchFamily="34" charset="-122"/>
                <a:cs typeface="Montserrat" pitchFamily="34" charset="-120"/>
              </a:rPr>
              <a:t>Implementing technical and administrative controls to reduce operational risks</a:t>
            </a:r>
            <a:endParaRPr lang="en-US" sz="1350" dirty="0"/>
          </a:p>
          <a:p>
            <a:pPr marL="342900" indent="-342900" algn="l">
              <a:lnSpc>
                <a:spcPts val="2050"/>
              </a:lnSpc>
              <a:buSzPct val="100000"/>
              <a:buChar char="•"/>
            </a:pPr>
            <a:r>
              <a:rPr lang="en-US" sz="1350" dirty="0">
                <a:solidFill>
                  <a:srgbClr val="384653"/>
                </a:solidFill>
                <a:latin typeface="Montserrat" pitchFamily="34" charset="0"/>
                <a:ea typeface="Montserrat" pitchFamily="34" charset="-122"/>
                <a:cs typeface="Montserrat" pitchFamily="34" charset="-120"/>
              </a:rPr>
              <a:t>Meeting regulatory obligations through documented policies and procedures</a:t>
            </a:r>
            <a:endParaRPr lang="en-US" sz="1350" dirty="0"/>
          </a:p>
          <a:p>
            <a:pPr marL="342900" indent="-342900" algn="l">
              <a:lnSpc>
                <a:spcPts val="2050"/>
              </a:lnSpc>
              <a:buSzPct val="100000"/>
              <a:buChar char="•"/>
            </a:pPr>
            <a:r>
              <a:rPr lang="en-US" sz="1350" dirty="0">
                <a:solidFill>
                  <a:srgbClr val="384653"/>
                </a:solidFill>
                <a:latin typeface="Montserrat" pitchFamily="34" charset="0"/>
                <a:ea typeface="Montserrat" pitchFamily="34" charset="-122"/>
                <a:cs typeface="Montserrat" pitchFamily="34" charset="-120"/>
              </a:rPr>
              <a:t>Regular audits and assessments to verify adherence to standards</a:t>
            </a:r>
            <a:endParaRPr lang="en-US" sz="1350" dirty="0"/>
          </a:p>
          <a:p>
            <a:pPr marL="342900" indent="-342900" algn="l">
              <a:lnSpc>
                <a:spcPts val="2050"/>
              </a:lnSpc>
              <a:buSzPct val="100000"/>
              <a:buChar char="•"/>
            </a:pPr>
            <a:r>
              <a:rPr lang="en-US" sz="1350" dirty="0">
                <a:solidFill>
                  <a:srgbClr val="384653"/>
                </a:solidFill>
                <a:latin typeface="Montserrat" pitchFamily="34" charset="0"/>
                <a:ea typeface="Montserrat" pitchFamily="34" charset="-122"/>
                <a:cs typeface="Montserrat" pitchFamily="34" charset="-120"/>
              </a:rPr>
              <a:t>Continuous monitoring and improvement of security practices</a:t>
            </a:r>
            <a:endParaRPr lang="en-US" sz="1350" dirty="0"/>
          </a:p>
        </p:txBody>
      </p:sp>
      <p:sp>
        <p:nvSpPr>
          <p:cNvPr id="11" name="Shape 8"/>
          <p:cNvSpPr/>
          <p:nvPr/>
        </p:nvSpPr>
        <p:spPr>
          <a:xfrm>
            <a:off x="692825" y="4250531"/>
            <a:ext cx="6543199" cy="1541502"/>
          </a:xfrm>
          <a:prstGeom prst="roundRect">
            <a:avLst>
              <a:gd name="adj" fmla="val 16856"/>
            </a:avLst>
          </a:prstGeom>
          <a:solidFill>
            <a:srgbClr val="FFFFFF"/>
          </a:solidFill>
          <a:ln w="22860">
            <a:solidFill>
              <a:srgbClr val="BACFDD"/>
            </a:solidFill>
            <a:prstDash val="solid"/>
          </a:ln>
        </p:spPr>
      </p:sp>
      <p:sp>
        <p:nvSpPr>
          <p:cNvPr id="12" name="Shape 9"/>
          <p:cNvSpPr/>
          <p:nvPr/>
        </p:nvSpPr>
        <p:spPr>
          <a:xfrm>
            <a:off x="715685" y="4273391"/>
            <a:ext cx="6497479" cy="519589"/>
          </a:xfrm>
          <a:prstGeom prst="roundRect">
            <a:avLst>
              <a:gd name="adj" fmla="val 44727"/>
            </a:avLst>
          </a:prstGeom>
          <a:solidFill>
            <a:srgbClr val="D4E9F7"/>
          </a:solidFill>
          <a:ln/>
        </p:spPr>
      </p:sp>
      <p:pic>
        <p:nvPicPr>
          <p:cNvPr id="13"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834527" y="4399359"/>
            <a:ext cx="259794" cy="259794"/>
          </a:xfrm>
          <a:prstGeom prst="rect">
            <a:avLst/>
          </a:prstGeom>
        </p:spPr>
      </p:pic>
      <p:sp>
        <p:nvSpPr>
          <p:cNvPr id="14" name="Text 10"/>
          <p:cNvSpPr/>
          <p:nvPr/>
        </p:nvSpPr>
        <p:spPr>
          <a:xfrm>
            <a:off x="888802" y="4951214"/>
            <a:ext cx="2279094" cy="284798"/>
          </a:xfrm>
          <a:prstGeom prst="rect">
            <a:avLst/>
          </a:prstGeom>
          <a:noFill/>
          <a:ln/>
        </p:spPr>
        <p:txBody>
          <a:bodyPr wrap="none" lIns="0" tIns="0" rIns="0" bIns="0" rtlCol="0" anchor="t"/>
          <a:lstStyle/>
          <a:p>
            <a:pPr marL="0" indent="0" algn="l">
              <a:lnSpc>
                <a:spcPts val="2200"/>
              </a:lnSpc>
              <a:buNone/>
            </a:pPr>
            <a:r>
              <a:rPr lang="en-US" sz="1750" b="1" dirty="0">
                <a:solidFill>
                  <a:srgbClr val="384653"/>
                </a:solidFill>
                <a:latin typeface="Barlow Bold" pitchFamily="34" charset="0"/>
                <a:ea typeface="Barlow Bold" pitchFamily="34" charset="-122"/>
                <a:cs typeface="Barlow Bold" pitchFamily="34" charset="-120"/>
              </a:rPr>
              <a:t>GDPR</a:t>
            </a:r>
            <a:endParaRPr lang="en-US" sz="1750" dirty="0"/>
          </a:p>
        </p:txBody>
      </p:sp>
      <p:sp>
        <p:nvSpPr>
          <p:cNvPr id="15" name="Text 11"/>
          <p:cNvSpPr/>
          <p:nvPr/>
        </p:nvSpPr>
        <p:spPr>
          <a:xfrm>
            <a:off x="888802" y="5330904"/>
            <a:ext cx="6151245" cy="265152"/>
          </a:xfrm>
          <a:prstGeom prst="rect">
            <a:avLst/>
          </a:prstGeom>
          <a:noFill/>
          <a:ln/>
        </p:spPr>
        <p:txBody>
          <a:bodyPr wrap="none" lIns="0" tIns="0" rIns="0" bIns="0" rtlCol="0" anchor="t"/>
          <a:lstStyle/>
          <a:p>
            <a:pPr marL="0" indent="0" algn="l">
              <a:lnSpc>
                <a:spcPts val="2050"/>
              </a:lnSpc>
              <a:buNone/>
            </a:pPr>
            <a:r>
              <a:rPr lang="en-US" sz="1350" dirty="0">
                <a:solidFill>
                  <a:srgbClr val="384653"/>
                </a:solidFill>
                <a:latin typeface="Montserrat" pitchFamily="34" charset="0"/>
                <a:ea typeface="Montserrat" pitchFamily="34" charset="-122"/>
                <a:cs typeface="Montserrat" pitchFamily="34" charset="-120"/>
              </a:rPr>
              <a:t>European data protection and privacy regulation</a:t>
            </a:r>
            <a:endParaRPr lang="en-US" sz="1350" dirty="0"/>
          </a:p>
        </p:txBody>
      </p:sp>
      <p:sp>
        <p:nvSpPr>
          <p:cNvPr id="16" name="Shape 12"/>
          <p:cNvSpPr/>
          <p:nvPr/>
        </p:nvSpPr>
        <p:spPr>
          <a:xfrm>
            <a:off x="7394258" y="4250531"/>
            <a:ext cx="6543318" cy="1541502"/>
          </a:xfrm>
          <a:prstGeom prst="roundRect">
            <a:avLst>
              <a:gd name="adj" fmla="val 16856"/>
            </a:avLst>
          </a:prstGeom>
          <a:solidFill>
            <a:srgbClr val="FFFFFF"/>
          </a:solidFill>
          <a:ln w="22860">
            <a:solidFill>
              <a:srgbClr val="BACFDD"/>
            </a:solidFill>
            <a:prstDash val="solid"/>
          </a:ln>
        </p:spPr>
      </p:sp>
      <p:sp>
        <p:nvSpPr>
          <p:cNvPr id="17" name="Shape 13"/>
          <p:cNvSpPr/>
          <p:nvPr/>
        </p:nvSpPr>
        <p:spPr>
          <a:xfrm>
            <a:off x="7417118" y="4273391"/>
            <a:ext cx="6497598" cy="519589"/>
          </a:xfrm>
          <a:prstGeom prst="roundRect">
            <a:avLst>
              <a:gd name="adj" fmla="val 44727"/>
            </a:avLst>
          </a:prstGeom>
          <a:solidFill>
            <a:srgbClr val="D4E9F7"/>
          </a:solidFill>
          <a:ln/>
        </p:spPr>
      </p:sp>
      <p:pic>
        <p:nvPicPr>
          <p:cNvPr id="18"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535960" y="4399359"/>
            <a:ext cx="259794" cy="259794"/>
          </a:xfrm>
          <a:prstGeom prst="rect">
            <a:avLst/>
          </a:prstGeom>
        </p:spPr>
      </p:pic>
      <p:sp>
        <p:nvSpPr>
          <p:cNvPr id="19" name="Text 14"/>
          <p:cNvSpPr/>
          <p:nvPr/>
        </p:nvSpPr>
        <p:spPr>
          <a:xfrm>
            <a:off x="7590234" y="4951214"/>
            <a:ext cx="2279094" cy="284798"/>
          </a:xfrm>
          <a:prstGeom prst="rect">
            <a:avLst/>
          </a:prstGeom>
          <a:noFill/>
          <a:ln/>
        </p:spPr>
        <p:txBody>
          <a:bodyPr wrap="none" lIns="0" tIns="0" rIns="0" bIns="0" rtlCol="0" anchor="t"/>
          <a:lstStyle/>
          <a:p>
            <a:pPr marL="0" indent="0" algn="l">
              <a:lnSpc>
                <a:spcPts val="2200"/>
              </a:lnSpc>
              <a:buNone/>
            </a:pPr>
            <a:r>
              <a:rPr lang="en-US" sz="1750" b="1" dirty="0">
                <a:solidFill>
                  <a:srgbClr val="384653"/>
                </a:solidFill>
                <a:latin typeface="Barlow Bold" pitchFamily="34" charset="0"/>
                <a:ea typeface="Barlow Bold" pitchFamily="34" charset="-122"/>
                <a:cs typeface="Barlow Bold" pitchFamily="34" charset="-120"/>
              </a:rPr>
              <a:t>HIPAA</a:t>
            </a:r>
            <a:endParaRPr lang="en-US" sz="1750" dirty="0"/>
          </a:p>
        </p:txBody>
      </p:sp>
      <p:sp>
        <p:nvSpPr>
          <p:cNvPr id="20" name="Text 15"/>
          <p:cNvSpPr/>
          <p:nvPr/>
        </p:nvSpPr>
        <p:spPr>
          <a:xfrm>
            <a:off x="7590234" y="5330904"/>
            <a:ext cx="6151364" cy="265152"/>
          </a:xfrm>
          <a:prstGeom prst="rect">
            <a:avLst/>
          </a:prstGeom>
          <a:noFill/>
          <a:ln/>
        </p:spPr>
        <p:txBody>
          <a:bodyPr wrap="none" lIns="0" tIns="0" rIns="0" bIns="0" rtlCol="0" anchor="t"/>
          <a:lstStyle/>
          <a:p>
            <a:pPr marL="0" indent="0" algn="l">
              <a:lnSpc>
                <a:spcPts val="2050"/>
              </a:lnSpc>
              <a:buNone/>
            </a:pPr>
            <a:r>
              <a:rPr lang="en-US" sz="1350" dirty="0">
                <a:solidFill>
                  <a:srgbClr val="384653"/>
                </a:solidFill>
                <a:latin typeface="Montserrat" pitchFamily="34" charset="0"/>
                <a:ea typeface="Montserrat" pitchFamily="34" charset="-122"/>
                <a:cs typeface="Montserrat" pitchFamily="34" charset="-120"/>
              </a:rPr>
              <a:t>US healthcare information privacy standards</a:t>
            </a:r>
            <a:endParaRPr lang="en-US" sz="1350" dirty="0"/>
          </a:p>
        </p:txBody>
      </p:sp>
      <p:sp>
        <p:nvSpPr>
          <p:cNvPr id="21" name="Shape 16"/>
          <p:cNvSpPr/>
          <p:nvPr/>
        </p:nvSpPr>
        <p:spPr>
          <a:xfrm>
            <a:off x="692825" y="5950268"/>
            <a:ext cx="6543199" cy="1541502"/>
          </a:xfrm>
          <a:prstGeom prst="roundRect">
            <a:avLst>
              <a:gd name="adj" fmla="val 16856"/>
            </a:avLst>
          </a:prstGeom>
          <a:solidFill>
            <a:srgbClr val="FFFFFF"/>
          </a:solidFill>
          <a:ln w="22860">
            <a:solidFill>
              <a:srgbClr val="BACFDD"/>
            </a:solidFill>
            <a:prstDash val="solid"/>
          </a:ln>
        </p:spPr>
      </p:sp>
      <p:sp>
        <p:nvSpPr>
          <p:cNvPr id="22" name="Shape 17"/>
          <p:cNvSpPr/>
          <p:nvPr/>
        </p:nvSpPr>
        <p:spPr>
          <a:xfrm>
            <a:off x="715685" y="5973128"/>
            <a:ext cx="6497479" cy="519589"/>
          </a:xfrm>
          <a:prstGeom prst="roundRect">
            <a:avLst>
              <a:gd name="adj" fmla="val 44727"/>
            </a:avLst>
          </a:prstGeom>
          <a:solidFill>
            <a:srgbClr val="D4E9F7"/>
          </a:solidFill>
          <a:ln/>
        </p:spPr>
      </p:sp>
      <p:pic>
        <p:nvPicPr>
          <p:cNvPr id="23"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834527" y="6099096"/>
            <a:ext cx="259794" cy="259794"/>
          </a:xfrm>
          <a:prstGeom prst="rect">
            <a:avLst/>
          </a:prstGeom>
        </p:spPr>
      </p:pic>
      <p:sp>
        <p:nvSpPr>
          <p:cNvPr id="24" name="Text 18"/>
          <p:cNvSpPr/>
          <p:nvPr/>
        </p:nvSpPr>
        <p:spPr>
          <a:xfrm>
            <a:off x="888802" y="6650950"/>
            <a:ext cx="2279094" cy="284798"/>
          </a:xfrm>
          <a:prstGeom prst="rect">
            <a:avLst/>
          </a:prstGeom>
          <a:noFill/>
          <a:ln/>
        </p:spPr>
        <p:txBody>
          <a:bodyPr wrap="none" lIns="0" tIns="0" rIns="0" bIns="0" rtlCol="0" anchor="t"/>
          <a:lstStyle/>
          <a:p>
            <a:pPr marL="0" indent="0" algn="l">
              <a:lnSpc>
                <a:spcPts val="2200"/>
              </a:lnSpc>
              <a:buNone/>
            </a:pPr>
            <a:r>
              <a:rPr lang="en-US" sz="1750" b="1" dirty="0">
                <a:solidFill>
                  <a:srgbClr val="384653"/>
                </a:solidFill>
                <a:latin typeface="Barlow Bold" pitchFamily="34" charset="0"/>
                <a:ea typeface="Barlow Bold" pitchFamily="34" charset="-122"/>
                <a:cs typeface="Barlow Bold" pitchFamily="34" charset="-120"/>
              </a:rPr>
              <a:t>ISO 27001</a:t>
            </a:r>
            <a:endParaRPr lang="en-US" sz="1750" dirty="0"/>
          </a:p>
        </p:txBody>
      </p:sp>
      <p:sp>
        <p:nvSpPr>
          <p:cNvPr id="25" name="Text 19"/>
          <p:cNvSpPr/>
          <p:nvPr/>
        </p:nvSpPr>
        <p:spPr>
          <a:xfrm>
            <a:off x="888802" y="7030641"/>
            <a:ext cx="6151245" cy="265152"/>
          </a:xfrm>
          <a:prstGeom prst="rect">
            <a:avLst/>
          </a:prstGeom>
          <a:noFill/>
          <a:ln/>
        </p:spPr>
        <p:txBody>
          <a:bodyPr wrap="none" lIns="0" tIns="0" rIns="0" bIns="0" rtlCol="0" anchor="t"/>
          <a:lstStyle/>
          <a:p>
            <a:pPr marL="0" indent="0" algn="l">
              <a:lnSpc>
                <a:spcPts val="2050"/>
              </a:lnSpc>
              <a:buNone/>
            </a:pPr>
            <a:r>
              <a:rPr lang="en-US" sz="1350" dirty="0">
                <a:solidFill>
                  <a:srgbClr val="384653"/>
                </a:solidFill>
                <a:latin typeface="Montserrat" pitchFamily="34" charset="0"/>
                <a:ea typeface="Montserrat" pitchFamily="34" charset="-122"/>
                <a:cs typeface="Montserrat" pitchFamily="34" charset="-120"/>
              </a:rPr>
              <a:t>International information security management</a:t>
            </a:r>
            <a:endParaRPr lang="en-US" sz="1350" dirty="0"/>
          </a:p>
        </p:txBody>
      </p:sp>
      <p:sp>
        <p:nvSpPr>
          <p:cNvPr id="26" name="Shape 20"/>
          <p:cNvSpPr/>
          <p:nvPr/>
        </p:nvSpPr>
        <p:spPr>
          <a:xfrm>
            <a:off x="7394258" y="5950268"/>
            <a:ext cx="6543318" cy="1541502"/>
          </a:xfrm>
          <a:prstGeom prst="roundRect">
            <a:avLst>
              <a:gd name="adj" fmla="val 16856"/>
            </a:avLst>
          </a:prstGeom>
          <a:solidFill>
            <a:srgbClr val="FFFFFF"/>
          </a:solidFill>
          <a:ln w="22860">
            <a:solidFill>
              <a:srgbClr val="BACFDD"/>
            </a:solidFill>
            <a:prstDash val="solid"/>
          </a:ln>
        </p:spPr>
      </p:sp>
      <p:sp>
        <p:nvSpPr>
          <p:cNvPr id="27" name="Shape 21"/>
          <p:cNvSpPr/>
          <p:nvPr/>
        </p:nvSpPr>
        <p:spPr>
          <a:xfrm>
            <a:off x="7417118" y="5973128"/>
            <a:ext cx="6497598" cy="519589"/>
          </a:xfrm>
          <a:prstGeom prst="roundRect">
            <a:avLst>
              <a:gd name="adj" fmla="val 44727"/>
            </a:avLst>
          </a:prstGeom>
          <a:solidFill>
            <a:srgbClr val="D4E9F7"/>
          </a:solidFill>
          <a:ln/>
        </p:spPr>
      </p:sp>
      <p:pic>
        <p:nvPicPr>
          <p:cNvPr id="28" name="Image 4"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0535960" y="6099096"/>
            <a:ext cx="259794" cy="259794"/>
          </a:xfrm>
          <a:prstGeom prst="rect">
            <a:avLst/>
          </a:prstGeom>
        </p:spPr>
      </p:pic>
      <p:sp>
        <p:nvSpPr>
          <p:cNvPr id="29" name="Text 22"/>
          <p:cNvSpPr/>
          <p:nvPr/>
        </p:nvSpPr>
        <p:spPr>
          <a:xfrm>
            <a:off x="7590234" y="6650950"/>
            <a:ext cx="2279094" cy="284798"/>
          </a:xfrm>
          <a:prstGeom prst="rect">
            <a:avLst/>
          </a:prstGeom>
          <a:noFill/>
          <a:ln/>
        </p:spPr>
        <p:txBody>
          <a:bodyPr wrap="none" lIns="0" tIns="0" rIns="0" bIns="0" rtlCol="0" anchor="t"/>
          <a:lstStyle/>
          <a:p>
            <a:pPr marL="0" indent="0" algn="l">
              <a:lnSpc>
                <a:spcPts val="2200"/>
              </a:lnSpc>
              <a:buNone/>
            </a:pPr>
            <a:r>
              <a:rPr lang="en-US" sz="1750" b="1" dirty="0">
                <a:solidFill>
                  <a:srgbClr val="384653"/>
                </a:solidFill>
                <a:latin typeface="Barlow Bold" pitchFamily="34" charset="0"/>
                <a:ea typeface="Barlow Bold" pitchFamily="34" charset="-122"/>
                <a:cs typeface="Barlow Bold" pitchFamily="34" charset="-120"/>
              </a:rPr>
              <a:t>PCI-DSS</a:t>
            </a:r>
            <a:endParaRPr lang="en-US" sz="1750" dirty="0"/>
          </a:p>
        </p:txBody>
      </p:sp>
      <p:sp>
        <p:nvSpPr>
          <p:cNvPr id="30" name="Text 23"/>
          <p:cNvSpPr/>
          <p:nvPr/>
        </p:nvSpPr>
        <p:spPr>
          <a:xfrm>
            <a:off x="7590234" y="7030641"/>
            <a:ext cx="6151364" cy="265152"/>
          </a:xfrm>
          <a:prstGeom prst="rect">
            <a:avLst/>
          </a:prstGeom>
          <a:noFill/>
          <a:ln/>
        </p:spPr>
        <p:txBody>
          <a:bodyPr wrap="none" lIns="0" tIns="0" rIns="0" bIns="0" rtlCol="0" anchor="t"/>
          <a:lstStyle/>
          <a:p>
            <a:pPr marL="0" indent="0" algn="l">
              <a:lnSpc>
                <a:spcPts val="2050"/>
              </a:lnSpc>
              <a:buNone/>
            </a:pPr>
            <a:r>
              <a:rPr lang="en-US" sz="1350" dirty="0">
                <a:solidFill>
                  <a:srgbClr val="384653"/>
                </a:solidFill>
                <a:latin typeface="Montserrat" pitchFamily="34" charset="0"/>
                <a:ea typeface="Montserrat" pitchFamily="34" charset="-122"/>
                <a:cs typeface="Montserrat" pitchFamily="34" charset="-120"/>
              </a:rPr>
              <a:t>Payment card industry data security</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758309" y="735687"/>
            <a:ext cx="2265045" cy="371475"/>
          </a:xfrm>
          <a:prstGeom prst="roundRect">
            <a:avLst>
              <a:gd name="adj" fmla="val 61241"/>
            </a:avLst>
          </a:prstGeom>
          <a:noFill/>
          <a:ln w="7620">
            <a:solidFill>
              <a:srgbClr val="75BAE6"/>
            </a:solidFill>
            <a:prstDash val="solid"/>
          </a:ln>
        </p:spPr>
      </p:sp>
      <p:pic>
        <p:nvPicPr>
          <p:cNvPr id="3"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79634" y="845582"/>
            <a:ext cx="151567" cy="151567"/>
          </a:xfrm>
          <a:prstGeom prst="rect">
            <a:avLst/>
          </a:prstGeom>
        </p:spPr>
      </p:pic>
      <p:sp>
        <p:nvSpPr>
          <p:cNvPr id="4" name="Text 1"/>
          <p:cNvSpPr/>
          <p:nvPr/>
        </p:nvSpPr>
        <p:spPr>
          <a:xfrm>
            <a:off x="1106924" y="800100"/>
            <a:ext cx="1795105" cy="242649"/>
          </a:xfrm>
          <a:prstGeom prst="rect">
            <a:avLst/>
          </a:prstGeom>
          <a:noFill/>
          <a:ln/>
        </p:spPr>
        <p:txBody>
          <a:bodyPr wrap="none" lIns="0" tIns="0" rIns="0" bIns="0" rtlCol="0" anchor="t"/>
          <a:lstStyle/>
          <a:p>
            <a:pPr marL="0" indent="0" algn="l">
              <a:lnSpc>
                <a:spcPts val="1900"/>
              </a:lnSpc>
              <a:buNone/>
            </a:pPr>
            <a:r>
              <a:rPr lang="en-US" sz="1150" dirty="0">
                <a:solidFill>
                  <a:srgbClr val="75BAE6"/>
                </a:solidFill>
                <a:latin typeface="Montserrat" pitchFamily="34" charset="0"/>
                <a:ea typeface="Montserrat" pitchFamily="34" charset="-122"/>
                <a:cs typeface="Montserrat" pitchFamily="34" charset="-120"/>
              </a:rPr>
              <a:t>CRITICAL IMPORTANCE</a:t>
            </a:r>
            <a:endParaRPr lang="en-US" sz="1150" dirty="0"/>
          </a:p>
        </p:txBody>
      </p:sp>
      <p:sp>
        <p:nvSpPr>
          <p:cNvPr id="5" name="Text 2"/>
          <p:cNvSpPr/>
          <p:nvPr/>
        </p:nvSpPr>
        <p:spPr>
          <a:xfrm>
            <a:off x="758309" y="1182886"/>
            <a:ext cx="7420332" cy="623530"/>
          </a:xfrm>
          <a:prstGeom prst="rect">
            <a:avLst/>
          </a:prstGeom>
          <a:noFill/>
          <a:ln/>
        </p:spPr>
        <p:txBody>
          <a:bodyPr wrap="none" lIns="0" tIns="0" rIns="0" bIns="0" rtlCol="0" anchor="t"/>
          <a:lstStyle/>
          <a:p>
            <a:pPr marL="0" indent="0" algn="l">
              <a:lnSpc>
                <a:spcPts val="4900"/>
              </a:lnSpc>
              <a:buNone/>
            </a:pPr>
            <a:r>
              <a:rPr lang="en-US" sz="3900" b="1" dirty="0">
                <a:solidFill>
                  <a:srgbClr val="2E3C4E"/>
                </a:solidFill>
                <a:latin typeface="Barlow Bold" pitchFamily="34" charset="0"/>
                <a:ea typeface="Barlow Bold" pitchFamily="34" charset="-122"/>
                <a:cs typeface="Barlow Bold" pitchFamily="34" charset="-120"/>
              </a:rPr>
              <a:t>Why Security Compliance Matters</a:t>
            </a:r>
            <a:endParaRPr lang="en-US" sz="3900" dirty="0"/>
          </a:p>
        </p:txBody>
      </p:sp>
      <p:sp>
        <p:nvSpPr>
          <p:cNvPr id="6" name="Text 3"/>
          <p:cNvSpPr/>
          <p:nvPr/>
        </p:nvSpPr>
        <p:spPr>
          <a:xfrm>
            <a:off x="758309" y="2090738"/>
            <a:ext cx="13113782" cy="606504"/>
          </a:xfrm>
          <a:prstGeom prst="rect">
            <a:avLst/>
          </a:prstGeom>
          <a:noFill/>
          <a:ln/>
        </p:spPr>
        <p:txBody>
          <a:bodyPr wrap="square" lIns="0" tIns="0" rIns="0" bIns="0" rtlCol="0" anchor="t"/>
          <a:lstStyle/>
          <a:p>
            <a:pPr marL="0" indent="0" algn="l">
              <a:lnSpc>
                <a:spcPts val="2350"/>
              </a:lnSpc>
              <a:buNone/>
            </a:pPr>
            <a:r>
              <a:rPr lang="en-US" sz="1450" dirty="0">
                <a:solidFill>
                  <a:srgbClr val="384653"/>
                </a:solidFill>
                <a:latin typeface="Montserrat" pitchFamily="34" charset="0"/>
                <a:ea typeface="Montserrat" pitchFamily="34" charset="-122"/>
                <a:cs typeface="Montserrat" pitchFamily="34" charset="-120"/>
              </a:rPr>
              <a:t>In today's digital landscape, security compliance has evolved from a checkbox exercise to a strategic imperative that directly impacts your organization's reputation, financial health, and operational continuity.</a:t>
            </a:r>
            <a:endParaRPr lang="en-US" sz="1450" dirty="0"/>
          </a:p>
        </p:txBody>
      </p:sp>
      <p:pic>
        <p:nvPicPr>
          <p:cNvPr id="7" name="Image 1" descr="preencoded.png"/>
          <p:cNvPicPr>
            <a:picLocks noChangeAspect="1"/>
          </p:cNvPicPr>
          <p:nvPr/>
        </p:nvPicPr>
        <p:blipFill>
          <a:blip r:embed="rId5"/>
          <a:stretch>
            <a:fillRect/>
          </a:stretch>
        </p:blipFill>
        <p:spPr>
          <a:xfrm>
            <a:off x="758309" y="2910483"/>
            <a:ext cx="1798320" cy="1798320"/>
          </a:xfrm>
          <a:prstGeom prst="rect">
            <a:avLst/>
          </a:prstGeom>
        </p:spPr>
      </p:pic>
      <p:sp>
        <p:nvSpPr>
          <p:cNvPr id="8" name="Text 4"/>
          <p:cNvSpPr/>
          <p:nvPr/>
        </p:nvSpPr>
        <p:spPr>
          <a:xfrm>
            <a:off x="758309" y="4945737"/>
            <a:ext cx="2494359" cy="311706"/>
          </a:xfrm>
          <a:prstGeom prst="rect">
            <a:avLst/>
          </a:prstGeom>
          <a:noFill/>
          <a:ln/>
        </p:spPr>
        <p:txBody>
          <a:bodyPr wrap="none" lIns="0" tIns="0" rIns="0" bIns="0" rtlCol="0" anchor="t"/>
          <a:lstStyle/>
          <a:p>
            <a:pPr marL="0" indent="0" algn="l">
              <a:lnSpc>
                <a:spcPts val="2450"/>
              </a:lnSpc>
              <a:buNone/>
            </a:pPr>
            <a:r>
              <a:rPr lang="en-US" sz="1950" b="1" dirty="0">
                <a:solidFill>
                  <a:srgbClr val="384653"/>
                </a:solidFill>
                <a:latin typeface="Barlow Bold" pitchFamily="34" charset="0"/>
                <a:ea typeface="Barlow Bold" pitchFamily="34" charset="-122"/>
                <a:cs typeface="Barlow Bold" pitchFamily="34" charset="-120"/>
              </a:rPr>
              <a:t>Data Protection</a:t>
            </a:r>
            <a:endParaRPr lang="en-US" sz="1950" dirty="0"/>
          </a:p>
        </p:txBody>
      </p:sp>
      <p:sp>
        <p:nvSpPr>
          <p:cNvPr id="9" name="Text 5"/>
          <p:cNvSpPr/>
          <p:nvPr/>
        </p:nvSpPr>
        <p:spPr>
          <a:xfrm>
            <a:off x="758309" y="5371148"/>
            <a:ext cx="3100745" cy="2122765"/>
          </a:xfrm>
          <a:prstGeom prst="rect">
            <a:avLst/>
          </a:prstGeom>
          <a:noFill/>
          <a:ln/>
        </p:spPr>
        <p:txBody>
          <a:bodyPr wrap="square" lIns="0" tIns="0" rIns="0" bIns="0" rtlCol="0" anchor="t"/>
          <a:lstStyle/>
          <a:p>
            <a:pPr marL="0" indent="0" algn="l">
              <a:lnSpc>
                <a:spcPts val="2350"/>
              </a:lnSpc>
              <a:buNone/>
            </a:pPr>
            <a:r>
              <a:rPr lang="en-US" sz="1450" dirty="0">
                <a:solidFill>
                  <a:srgbClr val="384653"/>
                </a:solidFill>
                <a:latin typeface="Montserrat" pitchFamily="34" charset="0"/>
                <a:ea typeface="Montserrat" pitchFamily="34" charset="-122"/>
                <a:cs typeface="Montserrat" pitchFamily="34" charset="-120"/>
              </a:rPr>
              <a:t>Safeguards sensitive information including personal identifiers, financial records, intellectual property, and health data from breaches, unauthorized access, and cyber attacks.</a:t>
            </a:r>
            <a:endParaRPr lang="en-US" sz="1450" dirty="0"/>
          </a:p>
        </p:txBody>
      </p:sp>
      <p:pic>
        <p:nvPicPr>
          <p:cNvPr id="10" name="Image 2" descr="preencoded.png"/>
          <p:cNvPicPr>
            <a:picLocks noChangeAspect="1"/>
          </p:cNvPicPr>
          <p:nvPr/>
        </p:nvPicPr>
        <p:blipFill>
          <a:blip r:embed="rId6"/>
          <a:stretch>
            <a:fillRect/>
          </a:stretch>
        </p:blipFill>
        <p:spPr>
          <a:xfrm>
            <a:off x="4095988" y="2910483"/>
            <a:ext cx="1798320" cy="1798320"/>
          </a:xfrm>
          <a:prstGeom prst="rect">
            <a:avLst/>
          </a:prstGeom>
        </p:spPr>
      </p:pic>
      <p:sp>
        <p:nvSpPr>
          <p:cNvPr id="11" name="Text 6"/>
          <p:cNvSpPr/>
          <p:nvPr/>
        </p:nvSpPr>
        <p:spPr>
          <a:xfrm>
            <a:off x="4095988" y="4945737"/>
            <a:ext cx="2494359" cy="311706"/>
          </a:xfrm>
          <a:prstGeom prst="rect">
            <a:avLst/>
          </a:prstGeom>
          <a:noFill/>
          <a:ln/>
        </p:spPr>
        <p:txBody>
          <a:bodyPr wrap="none" lIns="0" tIns="0" rIns="0" bIns="0" rtlCol="0" anchor="t"/>
          <a:lstStyle/>
          <a:p>
            <a:pPr marL="0" indent="0" algn="l">
              <a:lnSpc>
                <a:spcPts val="2450"/>
              </a:lnSpc>
              <a:buNone/>
            </a:pPr>
            <a:r>
              <a:rPr lang="en-US" sz="1950" b="1" dirty="0">
                <a:solidFill>
                  <a:srgbClr val="384653"/>
                </a:solidFill>
                <a:latin typeface="Barlow Bold" pitchFamily="34" charset="0"/>
                <a:ea typeface="Barlow Bold" pitchFamily="34" charset="-122"/>
                <a:cs typeface="Barlow Bold" pitchFamily="34" charset="-120"/>
              </a:rPr>
              <a:t>Customer Trust</a:t>
            </a:r>
            <a:endParaRPr lang="en-US" sz="1950" dirty="0"/>
          </a:p>
        </p:txBody>
      </p:sp>
      <p:sp>
        <p:nvSpPr>
          <p:cNvPr id="12" name="Text 7"/>
          <p:cNvSpPr/>
          <p:nvPr/>
        </p:nvSpPr>
        <p:spPr>
          <a:xfrm>
            <a:off x="4095988" y="5371148"/>
            <a:ext cx="3100745" cy="2122765"/>
          </a:xfrm>
          <a:prstGeom prst="rect">
            <a:avLst/>
          </a:prstGeom>
          <a:noFill/>
          <a:ln/>
        </p:spPr>
        <p:txBody>
          <a:bodyPr wrap="square" lIns="0" tIns="0" rIns="0" bIns="0" rtlCol="0" anchor="t"/>
          <a:lstStyle/>
          <a:p>
            <a:pPr marL="0" indent="0" algn="l">
              <a:lnSpc>
                <a:spcPts val="2350"/>
              </a:lnSpc>
              <a:buNone/>
            </a:pPr>
            <a:r>
              <a:rPr lang="en-US" sz="1450" dirty="0">
                <a:solidFill>
                  <a:srgbClr val="384653"/>
                </a:solidFill>
                <a:latin typeface="Montserrat" pitchFamily="34" charset="0"/>
                <a:ea typeface="Montserrat" pitchFamily="34" charset="-122"/>
                <a:cs typeface="Montserrat" pitchFamily="34" charset="-120"/>
              </a:rPr>
              <a:t>Demonstrates your commitment to data privacy and security, building confidence with clients, partners, and stakeholders who entrust you with their sensitive information.</a:t>
            </a:r>
            <a:endParaRPr lang="en-US" sz="1450" dirty="0"/>
          </a:p>
        </p:txBody>
      </p:sp>
      <p:pic>
        <p:nvPicPr>
          <p:cNvPr id="13" name="Image 3" descr="preencoded.png"/>
          <p:cNvPicPr>
            <a:picLocks noChangeAspect="1"/>
          </p:cNvPicPr>
          <p:nvPr/>
        </p:nvPicPr>
        <p:blipFill>
          <a:blip r:embed="rId7"/>
          <a:stretch>
            <a:fillRect/>
          </a:stretch>
        </p:blipFill>
        <p:spPr>
          <a:xfrm>
            <a:off x="7433667" y="2910483"/>
            <a:ext cx="1798320" cy="1798320"/>
          </a:xfrm>
          <a:prstGeom prst="rect">
            <a:avLst/>
          </a:prstGeom>
        </p:spPr>
      </p:pic>
      <p:sp>
        <p:nvSpPr>
          <p:cNvPr id="14" name="Text 8"/>
          <p:cNvSpPr/>
          <p:nvPr/>
        </p:nvSpPr>
        <p:spPr>
          <a:xfrm>
            <a:off x="7433667" y="4945737"/>
            <a:ext cx="2494359" cy="311706"/>
          </a:xfrm>
          <a:prstGeom prst="rect">
            <a:avLst/>
          </a:prstGeom>
          <a:noFill/>
          <a:ln/>
        </p:spPr>
        <p:txBody>
          <a:bodyPr wrap="none" lIns="0" tIns="0" rIns="0" bIns="0" rtlCol="0" anchor="t"/>
          <a:lstStyle/>
          <a:p>
            <a:pPr marL="0" indent="0" algn="l">
              <a:lnSpc>
                <a:spcPts val="2450"/>
              </a:lnSpc>
              <a:buNone/>
            </a:pPr>
            <a:r>
              <a:rPr lang="en-US" sz="1950" b="1" dirty="0">
                <a:solidFill>
                  <a:srgbClr val="384653"/>
                </a:solidFill>
                <a:latin typeface="Barlow Bold" pitchFamily="34" charset="0"/>
                <a:ea typeface="Barlow Bold" pitchFamily="34" charset="-122"/>
                <a:cs typeface="Barlow Bold" pitchFamily="34" charset="-120"/>
              </a:rPr>
              <a:t>Avoid Penalties</a:t>
            </a:r>
            <a:endParaRPr lang="en-US" sz="1950" dirty="0"/>
          </a:p>
        </p:txBody>
      </p:sp>
      <p:sp>
        <p:nvSpPr>
          <p:cNvPr id="15" name="Text 9"/>
          <p:cNvSpPr/>
          <p:nvPr/>
        </p:nvSpPr>
        <p:spPr>
          <a:xfrm>
            <a:off x="7433667" y="5371148"/>
            <a:ext cx="3100745" cy="1516261"/>
          </a:xfrm>
          <a:prstGeom prst="rect">
            <a:avLst/>
          </a:prstGeom>
          <a:noFill/>
          <a:ln/>
        </p:spPr>
        <p:txBody>
          <a:bodyPr wrap="square" lIns="0" tIns="0" rIns="0" bIns="0" rtlCol="0" anchor="t"/>
          <a:lstStyle/>
          <a:p>
            <a:pPr marL="0" indent="0" algn="l">
              <a:lnSpc>
                <a:spcPts val="2350"/>
              </a:lnSpc>
              <a:buNone/>
            </a:pPr>
            <a:r>
              <a:rPr lang="en-US" sz="1450" dirty="0">
                <a:solidFill>
                  <a:srgbClr val="384653"/>
                </a:solidFill>
                <a:latin typeface="Montserrat" pitchFamily="34" charset="0"/>
                <a:ea typeface="Montserrat" pitchFamily="34" charset="-122"/>
                <a:cs typeface="Montserrat" pitchFamily="34" charset="-120"/>
              </a:rPr>
              <a:t>Prevents costly fines and legal consequences. Non-compliance can result in millions of dollars in penalties, litigation expenses, and regulatory sanctions.</a:t>
            </a:r>
            <a:endParaRPr lang="en-US" sz="1450" dirty="0"/>
          </a:p>
        </p:txBody>
      </p:sp>
      <p:pic>
        <p:nvPicPr>
          <p:cNvPr id="16" name="Image 4" descr="preencoded.png"/>
          <p:cNvPicPr>
            <a:picLocks noChangeAspect="1"/>
          </p:cNvPicPr>
          <p:nvPr/>
        </p:nvPicPr>
        <p:blipFill>
          <a:blip r:embed="rId8"/>
          <a:stretch>
            <a:fillRect/>
          </a:stretch>
        </p:blipFill>
        <p:spPr>
          <a:xfrm>
            <a:off x="10771346" y="2910483"/>
            <a:ext cx="1798320" cy="1798320"/>
          </a:xfrm>
          <a:prstGeom prst="rect">
            <a:avLst/>
          </a:prstGeom>
        </p:spPr>
      </p:pic>
      <p:sp>
        <p:nvSpPr>
          <p:cNvPr id="17" name="Text 10"/>
          <p:cNvSpPr/>
          <p:nvPr/>
        </p:nvSpPr>
        <p:spPr>
          <a:xfrm>
            <a:off x="10771346" y="4945737"/>
            <a:ext cx="2494359" cy="311706"/>
          </a:xfrm>
          <a:prstGeom prst="rect">
            <a:avLst/>
          </a:prstGeom>
          <a:noFill/>
          <a:ln/>
        </p:spPr>
        <p:txBody>
          <a:bodyPr wrap="none" lIns="0" tIns="0" rIns="0" bIns="0" rtlCol="0" anchor="t"/>
          <a:lstStyle/>
          <a:p>
            <a:pPr marL="0" indent="0" algn="l">
              <a:lnSpc>
                <a:spcPts val="2450"/>
              </a:lnSpc>
              <a:buNone/>
            </a:pPr>
            <a:r>
              <a:rPr lang="en-US" sz="1950" b="1" dirty="0">
                <a:solidFill>
                  <a:srgbClr val="384653"/>
                </a:solidFill>
                <a:latin typeface="Barlow Bold" pitchFamily="34" charset="0"/>
                <a:ea typeface="Barlow Bold" pitchFamily="34" charset="-122"/>
                <a:cs typeface="Barlow Bold" pitchFamily="34" charset="-120"/>
              </a:rPr>
              <a:t>Enhanced Security</a:t>
            </a:r>
            <a:endParaRPr lang="en-US" sz="1950" dirty="0"/>
          </a:p>
        </p:txBody>
      </p:sp>
      <p:sp>
        <p:nvSpPr>
          <p:cNvPr id="18" name="Text 11"/>
          <p:cNvSpPr/>
          <p:nvPr/>
        </p:nvSpPr>
        <p:spPr>
          <a:xfrm>
            <a:off x="10771346" y="5371148"/>
            <a:ext cx="3100745" cy="1819513"/>
          </a:xfrm>
          <a:prstGeom prst="rect">
            <a:avLst/>
          </a:prstGeom>
          <a:noFill/>
          <a:ln/>
        </p:spPr>
        <p:txBody>
          <a:bodyPr wrap="square" lIns="0" tIns="0" rIns="0" bIns="0" rtlCol="0" anchor="t"/>
          <a:lstStyle/>
          <a:p>
            <a:pPr marL="0" indent="0" algn="l">
              <a:lnSpc>
                <a:spcPts val="2350"/>
              </a:lnSpc>
              <a:buNone/>
            </a:pPr>
            <a:r>
              <a:rPr lang="en-US" sz="1450" dirty="0">
                <a:solidFill>
                  <a:srgbClr val="384653"/>
                </a:solidFill>
                <a:latin typeface="Montserrat" pitchFamily="34" charset="0"/>
                <a:ea typeface="Montserrat" pitchFamily="34" charset="-122"/>
                <a:cs typeface="Montserrat" pitchFamily="34" charset="-120"/>
              </a:rPr>
              <a:t>Strengthens your overall security posture against evolving cyber threats, creating multiple layers of defense and reducing vulnerability to sophisticated attacks.</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54129" y="930235"/>
            <a:ext cx="10450116" cy="537924"/>
          </a:xfrm>
          <a:prstGeom prst="rect">
            <a:avLst/>
          </a:prstGeom>
          <a:noFill/>
          <a:ln/>
        </p:spPr>
        <p:txBody>
          <a:bodyPr wrap="none" lIns="0" tIns="0" rIns="0" bIns="0" rtlCol="0" anchor="t"/>
          <a:lstStyle/>
          <a:p>
            <a:pPr marL="0" indent="0" algn="l">
              <a:lnSpc>
                <a:spcPts val="4200"/>
              </a:lnSpc>
              <a:buNone/>
            </a:pPr>
            <a:r>
              <a:rPr lang="en-US" sz="3350" b="1" dirty="0">
                <a:solidFill>
                  <a:srgbClr val="2E3C4E"/>
                </a:solidFill>
                <a:latin typeface="Barlow Bold" pitchFamily="34" charset="0"/>
                <a:ea typeface="Barlow Bold" pitchFamily="34" charset="-122"/>
                <a:cs typeface="Barlow Bold" pitchFamily="34" charset="-120"/>
              </a:rPr>
              <a:t>Security vs. Compliance: Understanding the Difference</a:t>
            </a:r>
            <a:endParaRPr lang="en-US" sz="3350" dirty="0"/>
          </a:p>
        </p:txBody>
      </p:sp>
      <p:sp>
        <p:nvSpPr>
          <p:cNvPr id="3" name="Text 1"/>
          <p:cNvSpPr/>
          <p:nvPr/>
        </p:nvSpPr>
        <p:spPr>
          <a:xfrm>
            <a:off x="654129" y="1750219"/>
            <a:ext cx="13322141" cy="487442"/>
          </a:xfrm>
          <a:prstGeom prst="rect">
            <a:avLst/>
          </a:prstGeom>
          <a:noFill/>
          <a:ln/>
        </p:spPr>
        <p:txBody>
          <a:bodyPr wrap="square" lIns="0" tIns="0" rIns="0" bIns="0" rtlCol="0" anchor="t"/>
          <a:lstStyle/>
          <a:p>
            <a:pPr marL="0" indent="0" algn="l">
              <a:lnSpc>
                <a:spcPts val="1900"/>
              </a:lnSpc>
              <a:buNone/>
            </a:pPr>
            <a:r>
              <a:rPr lang="en-US" sz="1250" dirty="0">
                <a:solidFill>
                  <a:srgbClr val="384653"/>
                </a:solidFill>
                <a:latin typeface="Montserrat" pitchFamily="34" charset="0"/>
                <a:ea typeface="Montserrat" pitchFamily="34" charset="-122"/>
                <a:cs typeface="Montserrat" pitchFamily="34" charset="-120"/>
              </a:rPr>
              <a:t>While often used interchangeably, security and compliance serve distinct but complementary roles in protecting your organization. Understanding this relationship is essential for building effective protection strategies.</a:t>
            </a:r>
            <a:endParaRPr lang="en-US" sz="1250" dirty="0"/>
          </a:p>
        </p:txBody>
      </p:sp>
      <p:sp>
        <p:nvSpPr>
          <p:cNvPr id="4" name="Shape 2"/>
          <p:cNvSpPr/>
          <p:nvPr/>
        </p:nvSpPr>
        <p:spPr>
          <a:xfrm>
            <a:off x="7303770" y="2396252"/>
            <a:ext cx="22860" cy="3622953"/>
          </a:xfrm>
          <a:prstGeom prst="roundRect">
            <a:avLst>
              <a:gd name="adj" fmla="val 1073064"/>
            </a:avLst>
          </a:prstGeom>
          <a:solidFill>
            <a:srgbClr val="BACFDD"/>
          </a:solidFill>
          <a:ln/>
        </p:spPr>
      </p:sp>
      <p:sp>
        <p:nvSpPr>
          <p:cNvPr id="5" name="Shape 3"/>
          <p:cNvSpPr/>
          <p:nvPr/>
        </p:nvSpPr>
        <p:spPr>
          <a:xfrm>
            <a:off x="631269" y="2396252"/>
            <a:ext cx="6661071" cy="1670447"/>
          </a:xfrm>
          <a:prstGeom prst="roundRect">
            <a:avLst>
              <a:gd name="adj" fmla="val 14685"/>
            </a:avLst>
          </a:prstGeom>
          <a:solidFill>
            <a:srgbClr val="D4E9F7"/>
          </a:solidFill>
          <a:ln w="7620">
            <a:solidFill>
              <a:srgbClr val="BACFDD"/>
            </a:solidFill>
            <a:prstDash val="solid"/>
          </a:ln>
        </p:spPr>
      </p:sp>
      <p:sp>
        <p:nvSpPr>
          <p:cNvPr id="6" name="Text 4"/>
          <p:cNvSpPr/>
          <p:nvPr/>
        </p:nvSpPr>
        <p:spPr>
          <a:xfrm>
            <a:off x="4977170" y="2567345"/>
            <a:ext cx="2151698" cy="268843"/>
          </a:xfrm>
          <a:prstGeom prst="rect">
            <a:avLst/>
          </a:prstGeom>
          <a:noFill/>
          <a:ln/>
        </p:spPr>
        <p:txBody>
          <a:bodyPr wrap="none" lIns="0" tIns="0" rIns="0" bIns="0" rtlCol="0" anchor="t"/>
          <a:lstStyle/>
          <a:p>
            <a:pPr marL="0" indent="0" algn="r">
              <a:lnSpc>
                <a:spcPts val="2100"/>
              </a:lnSpc>
              <a:buNone/>
            </a:pPr>
            <a:r>
              <a:rPr lang="en-US" sz="1650" b="1" dirty="0">
                <a:solidFill>
                  <a:srgbClr val="384653"/>
                </a:solidFill>
                <a:latin typeface="Barlow Bold" pitchFamily="34" charset="0"/>
                <a:ea typeface="Barlow Bold" pitchFamily="34" charset="-122"/>
                <a:cs typeface="Barlow Bold" pitchFamily="34" charset="-120"/>
              </a:rPr>
              <a:t>Security</a:t>
            </a:r>
            <a:endParaRPr lang="en-US" sz="1650" dirty="0"/>
          </a:p>
        </p:txBody>
      </p:sp>
      <p:sp>
        <p:nvSpPr>
          <p:cNvPr id="7" name="Text 5"/>
          <p:cNvSpPr/>
          <p:nvPr/>
        </p:nvSpPr>
        <p:spPr>
          <a:xfrm>
            <a:off x="802362" y="2920722"/>
            <a:ext cx="6326505" cy="974884"/>
          </a:xfrm>
          <a:prstGeom prst="rect">
            <a:avLst/>
          </a:prstGeom>
          <a:noFill/>
          <a:ln/>
        </p:spPr>
        <p:txBody>
          <a:bodyPr wrap="square" lIns="0" tIns="0" rIns="0" bIns="0" rtlCol="0" anchor="t"/>
          <a:lstStyle/>
          <a:p>
            <a:pPr marL="0" indent="0" algn="r">
              <a:lnSpc>
                <a:spcPts val="1900"/>
              </a:lnSpc>
              <a:buNone/>
            </a:pPr>
            <a:r>
              <a:rPr lang="en-US" sz="1250" dirty="0">
                <a:solidFill>
                  <a:srgbClr val="384653"/>
                </a:solidFill>
                <a:latin typeface="Montserrat" pitchFamily="34" charset="0"/>
                <a:ea typeface="Montserrat" pitchFamily="34" charset="-122"/>
                <a:cs typeface="Montserrat" pitchFamily="34" charset="-120"/>
              </a:rPr>
              <a:t>The comprehensive set of tools, technologies, and strategies organizations deploy to protect digital assets, networks, and systems from internal and external threats. This includes firewalls, encryption, access controls, intrusion detection systems, and incident response protocols.</a:t>
            </a:r>
            <a:endParaRPr lang="en-US" sz="1250" dirty="0"/>
          </a:p>
        </p:txBody>
      </p:sp>
      <p:sp>
        <p:nvSpPr>
          <p:cNvPr id="8" name="Shape 6"/>
          <p:cNvSpPr/>
          <p:nvPr/>
        </p:nvSpPr>
        <p:spPr>
          <a:xfrm>
            <a:off x="7338060" y="4348758"/>
            <a:ext cx="6661071" cy="1670447"/>
          </a:xfrm>
          <a:prstGeom prst="rect">
            <a:avLst/>
          </a:prstGeom>
          <a:solidFill>
            <a:srgbClr val="D4E9F7"/>
          </a:solidFill>
          <a:ln w="7620">
            <a:solidFill>
              <a:srgbClr val="BACFDD"/>
            </a:solidFill>
            <a:prstDash val="solid"/>
          </a:ln>
        </p:spPr>
      </p:sp>
      <p:sp>
        <p:nvSpPr>
          <p:cNvPr id="9" name="Text 7"/>
          <p:cNvSpPr/>
          <p:nvPr/>
        </p:nvSpPr>
        <p:spPr>
          <a:xfrm>
            <a:off x="7501533" y="4519851"/>
            <a:ext cx="2151698" cy="268843"/>
          </a:xfrm>
          <a:prstGeom prst="rect">
            <a:avLst/>
          </a:prstGeom>
          <a:noFill/>
          <a:ln/>
        </p:spPr>
        <p:txBody>
          <a:bodyPr wrap="none" lIns="0" tIns="0" rIns="0" bIns="0" rtlCol="0" anchor="t"/>
          <a:lstStyle/>
          <a:p>
            <a:pPr marL="0" indent="0" algn="l">
              <a:lnSpc>
                <a:spcPts val="2100"/>
              </a:lnSpc>
              <a:buNone/>
            </a:pPr>
            <a:r>
              <a:rPr lang="en-US" sz="1650" b="1" dirty="0">
                <a:solidFill>
                  <a:srgbClr val="384653"/>
                </a:solidFill>
                <a:latin typeface="Barlow Bold" pitchFamily="34" charset="0"/>
                <a:ea typeface="Barlow Bold" pitchFamily="34" charset="-122"/>
                <a:cs typeface="Barlow Bold" pitchFamily="34" charset="-120"/>
              </a:rPr>
              <a:t>Compliance</a:t>
            </a:r>
            <a:endParaRPr lang="en-US" sz="1650" dirty="0"/>
          </a:p>
        </p:txBody>
      </p:sp>
      <p:sp>
        <p:nvSpPr>
          <p:cNvPr id="10" name="Text 8"/>
          <p:cNvSpPr/>
          <p:nvPr/>
        </p:nvSpPr>
        <p:spPr>
          <a:xfrm>
            <a:off x="7501533" y="4873228"/>
            <a:ext cx="6326505" cy="974884"/>
          </a:xfrm>
          <a:prstGeom prst="rect">
            <a:avLst/>
          </a:prstGeom>
          <a:noFill/>
          <a:ln/>
        </p:spPr>
        <p:txBody>
          <a:bodyPr wrap="square" lIns="0" tIns="0" rIns="0" bIns="0" rtlCol="0" anchor="t"/>
          <a:lstStyle/>
          <a:p>
            <a:pPr marL="0" indent="0" algn="l">
              <a:lnSpc>
                <a:spcPts val="1900"/>
              </a:lnSpc>
              <a:buNone/>
            </a:pPr>
            <a:r>
              <a:rPr lang="en-US" sz="1250" dirty="0">
                <a:solidFill>
                  <a:srgbClr val="384653"/>
                </a:solidFill>
                <a:latin typeface="Montserrat" pitchFamily="34" charset="0"/>
                <a:ea typeface="Montserrat" pitchFamily="34" charset="-122"/>
                <a:cs typeface="Montserrat" pitchFamily="34" charset="-120"/>
              </a:rPr>
              <a:t>The specific rules, standards, and regulations that organizations must follow to meet legal, industry, and contractual requirements. Compliance provides the framework and benchmarks for implementing security measures according to established best practices.</a:t>
            </a:r>
            <a:endParaRPr lang="en-US" sz="1250" dirty="0"/>
          </a:p>
        </p:txBody>
      </p:sp>
      <p:sp>
        <p:nvSpPr>
          <p:cNvPr id="11" name="Shape 9"/>
          <p:cNvSpPr/>
          <p:nvPr/>
        </p:nvSpPr>
        <p:spPr>
          <a:xfrm>
            <a:off x="654129" y="6177796"/>
            <a:ext cx="13322141" cy="1121569"/>
          </a:xfrm>
          <a:prstGeom prst="roundRect">
            <a:avLst>
              <a:gd name="adj" fmla="val 21871"/>
            </a:avLst>
          </a:prstGeom>
          <a:solidFill>
            <a:srgbClr val="BEDFF3"/>
          </a:solidFill>
          <a:ln/>
        </p:spPr>
      </p:sp>
      <p:pic>
        <p:nvPicPr>
          <p:cNvPr id="12" name="Image 0" descr="preencoded.png"/>
          <p:cNvPicPr>
            <a:picLocks noChangeAspect="1"/>
          </p:cNvPicPr>
          <p:nvPr/>
        </p:nvPicPr>
        <p:blipFill>
          <a:blip r:embed="rId3"/>
          <a:stretch>
            <a:fillRect/>
          </a:stretch>
        </p:blipFill>
        <p:spPr>
          <a:xfrm>
            <a:off x="817602" y="6414254"/>
            <a:ext cx="204311" cy="163473"/>
          </a:xfrm>
          <a:prstGeom prst="rect">
            <a:avLst/>
          </a:prstGeom>
        </p:spPr>
      </p:pic>
      <p:sp>
        <p:nvSpPr>
          <p:cNvPr id="13" name="Text 10"/>
          <p:cNvSpPr/>
          <p:nvPr/>
        </p:nvSpPr>
        <p:spPr>
          <a:xfrm>
            <a:off x="1185386" y="6359604"/>
            <a:ext cx="12627412" cy="731163"/>
          </a:xfrm>
          <a:prstGeom prst="rect">
            <a:avLst/>
          </a:prstGeom>
          <a:noFill/>
          <a:ln/>
        </p:spPr>
        <p:txBody>
          <a:bodyPr wrap="square" lIns="0" tIns="0" rIns="0" bIns="0" rtlCol="0" anchor="t"/>
          <a:lstStyle/>
          <a:p>
            <a:pPr marL="0" indent="0" algn="l">
              <a:lnSpc>
                <a:spcPts val="1900"/>
              </a:lnSpc>
              <a:buNone/>
            </a:pPr>
            <a:r>
              <a:rPr lang="en-US" sz="1250" b="1" dirty="0">
                <a:solidFill>
                  <a:srgbClr val="000000"/>
                </a:solidFill>
                <a:latin typeface="Montserrat" pitchFamily="34" charset="0"/>
                <a:ea typeface="Montserrat" pitchFamily="34" charset="-122"/>
                <a:cs typeface="Montserrat" pitchFamily="34" charset="-120"/>
              </a:rPr>
              <a:t>Critical Insight:</a:t>
            </a:r>
            <a:r>
              <a:rPr lang="en-US" sz="1250" dirty="0">
                <a:solidFill>
                  <a:srgbClr val="000000"/>
                </a:solidFill>
                <a:latin typeface="Montserrat" pitchFamily="34" charset="0"/>
                <a:ea typeface="Montserrat" pitchFamily="34" charset="-122"/>
                <a:cs typeface="Montserrat" pitchFamily="34" charset="-120"/>
              </a:rPr>
              <a:t> Being compliant doesn't automatically guarantee security, and being secure doesn't necessarily mean you're compliant. However, effective security programs leverage compliance frameworks as their foundation, using regulatory requirements as a baseline for comprehensive protection strategies.</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647343" y="1028343"/>
            <a:ext cx="1601748" cy="288965"/>
          </a:xfrm>
          <a:prstGeom prst="roundRect">
            <a:avLst>
              <a:gd name="adj" fmla="val 67214"/>
            </a:avLst>
          </a:prstGeom>
          <a:solidFill>
            <a:srgbClr val="D4E9F7"/>
          </a:solidFill>
          <a:ln/>
        </p:spPr>
      </p:sp>
      <p:sp>
        <p:nvSpPr>
          <p:cNvPr id="3" name="Text 1"/>
          <p:cNvSpPr/>
          <p:nvPr/>
        </p:nvSpPr>
        <p:spPr>
          <a:xfrm>
            <a:off x="744379" y="1076801"/>
            <a:ext cx="1407676" cy="192048"/>
          </a:xfrm>
          <a:prstGeom prst="rect">
            <a:avLst/>
          </a:prstGeom>
          <a:noFill/>
          <a:ln/>
        </p:spPr>
        <p:txBody>
          <a:bodyPr wrap="none" lIns="0" tIns="0" rIns="0" bIns="0" rtlCol="0" anchor="t"/>
          <a:lstStyle/>
          <a:p>
            <a:pPr marL="0" indent="0" algn="l">
              <a:lnSpc>
                <a:spcPts val="1500"/>
              </a:lnSpc>
              <a:buNone/>
            </a:pPr>
            <a:r>
              <a:rPr lang="en-US" sz="1000" dirty="0">
                <a:solidFill>
                  <a:srgbClr val="384653"/>
                </a:solidFill>
                <a:latin typeface="Montserrat" pitchFamily="34" charset="0"/>
                <a:ea typeface="Montserrat" pitchFamily="34" charset="-122"/>
                <a:cs typeface="Montserrat" pitchFamily="34" charset="-120"/>
              </a:rPr>
              <a:t>GLOBAL STANDARDS</a:t>
            </a:r>
            <a:endParaRPr lang="en-US" sz="1000" dirty="0"/>
          </a:p>
        </p:txBody>
      </p:sp>
      <p:sp>
        <p:nvSpPr>
          <p:cNvPr id="4" name="Text 2"/>
          <p:cNvSpPr/>
          <p:nvPr/>
        </p:nvSpPr>
        <p:spPr>
          <a:xfrm>
            <a:off x="647343" y="1372553"/>
            <a:ext cx="9806702" cy="532328"/>
          </a:xfrm>
          <a:prstGeom prst="rect">
            <a:avLst/>
          </a:prstGeom>
          <a:noFill/>
          <a:ln/>
        </p:spPr>
        <p:txBody>
          <a:bodyPr wrap="none" lIns="0" tIns="0" rIns="0" bIns="0" rtlCol="0" anchor="t"/>
          <a:lstStyle/>
          <a:p>
            <a:pPr marL="0" indent="0" algn="l">
              <a:lnSpc>
                <a:spcPts val="4150"/>
              </a:lnSpc>
              <a:buNone/>
            </a:pPr>
            <a:r>
              <a:rPr lang="en-US" sz="3350" b="1" dirty="0">
                <a:solidFill>
                  <a:srgbClr val="2E3C4E"/>
                </a:solidFill>
                <a:latin typeface="Barlow Bold" pitchFamily="34" charset="0"/>
                <a:ea typeface="Barlow Bold" pitchFamily="34" charset="-122"/>
                <a:cs typeface="Barlow Bold" pitchFamily="34" charset="-120"/>
              </a:rPr>
              <a:t>Key Security Compliance Regulations &amp; Frameworks</a:t>
            </a:r>
            <a:endParaRPr lang="en-US" sz="3350" dirty="0"/>
          </a:p>
        </p:txBody>
      </p:sp>
      <p:sp>
        <p:nvSpPr>
          <p:cNvPr id="5" name="Text 3"/>
          <p:cNvSpPr/>
          <p:nvPr/>
        </p:nvSpPr>
        <p:spPr>
          <a:xfrm>
            <a:off x="647343" y="2112050"/>
            <a:ext cx="13335714" cy="479822"/>
          </a:xfrm>
          <a:prstGeom prst="rect">
            <a:avLst/>
          </a:prstGeom>
          <a:noFill/>
          <a:ln/>
        </p:spPr>
        <p:txBody>
          <a:bodyPr wrap="square" lIns="0" tIns="0" rIns="0" bIns="0" rtlCol="0" anchor="t"/>
          <a:lstStyle/>
          <a:p>
            <a:pPr marL="0" indent="0" algn="l">
              <a:lnSpc>
                <a:spcPts val="1850"/>
              </a:lnSpc>
              <a:buNone/>
            </a:pPr>
            <a:r>
              <a:rPr lang="en-US" sz="1250" dirty="0">
                <a:solidFill>
                  <a:srgbClr val="384653"/>
                </a:solidFill>
                <a:latin typeface="Montserrat" pitchFamily="34" charset="0"/>
                <a:ea typeface="Montserrat" pitchFamily="34" charset="-122"/>
                <a:cs typeface="Montserrat" pitchFamily="34" charset="-120"/>
              </a:rPr>
              <a:t>Organizations today must navigate a complex landscape of regulations and frameworks, each designed to address specific industries, data types, or geographic regions. Here are the most influential standards shaping global compliance efforts.</a:t>
            </a:r>
            <a:endParaRPr lang="en-US" sz="1250" dirty="0"/>
          </a:p>
        </p:txBody>
      </p:sp>
      <p:sp>
        <p:nvSpPr>
          <p:cNvPr id="6" name="Shape 4"/>
          <p:cNvSpPr/>
          <p:nvPr/>
        </p:nvSpPr>
        <p:spPr>
          <a:xfrm>
            <a:off x="647343" y="2747248"/>
            <a:ext cx="4353163" cy="2157889"/>
          </a:xfrm>
          <a:prstGeom prst="roundRect">
            <a:avLst>
              <a:gd name="adj" fmla="val 5085"/>
            </a:avLst>
          </a:prstGeom>
          <a:solidFill>
            <a:srgbClr val="FFFFFF"/>
          </a:solidFill>
          <a:ln w="22860">
            <a:solidFill>
              <a:srgbClr val="BACFDD"/>
            </a:solidFill>
            <a:prstDash val="solid"/>
          </a:ln>
        </p:spPr>
      </p:sp>
      <p:pic>
        <p:nvPicPr>
          <p:cNvPr id="7" name="Image 0" descr="preencoded.png"/>
          <p:cNvPicPr>
            <a:picLocks noChangeAspect="1"/>
          </p:cNvPicPr>
          <p:nvPr/>
        </p:nvPicPr>
        <p:blipFill>
          <a:blip r:embed="rId3"/>
          <a:stretch>
            <a:fillRect/>
          </a:stretch>
        </p:blipFill>
        <p:spPr>
          <a:xfrm>
            <a:off x="624483" y="2747248"/>
            <a:ext cx="91440" cy="2157889"/>
          </a:xfrm>
          <a:prstGeom prst="rect">
            <a:avLst/>
          </a:prstGeom>
        </p:spPr>
      </p:pic>
      <p:sp>
        <p:nvSpPr>
          <p:cNvPr id="8" name="Text 5"/>
          <p:cNvSpPr/>
          <p:nvPr/>
        </p:nvSpPr>
        <p:spPr>
          <a:xfrm>
            <a:off x="900589" y="2931914"/>
            <a:ext cx="2129552" cy="266224"/>
          </a:xfrm>
          <a:prstGeom prst="rect">
            <a:avLst/>
          </a:prstGeom>
          <a:noFill/>
          <a:ln/>
        </p:spPr>
        <p:txBody>
          <a:bodyPr wrap="none" lIns="0" tIns="0" rIns="0" bIns="0" rtlCol="0" anchor="t"/>
          <a:lstStyle/>
          <a:p>
            <a:pPr marL="0" indent="0" algn="l">
              <a:lnSpc>
                <a:spcPts val="2050"/>
              </a:lnSpc>
              <a:buNone/>
            </a:pPr>
            <a:r>
              <a:rPr lang="en-US" sz="1650" b="1" dirty="0">
                <a:solidFill>
                  <a:srgbClr val="384653"/>
                </a:solidFill>
                <a:latin typeface="Barlow Bold" pitchFamily="34" charset="0"/>
                <a:ea typeface="Barlow Bold" pitchFamily="34" charset="-122"/>
                <a:cs typeface="Barlow Bold" pitchFamily="34" charset="-120"/>
              </a:rPr>
              <a:t>GDPR (EU)</a:t>
            </a:r>
            <a:endParaRPr lang="en-US" sz="1650" dirty="0"/>
          </a:p>
        </p:txBody>
      </p:sp>
      <p:sp>
        <p:nvSpPr>
          <p:cNvPr id="9" name="Text 6"/>
          <p:cNvSpPr/>
          <p:nvPr/>
        </p:nvSpPr>
        <p:spPr>
          <a:xfrm>
            <a:off x="900589" y="3281005"/>
            <a:ext cx="3915251" cy="1199555"/>
          </a:xfrm>
          <a:prstGeom prst="rect">
            <a:avLst/>
          </a:prstGeom>
          <a:noFill/>
          <a:ln/>
        </p:spPr>
        <p:txBody>
          <a:bodyPr wrap="square" lIns="0" tIns="0" rIns="0" bIns="0" rtlCol="0" anchor="t"/>
          <a:lstStyle/>
          <a:p>
            <a:pPr marL="0" indent="0" algn="l">
              <a:lnSpc>
                <a:spcPts val="1850"/>
              </a:lnSpc>
              <a:buNone/>
            </a:pPr>
            <a:r>
              <a:rPr lang="en-US" sz="1250" b="1" dirty="0">
                <a:solidFill>
                  <a:srgbClr val="384653"/>
                </a:solidFill>
                <a:latin typeface="Montserrat" pitchFamily="34" charset="0"/>
                <a:ea typeface="Montserrat" pitchFamily="34" charset="-122"/>
                <a:cs typeface="Montserrat" pitchFamily="34" charset="-120"/>
              </a:rPr>
              <a:t>General Data Protection Regulation</a:t>
            </a:r>
            <a:r>
              <a:rPr lang="en-US" sz="1250" dirty="0">
                <a:solidFill>
                  <a:srgbClr val="384653"/>
                </a:solidFill>
                <a:latin typeface="Montserrat" pitchFamily="34" charset="0"/>
                <a:ea typeface="Montserrat" pitchFamily="34" charset="-122"/>
                <a:cs typeface="Montserrat" pitchFamily="34" charset="-120"/>
              </a:rPr>
              <a:t> enforces strict rules on personal data protection with global reach. Organizations worldwide must comply when handling EU citizens' data, facing fines up to €20 million or 4% of annual revenue.</a:t>
            </a:r>
            <a:endParaRPr lang="en-US" sz="1250" dirty="0"/>
          </a:p>
        </p:txBody>
      </p:sp>
      <p:sp>
        <p:nvSpPr>
          <p:cNvPr id="10" name="Shape 7"/>
          <p:cNvSpPr/>
          <p:nvPr/>
        </p:nvSpPr>
        <p:spPr>
          <a:xfrm>
            <a:off x="5138618" y="2747248"/>
            <a:ext cx="4353163" cy="2157889"/>
          </a:xfrm>
          <a:prstGeom prst="roundRect">
            <a:avLst>
              <a:gd name="adj" fmla="val 5085"/>
            </a:avLst>
          </a:prstGeom>
          <a:solidFill>
            <a:srgbClr val="FFFFFF"/>
          </a:solidFill>
          <a:ln w="22860">
            <a:solidFill>
              <a:srgbClr val="BACFDD"/>
            </a:solidFill>
            <a:prstDash val="solid"/>
          </a:ln>
        </p:spPr>
      </p:sp>
      <p:pic>
        <p:nvPicPr>
          <p:cNvPr id="11" name="Image 1" descr="preencoded.png"/>
          <p:cNvPicPr>
            <a:picLocks noChangeAspect="1"/>
          </p:cNvPicPr>
          <p:nvPr/>
        </p:nvPicPr>
        <p:blipFill>
          <a:blip r:embed="rId3"/>
          <a:stretch>
            <a:fillRect/>
          </a:stretch>
        </p:blipFill>
        <p:spPr>
          <a:xfrm>
            <a:off x="5115758" y="2747248"/>
            <a:ext cx="91440" cy="2157889"/>
          </a:xfrm>
          <a:prstGeom prst="rect">
            <a:avLst/>
          </a:prstGeom>
        </p:spPr>
      </p:pic>
      <p:sp>
        <p:nvSpPr>
          <p:cNvPr id="12" name="Text 8"/>
          <p:cNvSpPr/>
          <p:nvPr/>
        </p:nvSpPr>
        <p:spPr>
          <a:xfrm>
            <a:off x="5391864" y="2931914"/>
            <a:ext cx="2129552" cy="266224"/>
          </a:xfrm>
          <a:prstGeom prst="rect">
            <a:avLst/>
          </a:prstGeom>
          <a:noFill/>
          <a:ln/>
        </p:spPr>
        <p:txBody>
          <a:bodyPr wrap="none" lIns="0" tIns="0" rIns="0" bIns="0" rtlCol="0" anchor="t"/>
          <a:lstStyle/>
          <a:p>
            <a:pPr marL="0" indent="0" algn="l">
              <a:lnSpc>
                <a:spcPts val="2050"/>
              </a:lnSpc>
              <a:buNone/>
            </a:pPr>
            <a:r>
              <a:rPr lang="en-US" sz="1650" b="1" dirty="0">
                <a:solidFill>
                  <a:srgbClr val="384653"/>
                </a:solidFill>
                <a:latin typeface="Barlow Bold" pitchFamily="34" charset="0"/>
                <a:ea typeface="Barlow Bold" pitchFamily="34" charset="-122"/>
                <a:cs typeface="Barlow Bold" pitchFamily="34" charset="-120"/>
              </a:rPr>
              <a:t>HIPAA (US)</a:t>
            </a:r>
            <a:endParaRPr lang="en-US" sz="1650" dirty="0"/>
          </a:p>
        </p:txBody>
      </p:sp>
      <p:sp>
        <p:nvSpPr>
          <p:cNvPr id="13" name="Text 9"/>
          <p:cNvSpPr/>
          <p:nvPr/>
        </p:nvSpPr>
        <p:spPr>
          <a:xfrm>
            <a:off x="5391864" y="3281005"/>
            <a:ext cx="3915251" cy="1439466"/>
          </a:xfrm>
          <a:prstGeom prst="rect">
            <a:avLst/>
          </a:prstGeom>
          <a:noFill/>
          <a:ln/>
        </p:spPr>
        <p:txBody>
          <a:bodyPr wrap="square" lIns="0" tIns="0" rIns="0" bIns="0" rtlCol="0" anchor="t"/>
          <a:lstStyle/>
          <a:p>
            <a:pPr marL="0" indent="0" algn="l">
              <a:lnSpc>
                <a:spcPts val="1850"/>
              </a:lnSpc>
              <a:buNone/>
            </a:pPr>
            <a:r>
              <a:rPr lang="en-US" sz="1250" b="1" dirty="0">
                <a:solidFill>
                  <a:srgbClr val="384653"/>
                </a:solidFill>
                <a:latin typeface="Montserrat" pitchFamily="34" charset="0"/>
                <a:ea typeface="Montserrat" pitchFamily="34" charset="-122"/>
                <a:cs typeface="Montserrat" pitchFamily="34" charset="-120"/>
              </a:rPr>
              <a:t>Health Insurance Portability and Accountability Act</a:t>
            </a:r>
            <a:r>
              <a:rPr lang="en-US" sz="1250" dirty="0">
                <a:solidFill>
                  <a:srgbClr val="384653"/>
                </a:solidFill>
                <a:latin typeface="Montserrat" pitchFamily="34" charset="0"/>
                <a:ea typeface="Montserrat" pitchFamily="34" charset="-122"/>
                <a:cs typeface="Montserrat" pitchFamily="34" charset="-120"/>
              </a:rPr>
              <a:t> protects patient health information in healthcare settings. Requires administrative, physical, and technical safeguards for electronic protected health information (ePHI).</a:t>
            </a:r>
            <a:endParaRPr lang="en-US" sz="1250" dirty="0"/>
          </a:p>
        </p:txBody>
      </p:sp>
      <p:sp>
        <p:nvSpPr>
          <p:cNvPr id="14" name="Shape 10"/>
          <p:cNvSpPr/>
          <p:nvPr/>
        </p:nvSpPr>
        <p:spPr>
          <a:xfrm>
            <a:off x="9629894" y="2747248"/>
            <a:ext cx="4353163" cy="2157889"/>
          </a:xfrm>
          <a:prstGeom prst="roundRect">
            <a:avLst>
              <a:gd name="adj" fmla="val 5085"/>
            </a:avLst>
          </a:prstGeom>
          <a:solidFill>
            <a:srgbClr val="FFFFFF"/>
          </a:solidFill>
          <a:ln w="22860">
            <a:solidFill>
              <a:srgbClr val="BACFDD"/>
            </a:solidFill>
            <a:prstDash val="solid"/>
          </a:ln>
        </p:spPr>
      </p:sp>
      <p:pic>
        <p:nvPicPr>
          <p:cNvPr id="15" name="Image 2" descr="preencoded.png"/>
          <p:cNvPicPr>
            <a:picLocks noChangeAspect="1"/>
          </p:cNvPicPr>
          <p:nvPr/>
        </p:nvPicPr>
        <p:blipFill>
          <a:blip r:embed="rId3"/>
          <a:stretch>
            <a:fillRect/>
          </a:stretch>
        </p:blipFill>
        <p:spPr>
          <a:xfrm>
            <a:off x="9607034" y="2747248"/>
            <a:ext cx="91440" cy="2157889"/>
          </a:xfrm>
          <a:prstGeom prst="rect">
            <a:avLst/>
          </a:prstGeom>
        </p:spPr>
      </p:pic>
      <p:sp>
        <p:nvSpPr>
          <p:cNvPr id="16" name="Text 11"/>
          <p:cNvSpPr/>
          <p:nvPr/>
        </p:nvSpPr>
        <p:spPr>
          <a:xfrm>
            <a:off x="9883140" y="2931914"/>
            <a:ext cx="2129552" cy="266224"/>
          </a:xfrm>
          <a:prstGeom prst="rect">
            <a:avLst/>
          </a:prstGeom>
          <a:noFill/>
          <a:ln/>
        </p:spPr>
        <p:txBody>
          <a:bodyPr wrap="none" lIns="0" tIns="0" rIns="0" bIns="0" rtlCol="0" anchor="t"/>
          <a:lstStyle/>
          <a:p>
            <a:pPr marL="0" indent="0" algn="l">
              <a:lnSpc>
                <a:spcPts val="2050"/>
              </a:lnSpc>
              <a:buNone/>
            </a:pPr>
            <a:r>
              <a:rPr lang="en-US" sz="1650" b="1" dirty="0">
                <a:solidFill>
                  <a:srgbClr val="384653"/>
                </a:solidFill>
                <a:latin typeface="Barlow Bold" pitchFamily="34" charset="0"/>
                <a:ea typeface="Barlow Bold" pitchFamily="34" charset="-122"/>
                <a:cs typeface="Barlow Bold" pitchFamily="34" charset="-120"/>
              </a:rPr>
              <a:t>PCI-DSS</a:t>
            </a:r>
            <a:endParaRPr lang="en-US" sz="1650" dirty="0"/>
          </a:p>
        </p:txBody>
      </p:sp>
      <p:sp>
        <p:nvSpPr>
          <p:cNvPr id="17" name="Text 12"/>
          <p:cNvSpPr/>
          <p:nvPr/>
        </p:nvSpPr>
        <p:spPr>
          <a:xfrm>
            <a:off x="9883140" y="3281005"/>
            <a:ext cx="3915251" cy="1439466"/>
          </a:xfrm>
          <a:prstGeom prst="rect">
            <a:avLst/>
          </a:prstGeom>
          <a:noFill/>
          <a:ln/>
        </p:spPr>
        <p:txBody>
          <a:bodyPr wrap="square" lIns="0" tIns="0" rIns="0" bIns="0" rtlCol="0" anchor="t"/>
          <a:lstStyle/>
          <a:p>
            <a:pPr marL="0" indent="0" algn="l">
              <a:lnSpc>
                <a:spcPts val="1850"/>
              </a:lnSpc>
              <a:buNone/>
            </a:pPr>
            <a:r>
              <a:rPr lang="en-US" sz="1250" b="1" dirty="0">
                <a:solidFill>
                  <a:srgbClr val="384653"/>
                </a:solidFill>
                <a:latin typeface="Montserrat" pitchFamily="34" charset="0"/>
                <a:ea typeface="Montserrat" pitchFamily="34" charset="-122"/>
                <a:cs typeface="Montserrat" pitchFamily="34" charset="-120"/>
              </a:rPr>
              <a:t>Payment Card Industry Data Security Standard</a:t>
            </a:r>
            <a:r>
              <a:rPr lang="en-US" sz="1250" dirty="0">
                <a:solidFill>
                  <a:srgbClr val="384653"/>
                </a:solidFill>
                <a:latin typeface="Montserrat" pitchFamily="34" charset="0"/>
                <a:ea typeface="Montserrat" pitchFamily="34" charset="-122"/>
                <a:cs typeface="Montserrat" pitchFamily="34" charset="-120"/>
              </a:rPr>
              <a:t> establishes security requirements for organizations that handle credit card transactions. Mandates encryption, access controls, and regular security testing to protect cardholder data.</a:t>
            </a:r>
            <a:endParaRPr lang="en-US" sz="1250" dirty="0"/>
          </a:p>
        </p:txBody>
      </p:sp>
      <p:sp>
        <p:nvSpPr>
          <p:cNvPr id="18" name="Shape 13"/>
          <p:cNvSpPr/>
          <p:nvPr/>
        </p:nvSpPr>
        <p:spPr>
          <a:xfrm>
            <a:off x="647343" y="5043249"/>
            <a:ext cx="4353163" cy="2157889"/>
          </a:xfrm>
          <a:prstGeom prst="roundRect">
            <a:avLst>
              <a:gd name="adj" fmla="val 5085"/>
            </a:avLst>
          </a:prstGeom>
          <a:solidFill>
            <a:srgbClr val="FFFFFF"/>
          </a:solidFill>
          <a:ln w="22860">
            <a:solidFill>
              <a:srgbClr val="BACFDD"/>
            </a:solidFill>
            <a:prstDash val="solid"/>
          </a:ln>
        </p:spPr>
      </p:sp>
      <p:pic>
        <p:nvPicPr>
          <p:cNvPr id="19" name="Image 3" descr="preencoded.png"/>
          <p:cNvPicPr>
            <a:picLocks noChangeAspect="1"/>
          </p:cNvPicPr>
          <p:nvPr/>
        </p:nvPicPr>
        <p:blipFill>
          <a:blip r:embed="rId3"/>
          <a:stretch>
            <a:fillRect/>
          </a:stretch>
        </p:blipFill>
        <p:spPr>
          <a:xfrm>
            <a:off x="624483" y="5043249"/>
            <a:ext cx="91440" cy="2157889"/>
          </a:xfrm>
          <a:prstGeom prst="rect">
            <a:avLst/>
          </a:prstGeom>
        </p:spPr>
      </p:pic>
      <p:sp>
        <p:nvSpPr>
          <p:cNvPr id="20" name="Text 14"/>
          <p:cNvSpPr/>
          <p:nvPr/>
        </p:nvSpPr>
        <p:spPr>
          <a:xfrm>
            <a:off x="900589" y="5227915"/>
            <a:ext cx="2129552" cy="266224"/>
          </a:xfrm>
          <a:prstGeom prst="rect">
            <a:avLst/>
          </a:prstGeom>
          <a:noFill/>
          <a:ln/>
        </p:spPr>
        <p:txBody>
          <a:bodyPr wrap="none" lIns="0" tIns="0" rIns="0" bIns="0" rtlCol="0" anchor="t"/>
          <a:lstStyle/>
          <a:p>
            <a:pPr marL="0" indent="0" algn="l">
              <a:lnSpc>
                <a:spcPts val="2050"/>
              </a:lnSpc>
              <a:buNone/>
            </a:pPr>
            <a:r>
              <a:rPr lang="en-US" sz="1650" b="1" dirty="0">
                <a:solidFill>
                  <a:srgbClr val="384653"/>
                </a:solidFill>
                <a:latin typeface="Barlow Bold" pitchFamily="34" charset="0"/>
                <a:ea typeface="Barlow Bold" pitchFamily="34" charset="-122"/>
                <a:cs typeface="Barlow Bold" pitchFamily="34" charset="-120"/>
              </a:rPr>
              <a:t>ISO/IEC 27001</a:t>
            </a:r>
            <a:endParaRPr lang="en-US" sz="1650" dirty="0"/>
          </a:p>
        </p:txBody>
      </p:sp>
      <p:sp>
        <p:nvSpPr>
          <p:cNvPr id="21" name="Text 15"/>
          <p:cNvSpPr/>
          <p:nvPr/>
        </p:nvSpPr>
        <p:spPr>
          <a:xfrm>
            <a:off x="900589" y="5577007"/>
            <a:ext cx="3915251" cy="1439466"/>
          </a:xfrm>
          <a:prstGeom prst="rect">
            <a:avLst/>
          </a:prstGeom>
          <a:noFill/>
          <a:ln/>
        </p:spPr>
        <p:txBody>
          <a:bodyPr wrap="square" lIns="0" tIns="0" rIns="0" bIns="0" rtlCol="0" anchor="t"/>
          <a:lstStyle/>
          <a:p>
            <a:pPr marL="0" indent="0" algn="l">
              <a:lnSpc>
                <a:spcPts val="1850"/>
              </a:lnSpc>
              <a:buNone/>
            </a:pPr>
            <a:r>
              <a:rPr lang="en-US" sz="1250" b="1" dirty="0">
                <a:solidFill>
                  <a:srgbClr val="384653"/>
                </a:solidFill>
                <a:latin typeface="Montserrat" pitchFamily="34" charset="0"/>
                <a:ea typeface="Montserrat" pitchFamily="34" charset="-122"/>
                <a:cs typeface="Montserrat" pitchFamily="34" charset="-120"/>
              </a:rPr>
              <a:t>International Standard for Information Security Management</a:t>
            </a:r>
            <a:r>
              <a:rPr lang="en-US" sz="1250" dirty="0">
                <a:solidFill>
                  <a:srgbClr val="384653"/>
                </a:solidFill>
                <a:latin typeface="Montserrat" pitchFamily="34" charset="0"/>
                <a:ea typeface="Montserrat" pitchFamily="34" charset="-122"/>
                <a:cs typeface="Montserrat" pitchFamily="34" charset="-120"/>
              </a:rPr>
              <a:t> provides a systematic approach to managing sensitive information. Globally recognized certification demonstrating robust security practices across all organizational processes.</a:t>
            </a:r>
            <a:endParaRPr lang="en-US" sz="1250" dirty="0"/>
          </a:p>
        </p:txBody>
      </p:sp>
      <p:sp>
        <p:nvSpPr>
          <p:cNvPr id="22" name="Shape 16"/>
          <p:cNvSpPr/>
          <p:nvPr/>
        </p:nvSpPr>
        <p:spPr>
          <a:xfrm>
            <a:off x="5138618" y="5043249"/>
            <a:ext cx="4353163" cy="2157889"/>
          </a:xfrm>
          <a:prstGeom prst="roundRect">
            <a:avLst>
              <a:gd name="adj" fmla="val 5085"/>
            </a:avLst>
          </a:prstGeom>
          <a:solidFill>
            <a:srgbClr val="FFFFFF"/>
          </a:solidFill>
          <a:ln w="22860">
            <a:solidFill>
              <a:srgbClr val="BACFDD"/>
            </a:solidFill>
            <a:prstDash val="solid"/>
          </a:ln>
        </p:spPr>
      </p:sp>
      <p:pic>
        <p:nvPicPr>
          <p:cNvPr id="23" name="Image 4" descr="preencoded.png"/>
          <p:cNvPicPr>
            <a:picLocks noChangeAspect="1"/>
          </p:cNvPicPr>
          <p:nvPr/>
        </p:nvPicPr>
        <p:blipFill>
          <a:blip r:embed="rId3"/>
          <a:stretch>
            <a:fillRect/>
          </a:stretch>
        </p:blipFill>
        <p:spPr>
          <a:xfrm>
            <a:off x="5115758" y="5043249"/>
            <a:ext cx="91440" cy="2157889"/>
          </a:xfrm>
          <a:prstGeom prst="rect">
            <a:avLst/>
          </a:prstGeom>
        </p:spPr>
      </p:pic>
      <p:sp>
        <p:nvSpPr>
          <p:cNvPr id="24" name="Text 17"/>
          <p:cNvSpPr/>
          <p:nvPr/>
        </p:nvSpPr>
        <p:spPr>
          <a:xfrm>
            <a:off x="5391864" y="5227915"/>
            <a:ext cx="2129552" cy="266224"/>
          </a:xfrm>
          <a:prstGeom prst="rect">
            <a:avLst/>
          </a:prstGeom>
          <a:noFill/>
          <a:ln/>
        </p:spPr>
        <p:txBody>
          <a:bodyPr wrap="none" lIns="0" tIns="0" rIns="0" bIns="0" rtlCol="0" anchor="t"/>
          <a:lstStyle/>
          <a:p>
            <a:pPr marL="0" indent="0" algn="l">
              <a:lnSpc>
                <a:spcPts val="2050"/>
              </a:lnSpc>
              <a:buNone/>
            </a:pPr>
            <a:r>
              <a:rPr lang="en-US" sz="1650" b="1" dirty="0">
                <a:solidFill>
                  <a:srgbClr val="384653"/>
                </a:solidFill>
                <a:latin typeface="Barlow Bold" pitchFamily="34" charset="0"/>
                <a:ea typeface="Barlow Bold" pitchFamily="34" charset="-122"/>
                <a:cs typeface="Barlow Bold" pitchFamily="34" charset="-120"/>
              </a:rPr>
              <a:t>NIST Framework</a:t>
            </a:r>
            <a:endParaRPr lang="en-US" sz="1650" dirty="0"/>
          </a:p>
        </p:txBody>
      </p:sp>
      <p:sp>
        <p:nvSpPr>
          <p:cNvPr id="25" name="Text 18"/>
          <p:cNvSpPr/>
          <p:nvPr/>
        </p:nvSpPr>
        <p:spPr>
          <a:xfrm>
            <a:off x="5391864" y="5577007"/>
            <a:ext cx="3915251" cy="1199555"/>
          </a:xfrm>
          <a:prstGeom prst="rect">
            <a:avLst/>
          </a:prstGeom>
          <a:noFill/>
          <a:ln/>
        </p:spPr>
        <p:txBody>
          <a:bodyPr wrap="square" lIns="0" tIns="0" rIns="0" bIns="0" rtlCol="0" anchor="t"/>
          <a:lstStyle/>
          <a:p>
            <a:pPr marL="0" indent="0" algn="l">
              <a:lnSpc>
                <a:spcPts val="1850"/>
              </a:lnSpc>
              <a:buNone/>
            </a:pPr>
            <a:r>
              <a:rPr lang="en-US" sz="1250" b="1" dirty="0">
                <a:solidFill>
                  <a:srgbClr val="384653"/>
                </a:solidFill>
                <a:latin typeface="Montserrat" pitchFamily="34" charset="0"/>
                <a:ea typeface="Montserrat" pitchFamily="34" charset="-122"/>
                <a:cs typeface="Montserrat" pitchFamily="34" charset="-120"/>
              </a:rPr>
              <a:t>National Institute of Standards and Technology Cybersecurity Framework</a:t>
            </a:r>
            <a:r>
              <a:rPr lang="en-US" sz="1250" dirty="0">
                <a:solidFill>
                  <a:srgbClr val="384653"/>
                </a:solidFill>
                <a:latin typeface="Montserrat" pitchFamily="34" charset="0"/>
                <a:ea typeface="Montserrat" pitchFamily="34" charset="-122"/>
                <a:cs typeface="Montserrat" pitchFamily="34" charset="-120"/>
              </a:rPr>
              <a:t> offers voluntary guidelines for managing cyber risks. Widely adopted across industries for its practical, risk-based approach to security.</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758309" y="658178"/>
            <a:ext cx="1757958" cy="371475"/>
          </a:xfrm>
          <a:prstGeom prst="roundRect">
            <a:avLst>
              <a:gd name="adj" fmla="val 61241"/>
            </a:avLst>
          </a:prstGeom>
          <a:noFill/>
          <a:ln w="7620">
            <a:solidFill>
              <a:srgbClr val="75BAE6"/>
            </a:solidFill>
            <a:prstDash val="solid"/>
          </a:ln>
        </p:spPr>
      </p:sp>
      <p:pic>
        <p:nvPicPr>
          <p:cNvPr id="3"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79634" y="768072"/>
            <a:ext cx="151567" cy="151567"/>
          </a:xfrm>
          <a:prstGeom prst="rect">
            <a:avLst/>
          </a:prstGeom>
        </p:spPr>
      </p:pic>
      <p:sp>
        <p:nvSpPr>
          <p:cNvPr id="4" name="Text 1"/>
          <p:cNvSpPr/>
          <p:nvPr/>
        </p:nvSpPr>
        <p:spPr>
          <a:xfrm>
            <a:off x="1106924" y="722590"/>
            <a:ext cx="1288018" cy="242649"/>
          </a:xfrm>
          <a:prstGeom prst="rect">
            <a:avLst/>
          </a:prstGeom>
          <a:noFill/>
          <a:ln/>
        </p:spPr>
        <p:txBody>
          <a:bodyPr wrap="none" lIns="0" tIns="0" rIns="0" bIns="0" rtlCol="0" anchor="t"/>
          <a:lstStyle/>
          <a:p>
            <a:pPr marL="0" indent="0" algn="l">
              <a:lnSpc>
                <a:spcPts val="1900"/>
              </a:lnSpc>
              <a:buNone/>
            </a:pPr>
            <a:r>
              <a:rPr lang="en-US" sz="1150" dirty="0">
                <a:solidFill>
                  <a:srgbClr val="75BAE6"/>
                </a:solidFill>
                <a:latin typeface="Montserrat" pitchFamily="34" charset="0"/>
                <a:ea typeface="Montserrat" pitchFamily="34" charset="-122"/>
                <a:cs typeface="Montserrat" pitchFamily="34" charset="-120"/>
              </a:rPr>
              <a:t>REAL EXAMPLES</a:t>
            </a:r>
            <a:endParaRPr lang="en-US" sz="1150" dirty="0"/>
          </a:p>
        </p:txBody>
      </p:sp>
      <p:sp>
        <p:nvSpPr>
          <p:cNvPr id="5" name="Text 2"/>
          <p:cNvSpPr/>
          <p:nvPr/>
        </p:nvSpPr>
        <p:spPr>
          <a:xfrm>
            <a:off x="758309" y="1105376"/>
            <a:ext cx="7358420" cy="623530"/>
          </a:xfrm>
          <a:prstGeom prst="rect">
            <a:avLst/>
          </a:prstGeom>
          <a:noFill/>
          <a:ln/>
        </p:spPr>
        <p:txBody>
          <a:bodyPr wrap="none" lIns="0" tIns="0" rIns="0" bIns="0" rtlCol="0" anchor="t"/>
          <a:lstStyle/>
          <a:p>
            <a:pPr marL="0" indent="0" algn="l">
              <a:lnSpc>
                <a:spcPts val="4900"/>
              </a:lnSpc>
              <a:buNone/>
            </a:pPr>
            <a:r>
              <a:rPr lang="en-US" sz="3900" b="1" dirty="0">
                <a:solidFill>
                  <a:srgbClr val="2E3C4E"/>
                </a:solidFill>
                <a:latin typeface="Barlow Bold" pitchFamily="34" charset="0"/>
                <a:ea typeface="Barlow Bold" pitchFamily="34" charset="-122"/>
                <a:cs typeface="Barlow Bold" pitchFamily="34" charset="-120"/>
              </a:rPr>
              <a:t>Real-World Impact of Compliance</a:t>
            </a:r>
            <a:endParaRPr lang="en-US" sz="3900" dirty="0"/>
          </a:p>
        </p:txBody>
      </p:sp>
      <p:sp>
        <p:nvSpPr>
          <p:cNvPr id="6" name="Text 3"/>
          <p:cNvSpPr/>
          <p:nvPr/>
        </p:nvSpPr>
        <p:spPr>
          <a:xfrm>
            <a:off x="758309" y="1804630"/>
            <a:ext cx="5367218" cy="374094"/>
          </a:xfrm>
          <a:prstGeom prst="rect">
            <a:avLst/>
          </a:prstGeom>
          <a:noFill/>
          <a:ln/>
        </p:spPr>
        <p:txBody>
          <a:bodyPr wrap="none" lIns="0" tIns="0" rIns="0" bIns="0" rtlCol="0" anchor="t"/>
          <a:lstStyle/>
          <a:p>
            <a:pPr marL="0" indent="0" algn="l">
              <a:lnSpc>
                <a:spcPts val="2900"/>
              </a:lnSpc>
              <a:buNone/>
            </a:pPr>
            <a:r>
              <a:rPr lang="en-US" sz="2350" b="1" dirty="0">
                <a:solidFill>
                  <a:srgbClr val="2E3C4E"/>
                </a:solidFill>
                <a:latin typeface="Barlow Bold" pitchFamily="34" charset="0"/>
                <a:ea typeface="Barlow Bold" pitchFamily="34" charset="-122"/>
                <a:cs typeface="Barlow Bold" pitchFamily="34" charset="-120"/>
              </a:rPr>
              <a:t>Success Stories: Compliance Done Right</a:t>
            </a:r>
            <a:endParaRPr lang="en-US" sz="2350" dirty="0"/>
          </a:p>
        </p:txBody>
      </p:sp>
      <p:sp>
        <p:nvSpPr>
          <p:cNvPr id="7" name="Shape 4"/>
          <p:cNvSpPr/>
          <p:nvPr/>
        </p:nvSpPr>
        <p:spPr>
          <a:xfrm>
            <a:off x="758309" y="2463046"/>
            <a:ext cx="426482" cy="426482"/>
          </a:xfrm>
          <a:prstGeom prst="roundRect">
            <a:avLst>
              <a:gd name="adj" fmla="val 66678"/>
            </a:avLst>
          </a:prstGeom>
          <a:solidFill>
            <a:srgbClr val="D4E9F7"/>
          </a:solidFill>
          <a:ln w="7620">
            <a:solidFill>
              <a:srgbClr val="BACFDD"/>
            </a:solidFill>
            <a:prstDash val="solid"/>
          </a:ln>
        </p:spPr>
      </p:sp>
      <p:sp>
        <p:nvSpPr>
          <p:cNvPr id="8" name="Text 5"/>
          <p:cNvSpPr/>
          <p:nvPr/>
        </p:nvSpPr>
        <p:spPr>
          <a:xfrm>
            <a:off x="1374338" y="2528173"/>
            <a:ext cx="3292793" cy="311706"/>
          </a:xfrm>
          <a:prstGeom prst="rect">
            <a:avLst/>
          </a:prstGeom>
          <a:noFill/>
          <a:ln/>
        </p:spPr>
        <p:txBody>
          <a:bodyPr wrap="none" lIns="0" tIns="0" rIns="0" bIns="0" rtlCol="0" anchor="t"/>
          <a:lstStyle/>
          <a:p>
            <a:pPr marL="0" indent="0" algn="l">
              <a:lnSpc>
                <a:spcPts val="2450"/>
              </a:lnSpc>
              <a:buNone/>
            </a:pPr>
            <a:r>
              <a:rPr lang="en-US" sz="1950" b="1" dirty="0">
                <a:solidFill>
                  <a:srgbClr val="384653"/>
                </a:solidFill>
                <a:latin typeface="Barlow Bold" pitchFamily="34" charset="0"/>
                <a:ea typeface="Barlow Bold" pitchFamily="34" charset="-122"/>
                <a:cs typeface="Barlow Bold" pitchFamily="34" charset="-120"/>
              </a:rPr>
              <a:t>Microsoft 365 Data Protection</a:t>
            </a:r>
            <a:endParaRPr lang="en-US" sz="1950" dirty="0"/>
          </a:p>
        </p:txBody>
      </p:sp>
      <p:sp>
        <p:nvSpPr>
          <p:cNvPr id="9" name="Text 6"/>
          <p:cNvSpPr/>
          <p:nvPr/>
        </p:nvSpPr>
        <p:spPr>
          <a:xfrm>
            <a:off x="1374338" y="2953583"/>
            <a:ext cx="3597235" cy="2426018"/>
          </a:xfrm>
          <a:prstGeom prst="rect">
            <a:avLst/>
          </a:prstGeom>
          <a:noFill/>
          <a:ln/>
        </p:spPr>
        <p:txBody>
          <a:bodyPr wrap="square" lIns="0" tIns="0" rIns="0" bIns="0" rtlCol="0" anchor="t"/>
          <a:lstStyle/>
          <a:p>
            <a:pPr marL="0" indent="0" algn="l">
              <a:lnSpc>
                <a:spcPts val="2350"/>
              </a:lnSpc>
              <a:buNone/>
            </a:pPr>
            <a:r>
              <a:rPr lang="en-US" sz="1450" dirty="0">
                <a:solidFill>
                  <a:srgbClr val="384653"/>
                </a:solidFill>
                <a:latin typeface="Montserrat" pitchFamily="34" charset="0"/>
                <a:ea typeface="Montserrat" pitchFamily="34" charset="-122"/>
                <a:cs typeface="Montserrat" pitchFamily="34" charset="-120"/>
              </a:rPr>
              <a:t>Ensures customer data remains private and secure through comprehensive encryption, access controls, and strict policies preventing data use for advertising purposes. Demonstrates industry-leading commitment to enterprise privacy standards.</a:t>
            </a:r>
            <a:endParaRPr lang="en-US" sz="1450" dirty="0"/>
          </a:p>
        </p:txBody>
      </p:sp>
      <p:sp>
        <p:nvSpPr>
          <p:cNvPr id="10" name="Shape 7"/>
          <p:cNvSpPr/>
          <p:nvPr/>
        </p:nvSpPr>
        <p:spPr>
          <a:xfrm>
            <a:off x="5208508" y="2463046"/>
            <a:ext cx="426482" cy="426482"/>
          </a:xfrm>
          <a:prstGeom prst="roundRect">
            <a:avLst>
              <a:gd name="adj" fmla="val 66678"/>
            </a:avLst>
          </a:prstGeom>
          <a:solidFill>
            <a:srgbClr val="D4E9F7"/>
          </a:solidFill>
          <a:ln w="7620">
            <a:solidFill>
              <a:srgbClr val="BACFDD"/>
            </a:solidFill>
            <a:prstDash val="solid"/>
          </a:ln>
        </p:spPr>
      </p:sp>
      <p:sp>
        <p:nvSpPr>
          <p:cNvPr id="11" name="Text 8"/>
          <p:cNvSpPr/>
          <p:nvPr/>
        </p:nvSpPr>
        <p:spPr>
          <a:xfrm>
            <a:off x="5824537" y="2528173"/>
            <a:ext cx="3200519" cy="311706"/>
          </a:xfrm>
          <a:prstGeom prst="rect">
            <a:avLst/>
          </a:prstGeom>
          <a:noFill/>
          <a:ln/>
        </p:spPr>
        <p:txBody>
          <a:bodyPr wrap="none" lIns="0" tIns="0" rIns="0" bIns="0" rtlCol="0" anchor="t"/>
          <a:lstStyle/>
          <a:p>
            <a:pPr marL="0" indent="0" algn="l">
              <a:lnSpc>
                <a:spcPts val="2450"/>
              </a:lnSpc>
              <a:buNone/>
            </a:pPr>
            <a:r>
              <a:rPr lang="en-US" sz="1950" b="1" dirty="0">
                <a:solidFill>
                  <a:srgbClr val="384653"/>
                </a:solidFill>
                <a:latin typeface="Barlow Bold" pitchFamily="34" charset="0"/>
                <a:ea typeface="Barlow Bold" pitchFamily="34" charset="-122"/>
                <a:cs typeface="Barlow Bold" pitchFamily="34" charset="-120"/>
              </a:rPr>
              <a:t>Healthcare HIPAA Excellence</a:t>
            </a:r>
            <a:endParaRPr lang="en-US" sz="1950" dirty="0"/>
          </a:p>
        </p:txBody>
      </p:sp>
      <p:sp>
        <p:nvSpPr>
          <p:cNvPr id="12" name="Text 9"/>
          <p:cNvSpPr/>
          <p:nvPr/>
        </p:nvSpPr>
        <p:spPr>
          <a:xfrm>
            <a:off x="5824537" y="2953583"/>
            <a:ext cx="3597235" cy="2426018"/>
          </a:xfrm>
          <a:prstGeom prst="rect">
            <a:avLst/>
          </a:prstGeom>
          <a:noFill/>
          <a:ln/>
        </p:spPr>
        <p:txBody>
          <a:bodyPr wrap="square" lIns="0" tIns="0" rIns="0" bIns="0" rtlCol="0" anchor="t"/>
          <a:lstStyle/>
          <a:p>
            <a:pPr marL="0" indent="0" algn="l">
              <a:lnSpc>
                <a:spcPts val="2350"/>
              </a:lnSpc>
              <a:buNone/>
            </a:pPr>
            <a:r>
              <a:rPr lang="en-US" sz="1450" dirty="0">
                <a:solidFill>
                  <a:srgbClr val="384653"/>
                </a:solidFill>
                <a:latin typeface="Montserrat" pitchFamily="34" charset="0"/>
                <a:ea typeface="Montserrat" pitchFamily="34" charset="-122"/>
                <a:cs typeface="Montserrat" pitchFamily="34" charset="-120"/>
              </a:rPr>
              <a:t>Leading healthcare organizations avoid costly HIPAA violations by enforcing strict data access controls, conducting regular security training, implementing comprehensive audit trails, and maintaining robust business associate agreements with vendors.</a:t>
            </a:r>
            <a:endParaRPr lang="en-US" sz="1450" dirty="0"/>
          </a:p>
        </p:txBody>
      </p:sp>
      <p:sp>
        <p:nvSpPr>
          <p:cNvPr id="13" name="Shape 10"/>
          <p:cNvSpPr/>
          <p:nvPr/>
        </p:nvSpPr>
        <p:spPr>
          <a:xfrm>
            <a:off x="9658707" y="2463046"/>
            <a:ext cx="426482" cy="426482"/>
          </a:xfrm>
          <a:prstGeom prst="roundRect">
            <a:avLst>
              <a:gd name="adj" fmla="val 66678"/>
            </a:avLst>
          </a:prstGeom>
          <a:solidFill>
            <a:srgbClr val="D4E9F7"/>
          </a:solidFill>
          <a:ln w="7620">
            <a:solidFill>
              <a:srgbClr val="BACFDD"/>
            </a:solidFill>
            <a:prstDash val="solid"/>
          </a:ln>
        </p:spPr>
      </p:sp>
      <p:sp>
        <p:nvSpPr>
          <p:cNvPr id="14" name="Text 11"/>
          <p:cNvSpPr/>
          <p:nvPr/>
        </p:nvSpPr>
        <p:spPr>
          <a:xfrm>
            <a:off x="10274737" y="2528173"/>
            <a:ext cx="3142417" cy="311706"/>
          </a:xfrm>
          <a:prstGeom prst="rect">
            <a:avLst/>
          </a:prstGeom>
          <a:noFill/>
          <a:ln/>
        </p:spPr>
        <p:txBody>
          <a:bodyPr wrap="none" lIns="0" tIns="0" rIns="0" bIns="0" rtlCol="0" anchor="t"/>
          <a:lstStyle/>
          <a:p>
            <a:pPr marL="0" indent="0" algn="l">
              <a:lnSpc>
                <a:spcPts val="2450"/>
              </a:lnSpc>
              <a:buNone/>
            </a:pPr>
            <a:r>
              <a:rPr lang="en-US" sz="1950" b="1" dirty="0">
                <a:solidFill>
                  <a:srgbClr val="384653"/>
                </a:solidFill>
                <a:latin typeface="Barlow Bold" pitchFamily="34" charset="0"/>
                <a:ea typeface="Barlow Bold" pitchFamily="34" charset="-122"/>
                <a:cs typeface="Barlow Bold" pitchFamily="34" charset="-120"/>
              </a:rPr>
              <a:t>Financial Sector Compliance</a:t>
            </a:r>
            <a:endParaRPr lang="en-US" sz="1950" dirty="0"/>
          </a:p>
        </p:txBody>
      </p:sp>
      <p:sp>
        <p:nvSpPr>
          <p:cNvPr id="15" name="Text 12"/>
          <p:cNvSpPr/>
          <p:nvPr/>
        </p:nvSpPr>
        <p:spPr>
          <a:xfrm>
            <a:off x="10274737" y="2953583"/>
            <a:ext cx="3597354" cy="2122765"/>
          </a:xfrm>
          <a:prstGeom prst="rect">
            <a:avLst/>
          </a:prstGeom>
          <a:noFill/>
          <a:ln/>
        </p:spPr>
        <p:txBody>
          <a:bodyPr wrap="square" lIns="0" tIns="0" rIns="0" bIns="0" rtlCol="0" anchor="t"/>
          <a:lstStyle/>
          <a:p>
            <a:pPr marL="0" indent="0" algn="l">
              <a:lnSpc>
                <a:spcPts val="2350"/>
              </a:lnSpc>
              <a:buNone/>
            </a:pPr>
            <a:r>
              <a:rPr lang="en-US" sz="1450" dirty="0">
                <a:solidFill>
                  <a:srgbClr val="384653"/>
                </a:solidFill>
                <a:latin typeface="Montserrat" pitchFamily="34" charset="0"/>
                <a:ea typeface="Montserrat" pitchFamily="34" charset="-122"/>
                <a:cs typeface="Montserrat" pitchFamily="34" charset="-120"/>
              </a:rPr>
              <a:t>Major financial firms comply with NYDFS cybersecurity regulations through continuous monitoring, regular penetration testing, and advanced threat detection systems to protect client assets and maintain market confidence.</a:t>
            </a:r>
            <a:endParaRPr lang="en-US" sz="1450" dirty="0"/>
          </a:p>
        </p:txBody>
      </p:sp>
      <p:sp>
        <p:nvSpPr>
          <p:cNvPr id="16" name="Shape 13"/>
          <p:cNvSpPr/>
          <p:nvPr/>
        </p:nvSpPr>
        <p:spPr>
          <a:xfrm>
            <a:off x="758309" y="5687624"/>
            <a:ext cx="13113782" cy="31313"/>
          </a:xfrm>
          <a:prstGeom prst="rect">
            <a:avLst/>
          </a:prstGeom>
          <a:solidFill>
            <a:srgbClr val="384653">
              <a:alpha val="50000"/>
            </a:srgbClr>
          </a:solidFill>
          <a:ln/>
        </p:spPr>
      </p:sp>
      <p:sp>
        <p:nvSpPr>
          <p:cNvPr id="17" name="Text 14"/>
          <p:cNvSpPr/>
          <p:nvPr/>
        </p:nvSpPr>
        <p:spPr>
          <a:xfrm>
            <a:off x="758309" y="6003250"/>
            <a:ext cx="3782020" cy="374094"/>
          </a:xfrm>
          <a:prstGeom prst="rect">
            <a:avLst/>
          </a:prstGeom>
          <a:noFill/>
          <a:ln/>
        </p:spPr>
        <p:txBody>
          <a:bodyPr wrap="none" lIns="0" tIns="0" rIns="0" bIns="0" rtlCol="0" anchor="t"/>
          <a:lstStyle/>
          <a:p>
            <a:pPr marL="0" indent="0" algn="l">
              <a:lnSpc>
                <a:spcPts val="2900"/>
              </a:lnSpc>
              <a:buNone/>
            </a:pPr>
            <a:r>
              <a:rPr lang="en-US" sz="2350" b="1" dirty="0">
                <a:solidFill>
                  <a:srgbClr val="2E3C4E"/>
                </a:solidFill>
                <a:latin typeface="Barlow Bold" pitchFamily="34" charset="0"/>
                <a:ea typeface="Barlow Bold" pitchFamily="34" charset="-122"/>
                <a:cs typeface="Barlow Bold" pitchFamily="34" charset="-120"/>
              </a:rPr>
              <a:t>The Cost of Non-Compliance</a:t>
            </a:r>
            <a:endParaRPr lang="en-US" sz="2350" dirty="0"/>
          </a:p>
        </p:txBody>
      </p:sp>
      <p:sp>
        <p:nvSpPr>
          <p:cNvPr id="18" name="Text 15"/>
          <p:cNvSpPr/>
          <p:nvPr/>
        </p:nvSpPr>
        <p:spPr>
          <a:xfrm>
            <a:off x="758309" y="6661666"/>
            <a:ext cx="13113782" cy="909757"/>
          </a:xfrm>
          <a:prstGeom prst="rect">
            <a:avLst/>
          </a:prstGeom>
          <a:noFill/>
          <a:ln/>
        </p:spPr>
        <p:txBody>
          <a:bodyPr wrap="square" lIns="0" tIns="0" rIns="0" bIns="0" rtlCol="0" anchor="t"/>
          <a:lstStyle/>
          <a:p>
            <a:pPr marL="0" indent="0" algn="l">
              <a:lnSpc>
                <a:spcPts val="2350"/>
              </a:lnSpc>
              <a:buNone/>
            </a:pPr>
            <a:r>
              <a:rPr lang="en-US" sz="1450" dirty="0">
                <a:solidFill>
                  <a:srgbClr val="384653"/>
                </a:solidFill>
                <a:latin typeface="Montserrat" pitchFamily="34" charset="0"/>
                <a:ea typeface="Montserrat" pitchFamily="34" charset="-122"/>
                <a:cs typeface="Montserrat" pitchFamily="34" charset="-120"/>
              </a:rPr>
              <a:t>Companies have faced fines reaching hundreds of millions of dollars for data breaches resulting from inadequate security controls, insufficient employee training, and failure to implement required compliance measures. These penalties often accompany reputational damage, customer loss, and long-term business impacts that far exceed the initial fines.</a:t>
            </a:r>
            <a:endParaRPr lang="en-US" sz="14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1843445" y="817364"/>
            <a:ext cx="8352711" cy="433626"/>
          </a:xfrm>
          <a:prstGeom prst="rect">
            <a:avLst/>
          </a:prstGeom>
          <a:noFill/>
          <a:ln/>
        </p:spPr>
        <p:txBody>
          <a:bodyPr wrap="none" lIns="0" tIns="0" rIns="0" bIns="0" rtlCol="0" anchor="t"/>
          <a:lstStyle/>
          <a:p>
            <a:pPr marL="0" indent="0" algn="l">
              <a:lnSpc>
                <a:spcPts val="3400"/>
              </a:lnSpc>
              <a:buNone/>
            </a:pPr>
            <a:r>
              <a:rPr lang="en-US" sz="2700" b="1" dirty="0">
                <a:solidFill>
                  <a:srgbClr val="2E3C4E"/>
                </a:solidFill>
                <a:latin typeface="Barlow Bold" pitchFamily="34" charset="0"/>
                <a:ea typeface="Barlow Bold" pitchFamily="34" charset="-122"/>
                <a:cs typeface="Barlow Bold" pitchFamily="34" charset="-120"/>
              </a:rPr>
              <a:t>Components of a Strong Security Compliance Program</a:t>
            </a:r>
            <a:endParaRPr lang="en-US" sz="2700" dirty="0"/>
          </a:p>
        </p:txBody>
      </p:sp>
      <p:sp>
        <p:nvSpPr>
          <p:cNvPr id="3" name="Text 1"/>
          <p:cNvSpPr/>
          <p:nvPr/>
        </p:nvSpPr>
        <p:spPr>
          <a:xfrm>
            <a:off x="1843445" y="1434346"/>
            <a:ext cx="10943511" cy="357426"/>
          </a:xfrm>
          <a:prstGeom prst="rect">
            <a:avLst/>
          </a:prstGeom>
          <a:noFill/>
          <a:ln/>
        </p:spPr>
        <p:txBody>
          <a:bodyPr wrap="square" lIns="0" tIns="0" rIns="0" bIns="0" rtlCol="0" anchor="t"/>
          <a:lstStyle/>
          <a:p>
            <a:pPr marL="0" indent="0" algn="l">
              <a:lnSpc>
                <a:spcPts val="1400"/>
              </a:lnSpc>
              <a:buNone/>
            </a:pPr>
            <a:r>
              <a:rPr lang="en-US" sz="1000" dirty="0">
                <a:solidFill>
                  <a:srgbClr val="384653"/>
                </a:solidFill>
                <a:latin typeface="Montserrat" pitchFamily="34" charset="0"/>
                <a:ea typeface="Montserrat" pitchFamily="34" charset="-122"/>
                <a:cs typeface="Montserrat" pitchFamily="34" charset="-120"/>
              </a:rPr>
              <a:t>Building an effective compliance program requires integrating multiple components into a cohesive strategy. Each element plays a vital role in creating a resilient security posture that meets regulatory requirements and protects against evolving threats.</a:t>
            </a:r>
            <a:endParaRPr lang="en-US" sz="1000" dirty="0"/>
          </a:p>
        </p:txBody>
      </p:sp>
      <p:pic>
        <p:nvPicPr>
          <p:cNvPr id="4" name="Image 0" descr="preencoded.png"/>
          <p:cNvPicPr>
            <a:picLocks noChangeAspect="1"/>
          </p:cNvPicPr>
          <p:nvPr/>
        </p:nvPicPr>
        <p:blipFill>
          <a:blip r:embed="rId3"/>
          <a:stretch>
            <a:fillRect/>
          </a:stretch>
        </p:blipFill>
        <p:spPr>
          <a:xfrm>
            <a:off x="1843445" y="1997988"/>
            <a:ext cx="5311021" cy="5311021"/>
          </a:xfrm>
          <a:prstGeom prst="rect">
            <a:avLst/>
          </a:prstGeom>
        </p:spPr>
      </p:pic>
      <p:sp>
        <p:nvSpPr>
          <p:cNvPr id="5" name="Text 2"/>
          <p:cNvSpPr/>
          <p:nvPr/>
        </p:nvSpPr>
        <p:spPr>
          <a:xfrm>
            <a:off x="7483554" y="1997988"/>
            <a:ext cx="131802" cy="164783"/>
          </a:xfrm>
          <a:prstGeom prst="rect">
            <a:avLst/>
          </a:prstGeom>
          <a:noFill/>
          <a:ln/>
        </p:spPr>
        <p:txBody>
          <a:bodyPr wrap="none" lIns="0" tIns="0" rIns="0" bIns="0" rtlCol="0" anchor="t"/>
          <a:lstStyle/>
          <a:p>
            <a:pPr marL="0" indent="0" algn="l">
              <a:lnSpc>
                <a:spcPts val="1400"/>
              </a:lnSpc>
              <a:buNone/>
            </a:pPr>
            <a:r>
              <a:rPr lang="en-US" sz="1000" dirty="0">
                <a:solidFill>
                  <a:srgbClr val="384653"/>
                </a:solidFill>
                <a:latin typeface="Barlow Light" pitchFamily="34" charset="0"/>
                <a:ea typeface="Barlow Light" pitchFamily="34" charset="-122"/>
                <a:cs typeface="Barlow Light" pitchFamily="34" charset="-120"/>
              </a:rPr>
              <a:t>01</a:t>
            </a:r>
            <a:endParaRPr lang="en-US" sz="1000" dirty="0"/>
          </a:p>
        </p:txBody>
      </p:sp>
      <p:pic>
        <p:nvPicPr>
          <p:cNvPr id="6" name="Image 1" descr="preencoded.png"/>
          <p:cNvPicPr>
            <a:picLocks noChangeAspect="1"/>
          </p:cNvPicPr>
          <p:nvPr/>
        </p:nvPicPr>
        <p:blipFill>
          <a:blip r:embed="rId4"/>
          <a:stretch>
            <a:fillRect/>
          </a:stretch>
        </p:blipFill>
        <p:spPr>
          <a:xfrm>
            <a:off x="7483554" y="2206704"/>
            <a:ext cx="5311021" cy="15240"/>
          </a:xfrm>
          <a:prstGeom prst="rect">
            <a:avLst/>
          </a:prstGeom>
        </p:spPr>
      </p:pic>
      <p:sp>
        <p:nvSpPr>
          <p:cNvPr id="7" name="Text 3"/>
          <p:cNvSpPr/>
          <p:nvPr/>
        </p:nvSpPr>
        <p:spPr>
          <a:xfrm>
            <a:off x="7483554" y="2303026"/>
            <a:ext cx="2503765" cy="216813"/>
          </a:xfrm>
          <a:prstGeom prst="rect">
            <a:avLst/>
          </a:prstGeom>
          <a:noFill/>
          <a:ln/>
        </p:spPr>
        <p:txBody>
          <a:bodyPr wrap="none" lIns="0" tIns="0" rIns="0" bIns="0" rtlCol="0" anchor="t"/>
          <a:lstStyle/>
          <a:p>
            <a:pPr marL="0" indent="0" algn="l">
              <a:lnSpc>
                <a:spcPts val="1700"/>
              </a:lnSpc>
              <a:buNone/>
            </a:pPr>
            <a:r>
              <a:rPr lang="en-US" sz="1350" b="1" dirty="0">
                <a:solidFill>
                  <a:srgbClr val="384653"/>
                </a:solidFill>
                <a:latin typeface="Barlow Bold" pitchFamily="34" charset="0"/>
                <a:ea typeface="Barlow Bold" pitchFamily="34" charset="-122"/>
                <a:cs typeface="Barlow Bold" pitchFamily="34" charset="-120"/>
              </a:rPr>
              <a:t>Risk Assessment &amp; Management</a:t>
            </a:r>
            <a:endParaRPr lang="en-US" sz="1350" dirty="0"/>
          </a:p>
        </p:txBody>
      </p:sp>
      <p:sp>
        <p:nvSpPr>
          <p:cNvPr id="8" name="Text 4"/>
          <p:cNvSpPr/>
          <p:nvPr/>
        </p:nvSpPr>
        <p:spPr>
          <a:xfrm>
            <a:off x="7483554" y="2611517"/>
            <a:ext cx="5311021" cy="357426"/>
          </a:xfrm>
          <a:prstGeom prst="rect">
            <a:avLst/>
          </a:prstGeom>
          <a:noFill/>
          <a:ln/>
        </p:spPr>
        <p:txBody>
          <a:bodyPr wrap="square" lIns="0" tIns="0" rIns="0" bIns="0" rtlCol="0" anchor="t"/>
          <a:lstStyle/>
          <a:p>
            <a:pPr marL="0" indent="0" algn="l">
              <a:lnSpc>
                <a:spcPts val="1400"/>
              </a:lnSpc>
              <a:buNone/>
            </a:pPr>
            <a:r>
              <a:rPr lang="en-US" sz="1000" dirty="0">
                <a:solidFill>
                  <a:srgbClr val="384653"/>
                </a:solidFill>
                <a:latin typeface="Montserrat" pitchFamily="34" charset="0"/>
                <a:ea typeface="Montserrat" pitchFamily="34" charset="-122"/>
                <a:cs typeface="Montserrat" pitchFamily="34" charset="-120"/>
              </a:rPr>
              <a:t>Systematically identify vulnerabilities, evaluate potential threats, and prioritize risks based on likelihood and impact to organizational assets.</a:t>
            </a:r>
            <a:endParaRPr lang="en-US" sz="1000" dirty="0"/>
          </a:p>
        </p:txBody>
      </p:sp>
      <p:sp>
        <p:nvSpPr>
          <p:cNvPr id="9" name="Text 5"/>
          <p:cNvSpPr/>
          <p:nvPr/>
        </p:nvSpPr>
        <p:spPr>
          <a:xfrm>
            <a:off x="7483554" y="3159443"/>
            <a:ext cx="131802" cy="164783"/>
          </a:xfrm>
          <a:prstGeom prst="rect">
            <a:avLst/>
          </a:prstGeom>
          <a:noFill/>
          <a:ln/>
        </p:spPr>
        <p:txBody>
          <a:bodyPr wrap="none" lIns="0" tIns="0" rIns="0" bIns="0" rtlCol="0" anchor="t"/>
          <a:lstStyle/>
          <a:p>
            <a:pPr marL="0" indent="0" algn="l">
              <a:lnSpc>
                <a:spcPts val="1400"/>
              </a:lnSpc>
              <a:buNone/>
            </a:pPr>
            <a:r>
              <a:rPr lang="en-US" sz="1000" dirty="0">
                <a:solidFill>
                  <a:srgbClr val="384653"/>
                </a:solidFill>
                <a:latin typeface="Barlow Light" pitchFamily="34" charset="0"/>
                <a:ea typeface="Barlow Light" pitchFamily="34" charset="-122"/>
                <a:cs typeface="Barlow Light" pitchFamily="34" charset="-120"/>
              </a:rPr>
              <a:t>02</a:t>
            </a:r>
            <a:endParaRPr lang="en-US" sz="1000" dirty="0"/>
          </a:p>
        </p:txBody>
      </p:sp>
      <p:pic>
        <p:nvPicPr>
          <p:cNvPr id="10" name="Image 2" descr="preencoded.png"/>
          <p:cNvPicPr>
            <a:picLocks noChangeAspect="1"/>
          </p:cNvPicPr>
          <p:nvPr/>
        </p:nvPicPr>
        <p:blipFill>
          <a:blip r:embed="rId4"/>
          <a:stretch>
            <a:fillRect/>
          </a:stretch>
        </p:blipFill>
        <p:spPr>
          <a:xfrm>
            <a:off x="7483554" y="3341846"/>
            <a:ext cx="5311021" cy="15240"/>
          </a:xfrm>
          <a:prstGeom prst="rect">
            <a:avLst/>
          </a:prstGeom>
        </p:spPr>
      </p:pic>
      <p:sp>
        <p:nvSpPr>
          <p:cNvPr id="11" name="Text 6"/>
          <p:cNvSpPr/>
          <p:nvPr/>
        </p:nvSpPr>
        <p:spPr>
          <a:xfrm>
            <a:off x="7483554" y="3464481"/>
            <a:ext cx="2587585" cy="216813"/>
          </a:xfrm>
          <a:prstGeom prst="rect">
            <a:avLst/>
          </a:prstGeom>
          <a:noFill/>
          <a:ln/>
        </p:spPr>
        <p:txBody>
          <a:bodyPr wrap="none" lIns="0" tIns="0" rIns="0" bIns="0" rtlCol="0" anchor="t"/>
          <a:lstStyle/>
          <a:p>
            <a:pPr marL="0" indent="0" algn="l">
              <a:lnSpc>
                <a:spcPts val="1700"/>
              </a:lnSpc>
              <a:buNone/>
            </a:pPr>
            <a:r>
              <a:rPr lang="en-US" sz="1350" b="1" dirty="0">
                <a:solidFill>
                  <a:srgbClr val="384653"/>
                </a:solidFill>
                <a:latin typeface="Barlow Bold" pitchFamily="34" charset="0"/>
                <a:ea typeface="Barlow Bold" pitchFamily="34" charset="-122"/>
                <a:cs typeface="Barlow Bold" pitchFamily="34" charset="-120"/>
              </a:rPr>
              <a:t>Security Controls Implementation</a:t>
            </a:r>
            <a:endParaRPr lang="en-US" sz="1350" dirty="0"/>
          </a:p>
        </p:txBody>
      </p:sp>
      <p:sp>
        <p:nvSpPr>
          <p:cNvPr id="12" name="Text 7"/>
          <p:cNvSpPr/>
          <p:nvPr/>
        </p:nvSpPr>
        <p:spPr>
          <a:xfrm>
            <a:off x="7483554" y="3772972"/>
            <a:ext cx="5311021" cy="536138"/>
          </a:xfrm>
          <a:prstGeom prst="rect">
            <a:avLst/>
          </a:prstGeom>
          <a:noFill/>
          <a:ln/>
        </p:spPr>
        <p:txBody>
          <a:bodyPr wrap="square" lIns="0" tIns="0" rIns="0" bIns="0" rtlCol="0" anchor="t"/>
          <a:lstStyle/>
          <a:p>
            <a:pPr marL="0" indent="0" algn="l">
              <a:lnSpc>
                <a:spcPts val="1400"/>
              </a:lnSpc>
              <a:buNone/>
            </a:pPr>
            <a:r>
              <a:rPr lang="en-US" sz="1000" dirty="0">
                <a:solidFill>
                  <a:srgbClr val="384653"/>
                </a:solidFill>
                <a:latin typeface="Montserrat" pitchFamily="34" charset="0"/>
                <a:ea typeface="Montserrat" pitchFamily="34" charset="-122"/>
                <a:cs typeface="Montserrat" pitchFamily="34" charset="-120"/>
              </a:rPr>
              <a:t>Deploy technical and administrative safeguards aligned with relevant frameworks, including access controls, encryption, and incident response procedures.</a:t>
            </a:r>
            <a:endParaRPr lang="en-US" sz="1000" dirty="0"/>
          </a:p>
        </p:txBody>
      </p:sp>
      <p:sp>
        <p:nvSpPr>
          <p:cNvPr id="13" name="Text 8"/>
          <p:cNvSpPr/>
          <p:nvPr/>
        </p:nvSpPr>
        <p:spPr>
          <a:xfrm>
            <a:off x="7483554" y="4499610"/>
            <a:ext cx="131802" cy="164783"/>
          </a:xfrm>
          <a:prstGeom prst="rect">
            <a:avLst/>
          </a:prstGeom>
          <a:noFill/>
          <a:ln/>
        </p:spPr>
        <p:txBody>
          <a:bodyPr wrap="none" lIns="0" tIns="0" rIns="0" bIns="0" rtlCol="0" anchor="t"/>
          <a:lstStyle/>
          <a:p>
            <a:pPr marL="0" indent="0" algn="l">
              <a:lnSpc>
                <a:spcPts val="1400"/>
              </a:lnSpc>
              <a:buNone/>
            </a:pPr>
            <a:r>
              <a:rPr lang="en-US" sz="1000" dirty="0">
                <a:solidFill>
                  <a:srgbClr val="384653"/>
                </a:solidFill>
                <a:latin typeface="Barlow Light" pitchFamily="34" charset="0"/>
                <a:ea typeface="Barlow Light" pitchFamily="34" charset="-122"/>
                <a:cs typeface="Barlow Light" pitchFamily="34" charset="-120"/>
              </a:rPr>
              <a:t>03</a:t>
            </a:r>
            <a:endParaRPr lang="en-US" sz="1000" dirty="0"/>
          </a:p>
        </p:txBody>
      </p:sp>
      <p:pic>
        <p:nvPicPr>
          <p:cNvPr id="14" name="Image 3" descr="preencoded.png"/>
          <p:cNvPicPr>
            <a:picLocks noChangeAspect="1"/>
          </p:cNvPicPr>
          <p:nvPr/>
        </p:nvPicPr>
        <p:blipFill>
          <a:blip r:embed="rId4"/>
          <a:stretch>
            <a:fillRect/>
          </a:stretch>
        </p:blipFill>
        <p:spPr>
          <a:xfrm>
            <a:off x="7483554" y="4655701"/>
            <a:ext cx="5311021" cy="15240"/>
          </a:xfrm>
          <a:prstGeom prst="rect">
            <a:avLst/>
          </a:prstGeom>
        </p:spPr>
      </p:pic>
      <p:sp>
        <p:nvSpPr>
          <p:cNvPr id="15" name="Text 9"/>
          <p:cNvSpPr/>
          <p:nvPr/>
        </p:nvSpPr>
        <p:spPr>
          <a:xfrm>
            <a:off x="7483554" y="4804648"/>
            <a:ext cx="2577346" cy="216813"/>
          </a:xfrm>
          <a:prstGeom prst="rect">
            <a:avLst/>
          </a:prstGeom>
          <a:noFill/>
          <a:ln/>
        </p:spPr>
        <p:txBody>
          <a:bodyPr wrap="none" lIns="0" tIns="0" rIns="0" bIns="0" rtlCol="0" anchor="t"/>
          <a:lstStyle/>
          <a:p>
            <a:pPr marL="0" indent="0" algn="l">
              <a:lnSpc>
                <a:spcPts val="1700"/>
              </a:lnSpc>
              <a:buNone/>
            </a:pPr>
            <a:r>
              <a:rPr lang="en-US" sz="1350" b="1" dirty="0">
                <a:solidFill>
                  <a:srgbClr val="384653"/>
                </a:solidFill>
                <a:latin typeface="Barlow Bold" pitchFamily="34" charset="0"/>
                <a:ea typeface="Barlow Bold" pitchFamily="34" charset="-122"/>
                <a:cs typeface="Barlow Bold" pitchFamily="34" charset="-120"/>
              </a:rPr>
              <a:t>Continuous Monitoring &amp; Auditing</a:t>
            </a:r>
            <a:endParaRPr lang="en-US" sz="1350" dirty="0"/>
          </a:p>
        </p:txBody>
      </p:sp>
      <p:sp>
        <p:nvSpPr>
          <p:cNvPr id="16" name="Text 10"/>
          <p:cNvSpPr/>
          <p:nvPr/>
        </p:nvSpPr>
        <p:spPr>
          <a:xfrm>
            <a:off x="7483554" y="5113139"/>
            <a:ext cx="5311021" cy="357426"/>
          </a:xfrm>
          <a:prstGeom prst="rect">
            <a:avLst/>
          </a:prstGeom>
          <a:noFill/>
          <a:ln/>
        </p:spPr>
        <p:txBody>
          <a:bodyPr wrap="square" lIns="0" tIns="0" rIns="0" bIns="0" rtlCol="0" anchor="t"/>
          <a:lstStyle/>
          <a:p>
            <a:pPr marL="0" indent="0" algn="l">
              <a:lnSpc>
                <a:spcPts val="1400"/>
              </a:lnSpc>
              <a:buNone/>
            </a:pPr>
            <a:r>
              <a:rPr lang="en-US" sz="1000" dirty="0">
                <a:solidFill>
                  <a:srgbClr val="384653"/>
                </a:solidFill>
                <a:latin typeface="Montserrat" pitchFamily="34" charset="0"/>
                <a:ea typeface="Montserrat" pitchFamily="34" charset="-122"/>
                <a:cs typeface="Montserrat" pitchFamily="34" charset="-120"/>
              </a:rPr>
              <a:t>Establish ongoing surveillance of security systems, regular compliance audits, and real-time alerting to ensure sustained adherence to standards.</a:t>
            </a:r>
            <a:endParaRPr lang="en-US" sz="1000" dirty="0"/>
          </a:p>
        </p:txBody>
      </p:sp>
      <p:sp>
        <p:nvSpPr>
          <p:cNvPr id="17" name="Text 11"/>
          <p:cNvSpPr/>
          <p:nvPr/>
        </p:nvSpPr>
        <p:spPr>
          <a:xfrm>
            <a:off x="7483554" y="5661065"/>
            <a:ext cx="131802" cy="164783"/>
          </a:xfrm>
          <a:prstGeom prst="rect">
            <a:avLst/>
          </a:prstGeom>
          <a:noFill/>
          <a:ln/>
        </p:spPr>
        <p:txBody>
          <a:bodyPr wrap="none" lIns="0" tIns="0" rIns="0" bIns="0" rtlCol="0" anchor="t"/>
          <a:lstStyle/>
          <a:p>
            <a:pPr marL="0" indent="0" algn="l">
              <a:lnSpc>
                <a:spcPts val="1400"/>
              </a:lnSpc>
              <a:buNone/>
            </a:pPr>
            <a:r>
              <a:rPr lang="en-US" sz="1000" dirty="0">
                <a:solidFill>
                  <a:srgbClr val="384653"/>
                </a:solidFill>
                <a:latin typeface="Barlow Light" pitchFamily="34" charset="0"/>
                <a:ea typeface="Barlow Light" pitchFamily="34" charset="-122"/>
                <a:cs typeface="Barlow Light" pitchFamily="34" charset="-120"/>
              </a:rPr>
              <a:t>04</a:t>
            </a:r>
            <a:endParaRPr lang="en-US" sz="1000" dirty="0"/>
          </a:p>
        </p:txBody>
      </p:sp>
      <p:pic>
        <p:nvPicPr>
          <p:cNvPr id="18" name="Image 4" descr="preencoded.png"/>
          <p:cNvPicPr>
            <a:picLocks noChangeAspect="1"/>
          </p:cNvPicPr>
          <p:nvPr/>
        </p:nvPicPr>
        <p:blipFill>
          <a:blip r:embed="rId4"/>
          <a:stretch>
            <a:fillRect/>
          </a:stretch>
        </p:blipFill>
        <p:spPr>
          <a:xfrm>
            <a:off x="7483554" y="5790843"/>
            <a:ext cx="5311021" cy="15240"/>
          </a:xfrm>
          <a:prstGeom prst="rect">
            <a:avLst/>
          </a:prstGeom>
        </p:spPr>
      </p:pic>
      <p:sp>
        <p:nvSpPr>
          <p:cNvPr id="19" name="Text 12"/>
          <p:cNvSpPr/>
          <p:nvPr/>
        </p:nvSpPr>
        <p:spPr>
          <a:xfrm>
            <a:off x="7483554" y="5966103"/>
            <a:ext cx="2447687" cy="216813"/>
          </a:xfrm>
          <a:prstGeom prst="rect">
            <a:avLst/>
          </a:prstGeom>
          <a:noFill/>
          <a:ln/>
        </p:spPr>
        <p:txBody>
          <a:bodyPr wrap="none" lIns="0" tIns="0" rIns="0" bIns="0" rtlCol="0" anchor="t"/>
          <a:lstStyle/>
          <a:p>
            <a:pPr marL="0" indent="0" algn="l">
              <a:lnSpc>
                <a:spcPts val="1700"/>
              </a:lnSpc>
              <a:buNone/>
            </a:pPr>
            <a:r>
              <a:rPr lang="en-US" sz="1350" b="1" dirty="0">
                <a:solidFill>
                  <a:srgbClr val="384653"/>
                </a:solidFill>
                <a:latin typeface="Barlow Bold" pitchFamily="34" charset="0"/>
                <a:ea typeface="Barlow Bold" pitchFamily="34" charset="-122"/>
                <a:cs typeface="Barlow Bold" pitchFamily="34" charset="-120"/>
              </a:rPr>
              <a:t>Employee Training &amp; Awareness</a:t>
            </a:r>
            <a:endParaRPr lang="en-US" sz="1350" dirty="0"/>
          </a:p>
        </p:txBody>
      </p:sp>
      <p:sp>
        <p:nvSpPr>
          <p:cNvPr id="20" name="Text 13"/>
          <p:cNvSpPr/>
          <p:nvPr/>
        </p:nvSpPr>
        <p:spPr>
          <a:xfrm>
            <a:off x="7483554" y="6274594"/>
            <a:ext cx="5311021" cy="357426"/>
          </a:xfrm>
          <a:prstGeom prst="rect">
            <a:avLst/>
          </a:prstGeom>
          <a:noFill/>
          <a:ln/>
        </p:spPr>
        <p:txBody>
          <a:bodyPr wrap="square" lIns="0" tIns="0" rIns="0" bIns="0" rtlCol="0" anchor="t"/>
          <a:lstStyle/>
          <a:p>
            <a:pPr marL="0" indent="0" algn="l">
              <a:lnSpc>
                <a:spcPts val="1400"/>
              </a:lnSpc>
              <a:buNone/>
            </a:pPr>
            <a:r>
              <a:rPr lang="en-US" sz="1000" dirty="0">
                <a:solidFill>
                  <a:srgbClr val="384653"/>
                </a:solidFill>
                <a:latin typeface="Montserrat" pitchFamily="34" charset="0"/>
                <a:ea typeface="Montserrat" pitchFamily="34" charset="-122"/>
                <a:cs typeface="Montserrat" pitchFamily="34" charset="-120"/>
              </a:rPr>
              <a:t>Develop comprehensive security awareness programs to prevent human errors, the leading cause of security incidents and compliance violations.</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645081" y="1163836"/>
            <a:ext cx="1485662" cy="286226"/>
          </a:xfrm>
          <a:prstGeom prst="roundRect">
            <a:avLst>
              <a:gd name="adj" fmla="val 67378"/>
            </a:avLst>
          </a:prstGeom>
          <a:solidFill>
            <a:srgbClr val="D4E9F7"/>
          </a:solidFill>
          <a:ln/>
        </p:spPr>
      </p:sp>
      <p:pic>
        <p:nvPicPr>
          <p:cNvPr id="3"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41402" y="1242655"/>
            <a:ext cx="128468" cy="128468"/>
          </a:xfrm>
          <a:prstGeom prst="rect">
            <a:avLst/>
          </a:prstGeom>
        </p:spPr>
      </p:pic>
      <p:sp>
        <p:nvSpPr>
          <p:cNvPr id="4" name="Text 1"/>
          <p:cNvSpPr/>
          <p:nvPr/>
        </p:nvSpPr>
        <p:spPr>
          <a:xfrm>
            <a:off x="934045" y="1211937"/>
            <a:ext cx="1100376" cy="190024"/>
          </a:xfrm>
          <a:prstGeom prst="rect">
            <a:avLst/>
          </a:prstGeom>
          <a:noFill/>
          <a:ln/>
        </p:spPr>
        <p:txBody>
          <a:bodyPr wrap="none" lIns="0" tIns="0" rIns="0" bIns="0" rtlCol="0" anchor="t"/>
          <a:lstStyle/>
          <a:p>
            <a:pPr marL="0" indent="0" algn="l">
              <a:lnSpc>
                <a:spcPts val="1450"/>
              </a:lnSpc>
              <a:buNone/>
            </a:pPr>
            <a:r>
              <a:rPr lang="en-US" sz="1000" dirty="0">
                <a:solidFill>
                  <a:srgbClr val="384653"/>
                </a:solidFill>
                <a:latin typeface="Montserrat" pitchFamily="34" charset="0"/>
                <a:ea typeface="Montserrat" pitchFamily="34" charset="-122"/>
                <a:cs typeface="Montserrat" pitchFamily="34" charset="-120"/>
              </a:rPr>
              <a:t>BEST PRACTICES</a:t>
            </a:r>
            <a:endParaRPr lang="en-US" sz="1000" dirty="0"/>
          </a:p>
        </p:txBody>
      </p:sp>
      <p:sp>
        <p:nvSpPr>
          <p:cNvPr id="5" name="Text 2"/>
          <p:cNvSpPr/>
          <p:nvPr/>
        </p:nvSpPr>
        <p:spPr>
          <a:xfrm>
            <a:off x="645081" y="1504474"/>
            <a:ext cx="4229219" cy="528638"/>
          </a:xfrm>
          <a:prstGeom prst="rect">
            <a:avLst/>
          </a:prstGeom>
          <a:noFill/>
          <a:ln/>
        </p:spPr>
        <p:txBody>
          <a:bodyPr wrap="none" lIns="0" tIns="0" rIns="0" bIns="0" rtlCol="0" anchor="t"/>
          <a:lstStyle/>
          <a:p>
            <a:pPr marL="0" indent="0" algn="l">
              <a:lnSpc>
                <a:spcPts val="4150"/>
              </a:lnSpc>
              <a:buNone/>
            </a:pPr>
            <a:r>
              <a:rPr lang="en-US" sz="3300" b="1" dirty="0">
                <a:solidFill>
                  <a:srgbClr val="2E3C4E"/>
                </a:solidFill>
                <a:latin typeface="Barlow Bold" pitchFamily="34" charset="0"/>
                <a:ea typeface="Barlow Bold" pitchFamily="34" charset="-122"/>
                <a:cs typeface="Barlow Bold" pitchFamily="34" charset="-120"/>
              </a:rPr>
              <a:t>Achieving Compliance</a:t>
            </a:r>
            <a:endParaRPr lang="en-US" sz="3300" dirty="0"/>
          </a:p>
        </p:txBody>
      </p:sp>
      <p:sp>
        <p:nvSpPr>
          <p:cNvPr id="6" name="Text 3"/>
          <p:cNvSpPr/>
          <p:nvPr/>
        </p:nvSpPr>
        <p:spPr>
          <a:xfrm>
            <a:off x="645081" y="2237423"/>
            <a:ext cx="13340120" cy="475059"/>
          </a:xfrm>
          <a:prstGeom prst="rect">
            <a:avLst/>
          </a:prstGeom>
          <a:noFill/>
          <a:ln/>
        </p:spPr>
        <p:txBody>
          <a:bodyPr wrap="square" lIns="0" tIns="0" rIns="0" bIns="0" rtlCol="0" anchor="t"/>
          <a:lstStyle/>
          <a:p>
            <a:pPr marL="0" indent="0" algn="l">
              <a:lnSpc>
                <a:spcPts val="1850"/>
              </a:lnSpc>
              <a:buNone/>
            </a:pPr>
            <a:r>
              <a:rPr lang="en-US" sz="1250" dirty="0">
                <a:solidFill>
                  <a:srgbClr val="384653"/>
                </a:solidFill>
                <a:latin typeface="Montserrat" pitchFamily="34" charset="0"/>
                <a:ea typeface="Montserrat" pitchFamily="34" charset="-122"/>
                <a:cs typeface="Montserrat" pitchFamily="34" charset="-120"/>
              </a:rPr>
              <a:t>Successfully achieving and maintaining compliance requires more than understanding regulations—it demands a strategic, systematic approach to implementation, monitoring, and continuous improvement.</a:t>
            </a:r>
            <a:endParaRPr lang="en-US" sz="1250" dirty="0"/>
          </a:p>
        </p:txBody>
      </p:sp>
      <p:pic>
        <p:nvPicPr>
          <p:cNvPr id="7" name="Image 1" descr="preencoded.png"/>
          <p:cNvPicPr>
            <a:picLocks noChangeAspect="1"/>
          </p:cNvPicPr>
          <p:nvPr/>
        </p:nvPicPr>
        <p:blipFill>
          <a:blip r:embed="rId5"/>
          <a:stretch>
            <a:fillRect/>
          </a:stretch>
        </p:blipFill>
        <p:spPr>
          <a:xfrm>
            <a:off x="645081" y="2865715"/>
            <a:ext cx="1154549" cy="713542"/>
          </a:xfrm>
          <a:prstGeom prst="rect">
            <a:avLst/>
          </a:prstGeom>
        </p:spPr>
      </p:pic>
      <p:sp>
        <p:nvSpPr>
          <p:cNvPr id="8" name="Text 4"/>
          <p:cNvSpPr/>
          <p:nvPr/>
        </p:nvSpPr>
        <p:spPr>
          <a:xfrm>
            <a:off x="1969889" y="2865715"/>
            <a:ext cx="1882497" cy="528638"/>
          </a:xfrm>
          <a:prstGeom prst="rect">
            <a:avLst/>
          </a:prstGeom>
          <a:noFill/>
          <a:ln/>
        </p:spPr>
        <p:txBody>
          <a:bodyPr wrap="square" lIns="0" tIns="0" rIns="0" bIns="0" rtlCol="0" anchor="t"/>
          <a:lstStyle/>
          <a:p>
            <a:pPr marL="0" indent="0" algn="l">
              <a:lnSpc>
                <a:spcPts val="2050"/>
              </a:lnSpc>
              <a:buNone/>
            </a:pPr>
            <a:r>
              <a:rPr lang="en-US" sz="1650" b="1" dirty="0">
                <a:solidFill>
                  <a:srgbClr val="384653"/>
                </a:solidFill>
                <a:latin typeface="Barlow Bold" pitchFamily="34" charset="0"/>
                <a:ea typeface="Barlow Bold" pitchFamily="34" charset="-122"/>
                <a:cs typeface="Barlow Bold" pitchFamily="34" charset="-120"/>
              </a:rPr>
              <a:t>Regular Security Audits</a:t>
            </a:r>
            <a:endParaRPr lang="en-US" sz="1650" dirty="0"/>
          </a:p>
        </p:txBody>
      </p:sp>
      <p:sp>
        <p:nvSpPr>
          <p:cNvPr id="9" name="Text 5"/>
          <p:cNvSpPr/>
          <p:nvPr/>
        </p:nvSpPr>
        <p:spPr>
          <a:xfrm>
            <a:off x="1969889" y="3476030"/>
            <a:ext cx="1882497" cy="3087886"/>
          </a:xfrm>
          <a:prstGeom prst="rect">
            <a:avLst/>
          </a:prstGeom>
          <a:noFill/>
          <a:ln/>
        </p:spPr>
        <p:txBody>
          <a:bodyPr wrap="square" lIns="0" tIns="0" rIns="0" bIns="0" rtlCol="0" anchor="t"/>
          <a:lstStyle/>
          <a:p>
            <a:pPr marL="0" indent="0" algn="l">
              <a:lnSpc>
                <a:spcPts val="1850"/>
              </a:lnSpc>
              <a:buNone/>
            </a:pPr>
            <a:r>
              <a:rPr lang="en-US" sz="1250" dirty="0">
                <a:solidFill>
                  <a:srgbClr val="384653"/>
                </a:solidFill>
                <a:latin typeface="Montserrat" pitchFamily="34" charset="0"/>
                <a:ea typeface="Montserrat" pitchFamily="34" charset="-122"/>
                <a:cs typeface="Montserrat" pitchFamily="34" charset="-120"/>
              </a:rPr>
              <a:t>Conduct both internal and external security audits on a scheduled basis to identify gaps, verify control effectiveness, and ensure alignment with current regulatory requirements. Third-party assessments provide objective validation of your compliance posture.</a:t>
            </a:r>
            <a:endParaRPr lang="en-US" sz="1250" dirty="0"/>
          </a:p>
        </p:txBody>
      </p:sp>
      <p:pic>
        <p:nvPicPr>
          <p:cNvPr id="10" name="Image 2" descr="preencoded.png"/>
          <p:cNvPicPr>
            <a:picLocks noChangeAspect="1"/>
          </p:cNvPicPr>
          <p:nvPr/>
        </p:nvPicPr>
        <p:blipFill>
          <a:blip r:embed="rId6"/>
          <a:stretch>
            <a:fillRect/>
          </a:stretch>
        </p:blipFill>
        <p:spPr>
          <a:xfrm>
            <a:off x="4022646" y="2865715"/>
            <a:ext cx="1154549" cy="713542"/>
          </a:xfrm>
          <a:prstGeom prst="rect">
            <a:avLst/>
          </a:prstGeom>
        </p:spPr>
      </p:pic>
      <p:sp>
        <p:nvSpPr>
          <p:cNvPr id="11" name="Text 6"/>
          <p:cNvSpPr/>
          <p:nvPr/>
        </p:nvSpPr>
        <p:spPr>
          <a:xfrm>
            <a:off x="5347454" y="2865715"/>
            <a:ext cx="1882497" cy="528638"/>
          </a:xfrm>
          <a:prstGeom prst="rect">
            <a:avLst/>
          </a:prstGeom>
          <a:noFill/>
          <a:ln/>
        </p:spPr>
        <p:txBody>
          <a:bodyPr wrap="square" lIns="0" tIns="0" rIns="0" bIns="0" rtlCol="0" anchor="t"/>
          <a:lstStyle/>
          <a:p>
            <a:pPr marL="0" indent="0" algn="l">
              <a:lnSpc>
                <a:spcPts val="2050"/>
              </a:lnSpc>
              <a:buNone/>
            </a:pPr>
            <a:r>
              <a:rPr lang="en-US" sz="1650" b="1" dirty="0">
                <a:solidFill>
                  <a:srgbClr val="384653"/>
                </a:solidFill>
                <a:latin typeface="Barlow Bold" pitchFamily="34" charset="0"/>
                <a:ea typeface="Barlow Bold" pitchFamily="34" charset="-122"/>
                <a:cs typeface="Barlow Bold" pitchFamily="34" charset="-120"/>
              </a:rPr>
              <a:t>Comprehensive Documentation</a:t>
            </a:r>
            <a:endParaRPr lang="en-US" sz="1650" dirty="0"/>
          </a:p>
        </p:txBody>
      </p:sp>
      <p:sp>
        <p:nvSpPr>
          <p:cNvPr id="12" name="Text 7"/>
          <p:cNvSpPr/>
          <p:nvPr/>
        </p:nvSpPr>
        <p:spPr>
          <a:xfrm>
            <a:off x="5347454" y="3476030"/>
            <a:ext cx="1882497" cy="3087886"/>
          </a:xfrm>
          <a:prstGeom prst="rect">
            <a:avLst/>
          </a:prstGeom>
          <a:noFill/>
          <a:ln/>
        </p:spPr>
        <p:txBody>
          <a:bodyPr wrap="square" lIns="0" tIns="0" rIns="0" bIns="0" rtlCol="0" anchor="t"/>
          <a:lstStyle/>
          <a:p>
            <a:pPr marL="0" indent="0" algn="l">
              <a:lnSpc>
                <a:spcPts val="1850"/>
              </a:lnSpc>
              <a:buNone/>
            </a:pPr>
            <a:r>
              <a:rPr lang="en-US" sz="1250" dirty="0">
                <a:solidFill>
                  <a:srgbClr val="384653"/>
                </a:solidFill>
                <a:latin typeface="Montserrat" pitchFamily="34" charset="0"/>
                <a:ea typeface="Montserrat" pitchFamily="34" charset="-122"/>
                <a:cs typeface="Montserrat" pitchFamily="34" charset="-120"/>
              </a:rPr>
              <a:t>Maintain detailed logs, policies, and records that demonstrate accountability and provide evidence of compliance efforts. Documentation should cover security incidents, access requests, system changes, and training completion for audit readiness.</a:t>
            </a:r>
            <a:endParaRPr lang="en-US" sz="1250" dirty="0"/>
          </a:p>
        </p:txBody>
      </p:sp>
      <p:pic>
        <p:nvPicPr>
          <p:cNvPr id="13" name="Image 3" descr="preencoded.png"/>
          <p:cNvPicPr>
            <a:picLocks noChangeAspect="1"/>
          </p:cNvPicPr>
          <p:nvPr/>
        </p:nvPicPr>
        <p:blipFill>
          <a:blip r:embed="rId7"/>
          <a:stretch>
            <a:fillRect/>
          </a:stretch>
        </p:blipFill>
        <p:spPr>
          <a:xfrm>
            <a:off x="7400211" y="2865715"/>
            <a:ext cx="1154549" cy="713542"/>
          </a:xfrm>
          <a:prstGeom prst="rect">
            <a:avLst/>
          </a:prstGeom>
        </p:spPr>
      </p:pic>
      <p:sp>
        <p:nvSpPr>
          <p:cNvPr id="14" name="Text 8"/>
          <p:cNvSpPr/>
          <p:nvPr/>
        </p:nvSpPr>
        <p:spPr>
          <a:xfrm>
            <a:off x="8725019" y="2865715"/>
            <a:ext cx="1882497" cy="792956"/>
          </a:xfrm>
          <a:prstGeom prst="rect">
            <a:avLst/>
          </a:prstGeom>
          <a:noFill/>
          <a:ln/>
        </p:spPr>
        <p:txBody>
          <a:bodyPr wrap="square" lIns="0" tIns="0" rIns="0" bIns="0" rtlCol="0" anchor="t"/>
          <a:lstStyle/>
          <a:p>
            <a:pPr marL="0" indent="0" algn="l">
              <a:lnSpc>
                <a:spcPts val="2050"/>
              </a:lnSpc>
              <a:buNone/>
            </a:pPr>
            <a:r>
              <a:rPr lang="en-US" sz="1650" b="1" dirty="0">
                <a:solidFill>
                  <a:srgbClr val="384653"/>
                </a:solidFill>
                <a:latin typeface="Barlow Bold" pitchFamily="34" charset="0"/>
                <a:ea typeface="Barlow Bold" pitchFamily="34" charset="-122"/>
                <a:cs typeface="Barlow Bold" pitchFamily="34" charset="-120"/>
              </a:rPr>
              <a:t>Dynamic Compliance Planning</a:t>
            </a:r>
            <a:endParaRPr lang="en-US" sz="1650" dirty="0"/>
          </a:p>
        </p:txBody>
      </p:sp>
      <p:sp>
        <p:nvSpPr>
          <p:cNvPr id="15" name="Text 9"/>
          <p:cNvSpPr/>
          <p:nvPr/>
        </p:nvSpPr>
        <p:spPr>
          <a:xfrm>
            <a:off x="8725019" y="3740348"/>
            <a:ext cx="1882497" cy="3325416"/>
          </a:xfrm>
          <a:prstGeom prst="rect">
            <a:avLst/>
          </a:prstGeom>
          <a:noFill/>
          <a:ln/>
        </p:spPr>
        <p:txBody>
          <a:bodyPr wrap="square" lIns="0" tIns="0" rIns="0" bIns="0" rtlCol="0" anchor="t"/>
          <a:lstStyle/>
          <a:p>
            <a:pPr marL="0" indent="0" algn="l">
              <a:lnSpc>
                <a:spcPts val="1850"/>
              </a:lnSpc>
              <a:buNone/>
            </a:pPr>
            <a:r>
              <a:rPr lang="en-US" sz="1250" dirty="0">
                <a:solidFill>
                  <a:srgbClr val="384653"/>
                </a:solidFill>
                <a:latin typeface="Montserrat" pitchFamily="34" charset="0"/>
                <a:ea typeface="Montserrat" pitchFamily="34" charset="-122"/>
                <a:cs typeface="Montserrat" pitchFamily="34" charset="-120"/>
              </a:rPr>
              <a:t>Develop and regularly update a comprehensive compliance plan that addresses current regulations, emerging threats, and organizational changes. Your plan should include clear ownership, timelines, and success metrics for all compliance initiatives.</a:t>
            </a:r>
            <a:endParaRPr lang="en-US" sz="1250" dirty="0"/>
          </a:p>
        </p:txBody>
      </p:sp>
      <p:pic>
        <p:nvPicPr>
          <p:cNvPr id="16" name="Image 4" descr="preencoded.png"/>
          <p:cNvPicPr>
            <a:picLocks noChangeAspect="1"/>
          </p:cNvPicPr>
          <p:nvPr/>
        </p:nvPicPr>
        <p:blipFill>
          <a:blip r:embed="rId8"/>
          <a:stretch>
            <a:fillRect/>
          </a:stretch>
        </p:blipFill>
        <p:spPr>
          <a:xfrm>
            <a:off x="10777776" y="2865715"/>
            <a:ext cx="1154668" cy="713542"/>
          </a:xfrm>
          <a:prstGeom prst="rect">
            <a:avLst/>
          </a:prstGeom>
        </p:spPr>
      </p:pic>
      <p:sp>
        <p:nvSpPr>
          <p:cNvPr id="17" name="Text 10"/>
          <p:cNvSpPr/>
          <p:nvPr/>
        </p:nvSpPr>
        <p:spPr>
          <a:xfrm>
            <a:off x="12102703" y="2865715"/>
            <a:ext cx="1882497" cy="528638"/>
          </a:xfrm>
          <a:prstGeom prst="rect">
            <a:avLst/>
          </a:prstGeom>
          <a:noFill/>
          <a:ln/>
        </p:spPr>
        <p:txBody>
          <a:bodyPr wrap="square" lIns="0" tIns="0" rIns="0" bIns="0" rtlCol="0" anchor="t"/>
          <a:lstStyle/>
          <a:p>
            <a:pPr marL="0" indent="0" algn="l">
              <a:lnSpc>
                <a:spcPts val="2050"/>
              </a:lnSpc>
              <a:buNone/>
            </a:pPr>
            <a:r>
              <a:rPr lang="en-US" sz="1650" b="1" dirty="0">
                <a:solidFill>
                  <a:srgbClr val="384653"/>
                </a:solidFill>
                <a:latin typeface="Barlow Bold" pitchFamily="34" charset="0"/>
                <a:ea typeface="Barlow Bold" pitchFamily="34" charset="-122"/>
                <a:cs typeface="Barlow Bold" pitchFamily="34" charset="-120"/>
              </a:rPr>
              <a:t>Automated Monitoring Tools</a:t>
            </a:r>
            <a:endParaRPr lang="en-US" sz="1650" dirty="0"/>
          </a:p>
        </p:txBody>
      </p:sp>
      <p:sp>
        <p:nvSpPr>
          <p:cNvPr id="18" name="Text 11"/>
          <p:cNvSpPr/>
          <p:nvPr/>
        </p:nvSpPr>
        <p:spPr>
          <a:xfrm>
            <a:off x="12102703" y="3476030"/>
            <a:ext cx="1882497" cy="2850356"/>
          </a:xfrm>
          <a:prstGeom prst="rect">
            <a:avLst/>
          </a:prstGeom>
          <a:noFill/>
          <a:ln/>
        </p:spPr>
        <p:txBody>
          <a:bodyPr wrap="square" lIns="0" tIns="0" rIns="0" bIns="0" rtlCol="0" anchor="t"/>
          <a:lstStyle/>
          <a:p>
            <a:pPr marL="0" indent="0" algn="l">
              <a:lnSpc>
                <a:spcPts val="1850"/>
              </a:lnSpc>
              <a:buNone/>
            </a:pPr>
            <a:r>
              <a:rPr lang="en-US" sz="1250" dirty="0">
                <a:solidFill>
                  <a:srgbClr val="384653"/>
                </a:solidFill>
                <a:latin typeface="Montserrat" pitchFamily="34" charset="0"/>
                <a:ea typeface="Montserrat" pitchFamily="34" charset="-122"/>
                <a:cs typeface="Montserrat" pitchFamily="34" charset="-120"/>
              </a:rPr>
              <a:t>Leverage automation to continuously monitor compliance status, detect configuration drift, and identify gaps in real-time. Automated tools reduce manual effort, improve accuracy, and enable rapid response to compliance deviations.</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58309" y="731044"/>
            <a:ext cx="7594402" cy="623530"/>
          </a:xfrm>
          <a:prstGeom prst="rect">
            <a:avLst/>
          </a:prstGeom>
          <a:noFill/>
          <a:ln/>
        </p:spPr>
        <p:txBody>
          <a:bodyPr wrap="none" lIns="0" tIns="0" rIns="0" bIns="0" rtlCol="0" anchor="t"/>
          <a:lstStyle/>
          <a:p>
            <a:pPr marL="0" indent="0" algn="l">
              <a:lnSpc>
                <a:spcPts val="4900"/>
              </a:lnSpc>
              <a:buNone/>
            </a:pPr>
            <a:r>
              <a:rPr lang="en-US" sz="3900" b="1" dirty="0">
                <a:solidFill>
                  <a:srgbClr val="2E3C4E"/>
                </a:solidFill>
                <a:latin typeface="Barlow Bold" pitchFamily="34" charset="0"/>
                <a:ea typeface="Barlow Bold" pitchFamily="34" charset="-122"/>
                <a:cs typeface="Barlow Bold" pitchFamily="34" charset="-120"/>
              </a:rPr>
              <a:t>Challenges in Security Compliance</a:t>
            </a:r>
            <a:endParaRPr lang="en-US" sz="3900" dirty="0"/>
          </a:p>
        </p:txBody>
      </p:sp>
      <p:sp>
        <p:nvSpPr>
          <p:cNvPr id="3" name="Text 1"/>
          <p:cNvSpPr/>
          <p:nvPr/>
        </p:nvSpPr>
        <p:spPr>
          <a:xfrm>
            <a:off x="758309" y="1733669"/>
            <a:ext cx="13113782" cy="606504"/>
          </a:xfrm>
          <a:prstGeom prst="rect">
            <a:avLst/>
          </a:prstGeom>
          <a:noFill/>
          <a:ln/>
        </p:spPr>
        <p:txBody>
          <a:bodyPr wrap="square" lIns="0" tIns="0" rIns="0" bIns="0" rtlCol="0" anchor="t"/>
          <a:lstStyle/>
          <a:p>
            <a:pPr marL="0" indent="0" algn="l">
              <a:lnSpc>
                <a:spcPts val="2350"/>
              </a:lnSpc>
              <a:buNone/>
            </a:pPr>
            <a:r>
              <a:rPr lang="en-US" sz="1450" dirty="0">
                <a:solidFill>
                  <a:srgbClr val="384653"/>
                </a:solidFill>
                <a:latin typeface="Montserrat" pitchFamily="34" charset="0"/>
                <a:ea typeface="Montserrat" pitchFamily="34" charset="-122"/>
                <a:cs typeface="Montserrat" pitchFamily="34" charset="-120"/>
              </a:rPr>
              <a:t>Organizations face numerous obstacles in their compliance journey. Understanding these challenges is the first step toward developing effective strategies to overcome them and maintain robust security postures.</a:t>
            </a:r>
            <a:endParaRPr lang="en-US" sz="1450" dirty="0"/>
          </a:p>
        </p:txBody>
      </p:sp>
      <p:pic>
        <p:nvPicPr>
          <p:cNvPr id="4" name="Image 0" descr="preencoded.png"/>
          <p:cNvPicPr>
            <a:picLocks noChangeAspect="1"/>
          </p:cNvPicPr>
          <p:nvPr/>
        </p:nvPicPr>
        <p:blipFill>
          <a:blip r:embed="rId3"/>
          <a:stretch>
            <a:fillRect/>
          </a:stretch>
        </p:blipFill>
        <p:spPr>
          <a:xfrm>
            <a:off x="758309" y="2553414"/>
            <a:ext cx="6556891" cy="758309"/>
          </a:xfrm>
          <a:prstGeom prst="rect">
            <a:avLst/>
          </a:prstGeom>
        </p:spPr>
      </p:pic>
      <p:sp>
        <p:nvSpPr>
          <p:cNvPr id="5" name="Text 2"/>
          <p:cNvSpPr/>
          <p:nvPr/>
        </p:nvSpPr>
        <p:spPr>
          <a:xfrm>
            <a:off x="947857" y="3501271"/>
            <a:ext cx="2494359" cy="311706"/>
          </a:xfrm>
          <a:prstGeom prst="rect">
            <a:avLst/>
          </a:prstGeom>
          <a:noFill/>
          <a:ln/>
        </p:spPr>
        <p:txBody>
          <a:bodyPr wrap="none" lIns="0" tIns="0" rIns="0" bIns="0" rtlCol="0" anchor="t"/>
          <a:lstStyle/>
          <a:p>
            <a:pPr marL="0" indent="0" algn="l">
              <a:lnSpc>
                <a:spcPts val="2450"/>
              </a:lnSpc>
              <a:buNone/>
            </a:pPr>
            <a:r>
              <a:rPr lang="en-US" sz="1950" b="1" dirty="0">
                <a:solidFill>
                  <a:srgbClr val="384653"/>
                </a:solidFill>
                <a:latin typeface="Barlow Bold" pitchFamily="34" charset="0"/>
                <a:ea typeface="Barlow Bold" pitchFamily="34" charset="-122"/>
                <a:cs typeface="Barlow Bold" pitchFamily="34" charset="-120"/>
              </a:rPr>
              <a:t>Complex Regulations</a:t>
            </a:r>
            <a:endParaRPr lang="en-US" sz="1950" dirty="0"/>
          </a:p>
        </p:txBody>
      </p:sp>
      <p:sp>
        <p:nvSpPr>
          <p:cNvPr id="6" name="Text 3"/>
          <p:cNvSpPr/>
          <p:nvPr/>
        </p:nvSpPr>
        <p:spPr>
          <a:xfrm>
            <a:off x="947857" y="3926681"/>
            <a:ext cx="6177796" cy="909757"/>
          </a:xfrm>
          <a:prstGeom prst="rect">
            <a:avLst/>
          </a:prstGeom>
          <a:noFill/>
          <a:ln/>
        </p:spPr>
        <p:txBody>
          <a:bodyPr wrap="square" lIns="0" tIns="0" rIns="0" bIns="0" rtlCol="0" anchor="t"/>
          <a:lstStyle/>
          <a:p>
            <a:pPr marL="0" indent="0" algn="l">
              <a:lnSpc>
                <a:spcPts val="2350"/>
              </a:lnSpc>
              <a:buNone/>
            </a:pPr>
            <a:r>
              <a:rPr lang="en-US" sz="1450" dirty="0">
                <a:solidFill>
                  <a:srgbClr val="384653"/>
                </a:solidFill>
                <a:latin typeface="Montserrat" pitchFamily="34" charset="0"/>
                <a:ea typeface="Montserrat" pitchFamily="34" charset="-122"/>
                <a:cs typeface="Montserrat" pitchFamily="34" charset="-120"/>
              </a:rPr>
              <a:t>Navigating overlapping and sometimes conflicting regulations across different regions, industries, and jurisdictions creates significant complexity for multinational organizations.</a:t>
            </a:r>
            <a:endParaRPr lang="en-US" sz="1450" dirty="0"/>
          </a:p>
        </p:txBody>
      </p:sp>
      <p:pic>
        <p:nvPicPr>
          <p:cNvPr id="7" name="Image 1" descr="preencoded.png"/>
          <p:cNvPicPr>
            <a:picLocks noChangeAspect="1"/>
          </p:cNvPicPr>
          <p:nvPr/>
        </p:nvPicPr>
        <p:blipFill>
          <a:blip r:embed="rId4"/>
          <a:stretch>
            <a:fillRect/>
          </a:stretch>
        </p:blipFill>
        <p:spPr>
          <a:xfrm>
            <a:off x="7315200" y="2553414"/>
            <a:ext cx="6556891" cy="758309"/>
          </a:xfrm>
          <a:prstGeom prst="rect">
            <a:avLst/>
          </a:prstGeom>
        </p:spPr>
      </p:pic>
      <p:sp>
        <p:nvSpPr>
          <p:cNvPr id="8" name="Text 4"/>
          <p:cNvSpPr/>
          <p:nvPr/>
        </p:nvSpPr>
        <p:spPr>
          <a:xfrm>
            <a:off x="7504748" y="3501271"/>
            <a:ext cx="2494359" cy="311706"/>
          </a:xfrm>
          <a:prstGeom prst="rect">
            <a:avLst/>
          </a:prstGeom>
          <a:noFill/>
          <a:ln/>
        </p:spPr>
        <p:txBody>
          <a:bodyPr wrap="none" lIns="0" tIns="0" rIns="0" bIns="0" rtlCol="0" anchor="t"/>
          <a:lstStyle/>
          <a:p>
            <a:pPr marL="0" indent="0" algn="l">
              <a:lnSpc>
                <a:spcPts val="2450"/>
              </a:lnSpc>
              <a:buNone/>
            </a:pPr>
            <a:r>
              <a:rPr lang="en-US" sz="1950" b="1" dirty="0">
                <a:solidFill>
                  <a:srgbClr val="384653"/>
                </a:solidFill>
                <a:latin typeface="Barlow Bold" pitchFamily="34" charset="0"/>
                <a:ea typeface="Barlow Bold" pitchFamily="34" charset="-122"/>
                <a:cs typeface="Barlow Bold" pitchFamily="34" charset="-120"/>
              </a:rPr>
              <a:t>Evolving Threats</a:t>
            </a:r>
            <a:endParaRPr lang="en-US" sz="1950" dirty="0"/>
          </a:p>
        </p:txBody>
      </p:sp>
      <p:sp>
        <p:nvSpPr>
          <p:cNvPr id="9" name="Text 5"/>
          <p:cNvSpPr/>
          <p:nvPr/>
        </p:nvSpPr>
        <p:spPr>
          <a:xfrm>
            <a:off x="7504748" y="3926681"/>
            <a:ext cx="6177796" cy="909757"/>
          </a:xfrm>
          <a:prstGeom prst="rect">
            <a:avLst/>
          </a:prstGeom>
          <a:noFill/>
          <a:ln/>
        </p:spPr>
        <p:txBody>
          <a:bodyPr wrap="square" lIns="0" tIns="0" rIns="0" bIns="0" rtlCol="0" anchor="t"/>
          <a:lstStyle/>
          <a:p>
            <a:pPr marL="0" indent="0" algn="l">
              <a:lnSpc>
                <a:spcPts val="2350"/>
              </a:lnSpc>
              <a:buNone/>
            </a:pPr>
            <a:r>
              <a:rPr lang="en-US" sz="1450" dirty="0">
                <a:solidFill>
                  <a:srgbClr val="384653"/>
                </a:solidFill>
                <a:latin typeface="Montserrat" pitchFamily="34" charset="0"/>
                <a:ea typeface="Montserrat" pitchFamily="34" charset="-122"/>
                <a:cs typeface="Montserrat" pitchFamily="34" charset="-120"/>
              </a:rPr>
              <a:t>Keeping pace with rapidly evolving cyber threats and frequent regulatory updates requires constant vigilance, resource allocation, and program adjustments.</a:t>
            </a:r>
            <a:endParaRPr lang="en-US" sz="1450" dirty="0"/>
          </a:p>
        </p:txBody>
      </p:sp>
      <p:pic>
        <p:nvPicPr>
          <p:cNvPr id="10" name="Image 2" descr="preencoded.png"/>
          <p:cNvPicPr>
            <a:picLocks noChangeAspect="1"/>
          </p:cNvPicPr>
          <p:nvPr/>
        </p:nvPicPr>
        <p:blipFill>
          <a:blip r:embed="rId5"/>
          <a:stretch>
            <a:fillRect/>
          </a:stretch>
        </p:blipFill>
        <p:spPr>
          <a:xfrm>
            <a:off x="758309" y="5025985"/>
            <a:ext cx="6556891" cy="758309"/>
          </a:xfrm>
          <a:prstGeom prst="rect">
            <a:avLst/>
          </a:prstGeom>
        </p:spPr>
      </p:pic>
      <p:sp>
        <p:nvSpPr>
          <p:cNvPr id="11" name="Text 6"/>
          <p:cNvSpPr/>
          <p:nvPr/>
        </p:nvSpPr>
        <p:spPr>
          <a:xfrm>
            <a:off x="947857" y="5973842"/>
            <a:ext cx="2494359" cy="311706"/>
          </a:xfrm>
          <a:prstGeom prst="rect">
            <a:avLst/>
          </a:prstGeom>
          <a:noFill/>
          <a:ln/>
        </p:spPr>
        <p:txBody>
          <a:bodyPr wrap="none" lIns="0" tIns="0" rIns="0" bIns="0" rtlCol="0" anchor="t"/>
          <a:lstStyle/>
          <a:p>
            <a:pPr marL="0" indent="0" algn="l">
              <a:lnSpc>
                <a:spcPts val="2450"/>
              </a:lnSpc>
              <a:buNone/>
            </a:pPr>
            <a:r>
              <a:rPr lang="en-US" sz="1950" b="1" dirty="0">
                <a:solidFill>
                  <a:srgbClr val="384653"/>
                </a:solidFill>
                <a:latin typeface="Barlow Bold" pitchFamily="34" charset="0"/>
                <a:ea typeface="Barlow Bold" pitchFamily="34" charset="-122"/>
                <a:cs typeface="Barlow Bold" pitchFamily="34" charset="-120"/>
              </a:rPr>
              <a:t>Remote Work</a:t>
            </a:r>
            <a:endParaRPr lang="en-US" sz="1950" dirty="0"/>
          </a:p>
        </p:txBody>
      </p:sp>
      <p:sp>
        <p:nvSpPr>
          <p:cNvPr id="12" name="Text 7"/>
          <p:cNvSpPr/>
          <p:nvPr/>
        </p:nvSpPr>
        <p:spPr>
          <a:xfrm>
            <a:off x="947857" y="6399252"/>
            <a:ext cx="6177796" cy="909757"/>
          </a:xfrm>
          <a:prstGeom prst="rect">
            <a:avLst/>
          </a:prstGeom>
          <a:noFill/>
          <a:ln/>
        </p:spPr>
        <p:txBody>
          <a:bodyPr wrap="square" lIns="0" tIns="0" rIns="0" bIns="0" rtlCol="0" anchor="t"/>
          <a:lstStyle/>
          <a:p>
            <a:pPr marL="0" indent="0" algn="l">
              <a:lnSpc>
                <a:spcPts val="2350"/>
              </a:lnSpc>
              <a:buNone/>
            </a:pPr>
            <a:r>
              <a:rPr lang="en-US" sz="1450" dirty="0">
                <a:solidFill>
                  <a:srgbClr val="384653"/>
                </a:solidFill>
                <a:latin typeface="Montserrat" pitchFamily="34" charset="0"/>
                <a:ea typeface="Montserrat" pitchFamily="34" charset="-122"/>
                <a:cs typeface="Montserrat" pitchFamily="34" charset="-120"/>
              </a:rPr>
              <a:t>Managing compliance across distributed, remote, and hybrid work environments introduces new risks around device security, network access, and data protection.</a:t>
            </a:r>
            <a:endParaRPr lang="en-US" sz="1450" dirty="0"/>
          </a:p>
        </p:txBody>
      </p:sp>
      <p:pic>
        <p:nvPicPr>
          <p:cNvPr id="13" name="Image 3" descr="preencoded.png"/>
          <p:cNvPicPr>
            <a:picLocks noChangeAspect="1"/>
          </p:cNvPicPr>
          <p:nvPr/>
        </p:nvPicPr>
        <p:blipFill>
          <a:blip r:embed="rId6"/>
          <a:stretch>
            <a:fillRect/>
          </a:stretch>
        </p:blipFill>
        <p:spPr>
          <a:xfrm>
            <a:off x="7315200" y="5025985"/>
            <a:ext cx="6556891" cy="758309"/>
          </a:xfrm>
          <a:prstGeom prst="rect">
            <a:avLst/>
          </a:prstGeom>
        </p:spPr>
      </p:pic>
      <p:sp>
        <p:nvSpPr>
          <p:cNvPr id="14" name="Text 8"/>
          <p:cNvSpPr/>
          <p:nvPr/>
        </p:nvSpPr>
        <p:spPr>
          <a:xfrm>
            <a:off x="7504748" y="5973842"/>
            <a:ext cx="2494359" cy="311706"/>
          </a:xfrm>
          <a:prstGeom prst="rect">
            <a:avLst/>
          </a:prstGeom>
          <a:noFill/>
          <a:ln/>
        </p:spPr>
        <p:txBody>
          <a:bodyPr wrap="none" lIns="0" tIns="0" rIns="0" bIns="0" rtlCol="0" anchor="t"/>
          <a:lstStyle/>
          <a:p>
            <a:pPr marL="0" indent="0" algn="l">
              <a:lnSpc>
                <a:spcPts val="2450"/>
              </a:lnSpc>
              <a:buNone/>
            </a:pPr>
            <a:r>
              <a:rPr lang="en-US" sz="1950" b="1" dirty="0">
                <a:solidFill>
                  <a:srgbClr val="384653"/>
                </a:solidFill>
                <a:latin typeface="Barlow Bold" pitchFamily="34" charset="0"/>
                <a:ea typeface="Barlow Bold" pitchFamily="34" charset="-122"/>
                <a:cs typeface="Barlow Bold" pitchFamily="34" charset="-120"/>
              </a:rPr>
              <a:t>Coordination</a:t>
            </a:r>
            <a:endParaRPr lang="en-US" sz="1950" dirty="0"/>
          </a:p>
        </p:txBody>
      </p:sp>
      <p:sp>
        <p:nvSpPr>
          <p:cNvPr id="15" name="Text 9"/>
          <p:cNvSpPr/>
          <p:nvPr/>
        </p:nvSpPr>
        <p:spPr>
          <a:xfrm>
            <a:off x="7504748" y="6399252"/>
            <a:ext cx="6177796" cy="909757"/>
          </a:xfrm>
          <a:prstGeom prst="rect">
            <a:avLst/>
          </a:prstGeom>
          <a:noFill/>
          <a:ln/>
        </p:spPr>
        <p:txBody>
          <a:bodyPr wrap="square" lIns="0" tIns="0" rIns="0" bIns="0" rtlCol="0" anchor="t"/>
          <a:lstStyle/>
          <a:p>
            <a:pPr marL="0" indent="0" algn="l">
              <a:lnSpc>
                <a:spcPts val="2350"/>
              </a:lnSpc>
              <a:buNone/>
            </a:pPr>
            <a:r>
              <a:rPr lang="en-US" sz="1450" dirty="0">
                <a:solidFill>
                  <a:srgbClr val="384653"/>
                </a:solidFill>
                <a:latin typeface="Montserrat" pitchFamily="34" charset="0"/>
                <a:ea typeface="Montserrat" pitchFamily="34" charset="-122"/>
                <a:cs typeface="Montserrat" pitchFamily="34" charset="-120"/>
              </a:rPr>
              <a:t>Ensuring consistent compliance across internal departments, external partners, and third-party vendors requires clear communication, accountability, and governance structures.</a:t>
            </a:r>
            <a:endParaRPr lang="en-US" sz="14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758309" y="780693"/>
            <a:ext cx="1752957" cy="356235"/>
          </a:xfrm>
          <a:prstGeom prst="roundRect">
            <a:avLst>
              <a:gd name="adj" fmla="val 63861"/>
            </a:avLst>
          </a:prstGeom>
          <a:solidFill>
            <a:srgbClr val="D4E9F7"/>
          </a:solidFill>
          <a:ln/>
        </p:spPr>
      </p:sp>
      <p:pic>
        <p:nvPicPr>
          <p:cNvPr id="3"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72014" y="882968"/>
            <a:ext cx="151567" cy="151567"/>
          </a:xfrm>
          <a:prstGeom prst="rect">
            <a:avLst/>
          </a:prstGeom>
        </p:spPr>
      </p:pic>
      <p:sp>
        <p:nvSpPr>
          <p:cNvPr id="4" name="Text 1"/>
          <p:cNvSpPr/>
          <p:nvPr/>
        </p:nvSpPr>
        <p:spPr>
          <a:xfrm>
            <a:off x="1099304" y="837486"/>
            <a:ext cx="1298258" cy="242649"/>
          </a:xfrm>
          <a:prstGeom prst="rect">
            <a:avLst/>
          </a:prstGeom>
          <a:noFill/>
          <a:ln/>
        </p:spPr>
        <p:txBody>
          <a:bodyPr wrap="none" lIns="0" tIns="0" rIns="0" bIns="0" rtlCol="0" anchor="t"/>
          <a:lstStyle/>
          <a:p>
            <a:pPr marL="0" indent="0" algn="l">
              <a:lnSpc>
                <a:spcPts val="1900"/>
              </a:lnSpc>
              <a:buNone/>
            </a:pPr>
            <a:r>
              <a:rPr lang="en-US" sz="1150" dirty="0">
                <a:solidFill>
                  <a:srgbClr val="384653"/>
                </a:solidFill>
                <a:latin typeface="Montserrat" pitchFamily="34" charset="0"/>
                <a:ea typeface="Montserrat" pitchFamily="34" charset="-122"/>
                <a:cs typeface="Montserrat" pitchFamily="34" charset="-120"/>
              </a:rPr>
              <a:t>KEY TAKEAWAYS</a:t>
            </a:r>
            <a:endParaRPr lang="en-US" sz="1150" dirty="0"/>
          </a:p>
        </p:txBody>
      </p:sp>
      <p:sp>
        <p:nvSpPr>
          <p:cNvPr id="5" name="Text 2"/>
          <p:cNvSpPr/>
          <p:nvPr/>
        </p:nvSpPr>
        <p:spPr>
          <a:xfrm>
            <a:off x="758309" y="1212652"/>
            <a:ext cx="11054596" cy="623530"/>
          </a:xfrm>
          <a:prstGeom prst="rect">
            <a:avLst/>
          </a:prstGeom>
          <a:noFill/>
          <a:ln/>
        </p:spPr>
        <p:txBody>
          <a:bodyPr wrap="none" lIns="0" tIns="0" rIns="0" bIns="0" rtlCol="0" anchor="t"/>
          <a:lstStyle/>
          <a:p>
            <a:pPr marL="0" indent="0" algn="l">
              <a:lnSpc>
                <a:spcPts val="4900"/>
              </a:lnSpc>
              <a:buNone/>
            </a:pPr>
            <a:r>
              <a:rPr lang="en-US" sz="3900" b="1" dirty="0">
                <a:solidFill>
                  <a:srgbClr val="2E3C4E"/>
                </a:solidFill>
                <a:latin typeface="Barlow Bold" pitchFamily="34" charset="0"/>
                <a:ea typeface="Barlow Bold" pitchFamily="34" charset="-122"/>
                <a:cs typeface="Barlow Bold" pitchFamily="34" charset="-120"/>
              </a:rPr>
              <a:t>Compliance as a Foundation for Security and Trust</a:t>
            </a:r>
            <a:endParaRPr lang="en-US" sz="3900" dirty="0"/>
          </a:p>
        </p:txBody>
      </p:sp>
      <p:sp>
        <p:nvSpPr>
          <p:cNvPr id="6" name="Text 3"/>
          <p:cNvSpPr/>
          <p:nvPr/>
        </p:nvSpPr>
        <p:spPr>
          <a:xfrm>
            <a:off x="758309" y="2120503"/>
            <a:ext cx="13113782" cy="606504"/>
          </a:xfrm>
          <a:prstGeom prst="rect">
            <a:avLst/>
          </a:prstGeom>
          <a:noFill/>
          <a:ln/>
        </p:spPr>
        <p:txBody>
          <a:bodyPr wrap="square" lIns="0" tIns="0" rIns="0" bIns="0" rtlCol="0" anchor="t"/>
          <a:lstStyle/>
          <a:p>
            <a:pPr marL="0" indent="0" algn="l">
              <a:lnSpc>
                <a:spcPts val="2350"/>
              </a:lnSpc>
              <a:buNone/>
            </a:pPr>
            <a:r>
              <a:rPr lang="en-US" sz="1450" dirty="0">
                <a:solidFill>
                  <a:srgbClr val="384653"/>
                </a:solidFill>
                <a:latin typeface="Montserrat" pitchFamily="34" charset="0"/>
                <a:ea typeface="Montserrat" pitchFamily="34" charset="-122"/>
                <a:cs typeface="Montserrat" pitchFamily="34" charset="-120"/>
              </a:rPr>
              <a:t>Security compliance represents far more than a regulatory checkbox—it's a strategic investment in your organization's resilience, reputation, and long-term success in the digital economy.</a:t>
            </a:r>
            <a:endParaRPr lang="en-US" sz="1450" dirty="0"/>
          </a:p>
        </p:txBody>
      </p:sp>
      <p:sp>
        <p:nvSpPr>
          <p:cNvPr id="7" name="Shape 4"/>
          <p:cNvSpPr/>
          <p:nvPr/>
        </p:nvSpPr>
        <p:spPr>
          <a:xfrm>
            <a:off x="758309" y="2940248"/>
            <a:ext cx="4244816" cy="2639258"/>
          </a:xfrm>
          <a:prstGeom prst="roundRect">
            <a:avLst>
              <a:gd name="adj" fmla="val 10775"/>
            </a:avLst>
          </a:prstGeom>
          <a:solidFill>
            <a:srgbClr val="D4E9F7"/>
          </a:solidFill>
          <a:ln w="7620">
            <a:solidFill>
              <a:srgbClr val="BACFDD"/>
            </a:solidFill>
            <a:prstDash val="solid"/>
          </a:ln>
        </p:spPr>
      </p:sp>
      <p:sp>
        <p:nvSpPr>
          <p:cNvPr id="8" name="Text 5"/>
          <p:cNvSpPr/>
          <p:nvPr/>
        </p:nvSpPr>
        <p:spPr>
          <a:xfrm>
            <a:off x="955477" y="3137416"/>
            <a:ext cx="2494359" cy="311706"/>
          </a:xfrm>
          <a:prstGeom prst="rect">
            <a:avLst/>
          </a:prstGeom>
          <a:noFill/>
          <a:ln/>
        </p:spPr>
        <p:txBody>
          <a:bodyPr wrap="none" lIns="0" tIns="0" rIns="0" bIns="0" rtlCol="0" anchor="t"/>
          <a:lstStyle/>
          <a:p>
            <a:pPr marL="0" indent="0" algn="l">
              <a:lnSpc>
                <a:spcPts val="2450"/>
              </a:lnSpc>
              <a:buNone/>
            </a:pPr>
            <a:r>
              <a:rPr lang="en-US" sz="1950" b="1" dirty="0">
                <a:solidFill>
                  <a:srgbClr val="384653"/>
                </a:solidFill>
                <a:latin typeface="Barlow Bold" pitchFamily="34" charset="0"/>
                <a:ea typeface="Barlow Bold" pitchFamily="34" charset="-122"/>
                <a:cs typeface="Barlow Bold" pitchFamily="34" charset="-120"/>
              </a:rPr>
              <a:t>Essential Protection</a:t>
            </a:r>
            <a:endParaRPr lang="en-US" sz="1950" dirty="0"/>
          </a:p>
        </p:txBody>
      </p:sp>
      <p:sp>
        <p:nvSpPr>
          <p:cNvPr id="9" name="Text 6"/>
          <p:cNvSpPr/>
          <p:nvPr/>
        </p:nvSpPr>
        <p:spPr>
          <a:xfrm>
            <a:off x="955477" y="3562826"/>
            <a:ext cx="3850481" cy="1819513"/>
          </a:xfrm>
          <a:prstGeom prst="rect">
            <a:avLst/>
          </a:prstGeom>
          <a:noFill/>
          <a:ln/>
        </p:spPr>
        <p:txBody>
          <a:bodyPr wrap="square" lIns="0" tIns="0" rIns="0" bIns="0" rtlCol="0" anchor="t"/>
          <a:lstStyle/>
          <a:p>
            <a:pPr marL="0" indent="0" algn="l">
              <a:lnSpc>
                <a:spcPts val="2350"/>
              </a:lnSpc>
              <a:buNone/>
            </a:pPr>
            <a:r>
              <a:rPr lang="en-US" sz="1450" dirty="0">
                <a:solidFill>
                  <a:srgbClr val="384653"/>
                </a:solidFill>
                <a:latin typeface="Montserrat" pitchFamily="34" charset="0"/>
                <a:ea typeface="Montserrat" pitchFamily="34" charset="-122"/>
                <a:cs typeface="Montserrat" pitchFamily="34" charset="-120"/>
              </a:rPr>
              <a:t>Compliance is fundamental for protecting sensitive data, avoiding significant financial penalties, and maintaining customer confidence in an era of heightened privacy concerns and cyber threats.</a:t>
            </a:r>
            <a:endParaRPr lang="en-US" sz="1450" dirty="0"/>
          </a:p>
        </p:txBody>
      </p:sp>
      <p:sp>
        <p:nvSpPr>
          <p:cNvPr id="10" name="Shape 7"/>
          <p:cNvSpPr/>
          <p:nvPr/>
        </p:nvSpPr>
        <p:spPr>
          <a:xfrm>
            <a:off x="5192673" y="2940248"/>
            <a:ext cx="4244935" cy="2639258"/>
          </a:xfrm>
          <a:prstGeom prst="roundRect">
            <a:avLst>
              <a:gd name="adj" fmla="val 10775"/>
            </a:avLst>
          </a:prstGeom>
          <a:solidFill>
            <a:srgbClr val="D4E9F7"/>
          </a:solidFill>
          <a:ln w="7620">
            <a:solidFill>
              <a:srgbClr val="BACFDD"/>
            </a:solidFill>
            <a:prstDash val="solid"/>
          </a:ln>
        </p:spPr>
      </p:sp>
      <p:sp>
        <p:nvSpPr>
          <p:cNvPr id="11" name="Text 8"/>
          <p:cNvSpPr/>
          <p:nvPr/>
        </p:nvSpPr>
        <p:spPr>
          <a:xfrm>
            <a:off x="5389840" y="3137416"/>
            <a:ext cx="2494359" cy="311706"/>
          </a:xfrm>
          <a:prstGeom prst="rect">
            <a:avLst/>
          </a:prstGeom>
          <a:noFill/>
          <a:ln/>
        </p:spPr>
        <p:txBody>
          <a:bodyPr wrap="none" lIns="0" tIns="0" rIns="0" bIns="0" rtlCol="0" anchor="t"/>
          <a:lstStyle/>
          <a:p>
            <a:pPr marL="0" indent="0" algn="l">
              <a:lnSpc>
                <a:spcPts val="2450"/>
              </a:lnSpc>
              <a:buNone/>
            </a:pPr>
            <a:r>
              <a:rPr lang="en-US" sz="1950" b="1" dirty="0">
                <a:solidFill>
                  <a:srgbClr val="384653"/>
                </a:solidFill>
                <a:latin typeface="Barlow Bold" pitchFamily="34" charset="0"/>
                <a:ea typeface="Barlow Bold" pitchFamily="34" charset="-122"/>
                <a:cs typeface="Barlow Bold" pitchFamily="34" charset="-120"/>
              </a:rPr>
              <a:t>Continuous Journey</a:t>
            </a:r>
            <a:endParaRPr lang="en-US" sz="1950" dirty="0"/>
          </a:p>
        </p:txBody>
      </p:sp>
      <p:sp>
        <p:nvSpPr>
          <p:cNvPr id="12" name="Text 9"/>
          <p:cNvSpPr/>
          <p:nvPr/>
        </p:nvSpPr>
        <p:spPr>
          <a:xfrm>
            <a:off x="5389840" y="3562826"/>
            <a:ext cx="3850600" cy="1516261"/>
          </a:xfrm>
          <a:prstGeom prst="rect">
            <a:avLst/>
          </a:prstGeom>
          <a:noFill/>
          <a:ln/>
        </p:spPr>
        <p:txBody>
          <a:bodyPr wrap="square" lIns="0" tIns="0" rIns="0" bIns="0" rtlCol="0" anchor="t"/>
          <a:lstStyle/>
          <a:p>
            <a:pPr marL="0" indent="0" algn="l">
              <a:lnSpc>
                <a:spcPts val="2350"/>
              </a:lnSpc>
              <a:buNone/>
            </a:pPr>
            <a:r>
              <a:rPr lang="en-US" sz="1450" dirty="0">
                <a:solidFill>
                  <a:srgbClr val="384653"/>
                </a:solidFill>
                <a:latin typeface="Montserrat" pitchFamily="34" charset="0"/>
                <a:ea typeface="Montserrat" pitchFamily="34" charset="-122"/>
                <a:cs typeface="Montserrat" pitchFamily="34" charset="-120"/>
              </a:rPr>
              <a:t>Achieving compliance requires ongoing effort, cross-functional collaboration, and continuous adaptation to emerging risks, new regulations, and evolving business requirements.</a:t>
            </a:r>
            <a:endParaRPr lang="en-US" sz="1450" dirty="0"/>
          </a:p>
        </p:txBody>
      </p:sp>
      <p:sp>
        <p:nvSpPr>
          <p:cNvPr id="13" name="Shape 10"/>
          <p:cNvSpPr/>
          <p:nvPr/>
        </p:nvSpPr>
        <p:spPr>
          <a:xfrm>
            <a:off x="9627156" y="2940248"/>
            <a:ext cx="4244816" cy="2639258"/>
          </a:xfrm>
          <a:prstGeom prst="roundRect">
            <a:avLst>
              <a:gd name="adj" fmla="val 10775"/>
            </a:avLst>
          </a:prstGeom>
          <a:solidFill>
            <a:srgbClr val="D4E9F7"/>
          </a:solidFill>
          <a:ln w="7620">
            <a:solidFill>
              <a:srgbClr val="BACFDD"/>
            </a:solidFill>
            <a:prstDash val="solid"/>
          </a:ln>
        </p:spPr>
      </p:sp>
      <p:sp>
        <p:nvSpPr>
          <p:cNvPr id="14" name="Text 11"/>
          <p:cNvSpPr/>
          <p:nvPr/>
        </p:nvSpPr>
        <p:spPr>
          <a:xfrm>
            <a:off x="9824323" y="3137416"/>
            <a:ext cx="2592705" cy="311706"/>
          </a:xfrm>
          <a:prstGeom prst="rect">
            <a:avLst/>
          </a:prstGeom>
          <a:noFill/>
          <a:ln/>
        </p:spPr>
        <p:txBody>
          <a:bodyPr wrap="none" lIns="0" tIns="0" rIns="0" bIns="0" rtlCol="0" anchor="t"/>
          <a:lstStyle/>
          <a:p>
            <a:pPr marL="0" indent="0" algn="l">
              <a:lnSpc>
                <a:spcPts val="2450"/>
              </a:lnSpc>
              <a:buNone/>
            </a:pPr>
            <a:r>
              <a:rPr lang="en-US" sz="1950" b="1" dirty="0">
                <a:solidFill>
                  <a:srgbClr val="384653"/>
                </a:solidFill>
                <a:latin typeface="Barlow Bold" pitchFamily="34" charset="0"/>
                <a:ea typeface="Barlow Bold" pitchFamily="34" charset="-122"/>
                <a:cs typeface="Barlow Bold" pitchFamily="34" charset="-120"/>
              </a:rPr>
              <a:t>Competitive Advantage</a:t>
            </a:r>
            <a:endParaRPr lang="en-US" sz="1950" dirty="0"/>
          </a:p>
        </p:txBody>
      </p:sp>
      <p:sp>
        <p:nvSpPr>
          <p:cNvPr id="15" name="Text 12"/>
          <p:cNvSpPr/>
          <p:nvPr/>
        </p:nvSpPr>
        <p:spPr>
          <a:xfrm>
            <a:off x="9824323" y="3562826"/>
            <a:ext cx="3850481" cy="1516261"/>
          </a:xfrm>
          <a:prstGeom prst="rect">
            <a:avLst/>
          </a:prstGeom>
          <a:noFill/>
          <a:ln/>
        </p:spPr>
        <p:txBody>
          <a:bodyPr wrap="square" lIns="0" tIns="0" rIns="0" bIns="0" rtlCol="0" anchor="t"/>
          <a:lstStyle/>
          <a:p>
            <a:pPr marL="0" indent="0" algn="l">
              <a:lnSpc>
                <a:spcPts val="2350"/>
              </a:lnSpc>
              <a:buNone/>
            </a:pPr>
            <a:r>
              <a:rPr lang="en-US" sz="1450" dirty="0">
                <a:solidFill>
                  <a:srgbClr val="384653"/>
                </a:solidFill>
                <a:latin typeface="Montserrat" pitchFamily="34" charset="0"/>
                <a:ea typeface="Montserrat" pitchFamily="34" charset="-122"/>
                <a:cs typeface="Montserrat" pitchFamily="34" charset="-120"/>
              </a:rPr>
              <a:t>Organizations that master compliance gain operational resilience, market differentiation, and a competitive edge as customers increasingly prioritize data security in their vendor selection.</a:t>
            </a:r>
            <a:endParaRPr lang="en-US" sz="1450" dirty="0"/>
          </a:p>
        </p:txBody>
      </p:sp>
      <p:sp>
        <p:nvSpPr>
          <p:cNvPr id="16" name="Shape 13"/>
          <p:cNvSpPr/>
          <p:nvPr/>
        </p:nvSpPr>
        <p:spPr>
          <a:xfrm>
            <a:off x="758309" y="5887529"/>
            <a:ext cx="13113782" cy="31313"/>
          </a:xfrm>
          <a:prstGeom prst="rect">
            <a:avLst/>
          </a:prstGeom>
          <a:solidFill>
            <a:srgbClr val="384653">
              <a:alpha val="50000"/>
            </a:srgbClr>
          </a:solidFill>
          <a:ln/>
        </p:spPr>
      </p:sp>
      <p:sp>
        <p:nvSpPr>
          <p:cNvPr id="17" name="Text 14"/>
          <p:cNvSpPr/>
          <p:nvPr/>
        </p:nvSpPr>
        <p:spPr>
          <a:xfrm>
            <a:off x="1042630" y="6416397"/>
            <a:ext cx="12829461" cy="748189"/>
          </a:xfrm>
          <a:prstGeom prst="rect">
            <a:avLst/>
          </a:prstGeom>
          <a:noFill/>
          <a:ln/>
        </p:spPr>
        <p:txBody>
          <a:bodyPr wrap="square" lIns="0" tIns="0" rIns="0" bIns="0" rtlCol="0" anchor="t"/>
          <a:lstStyle/>
          <a:p>
            <a:pPr marL="0" indent="0" algn="l">
              <a:lnSpc>
                <a:spcPts val="2900"/>
              </a:lnSpc>
              <a:buNone/>
            </a:pPr>
            <a:r>
              <a:rPr lang="en-US" sz="2350" b="1" dirty="0">
                <a:solidFill>
                  <a:srgbClr val="2E3C4E"/>
                </a:solidFill>
                <a:latin typeface="Barlow Bold" pitchFamily="34" charset="0"/>
                <a:ea typeface="Barlow Bold" pitchFamily="34" charset="-122"/>
                <a:cs typeface="Barlow Bold" pitchFamily="34" charset="-120"/>
              </a:rPr>
              <a:t>Start building your comprehensive compliance program today to safeguard your organization's future and establish trust as your competitive differentiator.</a:t>
            </a:r>
            <a:endParaRPr lang="en-US" sz="2350" dirty="0"/>
          </a:p>
        </p:txBody>
      </p:sp>
      <p:sp>
        <p:nvSpPr>
          <p:cNvPr id="18" name="Shape 15"/>
          <p:cNvSpPr/>
          <p:nvPr/>
        </p:nvSpPr>
        <p:spPr>
          <a:xfrm>
            <a:off x="758309" y="6132076"/>
            <a:ext cx="22860" cy="1316831"/>
          </a:xfrm>
          <a:prstGeom prst="rect">
            <a:avLst/>
          </a:prstGeom>
          <a:solidFill>
            <a:srgbClr val="75BAE6"/>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TotalTime>
  <Words>1428</Words>
  <Application>Microsoft Office PowerPoint</Application>
  <PresentationFormat>Custom</PresentationFormat>
  <Paragraphs>116</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Barlow Bold</vt:lpstr>
      <vt:lpstr>Montserrat</vt:lpstr>
      <vt:lpstr>Barlow Light</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shrishanth battu</cp:lastModifiedBy>
  <cp:revision>2</cp:revision>
  <dcterms:created xsi:type="dcterms:W3CDTF">2026-02-14T13:20:08Z</dcterms:created>
  <dcterms:modified xsi:type="dcterms:W3CDTF">2026-02-14T13:24:53Z</dcterms:modified>
</cp:coreProperties>
</file>