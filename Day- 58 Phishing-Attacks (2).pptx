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14630400" cy="8229600"/>
  <p:notesSz cx="8229600" cy="14630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font" Target="fonts/font4.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font" Target="fonts/font5.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99240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 Id="rId9"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13.svg"/></Relationships>
</file>

<file path=ppt/slides/_rels/slide6.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slides/_rels/slide7.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23.svg"/><Relationship Id="rId5" Type="http://schemas.openxmlformats.org/officeDocument/2006/relationships/image" Target="../media/image22.png"/><Relationship Id="rId10" Type="http://schemas.openxmlformats.org/officeDocument/2006/relationships/image" Target="../media/image27.svg"/><Relationship Id="rId4" Type="http://schemas.openxmlformats.org/officeDocument/2006/relationships/image" Target="../media/image21.svg"/><Relationship Id="rId9" Type="http://schemas.openxmlformats.org/officeDocument/2006/relationships/image" Target="../media/image26.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32.svg"/><Relationship Id="rId3" Type="http://schemas.openxmlformats.org/officeDocument/2006/relationships/image" Target="../media/image28.png"/><Relationship Id="rId7" Type="http://schemas.openxmlformats.org/officeDocument/2006/relationships/image" Target="../media/image8.svg"/><Relationship Id="rId12" Type="http://schemas.openxmlformats.org/officeDocument/2006/relationships/image" Target="../media/image31.png"/><Relationship Id="rId17" Type="http://schemas.openxmlformats.org/officeDocument/2006/relationships/image" Target="../media/image36.svg"/><Relationship Id="rId2" Type="http://schemas.openxmlformats.org/officeDocument/2006/relationships/notesSlide" Target="../notesSlides/notesSlide11.xml"/><Relationship Id="rId16" Type="http://schemas.openxmlformats.org/officeDocument/2006/relationships/image" Target="../media/image35.png"/><Relationship Id="rId1" Type="http://schemas.openxmlformats.org/officeDocument/2006/relationships/slideLayout" Target="../slideLayouts/slideLayout12.xml"/><Relationship Id="rId6" Type="http://schemas.openxmlformats.org/officeDocument/2006/relationships/image" Target="../media/image7.png"/><Relationship Id="rId11" Type="http://schemas.openxmlformats.org/officeDocument/2006/relationships/image" Target="../media/image30.svg"/><Relationship Id="rId5" Type="http://schemas.openxmlformats.org/officeDocument/2006/relationships/image" Target="../media/image6.svg"/><Relationship Id="rId15" Type="http://schemas.openxmlformats.org/officeDocument/2006/relationships/image" Target="../media/image34.svg"/><Relationship Id="rId10" Type="http://schemas.openxmlformats.org/officeDocument/2006/relationships/image" Target="../media/image29.png"/><Relationship Id="rId4" Type="http://schemas.openxmlformats.org/officeDocument/2006/relationships/image" Target="../media/image5.png"/><Relationship Id="rId9" Type="http://schemas.openxmlformats.org/officeDocument/2006/relationships/image" Target="../media/image23.svg"/><Relationship Id="rId14" Type="http://schemas.openxmlformats.org/officeDocument/2006/relationships/image" Target="../media/image33.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5.xml"/><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8" Type="http://schemas.openxmlformats.org/officeDocument/2006/relationships/image" Target="../media/image43.svg"/><Relationship Id="rId3" Type="http://schemas.openxmlformats.org/officeDocument/2006/relationships/image" Target="../media/image38.png"/><Relationship Id="rId7" Type="http://schemas.openxmlformats.org/officeDocument/2006/relationships/image" Target="../media/image42.png"/><Relationship Id="rId12" Type="http://schemas.openxmlformats.org/officeDocument/2006/relationships/image" Target="../media/image47.svg"/><Relationship Id="rId2" Type="http://schemas.openxmlformats.org/officeDocument/2006/relationships/notesSlide" Target="../notesSlides/notesSlide16.xml"/><Relationship Id="rId1" Type="http://schemas.openxmlformats.org/officeDocument/2006/relationships/slideLayout" Target="../slideLayouts/slideLayout17.xml"/><Relationship Id="rId6" Type="http://schemas.openxmlformats.org/officeDocument/2006/relationships/image" Target="../media/image41.svg"/><Relationship Id="rId11" Type="http://schemas.openxmlformats.org/officeDocument/2006/relationships/image" Target="../media/image46.png"/><Relationship Id="rId5" Type="http://schemas.openxmlformats.org/officeDocument/2006/relationships/image" Target="../media/image40.png"/><Relationship Id="rId10" Type="http://schemas.openxmlformats.org/officeDocument/2006/relationships/image" Target="../media/image45.svg"/><Relationship Id="rId4" Type="http://schemas.openxmlformats.org/officeDocument/2006/relationships/image" Target="../media/image39.svg"/><Relationship Id="rId9" Type="http://schemas.openxmlformats.org/officeDocument/2006/relationships/image" Target="../media/image44.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image" Target="../media/image54.svg"/><Relationship Id="rId3" Type="http://schemas.openxmlformats.org/officeDocument/2006/relationships/image" Target="../media/image48.png"/><Relationship Id="rId7" Type="http://schemas.openxmlformats.org/officeDocument/2006/relationships/image" Target="../media/image50.svg"/><Relationship Id="rId12" Type="http://schemas.openxmlformats.org/officeDocument/2006/relationships/image" Target="../media/image53.png"/><Relationship Id="rId17" Type="http://schemas.openxmlformats.org/officeDocument/2006/relationships/image" Target="../media/image58.svg"/><Relationship Id="rId2" Type="http://schemas.openxmlformats.org/officeDocument/2006/relationships/notesSlide" Target="../notesSlides/notesSlide18.xml"/><Relationship Id="rId16" Type="http://schemas.openxmlformats.org/officeDocument/2006/relationships/image" Target="../media/image57.png"/><Relationship Id="rId1" Type="http://schemas.openxmlformats.org/officeDocument/2006/relationships/slideLayout" Target="../slideLayouts/slideLayout19.xml"/><Relationship Id="rId6" Type="http://schemas.openxmlformats.org/officeDocument/2006/relationships/image" Target="../media/image49.png"/><Relationship Id="rId11" Type="http://schemas.openxmlformats.org/officeDocument/2006/relationships/image" Target="../media/image52.svg"/><Relationship Id="rId5" Type="http://schemas.openxmlformats.org/officeDocument/2006/relationships/image" Target="../media/image6.svg"/><Relationship Id="rId15" Type="http://schemas.openxmlformats.org/officeDocument/2006/relationships/image" Target="../media/image56.svg"/><Relationship Id="rId10" Type="http://schemas.openxmlformats.org/officeDocument/2006/relationships/image" Target="../media/image51.png"/><Relationship Id="rId4" Type="http://schemas.openxmlformats.org/officeDocument/2006/relationships/image" Target="../media/image5.png"/><Relationship Id="rId9" Type="http://schemas.openxmlformats.org/officeDocument/2006/relationships/image" Target="../media/image43.svg"/><Relationship Id="rId14" Type="http://schemas.openxmlformats.org/officeDocument/2006/relationships/image" Target="../media/image55.png"/></Relationships>
</file>

<file path=ppt/slides/_rels/slide19.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67.png"/><Relationship Id="rId18" Type="http://schemas.openxmlformats.org/officeDocument/2006/relationships/image" Target="../media/image25.svg"/><Relationship Id="rId3" Type="http://schemas.openxmlformats.org/officeDocument/2006/relationships/image" Target="../media/image59.png"/><Relationship Id="rId7" Type="http://schemas.openxmlformats.org/officeDocument/2006/relationships/image" Target="../media/image5.png"/><Relationship Id="rId12" Type="http://schemas.openxmlformats.org/officeDocument/2006/relationships/image" Target="../media/image66.svg"/><Relationship Id="rId17" Type="http://schemas.openxmlformats.org/officeDocument/2006/relationships/image" Target="../media/image24.png"/><Relationship Id="rId2" Type="http://schemas.openxmlformats.org/officeDocument/2006/relationships/notesSlide" Target="../notesSlides/notesSlide19.xml"/><Relationship Id="rId16" Type="http://schemas.openxmlformats.org/officeDocument/2006/relationships/image" Target="../media/image70.svg"/><Relationship Id="rId20" Type="http://schemas.openxmlformats.org/officeDocument/2006/relationships/image" Target="../media/image54.svg"/><Relationship Id="rId1" Type="http://schemas.openxmlformats.org/officeDocument/2006/relationships/slideLayout" Target="../slideLayouts/slideLayout20.xml"/><Relationship Id="rId6" Type="http://schemas.openxmlformats.org/officeDocument/2006/relationships/image" Target="../media/image62.svg"/><Relationship Id="rId11" Type="http://schemas.openxmlformats.org/officeDocument/2006/relationships/image" Target="../media/image65.png"/><Relationship Id="rId5" Type="http://schemas.openxmlformats.org/officeDocument/2006/relationships/image" Target="../media/image61.png"/><Relationship Id="rId15" Type="http://schemas.openxmlformats.org/officeDocument/2006/relationships/image" Target="../media/image69.png"/><Relationship Id="rId10" Type="http://schemas.openxmlformats.org/officeDocument/2006/relationships/image" Target="../media/image64.svg"/><Relationship Id="rId19" Type="http://schemas.openxmlformats.org/officeDocument/2006/relationships/image" Target="../media/image53.png"/><Relationship Id="rId4" Type="http://schemas.openxmlformats.org/officeDocument/2006/relationships/image" Target="../media/image60.svg"/><Relationship Id="rId9" Type="http://schemas.openxmlformats.org/officeDocument/2006/relationships/image" Target="../media/image63.png"/><Relationship Id="rId14" Type="http://schemas.openxmlformats.org/officeDocument/2006/relationships/image" Target="../media/image68.svg"/></Relationships>
</file>

<file path=ppt/slides/_rels/slide20.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23.xml"/><Relationship Id="rId1" Type="http://schemas.openxmlformats.org/officeDocument/2006/relationships/slideLayout" Target="../slideLayouts/slideLayout5.xml"/><Relationship Id="rId4" Type="http://schemas.openxmlformats.org/officeDocument/2006/relationships/image" Target="../media/image73.png"/></Relationships>
</file>

<file path=ppt/slides/_rels/slide24.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l="3252"/>
          <a:stretch>
            <a:fillRect/>
          </a:stretch>
        </p:blipFill>
        <p:spPr>
          <a:xfrm>
            <a:off x="0" y="0"/>
            <a:ext cx="5307980" cy="8229600"/>
          </a:xfrm>
          <a:prstGeom prst="rect">
            <a:avLst/>
          </a:prstGeom>
        </p:spPr>
      </p:pic>
      <p:sp>
        <p:nvSpPr>
          <p:cNvPr id="3" name="Text 0"/>
          <p:cNvSpPr/>
          <p:nvPr/>
        </p:nvSpPr>
        <p:spPr>
          <a:xfrm>
            <a:off x="6280190" y="2354223"/>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152D47"/>
                </a:solidFill>
                <a:latin typeface="Crimson Pro Semi Bold" pitchFamily="34" charset="0"/>
                <a:ea typeface="Crimson Pro Semi Bold" pitchFamily="34" charset="-122"/>
                <a:cs typeface="Crimson Pro Semi Bold" pitchFamily="34" charset="-120"/>
              </a:rPr>
              <a:t>Phishing Attacks</a:t>
            </a:r>
            <a:endParaRPr lang="en-US" sz="4450" dirty="0"/>
          </a:p>
        </p:txBody>
      </p:sp>
      <p:sp>
        <p:nvSpPr>
          <p:cNvPr id="4" name="Text 1"/>
          <p:cNvSpPr/>
          <p:nvPr/>
        </p:nvSpPr>
        <p:spPr>
          <a:xfrm>
            <a:off x="6280190" y="3153728"/>
            <a:ext cx="4536519" cy="566976"/>
          </a:xfrm>
          <a:prstGeom prst="rect">
            <a:avLst/>
          </a:prstGeom>
          <a:noFill/>
          <a:ln/>
        </p:spPr>
        <p:txBody>
          <a:bodyPr wrap="none" lIns="0" tIns="0" rIns="0" bIns="0" rtlCol="0" anchor="t"/>
          <a:lstStyle/>
          <a:p>
            <a:pPr marL="0" indent="0" algn="l">
              <a:lnSpc>
                <a:spcPts val="4450"/>
              </a:lnSpc>
              <a:buNone/>
            </a:pPr>
            <a:r>
              <a:rPr lang="en-US" sz="3550" dirty="0">
                <a:solidFill>
                  <a:srgbClr val="152D47"/>
                </a:solidFill>
                <a:latin typeface="Crimson Pro Semi Bold" pitchFamily="34" charset="0"/>
                <a:ea typeface="Crimson Pro Semi Bold" pitchFamily="34" charset="-122"/>
                <a:cs typeface="Crimson Pro Semi Bold" pitchFamily="34" charset="-120"/>
              </a:rPr>
              <a:t>What is Phishing?</a:t>
            </a:r>
            <a:endParaRPr lang="en-US" sz="3550" dirty="0"/>
          </a:p>
        </p:txBody>
      </p:sp>
      <p:sp>
        <p:nvSpPr>
          <p:cNvPr id="5" name="Text 2"/>
          <p:cNvSpPr/>
          <p:nvPr/>
        </p:nvSpPr>
        <p:spPr>
          <a:xfrm>
            <a:off x="6280190" y="4060865"/>
            <a:ext cx="7556421" cy="1814513"/>
          </a:xfrm>
          <a:prstGeom prst="rect">
            <a:avLst/>
          </a:prstGeom>
          <a:noFill/>
          <a:ln/>
        </p:spPr>
        <p:txBody>
          <a:bodyPr wrap="square" lIns="0" tIns="0" rIns="0" bIns="0" rtlCol="0" anchor="t"/>
          <a:lstStyle/>
          <a:p>
            <a:pPr marL="0" indent="0" algn="l">
              <a:lnSpc>
                <a:spcPts val="2850"/>
              </a:lnSpc>
              <a:buNone/>
            </a:pPr>
            <a:r>
              <a:rPr lang="en-US" sz="1750" dirty="0">
                <a:solidFill>
                  <a:srgbClr val="4C4C4D"/>
                </a:solidFill>
                <a:latin typeface="Heebo" pitchFamily="34" charset="0"/>
                <a:ea typeface="Heebo" pitchFamily="34" charset="-122"/>
                <a:cs typeface="Heebo" pitchFamily="34" charset="-120"/>
              </a:rPr>
              <a:t>Phishing is an attempt to steal sensitive information, such as usernames, passwords, credit card numbers, or bank account details, for personal gain or sale. Attackers masquerade as reputable sources, using enticing requests to lure victims into revealing this sensitive information, much like a fisherman uses bait to catch a fish.</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702707"/>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152D47"/>
                </a:solidFill>
                <a:latin typeface="Crimson Pro Semi Bold" pitchFamily="34" charset="0"/>
                <a:ea typeface="Crimson Pro Semi Bold" pitchFamily="34" charset="-122"/>
                <a:cs typeface="Crimson Pro Semi Bold" pitchFamily="34" charset="-120"/>
              </a:rPr>
              <a:t>How Phishing Works</a:t>
            </a:r>
            <a:endParaRPr lang="en-US" sz="4450" dirty="0"/>
          </a:p>
        </p:txBody>
      </p:sp>
      <p:sp>
        <p:nvSpPr>
          <p:cNvPr id="3" name="Text 1"/>
          <p:cNvSpPr/>
          <p:nvPr/>
        </p:nvSpPr>
        <p:spPr>
          <a:xfrm>
            <a:off x="793790" y="1502212"/>
            <a:ext cx="7012186" cy="566976"/>
          </a:xfrm>
          <a:prstGeom prst="rect">
            <a:avLst/>
          </a:prstGeom>
          <a:noFill/>
          <a:ln/>
        </p:spPr>
        <p:txBody>
          <a:bodyPr wrap="none" lIns="0" tIns="0" rIns="0" bIns="0" rtlCol="0" anchor="t"/>
          <a:lstStyle/>
          <a:p>
            <a:pPr marL="0" indent="0" algn="l">
              <a:lnSpc>
                <a:spcPts val="4450"/>
              </a:lnSpc>
              <a:buNone/>
            </a:pPr>
            <a:r>
              <a:rPr lang="en-US" sz="3550" dirty="0">
                <a:solidFill>
                  <a:srgbClr val="152D47"/>
                </a:solidFill>
                <a:latin typeface="Crimson Pro Semi Bold" pitchFamily="34" charset="0"/>
                <a:ea typeface="Crimson Pro Semi Bold" pitchFamily="34" charset="-122"/>
                <a:cs typeface="Crimson Pro Semi Bold" pitchFamily="34" charset="-120"/>
              </a:rPr>
              <a:t>The Three Stages of a Phishing Attack</a:t>
            </a:r>
            <a:endParaRPr lang="en-US" sz="3550" dirty="0"/>
          </a:p>
        </p:txBody>
      </p:sp>
      <p:pic>
        <p:nvPicPr>
          <p:cNvPr id="4" name="Image 0" descr="preencoded.png"/>
          <p:cNvPicPr>
            <a:picLocks noChangeAspect="1"/>
          </p:cNvPicPr>
          <p:nvPr/>
        </p:nvPicPr>
        <p:blipFill>
          <a:blip r:embed="rId3"/>
          <a:stretch>
            <a:fillRect/>
          </a:stretch>
        </p:blipFill>
        <p:spPr>
          <a:xfrm>
            <a:off x="793790" y="2409349"/>
            <a:ext cx="4347567" cy="907256"/>
          </a:xfrm>
          <a:prstGeom prst="rect">
            <a:avLst/>
          </a:prstGeom>
        </p:spPr>
      </p:pic>
      <p:sp>
        <p:nvSpPr>
          <p:cNvPr id="5" name="Text 2"/>
          <p:cNvSpPr/>
          <p:nvPr/>
        </p:nvSpPr>
        <p:spPr>
          <a:xfrm>
            <a:off x="1020604" y="3543419"/>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C4C4D"/>
                </a:solidFill>
                <a:latin typeface="Crimson Pro Semi Bold" pitchFamily="34" charset="0"/>
                <a:ea typeface="Crimson Pro Semi Bold" pitchFamily="34" charset="-122"/>
                <a:cs typeface="Crimson Pro Semi Bold" pitchFamily="34" charset="-120"/>
              </a:rPr>
              <a:t>Stage 1: Bait</a:t>
            </a:r>
            <a:endParaRPr lang="en-US" sz="2200" dirty="0"/>
          </a:p>
        </p:txBody>
      </p:sp>
      <p:sp>
        <p:nvSpPr>
          <p:cNvPr id="6" name="Text 3"/>
          <p:cNvSpPr/>
          <p:nvPr/>
        </p:nvSpPr>
        <p:spPr>
          <a:xfrm>
            <a:off x="1020604" y="4033838"/>
            <a:ext cx="3893939" cy="1451610"/>
          </a:xfrm>
          <a:prstGeom prst="rect">
            <a:avLst/>
          </a:prstGeom>
          <a:noFill/>
          <a:ln/>
        </p:spPr>
        <p:txBody>
          <a:bodyPr wrap="square" lIns="0" tIns="0" rIns="0" bIns="0" rtlCol="0" anchor="t"/>
          <a:lstStyle/>
          <a:p>
            <a:pPr marL="0" indent="0" algn="l">
              <a:lnSpc>
                <a:spcPts val="2850"/>
              </a:lnSpc>
              <a:buNone/>
            </a:pPr>
            <a:r>
              <a:rPr lang="en-US" sz="1750" dirty="0">
                <a:solidFill>
                  <a:srgbClr val="4C4C4D"/>
                </a:solidFill>
                <a:latin typeface="Heebo" pitchFamily="34" charset="0"/>
                <a:ea typeface="Heebo" pitchFamily="34" charset="-122"/>
                <a:cs typeface="Heebo" pitchFamily="34" charset="-120"/>
              </a:rPr>
              <a:t>Attacker prepares: - Fake websites/emails - Convincing content - Urgency triggers - Social engineering tactics</a:t>
            </a:r>
            <a:endParaRPr lang="en-US" sz="1750" dirty="0"/>
          </a:p>
        </p:txBody>
      </p:sp>
      <p:pic>
        <p:nvPicPr>
          <p:cNvPr id="7" name="Image 1" descr="preencoded.png"/>
          <p:cNvPicPr>
            <a:picLocks noChangeAspect="1"/>
          </p:cNvPicPr>
          <p:nvPr/>
        </p:nvPicPr>
        <p:blipFill>
          <a:blip r:embed="rId4"/>
          <a:stretch>
            <a:fillRect/>
          </a:stretch>
        </p:blipFill>
        <p:spPr>
          <a:xfrm>
            <a:off x="5141357" y="2409349"/>
            <a:ext cx="4347567" cy="907256"/>
          </a:xfrm>
          <a:prstGeom prst="rect">
            <a:avLst/>
          </a:prstGeom>
        </p:spPr>
      </p:pic>
      <p:sp>
        <p:nvSpPr>
          <p:cNvPr id="8" name="Text 4"/>
          <p:cNvSpPr/>
          <p:nvPr/>
        </p:nvSpPr>
        <p:spPr>
          <a:xfrm>
            <a:off x="5368171" y="3543419"/>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C4C4D"/>
                </a:solidFill>
                <a:latin typeface="Crimson Pro Semi Bold" pitchFamily="34" charset="0"/>
                <a:ea typeface="Crimson Pro Semi Bold" pitchFamily="34" charset="-122"/>
                <a:cs typeface="Crimson Pro Semi Bold" pitchFamily="34" charset="-120"/>
              </a:rPr>
              <a:t>Stage 2: Hook</a:t>
            </a:r>
            <a:endParaRPr lang="en-US" sz="2200" dirty="0"/>
          </a:p>
        </p:txBody>
      </p:sp>
      <p:sp>
        <p:nvSpPr>
          <p:cNvPr id="9" name="Text 5"/>
          <p:cNvSpPr/>
          <p:nvPr/>
        </p:nvSpPr>
        <p:spPr>
          <a:xfrm>
            <a:off x="5368171" y="4033838"/>
            <a:ext cx="3893939" cy="3266123"/>
          </a:xfrm>
          <a:prstGeom prst="rect">
            <a:avLst/>
          </a:prstGeom>
          <a:noFill/>
          <a:ln/>
        </p:spPr>
        <p:txBody>
          <a:bodyPr wrap="square" lIns="0" tIns="0" rIns="0" bIns="0" rtlCol="0" anchor="t"/>
          <a:lstStyle/>
          <a:p>
            <a:pPr marL="0" indent="0" algn="l">
              <a:lnSpc>
                <a:spcPts val="2850"/>
              </a:lnSpc>
              <a:buNone/>
            </a:pPr>
            <a:r>
              <a:rPr lang="en-US" sz="1750" dirty="0">
                <a:solidFill>
                  <a:srgbClr val="4C4C4D"/>
                </a:solidFill>
                <a:latin typeface="Heebo" pitchFamily="34" charset="0"/>
                <a:ea typeface="Heebo" pitchFamily="34" charset="-122"/>
                <a:cs typeface="Heebo" pitchFamily="34" charset="-120"/>
              </a:rPr>
              <a:t>In many scams the hook involves making the target believe that one of their accounts have been compromised, creating a sense of urgency and making the target act quickly - perhaps without thinking. The attacker can then redirect the target to follow a link to a page where they can harvest the victim's details[8].</a:t>
            </a:r>
            <a:endParaRPr lang="en-US" sz="1750" dirty="0"/>
          </a:p>
        </p:txBody>
      </p:sp>
      <p:pic>
        <p:nvPicPr>
          <p:cNvPr id="10" name="Image 2" descr="preencoded.png"/>
          <p:cNvPicPr>
            <a:picLocks noChangeAspect="1"/>
          </p:cNvPicPr>
          <p:nvPr/>
        </p:nvPicPr>
        <p:blipFill>
          <a:blip r:embed="rId5"/>
          <a:stretch>
            <a:fillRect/>
          </a:stretch>
        </p:blipFill>
        <p:spPr>
          <a:xfrm>
            <a:off x="9488924" y="2409349"/>
            <a:ext cx="4347567" cy="907256"/>
          </a:xfrm>
          <a:prstGeom prst="rect">
            <a:avLst/>
          </a:prstGeom>
        </p:spPr>
      </p:pic>
      <p:sp>
        <p:nvSpPr>
          <p:cNvPr id="11" name="Text 6"/>
          <p:cNvSpPr/>
          <p:nvPr/>
        </p:nvSpPr>
        <p:spPr>
          <a:xfrm>
            <a:off x="9715738" y="3543419"/>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C4C4D"/>
                </a:solidFill>
                <a:latin typeface="Crimson Pro Semi Bold" pitchFamily="34" charset="0"/>
                <a:ea typeface="Crimson Pro Semi Bold" pitchFamily="34" charset="-122"/>
                <a:cs typeface="Crimson Pro Semi Bold" pitchFamily="34" charset="-120"/>
              </a:rPr>
              <a:t>Stage 3: Catch</a:t>
            </a:r>
            <a:endParaRPr lang="en-US" sz="2200" dirty="0"/>
          </a:p>
        </p:txBody>
      </p:sp>
      <p:sp>
        <p:nvSpPr>
          <p:cNvPr id="12" name="Text 7"/>
          <p:cNvSpPr/>
          <p:nvPr/>
        </p:nvSpPr>
        <p:spPr>
          <a:xfrm>
            <a:off x="9715738" y="4033838"/>
            <a:ext cx="3893939" cy="1088708"/>
          </a:xfrm>
          <a:prstGeom prst="rect">
            <a:avLst/>
          </a:prstGeom>
          <a:noFill/>
          <a:ln/>
        </p:spPr>
        <p:txBody>
          <a:bodyPr wrap="square" lIns="0" tIns="0" rIns="0" bIns="0" rtlCol="0" anchor="t"/>
          <a:lstStyle/>
          <a:p>
            <a:pPr marL="0" indent="0" algn="l">
              <a:lnSpc>
                <a:spcPts val="2850"/>
              </a:lnSpc>
              <a:buNone/>
            </a:pPr>
            <a:r>
              <a:rPr lang="en-US" sz="1750" dirty="0">
                <a:solidFill>
                  <a:srgbClr val="4C4C4D"/>
                </a:solidFill>
                <a:latin typeface="Heebo" pitchFamily="34" charset="0"/>
                <a:ea typeface="Heebo" pitchFamily="34" charset="-122"/>
                <a:cs typeface="Heebo" pitchFamily="34" charset="-120"/>
              </a:rPr>
              <a:t>- Credentials captured - Data stolen - Malware installed - Financial fraud executed</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203127"/>
            <a:ext cx="6967657" cy="708779"/>
          </a:xfrm>
          <a:prstGeom prst="rect">
            <a:avLst/>
          </a:prstGeom>
          <a:noFill/>
          <a:ln/>
        </p:spPr>
        <p:txBody>
          <a:bodyPr wrap="none" lIns="0" tIns="0" rIns="0" bIns="0" rtlCol="0" anchor="t"/>
          <a:lstStyle/>
          <a:p>
            <a:pPr marL="0" indent="0" algn="l">
              <a:lnSpc>
                <a:spcPts val="5550"/>
              </a:lnSpc>
              <a:buNone/>
            </a:pPr>
            <a:r>
              <a:rPr lang="en-US" sz="4450" dirty="0">
                <a:solidFill>
                  <a:srgbClr val="152D47"/>
                </a:solidFill>
                <a:latin typeface="Crimson Pro Semi Bold" pitchFamily="34" charset="0"/>
                <a:ea typeface="Crimson Pro Semi Bold" pitchFamily="34" charset="-122"/>
                <a:cs typeface="Crimson Pro Semi Bold" pitchFamily="34" charset="-120"/>
              </a:rPr>
              <a:t>Techniques Used by Attackers</a:t>
            </a:r>
            <a:endParaRPr lang="en-US" sz="4450" dirty="0"/>
          </a:p>
        </p:txBody>
      </p:sp>
      <p:sp>
        <p:nvSpPr>
          <p:cNvPr id="3" name="Text 1"/>
          <p:cNvSpPr/>
          <p:nvPr/>
        </p:nvSpPr>
        <p:spPr>
          <a:xfrm>
            <a:off x="793790" y="2365534"/>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4C4C4D"/>
                </a:solidFill>
                <a:latin typeface="Heebo" pitchFamily="34" charset="0"/>
                <a:ea typeface="Heebo" pitchFamily="34" charset="-122"/>
                <a:cs typeface="Heebo" pitchFamily="34" charset="-120"/>
              </a:rPr>
              <a:t>Attackers use several tactics to make phishing attempts more effective[1]:</a:t>
            </a:r>
            <a:endParaRPr lang="en-US" sz="1750" dirty="0"/>
          </a:p>
        </p:txBody>
      </p:sp>
      <p:sp>
        <p:nvSpPr>
          <p:cNvPr id="4" name="Shape 2"/>
          <p:cNvSpPr/>
          <p:nvPr/>
        </p:nvSpPr>
        <p:spPr>
          <a:xfrm>
            <a:off x="793790" y="2983587"/>
            <a:ext cx="3090505" cy="2085142"/>
          </a:xfrm>
          <a:prstGeom prst="roundRect">
            <a:avLst>
              <a:gd name="adj" fmla="val 1632"/>
            </a:avLst>
          </a:prstGeom>
          <a:solidFill>
            <a:srgbClr val="FFFFFF"/>
          </a:solidFill>
          <a:ln w="30480">
            <a:solidFill>
              <a:srgbClr val="FFF3E0"/>
            </a:solidFill>
            <a:prstDash val="solid"/>
          </a:ln>
        </p:spPr>
      </p:sp>
      <p:sp>
        <p:nvSpPr>
          <p:cNvPr id="5" name="Text 3"/>
          <p:cNvSpPr/>
          <p:nvPr/>
        </p:nvSpPr>
        <p:spPr>
          <a:xfrm>
            <a:off x="1051084" y="3240881"/>
            <a:ext cx="2575917" cy="708660"/>
          </a:xfrm>
          <a:prstGeom prst="rect">
            <a:avLst/>
          </a:prstGeom>
          <a:noFill/>
          <a:ln/>
        </p:spPr>
        <p:txBody>
          <a:bodyPr wrap="square" lIns="0" tIns="0" rIns="0" bIns="0" rtlCol="0" anchor="t"/>
          <a:lstStyle/>
          <a:p>
            <a:pPr marL="0" indent="0" algn="l">
              <a:lnSpc>
                <a:spcPts val="2750"/>
              </a:lnSpc>
              <a:buNone/>
            </a:pPr>
            <a:r>
              <a:rPr lang="en-US" sz="2200" dirty="0">
                <a:solidFill>
                  <a:srgbClr val="4C4C4D"/>
                </a:solidFill>
                <a:latin typeface="Crimson Pro Semi Bold" pitchFamily="34" charset="0"/>
                <a:ea typeface="Crimson Pro Semi Bold" pitchFamily="34" charset="-122"/>
                <a:cs typeface="Crimson Pro Semi Bold" pitchFamily="34" charset="-120"/>
              </a:rPr>
              <a:t>Finding, purchasing, or scraping</a:t>
            </a:r>
            <a:endParaRPr lang="en-US" sz="2200" dirty="0"/>
          </a:p>
        </p:txBody>
      </p:sp>
      <p:sp>
        <p:nvSpPr>
          <p:cNvPr id="6" name="Text 4"/>
          <p:cNvSpPr/>
          <p:nvPr/>
        </p:nvSpPr>
        <p:spPr>
          <a:xfrm>
            <a:off x="1051084" y="4085630"/>
            <a:ext cx="2575917" cy="725805"/>
          </a:xfrm>
          <a:prstGeom prst="rect">
            <a:avLst/>
          </a:prstGeom>
          <a:noFill/>
          <a:ln/>
        </p:spPr>
        <p:txBody>
          <a:bodyPr wrap="square" lIns="0" tIns="0" rIns="0" bIns="0" rtlCol="0" anchor="t"/>
          <a:lstStyle/>
          <a:p>
            <a:pPr marL="0" indent="0" algn="l">
              <a:lnSpc>
                <a:spcPts val="2850"/>
              </a:lnSpc>
              <a:buNone/>
            </a:pPr>
            <a:r>
              <a:rPr lang="en-US" sz="1750" dirty="0">
                <a:solidFill>
                  <a:srgbClr val="4C4C4D"/>
                </a:solidFill>
                <a:latin typeface="Heebo" pitchFamily="34" charset="0"/>
                <a:ea typeface="Heebo" pitchFamily="34" charset="-122"/>
                <a:cs typeface="Heebo" pitchFamily="34" charset="-120"/>
              </a:rPr>
              <a:t>known contact information</a:t>
            </a:r>
            <a:endParaRPr lang="en-US" sz="1750" dirty="0"/>
          </a:p>
        </p:txBody>
      </p:sp>
      <p:sp>
        <p:nvSpPr>
          <p:cNvPr id="7" name="Shape 5"/>
          <p:cNvSpPr/>
          <p:nvPr/>
        </p:nvSpPr>
        <p:spPr>
          <a:xfrm>
            <a:off x="4111109" y="2983587"/>
            <a:ext cx="3090624" cy="2085142"/>
          </a:xfrm>
          <a:prstGeom prst="roundRect">
            <a:avLst>
              <a:gd name="adj" fmla="val 1632"/>
            </a:avLst>
          </a:prstGeom>
          <a:solidFill>
            <a:srgbClr val="FFFFFF"/>
          </a:solidFill>
          <a:ln w="30480">
            <a:solidFill>
              <a:srgbClr val="FFF3E0"/>
            </a:solidFill>
            <a:prstDash val="solid"/>
          </a:ln>
        </p:spPr>
      </p:sp>
      <p:sp>
        <p:nvSpPr>
          <p:cNvPr id="8" name="Text 6"/>
          <p:cNvSpPr/>
          <p:nvPr/>
        </p:nvSpPr>
        <p:spPr>
          <a:xfrm>
            <a:off x="4368403" y="3240881"/>
            <a:ext cx="2576036" cy="708660"/>
          </a:xfrm>
          <a:prstGeom prst="rect">
            <a:avLst/>
          </a:prstGeom>
          <a:noFill/>
          <a:ln/>
        </p:spPr>
        <p:txBody>
          <a:bodyPr wrap="square" lIns="0" tIns="0" rIns="0" bIns="0" rtlCol="0" anchor="t"/>
          <a:lstStyle/>
          <a:p>
            <a:pPr marL="0" indent="0" algn="l">
              <a:lnSpc>
                <a:spcPts val="2750"/>
              </a:lnSpc>
              <a:buNone/>
            </a:pPr>
            <a:r>
              <a:rPr lang="en-US" sz="2200" dirty="0">
                <a:solidFill>
                  <a:srgbClr val="4C4C4D"/>
                </a:solidFill>
                <a:latin typeface="Crimson Pro Semi Bold" pitchFamily="34" charset="0"/>
                <a:ea typeface="Crimson Pro Semi Bold" pitchFamily="34" charset="-122"/>
                <a:cs typeface="Crimson Pro Semi Bold" pitchFamily="34" charset="-120"/>
              </a:rPr>
              <a:t>Setting up fake websites and apps</a:t>
            </a:r>
            <a:endParaRPr lang="en-US" sz="2200" dirty="0"/>
          </a:p>
        </p:txBody>
      </p:sp>
      <p:sp>
        <p:nvSpPr>
          <p:cNvPr id="9" name="Text 7"/>
          <p:cNvSpPr/>
          <p:nvPr/>
        </p:nvSpPr>
        <p:spPr>
          <a:xfrm>
            <a:off x="4368403" y="4085630"/>
            <a:ext cx="2576036" cy="362903"/>
          </a:xfrm>
          <a:prstGeom prst="rect">
            <a:avLst/>
          </a:prstGeom>
          <a:noFill/>
          <a:ln/>
        </p:spPr>
        <p:txBody>
          <a:bodyPr wrap="none" lIns="0" tIns="0" rIns="0" bIns="0" rtlCol="0" anchor="t"/>
          <a:lstStyle/>
          <a:p>
            <a:pPr marL="0" indent="0" algn="l">
              <a:lnSpc>
                <a:spcPts val="2850"/>
              </a:lnSpc>
              <a:buNone/>
            </a:pPr>
            <a:r>
              <a:rPr lang="en-US" sz="1750" dirty="0">
                <a:solidFill>
                  <a:srgbClr val="4C4C4D"/>
                </a:solidFill>
                <a:latin typeface="Heebo" pitchFamily="34" charset="0"/>
                <a:ea typeface="Heebo" pitchFamily="34" charset="-122"/>
                <a:cs typeface="Heebo" pitchFamily="34" charset="-120"/>
              </a:rPr>
              <a:t>that imitate real ones</a:t>
            </a:r>
            <a:endParaRPr lang="en-US" sz="1750" dirty="0"/>
          </a:p>
        </p:txBody>
      </p:sp>
      <p:sp>
        <p:nvSpPr>
          <p:cNvPr id="10" name="Shape 8"/>
          <p:cNvSpPr/>
          <p:nvPr/>
        </p:nvSpPr>
        <p:spPr>
          <a:xfrm>
            <a:off x="7428548" y="2983587"/>
            <a:ext cx="3090624" cy="2085142"/>
          </a:xfrm>
          <a:prstGeom prst="roundRect">
            <a:avLst>
              <a:gd name="adj" fmla="val 1632"/>
            </a:avLst>
          </a:prstGeom>
          <a:solidFill>
            <a:srgbClr val="FFFFFF"/>
          </a:solidFill>
          <a:ln w="30480">
            <a:solidFill>
              <a:srgbClr val="FFF3E0"/>
            </a:solidFill>
            <a:prstDash val="solid"/>
          </a:ln>
        </p:spPr>
      </p:sp>
      <p:sp>
        <p:nvSpPr>
          <p:cNvPr id="11" name="Text 9"/>
          <p:cNvSpPr/>
          <p:nvPr/>
        </p:nvSpPr>
        <p:spPr>
          <a:xfrm>
            <a:off x="7685842" y="3240881"/>
            <a:ext cx="2576036" cy="354330"/>
          </a:xfrm>
          <a:prstGeom prst="rect">
            <a:avLst/>
          </a:prstGeom>
          <a:noFill/>
          <a:ln/>
        </p:spPr>
        <p:txBody>
          <a:bodyPr wrap="none" lIns="0" tIns="0" rIns="0" bIns="0" rtlCol="0" anchor="t"/>
          <a:lstStyle/>
          <a:p>
            <a:pPr marL="0" indent="0" algn="l">
              <a:lnSpc>
                <a:spcPts val="2750"/>
              </a:lnSpc>
              <a:buNone/>
            </a:pPr>
            <a:r>
              <a:rPr lang="en-US" sz="2200" dirty="0">
                <a:solidFill>
                  <a:srgbClr val="4C4C4D"/>
                </a:solidFill>
                <a:latin typeface="Crimson Pro Semi Bold" pitchFamily="34" charset="0"/>
                <a:ea typeface="Crimson Pro Semi Bold" pitchFamily="34" charset="-122"/>
                <a:cs typeface="Crimson Pro Semi Bold" pitchFamily="34" charset="-120"/>
              </a:rPr>
              <a:t>DNS fast fluxing</a:t>
            </a:r>
            <a:endParaRPr lang="en-US" sz="2200" dirty="0"/>
          </a:p>
        </p:txBody>
      </p:sp>
      <p:sp>
        <p:nvSpPr>
          <p:cNvPr id="12" name="Text 10"/>
          <p:cNvSpPr/>
          <p:nvPr/>
        </p:nvSpPr>
        <p:spPr>
          <a:xfrm>
            <a:off x="7685842" y="3731300"/>
            <a:ext cx="2576036" cy="725805"/>
          </a:xfrm>
          <a:prstGeom prst="rect">
            <a:avLst/>
          </a:prstGeom>
          <a:noFill/>
          <a:ln/>
        </p:spPr>
        <p:txBody>
          <a:bodyPr wrap="square" lIns="0" tIns="0" rIns="0" bIns="0" rtlCol="0" anchor="t"/>
          <a:lstStyle/>
          <a:p>
            <a:pPr marL="0" indent="0" algn="l">
              <a:lnSpc>
                <a:spcPts val="2850"/>
              </a:lnSpc>
              <a:buNone/>
            </a:pPr>
            <a:r>
              <a:rPr lang="en-US" sz="1750" dirty="0">
                <a:solidFill>
                  <a:srgbClr val="4C4C4D"/>
                </a:solidFill>
                <a:latin typeface="Heebo" pitchFamily="34" charset="0"/>
                <a:ea typeface="Heebo" pitchFamily="34" charset="-122"/>
                <a:cs typeface="Heebo" pitchFamily="34" charset="-120"/>
              </a:rPr>
              <a:t>to disguise hosting servers</a:t>
            </a:r>
            <a:endParaRPr lang="en-US" sz="1750" dirty="0"/>
          </a:p>
        </p:txBody>
      </p:sp>
      <p:sp>
        <p:nvSpPr>
          <p:cNvPr id="13" name="Shape 11"/>
          <p:cNvSpPr/>
          <p:nvPr/>
        </p:nvSpPr>
        <p:spPr>
          <a:xfrm>
            <a:off x="10745986" y="2983587"/>
            <a:ext cx="3090624" cy="2085142"/>
          </a:xfrm>
          <a:prstGeom prst="roundRect">
            <a:avLst>
              <a:gd name="adj" fmla="val 1632"/>
            </a:avLst>
          </a:prstGeom>
          <a:solidFill>
            <a:srgbClr val="FFFFFF"/>
          </a:solidFill>
          <a:ln w="30480">
            <a:solidFill>
              <a:srgbClr val="FFF3E0"/>
            </a:solidFill>
            <a:prstDash val="solid"/>
          </a:ln>
        </p:spPr>
      </p:sp>
      <p:sp>
        <p:nvSpPr>
          <p:cNvPr id="14" name="Text 12"/>
          <p:cNvSpPr/>
          <p:nvPr/>
        </p:nvSpPr>
        <p:spPr>
          <a:xfrm>
            <a:off x="11003280" y="3240881"/>
            <a:ext cx="2576036" cy="708660"/>
          </a:xfrm>
          <a:prstGeom prst="rect">
            <a:avLst/>
          </a:prstGeom>
          <a:noFill/>
          <a:ln/>
        </p:spPr>
        <p:txBody>
          <a:bodyPr wrap="square" lIns="0" tIns="0" rIns="0" bIns="0" rtlCol="0" anchor="t"/>
          <a:lstStyle/>
          <a:p>
            <a:pPr marL="0" indent="0" algn="l">
              <a:lnSpc>
                <a:spcPts val="2750"/>
              </a:lnSpc>
              <a:buNone/>
            </a:pPr>
            <a:r>
              <a:rPr lang="en-US" sz="2200" dirty="0">
                <a:solidFill>
                  <a:srgbClr val="4C4C4D"/>
                </a:solidFill>
                <a:latin typeface="Crimson Pro Semi Bold" pitchFamily="34" charset="0"/>
                <a:ea typeface="Crimson Pro Semi Bold" pitchFamily="34" charset="-122"/>
                <a:cs typeface="Crimson Pro Semi Bold" pitchFamily="34" charset="-120"/>
              </a:rPr>
              <a:t>Domain spoofing and email spoofing</a:t>
            </a:r>
            <a:endParaRPr lang="en-US" sz="2200" dirty="0"/>
          </a:p>
        </p:txBody>
      </p:sp>
      <p:sp>
        <p:nvSpPr>
          <p:cNvPr id="15" name="Text 13"/>
          <p:cNvSpPr/>
          <p:nvPr/>
        </p:nvSpPr>
        <p:spPr>
          <a:xfrm>
            <a:off x="11003280" y="4085630"/>
            <a:ext cx="2576036" cy="725805"/>
          </a:xfrm>
          <a:prstGeom prst="rect">
            <a:avLst/>
          </a:prstGeom>
          <a:noFill/>
          <a:ln/>
        </p:spPr>
        <p:txBody>
          <a:bodyPr wrap="square" lIns="0" tIns="0" rIns="0" bIns="0" rtlCol="0" anchor="t"/>
          <a:lstStyle/>
          <a:p>
            <a:pPr marL="0" indent="0" algn="l">
              <a:lnSpc>
                <a:spcPts val="2850"/>
              </a:lnSpc>
              <a:buNone/>
            </a:pPr>
            <a:r>
              <a:rPr lang="en-US" sz="1750" dirty="0">
                <a:solidFill>
                  <a:srgbClr val="4C4C4D"/>
                </a:solidFill>
                <a:latin typeface="Heebo" pitchFamily="34" charset="0"/>
                <a:ea typeface="Heebo" pitchFamily="34" charset="-122"/>
                <a:cs typeface="Heebo" pitchFamily="34" charset="-120"/>
              </a:rPr>
              <a:t>to make messages appear legitimate</a:t>
            </a:r>
            <a:endParaRPr lang="en-US" sz="1750" dirty="0"/>
          </a:p>
        </p:txBody>
      </p:sp>
      <p:sp>
        <p:nvSpPr>
          <p:cNvPr id="16" name="Shape 14"/>
          <p:cNvSpPr/>
          <p:nvPr/>
        </p:nvSpPr>
        <p:spPr>
          <a:xfrm>
            <a:off x="793790" y="5295543"/>
            <a:ext cx="4196358" cy="1730812"/>
          </a:xfrm>
          <a:prstGeom prst="roundRect">
            <a:avLst>
              <a:gd name="adj" fmla="val 1966"/>
            </a:avLst>
          </a:prstGeom>
          <a:solidFill>
            <a:srgbClr val="FFFFFF"/>
          </a:solidFill>
          <a:ln w="30480">
            <a:solidFill>
              <a:srgbClr val="FFF3E0"/>
            </a:solidFill>
            <a:prstDash val="solid"/>
          </a:ln>
        </p:spPr>
      </p:sp>
      <p:sp>
        <p:nvSpPr>
          <p:cNvPr id="17" name="Text 15"/>
          <p:cNvSpPr/>
          <p:nvPr/>
        </p:nvSpPr>
        <p:spPr>
          <a:xfrm>
            <a:off x="1051084" y="5552837"/>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C4C4D"/>
                </a:solidFill>
                <a:latin typeface="Crimson Pro Semi Bold" pitchFamily="34" charset="0"/>
                <a:ea typeface="Crimson Pro Semi Bold" pitchFamily="34" charset="-122"/>
                <a:cs typeface="Crimson Pro Semi Bold" pitchFamily="34" charset="-120"/>
              </a:rPr>
              <a:t>Manipulating links</a:t>
            </a:r>
            <a:endParaRPr lang="en-US" sz="2200" dirty="0"/>
          </a:p>
        </p:txBody>
      </p:sp>
      <p:sp>
        <p:nvSpPr>
          <p:cNvPr id="18" name="Text 16"/>
          <p:cNvSpPr/>
          <p:nvPr/>
        </p:nvSpPr>
        <p:spPr>
          <a:xfrm>
            <a:off x="1051084" y="6043255"/>
            <a:ext cx="3681770" cy="725805"/>
          </a:xfrm>
          <a:prstGeom prst="rect">
            <a:avLst/>
          </a:prstGeom>
          <a:noFill/>
          <a:ln/>
        </p:spPr>
        <p:txBody>
          <a:bodyPr wrap="square" lIns="0" tIns="0" rIns="0" bIns="0" rtlCol="0" anchor="t"/>
          <a:lstStyle/>
          <a:p>
            <a:pPr marL="0" indent="0" algn="l">
              <a:lnSpc>
                <a:spcPts val="2850"/>
              </a:lnSpc>
              <a:buNone/>
            </a:pPr>
            <a:r>
              <a:rPr lang="en-US" sz="1750" dirty="0">
                <a:solidFill>
                  <a:srgbClr val="4C4C4D"/>
                </a:solidFill>
                <a:latin typeface="Heebo" pitchFamily="34" charset="0"/>
                <a:ea typeface="Heebo" pitchFamily="34" charset="-122"/>
                <a:cs typeface="Heebo" pitchFamily="34" charset="-120"/>
              </a:rPr>
              <a:t>so URLs in phishing messages look correct</a:t>
            </a:r>
            <a:endParaRPr lang="en-US" sz="1750" dirty="0"/>
          </a:p>
        </p:txBody>
      </p:sp>
      <p:sp>
        <p:nvSpPr>
          <p:cNvPr id="19" name="Shape 17"/>
          <p:cNvSpPr/>
          <p:nvPr/>
        </p:nvSpPr>
        <p:spPr>
          <a:xfrm>
            <a:off x="5216962" y="5295543"/>
            <a:ext cx="4196358" cy="1730812"/>
          </a:xfrm>
          <a:prstGeom prst="roundRect">
            <a:avLst>
              <a:gd name="adj" fmla="val 1966"/>
            </a:avLst>
          </a:prstGeom>
          <a:solidFill>
            <a:srgbClr val="FFFFFF"/>
          </a:solidFill>
          <a:ln w="30480">
            <a:solidFill>
              <a:srgbClr val="FFF3E0"/>
            </a:solidFill>
            <a:prstDash val="solid"/>
          </a:ln>
        </p:spPr>
      </p:sp>
      <p:sp>
        <p:nvSpPr>
          <p:cNvPr id="20" name="Text 18"/>
          <p:cNvSpPr/>
          <p:nvPr/>
        </p:nvSpPr>
        <p:spPr>
          <a:xfrm>
            <a:off x="5474256" y="5552837"/>
            <a:ext cx="3681770" cy="708660"/>
          </a:xfrm>
          <a:prstGeom prst="rect">
            <a:avLst/>
          </a:prstGeom>
          <a:noFill/>
          <a:ln/>
        </p:spPr>
        <p:txBody>
          <a:bodyPr wrap="square" lIns="0" tIns="0" rIns="0" bIns="0" rtlCol="0" anchor="t"/>
          <a:lstStyle/>
          <a:p>
            <a:pPr marL="0" indent="0" algn="l">
              <a:lnSpc>
                <a:spcPts val="2750"/>
              </a:lnSpc>
              <a:buNone/>
            </a:pPr>
            <a:r>
              <a:rPr lang="en-US" sz="2200" dirty="0">
                <a:solidFill>
                  <a:srgbClr val="4C4C4D"/>
                </a:solidFill>
                <a:latin typeface="Crimson Pro Semi Bold" pitchFamily="34" charset="0"/>
                <a:ea typeface="Crimson Pro Semi Bold" pitchFamily="34" charset="-122"/>
                <a:cs typeface="Crimson Pro Semi Bold" pitchFamily="34" charset="-120"/>
              </a:rPr>
              <a:t>Sending emails from trusted infrastructure</a:t>
            </a:r>
            <a:endParaRPr lang="en-US" sz="2200" dirty="0"/>
          </a:p>
        </p:txBody>
      </p:sp>
      <p:sp>
        <p:nvSpPr>
          <p:cNvPr id="21" name="Text 19"/>
          <p:cNvSpPr/>
          <p:nvPr/>
        </p:nvSpPr>
        <p:spPr>
          <a:xfrm>
            <a:off x="5474256" y="6397585"/>
            <a:ext cx="3681770" cy="362903"/>
          </a:xfrm>
          <a:prstGeom prst="rect">
            <a:avLst/>
          </a:prstGeom>
          <a:noFill/>
          <a:ln/>
        </p:spPr>
        <p:txBody>
          <a:bodyPr wrap="none" lIns="0" tIns="0" rIns="0" bIns="0" rtlCol="0" anchor="t"/>
          <a:lstStyle/>
          <a:p>
            <a:pPr marL="0" indent="0" algn="l">
              <a:lnSpc>
                <a:spcPts val="2850"/>
              </a:lnSpc>
              <a:buNone/>
            </a:pPr>
            <a:r>
              <a:rPr lang="en-US" sz="1750" dirty="0">
                <a:solidFill>
                  <a:srgbClr val="4C4C4D"/>
                </a:solidFill>
                <a:latin typeface="Heebo" pitchFamily="34" charset="0"/>
                <a:ea typeface="Heebo" pitchFamily="34" charset="-122"/>
                <a:cs typeface="Heebo" pitchFamily="34" charset="-120"/>
              </a:rPr>
              <a:t>that can pass spam filters</a:t>
            </a:r>
            <a:endParaRPr lang="en-US" sz="1750" dirty="0"/>
          </a:p>
        </p:txBody>
      </p:sp>
      <p:sp>
        <p:nvSpPr>
          <p:cNvPr id="22" name="Shape 20"/>
          <p:cNvSpPr/>
          <p:nvPr/>
        </p:nvSpPr>
        <p:spPr>
          <a:xfrm>
            <a:off x="9640133" y="5295543"/>
            <a:ext cx="4196477" cy="1730812"/>
          </a:xfrm>
          <a:prstGeom prst="roundRect">
            <a:avLst>
              <a:gd name="adj" fmla="val 1966"/>
            </a:avLst>
          </a:prstGeom>
          <a:solidFill>
            <a:srgbClr val="FFFFFF"/>
          </a:solidFill>
          <a:ln w="30480">
            <a:solidFill>
              <a:srgbClr val="FFF3E0"/>
            </a:solidFill>
            <a:prstDash val="solid"/>
          </a:ln>
        </p:spPr>
      </p:sp>
      <p:sp>
        <p:nvSpPr>
          <p:cNvPr id="23" name="Text 21"/>
          <p:cNvSpPr/>
          <p:nvPr/>
        </p:nvSpPr>
        <p:spPr>
          <a:xfrm>
            <a:off x="9897427" y="5552837"/>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C4C4D"/>
                </a:solidFill>
                <a:latin typeface="Crimson Pro Semi Bold" pitchFamily="34" charset="0"/>
                <a:ea typeface="Crimson Pro Semi Bold" pitchFamily="34" charset="-122"/>
                <a:cs typeface="Crimson Pro Semi Bold" pitchFamily="34" charset="-120"/>
              </a:rPr>
              <a:t>Using generative AI</a:t>
            </a:r>
            <a:endParaRPr lang="en-US" sz="2200" dirty="0"/>
          </a:p>
        </p:txBody>
      </p:sp>
      <p:sp>
        <p:nvSpPr>
          <p:cNvPr id="24" name="Text 22"/>
          <p:cNvSpPr/>
          <p:nvPr/>
        </p:nvSpPr>
        <p:spPr>
          <a:xfrm>
            <a:off x="9897427" y="6043255"/>
            <a:ext cx="3681889" cy="725805"/>
          </a:xfrm>
          <a:prstGeom prst="rect">
            <a:avLst/>
          </a:prstGeom>
          <a:noFill/>
          <a:ln/>
        </p:spPr>
        <p:txBody>
          <a:bodyPr wrap="square" lIns="0" tIns="0" rIns="0" bIns="0" rtlCol="0" anchor="t"/>
          <a:lstStyle/>
          <a:p>
            <a:pPr marL="0" indent="0" algn="l">
              <a:lnSpc>
                <a:spcPts val="2850"/>
              </a:lnSpc>
              <a:buNone/>
            </a:pPr>
            <a:r>
              <a:rPr lang="en-US" sz="1750" dirty="0">
                <a:solidFill>
                  <a:srgbClr val="4C4C4D"/>
                </a:solidFill>
                <a:latin typeface="Heebo" pitchFamily="34" charset="0"/>
                <a:ea typeface="Heebo" pitchFamily="34" charset="-122"/>
                <a:cs typeface="Heebo" pitchFamily="34" charset="-120"/>
              </a:rPr>
              <a:t>to quickly create realistic, error-free messages</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989171"/>
            <a:ext cx="4633436" cy="566976"/>
          </a:xfrm>
          <a:prstGeom prst="rect">
            <a:avLst/>
          </a:prstGeom>
          <a:noFill/>
          <a:ln/>
        </p:spPr>
        <p:txBody>
          <a:bodyPr wrap="none" lIns="0" tIns="0" rIns="0" bIns="0" rtlCol="0" anchor="t"/>
          <a:lstStyle/>
          <a:p>
            <a:pPr marL="0" indent="0" algn="l">
              <a:lnSpc>
                <a:spcPts val="4450"/>
              </a:lnSpc>
              <a:buNone/>
            </a:pPr>
            <a:r>
              <a:rPr lang="en-US" sz="3550" dirty="0">
                <a:solidFill>
                  <a:srgbClr val="152D47"/>
                </a:solidFill>
                <a:latin typeface="Crimson Pro Semi Bold" pitchFamily="34" charset="0"/>
                <a:ea typeface="Crimson Pro Semi Bold" pitchFamily="34" charset="-122"/>
                <a:cs typeface="Crimson Pro Semi Bold" pitchFamily="34" charset="-120"/>
              </a:rPr>
              <a:t>Types of Phishing Attack</a:t>
            </a:r>
            <a:endParaRPr lang="en-US" sz="3550" dirty="0"/>
          </a:p>
        </p:txBody>
      </p:sp>
      <p:sp>
        <p:nvSpPr>
          <p:cNvPr id="3" name="Shape 1"/>
          <p:cNvSpPr/>
          <p:nvPr/>
        </p:nvSpPr>
        <p:spPr>
          <a:xfrm>
            <a:off x="793790" y="1846421"/>
            <a:ext cx="4250769" cy="5393888"/>
          </a:xfrm>
          <a:prstGeom prst="roundRect">
            <a:avLst>
              <a:gd name="adj" fmla="val 640"/>
            </a:avLst>
          </a:prstGeom>
          <a:solidFill>
            <a:srgbClr val="F2EEEE"/>
          </a:solidFill>
          <a:ln/>
        </p:spPr>
      </p:sp>
      <p:sp>
        <p:nvSpPr>
          <p:cNvPr id="4" name="Shape 2"/>
          <p:cNvSpPr/>
          <p:nvPr/>
        </p:nvSpPr>
        <p:spPr>
          <a:xfrm>
            <a:off x="975241" y="2027872"/>
            <a:ext cx="544354" cy="544354"/>
          </a:xfrm>
          <a:prstGeom prst="roundRect">
            <a:avLst>
              <a:gd name="adj" fmla="val 16796213"/>
            </a:avLst>
          </a:prstGeom>
          <a:solidFill>
            <a:srgbClr val="FFD1A7"/>
          </a:solidFill>
          <a:ln/>
        </p:spPr>
      </p:sp>
      <p:pic>
        <p:nvPicPr>
          <p:cNvPr id="5"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24903" y="2177534"/>
            <a:ext cx="244912" cy="244912"/>
          </a:xfrm>
          <a:prstGeom prst="rect">
            <a:avLst/>
          </a:prstGeom>
        </p:spPr>
      </p:pic>
      <p:sp>
        <p:nvSpPr>
          <p:cNvPr id="6" name="Text 3"/>
          <p:cNvSpPr/>
          <p:nvPr/>
        </p:nvSpPr>
        <p:spPr>
          <a:xfrm>
            <a:off x="975241" y="2717363"/>
            <a:ext cx="2268260" cy="283488"/>
          </a:xfrm>
          <a:prstGeom prst="rect">
            <a:avLst/>
          </a:prstGeom>
          <a:noFill/>
          <a:ln/>
        </p:spPr>
        <p:txBody>
          <a:bodyPr wrap="none" lIns="0" tIns="0" rIns="0" bIns="0" rtlCol="0" anchor="t"/>
          <a:lstStyle/>
          <a:p>
            <a:pPr marL="0" indent="0" algn="l">
              <a:lnSpc>
                <a:spcPts val="2200"/>
              </a:lnSpc>
              <a:buNone/>
            </a:pPr>
            <a:r>
              <a:rPr lang="en-US" sz="1750" dirty="0">
                <a:solidFill>
                  <a:srgbClr val="4C4C4D"/>
                </a:solidFill>
                <a:latin typeface="Crimson Pro Semi Bold" pitchFamily="34" charset="0"/>
                <a:ea typeface="Crimson Pro Semi Bold" pitchFamily="34" charset="-122"/>
                <a:cs typeface="Crimson Pro Semi Bold" pitchFamily="34" charset="-120"/>
              </a:rPr>
              <a:t>Email Phishing</a:t>
            </a:r>
            <a:endParaRPr lang="en-US" sz="1750" dirty="0"/>
          </a:p>
        </p:txBody>
      </p:sp>
      <p:sp>
        <p:nvSpPr>
          <p:cNvPr id="7" name="Text 4"/>
          <p:cNvSpPr/>
          <p:nvPr/>
        </p:nvSpPr>
        <p:spPr>
          <a:xfrm>
            <a:off x="975241" y="3087886"/>
            <a:ext cx="3887867" cy="1306116"/>
          </a:xfrm>
          <a:prstGeom prst="rect">
            <a:avLst/>
          </a:prstGeom>
          <a:noFill/>
          <a:ln/>
        </p:spPr>
        <p:txBody>
          <a:bodyPr wrap="square" lIns="0" tIns="0" rIns="0" bIns="0" rtlCol="0" anchor="t"/>
          <a:lstStyle/>
          <a:p>
            <a:pPr marL="0" indent="0" algn="l">
              <a:lnSpc>
                <a:spcPts val="2050"/>
              </a:lnSpc>
              <a:buNone/>
            </a:pPr>
            <a:r>
              <a:rPr lang="en-US" sz="1400" dirty="0">
                <a:solidFill>
                  <a:srgbClr val="4C4C4D"/>
                </a:solidFill>
                <a:latin typeface="Heebo" pitchFamily="34" charset="0"/>
                <a:ea typeface="Heebo" pitchFamily="34" charset="-122"/>
                <a:cs typeface="Heebo" pitchFamily="34" charset="-120"/>
              </a:rPr>
              <a:t>Most common form: - Fake sender address - Malicious links - Infected attachments - Urgency tactics Example: "Your account will be suspended in 24 hours. Click here to verify your information immediately."</a:t>
            </a:r>
            <a:endParaRPr lang="en-US" sz="1400" dirty="0"/>
          </a:p>
        </p:txBody>
      </p:sp>
      <p:sp>
        <p:nvSpPr>
          <p:cNvPr id="8" name="Text 5"/>
          <p:cNvSpPr/>
          <p:nvPr/>
        </p:nvSpPr>
        <p:spPr>
          <a:xfrm>
            <a:off x="975241" y="4481036"/>
            <a:ext cx="3887867" cy="1044893"/>
          </a:xfrm>
          <a:prstGeom prst="rect">
            <a:avLst/>
          </a:prstGeom>
          <a:noFill/>
          <a:ln/>
        </p:spPr>
        <p:txBody>
          <a:bodyPr wrap="square" lIns="0" tIns="0" rIns="0" bIns="0" rtlCol="0" anchor="t"/>
          <a:lstStyle/>
          <a:p>
            <a:pPr marL="0" indent="0" algn="l">
              <a:lnSpc>
                <a:spcPts val="2050"/>
              </a:lnSpc>
              <a:buNone/>
            </a:pPr>
            <a:r>
              <a:rPr lang="en-US" sz="1400" dirty="0">
                <a:solidFill>
                  <a:srgbClr val="4C4C4D"/>
                </a:solidFill>
                <a:latin typeface="Heebo" pitchFamily="34" charset="0"/>
                <a:ea typeface="Heebo" pitchFamily="34" charset="-122"/>
                <a:cs typeface="Heebo" pitchFamily="34" charset="-120"/>
              </a:rPr>
              <a:t>An email from a seemingly legitimate sender tries to trick the recipient into following a malicious link and/or downloading an infected file.</a:t>
            </a:r>
            <a:endParaRPr lang="en-US" sz="1400" dirty="0"/>
          </a:p>
        </p:txBody>
      </p:sp>
      <p:sp>
        <p:nvSpPr>
          <p:cNvPr id="9" name="Shape 6"/>
          <p:cNvSpPr/>
          <p:nvPr/>
        </p:nvSpPr>
        <p:spPr>
          <a:xfrm>
            <a:off x="5189696" y="1846421"/>
            <a:ext cx="4250888" cy="5393888"/>
          </a:xfrm>
          <a:prstGeom prst="roundRect">
            <a:avLst>
              <a:gd name="adj" fmla="val 640"/>
            </a:avLst>
          </a:prstGeom>
          <a:solidFill>
            <a:srgbClr val="F2EEEE"/>
          </a:solidFill>
          <a:ln/>
        </p:spPr>
      </p:sp>
      <p:sp>
        <p:nvSpPr>
          <p:cNvPr id="10" name="Shape 7"/>
          <p:cNvSpPr/>
          <p:nvPr/>
        </p:nvSpPr>
        <p:spPr>
          <a:xfrm>
            <a:off x="5371148" y="2027872"/>
            <a:ext cx="544354" cy="544354"/>
          </a:xfrm>
          <a:prstGeom prst="roundRect">
            <a:avLst>
              <a:gd name="adj" fmla="val 16796213"/>
            </a:avLst>
          </a:prstGeom>
          <a:solidFill>
            <a:srgbClr val="FFD1A7"/>
          </a:solidFill>
          <a:ln/>
        </p:spPr>
      </p:sp>
      <p:pic>
        <p:nvPicPr>
          <p:cNvPr id="11"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520809" y="2177534"/>
            <a:ext cx="244912" cy="244912"/>
          </a:xfrm>
          <a:prstGeom prst="rect">
            <a:avLst/>
          </a:prstGeom>
        </p:spPr>
      </p:pic>
      <p:sp>
        <p:nvSpPr>
          <p:cNvPr id="12" name="Text 8"/>
          <p:cNvSpPr/>
          <p:nvPr/>
        </p:nvSpPr>
        <p:spPr>
          <a:xfrm>
            <a:off x="5371148" y="2717363"/>
            <a:ext cx="2268260" cy="283488"/>
          </a:xfrm>
          <a:prstGeom prst="rect">
            <a:avLst/>
          </a:prstGeom>
          <a:noFill/>
          <a:ln/>
        </p:spPr>
        <p:txBody>
          <a:bodyPr wrap="none" lIns="0" tIns="0" rIns="0" bIns="0" rtlCol="0" anchor="t"/>
          <a:lstStyle/>
          <a:p>
            <a:pPr marL="0" indent="0" algn="l">
              <a:lnSpc>
                <a:spcPts val="2200"/>
              </a:lnSpc>
              <a:buNone/>
            </a:pPr>
            <a:r>
              <a:rPr lang="en-US" sz="1750" dirty="0">
                <a:solidFill>
                  <a:srgbClr val="4C4C4D"/>
                </a:solidFill>
                <a:latin typeface="Crimson Pro Semi Bold" pitchFamily="34" charset="0"/>
                <a:ea typeface="Crimson Pro Semi Bold" pitchFamily="34" charset="-122"/>
                <a:cs typeface="Crimson Pro Semi Bold" pitchFamily="34" charset="-120"/>
              </a:rPr>
              <a:t>Spear Phishing</a:t>
            </a:r>
            <a:endParaRPr lang="en-US" sz="1750" dirty="0"/>
          </a:p>
        </p:txBody>
      </p:sp>
      <p:sp>
        <p:nvSpPr>
          <p:cNvPr id="13" name="Text 9"/>
          <p:cNvSpPr/>
          <p:nvPr/>
        </p:nvSpPr>
        <p:spPr>
          <a:xfrm>
            <a:off x="5371148" y="3087886"/>
            <a:ext cx="3887986" cy="1567339"/>
          </a:xfrm>
          <a:prstGeom prst="rect">
            <a:avLst/>
          </a:prstGeom>
          <a:noFill/>
          <a:ln/>
        </p:spPr>
        <p:txBody>
          <a:bodyPr wrap="square" lIns="0" tIns="0" rIns="0" bIns="0" rtlCol="0" anchor="t"/>
          <a:lstStyle/>
          <a:p>
            <a:pPr marL="0" indent="0" algn="l">
              <a:lnSpc>
                <a:spcPts val="2050"/>
              </a:lnSpc>
              <a:buNone/>
            </a:pPr>
            <a:r>
              <a:rPr lang="en-US" sz="1400" dirty="0">
                <a:solidFill>
                  <a:srgbClr val="4C4C4D"/>
                </a:solidFill>
                <a:latin typeface="Heebo" pitchFamily="34" charset="0"/>
                <a:ea typeface="Heebo" pitchFamily="34" charset="-122"/>
                <a:cs typeface="Heebo" pitchFamily="34" charset="-120"/>
              </a:rPr>
              <a:t>Spear phishing is directed at specific individuals or companies. By gathering details or buying information about a particular target, an attacker is able to mount a personalized scam. This is currently the most effective type of phishing.</a:t>
            </a:r>
            <a:endParaRPr lang="en-US" sz="1400" dirty="0"/>
          </a:p>
        </p:txBody>
      </p:sp>
      <p:sp>
        <p:nvSpPr>
          <p:cNvPr id="14" name="Text 10"/>
          <p:cNvSpPr/>
          <p:nvPr/>
        </p:nvSpPr>
        <p:spPr>
          <a:xfrm>
            <a:off x="5371148" y="4742259"/>
            <a:ext cx="3887986" cy="522446"/>
          </a:xfrm>
          <a:prstGeom prst="rect">
            <a:avLst/>
          </a:prstGeom>
          <a:noFill/>
          <a:ln/>
        </p:spPr>
        <p:txBody>
          <a:bodyPr wrap="square" lIns="0" tIns="0" rIns="0" bIns="0" rtlCol="0" anchor="t"/>
          <a:lstStyle/>
          <a:p>
            <a:pPr marL="0" indent="0" algn="l">
              <a:lnSpc>
                <a:spcPts val="2050"/>
              </a:lnSpc>
              <a:buNone/>
            </a:pPr>
            <a:r>
              <a:rPr lang="en-US" sz="1400" dirty="0">
                <a:solidFill>
                  <a:srgbClr val="4C4C4D"/>
                </a:solidFill>
                <a:latin typeface="Heebo" pitchFamily="34" charset="0"/>
                <a:ea typeface="Heebo" pitchFamily="34" charset="-122"/>
                <a:cs typeface="Heebo" pitchFamily="34" charset="-120"/>
              </a:rPr>
              <a:t>The attacker typically already has some or all of the following information about the victim:</a:t>
            </a:r>
            <a:endParaRPr lang="en-US" sz="1400" dirty="0"/>
          </a:p>
        </p:txBody>
      </p:sp>
      <p:sp>
        <p:nvSpPr>
          <p:cNvPr id="15" name="Text 11"/>
          <p:cNvSpPr/>
          <p:nvPr/>
        </p:nvSpPr>
        <p:spPr>
          <a:xfrm>
            <a:off x="5371148" y="5351740"/>
            <a:ext cx="3887986" cy="783669"/>
          </a:xfrm>
          <a:prstGeom prst="rect">
            <a:avLst/>
          </a:prstGeom>
          <a:noFill/>
          <a:ln/>
        </p:spPr>
        <p:txBody>
          <a:bodyPr wrap="square" lIns="0" tIns="0" rIns="0" bIns="0" rtlCol="0" anchor="t"/>
          <a:lstStyle/>
          <a:p>
            <a:pPr marL="0" indent="0" algn="l">
              <a:lnSpc>
                <a:spcPts val="2050"/>
              </a:lnSpc>
              <a:buNone/>
            </a:pPr>
            <a:r>
              <a:rPr lang="en-US" sz="1400" dirty="0">
                <a:solidFill>
                  <a:srgbClr val="4C4C4D"/>
                </a:solidFill>
                <a:latin typeface="Heebo" pitchFamily="34" charset="0"/>
                <a:ea typeface="Heebo" pitchFamily="34" charset="-122"/>
                <a:cs typeface="Heebo" pitchFamily="34" charset="-120"/>
              </a:rPr>
              <a:t>- Full name - Job title - Email address - Company name - Colleagues' names - Recent activities - Personal interests</a:t>
            </a:r>
            <a:endParaRPr lang="en-US" sz="1400" dirty="0"/>
          </a:p>
        </p:txBody>
      </p:sp>
      <p:sp>
        <p:nvSpPr>
          <p:cNvPr id="16" name="Shape 12"/>
          <p:cNvSpPr/>
          <p:nvPr/>
        </p:nvSpPr>
        <p:spPr>
          <a:xfrm>
            <a:off x="9585722" y="1846421"/>
            <a:ext cx="4250888" cy="5393888"/>
          </a:xfrm>
          <a:prstGeom prst="roundRect">
            <a:avLst>
              <a:gd name="adj" fmla="val 640"/>
            </a:avLst>
          </a:prstGeom>
          <a:solidFill>
            <a:srgbClr val="F2EEEE"/>
          </a:solidFill>
          <a:ln/>
        </p:spPr>
      </p:sp>
      <p:sp>
        <p:nvSpPr>
          <p:cNvPr id="17" name="Shape 13"/>
          <p:cNvSpPr/>
          <p:nvPr/>
        </p:nvSpPr>
        <p:spPr>
          <a:xfrm>
            <a:off x="9767173" y="2027872"/>
            <a:ext cx="544354" cy="544354"/>
          </a:xfrm>
          <a:prstGeom prst="roundRect">
            <a:avLst>
              <a:gd name="adj" fmla="val 16796213"/>
            </a:avLst>
          </a:prstGeom>
          <a:solidFill>
            <a:srgbClr val="FFD1A7"/>
          </a:solidFill>
          <a:ln/>
        </p:spPr>
      </p:sp>
      <p:pic>
        <p:nvPicPr>
          <p:cNvPr id="18"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916835" y="2177534"/>
            <a:ext cx="244912" cy="244912"/>
          </a:xfrm>
          <a:prstGeom prst="rect">
            <a:avLst/>
          </a:prstGeom>
        </p:spPr>
      </p:pic>
      <p:sp>
        <p:nvSpPr>
          <p:cNvPr id="19" name="Text 14"/>
          <p:cNvSpPr/>
          <p:nvPr/>
        </p:nvSpPr>
        <p:spPr>
          <a:xfrm>
            <a:off x="9767173" y="2717363"/>
            <a:ext cx="2268260" cy="283488"/>
          </a:xfrm>
          <a:prstGeom prst="rect">
            <a:avLst/>
          </a:prstGeom>
          <a:noFill/>
          <a:ln/>
        </p:spPr>
        <p:txBody>
          <a:bodyPr wrap="none" lIns="0" tIns="0" rIns="0" bIns="0" rtlCol="0" anchor="t"/>
          <a:lstStyle/>
          <a:p>
            <a:pPr marL="0" indent="0" algn="l">
              <a:lnSpc>
                <a:spcPts val="2200"/>
              </a:lnSpc>
              <a:buNone/>
            </a:pPr>
            <a:r>
              <a:rPr lang="en-US" sz="1750" dirty="0">
                <a:solidFill>
                  <a:srgbClr val="4C4C4D"/>
                </a:solidFill>
                <a:latin typeface="Crimson Pro Semi Bold" pitchFamily="34" charset="0"/>
                <a:ea typeface="Crimson Pro Semi Bold" pitchFamily="34" charset="-122"/>
                <a:cs typeface="Crimson Pro Semi Bold" pitchFamily="34" charset="-120"/>
              </a:rPr>
              <a:t>Whaling</a:t>
            </a:r>
            <a:endParaRPr lang="en-US" sz="1750" dirty="0"/>
          </a:p>
        </p:txBody>
      </p:sp>
      <p:sp>
        <p:nvSpPr>
          <p:cNvPr id="20" name="Text 15"/>
          <p:cNvSpPr/>
          <p:nvPr/>
        </p:nvSpPr>
        <p:spPr>
          <a:xfrm>
            <a:off x="9767173" y="3087886"/>
            <a:ext cx="3887986" cy="1306116"/>
          </a:xfrm>
          <a:prstGeom prst="rect">
            <a:avLst/>
          </a:prstGeom>
          <a:noFill/>
          <a:ln/>
        </p:spPr>
        <p:txBody>
          <a:bodyPr wrap="square" lIns="0" tIns="0" rIns="0" bIns="0" rtlCol="0" anchor="t"/>
          <a:lstStyle/>
          <a:p>
            <a:pPr marL="0" indent="0" algn="l">
              <a:lnSpc>
                <a:spcPts val="2050"/>
              </a:lnSpc>
              <a:buNone/>
            </a:pPr>
            <a:r>
              <a:rPr lang="en-US" sz="1400" dirty="0">
                <a:solidFill>
                  <a:srgbClr val="4C4C4D"/>
                </a:solidFill>
                <a:latin typeface="Heebo" pitchFamily="34" charset="0"/>
                <a:ea typeface="Heebo" pitchFamily="34" charset="-122"/>
                <a:cs typeface="Heebo" pitchFamily="34" charset="-120"/>
              </a:rPr>
              <a:t>A whaling attack is a phishing attack that targets a senior executive. These individuals often have deep access to sensitive areas of the network, so a successful attack can result in access to valuable info.</a:t>
            </a:r>
            <a:endParaRPr lang="en-US" sz="1400" dirty="0"/>
          </a:p>
        </p:txBody>
      </p:sp>
      <p:sp>
        <p:nvSpPr>
          <p:cNvPr id="21" name="Shape 16"/>
          <p:cNvSpPr/>
          <p:nvPr/>
        </p:nvSpPr>
        <p:spPr>
          <a:xfrm>
            <a:off x="9767173" y="4557236"/>
            <a:ext cx="3887986" cy="2501622"/>
          </a:xfrm>
          <a:prstGeom prst="roundRect">
            <a:avLst>
              <a:gd name="adj" fmla="val 1088"/>
            </a:avLst>
          </a:prstGeom>
          <a:solidFill>
            <a:srgbClr val="B3C3FF"/>
          </a:solidFill>
          <a:ln/>
        </p:spPr>
      </p:sp>
      <p:pic>
        <p:nvPicPr>
          <p:cNvPr id="22" name="Image 3" descr="preencoded.png"/>
          <p:cNvPicPr>
            <a:picLocks noChangeAspect="1"/>
          </p:cNvPicPr>
          <p:nvPr/>
        </p:nvPicPr>
        <p:blipFill>
          <a:blip r:embed="rId9"/>
          <a:stretch>
            <a:fillRect/>
          </a:stretch>
        </p:blipFill>
        <p:spPr>
          <a:xfrm>
            <a:off x="9948624" y="4808101"/>
            <a:ext cx="226814" cy="181451"/>
          </a:xfrm>
          <a:prstGeom prst="rect">
            <a:avLst/>
          </a:prstGeom>
        </p:spPr>
      </p:pic>
      <p:sp>
        <p:nvSpPr>
          <p:cNvPr id="23" name="Text 17"/>
          <p:cNvSpPr/>
          <p:nvPr/>
        </p:nvSpPr>
        <p:spPr>
          <a:xfrm>
            <a:off x="10356890" y="4747736"/>
            <a:ext cx="3116818" cy="2089785"/>
          </a:xfrm>
          <a:prstGeom prst="rect">
            <a:avLst/>
          </a:prstGeom>
          <a:noFill/>
          <a:ln/>
        </p:spPr>
        <p:txBody>
          <a:bodyPr wrap="square" lIns="0" tIns="0" rIns="0" bIns="0" rtlCol="0" anchor="t"/>
          <a:lstStyle/>
          <a:p>
            <a:pPr marL="0" indent="0" algn="l">
              <a:lnSpc>
                <a:spcPts val="2050"/>
              </a:lnSpc>
              <a:buNone/>
            </a:pPr>
            <a:r>
              <a:rPr lang="en-US" sz="1400" b="1" dirty="0">
                <a:solidFill>
                  <a:srgbClr val="000000"/>
                </a:solidFill>
                <a:latin typeface="Heebo" pitchFamily="34" charset="0"/>
                <a:ea typeface="Heebo" pitchFamily="34" charset="-122"/>
                <a:cs typeface="Heebo" pitchFamily="34" charset="-120"/>
              </a:rPr>
              <a:t>Real-world example:</a:t>
            </a:r>
            <a:r>
              <a:rPr lang="en-US" sz="1400" dirty="0">
                <a:solidFill>
                  <a:srgbClr val="000000"/>
                </a:solidFill>
                <a:latin typeface="Heebo" pitchFamily="34" charset="0"/>
                <a:ea typeface="Heebo" pitchFamily="34" charset="-122"/>
                <a:cs typeface="Heebo" pitchFamily="34" charset="-120"/>
              </a:rPr>
              <a:t> A founder of Levitas, an Australian hedge fund, was the target of a whaling attack that led the individual to a fake connection using a fraudulent Zoom link. After following the link, they had malware installed on their system, and the company lost $800,000[3].</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793790" y="1261348"/>
            <a:ext cx="6407944" cy="5706785"/>
          </a:xfrm>
          <a:prstGeom prst="roundRect">
            <a:avLst>
              <a:gd name="adj" fmla="val 596"/>
            </a:avLst>
          </a:prstGeom>
          <a:solidFill>
            <a:srgbClr val="F2EEEE"/>
          </a:solidFill>
          <a:ln/>
        </p:spPr>
      </p:sp>
      <p:sp>
        <p:nvSpPr>
          <p:cNvPr id="3" name="Shape 1"/>
          <p:cNvSpPr/>
          <p:nvPr/>
        </p:nvSpPr>
        <p:spPr>
          <a:xfrm>
            <a:off x="1020604" y="1488162"/>
            <a:ext cx="680442" cy="680442"/>
          </a:xfrm>
          <a:prstGeom prst="roundRect">
            <a:avLst>
              <a:gd name="adj" fmla="val 13436980"/>
            </a:avLst>
          </a:prstGeom>
          <a:solidFill>
            <a:srgbClr val="FFD1A7"/>
          </a:solidFill>
          <a:ln/>
        </p:spPr>
      </p:sp>
      <p:pic>
        <p:nvPicPr>
          <p:cNvPr id="4"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07770" y="1675209"/>
            <a:ext cx="306110" cy="306110"/>
          </a:xfrm>
          <a:prstGeom prst="rect">
            <a:avLst/>
          </a:prstGeom>
        </p:spPr>
      </p:pic>
      <p:sp>
        <p:nvSpPr>
          <p:cNvPr id="5" name="Text 2"/>
          <p:cNvSpPr/>
          <p:nvPr/>
        </p:nvSpPr>
        <p:spPr>
          <a:xfrm>
            <a:off x="1020604" y="239541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C4C4D"/>
                </a:solidFill>
                <a:latin typeface="Crimson Pro Semi Bold" pitchFamily="34" charset="0"/>
                <a:ea typeface="Crimson Pro Semi Bold" pitchFamily="34" charset="-122"/>
                <a:cs typeface="Crimson Pro Semi Bold" pitchFamily="34" charset="-120"/>
              </a:rPr>
              <a:t>Website Forgery</a:t>
            </a:r>
            <a:endParaRPr lang="en-US" sz="2200" dirty="0"/>
          </a:p>
        </p:txBody>
      </p:sp>
      <p:sp>
        <p:nvSpPr>
          <p:cNvPr id="6" name="Text 3"/>
          <p:cNvSpPr/>
          <p:nvPr/>
        </p:nvSpPr>
        <p:spPr>
          <a:xfrm>
            <a:off x="1020604" y="2885837"/>
            <a:ext cx="5954316" cy="362903"/>
          </a:xfrm>
          <a:prstGeom prst="rect">
            <a:avLst/>
          </a:prstGeom>
          <a:noFill/>
          <a:ln/>
        </p:spPr>
        <p:txBody>
          <a:bodyPr wrap="none" lIns="0" tIns="0" rIns="0" bIns="0" rtlCol="0" anchor="t"/>
          <a:lstStyle/>
          <a:p>
            <a:pPr marL="0" indent="0" algn="l">
              <a:lnSpc>
                <a:spcPts val="2850"/>
              </a:lnSpc>
              <a:buNone/>
            </a:pPr>
            <a:r>
              <a:rPr lang="en-US" sz="1750" dirty="0">
                <a:solidFill>
                  <a:srgbClr val="4C4C4D"/>
                </a:solidFill>
                <a:latin typeface="Heebo" pitchFamily="34" charset="0"/>
                <a:ea typeface="Heebo" pitchFamily="34" charset="-122"/>
                <a:cs typeface="Heebo" pitchFamily="34" charset="-120"/>
              </a:rPr>
              <a:t>Process:</a:t>
            </a:r>
            <a:endParaRPr lang="en-US" sz="1750" dirty="0"/>
          </a:p>
        </p:txBody>
      </p:sp>
      <p:sp>
        <p:nvSpPr>
          <p:cNvPr id="7" name="Text 4"/>
          <p:cNvSpPr/>
          <p:nvPr/>
        </p:nvSpPr>
        <p:spPr>
          <a:xfrm>
            <a:off x="1020604" y="3384828"/>
            <a:ext cx="5954316" cy="213169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4C4C4D"/>
                </a:solidFill>
                <a:latin typeface="Heebo" pitchFamily="34" charset="0"/>
                <a:ea typeface="Heebo" pitchFamily="34" charset="-122"/>
                <a:cs typeface="Heebo" pitchFamily="34" charset="-120"/>
              </a:rPr>
              <a:t>Create identical copy of legitimate website</a:t>
            </a:r>
            <a:endParaRPr lang="en-US" sz="1750" dirty="0"/>
          </a:p>
          <a:p>
            <a:pPr marL="342900" indent="-342900" algn="l">
              <a:lnSpc>
                <a:spcPts val="2850"/>
              </a:lnSpc>
              <a:buSzPct val="100000"/>
              <a:buChar char="•"/>
            </a:pPr>
            <a:r>
              <a:rPr lang="en-US" sz="1750" dirty="0">
                <a:solidFill>
                  <a:srgbClr val="4C4C4D"/>
                </a:solidFill>
                <a:latin typeface="Heebo" pitchFamily="34" charset="0"/>
                <a:ea typeface="Heebo" pitchFamily="34" charset="-122"/>
                <a:cs typeface="Heebo" pitchFamily="34" charset="-120"/>
              </a:rPr>
              <a:t>Register similar domain name</a:t>
            </a:r>
            <a:endParaRPr lang="en-US" sz="1750" dirty="0"/>
          </a:p>
          <a:p>
            <a:pPr marL="342900" indent="-342900" algn="l">
              <a:lnSpc>
                <a:spcPts val="2850"/>
              </a:lnSpc>
              <a:buSzPct val="100000"/>
              <a:buChar char="•"/>
            </a:pPr>
            <a:r>
              <a:rPr lang="en-US" sz="1750" dirty="0">
                <a:solidFill>
                  <a:srgbClr val="4C4C4D"/>
                </a:solidFill>
                <a:latin typeface="Heebo" pitchFamily="34" charset="0"/>
                <a:ea typeface="Heebo" pitchFamily="34" charset="-122"/>
                <a:cs typeface="Heebo" pitchFamily="34" charset="-120"/>
              </a:rPr>
              <a:t>Lure victims via email/search</a:t>
            </a:r>
            <a:endParaRPr lang="en-US" sz="1750" dirty="0"/>
          </a:p>
          <a:p>
            <a:pPr marL="342900" indent="-342900" algn="l">
              <a:lnSpc>
                <a:spcPts val="2850"/>
              </a:lnSpc>
              <a:buSzPct val="100000"/>
              <a:buChar char="•"/>
            </a:pPr>
            <a:r>
              <a:rPr lang="en-US" sz="1750" dirty="0">
                <a:solidFill>
                  <a:srgbClr val="4C4C4D"/>
                </a:solidFill>
                <a:latin typeface="Heebo" pitchFamily="34" charset="0"/>
                <a:ea typeface="Heebo" pitchFamily="34" charset="-122"/>
                <a:cs typeface="Heebo" pitchFamily="34" charset="-120"/>
              </a:rPr>
              <a:t>Capture entered credentials</a:t>
            </a:r>
            <a:endParaRPr lang="en-US" sz="1750" dirty="0"/>
          </a:p>
          <a:p>
            <a:pPr marL="342900" indent="-342900" algn="l">
              <a:lnSpc>
                <a:spcPts val="2850"/>
              </a:lnSpc>
              <a:buSzPct val="100000"/>
              <a:buChar char="•"/>
            </a:pPr>
            <a:r>
              <a:rPr lang="en-US" sz="1750" dirty="0">
                <a:solidFill>
                  <a:srgbClr val="4C4C4D"/>
                </a:solidFill>
                <a:latin typeface="Heebo" pitchFamily="34" charset="0"/>
                <a:ea typeface="Heebo" pitchFamily="34" charset="-122"/>
                <a:cs typeface="Heebo" pitchFamily="34" charset="-120"/>
              </a:rPr>
              <a:t>Redirect to real site to avoid suspicion</a:t>
            </a:r>
            <a:endParaRPr lang="en-US" sz="1750" dirty="0"/>
          </a:p>
        </p:txBody>
      </p:sp>
      <p:sp>
        <p:nvSpPr>
          <p:cNvPr id="8" name="Shape 5"/>
          <p:cNvSpPr/>
          <p:nvPr/>
        </p:nvSpPr>
        <p:spPr>
          <a:xfrm>
            <a:off x="7428548" y="1261348"/>
            <a:ext cx="6408063" cy="5706785"/>
          </a:xfrm>
          <a:prstGeom prst="roundRect">
            <a:avLst>
              <a:gd name="adj" fmla="val 596"/>
            </a:avLst>
          </a:prstGeom>
          <a:solidFill>
            <a:srgbClr val="F2EEEE"/>
          </a:solidFill>
          <a:ln/>
        </p:spPr>
      </p:sp>
      <p:sp>
        <p:nvSpPr>
          <p:cNvPr id="9" name="Shape 6"/>
          <p:cNvSpPr/>
          <p:nvPr/>
        </p:nvSpPr>
        <p:spPr>
          <a:xfrm>
            <a:off x="7655362" y="1488162"/>
            <a:ext cx="680442" cy="680442"/>
          </a:xfrm>
          <a:prstGeom prst="roundRect">
            <a:avLst>
              <a:gd name="adj" fmla="val 13436980"/>
            </a:avLst>
          </a:prstGeom>
          <a:solidFill>
            <a:srgbClr val="FFD1A7"/>
          </a:solidFill>
          <a:ln/>
        </p:spPr>
      </p:sp>
      <p:pic>
        <p:nvPicPr>
          <p:cNvPr id="10"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842528" y="1675209"/>
            <a:ext cx="306110" cy="306110"/>
          </a:xfrm>
          <a:prstGeom prst="rect">
            <a:avLst/>
          </a:prstGeom>
        </p:spPr>
      </p:pic>
      <p:sp>
        <p:nvSpPr>
          <p:cNvPr id="11" name="Text 7"/>
          <p:cNvSpPr/>
          <p:nvPr/>
        </p:nvSpPr>
        <p:spPr>
          <a:xfrm>
            <a:off x="7655362" y="2395418"/>
            <a:ext cx="4079319" cy="354330"/>
          </a:xfrm>
          <a:prstGeom prst="rect">
            <a:avLst/>
          </a:prstGeom>
          <a:noFill/>
          <a:ln/>
        </p:spPr>
        <p:txBody>
          <a:bodyPr wrap="none" lIns="0" tIns="0" rIns="0" bIns="0" rtlCol="0" anchor="t"/>
          <a:lstStyle/>
          <a:p>
            <a:pPr marL="0" indent="0" algn="l">
              <a:lnSpc>
                <a:spcPts val="2750"/>
              </a:lnSpc>
              <a:buNone/>
            </a:pPr>
            <a:r>
              <a:rPr lang="en-US" sz="2200" dirty="0">
                <a:solidFill>
                  <a:srgbClr val="4C4C4D"/>
                </a:solidFill>
                <a:latin typeface="Crimson Pro Semi Bold" pitchFamily="34" charset="0"/>
                <a:ea typeface="Crimson Pro Semi Bold" pitchFamily="34" charset="-122"/>
                <a:cs typeface="Crimson Pro Semi Bold" pitchFamily="34" charset="-120"/>
              </a:rPr>
              <a:t>Business Email Compromise (BEC)</a:t>
            </a:r>
            <a:endParaRPr lang="en-US" sz="2200" dirty="0"/>
          </a:p>
        </p:txBody>
      </p:sp>
      <p:sp>
        <p:nvSpPr>
          <p:cNvPr id="12" name="Text 8"/>
          <p:cNvSpPr/>
          <p:nvPr/>
        </p:nvSpPr>
        <p:spPr>
          <a:xfrm>
            <a:off x="7655362" y="2885837"/>
            <a:ext cx="5954435" cy="1088708"/>
          </a:xfrm>
          <a:prstGeom prst="rect">
            <a:avLst/>
          </a:prstGeom>
          <a:noFill/>
          <a:ln/>
        </p:spPr>
        <p:txBody>
          <a:bodyPr wrap="square" lIns="0" tIns="0" rIns="0" bIns="0" rtlCol="0" anchor="t"/>
          <a:lstStyle/>
          <a:p>
            <a:pPr marL="0" indent="0" algn="l">
              <a:lnSpc>
                <a:spcPts val="2850"/>
              </a:lnSpc>
              <a:buNone/>
            </a:pPr>
            <a:r>
              <a:rPr lang="en-US" sz="1750" dirty="0">
                <a:solidFill>
                  <a:srgbClr val="4C4C4D"/>
                </a:solidFill>
                <a:latin typeface="Heebo" pitchFamily="34" charset="0"/>
                <a:ea typeface="Heebo" pitchFamily="34" charset="-122"/>
                <a:cs typeface="Heebo" pitchFamily="34" charset="-120"/>
              </a:rPr>
              <a:t>According to the Anti-Phishing Working Group (APWG), BEC attacks grew more frequent in 2023, but scammers asked for less money on average with each attack.</a:t>
            </a:r>
            <a:endParaRPr lang="en-US" sz="1750" dirty="0"/>
          </a:p>
        </p:txBody>
      </p:sp>
      <p:sp>
        <p:nvSpPr>
          <p:cNvPr id="13" name="Text 9"/>
          <p:cNvSpPr/>
          <p:nvPr/>
        </p:nvSpPr>
        <p:spPr>
          <a:xfrm>
            <a:off x="7655362" y="4110633"/>
            <a:ext cx="5954435" cy="362903"/>
          </a:xfrm>
          <a:prstGeom prst="rect">
            <a:avLst/>
          </a:prstGeom>
          <a:noFill/>
          <a:ln/>
        </p:spPr>
        <p:txBody>
          <a:bodyPr wrap="none" lIns="0" tIns="0" rIns="0" bIns="0" rtlCol="0" anchor="t"/>
          <a:lstStyle/>
          <a:p>
            <a:pPr marL="0" indent="0" algn="l">
              <a:lnSpc>
                <a:spcPts val="2850"/>
              </a:lnSpc>
              <a:buNone/>
            </a:pPr>
            <a:r>
              <a:rPr lang="en-US" sz="1750" dirty="0">
                <a:solidFill>
                  <a:srgbClr val="4C4C4D"/>
                </a:solidFill>
                <a:latin typeface="Heebo" pitchFamily="34" charset="0"/>
                <a:ea typeface="Heebo" pitchFamily="34" charset="-122"/>
                <a:cs typeface="Heebo" pitchFamily="34" charset="-120"/>
              </a:rPr>
              <a:t>Common BEC scenarios:</a:t>
            </a:r>
            <a:endParaRPr lang="en-US" sz="1750" dirty="0"/>
          </a:p>
        </p:txBody>
      </p:sp>
      <p:sp>
        <p:nvSpPr>
          <p:cNvPr id="14" name="Text 10"/>
          <p:cNvSpPr/>
          <p:nvPr/>
        </p:nvSpPr>
        <p:spPr>
          <a:xfrm>
            <a:off x="7655362" y="4609624"/>
            <a:ext cx="5954435" cy="213169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4C4C4D"/>
                </a:solidFill>
                <a:latin typeface="Heebo" pitchFamily="34" charset="0"/>
                <a:ea typeface="Heebo" pitchFamily="34" charset="-122"/>
                <a:cs typeface="Heebo" pitchFamily="34" charset="-120"/>
              </a:rPr>
              <a:t>CEO fraud (impersonating executives)</a:t>
            </a:r>
            <a:endParaRPr lang="en-US" sz="1750" dirty="0"/>
          </a:p>
          <a:p>
            <a:pPr marL="342900" indent="-342900" algn="l">
              <a:lnSpc>
                <a:spcPts val="2850"/>
              </a:lnSpc>
              <a:buSzPct val="100000"/>
              <a:buChar char="•"/>
            </a:pPr>
            <a:r>
              <a:rPr lang="en-US" sz="1750" dirty="0">
                <a:solidFill>
                  <a:srgbClr val="4C4C4D"/>
                </a:solidFill>
                <a:latin typeface="Heebo" pitchFamily="34" charset="0"/>
                <a:ea typeface="Heebo" pitchFamily="34" charset="-122"/>
                <a:cs typeface="Heebo" pitchFamily="34" charset="-120"/>
              </a:rPr>
              <a:t>Invoice fraud</a:t>
            </a:r>
            <a:endParaRPr lang="en-US" sz="1750" dirty="0"/>
          </a:p>
          <a:p>
            <a:pPr marL="342900" indent="-342900" algn="l">
              <a:lnSpc>
                <a:spcPts val="2850"/>
              </a:lnSpc>
              <a:buSzPct val="100000"/>
              <a:buChar char="•"/>
            </a:pPr>
            <a:r>
              <a:rPr lang="en-US" sz="1750" dirty="0">
                <a:solidFill>
                  <a:srgbClr val="4C4C4D"/>
                </a:solidFill>
                <a:latin typeface="Heebo" pitchFamily="34" charset="0"/>
                <a:ea typeface="Heebo" pitchFamily="34" charset="-122"/>
                <a:cs typeface="Heebo" pitchFamily="34" charset="-120"/>
              </a:rPr>
              <a:t>Attorney impersonation</a:t>
            </a:r>
            <a:endParaRPr lang="en-US" sz="1750" dirty="0"/>
          </a:p>
          <a:p>
            <a:pPr marL="342900" indent="-342900" algn="l">
              <a:lnSpc>
                <a:spcPts val="2850"/>
              </a:lnSpc>
              <a:buSzPct val="100000"/>
              <a:buChar char="•"/>
            </a:pPr>
            <a:r>
              <a:rPr lang="en-US" sz="1750" dirty="0">
                <a:solidFill>
                  <a:srgbClr val="4C4C4D"/>
                </a:solidFill>
                <a:latin typeface="Heebo" pitchFamily="34" charset="0"/>
                <a:ea typeface="Heebo" pitchFamily="34" charset="-122"/>
                <a:cs typeface="Heebo" pitchFamily="34" charset="-120"/>
              </a:rPr>
              <a:t>Data theft</a:t>
            </a:r>
            <a:endParaRPr lang="en-US" sz="1750" dirty="0"/>
          </a:p>
          <a:p>
            <a:pPr marL="342900" indent="-342900" algn="l">
              <a:lnSpc>
                <a:spcPts val="2850"/>
              </a:lnSpc>
              <a:buSzPct val="100000"/>
              <a:buChar char="•"/>
            </a:pPr>
            <a:r>
              <a:rPr lang="en-US" sz="1750" dirty="0">
                <a:solidFill>
                  <a:srgbClr val="4C4C4D"/>
                </a:solidFill>
                <a:latin typeface="Heebo" pitchFamily="34" charset="0"/>
                <a:ea typeface="Heebo" pitchFamily="34" charset="-122"/>
                <a:cs typeface="Heebo" pitchFamily="34" charset="-120"/>
              </a:rPr>
              <a:t>W-2 phishing</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793790" y="972264"/>
            <a:ext cx="4196358" cy="6285071"/>
          </a:xfrm>
          <a:prstGeom prst="roundRect">
            <a:avLst>
              <a:gd name="adj" fmla="val 811"/>
            </a:avLst>
          </a:prstGeom>
          <a:solidFill>
            <a:srgbClr val="F2EEEE"/>
          </a:solidFill>
          <a:ln/>
        </p:spPr>
      </p:sp>
      <p:sp>
        <p:nvSpPr>
          <p:cNvPr id="3" name="Shape 1"/>
          <p:cNvSpPr/>
          <p:nvPr/>
        </p:nvSpPr>
        <p:spPr>
          <a:xfrm>
            <a:off x="1020604" y="1199078"/>
            <a:ext cx="680442" cy="680442"/>
          </a:xfrm>
          <a:prstGeom prst="roundRect">
            <a:avLst>
              <a:gd name="adj" fmla="val 13436980"/>
            </a:avLst>
          </a:prstGeom>
          <a:solidFill>
            <a:srgbClr val="FFD1A7"/>
          </a:solidFill>
          <a:ln/>
        </p:spPr>
      </p:sp>
      <p:pic>
        <p:nvPicPr>
          <p:cNvPr id="4"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07770" y="1386126"/>
            <a:ext cx="306110" cy="306110"/>
          </a:xfrm>
          <a:prstGeom prst="rect">
            <a:avLst/>
          </a:prstGeom>
        </p:spPr>
      </p:pic>
      <p:sp>
        <p:nvSpPr>
          <p:cNvPr id="5" name="Text 2"/>
          <p:cNvSpPr/>
          <p:nvPr/>
        </p:nvSpPr>
        <p:spPr>
          <a:xfrm>
            <a:off x="1020604" y="2106335"/>
            <a:ext cx="3409355" cy="354330"/>
          </a:xfrm>
          <a:prstGeom prst="rect">
            <a:avLst/>
          </a:prstGeom>
          <a:noFill/>
          <a:ln/>
        </p:spPr>
        <p:txBody>
          <a:bodyPr wrap="none" lIns="0" tIns="0" rIns="0" bIns="0" rtlCol="0" anchor="t"/>
          <a:lstStyle/>
          <a:p>
            <a:pPr marL="0" indent="0" algn="l">
              <a:lnSpc>
                <a:spcPts val="2750"/>
              </a:lnSpc>
              <a:buNone/>
            </a:pPr>
            <a:r>
              <a:rPr lang="en-US" sz="2200" dirty="0">
                <a:solidFill>
                  <a:srgbClr val="4C4C4D"/>
                </a:solidFill>
                <a:latin typeface="Crimson Pro Semi Bold" pitchFamily="34" charset="0"/>
                <a:ea typeface="Crimson Pro Semi Bold" pitchFamily="34" charset="-122"/>
                <a:cs typeface="Crimson Pro Semi Bold" pitchFamily="34" charset="-120"/>
              </a:rPr>
              <a:t>Phishing as a Service (PhaaS)</a:t>
            </a:r>
            <a:endParaRPr lang="en-US" sz="2200" dirty="0"/>
          </a:p>
        </p:txBody>
      </p:sp>
      <p:sp>
        <p:nvSpPr>
          <p:cNvPr id="6" name="Text 3"/>
          <p:cNvSpPr/>
          <p:nvPr/>
        </p:nvSpPr>
        <p:spPr>
          <a:xfrm>
            <a:off x="1020604" y="2596753"/>
            <a:ext cx="3742730" cy="4354830"/>
          </a:xfrm>
          <a:prstGeom prst="rect">
            <a:avLst/>
          </a:prstGeom>
          <a:noFill/>
          <a:ln/>
        </p:spPr>
        <p:txBody>
          <a:bodyPr wrap="square" lIns="0" tIns="0" rIns="0" bIns="0" rtlCol="0" anchor="t"/>
          <a:lstStyle/>
          <a:p>
            <a:pPr marL="0" indent="0" algn="l">
              <a:lnSpc>
                <a:spcPts val="2850"/>
              </a:lnSpc>
              <a:buNone/>
            </a:pPr>
            <a:r>
              <a:rPr lang="en-US" sz="1750" dirty="0">
                <a:solidFill>
                  <a:srgbClr val="4C4C4D"/>
                </a:solidFill>
                <a:latin typeface="Heebo" pitchFamily="34" charset="0"/>
                <a:ea typeface="Heebo" pitchFamily="34" charset="-122"/>
                <a:cs typeface="Heebo" pitchFamily="34" charset="-120"/>
              </a:rPr>
              <a:t>In the 2020s, PhaaS platforms like Darcula allow attackers to easily fake trusted websites. Evilginx, originally created as an open-source tool for penetration testing, has been repurposed by cybercriminals for MitM attacks. Evilginx works like a middleman, passing information between the victim and the real website without saving passwords or login codes, making it harder for security systems to detect.</a:t>
            </a:r>
            <a:endParaRPr lang="en-US" sz="1750" dirty="0"/>
          </a:p>
        </p:txBody>
      </p:sp>
      <p:sp>
        <p:nvSpPr>
          <p:cNvPr id="7" name="Shape 4"/>
          <p:cNvSpPr/>
          <p:nvPr/>
        </p:nvSpPr>
        <p:spPr>
          <a:xfrm>
            <a:off x="5216962" y="972264"/>
            <a:ext cx="4196358" cy="6285071"/>
          </a:xfrm>
          <a:prstGeom prst="roundRect">
            <a:avLst>
              <a:gd name="adj" fmla="val 811"/>
            </a:avLst>
          </a:prstGeom>
          <a:solidFill>
            <a:srgbClr val="F2EEEE"/>
          </a:solidFill>
          <a:ln/>
        </p:spPr>
      </p:sp>
      <p:sp>
        <p:nvSpPr>
          <p:cNvPr id="8" name="Shape 5"/>
          <p:cNvSpPr/>
          <p:nvPr/>
        </p:nvSpPr>
        <p:spPr>
          <a:xfrm>
            <a:off x="5443776" y="1199078"/>
            <a:ext cx="680442" cy="680442"/>
          </a:xfrm>
          <a:prstGeom prst="roundRect">
            <a:avLst>
              <a:gd name="adj" fmla="val 13436980"/>
            </a:avLst>
          </a:prstGeom>
          <a:solidFill>
            <a:srgbClr val="FFD1A7"/>
          </a:solidFill>
          <a:ln/>
        </p:spPr>
      </p:sp>
      <p:pic>
        <p:nvPicPr>
          <p:cNvPr id="9"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630942" y="1386126"/>
            <a:ext cx="306110" cy="306110"/>
          </a:xfrm>
          <a:prstGeom prst="rect">
            <a:avLst/>
          </a:prstGeom>
        </p:spPr>
      </p:pic>
      <p:sp>
        <p:nvSpPr>
          <p:cNvPr id="10" name="Text 6"/>
          <p:cNvSpPr/>
          <p:nvPr/>
        </p:nvSpPr>
        <p:spPr>
          <a:xfrm>
            <a:off x="5443776" y="2106335"/>
            <a:ext cx="3443883" cy="354330"/>
          </a:xfrm>
          <a:prstGeom prst="rect">
            <a:avLst/>
          </a:prstGeom>
          <a:noFill/>
          <a:ln/>
        </p:spPr>
        <p:txBody>
          <a:bodyPr wrap="none" lIns="0" tIns="0" rIns="0" bIns="0" rtlCol="0" anchor="t"/>
          <a:lstStyle/>
          <a:p>
            <a:pPr marL="0" indent="0" algn="l">
              <a:lnSpc>
                <a:spcPts val="2750"/>
              </a:lnSpc>
              <a:buNone/>
            </a:pPr>
            <a:r>
              <a:rPr lang="en-US" sz="2200" dirty="0">
                <a:solidFill>
                  <a:srgbClr val="4C4C4D"/>
                </a:solidFill>
                <a:latin typeface="Crimson Pro Semi Bold" pitchFamily="34" charset="0"/>
                <a:ea typeface="Crimson Pro Semi Bold" pitchFamily="34" charset="-122"/>
                <a:cs typeface="Crimson Pro Semi Bold" pitchFamily="34" charset="-120"/>
              </a:rPr>
              <a:t>QR Code Phishing (Quishing)</a:t>
            </a:r>
            <a:endParaRPr lang="en-US" sz="2200" dirty="0"/>
          </a:p>
        </p:txBody>
      </p:sp>
      <p:sp>
        <p:nvSpPr>
          <p:cNvPr id="11" name="Text 7"/>
          <p:cNvSpPr/>
          <p:nvPr/>
        </p:nvSpPr>
        <p:spPr>
          <a:xfrm>
            <a:off x="5443776" y="2596753"/>
            <a:ext cx="3742730" cy="362903"/>
          </a:xfrm>
          <a:prstGeom prst="rect">
            <a:avLst/>
          </a:prstGeom>
          <a:noFill/>
          <a:ln/>
        </p:spPr>
        <p:txBody>
          <a:bodyPr wrap="none" lIns="0" tIns="0" rIns="0" bIns="0" rtlCol="0" anchor="t"/>
          <a:lstStyle/>
          <a:p>
            <a:pPr marL="0" indent="0" algn="l">
              <a:lnSpc>
                <a:spcPts val="2850"/>
              </a:lnSpc>
              <a:buNone/>
            </a:pPr>
            <a:r>
              <a:rPr lang="en-US" sz="1750" dirty="0">
                <a:solidFill>
                  <a:srgbClr val="4C4C4D"/>
                </a:solidFill>
                <a:latin typeface="Heebo" pitchFamily="34" charset="0"/>
                <a:ea typeface="Heebo" pitchFamily="34" charset="-122"/>
                <a:cs typeface="Heebo" pitchFamily="34" charset="-120"/>
              </a:rPr>
              <a:t>Method:</a:t>
            </a:r>
            <a:endParaRPr lang="en-US" sz="1750" dirty="0"/>
          </a:p>
        </p:txBody>
      </p:sp>
      <p:sp>
        <p:nvSpPr>
          <p:cNvPr id="12" name="Text 8"/>
          <p:cNvSpPr/>
          <p:nvPr/>
        </p:nvSpPr>
        <p:spPr>
          <a:xfrm>
            <a:off x="5443776" y="3095744"/>
            <a:ext cx="3742730" cy="1689497"/>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4C4C4D"/>
                </a:solidFill>
                <a:latin typeface="Heebo" pitchFamily="34" charset="0"/>
                <a:ea typeface="Heebo" pitchFamily="34" charset="-122"/>
                <a:cs typeface="Heebo" pitchFamily="34" charset="-120"/>
              </a:rPr>
              <a:t>Embed malicious URL in QR code</a:t>
            </a:r>
            <a:endParaRPr lang="en-US" sz="1750" dirty="0"/>
          </a:p>
          <a:p>
            <a:pPr marL="342900" indent="-342900" algn="l">
              <a:lnSpc>
                <a:spcPts val="2850"/>
              </a:lnSpc>
              <a:buSzPct val="100000"/>
              <a:buChar char="•"/>
            </a:pPr>
            <a:r>
              <a:rPr lang="en-US" sz="1750" dirty="0">
                <a:solidFill>
                  <a:srgbClr val="4C4C4D"/>
                </a:solidFill>
                <a:latin typeface="Heebo" pitchFamily="34" charset="0"/>
                <a:ea typeface="Heebo" pitchFamily="34" charset="-122"/>
                <a:cs typeface="Heebo" pitchFamily="34" charset="-120"/>
              </a:rPr>
              <a:t>Place in emails, posters, flyers</a:t>
            </a:r>
            <a:endParaRPr lang="en-US" sz="1750" dirty="0"/>
          </a:p>
          <a:p>
            <a:pPr marL="342900" indent="-342900" algn="l">
              <a:lnSpc>
                <a:spcPts val="2850"/>
              </a:lnSpc>
              <a:buSzPct val="100000"/>
              <a:buChar char="•"/>
            </a:pPr>
            <a:r>
              <a:rPr lang="en-US" sz="1750" dirty="0">
                <a:solidFill>
                  <a:srgbClr val="4C4C4D"/>
                </a:solidFill>
                <a:latin typeface="Heebo" pitchFamily="34" charset="0"/>
                <a:ea typeface="Heebo" pitchFamily="34" charset="-122"/>
                <a:cs typeface="Heebo" pitchFamily="34" charset="-120"/>
              </a:rPr>
              <a:t>Bypass email security filters</a:t>
            </a:r>
            <a:endParaRPr lang="en-US" sz="1750" dirty="0"/>
          </a:p>
          <a:p>
            <a:pPr marL="342900" indent="-342900" algn="l">
              <a:lnSpc>
                <a:spcPts val="2850"/>
              </a:lnSpc>
              <a:buSzPct val="100000"/>
              <a:buChar char="•"/>
            </a:pPr>
            <a:r>
              <a:rPr lang="en-US" sz="1750" dirty="0">
                <a:solidFill>
                  <a:srgbClr val="4C4C4D"/>
                </a:solidFill>
                <a:latin typeface="Heebo" pitchFamily="34" charset="0"/>
                <a:ea typeface="Heebo" pitchFamily="34" charset="-122"/>
                <a:cs typeface="Heebo" pitchFamily="34" charset="-120"/>
              </a:rPr>
              <a:t>Redirect to phishing site</a:t>
            </a:r>
            <a:endParaRPr lang="en-US" sz="1750" dirty="0"/>
          </a:p>
        </p:txBody>
      </p:sp>
      <p:sp>
        <p:nvSpPr>
          <p:cNvPr id="13" name="Text 9"/>
          <p:cNvSpPr/>
          <p:nvPr/>
        </p:nvSpPr>
        <p:spPr>
          <a:xfrm>
            <a:off x="5443776" y="4921329"/>
            <a:ext cx="3742730" cy="362903"/>
          </a:xfrm>
          <a:prstGeom prst="rect">
            <a:avLst/>
          </a:prstGeom>
          <a:noFill/>
          <a:ln/>
        </p:spPr>
        <p:txBody>
          <a:bodyPr wrap="none" lIns="0" tIns="0" rIns="0" bIns="0" rtlCol="0" anchor="t"/>
          <a:lstStyle/>
          <a:p>
            <a:pPr marL="0" indent="0" algn="l">
              <a:lnSpc>
                <a:spcPts val="2850"/>
              </a:lnSpc>
              <a:buNone/>
            </a:pPr>
            <a:r>
              <a:rPr lang="en-US" sz="1750" dirty="0">
                <a:solidFill>
                  <a:srgbClr val="4C4C4D"/>
                </a:solidFill>
                <a:latin typeface="Heebo" pitchFamily="34" charset="0"/>
                <a:ea typeface="Heebo" pitchFamily="34" charset="-122"/>
                <a:cs typeface="Heebo" pitchFamily="34" charset="-120"/>
              </a:rPr>
              <a:t>Why effective:</a:t>
            </a:r>
            <a:endParaRPr lang="en-US" sz="1750" dirty="0"/>
          </a:p>
        </p:txBody>
      </p:sp>
      <p:sp>
        <p:nvSpPr>
          <p:cNvPr id="14" name="Text 10"/>
          <p:cNvSpPr/>
          <p:nvPr/>
        </p:nvSpPr>
        <p:spPr>
          <a:xfrm>
            <a:off x="5443776" y="5420320"/>
            <a:ext cx="3742730" cy="1610201"/>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4C4C4D"/>
                </a:solidFill>
                <a:latin typeface="Heebo" pitchFamily="34" charset="0"/>
                <a:ea typeface="Heebo" pitchFamily="34" charset="-122"/>
                <a:cs typeface="Heebo" pitchFamily="34" charset="-120"/>
              </a:rPr>
              <a:t>Hard to inspect QR code destination</a:t>
            </a:r>
            <a:endParaRPr lang="en-US" sz="1750" dirty="0"/>
          </a:p>
          <a:p>
            <a:pPr marL="342900" indent="-342900" algn="l">
              <a:lnSpc>
                <a:spcPts val="2850"/>
              </a:lnSpc>
              <a:buSzPct val="100000"/>
              <a:buChar char="•"/>
            </a:pPr>
            <a:r>
              <a:rPr lang="en-US" sz="1750" dirty="0">
                <a:solidFill>
                  <a:srgbClr val="4C4C4D"/>
                </a:solidFill>
                <a:latin typeface="Heebo" pitchFamily="34" charset="0"/>
                <a:ea typeface="Heebo" pitchFamily="34" charset="-122"/>
                <a:cs typeface="Heebo" pitchFamily="34" charset="-120"/>
              </a:rPr>
              <a:t>Mobile devices less protected</a:t>
            </a:r>
            <a:endParaRPr lang="en-US" sz="1750" dirty="0"/>
          </a:p>
          <a:p>
            <a:pPr marL="342900" indent="-342900" algn="l">
              <a:lnSpc>
                <a:spcPts val="2850"/>
              </a:lnSpc>
              <a:buSzPct val="100000"/>
              <a:buChar char="•"/>
            </a:pPr>
            <a:r>
              <a:rPr lang="en-US" sz="1750" dirty="0">
                <a:solidFill>
                  <a:srgbClr val="4C4C4D"/>
                </a:solidFill>
                <a:latin typeface="Heebo" pitchFamily="34" charset="0"/>
                <a:ea typeface="Heebo" pitchFamily="34" charset="-122"/>
                <a:cs typeface="Heebo" pitchFamily="34" charset="-120"/>
              </a:rPr>
              <a:t>Growing QR code trust</a:t>
            </a:r>
            <a:endParaRPr lang="en-US" sz="1750" dirty="0"/>
          </a:p>
        </p:txBody>
      </p:sp>
      <p:sp>
        <p:nvSpPr>
          <p:cNvPr id="15" name="Shape 11"/>
          <p:cNvSpPr/>
          <p:nvPr/>
        </p:nvSpPr>
        <p:spPr>
          <a:xfrm>
            <a:off x="9640133" y="972264"/>
            <a:ext cx="4196358" cy="6285071"/>
          </a:xfrm>
          <a:prstGeom prst="roundRect">
            <a:avLst>
              <a:gd name="adj" fmla="val 811"/>
            </a:avLst>
          </a:prstGeom>
          <a:solidFill>
            <a:srgbClr val="F2EEEE"/>
          </a:solidFill>
          <a:ln/>
        </p:spPr>
      </p:sp>
      <p:sp>
        <p:nvSpPr>
          <p:cNvPr id="16" name="Shape 12"/>
          <p:cNvSpPr/>
          <p:nvPr/>
        </p:nvSpPr>
        <p:spPr>
          <a:xfrm>
            <a:off x="9866948" y="1199078"/>
            <a:ext cx="680442" cy="680442"/>
          </a:xfrm>
          <a:prstGeom prst="roundRect">
            <a:avLst>
              <a:gd name="adj" fmla="val 13436980"/>
            </a:avLst>
          </a:prstGeom>
          <a:solidFill>
            <a:srgbClr val="FFD1A7"/>
          </a:solidFill>
          <a:ln/>
        </p:spPr>
      </p:sp>
      <p:pic>
        <p:nvPicPr>
          <p:cNvPr id="17"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054114" y="1386126"/>
            <a:ext cx="306110" cy="306110"/>
          </a:xfrm>
          <a:prstGeom prst="rect">
            <a:avLst/>
          </a:prstGeom>
        </p:spPr>
      </p:pic>
      <p:sp>
        <p:nvSpPr>
          <p:cNvPr id="18" name="Text 13"/>
          <p:cNvSpPr/>
          <p:nvPr/>
        </p:nvSpPr>
        <p:spPr>
          <a:xfrm>
            <a:off x="9866948" y="2106335"/>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C4C4D"/>
                </a:solidFill>
                <a:latin typeface="Crimson Pro Semi Bold" pitchFamily="34" charset="0"/>
                <a:ea typeface="Crimson Pro Semi Bold" pitchFamily="34" charset="-122"/>
                <a:cs typeface="Crimson Pro Semi Bold" pitchFamily="34" charset="-120"/>
              </a:rPr>
              <a:t>Advanced-Fee Scam</a:t>
            </a:r>
            <a:endParaRPr lang="en-US" sz="2200" dirty="0"/>
          </a:p>
        </p:txBody>
      </p:sp>
      <p:sp>
        <p:nvSpPr>
          <p:cNvPr id="19" name="Text 14"/>
          <p:cNvSpPr/>
          <p:nvPr/>
        </p:nvSpPr>
        <p:spPr>
          <a:xfrm>
            <a:off x="9866948" y="2596753"/>
            <a:ext cx="3742730" cy="3629025"/>
          </a:xfrm>
          <a:prstGeom prst="rect">
            <a:avLst/>
          </a:prstGeom>
          <a:noFill/>
          <a:ln/>
        </p:spPr>
        <p:txBody>
          <a:bodyPr wrap="square" lIns="0" tIns="0" rIns="0" bIns="0" rtlCol="0" anchor="t"/>
          <a:lstStyle/>
          <a:p>
            <a:pPr marL="0" indent="0" algn="l">
              <a:lnSpc>
                <a:spcPts val="2850"/>
              </a:lnSpc>
              <a:buNone/>
            </a:pPr>
            <a:r>
              <a:rPr lang="en-US" sz="1750" dirty="0">
                <a:solidFill>
                  <a:srgbClr val="4C4C4D"/>
                </a:solidFill>
                <a:latin typeface="Heebo" pitchFamily="34" charset="0"/>
                <a:ea typeface="Heebo" pitchFamily="34" charset="-122"/>
                <a:cs typeface="Heebo" pitchFamily="34" charset="-120"/>
              </a:rPr>
              <a:t>This common email phishing attack was popularized by the "Nigerian prince" email, where an alleged Nigerian prince offers to give the victim a large sum of money for a small fee upfront. This type of scam has been occurring for over a hundred years in different forms; it was originally known in the late 1800s as the Spanish Prisoner scam.</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793790" y="718423"/>
            <a:ext cx="6465808" cy="4116586"/>
          </a:xfrm>
          <a:prstGeom prst="roundRect">
            <a:avLst>
              <a:gd name="adj" fmla="val 579"/>
            </a:avLst>
          </a:prstGeom>
          <a:solidFill>
            <a:srgbClr val="F2EEEE"/>
          </a:solidFill>
          <a:ln/>
        </p:spPr>
      </p:sp>
      <p:sp>
        <p:nvSpPr>
          <p:cNvPr id="3" name="Shape 1"/>
          <p:cNvSpPr/>
          <p:nvPr/>
        </p:nvSpPr>
        <p:spPr>
          <a:xfrm>
            <a:off x="952500" y="877133"/>
            <a:ext cx="476250" cy="476250"/>
          </a:xfrm>
          <a:prstGeom prst="roundRect">
            <a:avLst>
              <a:gd name="adj" fmla="val 19198080"/>
            </a:avLst>
          </a:prstGeom>
          <a:solidFill>
            <a:srgbClr val="FFE4B5"/>
          </a:solidFill>
          <a:ln/>
        </p:spPr>
      </p:sp>
      <p:pic>
        <p:nvPicPr>
          <p:cNvPr id="4"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83469" y="1008102"/>
            <a:ext cx="214313" cy="214312"/>
          </a:xfrm>
          <a:prstGeom prst="rect">
            <a:avLst/>
          </a:prstGeom>
        </p:spPr>
      </p:pic>
      <p:sp>
        <p:nvSpPr>
          <p:cNvPr id="5" name="Text 2"/>
          <p:cNvSpPr/>
          <p:nvPr/>
        </p:nvSpPr>
        <p:spPr>
          <a:xfrm>
            <a:off x="952500" y="1464469"/>
            <a:ext cx="2502456" cy="297656"/>
          </a:xfrm>
          <a:prstGeom prst="rect">
            <a:avLst/>
          </a:prstGeom>
          <a:noFill/>
          <a:ln/>
        </p:spPr>
        <p:txBody>
          <a:bodyPr wrap="none" lIns="0" tIns="0" rIns="0" bIns="0" rtlCol="0" anchor="t"/>
          <a:lstStyle/>
          <a:p>
            <a:pPr marL="0" indent="0" algn="l">
              <a:lnSpc>
                <a:spcPts val="2300"/>
              </a:lnSpc>
              <a:buNone/>
            </a:pPr>
            <a:r>
              <a:rPr lang="en-US" sz="1850" dirty="0">
                <a:solidFill>
                  <a:srgbClr val="808080"/>
                </a:solidFill>
                <a:latin typeface="Crimson Pro Semi Bold" pitchFamily="34" charset="0"/>
                <a:ea typeface="Crimson Pro Semi Bold" pitchFamily="34" charset="-122"/>
                <a:cs typeface="Crimson Pro Semi Bold" pitchFamily="34" charset="-120"/>
              </a:rPr>
              <a:t>Smishing (SMS Phishing)</a:t>
            </a:r>
            <a:endParaRPr lang="en-US" sz="1850" dirty="0"/>
          </a:p>
        </p:txBody>
      </p:sp>
      <p:sp>
        <p:nvSpPr>
          <p:cNvPr id="6" name="Text 3"/>
          <p:cNvSpPr/>
          <p:nvPr/>
        </p:nvSpPr>
        <p:spPr>
          <a:xfrm>
            <a:off x="952500" y="1828800"/>
            <a:ext cx="6148388" cy="1079897"/>
          </a:xfrm>
          <a:prstGeom prst="rect">
            <a:avLst/>
          </a:prstGeom>
          <a:noFill/>
          <a:ln/>
        </p:spPr>
        <p:txBody>
          <a:bodyPr wrap="square" lIns="0" tIns="0" rIns="0" bIns="0" rtlCol="0" anchor="t"/>
          <a:lstStyle/>
          <a:p>
            <a:pPr marL="0" indent="0" algn="l">
              <a:lnSpc>
                <a:spcPts val="1700"/>
              </a:lnSpc>
              <a:buNone/>
            </a:pPr>
            <a:r>
              <a:rPr lang="en-US" sz="1250" dirty="0">
                <a:solidFill>
                  <a:srgbClr val="4C4C4D"/>
                </a:solidFill>
                <a:latin typeface="Heebo" pitchFamily="34" charset="0"/>
                <a:ea typeface="Heebo" pitchFamily="34" charset="-122"/>
                <a:cs typeface="Heebo" pitchFamily="34" charset="-120"/>
              </a:rPr>
              <a:t>SMS phishing uses fake text messages to trick targets. Scammers commonly pose as the victim's wireless provider, sending a text that offers a "free gift" or asks the user to update their credit card information. Some smishers pose as the US Postal Service or another shipping company, sending texts that tell victims they must pay a fee to receive a package.</a:t>
            </a:r>
            <a:endParaRPr lang="en-US" sz="1250" dirty="0"/>
          </a:p>
        </p:txBody>
      </p:sp>
      <p:sp>
        <p:nvSpPr>
          <p:cNvPr id="7" name="Shape 4"/>
          <p:cNvSpPr/>
          <p:nvPr/>
        </p:nvSpPr>
        <p:spPr>
          <a:xfrm>
            <a:off x="7370683" y="718423"/>
            <a:ext cx="6465927" cy="4116586"/>
          </a:xfrm>
          <a:prstGeom prst="roundRect">
            <a:avLst>
              <a:gd name="adj" fmla="val 579"/>
            </a:avLst>
          </a:prstGeom>
          <a:solidFill>
            <a:srgbClr val="F2EEEE"/>
          </a:solidFill>
          <a:ln/>
        </p:spPr>
      </p:sp>
      <p:sp>
        <p:nvSpPr>
          <p:cNvPr id="8" name="Shape 5"/>
          <p:cNvSpPr/>
          <p:nvPr/>
        </p:nvSpPr>
        <p:spPr>
          <a:xfrm>
            <a:off x="7529393" y="877133"/>
            <a:ext cx="476250" cy="476250"/>
          </a:xfrm>
          <a:prstGeom prst="roundRect">
            <a:avLst>
              <a:gd name="adj" fmla="val 19198080"/>
            </a:avLst>
          </a:prstGeom>
          <a:solidFill>
            <a:srgbClr val="FFE4B5"/>
          </a:solidFill>
          <a:ln/>
        </p:spPr>
      </p:sp>
      <p:pic>
        <p:nvPicPr>
          <p:cNvPr id="9"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660362" y="1008102"/>
            <a:ext cx="214313" cy="214312"/>
          </a:xfrm>
          <a:prstGeom prst="rect">
            <a:avLst/>
          </a:prstGeom>
        </p:spPr>
      </p:pic>
      <p:sp>
        <p:nvSpPr>
          <p:cNvPr id="10" name="Text 6"/>
          <p:cNvSpPr/>
          <p:nvPr/>
        </p:nvSpPr>
        <p:spPr>
          <a:xfrm>
            <a:off x="7529393" y="1464469"/>
            <a:ext cx="2413873" cy="297656"/>
          </a:xfrm>
          <a:prstGeom prst="rect">
            <a:avLst/>
          </a:prstGeom>
          <a:noFill/>
          <a:ln/>
        </p:spPr>
        <p:txBody>
          <a:bodyPr wrap="none" lIns="0" tIns="0" rIns="0" bIns="0" rtlCol="0" anchor="t"/>
          <a:lstStyle/>
          <a:p>
            <a:pPr marL="0" indent="0" algn="l">
              <a:lnSpc>
                <a:spcPts val="2300"/>
              </a:lnSpc>
              <a:buNone/>
            </a:pPr>
            <a:r>
              <a:rPr lang="en-US" sz="1850" dirty="0">
                <a:solidFill>
                  <a:srgbClr val="808080"/>
                </a:solidFill>
                <a:latin typeface="Crimson Pro Semi Bold" pitchFamily="34" charset="0"/>
                <a:ea typeface="Crimson Pro Semi Bold" pitchFamily="34" charset="-122"/>
                <a:cs typeface="Crimson Pro Semi Bold" pitchFamily="34" charset="-120"/>
              </a:rPr>
              <a:t>Vishing (Voice Phishing)</a:t>
            </a:r>
            <a:endParaRPr lang="en-US" sz="1850" dirty="0"/>
          </a:p>
        </p:txBody>
      </p:sp>
      <p:sp>
        <p:nvSpPr>
          <p:cNvPr id="11" name="Text 7"/>
          <p:cNvSpPr/>
          <p:nvPr/>
        </p:nvSpPr>
        <p:spPr>
          <a:xfrm>
            <a:off x="7529393" y="1828800"/>
            <a:ext cx="6148507" cy="215979"/>
          </a:xfrm>
          <a:prstGeom prst="rect">
            <a:avLst/>
          </a:prstGeom>
          <a:noFill/>
          <a:ln/>
        </p:spPr>
        <p:txBody>
          <a:bodyPr wrap="none" lIns="0" tIns="0" rIns="0" bIns="0" rtlCol="0" anchor="t"/>
          <a:lstStyle/>
          <a:p>
            <a:pPr marL="0" indent="0" algn="l">
              <a:lnSpc>
                <a:spcPts val="1700"/>
              </a:lnSpc>
              <a:buNone/>
            </a:pPr>
            <a:r>
              <a:rPr lang="en-US" sz="1250" b="1" dirty="0">
                <a:solidFill>
                  <a:srgbClr val="4C4C4D"/>
                </a:solidFill>
                <a:latin typeface="Heebo" pitchFamily="34" charset="0"/>
                <a:ea typeface="Heebo" pitchFamily="34" charset="-122"/>
                <a:cs typeface="Heebo" pitchFamily="34" charset="-120"/>
              </a:rPr>
              <a:t>Method:</a:t>
            </a:r>
            <a:endParaRPr lang="en-US" sz="1250" dirty="0"/>
          </a:p>
        </p:txBody>
      </p:sp>
      <p:sp>
        <p:nvSpPr>
          <p:cNvPr id="12" name="Text 8"/>
          <p:cNvSpPr/>
          <p:nvPr/>
        </p:nvSpPr>
        <p:spPr>
          <a:xfrm>
            <a:off x="7529393" y="2111454"/>
            <a:ext cx="6148507" cy="1235154"/>
          </a:xfrm>
          <a:prstGeom prst="rect">
            <a:avLst/>
          </a:prstGeom>
          <a:noFill/>
          <a:ln/>
        </p:spPr>
        <p:txBody>
          <a:bodyPr wrap="square" lIns="0" tIns="0" rIns="0" bIns="0" rtlCol="0" anchor="t"/>
          <a:lstStyle/>
          <a:p>
            <a:pPr marL="342900" indent="-342900" algn="l">
              <a:lnSpc>
                <a:spcPts val="1700"/>
              </a:lnSpc>
              <a:buSzPct val="100000"/>
              <a:buChar char="•"/>
            </a:pPr>
            <a:r>
              <a:rPr lang="en-US" sz="1250" dirty="0">
                <a:solidFill>
                  <a:srgbClr val="4C4C4D"/>
                </a:solidFill>
                <a:latin typeface="Heebo" pitchFamily="34" charset="0"/>
                <a:ea typeface="Heebo" pitchFamily="34" charset="-122"/>
                <a:cs typeface="Heebo" pitchFamily="34" charset="-120"/>
              </a:rPr>
              <a:t>Phone calls impersonating legitimate organizations</a:t>
            </a:r>
            <a:endParaRPr lang="en-US" sz="1250" dirty="0"/>
          </a:p>
          <a:p>
            <a:pPr marL="342900" indent="-342900" algn="l">
              <a:lnSpc>
                <a:spcPts val="1700"/>
              </a:lnSpc>
              <a:buSzPct val="100000"/>
              <a:buChar char="•"/>
            </a:pPr>
            <a:r>
              <a:rPr lang="en-US" sz="1250" dirty="0">
                <a:solidFill>
                  <a:srgbClr val="4C4C4D"/>
                </a:solidFill>
                <a:latin typeface="Heebo" pitchFamily="34" charset="0"/>
                <a:ea typeface="Heebo" pitchFamily="34" charset="-122"/>
                <a:cs typeface="Heebo" pitchFamily="34" charset="-120"/>
              </a:rPr>
              <a:t>IRS/tax authority scams</a:t>
            </a:r>
            <a:endParaRPr lang="en-US" sz="1250" dirty="0"/>
          </a:p>
          <a:p>
            <a:pPr marL="342900" indent="-342900" algn="l">
              <a:lnSpc>
                <a:spcPts val="1700"/>
              </a:lnSpc>
              <a:buSzPct val="100000"/>
              <a:buChar char="•"/>
            </a:pPr>
            <a:r>
              <a:rPr lang="en-US" sz="1250" dirty="0">
                <a:solidFill>
                  <a:srgbClr val="4C4C4D"/>
                </a:solidFill>
                <a:latin typeface="Heebo" pitchFamily="34" charset="0"/>
                <a:ea typeface="Heebo" pitchFamily="34" charset="-122"/>
                <a:cs typeface="Heebo" pitchFamily="34" charset="-120"/>
              </a:rPr>
              <a:t>Bank fraud alerts</a:t>
            </a:r>
            <a:endParaRPr lang="en-US" sz="1250" dirty="0"/>
          </a:p>
          <a:p>
            <a:pPr marL="342900" indent="-342900" algn="l">
              <a:lnSpc>
                <a:spcPts val="1700"/>
              </a:lnSpc>
              <a:buSzPct val="100000"/>
              <a:buChar char="•"/>
            </a:pPr>
            <a:r>
              <a:rPr lang="en-US" sz="1250" dirty="0">
                <a:solidFill>
                  <a:srgbClr val="4C4C4D"/>
                </a:solidFill>
                <a:latin typeface="Heebo" pitchFamily="34" charset="0"/>
                <a:ea typeface="Heebo" pitchFamily="34" charset="-122"/>
                <a:cs typeface="Heebo" pitchFamily="34" charset="-120"/>
              </a:rPr>
              <a:t>Tech support scams</a:t>
            </a:r>
            <a:endParaRPr lang="en-US" sz="1250" dirty="0"/>
          </a:p>
          <a:p>
            <a:pPr marL="342900" indent="-342900" algn="l">
              <a:lnSpc>
                <a:spcPts val="1700"/>
              </a:lnSpc>
              <a:buSzPct val="100000"/>
              <a:buChar char="•"/>
            </a:pPr>
            <a:r>
              <a:rPr lang="en-US" sz="1250" dirty="0">
                <a:solidFill>
                  <a:srgbClr val="4C4C4D"/>
                </a:solidFill>
                <a:latin typeface="Heebo" pitchFamily="34" charset="0"/>
                <a:ea typeface="Heebo" pitchFamily="34" charset="-122"/>
                <a:cs typeface="Heebo" pitchFamily="34" charset="-120"/>
              </a:rPr>
              <a:t>Social Security scams</a:t>
            </a:r>
            <a:endParaRPr lang="en-US" sz="1250" dirty="0"/>
          </a:p>
        </p:txBody>
      </p:sp>
      <p:sp>
        <p:nvSpPr>
          <p:cNvPr id="13" name="Text 9"/>
          <p:cNvSpPr/>
          <p:nvPr/>
        </p:nvSpPr>
        <p:spPr>
          <a:xfrm>
            <a:off x="7529393" y="3413284"/>
            <a:ext cx="6148507" cy="215979"/>
          </a:xfrm>
          <a:prstGeom prst="rect">
            <a:avLst/>
          </a:prstGeom>
          <a:noFill/>
          <a:ln/>
        </p:spPr>
        <p:txBody>
          <a:bodyPr wrap="none" lIns="0" tIns="0" rIns="0" bIns="0" rtlCol="0" anchor="t"/>
          <a:lstStyle/>
          <a:p>
            <a:pPr marL="0" indent="0" algn="l">
              <a:lnSpc>
                <a:spcPts val="1700"/>
              </a:lnSpc>
              <a:buNone/>
            </a:pPr>
            <a:r>
              <a:rPr lang="en-US" sz="1250" b="1" dirty="0">
                <a:solidFill>
                  <a:srgbClr val="4C4C4D"/>
                </a:solidFill>
                <a:latin typeface="Heebo" pitchFamily="34" charset="0"/>
                <a:ea typeface="Heebo" pitchFamily="34" charset="-122"/>
                <a:cs typeface="Heebo" pitchFamily="34" charset="-120"/>
              </a:rPr>
              <a:t>Tactics:</a:t>
            </a:r>
            <a:endParaRPr lang="en-US" sz="1250" dirty="0"/>
          </a:p>
        </p:txBody>
      </p:sp>
      <p:sp>
        <p:nvSpPr>
          <p:cNvPr id="14" name="Text 10"/>
          <p:cNvSpPr/>
          <p:nvPr/>
        </p:nvSpPr>
        <p:spPr>
          <a:xfrm>
            <a:off x="7529393" y="3695938"/>
            <a:ext cx="6148507" cy="980361"/>
          </a:xfrm>
          <a:prstGeom prst="rect">
            <a:avLst/>
          </a:prstGeom>
          <a:noFill/>
          <a:ln/>
        </p:spPr>
        <p:txBody>
          <a:bodyPr wrap="square" lIns="0" tIns="0" rIns="0" bIns="0" rtlCol="0" anchor="t"/>
          <a:lstStyle/>
          <a:p>
            <a:pPr marL="342900" indent="-342900" algn="l">
              <a:lnSpc>
                <a:spcPts val="1700"/>
              </a:lnSpc>
              <a:buSzPct val="100000"/>
              <a:buChar char="•"/>
            </a:pPr>
            <a:r>
              <a:rPr lang="en-US" sz="1250" dirty="0">
                <a:solidFill>
                  <a:srgbClr val="4C4C4D"/>
                </a:solidFill>
                <a:latin typeface="Heebo" pitchFamily="34" charset="0"/>
                <a:ea typeface="Heebo" pitchFamily="34" charset="-122"/>
                <a:cs typeface="Heebo" pitchFamily="34" charset="-120"/>
              </a:rPr>
              <a:t>Caller ID spoofing</a:t>
            </a:r>
            <a:endParaRPr lang="en-US" sz="1250" dirty="0"/>
          </a:p>
          <a:p>
            <a:pPr marL="342900" indent="-342900" algn="l">
              <a:lnSpc>
                <a:spcPts val="1700"/>
              </a:lnSpc>
              <a:buSzPct val="100000"/>
              <a:buChar char="•"/>
            </a:pPr>
            <a:r>
              <a:rPr lang="en-US" sz="1250" dirty="0">
                <a:solidFill>
                  <a:srgbClr val="4C4C4D"/>
                </a:solidFill>
                <a:latin typeface="Heebo" pitchFamily="34" charset="0"/>
                <a:ea typeface="Heebo" pitchFamily="34" charset="-122"/>
                <a:cs typeface="Heebo" pitchFamily="34" charset="-120"/>
              </a:rPr>
              <a:t>Urgent language</a:t>
            </a:r>
            <a:endParaRPr lang="en-US" sz="1250" dirty="0"/>
          </a:p>
          <a:p>
            <a:pPr marL="342900" indent="-342900" algn="l">
              <a:lnSpc>
                <a:spcPts val="1700"/>
              </a:lnSpc>
              <a:buSzPct val="100000"/>
              <a:buChar char="•"/>
            </a:pPr>
            <a:r>
              <a:rPr lang="en-US" sz="1250" dirty="0">
                <a:solidFill>
                  <a:srgbClr val="4C4C4D"/>
                </a:solidFill>
                <a:latin typeface="Heebo" pitchFamily="34" charset="0"/>
                <a:ea typeface="Heebo" pitchFamily="34" charset="-122"/>
                <a:cs typeface="Heebo" pitchFamily="34" charset="-120"/>
              </a:rPr>
              <a:t>Threatening consequences</a:t>
            </a:r>
            <a:endParaRPr lang="en-US" sz="1250" dirty="0"/>
          </a:p>
          <a:p>
            <a:pPr marL="342900" indent="-342900" algn="l">
              <a:lnSpc>
                <a:spcPts val="1700"/>
              </a:lnSpc>
              <a:buSzPct val="100000"/>
              <a:buChar char="•"/>
            </a:pPr>
            <a:r>
              <a:rPr lang="en-US" sz="1250" dirty="0">
                <a:solidFill>
                  <a:srgbClr val="4C4C4D"/>
                </a:solidFill>
                <a:latin typeface="Heebo" pitchFamily="34" charset="0"/>
                <a:ea typeface="Heebo" pitchFamily="34" charset="-122"/>
                <a:cs typeface="Heebo" pitchFamily="34" charset="-120"/>
              </a:rPr>
              <a:t>Requesting immediate action</a:t>
            </a:r>
            <a:endParaRPr lang="en-US" sz="1250" dirty="0"/>
          </a:p>
        </p:txBody>
      </p:sp>
      <p:sp>
        <p:nvSpPr>
          <p:cNvPr id="15" name="Shape 11"/>
          <p:cNvSpPr/>
          <p:nvPr/>
        </p:nvSpPr>
        <p:spPr>
          <a:xfrm>
            <a:off x="793790" y="4946094"/>
            <a:ext cx="6465808" cy="2564963"/>
          </a:xfrm>
          <a:prstGeom prst="roundRect">
            <a:avLst>
              <a:gd name="adj" fmla="val 929"/>
            </a:avLst>
          </a:prstGeom>
          <a:solidFill>
            <a:srgbClr val="F2EEEE"/>
          </a:solidFill>
          <a:ln/>
        </p:spPr>
      </p:sp>
      <p:sp>
        <p:nvSpPr>
          <p:cNvPr id="16" name="Shape 12"/>
          <p:cNvSpPr/>
          <p:nvPr/>
        </p:nvSpPr>
        <p:spPr>
          <a:xfrm>
            <a:off x="952500" y="5104805"/>
            <a:ext cx="476250" cy="476250"/>
          </a:xfrm>
          <a:prstGeom prst="roundRect">
            <a:avLst>
              <a:gd name="adj" fmla="val 19198080"/>
            </a:avLst>
          </a:prstGeom>
          <a:solidFill>
            <a:srgbClr val="FFE4B5"/>
          </a:solidFill>
          <a:ln/>
        </p:spPr>
      </p:sp>
      <p:pic>
        <p:nvPicPr>
          <p:cNvPr id="17"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83469" y="5235773"/>
            <a:ext cx="214313" cy="214312"/>
          </a:xfrm>
          <a:prstGeom prst="rect">
            <a:avLst/>
          </a:prstGeom>
        </p:spPr>
      </p:pic>
      <p:sp>
        <p:nvSpPr>
          <p:cNvPr id="18" name="Text 13"/>
          <p:cNvSpPr/>
          <p:nvPr/>
        </p:nvSpPr>
        <p:spPr>
          <a:xfrm>
            <a:off x="952500" y="5692140"/>
            <a:ext cx="2381607" cy="297656"/>
          </a:xfrm>
          <a:prstGeom prst="rect">
            <a:avLst/>
          </a:prstGeom>
          <a:noFill/>
          <a:ln/>
        </p:spPr>
        <p:txBody>
          <a:bodyPr wrap="none" lIns="0" tIns="0" rIns="0" bIns="0" rtlCol="0" anchor="t"/>
          <a:lstStyle/>
          <a:p>
            <a:pPr marL="0" indent="0" algn="l">
              <a:lnSpc>
                <a:spcPts val="2300"/>
              </a:lnSpc>
              <a:buNone/>
            </a:pPr>
            <a:r>
              <a:rPr lang="en-US" sz="1850" dirty="0">
                <a:solidFill>
                  <a:srgbClr val="808080"/>
                </a:solidFill>
                <a:latin typeface="Crimson Pro Semi Bold" pitchFamily="34" charset="0"/>
                <a:ea typeface="Crimson Pro Semi Bold" pitchFamily="34" charset="-122"/>
                <a:cs typeface="Crimson Pro Semi Bold" pitchFamily="34" charset="-120"/>
              </a:rPr>
              <a:t>Clone Phishing</a:t>
            </a:r>
            <a:endParaRPr lang="en-US" sz="1850" dirty="0"/>
          </a:p>
        </p:txBody>
      </p:sp>
      <p:sp>
        <p:nvSpPr>
          <p:cNvPr id="19" name="Text 14"/>
          <p:cNvSpPr/>
          <p:nvPr/>
        </p:nvSpPr>
        <p:spPr>
          <a:xfrm>
            <a:off x="952500" y="6056471"/>
            <a:ext cx="6148388" cy="1295876"/>
          </a:xfrm>
          <a:prstGeom prst="rect">
            <a:avLst/>
          </a:prstGeom>
          <a:noFill/>
          <a:ln/>
        </p:spPr>
        <p:txBody>
          <a:bodyPr wrap="square" lIns="0" tIns="0" rIns="0" bIns="0" rtlCol="0" anchor="t"/>
          <a:lstStyle/>
          <a:p>
            <a:pPr marL="0" indent="0" algn="l">
              <a:lnSpc>
                <a:spcPts val="1700"/>
              </a:lnSpc>
              <a:buNone/>
            </a:pPr>
            <a:r>
              <a:rPr lang="en-US" sz="1250" dirty="0">
                <a:solidFill>
                  <a:srgbClr val="4C4C4D"/>
                </a:solidFill>
                <a:latin typeface="Heebo" pitchFamily="34" charset="0"/>
                <a:ea typeface="Heebo" pitchFamily="34" charset="-122"/>
                <a:cs typeface="Heebo" pitchFamily="34" charset="-120"/>
              </a:rPr>
              <a:t>Clone phishing involves mimicking a previously delivered legitimate email and modifying its links or attached files in order to trick the victim into opening a malicious website or file. By taking an email and attaching a malicious file with the same filename as the original, and then resending it with a spoofed email address that appears to come from the original sender, attackers exploit the trust of the initial communication.</a:t>
            </a:r>
            <a:endParaRPr lang="en-US" sz="1250" dirty="0"/>
          </a:p>
        </p:txBody>
      </p:sp>
      <p:sp>
        <p:nvSpPr>
          <p:cNvPr id="20" name="Shape 15"/>
          <p:cNvSpPr/>
          <p:nvPr/>
        </p:nvSpPr>
        <p:spPr>
          <a:xfrm>
            <a:off x="7370683" y="4946094"/>
            <a:ext cx="6465927" cy="2564963"/>
          </a:xfrm>
          <a:prstGeom prst="roundRect">
            <a:avLst>
              <a:gd name="adj" fmla="val 929"/>
            </a:avLst>
          </a:prstGeom>
          <a:solidFill>
            <a:srgbClr val="F2EEEE"/>
          </a:solidFill>
          <a:ln/>
        </p:spPr>
      </p:sp>
      <p:sp>
        <p:nvSpPr>
          <p:cNvPr id="21" name="Shape 16"/>
          <p:cNvSpPr/>
          <p:nvPr/>
        </p:nvSpPr>
        <p:spPr>
          <a:xfrm>
            <a:off x="7529393" y="5104805"/>
            <a:ext cx="476250" cy="476250"/>
          </a:xfrm>
          <a:prstGeom prst="roundRect">
            <a:avLst>
              <a:gd name="adj" fmla="val 19198080"/>
            </a:avLst>
          </a:prstGeom>
          <a:solidFill>
            <a:srgbClr val="FFE4B5"/>
          </a:solidFill>
          <a:ln/>
        </p:spPr>
      </p:sp>
      <p:pic>
        <p:nvPicPr>
          <p:cNvPr id="22"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660362" y="5235773"/>
            <a:ext cx="214313" cy="214312"/>
          </a:xfrm>
          <a:prstGeom prst="rect">
            <a:avLst/>
          </a:prstGeom>
        </p:spPr>
      </p:pic>
      <p:sp>
        <p:nvSpPr>
          <p:cNvPr id="23" name="Text 17"/>
          <p:cNvSpPr/>
          <p:nvPr/>
        </p:nvSpPr>
        <p:spPr>
          <a:xfrm>
            <a:off x="7529393" y="5692140"/>
            <a:ext cx="2381607" cy="297656"/>
          </a:xfrm>
          <a:prstGeom prst="rect">
            <a:avLst/>
          </a:prstGeom>
          <a:noFill/>
          <a:ln/>
        </p:spPr>
        <p:txBody>
          <a:bodyPr wrap="none" lIns="0" tIns="0" rIns="0" bIns="0" rtlCol="0" anchor="t"/>
          <a:lstStyle/>
          <a:p>
            <a:pPr marL="0" indent="0" algn="l">
              <a:lnSpc>
                <a:spcPts val="2300"/>
              </a:lnSpc>
              <a:buNone/>
            </a:pPr>
            <a:r>
              <a:rPr lang="en-US" sz="1850" dirty="0">
                <a:solidFill>
                  <a:srgbClr val="808080"/>
                </a:solidFill>
                <a:latin typeface="Crimson Pro Semi Bold" pitchFamily="34" charset="0"/>
                <a:ea typeface="Crimson Pro Semi Bold" pitchFamily="34" charset="-122"/>
                <a:cs typeface="Crimson Pro Semi Bold" pitchFamily="34" charset="-120"/>
              </a:rPr>
              <a:t>HTTPS Phishing</a:t>
            </a:r>
            <a:endParaRPr lang="en-US" sz="1850" dirty="0"/>
          </a:p>
        </p:txBody>
      </p:sp>
      <p:sp>
        <p:nvSpPr>
          <p:cNvPr id="24" name="Text 18"/>
          <p:cNvSpPr/>
          <p:nvPr/>
        </p:nvSpPr>
        <p:spPr>
          <a:xfrm>
            <a:off x="7529393" y="6056471"/>
            <a:ext cx="6148507" cy="863918"/>
          </a:xfrm>
          <a:prstGeom prst="rect">
            <a:avLst/>
          </a:prstGeom>
          <a:noFill/>
          <a:ln/>
        </p:spPr>
        <p:txBody>
          <a:bodyPr wrap="square" lIns="0" tIns="0" rIns="0" bIns="0" rtlCol="0" anchor="t"/>
          <a:lstStyle/>
          <a:p>
            <a:pPr marL="0" indent="0" algn="l">
              <a:lnSpc>
                <a:spcPts val="1700"/>
              </a:lnSpc>
              <a:buNone/>
            </a:pPr>
            <a:r>
              <a:rPr lang="en-US" sz="1250" dirty="0">
                <a:solidFill>
                  <a:srgbClr val="4C4C4D"/>
                </a:solidFill>
                <a:latin typeface="Heebo" pitchFamily="34" charset="0"/>
                <a:ea typeface="Heebo" pitchFamily="34" charset="-122"/>
                <a:cs typeface="Heebo" pitchFamily="34" charset="-120"/>
              </a:rPr>
              <a:t>An HTTPS phishing attack is carried out by sending the victim an email with a link to a fake website. The site may then be used to fool the victim into entering their private information. Hacker group Scarlet Widow searches for employee emails of companies and then targets them with HTTPS phishing.</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908566"/>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152D47"/>
                </a:solidFill>
                <a:latin typeface="Crimson Pro Semi Bold" pitchFamily="34" charset="0"/>
                <a:ea typeface="Crimson Pro Semi Bold" pitchFamily="34" charset="-122"/>
                <a:cs typeface="Crimson Pro Semi Bold" pitchFamily="34" charset="-120"/>
              </a:rPr>
              <a:t>Phase 1: Reconnaissance</a:t>
            </a:r>
            <a:endParaRPr lang="en-US" sz="4450" dirty="0"/>
          </a:p>
        </p:txBody>
      </p:sp>
      <p:sp>
        <p:nvSpPr>
          <p:cNvPr id="3" name="Text 1"/>
          <p:cNvSpPr/>
          <p:nvPr/>
        </p:nvSpPr>
        <p:spPr>
          <a:xfrm>
            <a:off x="793790" y="2070973"/>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4C4C4D"/>
                </a:solidFill>
                <a:latin typeface="Heebo" pitchFamily="34" charset="0"/>
                <a:ea typeface="Heebo" pitchFamily="34" charset="-122"/>
                <a:cs typeface="Heebo" pitchFamily="34" charset="-120"/>
              </a:rPr>
              <a:t>Information gathering:</a:t>
            </a:r>
            <a:endParaRPr lang="en-US" sz="1750" dirty="0"/>
          </a:p>
        </p:txBody>
      </p:sp>
      <p:sp>
        <p:nvSpPr>
          <p:cNvPr id="4" name="Text 2"/>
          <p:cNvSpPr/>
          <p:nvPr/>
        </p:nvSpPr>
        <p:spPr>
          <a:xfrm>
            <a:off x="793790" y="2915841"/>
            <a:ext cx="4191119" cy="354330"/>
          </a:xfrm>
          <a:prstGeom prst="rect">
            <a:avLst/>
          </a:prstGeom>
          <a:noFill/>
          <a:ln/>
        </p:spPr>
        <p:txBody>
          <a:bodyPr wrap="none" lIns="0" tIns="0" rIns="0" bIns="0" rtlCol="0" anchor="t"/>
          <a:lstStyle/>
          <a:p>
            <a:pPr marL="0" indent="0" algn="l">
              <a:lnSpc>
                <a:spcPts val="2750"/>
              </a:lnSpc>
              <a:buNone/>
            </a:pPr>
            <a:r>
              <a:rPr lang="en-US" sz="2200" dirty="0">
                <a:solidFill>
                  <a:srgbClr val="152D47"/>
                </a:solidFill>
                <a:latin typeface="Crimson Pro Semi Bold" pitchFamily="34" charset="0"/>
                <a:ea typeface="Crimson Pro Semi Bold" pitchFamily="34" charset="-122"/>
                <a:cs typeface="Crimson Pro Semi Bold" pitchFamily="34" charset="-120"/>
              </a:rPr>
              <a:t>1. OSINT (Open Source Intelligence)</a:t>
            </a:r>
            <a:endParaRPr lang="en-US" sz="2200" dirty="0"/>
          </a:p>
        </p:txBody>
      </p:sp>
      <p:sp>
        <p:nvSpPr>
          <p:cNvPr id="5" name="Text 3"/>
          <p:cNvSpPr/>
          <p:nvPr/>
        </p:nvSpPr>
        <p:spPr>
          <a:xfrm>
            <a:off x="793790" y="3496985"/>
            <a:ext cx="6244709" cy="1689497"/>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4C4C4D"/>
                </a:solidFill>
                <a:latin typeface="Heebo" pitchFamily="34" charset="0"/>
                <a:ea typeface="Heebo" pitchFamily="34" charset="-122"/>
                <a:cs typeface="Heebo" pitchFamily="34" charset="-120"/>
              </a:rPr>
              <a:t>LinkedIn profiles</a:t>
            </a:r>
            <a:endParaRPr lang="en-US" sz="1750" dirty="0"/>
          </a:p>
          <a:p>
            <a:pPr marL="342900" indent="-342900" algn="l">
              <a:lnSpc>
                <a:spcPts val="2850"/>
              </a:lnSpc>
              <a:buSzPct val="100000"/>
              <a:buChar char="•"/>
            </a:pPr>
            <a:r>
              <a:rPr lang="en-US" sz="1750" dirty="0">
                <a:solidFill>
                  <a:srgbClr val="4C4C4D"/>
                </a:solidFill>
                <a:latin typeface="Heebo" pitchFamily="34" charset="0"/>
                <a:ea typeface="Heebo" pitchFamily="34" charset="-122"/>
                <a:cs typeface="Heebo" pitchFamily="34" charset="-120"/>
              </a:rPr>
              <a:t>Company websites</a:t>
            </a:r>
            <a:endParaRPr lang="en-US" sz="1750" dirty="0"/>
          </a:p>
          <a:p>
            <a:pPr marL="342900" indent="-342900" algn="l">
              <a:lnSpc>
                <a:spcPts val="2850"/>
              </a:lnSpc>
              <a:buSzPct val="100000"/>
              <a:buChar char="•"/>
            </a:pPr>
            <a:r>
              <a:rPr lang="en-US" sz="1750" dirty="0">
                <a:solidFill>
                  <a:srgbClr val="4C4C4D"/>
                </a:solidFill>
                <a:latin typeface="Heebo" pitchFamily="34" charset="0"/>
                <a:ea typeface="Heebo" pitchFamily="34" charset="-122"/>
                <a:cs typeface="Heebo" pitchFamily="34" charset="-120"/>
              </a:rPr>
              <a:t>Social media</a:t>
            </a:r>
            <a:endParaRPr lang="en-US" sz="1750" dirty="0"/>
          </a:p>
          <a:p>
            <a:pPr marL="342900" indent="-342900" algn="l">
              <a:lnSpc>
                <a:spcPts val="2850"/>
              </a:lnSpc>
              <a:buSzPct val="100000"/>
              <a:buChar char="•"/>
            </a:pPr>
            <a:r>
              <a:rPr lang="en-US" sz="1750" dirty="0">
                <a:solidFill>
                  <a:srgbClr val="4C4C4D"/>
                </a:solidFill>
                <a:latin typeface="Heebo" pitchFamily="34" charset="0"/>
                <a:ea typeface="Heebo" pitchFamily="34" charset="-122"/>
                <a:cs typeface="Heebo" pitchFamily="34" charset="-120"/>
              </a:rPr>
              <a:t>Public records</a:t>
            </a:r>
            <a:endParaRPr lang="en-US" sz="1750" dirty="0"/>
          </a:p>
        </p:txBody>
      </p:sp>
      <p:sp>
        <p:nvSpPr>
          <p:cNvPr id="6" name="Text 4"/>
          <p:cNvSpPr/>
          <p:nvPr/>
        </p:nvSpPr>
        <p:spPr>
          <a:xfrm>
            <a:off x="793790" y="5413296"/>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52D47"/>
                </a:solidFill>
                <a:latin typeface="Crimson Pro Semi Bold" pitchFamily="34" charset="0"/>
                <a:ea typeface="Crimson Pro Semi Bold" pitchFamily="34" charset="-122"/>
                <a:cs typeface="Crimson Pro Semi Bold" pitchFamily="34" charset="-120"/>
              </a:rPr>
              <a:t>2. Email harvesting</a:t>
            </a:r>
            <a:endParaRPr lang="en-US" sz="2200" dirty="0"/>
          </a:p>
        </p:txBody>
      </p:sp>
      <p:sp>
        <p:nvSpPr>
          <p:cNvPr id="7" name="Text 5"/>
          <p:cNvSpPr/>
          <p:nvPr/>
        </p:nvSpPr>
        <p:spPr>
          <a:xfrm>
            <a:off x="793790" y="5994440"/>
            <a:ext cx="6244709" cy="1247299"/>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4C4C4D"/>
                </a:solidFill>
                <a:latin typeface="Heebo" pitchFamily="34" charset="0"/>
                <a:ea typeface="Heebo" pitchFamily="34" charset="-122"/>
                <a:cs typeface="Heebo" pitchFamily="34" charset="-120"/>
              </a:rPr>
              <a:t>theHarvester tool</a:t>
            </a:r>
            <a:endParaRPr lang="en-US" sz="1750" dirty="0"/>
          </a:p>
          <a:p>
            <a:pPr marL="342900" indent="-342900" algn="l">
              <a:lnSpc>
                <a:spcPts val="2850"/>
              </a:lnSpc>
              <a:buSzPct val="100000"/>
              <a:buChar char="•"/>
            </a:pPr>
            <a:r>
              <a:rPr lang="en-US" sz="1750" dirty="0">
                <a:solidFill>
                  <a:srgbClr val="4C4C4D"/>
                </a:solidFill>
                <a:latin typeface="Heebo" pitchFamily="34" charset="0"/>
                <a:ea typeface="Heebo" pitchFamily="34" charset="-122"/>
                <a:cs typeface="Heebo" pitchFamily="34" charset="-120"/>
              </a:rPr>
              <a:t>Hunter.io</a:t>
            </a:r>
            <a:endParaRPr lang="en-US" sz="1750" dirty="0"/>
          </a:p>
          <a:p>
            <a:pPr marL="342900" indent="-342900" algn="l">
              <a:lnSpc>
                <a:spcPts val="2850"/>
              </a:lnSpc>
              <a:buSzPct val="100000"/>
              <a:buChar char="•"/>
            </a:pPr>
            <a:r>
              <a:rPr lang="en-US" sz="1750" dirty="0">
                <a:solidFill>
                  <a:srgbClr val="4C4C4D"/>
                </a:solidFill>
                <a:latin typeface="Heebo" pitchFamily="34" charset="0"/>
                <a:ea typeface="Heebo" pitchFamily="34" charset="-122"/>
                <a:cs typeface="Heebo" pitchFamily="34" charset="-120"/>
              </a:rPr>
              <a:t>LinkedIn scraping</a:t>
            </a:r>
            <a:endParaRPr lang="en-US" sz="1750" dirty="0"/>
          </a:p>
        </p:txBody>
      </p:sp>
      <p:sp>
        <p:nvSpPr>
          <p:cNvPr id="8" name="Text 6"/>
          <p:cNvSpPr/>
          <p:nvPr/>
        </p:nvSpPr>
        <p:spPr>
          <a:xfrm>
            <a:off x="7599521" y="2915841"/>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52D47"/>
                </a:solidFill>
                <a:latin typeface="Crimson Pro Semi Bold" pitchFamily="34" charset="0"/>
                <a:ea typeface="Crimson Pro Semi Bold" pitchFamily="34" charset="-122"/>
                <a:cs typeface="Crimson Pro Semi Bold" pitchFamily="34" charset="-120"/>
              </a:rPr>
              <a:t>3. Target profiling</a:t>
            </a:r>
            <a:endParaRPr lang="en-US" sz="2200" dirty="0"/>
          </a:p>
        </p:txBody>
      </p:sp>
      <p:sp>
        <p:nvSpPr>
          <p:cNvPr id="9" name="Text 7"/>
          <p:cNvSpPr/>
          <p:nvPr/>
        </p:nvSpPr>
        <p:spPr>
          <a:xfrm>
            <a:off x="7599521" y="3496985"/>
            <a:ext cx="6244709" cy="1689497"/>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4C4C4D"/>
                </a:solidFill>
                <a:latin typeface="Heebo" pitchFamily="34" charset="0"/>
                <a:ea typeface="Heebo" pitchFamily="34" charset="-122"/>
                <a:cs typeface="Heebo" pitchFamily="34" charset="-120"/>
              </a:rPr>
              <a:t>Identify key personnel</a:t>
            </a:r>
            <a:endParaRPr lang="en-US" sz="1750" dirty="0"/>
          </a:p>
          <a:p>
            <a:pPr marL="342900" indent="-342900" algn="l">
              <a:lnSpc>
                <a:spcPts val="2850"/>
              </a:lnSpc>
              <a:buSzPct val="100000"/>
              <a:buChar char="•"/>
            </a:pPr>
            <a:r>
              <a:rPr lang="en-US" sz="1750" dirty="0">
                <a:solidFill>
                  <a:srgbClr val="4C4C4D"/>
                </a:solidFill>
                <a:latin typeface="Heebo" pitchFamily="34" charset="0"/>
                <a:ea typeface="Heebo" pitchFamily="34" charset="-122"/>
                <a:cs typeface="Heebo" pitchFamily="34" charset="-120"/>
              </a:rPr>
              <a:t>Map organizational structure</a:t>
            </a:r>
            <a:endParaRPr lang="en-US" sz="1750" dirty="0"/>
          </a:p>
          <a:p>
            <a:pPr marL="342900" indent="-342900" algn="l">
              <a:lnSpc>
                <a:spcPts val="2850"/>
              </a:lnSpc>
              <a:buSzPct val="100000"/>
              <a:buChar char="•"/>
            </a:pPr>
            <a:r>
              <a:rPr lang="en-US" sz="1750" dirty="0">
                <a:solidFill>
                  <a:srgbClr val="4C4C4D"/>
                </a:solidFill>
                <a:latin typeface="Heebo" pitchFamily="34" charset="0"/>
                <a:ea typeface="Heebo" pitchFamily="34" charset="-122"/>
                <a:cs typeface="Heebo" pitchFamily="34" charset="-120"/>
              </a:rPr>
              <a:t>Find relationships</a:t>
            </a:r>
            <a:endParaRPr lang="en-US" sz="1750" dirty="0"/>
          </a:p>
          <a:p>
            <a:pPr marL="342900" indent="-342900" algn="l">
              <a:lnSpc>
                <a:spcPts val="2850"/>
              </a:lnSpc>
              <a:buSzPct val="100000"/>
              <a:buChar char="•"/>
            </a:pPr>
            <a:r>
              <a:rPr lang="en-US" sz="1750" dirty="0">
                <a:solidFill>
                  <a:srgbClr val="4C4C4D"/>
                </a:solidFill>
                <a:latin typeface="Heebo" pitchFamily="34" charset="0"/>
                <a:ea typeface="Heebo" pitchFamily="34" charset="-122"/>
                <a:cs typeface="Heebo" pitchFamily="34" charset="-120"/>
              </a:rPr>
              <a:t>Identify vendors/partners</a:t>
            </a:r>
            <a:endParaRPr lang="en-US" sz="1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820936"/>
            <a:ext cx="6814304" cy="708779"/>
          </a:xfrm>
          <a:prstGeom prst="rect">
            <a:avLst/>
          </a:prstGeom>
          <a:noFill/>
          <a:ln/>
        </p:spPr>
        <p:txBody>
          <a:bodyPr wrap="none" lIns="0" tIns="0" rIns="0" bIns="0" rtlCol="0" anchor="t"/>
          <a:lstStyle/>
          <a:p>
            <a:pPr marL="0" indent="0" algn="l">
              <a:lnSpc>
                <a:spcPts val="5550"/>
              </a:lnSpc>
              <a:buNone/>
            </a:pPr>
            <a:r>
              <a:rPr lang="en-US" sz="4450" dirty="0">
                <a:solidFill>
                  <a:srgbClr val="152D47"/>
                </a:solidFill>
                <a:latin typeface="Crimson Pro Semi Bold" pitchFamily="34" charset="0"/>
                <a:ea typeface="Crimson Pro Semi Bold" pitchFamily="34" charset="-122"/>
                <a:cs typeface="Crimson Pro Semi Bold" pitchFamily="34" charset="-120"/>
              </a:rPr>
              <a:t>Phase 2: Infrastructure Setup</a:t>
            </a:r>
            <a:endParaRPr lang="en-US" sz="4450" dirty="0"/>
          </a:p>
        </p:txBody>
      </p:sp>
      <p:sp>
        <p:nvSpPr>
          <p:cNvPr id="3" name="Text 1"/>
          <p:cNvSpPr/>
          <p:nvPr/>
        </p:nvSpPr>
        <p:spPr>
          <a:xfrm>
            <a:off x="793790" y="1983343"/>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4C4C4D"/>
                </a:solidFill>
                <a:latin typeface="Heebo" pitchFamily="34" charset="0"/>
                <a:ea typeface="Heebo" pitchFamily="34" charset="-122"/>
                <a:cs typeface="Heebo" pitchFamily="34" charset="-120"/>
              </a:rPr>
              <a:t>Setting up robust defenses involves actively monitoring for potential phishing domains that mimic legitimate ones. This proactive approach uses domain similarity analysis to identify typosquatting and other deceptive variations for defensive monitoring.</a:t>
            </a:r>
            <a:endParaRPr lang="en-US" sz="1750" dirty="0"/>
          </a:p>
        </p:txBody>
      </p:sp>
      <p:sp>
        <p:nvSpPr>
          <p:cNvPr id="4" name="Shape 2"/>
          <p:cNvSpPr/>
          <p:nvPr/>
        </p:nvSpPr>
        <p:spPr>
          <a:xfrm>
            <a:off x="793790" y="2964299"/>
            <a:ext cx="4196358" cy="4444365"/>
          </a:xfrm>
          <a:prstGeom prst="roundRect">
            <a:avLst>
              <a:gd name="adj" fmla="val 3486"/>
            </a:avLst>
          </a:prstGeom>
          <a:solidFill>
            <a:srgbClr val="FFFFFF"/>
          </a:solidFill>
          <a:ln w="30480">
            <a:solidFill>
              <a:srgbClr val="AFCBF8"/>
            </a:solidFill>
            <a:prstDash val="solid"/>
          </a:ln>
        </p:spPr>
      </p:sp>
      <p:sp>
        <p:nvSpPr>
          <p:cNvPr id="5" name="Shape 3"/>
          <p:cNvSpPr/>
          <p:nvPr/>
        </p:nvSpPr>
        <p:spPr>
          <a:xfrm>
            <a:off x="763310" y="2964299"/>
            <a:ext cx="121920" cy="4444365"/>
          </a:xfrm>
          <a:prstGeom prst="roundRect">
            <a:avLst>
              <a:gd name="adj" fmla="val 27907"/>
            </a:avLst>
          </a:prstGeom>
          <a:solidFill>
            <a:srgbClr val="AFCBF8"/>
          </a:solidFill>
          <a:ln/>
        </p:spPr>
      </p:sp>
      <p:sp>
        <p:nvSpPr>
          <p:cNvPr id="6" name="Text 4"/>
          <p:cNvSpPr/>
          <p:nvPr/>
        </p:nvSpPr>
        <p:spPr>
          <a:xfrm>
            <a:off x="1142524" y="3221593"/>
            <a:ext cx="3503176" cy="354330"/>
          </a:xfrm>
          <a:prstGeom prst="rect">
            <a:avLst/>
          </a:prstGeom>
          <a:noFill/>
          <a:ln/>
        </p:spPr>
        <p:txBody>
          <a:bodyPr wrap="none" lIns="0" tIns="0" rIns="0" bIns="0" rtlCol="0" anchor="t"/>
          <a:lstStyle/>
          <a:p>
            <a:pPr marL="0" indent="0" algn="l">
              <a:lnSpc>
                <a:spcPts val="2750"/>
              </a:lnSpc>
              <a:buNone/>
            </a:pPr>
            <a:r>
              <a:rPr lang="en-US" sz="2200" dirty="0">
                <a:solidFill>
                  <a:srgbClr val="4C4C4D"/>
                </a:solidFill>
                <a:latin typeface="Crimson Pro Semi Bold" pitchFamily="34" charset="0"/>
                <a:ea typeface="Crimson Pro Semi Bold" pitchFamily="34" charset="-122"/>
                <a:cs typeface="Crimson Pro Semi Bold" pitchFamily="34" charset="-120"/>
              </a:rPr>
              <a:t>Proactive Domain Monitoring</a:t>
            </a:r>
            <a:endParaRPr lang="en-US" sz="2200" dirty="0"/>
          </a:p>
        </p:txBody>
      </p:sp>
      <p:sp>
        <p:nvSpPr>
          <p:cNvPr id="7" name="Text 5"/>
          <p:cNvSpPr/>
          <p:nvPr/>
        </p:nvSpPr>
        <p:spPr>
          <a:xfrm>
            <a:off x="1142524" y="3712012"/>
            <a:ext cx="3590330" cy="1814513"/>
          </a:xfrm>
          <a:prstGeom prst="rect">
            <a:avLst/>
          </a:prstGeom>
          <a:noFill/>
          <a:ln/>
        </p:spPr>
        <p:txBody>
          <a:bodyPr wrap="square" lIns="0" tIns="0" rIns="0" bIns="0" rtlCol="0" anchor="t"/>
          <a:lstStyle/>
          <a:p>
            <a:pPr marL="0" indent="0" algn="l">
              <a:lnSpc>
                <a:spcPts val="2850"/>
              </a:lnSpc>
              <a:buNone/>
            </a:pPr>
            <a:r>
              <a:rPr lang="en-US" sz="1750" dirty="0">
                <a:solidFill>
                  <a:srgbClr val="4C4C4D"/>
                </a:solidFill>
                <a:latin typeface="Heebo" pitchFamily="34" charset="0"/>
                <a:ea typeface="Heebo" pitchFamily="34" charset="-122"/>
                <a:cs typeface="Heebo" pitchFamily="34" charset="-120"/>
              </a:rPr>
              <a:t>Continuously scan for look-alike domains that attempt to mimic legitimate brand names. Early detection enables swift action against potential threats.</a:t>
            </a:r>
            <a:endParaRPr lang="en-US" sz="1750" dirty="0"/>
          </a:p>
        </p:txBody>
      </p:sp>
      <p:sp>
        <p:nvSpPr>
          <p:cNvPr id="8" name="Shape 6"/>
          <p:cNvSpPr/>
          <p:nvPr/>
        </p:nvSpPr>
        <p:spPr>
          <a:xfrm>
            <a:off x="5216962" y="2964299"/>
            <a:ext cx="4196358" cy="4444365"/>
          </a:xfrm>
          <a:prstGeom prst="roundRect">
            <a:avLst>
              <a:gd name="adj" fmla="val 3486"/>
            </a:avLst>
          </a:prstGeom>
          <a:solidFill>
            <a:srgbClr val="FFFFFF"/>
          </a:solidFill>
          <a:ln w="30480">
            <a:solidFill>
              <a:srgbClr val="AFCBF8"/>
            </a:solidFill>
            <a:prstDash val="solid"/>
          </a:ln>
        </p:spPr>
      </p:sp>
      <p:sp>
        <p:nvSpPr>
          <p:cNvPr id="9" name="Shape 7"/>
          <p:cNvSpPr/>
          <p:nvPr/>
        </p:nvSpPr>
        <p:spPr>
          <a:xfrm>
            <a:off x="5186482" y="2964299"/>
            <a:ext cx="121920" cy="4444365"/>
          </a:xfrm>
          <a:prstGeom prst="roundRect">
            <a:avLst>
              <a:gd name="adj" fmla="val 27907"/>
            </a:avLst>
          </a:prstGeom>
          <a:solidFill>
            <a:srgbClr val="AFCBF8"/>
          </a:solidFill>
          <a:ln/>
        </p:spPr>
      </p:sp>
      <p:sp>
        <p:nvSpPr>
          <p:cNvPr id="10" name="Text 8"/>
          <p:cNvSpPr/>
          <p:nvPr/>
        </p:nvSpPr>
        <p:spPr>
          <a:xfrm>
            <a:off x="5565696" y="3221593"/>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C4C4D"/>
                </a:solidFill>
                <a:latin typeface="Crimson Pro Semi Bold" pitchFamily="34" charset="0"/>
                <a:ea typeface="Crimson Pro Semi Bold" pitchFamily="34" charset="-122"/>
                <a:cs typeface="Crimson Pro Semi Bold" pitchFamily="34" charset="-120"/>
              </a:rPr>
              <a:t>Typosquatting Analysis</a:t>
            </a:r>
            <a:endParaRPr lang="en-US" sz="2200" dirty="0"/>
          </a:p>
        </p:txBody>
      </p:sp>
      <p:sp>
        <p:nvSpPr>
          <p:cNvPr id="11" name="Text 9"/>
          <p:cNvSpPr/>
          <p:nvPr/>
        </p:nvSpPr>
        <p:spPr>
          <a:xfrm>
            <a:off x="5565696" y="3712012"/>
            <a:ext cx="3590330" cy="2177415"/>
          </a:xfrm>
          <a:prstGeom prst="rect">
            <a:avLst/>
          </a:prstGeom>
          <a:noFill/>
          <a:ln/>
        </p:spPr>
        <p:txBody>
          <a:bodyPr wrap="square" lIns="0" tIns="0" rIns="0" bIns="0" rtlCol="0" anchor="t"/>
          <a:lstStyle/>
          <a:p>
            <a:pPr marL="0" indent="0" algn="l">
              <a:lnSpc>
                <a:spcPts val="2850"/>
              </a:lnSpc>
              <a:buNone/>
            </a:pPr>
            <a:r>
              <a:rPr lang="en-US" sz="1750" dirty="0">
                <a:solidFill>
                  <a:srgbClr val="4C4C4D"/>
                </a:solidFill>
                <a:latin typeface="Heebo" pitchFamily="34" charset="0"/>
                <a:ea typeface="Heebo" pitchFamily="34" charset="-122"/>
                <a:cs typeface="Heebo" pitchFamily="34" charset="-120"/>
              </a:rPr>
              <a:t>Identify domains created by making minor typographical errors, such as character omissions, duplications, or adjacent swaps, designed to trick unsuspecting users.</a:t>
            </a:r>
            <a:endParaRPr lang="en-US" sz="1750" dirty="0"/>
          </a:p>
        </p:txBody>
      </p:sp>
      <p:sp>
        <p:nvSpPr>
          <p:cNvPr id="12" name="Text 10"/>
          <p:cNvSpPr/>
          <p:nvPr/>
        </p:nvSpPr>
        <p:spPr>
          <a:xfrm>
            <a:off x="5565696" y="6025515"/>
            <a:ext cx="3590330" cy="771525"/>
          </a:xfrm>
          <a:prstGeom prst="rect">
            <a:avLst/>
          </a:prstGeom>
          <a:noFill/>
          <a:ln/>
        </p:spPr>
        <p:txBody>
          <a:bodyPr wrap="square" lIns="0" tIns="0" rIns="0" bIns="0" rtlCol="0" anchor="t"/>
          <a:lstStyle/>
          <a:p>
            <a:pPr marL="0" indent="0" algn="l">
              <a:lnSpc>
                <a:spcPts val="2850"/>
              </a:lnSpc>
              <a:buNone/>
            </a:pPr>
            <a:r>
              <a:rPr lang="en-US" sz="1750" b="1" dirty="0">
                <a:solidFill>
                  <a:srgbClr val="4C4C4D"/>
                </a:solidFill>
                <a:latin typeface="Heebo" pitchFamily="34" charset="0"/>
                <a:ea typeface="Heebo" pitchFamily="34" charset="-122"/>
                <a:cs typeface="Heebo" pitchFamily="34" charset="-120"/>
              </a:rPr>
              <a:t>Example:</a:t>
            </a:r>
            <a:r>
              <a:rPr lang="en-US" sz="1750" dirty="0">
                <a:solidFill>
                  <a:srgbClr val="4C4C4D"/>
                </a:solidFill>
                <a:latin typeface="Heebo" pitchFamily="34" charset="0"/>
                <a:ea typeface="Heebo" pitchFamily="34" charset="-122"/>
                <a:cs typeface="Heebo" pitchFamily="34" charset="-120"/>
              </a:rPr>
              <a:t> </a:t>
            </a:r>
            <a:r>
              <a:rPr lang="en-US" sz="1750" dirty="0">
                <a:solidFill>
                  <a:srgbClr val="4C4C4D"/>
                </a:solidFill>
                <a:highlight>
                  <a:srgbClr val="F2F2F2"/>
                </a:highlight>
                <a:latin typeface="Consolas" pitchFamily="34" charset="0"/>
                <a:ea typeface="Consolas" pitchFamily="34" charset="-122"/>
                <a:cs typeface="Consolas" pitchFamily="34" charset="-120"/>
              </a:rPr>
              <a:t>examplebank.com</a:t>
            </a:r>
            <a:r>
              <a:rPr lang="en-US" sz="1750" dirty="0">
                <a:solidFill>
                  <a:srgbClr val="4C4C4D"/>
                </a:solidFill>
                <a:latin typeface="Heebo" pitchFamily="34" charset="0"/>
                <a:ea typeface="Heebo" pitchFamily="34" charset="-122"/>
                <a:cs typeface="Heebo" pitchFamily="34" charset="-120"/>
              </a:rPr>
              <a:t> vs </a:t>
            </a:r>
            <a:r>
              <a:rPr lang="en-US" sz="1750" dirty="0">
                <a:solidFill>
                  <a:srgbClr val="4C4C4D"/>
                </a:solidFill>
                <a:highlight>
                  <a:srgbClr val="F2F2F2"/>
                </a:highlight>
                <a:latin typeface="Consolas" pitchFamily="34" charset="0"/>
                <a:ea typeface="Consolas" pitchFamily="34" charset="-122"/>
                <a:cs typeface="Consolas" pitchFamily="34" charset="-120"/>
              </a:rPr>
              <a:t>examp1ebank.com</a:t>
            </a:r>
            <a:endParaRPr lang="en-US" sz="1750" dirty="0"/>
          </a:p>
        </p:txBody>
      </p:sp>
      <p:sp>
        <p:nvSpPr>
          <p:cNvPr id="13" name="Shape 11"/>
          <p:cNvSpPr/>
          <p:nvPr/>
        </p:nvSpPr>
        <p:spPr>
          <a:xfrm>
            <a:off x="9640133" y="2964299"/>
            <a:ext cx="4196358" cy="4444365"/>
          </a:xfrm>
          <a:prstGeom prst="roundRect">
            <a:avLst>
              <a:gd name="adj" fmla="val 3486"/>
            </a:avLst>
          </a:prstGeom>
          <a:solidFill>
            <a:srgbClr val="FFFFFF"/>
          </a:solidFill>
          <a:ln w="30480">
            <a:solidFill>
              <a:srgbClr val="AFCBF8"/>
            </a:solidFill>
            <a:prstDash val="solid"/>
          </a:ln>
        </p:spPr>
      </p:sp>
      <p:sp>
        <p:nvSpPr>
          <p:cNvPr id="14" name="Shape 12"/>
          <p:cNvSpPr/>
          <p:nvPr/>
        </p:nvSpPr>
        <p:spPr>
          <a:xfrm>
            <a:off x="9609653" y="2964299"/>
            <a:ext cx="121920" cy="4444365"/>
          </a:xfrm>
          <a:prstGeom prst="roundRect">
            <a:avLst>
              <a:gd name="adj" fmla="val 27907"/>
            </a:avLst>
          </a:prstGeom>
          <a:solidFill>
            <a:srgbClr val="AFCBF8"/>
          </a:solidFill>
          <a:ln/>
        </p:spPr>
      </p:sp>
      <p:sp>
        <p:nvSpPr>
          <p:cNvPr id="15" name="Text 13"/>
          <p:cNvSpPr/>
          <p:nvPr/>
        </p:nvSpPr>
        <p:spPr>
          <a:xfrm>
            <a:off x="9988868" y="3221593"/>
            <a:ext cx="3590330" cy="708660"/>
          </a:xfrm>
          <a:prstGeom prst="rect">
            <a:avLst/>
          </a:prstGeom>
          <a:noFill/>
          <a:ln/>
        </p:spPr>
        <p:txBody>
          <a:bodyPr wrap="square" lIns="0" tIns="0" rIns="0" bIns="0" rtlCol="0" anchor="t"/>
          <a:lstStyle/>
          <a:p>
            <a:pPr marL="0" indent="0" algn="l">
              <a:lnSpc>
                <a:spcPts val="2750"/>
              </a:lnSpc>
              <a:buNone/>
            </a:pPr>
            <a:r>
              <a:rPr lang="en-US" sz="2200" dirty="0">
                <a:solidFill>
                  <a:srgbClr val="4C4C4D"/>
                </a:solidFill>
                <a:latin typeface="Crimson Pro Semi Bold" pitchFamily="34" charset="0"/>
                <a:ea typeface="Crimson Pro Semi Bold" pitchFamily="34" charset="-122"/>
                <a:cs typeface="Crimson Pro Semi Bold" pitchFamily="34" charset="-120"/>
              </a:rPr>
              <a:t>Homoglyph &amp; Deceptive Variations</a:t>
            </a:r>
            <a:endParaRPr lang="en-US" sz="2200" dirty="0"/>
          </a:p>
        </p:txBody>
      </p:sp>
      <p:sp>
        <p:nvSpPr>
          <p:cNvPr id="16" name="Text 14"/>
          <p:cNvSpPr/>
          <p:nvPr/>
        </p:nvSpPr>
        <p:spPr>
          <a:xfrm>
            <a:off x="9988868" y="4066342"/>
            <a:ext cx="3590330" cy="2177415"/>
          </a:xfrm>
          <a:prstGeom prst="rect">
            <a:avLst/>
          </a:prstGeom>
          <a:noFill/>
          <a:ln/>
        </p:spPr>
        <p:txBody>
          <a:bodyPr wrap="square" lIns="0" tIns="0" rIns="0" bIns="0" rtlCol="0" anchor="t"/>
          <a:lstStyle/>
          <a:p>
            <a:pPr marL="0" indent="0" algn="l">
              <a:lnSpc>
                <a:spcPts val="2850"/>
              </a:lnSpc>
              <a:buNone/>
            </a:pPr>
            <a:r>
              <a:rPr lang="en-US" sz="1750" dirty="0">
                <a:solidFill>
                  <a:srgbClr val="4C4C4D"/>
                </a:solidFill>
                <a:latin typeface="Heebo" pitchFamily="34" charset="0"/>
                <a:ea typeface="Heebo" pitchFamily="34" charset="-122"/>
                <a:cs typeface="Heebo" pitchFamily="34" charset="-120"/>
              </a:rPr>
              <a:t>Uncover domains utilizing visually similar characters (homoglyphs like 'o' for '0') or employing common Top-Level Domain (TLD) changes (e.g., .com to .co) to appear legitimate.</a:t>
            </a:r>
            <a:endParaRPr lang="en-US" sz="1750" dirty="0"/>
          </a:p>
        </p:txBody>
      </p:sp>
      <p:sp>
        <p:nvSpPr>
          <p:cNvPr id="17" name="Text 15"/>
          <p:cNvSpPr/>
          <p:nvPr/>
        </p:nvSpPr>
        <p:spPr>
          <a:xfrm>
            <a:off x="9988868" y="6379845"/>
            <a:ext cx="3590330" cy="771525"/>
          </a:xfrm>
          <a:prstGeom prst="rect">
            <a:avLst/>
          </a:prstGeom>
          <a:noFill/>
          <a:ln/>
        </p:spPr>
        <p:txBody>
          <a:bodyPr wrap="square" lIns="0" tIns="0" rIns="0" bIns="0" rtlCol="0" anchor="t"/>
          <a:lstStyle/>
          <a:p>
            <a:pPr marL="0" indent="0" algn="l">
              <a:lnSpc>
                <a:spcPts val="2850"/>
              </a:lnSpc>
              <a:buNone/>
            </a:pPr>
            <a:r>
              <a:rPr lang="en-US" sz="1750" b="1" dirty="0">
                <a:solidFill>
                  <a:srgbClr val="4C4C4D"/>
                </a:solidFill>
                <a:latin typeface="Heebo" pitchFamily="34" charset="0"/>
                <a:ea typeface="Heebo" pitchFamily="34" charset="-122"/>
                <a:cs typeface="Heebo" pitchFamily="34" charset="-120"/>
              </a:rPr>
              <a:t>Example:</a:t>
            </a:r>
            <a:r>
              <a:rPr lang="en-US" sz="1750" dirty="0">
                <a:solidFill>
                  <a:srgbClr val="4C4C4D"/>
                </a:solidFill>
                <a:latin typeface="Heebo" pitchFamily="34" charset="0"/>
                <a:ea typeface="Heebo" pitchFamily="34" charset="-122"/>
                <a:cs typeface="Heebo" pitchFamily="34" charset="-120"/>
              </a:rPr>
              <a:t> </a:t>
            </a:r>
            <a:r>
              <a:rPr lang="en-US" sz="1750" dirty="0">
                <a:solidFill>
                  <a:srgbClr val="4C4C4D"/>
                </a:solidFill>
                <a:highlight>
                  <a:srgbClr val="F2F2F2"/>
                </a:highlight>
                <a:latin typeface="Consolas" pitchFamily="34" charset="0"/>
                <a:ea typeface="Consolas" pitchFamily="34" charset="-122"/>
                <a:cs typeface="Consolas" pitchFamily="34" charset="-120"/>
              </a:rPr>
              <a:t>example.com</a:t>
            </a:r>
            <a:r>
              <a:rPr lang="en-US" sz="1750" dirty="0">
                <a:solidFill>
                  <a:srgbClr val="4C4C4D"/>
                </a:solidFill>
                <a:latin typeface="Heebo" pitchFamily="34" charset="0"/>
                <a:ea typeface="Heebo" pitchFamily="34" charset="-122"/>
                <a:cs typeface="Heebo" pitchFamily="34" charset="-120"/>
              </a:rPr>
              <a:t> vs </a:t>
            </a:r>
            <a:r>
              <a:rPr lang="en-US" sz="1750" dirty="0">
                <a:solidFill>
                  <a:srgbClr val="4C4C4D"/>
                </a:solidFill>
                <a:highlight>
                  <a:srgbClr val="F2F2F2"/>
                </a:highlight>
                <a:latin typeface="Consolas" pitchFamily="34" charset="0"/>
                <a:ea typeface="Consolas" pitchFamily="34" charset="-122"/>
                <a:cs typeface="Consolas" pitchFamily="34" charset="-120"/>
              </a:rPr>
              <a:t>exarnple.com</a:t>
            </a:r>
            <a:endParaRPr lang="en-US" sz="1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837843"/>
            <a:ext cx="4370189" cy="510302"/>
          </a:xfrm>
          <a:prstGeom prst="rect">
            <a:avLst/>
          </a:prstGeom>
          <a:noFill/>
          <a:ln/>
        </p:spPr>
        <p:txBody>
          <a:bodyPr wrap="none" lIns="0" tIns="0" rIns="0" bIns="0" rtlCol="0" anchor="t"/>
          <a:lstStyle/>
          <a:p>
            <a:pPr marL="0" indent="0" algn="l">
              <a:lnSpc>
                <a:spcPts val="4000"/>
              </a:lnSpc>
              <a:buNone/>
            </a:pPr>
            <a:r>
              <a:rPr lang="en-US" sz="3200" dirty="0">
                <a:solidFill>
                  <a:srgbClr val="152D47"/>
                </a:solidFill>
                <a:latin typeface="Crimson Pro Semi Bold" pitchFamily="34" charset="0"/>
                <a:ea typeface="Crimson Pro Semi Bold" pitchFamily="34" charset="-122"/>
                <a:cs typeface="Crimson Pro Semi Bold" pitchFamily="34" charset="-120"/>
              </a:rPr>
              <a:t>Phase 3: Content Creation</a:t>
            </a:r>
            <a:endParaRPr lang="en-US" sz="3200" dirty="0"/>
          </a:p>
        </p:txBody>
      </p:sp>
      <p:sp>
        <p:nvSpPr>
          <p:cNvPr id="3" name="Text 1"/>
          <p:cNvSpPr/>
          <p:nvPr/>
        </p:nvSpPr>
        <p:spPr>
          <a:xfrm>
            <a:off x="793790" y="1715572"/>
            <a:ext cx="13042821" cy="310277"/>
          </a:xfrm>
          <a:prstGeom prst="rect">
            <a:avLst/>
          </a:prstGeom>
          <a:noFill/>
          <a:ln/>
        </p:spPr>
        <p:txBody>
          <a:bodyPr wrap="none" lIns="0" tIns="0" rIns="0" bIns="0" rtlCol="0" anchor="t"/>
          <a:lstStyle/>
          <a:p>
            <a:pPr marL="0" indent="0" algn="l">
              <a:lnSpc>
                <a:spcPts val="2400"/>
              </a:lnSpc>
              <a:buNone/>
            </a:pPr>
            <a:r>
              <a:rPr lang="en-US" sz="1600" dirty="0">
                <a:solidFill>
                  <a:srgbClr val="4C4C4D"/>
                </a:solidFill>
                <a:latin typeface="Heebo" pitchFamily="34" charset="0"/>
                <a:ea typeface="Heebo" pitchFamily="34" charset="-122"/>
                <a:cs typeface="Heebo" pitchFamily="34" charset="-120"/>
              </a:rPr>
              <a:t>Email crafting elements:</a:t>
            </a:r>
            <a:endParaRPr lang="en-US" sz="1600" dirty="0"/>
          </a:p>
        </p:txBody>
      </p:sp>
      <p:sp>
        <p:nvSpPr>
          <p:cNvPr id="4" name="Text 2"/>
          <p:cNvSpPr/>
          <p:nvPr/>
        </p:nvSpPr>
        <p:spPr>
          <a:xfrm>
            <a:off x="793790" y="2232541"/>
            <a:ext cx="204073" cy="255151"/>
          </a:xfrm>
          <a:prstGeom prst="rect">
            <a:avLst/>
          </a:prstGeom>
          <a:noFill/>
          <a:ln/>
        </p:spPr>
        <p:txBody>
          <a:bodyPr wrap="none" lIns="0" tIns="0" rIns="0" bIns="0" rtlCol="0" anchor="t"/>
          <a:lstStyle/>
          <a:p>
            <a:pPr marL="0" indent="0" algn="l">
              <a:lnSpc>
                <a:spcPts val="2400"/>
              </a:lnSpc>
              <a:buNone/>
            </a:pPr>
            <a:r>
              <a:rPr lang="en-US" sz="1600" dirty="0">
                <a:solidFill>
                  <a:srgbClr val="4C4C4D"/>
                </a:solidFill>
                <a:latin typeface="Crimson Pro Light" pitchFamily="34" charset="0"/>
                <a:ea typeface="Crimson Pro Light" pitchFamily="34" charset="-122"/>
                <a:cs typeface="Crimson Pro Light" pitchFamily="34" charset="-120"/>
              </a:rPr>
              <a:t>01</a:t>
            </a:r>
            <a:endParaRPr lang="en-US" sz="1600" dirty="0"/>
          </a:p>
        </p:txBody>
      </p:sp>
      <p:sp>
        <p:nvSpPr>
          <p:cNvPr id="5" name="Shape 3"/>
          <p:cNvSpPr/>
          <p:nvPr/>
        </p:nvSpPr>
        <p:spPr>
          <a:xfrm>
            <a:off x="793790" y="2556510"/>
            <a:ext cx="6429494" cy="22860"/>
          </a:xfrm>
          <a:prstGeom prst="rect">
            <a:avLst/>
          </a:prstGeom>
          <a:solidFill>
            <a:srgbClr val="FFF0E0"/>
          </a:solidFill>
          <a:ln/>
        </p:spPr>
      </p:sp>
      <p:sp>
        <p:nvSpPr>
          <p:cNvPr id="6" name="Text 4"/>
          <p:cNvSpPr/>
          <p:nvPr/>
        </p:nvSpPr>
        <p:spPr>
          <a:xfrm>
            <a:off x="793790" y="2704267"/>
            <a:ext cx="3335417" cy="318849"/>
          </a:xfrm>
          <a:prstGeom prst="rect">
            <a:avLst/>
          </a:prstGeom>
          <a:noFill/>
          <a:ln/>
        </p:spPr>
        <p:txBody>
          <a:bodyPr wrap="none" lIns="0" tIns="0" rIns="0" bIns="0" rtlCol="0" anchor="t"/>
          <a:lstStyle/>
          <a:p>
            <a:pPr marL="0" indent="0" algn="l">
              <a:lnSpc>
                <a:spcPts val="2500"/>
              </a:lnSpc>
              <a:buNone/>
            </a:pPr>
            <a:r>
              <a:rPr lang="en-US" sz="2000" dirty="0">
                <a:solidFill>
                  <a:srgbClr val="4C4C4D"/>
                </a:solidFill>
                <a:latin typeface="Crimson Pro Semi Bold" pitchFamily="34" charset="0"/>
                <a:ea typeface="Crimson Pro Semi Bold" pitchFamily="34" charset="-122"/>
                <a:cs typeface="Crimson Pro Semi Bold" pitchFamily="34" charset="-120"/>
              </a:rPr>
              <a:t>Subject line (urgency/curiosity)</a:t>
            </a:r>
            <a:endParaRPr lang="en-US" sz="2000" dirty="0"/>
          </a:p>
        </p:txBody>
      </p:sp>
      <p:sp>
        <p:nvSpPr>
          <p:cNvPr id="7" name="Text 5"/>
          <p:cNvSpPr/>
          <p:nvPr/>
        </p:nvSpPr>
        <p:spPr>
          <a:xfrm>
            <a:off x="793790" y="3133249"/>
            <a:ext cx="6429494" cy="1433989"/>
          </a:xfrm>
          <a:prstGeom prst="rect">
            <a:avLst/>
          </a:prstGeom>
          <a:noFill/>
          <a:ln/>
        </p:spPr>
        <p:txBody>
          <a:bodyPr wrap="square" lIns="0" tIns="0" rIns="0" bIns="0" rtlCol="0" anchor="t"/>
          <a:lstStyle/>
          <a:p>
            <a:pPr marL="342900" indent="-342900" algn="l">
              <a:lnSpc>
                <a:spcPts val="2400"/>
              </a:lnSpc>
              <a:buSzPct val="100000"/>
              <a:buChar char="•"/>
            </a:pPr>
            <a:r>
              <a:rPr lang="en-US" sz="1600" dirty="0">
                <a:solidFill>
                  <a:srgbClr val="4C4C4D"/>
                </a:solidFill>
                <a:latin typeface="Heebo" pitchFamily="34" charset="0"/>
                <a:ea typeface="Heebo" pitchFamily="34" charset="-122"/>
                <a:cs typeface="Heebo" pitchFamily="34" charset="-120"/>
              </a:rPr>
              <a:t>"URGENT: Account suspended"</a:t>
            </a:r>
            <a:endParaRPr lang="en-US" sz="1600" dirty="0"/>
          </a:p>
          <a:p>
            <a:pPr marL="342900" indent="-342900" algn="l">
              <a:lnSpc>
                <a:spcPts val="2400"/>
              </a:lnSpc>
              <a:buSzPct val="100000"/>
              <a:buChar char="•"/>
            </a:pPr>
            <a:r>
              <a:rPr lang="en-US" sz="1600" dirty="0">
                <a:solidFill>
                  <a:srgbClr val="4C4C4D"/>
                </a:solidFill>
                <a:latin typeface="Heebo" pitchFamily="34" charset="0"/>
                <a:ea typeface="Heebo" pitchFamily="34" charset="-122"/>
                <a:cs typeface="Heebo" pitchFamily="34" charset="-120"/>
              </a:rPr>
              <a:t>"Security alert: Unusual activity"</a:t>
            </a:r>
            <a:endParaRPr lang="en-US" sz="1600" dirty="0"/>
          </a:p>
          <a:p>
            <a:pPr marL="342900" indent="-342900" algn="l">
              <a:lnSpc>
                <a:spcPts val="2400"/>
              </a:lnSpc>
              <a:buSzPct val="100000"/>
              <a:buChar char="•"/>
            </a:pPr>
            <a:r>
              <a:rPr lang="en-US" sz="1600" dirty="0">
                <a:solidFill>
                  <a:srgbClr val="4C4C4D"/>
                </a:solidFill>
                <a:latin typeface="Heebo" pitchFamily="34" charset="0"/>
                <a:ea typeface="Heebo" pitchFamily="34" charset="-122"/>
                <a:cs typeface="Heebo" pitchFamily="34" charset="-120"/>
              </a:rPr>
              <a:t>"Your payment failed"</a:t>
            </a:r>
            <a:endParaRPr lang="en-US" sz="1600" dirty="0"/>
          </a:p>
          <a:p>
            <a:pPr marL="342900" indent="-342900" algn="l">
              <a:lnSpc>
                <a:spcPts val="2400"/>
              </a:lnSpc>
              <a:buSzPct val="100000"/>
              <a:buChar char="•"/>
            </a:pPr>
            <a:r>
              <a:rPr lang="en-US" sz="1600" dirty="0">
                <a:solidFill>
                  <a:srgbClr val="4C4C4D"/>
                </a:solidFill>
                <a:latin typeface="Heebo" pitchFamily="34" charset="0"/>
                <a:ea typeface="Heebo" pitchFamily="34" charset="-122"/>
                <a:cs typeface="Heebo" pitchFamily="34" charset="-120"/>
              </a:rPr>
              <a:t>"Important document shared with you"</a:t>
            </a:r>
            <a:endParaRPr lang="en-US" sz="1600" dirty="0"/>
          </a:p>
        </p:txBody>
      </p:sp>
      <p:sp>
        <p:nvSpPr>
          <p:cNvPr id="8" name="Text 6"/>
          <p:cNvSpPr/>
          <p:nvPr/>
        </p:nvSpPr>
        <p:spPr>
          <a:xfrm>
            <a:off x="7406997" y="2232541"/>
            <a:ext cx="204073" cy="255151"/>
          </a:xfrm>
          <a:prstGeom prst="rect">
            <a:avLst/>
          </a:prstGeom>
          <a:noFill/>
          <a:ln/>
        </p:spPr>
        <p:txBody>
          <a:bodyPr wrap="none" lIns="0" tIns="0" rIns="0" bIns="0" rtlCol="0" anchor="t"/>
          <a:lstStyle/>
          <a:p>
            <a:pPr marL="0" indent="0" algn="l">
              <a:lnSpc>
                <a:spcPts val="2400"/>
              </a:lnSpc>
              <a:buNone/>
            </a:pPr>
            <a:r>
              <a:rPr lang="en-US" sz="1600" dirty="0">
                <a:solidFill>
                  <a:srgbClr val="4C4C4D"/>
                </a:solidFill>
                <a:latin typeface="Crimson Pro Light" pitchFamily="34" charset="0"/>
                <a:ea typeface="Crimson Pro Light" pitchFamily="34" charset="-122"/>
                <a:cs typeface="Crimson Pro Light" pitchFamily="34" charset="-120"/>
              </a:rPr>
              <a:t>02</a:t>
            </a:r>
            <a:endParaRPr lang="en-US" sz="1600" dirty="0"/>
          </a:p>
        </p:txBody>
      </p:sp>
      <p:sp>
        <p:nvSpPr>
          <p:cNvPr id="9" name="Shape 7"/>
          <p:cNvSpPr/>
          <p:nvPr/>
        </p:nvSpPr>
        <p:spPr>
          <a:xfrm>
            <a:off x="7406997" y="2556510"/>
            <a:ext cx="6429613" cy="22860"/>
          </a:xfrm>
          <a:prstGeom prst="rect">
            <a:avLst/>
          </a:prstGeom>
          <a:solidFill>
            <a:srgbClr val="FFF0E0"/>
          </a:solidFill>
          <a:ln/>
        </p:spPr>
      </p:sp>
      <p:sp>
        <p:nvSpPr>
          <p:cNvPr id="10" name="Text 8"/>
          <p:cNvSpPr/>
          <p:nvPr/>
        </p:nvSpPr>
        <p:spPr>
          <a:xfrm>
            <a:off x="7406997" y="2704267"/>
            <a:ext cx="2551748" cy="318849"/>
          </a:xfrm>
          <a:prstGeom prst="rect">
            <a:avLst/>
          </a:prstGeom>
          <a:noFill/>
          <a:ln/>
        </p:spPr>
        <p:txBody>
          <a:bodyPr wrap="none" lIns="0" tIns="0" rIns="0" bIns="0" rtlCol="0" anchor="t"/>
          <a:lstStyle/>
          <a:p>
            <a:pPr marL="0" indent="0" algn="l">
              <a:lnSpc>
                <a:spcPts val="2500"/>
              </a:lnSpc>
              <a:buNone/>
            </a:pPr>
            <a:r>
              <a:rPr lang="en-US" sz="2000" dirty="0">
                <a:solidFill>
                  <a:srgbClr val="4C4C4D"/>
                </a:solidFill>
                <a:latin typeface="Crimson Pro Semi Bold" pitchFamily="34" charset="0"/>
                <a:ea typeface="Crimson Pro Semi Bold" pitchFamily="34" charset="-122"/>
                <a:cs typeface="Crimson Pro Semi Bold" pitchFamily="34" charset="-120"/>
              </a:rPr>
              <a:t>Sender spoofing</a:t>
            </a:r>
            <a:endParaRPr lang="en-US" sz="2000" dirty="0"/>
          </a:p>
        </p:txBody>
      </p:sp>
      <p:sp>
        <p:nvSpPr>
          <p:cNvPr id="11" name="Text 9"/>
          <p:cNvSpPr/>
          <p:nvPr/>
        </p:nvSpPr>
        <p:spPr>
          <a:xfrm>
            <a:off x="7406997" y="3133249"/>
            <a:ext cx="6429613" cy="1433989"/>
          </a:xfrm>
          <a:prstGeom prst="rect">
            <a:avLst/>
          </a:prstGeom>
          <a:noFill/>
          <a:ln/>
        </p:spPr>
        <p:txBody>
          <a:bodyPr wrap="square" lIns="0" tIns="0" rIns="0" bIns="0" rtlCol="0" anchor="t"/>
          <a:lstStyle/>
          <a:p>
            <a:pPr marL="342900" indent="-342900" algn="l">
              <a:lnSpc>
                <a:spcPts val="2400"/>
              </a:lnSpc>
              <a:buSzPct val="100000"/>
              <a:buChar char="•"/>
            </a:pPr>
            <a:r>
              <a:rPr lang="en-US" sz="1600" dirty="0">
                <a:solidFill>
                  <a:srgbClr val="4C4C4D"/>
                </a:solidFill>
                <a:latin typeface="Heebo" pitchFamily="34" charset="0"/>
                <a:ea typeface="Heebo" pitchFamily="34" charset="-122"/>
                <a:cs typeface="Heebo" pitchFamily="34" charset="-120"/>
              </a:rPr>
              <a:t>Display name manipulation</a:t>
            </a:r>
            <a:endParaRPr lang="en-US" sz="1600" dirty="0"/>
          </a:p>
          <a:p>
            <a:pPr marL="342900" indent="-342900" algn="l">
              <a:lnSpc>
                <a:spcPts val="2400"/>
              </a:lnSpc>
              <a:buSzPct val="100000"/>
              <a:buChar char="•"/>
            </a:pPr>
            <a:r>
              <a:rPr lang="en-US" sz="1600" dirty="0">
                <a:solidFill>
                  <a:srgbClr val="4C4C4D"/>
                </a:solidFill>
                <a:latin typeface="Heebo" pitchFamily="34" charset="0"/>
                <a:ea typeface="Heebo" pitchFamily="34" charset="-122"/>
                <a:cs typeface="Heebo" pitchFamily="34" charset="-120"/>
              </a:rPr>
              <a:t>Domain lookalikes</a:t>
            </a:r>
            <a:endParaRPr lang="en-US" sz="1600" dirty="0"/>
          </a:p>
          <a:p>
            <a:pPr marL="342900" indent="-342900" algn="l">
              <a:lnSpc>
                <a:spcPts val="2400"/>
              </a:lnSpc>
              <a:buSzPct val="100000"/>
              <a:buChar char="•"/>
            </a:pPr>
            <a:r>
              <a:rPr lang="en-US" sz="1600" dirty="0">
                <a:solidFill>
                  <a:srgbClr val="4C4C4D"/>
                </a:solidFill>
                <a:latin typeface="Heebo" pitchFamily="34" charset="0"/>
                <a:ea typeface="Heebo" pitchFamily="34" charset="-122"/>
                <a:cs typeface="Heebo" pitchFamily="34" charset="-120"/>
              </a:rPr>
              <a:t>Subdomain tricks</a:t>
            </a:r>
            <a:endParaRPr lang="en-US" sz="1600" dirty="0"/>
          </a:p>
          <a:p>
            <a:pPr marL="342900" indent="-342900" algn="l">
              <a:lnSpc>
                <a:spcPts val="2400"/>
              </a:lnSpc>
              <a:buSzPct val="100000"/>
              <a:buChar char="•"/>
            </a:pPr>
            <a:r>
              <a:rPr lang="en-US" sz="1600" dirty="0">
                <a:solidFill>
                  <a:srgbClr val="4C4C4D"/>
                </a:solidFill>
                <a:latin typeface="Heebo" pitchFamily="34" charset="0"/>
                <a:ea typeface="Heebo" pitchFamily="34" charset="-122"/>
                <a:cs typeface="Heebo" pitchFamily="34" charset="-120"/>
              </a:rPr>
              <a:t>Unicode character substitution</a:t>
            </a:r>
            <a:endParaRPr lang="en-US" sz="1600" dirty="0"/>
          </a:p>
        </p:txBody>
      </p:sp>
      <p:sp>
        <p:nvSpPr>
          <p:cNvPr id="12" name="Text 10"/>
          <p:cNvSpPr/>
          <p:nvPr/>
        </p:nvSpPr>
        <p:spPr>
          <a:xfrm>
            <a:off x="793790" y="4903946"/>
            <a:ext cx="204073" cy="255151"/>
          </a:xfrm>
          <a:prstGeom prst="rect">
            <a:avLst/>
          </a:prstGeom>
          <a:noFill/>
          <a:ln/>
        </p:spPr>
        <p:txBody>
          <a:bodyPr wrap="none" lIns="0" tIns="0" rIns="0" bIns="0" rtlCol="0" anchor="t"/>
          <a:lstStyle/>
          <a:p>
            <a:pPr marL="0" indent="0" algn="l">
              <a:lnSpc>
                <a:spcPts val="2400"/>
              </a:lnSpc>
              <a:buNone/>
            </a:pPr>
            <a:r>
              <a:rPr lang="en-US" sz="1600" dirty="0">
                <a:solidFill>
                  <a:srgbClr val="4C4C4D"/>
                </a:solidFill>
                <a:latin typeface="Crimson Pro Light" pitchFamily="34" charset="0"/>
                <a:ea typeface="Crimson Pro Light" pitchFamily="34" charset="-122"/>
                <a:cs typeface="Crimson Pro Light" pitchFamily="34" charset="-120"/>
              </a:rPr>
              <a:t>03</a:t>
            </a:r>
            <a:endParaRPr lang="en-US" sz="1600" dirty="0"/>
          </a:p>
        </p:txBody>
      </p:sp>
      <p:sp>
        <p:nvSpPr>
          <p:cNvPr id="13" name="Shape 11"/>
          <p:cNvSpPr/>
          <p:nvPr/>
        </p:nvSpPr>
        <p:spPr>
          <a:xfrm>
            <a:off x="793790" y="5227915"/>
            <a:ext cx="6429494" cy="22860"/>
          </a:xfrm>
          <a:prstGeom prst="rect">
            <a:avLst/>
          </a:prstGeom>
          <a:solidFill>
            <a:srgbClr val="FFF0E0"/>
          </a:solidFill>
          <a:ln/>
        </p:spPr>
      </p:sp>
      <p:sp>
        <p:nvSpPr>
          <p:cNvPr id="14" name="Text 12"/>
          <p:cNvSpPr/>
          <p:nvPr/>
        </p:nvSpPr>
        <p:spPr>
          <a:xfrm>
            <a:off x="793790" y="5375672"/>
            <a:ext cx="2551748" cy="318849"/>
          </a:xfrm>
          <a:prstGeom prst="rect">
            <a:avLst/>
          </a:prstGeom>
          <a:noFill/>
          <a:ln/>
        </p:spPr>
        <p:txBody>
          <a:bodyPr wrap="none" lIns="0" tIns="0" rIns="0" bIns="0" rtlCol="0" anchor="t"/>
          <a:lstStyle/>
          <a:p>
            <a:pPr marL="0" indent="0" algn="l">
              <a:lnSpc>
                <a:spcPts val="2500"/>
              </a:lnSpc>
              <a:buNone/>
            </a:pPr>
            <a:r>
              <a:rPr lang="en-US" sz="2000" dirty="0">
                <a:solidFill>
                  <a:srgbClr val="4C4C4D"/>
                </a:solidFill>
                <a:latin typeface="Crimson Pro Semi Bold" pitchFamily="34" charset="0"/>
                <a:ea typeface="Crimson Pro Semi Bold" pitchFamily="34" charset="-122"/>
                <a:cs typeface="Crimson Pro Semi Bold" pitchFamily="34" charset="-120"/>
              </a:rPr>
              <a:t>Email body</a:t>
            </a:r>
            <a:endParaRPr lang="en-US" sz="2000" dirty="0"/>
          </a:p>
        </p:txBody>
      </p:sp>
      <p:sp>
        <p:nvSpPr>
          <p:cNvPr id="15" name="Text 13"/>
          <p:cNvSpPr/>
          <p:nvPr/>
        </p:nvSpPr>
        <p:spPr>
          <a:xfrm>
            <a:off x="793790" y="5804654"/>
            <a:ext cx="6429494" cy="1433989"/>
          </a:xfrm>
          <a:prstGeom prst="rect">
            <a:avLst/>
          </a:prstGeom>
          <a:noFill/>
          <a:ln/>
        </p:spPr>
        <p:txBody>
          <a:bodyPr wrap="square" lIns="0" tIns="0" rIns="0" bIns="0" rtlCol="0" anchor="t"/>
          <a:lstStyle/>
          <a:p>
            <a:pPr marL="342900" indent="-342900" algn="l">
              <a:lnSpc>
                <a:spcPts val="2400"/>
              </a:lnSpc>
              <a:buSzPct val="100000"/>
              <a:buChar char="•"/>
            </a:pPr>
            <a:r>
              <a:rPr lang="en-US" sz="1600" dirty="0">
                <a:solidFill>
                  <a:srgbClr val="4C4C4D"/>
                </a:solidFill>
                <a:latin typeface="Heebo" pitchFamily="34" charset="0"/>
                <a:ea typeface="Heebo" pitchFamily="34" charset="-122"/>
                <a:cs typeface="Heebo" pitchFamily="34" charset="-120"/>
              </a:rPr>
              <a:t>Official branding/logos</a:t>
            </a:r>
            <a:endParaRPr lang="en-US" sz="1600" dirty="0"/>
          </a:p>
          <a:p>
            <a:pPr marL="342900" indent="-342900" algn="l">
              <a:lnSpc>
                <a:spcPts val="2400"/>
              </a:lnSpc>
              <a:buSzPct val="100000"/>
              <a:buChar char="•"/>
            </a:pPr>
            <a:r>
              <a:rPr lang="en-US" sz="1600" dirty="0">
                <a:solidFill>
                  <a:srgbClr val="4C4C4D"/>
                </a:solidFill>
                <a:latin typeface="Heebo" pitchFamily="34" charset="0"/>
                <a:ea typeface="Heebo" pitchFamily="34" charset="-122"/>
                <a:cs typeface="Heebo" pitchFamily="34" charset="-120"/>
              </a:rPr>
              <a:t>Professional language</a:t>
            </a:r>
            <a:endParaRPr lang="en-US" sz="1600" dirty="0"/>
          </a:p>
          <a:p>
            <a:pPr marL="342900" indent="-342900" algn="l">
              <a:lnSpc>
                <a:spcPts val="2400"/>
              </a:lnSpc>
              <a:buSzPct val="100000"/>
              <a:buChar char="•"/>
            </a:pPr>
            <a:r>
              <a:rPr lang="en-US" sz="1600" dirty="0">
                <a:solidFill>
                  <a:srgbClr val="4C4C4D"/>
                </a:solidFill>
                <a:latin typeface="Heebo" pitchFamily="34" charset="0"/>
                <a:ea typeface="Heebo" pitchFamily="34" charset="-122"/>
                <a:cs typeface="Heebo" pitchFamily="34" charset="-120"/>
              </a:rPr>
              <a:t>Urgency creation</a:t>
            </a:r>
            <a:endParaRPr lang="en-US" sz="1600" dirty="0"/>
          </a:p>
          <a:p>
            <a:pPr marL="342900" indent="-342900" algn="l">
              <a:lnSpc>
                <a:spcPts val="2400"/>
              </a:lnSpc>
              <a:buSzPct val="100000"/>
              <a:buChar char="•"/>
            </a:pPr>
            <a:r>
              <a:rPr lang="en-US" sz="1600" dirty="0">
                <a:solidFill>
                  <a:srgbClr val="4C4C4D"/>
                </a:solidFill>
                <a:latin typeface="Heebo" pitchFamily="34" charset="0"/>
                <a:ea typeface="Heebo" pitchFamily="34" charset="-122"/>
                <a:cs typeface="Heebo" pitchFamily="34" charset="-120"/>
              </a:rPr>
              <a:t>Clear call to action</a:t>
            </a:r>
            <a:endParaRPr lang="en-US" sz="1600" dirty="0"/>
          </a:p>
        </p:txBody>
      </p:sp>
      <p:sp>
        <p:nvSpPr>
          <p:cNvPr id="16" name="Text 14"/>
          <p:cNvSpPr/>
          <p:nvPr/>
        </p:nvSpPr>
        <p:spPr>
          <a:xfrm>
            <a:off x="7406997" y="4903946"/>
            <a:ext cx="204073" cy="255151"/>
          </a:xfrm>
          <a:prstGeom prst="rect">
            <a:avLst/>
          </a:prstGeom>
          <a:noFill/>
          <a:ln/>
        </p:spPr>
        <p:txBody>
          <a:bodyPr wrap="none" lIns="0" tIns="0" rIns="0" bIns="0" rtlCol="0" anchor="t"/>
          <a:lstStyle/>
          <a:p>
            <a:pPr marL="0" indent="0" algn="l">
              <a:lnSpc>
                <a:spcPts val="2400"/>
              </a:lnSpc>
              <a:buNone/>
            </a:pPr>
            <a:r>
              <a:rPr lang="en-US" sz="1600" dirty="0">
                <a:solidFill>
                  <a:srgbClr val="4C4C4D"/>
                </a:solidFill>
                <a:latin typeface="Crimson Pro Light" pitchFamily="34" charset="0"/>
                <a:ea typeface="Crimson Pro Light" pitchFamily="34" charset="-122"/>
                <a:cs typeface="Crimson Pro Light" pitchFamily="34" charset="-120"/>
              </a:rPr>
              <a:t>04</a:t>
            </a:r>
            <a:endParaRPr lang="en-US" sz="1600" dirty="0"/>
          </a:p>
        </p:txBody>
      </p:sp>
      <p:sp>
        <p:nvSpPr>
          <p:cNvPr id="17" name="Shape 15"/>
          <p:cNvSpPr/>
          <p:nvPr/>
        </p:nvSpPr>
        <p:spPr>
          <a:xfrm>
            <a:off x="7406997" y="5227915"/>
            <a:ext cx="6429613" cy="22860"/>
          </a:xfrm>
          <a:prstGeom prst="rect">
            <a:avLst/>
          </a:prstGeom>
          <a:solidFill>
            <a:srgbClr val="FFF0E0"/>
          </a:solidFill>
          <a:ln/>
        </p:spPr>
      </p:sp>
      <p:sp>
        <p:nvSpPr>
          <p:cNvPr id="18" name="Text 16"/>
          <p:cNvSpPr/>
          <p:nvPr/>
        </p:nvSpPr>
        <p:spPr>
          <a:xfrm>
            <a:off x="7406997" y="5375672"/>
            <a:ext cx="2551748" cy="318849"/>
          </a:xfrm>
          <a:prstGeom prst="rect">
            <a:avLst/>
          </a:prstGeom>
          <a:noFill/>
          <a:ln/>
        </p:spPr>
        <p:txBody>
          <a:bodyPr wrap="none" lIns="0" tIns="0" rIns="0" bIns="0" rtlCol="0" anchor="t"/>
          <a:lstStyle/>
          <a:p>
            <a:pPr marL="0" indent="0" algn="l">
              <a:lnSpc>
                <a:spcPts val="2500"/>
              </a:lnSpc>
              <a:buNone/>
            </a:pPr>
            <a:r>
              <a:rPr lang="en-US" sz="2000" dirty="0">
                <a:solidFill>
                  <a:srgbClr val="4C4C4D"/>
                </a:solidFill>
                <a:latin typeface="Crimson Pro Semi Bold" pitchFamily="34" charset="0"/>
                <a:ea typeface="Crimson Pro Semi Bold" pitchFamily="34" charset="-122"/>
                <a:cs typeface="Crimson Pro Semi Bold" pitchFamily="34" charset="-120"/>
              </a:rPr>
              <a:t>Malicious payload</a:t>
            </a:r>
            <a:endParaRPr lang="en-US" sz="2000" dirty="0"/>
          </a:p>
        </p:txBody>
      </p:sp>
      <p:sp>
        <p:nvSpPr>
          <p:cNvPr id="19" name="Text 17"/>
          <p:cNvSpPr/>
          <p:nvPr/>
        </p:nvSpPr>
        <p:spPr>
          <a:xfrm>
            <a:off x="7406997" y="5804654"/>
            <a:ext cx="6429613" cy="1433989"/>
          </a:xfrm>
          <a:prstGeom prst="rect">
            <a:avLst/>
          </a:prstGeom>
          <a:noFill/>
          <a:ln/>
        </p:spPr>
        <p:txBody>
          <a:bodyPr wrap="square" lIns="0" tIns="0" rIns="0" bIns="0" rtlCol="0" anchor="t"/>
          <a:lstStyle/>
          <a:p>
            <a:pPr marL="342900" indent="-342900" algn="l">
              <a:lnSpc>
                <a:spcPts val="2400"/>
              </a:lnSpc>
              <a:buSzPct val="100000"/>
              <a:buChar char="•"/>
            </a:pPr>
            <a:r>
              <a:rPr lang="en-US" sz="1600" dirty="0">
                <a:solidFill>
                  <a:srgbClr val="4C4C4D"/>
                </a:solidFill>
                <a:latin typeface="Heebo" pitchFamily="34" charset="0"/>
                <a:ea typeface="Heebo" pitchFamily="34" charset="-122"/>
                <a:cs typeface="Heebo" pitchFamily="34" charset="-120"/>
              </a:rPr>
              <a:t>Phishing links</a:t>
            </a:r>
            <a:endParaRPr lang="en-US" sz="1600" dirty="0"/>
          </a:p>
          <a:p>
            <a:pPr marL="342900" indent="-342900" algn="l">
              <a:lnSpc>
                <a:spcPts val="2400"/>
              </a:lnSpc>
              <a:buSzPct val="100000"/>
              <a:buChar char="•"/>
            </a:pPr>
            <a:r>
              <a:rPr lang="en-US" sz="1600" dirty="0">
                <a:solidFill>
                  <a:srgbClr val="4C4C4D"/>
                </a:solidFill>
                <a:latin typeface="Heebo" pitchFamily="34" charset="0"/>
                <a:ea typeface="Heebo" pitchFamily="34" charset="-122"/>
                <a:cs typeface="Heebo" pitchFamily="34" charset="-120"/>
              </a:rPr>
              <a:t>Malicious attachments</a:t>
            </a:r>
            <a:endParaRPr lang="en-US" sz="1600" dirty="0"/>
          </a:p>
          <a:p>
            <a:pPr marL="342900" indent="-342900" algn="l">
              <a:lnSpc>
                <a:spcPts val="2400"/>
              </a:lnSpc>
              <a:buSzPct val="100000"/>
              <a:buChar char="•"/>
            </a:pPr>
            <a:r>
              <a:rPr lang="en-US" sz="1600" dirty="0">
                <a:solidFill>
                  <a:srgbClr val="4C4C4D"/>
                </a:solidFill>
                <a:latin typeface="Heebo" pitchFamily="34" charset="0"/>
                <a:ea typeface="Heebo" pitchFamily="34" charset="-122"/>
                <a:cs typeface="Heebo" pitchFamily="34" charset="-120"/>
              </a:rPr>
              <a:t>Embedded macros</a:t>
            </a:r>
            <a:endParaRPr lang="en-US" sz="1600" dirty="0"/>
          </a:p>
          <a:p>
            <a:pPr marL="342900" indent="-342900" algn="l">
              <a:lnSpc>
                <a:spcPts val="2400"/>
              </a:lnSpc>
              <a:buSzPct val="100000"/>
              <a:buChar char="•"/>
            </a:pPr>
            <a:r>
              <a:rPr lang="en-US" sz="1600" dirty="0">
                <a:solidFill>
                  <a:srgbClr val="4C4C4D"/>
                </a:solidFill>
                <a:latin typeface="Heebo" pitchFamily="34" charset="0"/>
                <a:ea typeface="Heebo" pitchFamily="34" charset="-122"/>
                <a:cs typeface="Heebo" pitchFamily="34" charset="-120"/>
              </a:rPr>
              <a:t>Drive-by download links</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85000"/>
            </a:srgbClr>
          </a:solidFill>
          <a:ln/>
        </p:spPr>
      </p:sp>
      <p:sp>
        <p:nvSpPr>
          <p:cNvPr id="4" name="Text 1"/>
          <p:cNvSpPr/>
          <p:nvPr/>
        </p:nvSpPr>
        <p:spPr>
          <a:xfrm>
            <a:off x="793790" y="1098352"/>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152D47"/>
                </a:solidFill>
                <a:latin typeface="Crimson Pro Semi Bold" pitchFamily="34" charset="0"/>
                <a:ea typeface="Crimson Pro Semi Bold" pitchFamily="34" charset="-122"/>
                <a:cs typeface="Crimson Pro Semi Bold" pitchFamily="34" charset="-120"/>
              </a:rPr>
              <a:t>Phase 4: Delivery</a:t>
            </a:r>
            <a:endParaRPr lang="en-US" sz="4450" dirty="0"/>
          </a:p>
        </p:txBody>
      </p:sp>
      <p:sp>
        <p:nvSpPr>
          <p:cNvPr id="5" name="Text 2"/>
          <p:cNvSpPr/>
          <p:nvPr/>
        </p:nvSpPr>
        <p:spPr>
          <a:xfrm>
            <a:off x="793790" y="2147292"/>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4C4C4D"/>
                </a:solidFill>
                <a:latin typeface="Heebo" pitchFamily="34" charset="0"/>
                <a:ea typeface="Heebo" pitchFamily="34" charset="-122"/>
                <a:cs typeface="Heebo" pitchFamily="34" charset="-120"/>
              </a:rPr>
              <a:t>Delivery methods for phishing attacks:</a:t>
            </a:r>
            <a:endParaRPr lang="en-US" sz="1750" dirty="0"/>
          </a:p>
        </p:txBody>
      </p:sp>
      <p:sp>
        <p:nvSpPr>
          <p:cNvPr id="6" name="Shape 3"/>
          <p:cNvSpPr/>
          <p:nvPr/>
        </p:nvSpPr>
        <p:spPr>
          <a:xfrm>
            <a:off x="793790" y="2765346"/>
            <a:ext cx="3090505" cy="2069544"/>
          </a:xfrm>
          <a:prstGeom prst="roundRect">
            <a:avLst>
              <a:gd name="adj" fmla="val 1644"/>
            </a:avLst>
          </a:prstGeom>
          <a:solidFill>
            <a:srgbClr val="F2EEEE"/>
          </a:solidFill>
          <a:ln/>
        </p:spPr>
      </p:sp>
      <p:sp>
        <p:nvSpPr>
          <p:cNvPr id="7" name="Shape 4"/>
          <p:cNvSpPr/>
          <p:nvPr/>
        </p:nvSpPr>
        <p:spPr>
          <a:xfrm>
            <a:off x="1020604" y="2992160"/>
            <a:ext cx="680442" cy="680442"/>
          </a:xfrm>
          <a:prstGeom prst="roundRect">
            <a:avLst>
              <a:gd name="adj" fmla="val 13436980"/>
            </a:avLst>
          </a:prstGeom>
          <a:solidFill>
            <a:srgbClr val="CCCCCC"/>
          </a:solidFill>
          <a:ln/>
        </p:spPr>
      </p:sp>
      <p:pic>
        <p:nvPicPr>
          <p:cNvPr id="8"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207770" y="3179207"/>
            <a:ext cx="306110" cy="306110"/>
          </a:xfrm>
          <a:prstGeom prst="rect">
            <a:avLst/>
          </a:prstGeom>
        </p:spPr>
      </p:pic>
      <p:sp>
        <p:nvSpPr>
          <p:cNvPr id="9" name="Text 5"/>
          <p:cNvSpPr/>
          <p:nvPr/>
        </p:nvSpPr>
        <p:spPr>
          <a:xfrm>
            <a:off x="1020604" y="3899416"/>
            <a:ext cx="2636877" cy="708660"/>
          </a:xfrm>
          <a:prstGeom prst="rect">
            <a:avLst/>
          </a:prstGeom>
          <a:noFill/>
          <a:ln/>
        </p:spPr>
        <p:txBody>
          <a:bodyPr wrap="square" lIns="0" tIns="0" rIns="0" bIns="0" rtlCol="0" anchor="t"/>
          <a:lstStyle/>
          <a:p>
            <a:pPr marL="0" indent="0" algn="l">
              <a:lnSpc>
                <a:spcPts val="2750"/>
              </a:lnSpc>
              <a:buNone/>
            </a:pPr>
            <a:r>
              <a:rPr lang="en-US" sz="2200" dirty="0">
                <a:solidFill>
                  <a:srgbClr val="4C4C4D"/>
                </a:solidFill>
                <a:latin typeface="Crimson Pro Semi Bold" pitchFamily="34" charset="0"/>
                <a:ea typeface="Crimson Pro Semi Bold" pitchFamily="34" charset="-122"/>
                <a:cs typeface="Crimson Pro Semi Bold" pitchFamily="34" charset="-120"/>
              </a:rPr>
              <a:t>Mass email campaigns</a:t>
            </a:r>
            <a:endParaRPr lang="en-US" sz="2200" dirty="0"/>
          </a:p>
        </p:txBody>
      </p:sp>
      <p:sp>
        <p:nvSpPr>
          <p:cNvPr id="10" name="Shape 6"/>
          <p:cNvSpPr/>
          <p:nvPr/>
        </p:nvSpPr>
        <p:spPr>
          <a:xfrm>
            <a:off x="4111109" y="2765346"/>
            <a:ext cx="3090624" cy="2069544"/>
          </a:xfrm>
          <a:prstGeom prst="roundRect">
            <a:avLst>
              <a:gd name="adj" fmla="val 1644"/>
            </a:avLst>
          </a:prstGeom>
          <a:solidFill>
            <a:srgbClr val="F2EEEE"/>
          </a:solidFill>
          <a:ln/>
        </p:spPr>
      </p:sp>
      <p:sp>
        <p:nvSpPr>
          <p:cNvPr id="11" name="Shape 7"/>
          <p:cNvSpPr/>
          <p:nvPr/>
        </p:nvSpPr>
        <p:spPr>
          <a:xfrm>
            <a:off x="4337923" y="2992160"/>
            <a:ext cx="680442" cy="680442"/>
          </a:xfrm>
          <a:prstGeom prst="roundRect">
            <a:avLst>
              <a:gd name="adj" fmla="val 13436980"/>
            </a:avLst>
          </a:prstGeom>
          <a:solidFill>
            <a:srgbClr val="CCCCCC"/>
          </a:solidFill>
          <a:ln/>
        </p:spPr>
      </p:sp>
      <p:pic>
        <p:nvPicPr>
          <p:cNvPr id="12" name="Image 2"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525089" y="3179207"/>
            <a:ext cx="306110" cy="306110"/>
          </a:xfrm>
          <a:prstGeom prst="rect">
            <a:avLst/>
          </a:prstGeom>
        </p:spPr>
      </p:pic>
      <p:sp>
        <p:nvSpPr>
          <p:cNvPr id="13" name="Text 8"/>
          <p:cNvSpPr/>
          <p:nvPr/>
        </p:nvSpPr>
        <p:spPr>
          <a:xfrm>
            <a:off x="4337923" y="3899416"/>
            <a:ext cx="2636996" cy="708660"/>
          </a:xfrm>
          <a:prstGeom prst="rect">
            <a:avLst/>
          </a:prstGeom>
          <a:noFill/>
          <a:ln/>
        </p:spPr>
        <p:txBody>
          <a:bodyPr wrap="square" lIns="0" tIns="0" rIns="0" bIns="0" rtlCol="0" anchor="t"/>
          <a:lstStyle/>
          <a:p>
            <a:pPr marL="0" indent="0" algn="l">
              <a:lnSpc>
                <a:spcPts val="2750"/>
              </a:lnSpc>
              <a:buNone/>
            </a:pPr>
            <a:r>
              <a:rPr lang="en-US" sz="2200" dirty="0">
                <a:solidFill>
                  <a:srgbClr val="4C4C4D"/>
                </a:solidFill>
                <a:latin typeface="Crimson Pro Semi Bold" pitchFamily="34" charset="0"/>
                <a:ea typeface="Crimson Pro Semi Bold" pitchFamily="34" charset="-122"/>
                <a:cs typeface="Crimson Pro Semi Bold" pitchFamily="34" charset="-120"/>
              </a:rPr>
              <a:t>Targeted spear phishing</a:t>
            </a:r>
            <a:endParaRPr lang="en-US" sz="2200" dirty="0"/>
          </a:p>
        </p:txBody>
      </p:sp>
      <p:sp>
        <p:nvSpPr>
          <p:cNvPr id="14" name="Shape 9"/>
          <p:cNvSpPr/>
          <p:nvPr/>
        </p:nvSpPr>
        <p:spPr>
          <a:xfrm>
            <a:off x="7428548" y="2765346"/>
            <a:ext cx="3090624" cy="2069544"/>
          </a:xfrm>
          <a:prstGeom prst="roundRect">
            <a:avLst>
              <a:gd name="adj" fmla="val 1644"/>
            </a:avLst>
          </a:prstGeom>
          <a:solidFill>
            <a:srgbClr val="F2EEEE"/>
          </a:solidFill>
          <a:ln/>
        </p:spPr>
      </p:sp>
      <p:sp>
        <p:nvSpPr>
          <p:cNvPr id="15" name="Shape 10"/>
          <p:cNvSpPr/>
          <p:nvPr/>
        </p:nvSpPr>
        <p:spPr>
          <a:xfrm>
            <a:off x="7655362" y="2992160"/>
            <a:ext cx="680442" cy="680442"/>
          </a:xfrm>
          <a:prstGeom prst="roundRect">
            <a:avLst>
              <a:gd name="adj" fmla="val 13436980"/>
            </a:avLst>
          </a:prstGeom>
          <a:solidFill>
            <a:srgbClr val="CCCCCC"/>
          </a:solidFill>
          <a:ln/>
        </p:spPr>
      </p:sp>
      <p:pic>
        <p:nvPicPr>
          <p:cNvPr id="16" name="Image 3"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842528" y="3179207"/>
            <a:ext cx="306110" cy="306110"/>
          </a:xfrm>
          <a:prstGeom prst="rect">
            <a:avLst/>
          </a:prstGeom>
        </p:spPr>
      </p:pic>
      <p:sp>
        <p:nvSpPr>
          <p:cNvPr id="17" name="Text 11"/>
          <p:cNvSpPr/>
          <p:nvPr/>
        </p:nvSpPr>
        <p:spPr>
          <a:xfrm>
            <a:off x="7655362" y="3899416"/>
            <a:ext cx="2636996" cy="354330"/>
          </a:xfrm>
          <a:prstGeom prst="rect">
            <a:avLst/>
          </a:prstGeom>
          <a:noFill/>
          <a:ln/>
        </p:spPr>
        <p:txBody>
          <a:bodyPr wrap="none" lIns="0" tIns="0" rIns="0" bIns="0" rtlCol="0" anchor="t"/>
          <a:lstStyle/>
          <a:p>
            <a:pPr marL="0" indent="0" algn="l">
              <a:lnSpc>
                <a:spcPts val="2750"/>
              </a:lnSpc>
              <a:buNone/>
            </a:pPr>
            <a:r>
              <a:rPr lang="en-US" sz="2200" dirty="0">
                <a:solidFill>
                  <a:srgbClr val="4C4C4D"/>
                </a:solidFill>
                <a:latin typeface="Crimson Pro Semi Bold" pitchFamily="34" charset="0"/>
                <a:ea typeface="Crimson Pro Semi Bold" pitchFamily="34" charset="-122"/>
                <a:cs typeface="Crimson Pro Semi Bold" pitchFamily="34" charset="-120"/>
              </a:rPr>
              <a:t>SMS messages</a:t>
            </a:r>
            <a:endParaRPr lang="en-US" sz="2200" dirty="0"/>
          </a:p>
        </p:txBody>
      </p:sp>
      <p:sp>
        <p:nvSpPr>
          <p:cNvPr id="18" name="Shape 12"/>
          <p:cNvSpPr/>
          <p:nvPr/>
        </p:nvSpPr>
        <p:spPr>
          <a:xfrm>
            <a:off x="10745986" y="2765346"/>
            <a:ext cx="3090624" cy="2069544"/>
          </a:xfrm>
          <a:prstGeom prst="roundRect">
            <a:avLst>
              <a:gd name="adj" fmla="val 1644"/>
            </a:avLst>
          </a:prstGeom>
          <a:solidFill>
            <a:srgbClr val="F2EEEE"/>
          </a:solidFill>
          <a:ln/>
        </p:spPr>
      </p:sp>
      <p:sp>
        <p:nvSpPr>
          <p:cNvPr id="19" name="Shape 13"/>
          <p:cNvSpPr/>
          <p:nvPr/>
        </p:nvSpPr>
        <p:spPr>
          <a:xfrm>
            <a:off x="10972800" y="2992160"/>
            <a:ext cx="680442" cy="680442"/>
          </a:xfrm>
          <a:prstGeom prst="roundRect">
            <a:avLst>
              <a:gd name="adj" fmla="val 13436980"/>
            </a:avLst>
          </a:prstGeom>
          <a:solidFill>
            <a:srgbClr val="CCCCCC"/>
          </a:solidFill>
          <a:ln/>
        </p:spPr>
      </p:sp>
      <p:pic>
        <p:nvPicPr>
          <p:cNvPr id="20" name="Image 4"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1159966" y="3179207"/>
            <a:ext cx="306110" cy="306110"/>
          </a:xfrm>
          <a:prstGeom prst="rect">
            <a:avLst/>
          </a:prstGeom>
        </p:spPr>
      </p:pic>
      <p:sp>
        <p:nvSpPr>
          <p:cNvPr id="21" name="Text 14"/>
          <p:cNvSpPr/>
          <p:nvPr/>
        </p:nvSpPr>
        <p:spPr>
          <a:xfrm>
            <a:off x="10972800" y="3899416"/>
            <a:ext cx="2636996" cy="708660"/>
          </a:xfrm>
          <a:prstGeom prst="rect">
            <a:avLst/>
          </a:prstGeom>
          <a:noFill/>
          <a:ln/>
        </p:spPr>
        <p:txBody>
          <a:bodyPr wrap="square" lIns="0" tIns="0" rIns="0" bIns="0" rtlCol="0" anchor="t"/>
          <a:lstStyle/>
          <a:p>
            <a:pPr marL="0" indent="0" algn="l">
              <a:lnSpc>
                <a:spcPts val="2750"/>
              </a:lnSpc>
              <a:buNone/>
            </a:pPr>
            <a:r>
              <a:rPr lang="en-US" sz="2200" dirty="0">
                <a:solidFill>
                  <a:srgbClr val="4C4C4D"/>
                </a:solidFill>
                <a:latin typeface="Crimson Pro Semi Bold" pitchFamily="34" charset="0"/>
                <a:ea typeface="Crimson Pro Semi Bold" pitchFamily="34" charset="-122"/>
                <a:cs typeface="Crimson Pro Semi Bold" pitchFamily="34" charset="-120"/>
              </a:rPr>
              <a:t>Social media messages</a:t>
            </a:r>
            <a:endParaRPr lang="en-US" sz="2200" dirty="0"/>
          </a:p>
        </p:txBody>
      </p:sp>
      <p:sp>
        <p:nvSpPr>
          <p:cNvPr id="22" name="Shape 15"/>
          <p:cNvSpPr/>
          <p:nvPr/>
        </p:nvSpPr>
        <p:spPr>
          <a:xfrm>
            <a:off x="793790" y="5061704"/>
            <a:ext cx="3090505" cy="2069544"/>
          </a:xfrm>
          <a:prstGeom prst="roundRect">
            <a:avLst>
              <a:gd name="adj" fmla="val 1644"/>
            </a:avLst>
          </a:prstGeom>
          <a:solidFill>
            <a:srgbClr val="F2EEEE"/>
          </a:solidFill>
          <a:ln/>
        </p:spPr>
      </p:sp>
      <p:sp>
        <p:nvSpPr>
          <p:cNvPr id="23" name="Shape 16"/>
          <p:cNvSpPr/>
          <p:nvPr/>
        </p:nvSpPr>
        <p:spPr>
          <a:xfrm>
            <a:off x="1020604" y="5288518"/>
            <a:ext cx="680442" cy="680442"/>
          </a:xfrm>
          <a:prstGeom prst="roundRect">
            <a:avLst>
              <a:gd name="adj" fmla="val 13436980"/>
            </a:avLst>
          </a:prstGeom>
          <a:solidFill>
            <a:srgbClr val="CCCCCC"/>
          </a:solidFill>
          <a:ln/>
        </p:spPr>
      </p:sp>
      <p:pic>
        <p:nvPicPr>
          <p:cNvPr id="24" name="Image 5"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207770" y="5475565"/>
            <a:ext cx="306110" cy="306110"/>
          </a:xfrm>
          <a:prstGeom prst="rect">
            <a:avLst/>
          </a:prstGeom>
        </p:spPr>
      </p:pic>
      <p:sp>
        <p:nvSpPr>
          <p:cNvPr id="25" name="Text 17"/>
          <p:cNvSpPr/>
          <p:nvPr/>
        </p:nvSpPr>
        <p:spPr>
          <a:xfrm>
            <a:off x="1020604" y="6195774"/>
            <a:ext cx="2636877" cy="354330"/>
          </a:xfrm>
          <a:prstGeom prst="rect">
            <a:avLst/>
          </a:prstGeom>
          <a:noFill/>
          <a:ln/>
        </p:spPr>
        <p:txBody>
          <a:bodyPr wrap="none" lIns="0" tIns="0" rIns="0" bIns="0" rtlCol="0" anchor="t"/>
          <a:lstStyle/>
          <a:p>
            <a:pPr marL="0" indent="0" algn="l">
              <a:lnSpc>
                <a:spcPts val="2750"/>
              </a:lnSpc>
              <a:buNone/>
            </a:pPr>
            <a:r>
              <a:rPr lang="en-US" sz="2200" dirty="0">
                <a:solidFill>
                  <a:srgbClr val="4C4C4D"/>
                </a:solidFill>
                <a:latin typeface="Crimson Pro Semi Bold" pitchFamily="34" charset="0"/>
                <a:ea typeface="Crimson Pro Semi Bold" pitchFamily="34" charset="-122"/>
                <a:cs typeface="Crimson Pro Semi Bold" pitchFamily="34" charset="-120"/>
              </a:rPr>
              <a:t>Phone calls</a:t>
            </a:r>
            <a:endParaRPr lang="en-US" sz="2200" dirty="0"/>
          </a:p>
        </p:txBody>
      </p:sp>
      <p:sp>
        <p:nvSpPr>
          <p:cNvPr id="26" name="Shape 18"/>
          <p:cNvSpPr/>
          <p:nvPr/>
        </p:nvSpPr>
        <p:spPr>
          <a:xfrm>
            <a:off x="4111109" y="5061704"/>
            <a:ext cx="3090624" cy="2069544"/>
          </a:xfrm>
          <a:prstGeom prst="roundRect">
            <a:avLst>
              <a:gd name="adj" fmla="val 1644"/>
            </a:avLst>
          </a:prstGeom>
          <a:solidFill>
            <a:srgbClr val="F2EEEE"/>
          </a:solidFill>
          <a:ln/>
        </p:spPr>
      </p:sp>
      <p:sp>
        <p:nvSpPr>
          <p:cNvPr id="27" name="Shape 19"/>
          <p:cNvSpPr/>
          <p:nvPr/>
        </p:nvSpPr>
        <p:spPr>
          <a:xfrm>
            <a:off x="4337923" y="5288518"/>
            <a:ext cx="680442" cy="680442"/>
          </a:xfrm>
          <a:prstGeom prst="roundRect">
            <a:avLst>
              <a:gd name="adj" fmla="val 13436980"/>
            </a:avLst>
          </a:prstGeom>
          <a:solidFill>
            <a:srgbClr val="CCCCCC"/>
          </a:solidFill>
          <a:ln/>
        </p:spPr>
      </p:sp>
      <p:pic>
        <p:nvPicPr>
          <p:cNvPr id="28" name="Image 6" descr="preencoded.png"/>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525089" y="5475565"/>
            <a:ext cx="306110" cy="306110"/>
          </a:xfrm>
          <a:prstGeom prst="rect">
            <a:avLst/>
          </a:prstGeom>
        </p:spPr>
      </p:pic>
      <p:sp>
        <p:nvSpPr>
          <p:cNvPr id="29" name="Text 20"/>
          <p:cNvSpPr/>
          <p:nvPr/>
        </p:nvSpPr>
        <p:spPr>
          <a:xfrm>
            <a:off x="4337923" y="6195774"/>
            <a:ext cx="2636996" cy="708660"/>
          </a:xfrm>
          <a:prstGeom prst="rect">
            <a:avLst/>
          </a:prstGeom>
          <a:noFill/>
          <a:ln/>
        </p:spPr>
        <p:txBody>
          <a:bodyPr wrap="square" lIns="0" tIns="0" rIns="0" bIns="0" rtlCol="0" anchor="t"/>
          <a:lstStyle/>
          <a:p>
            <a:pPr marL="0" indent="0" algn="l">
              <a:lnSpc>
                <a:spcPts val="2750"/>
              </a:lnSpc>
              <a:buNone/>
            </a:pPr>
            <a:r>
              <a:rPr lang="en-US" sz="2200" dirty="0">
                <a:solidFill>
                  <a:srgbClr val="4C4C4D"/>
                </a:solidFill>
                <a:latin typeface="Crimson Pro Semi Bold" pitchFamily="34" charset="0"/>
                <a:ea typeface="Crimson Pro Semi Bold" pitchFamily="34" charset="-122"/>
                <a:cs typeface="Crimson Pro Semi Bold" pitchFamily="34" charset="-120"/>
              </a:rPr>
              <a:t>Physical media (USB drops)</a:t>
            </a:r>
            <a:endParaRPr lang="en-US" sz="2200" dirty="0"/>
          </a:p>
        </p:txBody>
      </p:sp>
      <p:sp>
        <p:nvSpPr>
          <p:cNvPr id="30" name="Shape 21"/>
          <p:cNvSpPr/>
          <p:nvPr/>
        </p:nvSpPr>
        <p:spPr>
          <a:xfrm>
            <a:off x="7428548" y="5061704"/>
            <a:ext cx="3090624" cy="2069544"/>
          </a:xfrm>
          <a:prstGeom prst="roundRect">
            <a:avLst>
              <a:gd name="adj" fmla="val 1644"/>
            </a:avLst>
          </a:prstGeom>
          <a:solidFill>
            <a:srgbClr val="F2EEEE"/>
          </a:solidFill>
          <a:ln/>
        </p:spPr>
      </p:sp>
      <p:sp>
        <p:nvSpPr>
          <p:cNvPr id="31" name="Shape 22"/>
          <p:cNvSpPr/>
          <p:nvPr/>
        </p:nvSpPr>
        <p:spPr>
          <a:xfrm>
            <a:off x="7655362" y="5288518"/>
            <a:ext cx="680442" cy="680442"/>
          </a:xfrm>
          <a:prstGeom prst="roundRect">
            <a:avLst>
              <a:gd name="adj" fmla="val 13436980"/>
            </a:avLst>
          </a:prstGeom>
          <a:solidFill>
            <a:srgbClr val="CCCCCC"/>
          </a:solidFill>
          <a:ln/>
        </p:spPr>
      </p:sp>
      <p:pic>
        <p:nvPicPr>
          <p:cNvPr id="32" name="Image 7" descr="preencoded.png"/>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7842528" y="5475565"/>
            <a:ext cx="306110" cy="306110"/>
          </a:xfrm>
          <a:prstGeom prst="rect">
            <a:avLst/>
          </a:prstGeom>
        </p:spPr>
      </p:pic>
      <p:sp>
        <p:nvSpPr>
          <p:cNvPr id="33" name="Text 23"/>
          <p:cNvSpPr/>
          <p:nvPr/>
        </p:nvSpPr>
        <p:spPr>
          <a:xfrm>
            <a:off x="7655362" y="6195774"/>
            <a:ext cx="2636996" cy="708660"/>
          </a:xfrm>
          <a:prstGeom prst="rect">
            <a:avLst/>
          </a:prstGeom>
          <a:noFill/>
          <a:ln/>
        </p:spPr>
        <p:txBody>
          <a:bodyPr wrap="square" lIns="0" tIns="0" rIns="0" bIns="0" rtlCol="0" anchor="t"/>
          <a:lstStyle/>
          <a:p>
            <a:pPr marL="0" indent="0" algn="l">
              <a:lnSpc>
                <a:spcPts val="2750"/>
              </a:lnSpc>
              <a:buNone/>
            </a:pPr>
            <a:r>
              <a:rPr lang="en-US" sz="2200" dirty="0">
                <a:solidFill>
                  <a:srgbClr val="4C4C4D"/>
                </a:solidFill>
                <a:latin typeface="Crimson Pro Semi Bold" pitchFamily="34" charset="0"/>
                <a:ea typeface="Crimson Pro Semi Bold" pitchFamily="34" charset="-122"/>
                <a:cs typeface="Crimson Pro Semi Bold" pitchFamily="34" charset="-120"/>
              </a:rPr>
              <a:t>Search engine poisoning</a:t>
            </a:r>
            <a:endParaRPr lang="en-US" sz="2200" dirty="0"/>
          </a:p>
        </p:txBody>
      </p:sp>
      <p:sp>
        <p:nvSpPr>
          <p:cNvPr id="34" name="Shape 24"/>
          <p:cNvSpPr/>
          <p:nvPr/>
        </p:nvSpPr>
        <p:spPr>
          <a:xfrm>
            <a:off x="10745986" y="5061704"/>
            <a:ext cx="3090624" cy="2069544"/>
          </a:xfrm>
          <a:prstGeom prst="roundRect">
            <a:avLst>
              <a:gd name="adj" fmla="val 1644"/>
            </a:avLst>
          </a:prstGeom>
          <a:solidFill>
            <a:srgbClr val="F2EEEE"/>
          </a:solidFill>
          <a:ln/>
        </p:spPr>
      </p:sp>
      <p:sp>
        <p:nvSpPr>
          <p:cNvPr id="35" name="Shape 25"/>
          <p:cNvSpPr/>
          <p:nvPr/>
        </p:nvSpPr>
        <p:spPr>
          <a:xfrm>
            <a:off x="10972800" y="5288518"/>
            <a:ext cx="680442" cy="680442"/>
          </a:xfrm>
          <a:prstGeom prst="roundRect">
            <a:avLst>
              <a:gd name="adj" fmla="val 13436980"/>
            </a:avLst>
          </a:prstGeom>
          <a:solidFill>
            <a:srgbClr val="CCCCCC"/>
          </a:solidFill>
          <a:ln/>
        </p:spPr>
      </p:sp>
      <p:pic>
        <p:nvPicPr>
          <p:cNvPr id="36" name="Image 8" descr="preencoded.png"/>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1159966" y="5475565"/>
            <a:ext cx="306110" cy="306110"/>
          </a:xfrm>
          <a:prstGeom prst="rect">
            <a:avLst/>
          </a:prstGeom>
        </p:spPr>
      </p:pic>
      <p:sp>
        <p:nvSpPr>
          <p:cNvPr id="37" name="Text 26"/>
          <p:cNvSpPr/>
          <p:nvPr/>
        </p:nvSpPr>
        <p:spPr>
          <a:xfrm>
            <a:off x="10972800" y="6195774"/>
            <a:ext cx="2636996" cy="354330"/>
          </a:xfrm>
          <a:prstGeom prst="rect">
            <a:avLst/>
          </a:prstGeom>
          <a:noFill/>
          <a:ln/>
        </p:spPr>
        <p:txBody>
          <a:bodyPr wrap="none" lIns="0" tIns="0" rIns="0" bIns="0" rtlCol="0" anchor="t"/>
          <a:lstStyle/>
          <a:p>
            <a:pPr marL="0" indent="0" algn="l">
              <a:lnSpc>
                <a:spcPts val="2750"/>
              </a:lnSpc>
              <a:buNone/>
            </a:pPr>
            <a:r>
              <a:rPr lang="en-US" sz="2200" dirty="0">
                <a:solidFill>
                  <a:srgbClr val="4C4C4D"/>
                </a:solidFill>
                <a:latin typeface="Crimson Pro Semi Bold" pitchFamily="34" charset="0"/>
                <a:ea typeface="Crimson Pro Semi Bold" pitchFamily="34" charset="-122"/>
                <a:cs typeface="Crimson Pro Semi Bold" pitchFamily="34" charset="-120"/>
              </a:rPr>
              <a:t>Malvertising</a:t>
            </a:r>
            <a:endParaRPr lang="en-US" sz="2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93790" y="909042"/>
            <a:ext cx="4536519" cy="566976"/>
          </a:xfrm>
          <a:prstGeom prst="rect">
            <a:avLst/>
          </a:prstGeom>
          <a:noFill/>
          <a:ln/>
        </p:spPr>
        <p:txBody>
          <a:bodyPr wrap="none" lIns="0" tIns="0" rIns="0" bIns="0" rtlCol="0" anchor="t"/>
          <a:lstStyle/>
          <a:p>
            <a:pPr marL="0" indent="0" algn="l">
              <a:lnSpc>
                <a:spcPts val="4450"/>
              </a:lnSpc>
              <a:buNone/>
            </a:pPr>
            <a:r>
              <a:rPr lang="en-US" sz="3550" dirty="0">
                <a:solidFill>
                  <a:srgbClr val="152D47"/>
                </a:solidFill>
                <a:latin typeface="Crimson Pro Semi Bold" pitchFamily="34" charset="0"/>
                <a:ea typeface="Crimson Pro Semi Bold" pitchFamily="34" charset="-122"/>
                <a:cs typeface="Crimson Pro Semi Bold" pitchFamily="34" charset="-120"/>
              </a:rPr>
              <a:t>Phase 5: Exploitation</a:t>
            </a:r>
            <a:endParaRPr lang="en-US" sz="3550" dirty="0"/>
          </a:p>
        </p:txBody>
      </p:sp>
      <p:sp>
        <p:nvSpPr>
          <p:cNvPr id="3" name="Text 1"/>
          <p:cNvSpPr/>
          <p:nvPr/>
        </p:nvSpPr>
        <p:spPr>
          <a:xfrm>
            <a:off x="793790" y="1566743"/>
            <a:ext cx="4024193" cy="425291"/>
          </a:xfrm>
          <a:prstGeom prst="rect">
            <a:avLst/>
          </a:prstGeom>
          <a:noFill/>
          <a:ln/>
        </p:spPr>
        <p:txBody>
          <a:bodyPr wrap="none" lIns="0" tIns="0" rIns="0" bIns="0" rtlCol="0" anchor="t"/>
          <a:lstStyle/>
          <a:p>
            <a:pPr marL="0" indent="0" algn="l">
              <a:lnSpc>
                <a:spcPts val="3300"/>
              </a:lnSpc>
              <a:buNone/>
            </a:pPr>
            <a:r>
              <a:rPr lang="en-US" sz="2650" dirty="0">
                <a:solidFill>
                  <a:srgbClr val="152D47"/>
                </a:solidFill>
                <a:latin typeface="Crimson Pro Semi Bold" pitchFamily="34" charset="0"/>
                <a:ea typeface="Crimson Pro Semi Bold" pitchFamily="34" charset="-122"/>
                <a:cs typeface="Crimson Pro Semi Bold" pitchFamily="34" charset="-120"/>
              </a:rPr>
              <a:t>Key Exploitation Techniques</a:t>
            </a:r>
            <a:endParaRPr lang="en-US" sz="2650" dirty="0"/>
          </a:p>
        </p:txBody>
      </p:sp>
      <p:sp>
        <p:nvSpPr>
          <p:cNvPr id="4" name="Shape 2"/>
          <p:cNvSpPr/>
          <p:nvPr/>
        </p:nvSpPr>
        <p:spPr>
          <a:xfrm>
            <a:off x="793790" y="2332196"/>
            <a:ext cx="3090505" cy="4988362"/>
          </a:xfrm>
          <a:prstGeom prst="roundRect">
            <a:avLst>
              <a:gd name="adj" fmla="val 1101"/>
            </a:avLst>
          </a:prstGeom>
          <a:solidFill>
            <a:srgbClr val="FFFFFF"/>
          </a:solidFill>
          <a:ln w="30480">
            <a:solidFill>
              <a:srgbClr val="D8D4D4"/>
            </a:solidFill>
            <a:prstDash val="solid"/>
          </a:ln>
        </p:spPr>
      </p:sp>
      <p:sp>
        <p:nvSpPr>
          <p:cNvPr id="5" name="Text 3"/>
          <p:cNvSpPr/>
          <p:nvPr/>
        </p:nvSpPr>
        <p:spPr>
          <a:xfrm>
            <a:off x="1051084" y="2589490"/>
            <a:ext cx="2575917" cy="354330"/>
          </a:xfrm>
          <a:prstGeom prst="rect">
            <a:avLst/>
          </a:prstGeom>
          <a:noFill/>
          <a:ln/>
        </p:spPr>
        <p:txBody>
          <a:bodyPr wrap="none" lIns="0" tIns="0" rIns="0" bIns="0" rtlCol="0" anchor="t"/>
          <a:lstStyle/>
          <a:p>
            <a:pPr marL="0" indent="0" algn="l">
              <a:lnSpc>
                <a:spcPts val="2750"/>
              </a:lnSpc>
              <a:buNone/>
            </a:pPr>
            <a:r>
              <a:rPr lang="en-US" sz="2200" dirty="0">
                <a:solidFill>
                  <a:srgbClr val="4C4C4D"/>
                </a:solidFill>
                <a:latin typeface="Crimson Pro Semi Bold" pitchFamily="34" charset="0"/>
                <a:ea typeface="Crimson Pro Semi Bold" pitchFamily="34" charset="-122"/>
                <a:cs typeface="Crimson Pro Semi Bold" pitchFamily="34" charset="-120"/>
              </a:rPr>
              <a:t>Fake Login Forms</a:t>
            </a:r>
            <a:endParaRPr lang="en-US" sz="2200" dirty="0"/>
          </a:p>
        </p:txBody>
      </p:sp>
      <p:sp>
        <p:nvSpPr>
          <p:cNvPr id="6" name="Text 4"/>
          <p:cNvSpPr/>
          <p:nvPr/>
        </p:nvSpPr>
        <p:spPr>
          <a:xfrm>
            <a:off x="1051084" y="3079909"/>
            <a:ext cx="2575917" cy="2903220"/>
          </a:xfrm>
          <a:prstGeom prst="rect">
            <a:avLst/>
          </a:prstGeom>
          <a:noFill/>
          <a:ln/>
        </p:spPr>
        <p:txBody>
          <a:bodyPr wrap="square" lIns="0" tIns="0" rIns="0" bIns="0" rtlCol="0" anchor="t"/>
          <a:lstStyle/>
          <a:p>
            <a:pPr marL="0" indent="0" algn="l">
              <a:lnSpc>
                <a:spcPts val="2850"/>
              </a:lnSpc>
              <a:buNone/>
            </a:pPr>
            <a:r>
              <a:rPr lang="en-US" sz="1750" dirty="0">
                <a:solidFill>
                  <a:srgbClr val="4C4C4D"/>
                </a:solidFill>
                <a:latin typeface="Heebo" pitchFamily="34" charset="0"/>
                <a:ea typeface="Heebo" pitchFamily="34" charset="-122"/>
                <a:cs typeface="Heebo" pitchFamily="34" charset="-120"/>
              </a:rPr>
              <a:t>Attackers replicate legitimate login pages to capture usernames and passwords as victims attempt to log in, often redirecting them to the real site afterward to avoid suspicion.</a:t>
            </a:r>
            <a:endParaRPr lang="en-US" sz="1750" dirty="0"/>
          </a:p>
        </p:txBody>
      </p:sp>
      <p:sp>
        <p:nvSpPr>
          <p:cNvPr id="7" name="Shape 5"/>
          <p:cNvSpPr/>
          <p:nvPr/>
        </p:nvSpPr>
        <p:spPr>
          <a:xfrm>
            <a:off x="4111109" y="2332196"/>
            <a:ext cx="3090624" cy="4988362"/>
          </a:xfrm>
          <a:prstGeom prst="roundRect">
            <a:avLst>
              <a:gd name="adj" fmla="val 1101"/>
            </a:avLst>
          </a:prstGeom>
          <a:solidFill>
            <a:srgbClr val="FFFFFF"/>
          </a:solidFill>
          <a:ln w="30480">
            <a:solidFill>
              <a:srgbClr val="D8D4D4"/>
            </a:solidFill>
            <a:prstDash val="solid"/>
          </a:ln>
        </p:spPr>
      </p:sp>
      <p:sp>
        <p:nvSpPr>
          <p:cNvPr id="8" name="Text 6"/>
          <p:cNvSpPr/>
          <p:nvPr/>
        </p:nvSpPr>
        <p:spPr>
          <a:xfrm>
            <a:off x="4368403" y="2589490"/>
            <a:ext cx="2576036" cy="708660"/>
          </a:xfrm>
          <a:prstGeom prst="rect">
            <a:avLst/>
          </a:prstGeom>
          <a:noFill/>
          <a:ln/>
        </p:spPr>
        <p:txBody>
          <a:bodyPr wrap="square" lIns="0" tIns="0" rIns="0" bIns="0" rtlCol="0" anchor="t"/>
          <a:lstStyle/>
          <a:p>
            <a:pPr marL="0" indent="0" algn="l">
              <a:lnSpc>
                <a:spcPts val="2750"/>
              </a:lnSpc>
              <a:buNone/>
            </a:pPr>
            <a:r>
              <a:rPr lang="en-US" sz="2200" dirty="0">
                <a:solidFill>
                  <a:srgbClr val="4C4C4D"/>
                </a:solidFill>
                <a:latin typeface="Crimson Pro Semi Bold" pitchFamily="34" charset="0"/>
                <a:ea typeface="Crimson Pro Semi Bold" pitchFamily="34" charset="-122"/>
                <a:cs typeface="Crimson Pro Semi Bold" pitchFamily="34" charset="-120"/>
              </a:rPr>
              <a:t>Malicious File Downloads</a:t>
            </a:r>
            <a:endParaRPr lang="en-US" sz="2200" dirty="0"/>
          </a:p>
        </p:txBody>
      </p:sp>
      <p:sp>
        <p:nvSpPr>
          <p:cNvPr id="9" name="Text 7"/>
          <p:cNvSpPr/>
          <p:nvPr/>
        </p:nvSpPr>
        <p:spPr>
          <a:xfrm>
            <a:off x="4368403" y="3434239"/>
            <a:ext cx="2576036" cy="2903220"/>
          </a:xfrm>
          <a:prstGeom prst="rect">
            <a:avLst/>
          </a:prstGeom>
          <a:noFill/>
          <a:ln/>
        </p:spPr>
        <p:txBody>
          <a:bodyPr wrap="square" lIns="0" tIns="0" rIns="0" bIns="0" rtlCol="0" anchor="t"/>
          <a:lstStyle/>
          <a:p>
            <a:pPr marL="0" indent="0" algn="l">
              <a:lnSpc>
                <a:spcPts val="2850"/>
              </a:lnSpc>
              <a:buNone/>
            </a:pPr>
            <a:r>
              <a:rPr lang="en-US" sz="1750" dirty="0">
                <a:solidFill>
                  <a:srgbClr val="4C4C4D"/>
                </a:solidFill>
                <a:latin typeface="Heebo" pitchFamily="34" charset="0"/>
                <a:ea typeface="Heebo" pitchFamily="34" charset="-122"/>
                <a:cs typeface="Heebo" pitchFamily="34" charset="-120"/>
              </a:rPr>
              <a:t>Victims are tricked into downloading files (e.g., invoices, reports, software updates) that are actually malware, ransomware, or spyware, often disguised as legitimate documents.</a:t>
            </a:r>
            <a:endParaRPr lang="en-US" sz="1750" dirty="0"/>
          </a:p>
        </p:txBody>
      </p:sp>
      <p:sp>
        <p:nvSpPr>
          <p:cNvPr id="10" name="Shape 8"/>
          <p:cNvSpPr/>
          <p:nvPr/>
        </p:nvSpPr>
        <p:spPr>
          <a:xfrm>
            <a:off x="7428548" y="2332196"/>
            <a:ext cx="3090624" cy="4988362"/>
          </a:xfrm>
          <a:prstGeom prst="roundRect">
            <a:avLst>
              <a:gd name="adj" fmla="val 1101"/>
            </a:avLst>
          </a:prstGeom>
          <a:solidFill>
            <a:srgbClr val="FFFFFF"/>
          </a:solidFill>
          <a:ln w="30480">
            <a:solidFill>
              <a:srgbClr val="D8D4D4"/>
            </a:solidFill>
            <a:prstDash val="solid"/>
          </a:ln>
        </p:spPr>
      </p:sp>
      <p:sp>
        <p:nvSpPr>
          <p:cNvPr id="11" name="Text 9"/>
          <p:cNvSpPr/>
          <p:nvPr/>
        </p:nvSpPr>
        <p:spPr>
          <a:xfrm>
            <a:off x="7685842" y="2589490"/>
            <a:ext cx="2576036" cy="1062990"/>
          </a:xfrm>
          <a:prstGeom prst="rect">
            <a:avLst/>
          </a:prstGeom>
          <a:noFill/>
          <a:ln/>
        </p:spPr>
        <p:txBody>
          <a:bodyPr wrap="square" lIns="0" tIns="0" rIns="0" bIns="0" rtlCol="0" anchor="t"/>
          <a:lstStyle/>
          <a:p>
            <a:pPr marL="0" indent="0" algn="l">
              <a:lnSpc>
                <a:spcPts val="2750"/>
              </a:lnSpc>
              <a:buNone/>
            </a:pPr>
            <a:r>
              <a:rPr lang="en-US" sz="2200" dirty="0">
                <a:solidFill>
                  <a:srgbClr val="4C4C4D"/>
                </a:solidFill>
                <a:latin typeface="Crimson Pro Semi Bold" pitchFamily="34" charset="0"/>
                <a:ea typeface="Crimson Pro Semi Bold" pitchFamily="34" charset="-122"/>
                <a:cs typeface="Crimson Pro Semi Bold" pitchFamily="34" charset="-120"/>
              </a:rPr>
              <a:t>Credential Harvesting via Social Engineering</a:t>
            </a:r>
            <a:endParaRPr lang="en-US" sz="2200" dirty="0"/>
          </a:p>
        </p:txBody>
      </p:sp>
      <p:sp>
        <p:nvSpPr>
          <p:cNvPr id="12" name="Text 10"/>
          <p:cNvSpPr/>
          <p:nvPr/>
        </p:nvSpPr>
        <p:spPr>
          <a:xfrm>
            <a:off x="7685842" y="3788569"/>
            <a:ext cx="2576036" cy="2540318"/>
          </a:xfrm>
          <a:prstGeom prst="rect">
            <a:avLst/>
          </a:prstGeom>
          <a:noFill/>
          <a:ln/>
        </p:spPr>
        <p:txBody>
          <a:bodyPr wrap="square" lIns="0" tIns="0" rIns="0" bIns="0" rtlCol="0" anchor="t"/>
          <a:lstStyle/>
          <a:p>
            <a:pPr marL="0" indent="0" algn="l">
              <a:lnSpc>
                <a:spcPts val="2850"/>
              </a:lnSpc>
              <a:buNone/>
            </a:pPr>
            <a:r>
              <a:rPr lang="en-US" sz="1750" dirty="0">
                <a:solidFill>
                  <a:srgbClr val="4C4C4D"/>
                </a:solidFill>
                <a:latin typeface="Heebo" pitchFamily="34" charset="0"/>
                <a:ea typeface="Heebo" pitchFamily="34" charset="-122"/>
                <a:cs typeface="Heebo" pitchFamily="34" charset="-120"/>
              </a:rPr>
              <a:t>Leveraging urgency, fear, or curiosity, attackers coax victims into voluntarily entering credentials into fraudulent forms or websites.</a:t>
            </a:r>
            <a:endParaRPr lang="en-US" sz="1750" dirty="0"/>
          </a:p>
        </p:txBody>
      </p:sp>
      <p:sp>
        <p:nvSpPr>
          <p:cNvPr id="13" name="Shape 11"/>
          <p:cNvSpPr/>
          <p:nvPr/>
        </p:nvSpPr>
        <p:spPr>
          <a:xfrm>
            <a:off x="10745986" y="2332196"/>
            <a:ext cx="3090624" cy="4988362"/>
          </a:xfrm>
          <a:prstGeom prst="roundRect">
            <a:avLst>
              <a:gd name="adj" fmla="val 1101"/>
            </a:avLst>
          </a:prstGeom>
          <a:solidFill>
            <a:srgbClr val="FFFFFF"/>
          </a:solidFill>
          <a:ln w="30480">
            <a:solidFill>
              <a:srgbClr val="D8D4D4"/>
            </a:solidFill>
            <a:prstDash val="solid"/>
          </a:ln>
        </p:spPr>
      </p:sp>
      <p:sp>
        <p:nvSpPr>
          <p:cNvPr id="14" name="Text 12"/>
          <p:cNvSpPr/>
          <p:nvPr/>
        </p:nvSpPr>
        <p:spPr>
          <a:xfrm>
            <a:off x="11003280" y="2589490"/>
            <a:ext cx="2576036" cy="708660"/>
          </a:xfrm>
          <a:prstGeom prst="rect">
            <a:avLst/>
          </a:prstGeom>
          <a:noFill/>
          <a:ln/>
        </p:spPr>
        <p:txBody>
          <a:bodyPr wrap="square" lIns="0" tIns="0" rIns="0" bIns="0" rtlCol="0" anchor="t"/>
          <a:lstStyle/>
          <a:p>
            <a:pPr marL="0" indent="0" algn="l">
              <a:lnSpc>
                <a:spcPts val="2750"/>
              </a:lnSpc>
              <a:buNone/>
            </a:pPr>
            <a:r>
              <a:rPr lang="en-US" sz="2200" dirty="0">
                <a:solidFill>
                  <a:srgbClr val="4C4C4D"/>
                </a:solidFill>
                <a:latin typeface="Crimson Pro Semi Bold" pitchFamily="34" charset="0"/>
                <a:ea typeface="Crimson Pro Semi Bold" pitchFamily="34" charset="-122"/>
                <a:cs typeface="Crimson Pro Semi Bold" pitchFamily="34" charset="-120"/>
              </a:rPr>
              <a:t>Malware Injection &amp; Drive-by Downloads</a:t>
            </a:r>
            <a:endParaRPr lang="en-US" sz="2200" dirty="0"/>
          </a:p>
        </p:txBody>
      </p:sp>
      <p:sp>
        <p:nvSpPr>
          <p:cNvPr id="15" name="Text 13"/>
          <p:cNvSpPr/>
          <p:nvPr/>
        </p:nvSpPr>
        <p:spPr>
          <a:xfrm>
            <a:off x="11003280" y="3434239"/>
            <a:ext cx="2576036" cy="3629025"/>
          </a:xfrm>
          <a:prstGeom prst="rect">
            <a:avLst/>
          </a:prstGeom>
          <a:noFill/>
          <a:ln/>
        </p:spPr>
        <p:txBody>
          <a:bodyPr wrap="square" lIns="0" tIns="0" rIns="0" bIns="0" rtlCol="0" anchor="t"/>
          <a:lstStyle/>
          <a:p>
            <a:pPr marL="0" indent="0" algn="l">
              <a:lnSpc>
                <a:spcPts val="2850"/>
              </a:lnSpc>
              <a:buNone/>
            </a:pPr>
            <a:r>
              <a:rPr lang="en-US" sz="1750" dirty="0">
                <a:solidFill>
                  <a:srgbClr val="4C4C4D"/>
                </a:solidFill>
                <a:latin typeface="Heebo" pitchFamily="34" charset="0"/>
                <a:ea typeface="Heebo" pitchFamily="34" charset="-122"/>
                <a:cs typeface="Heebo" pitchFamily="34" charset="-120"/>
              </a:rPr>
              <a:t>Exploiting vulnerabilities in browsers or software, attackers can force malware onto a victim's device without their explicit interaction (drive-by download) or through malicious code injected into compromised websites.</a:t>
            </a:r>
            <a:endParaRPr lang="en-US" sz="1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793790" y="1620560"/>
            <a:ext cx="3090505" cy="4988362"/>
          </a:xfrm>
          <a:prstGeom prst="roundRect">
            <a:avLst>
              <a:gd name="adj" fmla="val 1101"/>
            </a:avLst>
          </a:prstGeom>
          <a:solidFill>
            <a:srgbClr val="FFFFFF"/>
          </a:solidFill>
          <a:ln w="30480">
            <a:solidFill>
              <a:srgbClr val="D8D4D4"/>
            </a:solidFill>
            <a:prstDash val="solid"/>
          </a:ln>
        </p:spPr>
      </p:sp>
      <p:sp>
        <p:nvSpPr>
          <p:cNvPr id="3" name="Text 1"/>
          <p:cNvSpPr/>
          <p:nvPr/>
        </p:nvSpPr>
        <p:spPr>
          <a:xfrm>
            <a:off x="1051084" y="1877854"/>
            <a:ext cx="2575917" cy="708660"/>
          </a:xfrm>
          <a:prstGeom prst="rect">
            <a:avLst/>
          </a:prstGeom>
          <a:noFill/>
          <a:ln/>
        </p:spPr>
        <p:txBody>
          <a:bodyPr wrap="square" lIns="0" tIns="0" rIns="0" bIns="0" rtlCol="0" anchor="t"/>
          <a:lstStyle/>
          <a:p>
            <a:pPr marL="0" indent="0" algn="l">
              <a:lnSpc>
                <a:spcPts val="2750"/>
              </a:lnSpc>
              <a:buNone/>
            </a:pPr>
            <a:r>
              <a:rPr lang="en-US" sz="2200" dirty="0">
                <a:solidFill>
                  <a:srgbClr val="4C4C4D"/>
                </a:solidFill>
                <a:latin typeface="Crimson Pro Semi Bold" pitchFamily="34" charset="0"/>
                <a:ea typeface="Crimson Pro Semi Bold" pitchFamily="34" charset="-122"/>
                <a:cs typeface="Crimson Pro Semi Bold" pitchFamily="34" charset="-120"/>
              </a:rPr>
              <a:t>Scrutinize Login Forms</a:t>
            </a:r>
            <a:endParaRPr lang="en-US" sz="2200" dirty="0"/>
          </a:p>
        </p:txBody>
      </p:sp>
      <p:sp>
        <p:nvSpPr>
          <p:cNvPr id="4" name="Text 2"/>
          <p:cNvSpPr/>
          <p:nvPr/>
        </p:nvSpPr>
        <p:spPr>
          <a:xfrm>
            <a:off x="1051084" y="2722602"/>
            <a:ext cx="2575917" cy="2540318"/>
          </a:xfrm>
          <a:prstGeom prst="rect">
            <a:avLst/>
          </a:prstGeom>
          <a:noFill/>
          <a:ln/>
        </p:spPr>
        <p:txBody>
          <a:bodyPr wrap="square" lIns="0" tIns="0" rIns="0" bIns="0" rtlCol="0" anchor="t"/>
          <a:lstStyle/>
          <a:p>
            <a:pPr marL="0" indent="0" algn="l">
              <a:lnSpc>
                <a:spcPts val="2850"/>
              </a:lnSpc>
              <a:buNone/>
            </a:pPr>
            <a:r>
              <a:rPr lang="en-US" sz="1750" dirty="0">
                <a:solidFill>
                  <a:srgbClr val="4C4C4D"/>
                </a:solidFill>
                <a:latin typeface="Heebo" pitchFamily="34" charset="0"/>
                <a:ea typeface="Heebo" pitchFamily="34" charset="-122"/>
                <a:cs typeface="Heebo" pitchFamily="34" charset="-120"/>
              </a:rPr>
              <a:t>Always verify the URL in the address bar. Be wary of login forms that appear in an email or pop-up and submit data to unfamiliar or external domains.</a:t>
            </a:r>
            <a:endParaRPr lang="en-US" sz="1750" dirty="0"/>
          </a:p>
        </p:txBody>
      </p:sp>
      <p:sp>
        <p:nvSpPr>
          <p:cNvPr id="5" name="Shape 3"/>
          <p:cNvSpPr/>
          <p:nvPr/>
        </p:nvSpPr>
        <p:spPr>
          <a:xfrm>
            <a:off x="4111109" y="1620560"/>
            <a:ext cx="3090624" cy="4988362"/>
          </a:xfrm>
          <a:prstGeom prst="roundRect">
            <a:avLst>
              <a:gd name="adj" fmla="val 1101"/>
            </a:avLst>
          </a:prstGeom>
          <a:solidFill>
            <a:srgbClr val="FFFFFF"/>
          </a:solidFill>
          <a:ln w="30480">
            <a:solidFill>
              <a:srgbClr val="D8D4D4"/>
            </a:solidFill>
            <a:prstDash val="solid"/>
          </a:ln>
        </p:spPr>
      </p:sp>
      <p:sp>
        <p:nvSpPr>
          <p:cNvPr id="6" name="Text 4"/>
          <p:cNvSpPr/>
          <p:nvPr/>
        </p:nvSpPr>
        <p:spPr>
          <a:xfrm>
            <a:off x="4368403" y="1877854"/>
            <a:ext cx="2576036" cy="708660"/>
          </a:xfrm>
          <a:prstGeom prst="rect">
            <a:avLst/>
          </a:prstGeom>
          <a:noFill/>
          <a:ln/>
        </p:spPr>
        <p:txBody>
          <a:bodyPr wrap="square" lIns="0" tIns="0" rIns="0" bIns="0" rtlCol="0" anchor="t"/>
          <a:lstStyle/>
          <a:p>
            <a:pPr marL="0" indent="0" algn="l">
              <a:lnSpc>
                <a:spcPts val="2750"/>
              </a:lnSpc>
              <a:buNone/>
            </a:pPr>
            <a:r>
              <a:rPr lang="en-US" sz="2200" dirty="0">
                <a:solidFill>
                  <a:srgbClr val="4C4C4D"/>
                </a:solidFill>
                <a:latin typeface="Crimson Pro Semi Bold" pitchFamily="34" charset="0"/>
                <a:ea typeface="Crimson Pro Semi Bold" pitchFamily="34" charset="-122"/>
                <a:cs typeface="Crimson Pro Semi Bold" pitchFamily="34" charset="-120"/>
              </a:rPr>
              <a:t>SSL Certificate Verification</a:t>
            </a:r>
            <a:endParaRPr lang="en-US" sz="2200" dirty="0"/>
          </a:p>
        </p:txBody>
      </p:sp>
      <p:sp>
        <p:nvSpPr>
          <p:cNvPr id="7" name="Text 5"/>
          <p:cNvSpPr/>
          <p:nvPr/>
        </p:nvSpPr>
        <p:spPr>
          <a:xfrm>
            <a:off x="4368403" y="2722602"/>
            <a:ext cx="2576036" cy="2903220"/>
          </a:xfrm>
          <a:prstGeom prst="rect">
            <a:avLst/>
          </a:prstGeom>
          <a:noFill/>
          <a:ln/>
        </p:spPr>
        <p:txBody>
          <a:bodyPr wrap="square" lIns="0" tIns="0" rIns="0" bIns="0" rtlCol="0" anchor="t"/>
          <a:lstStyle/>
          <a:p>
            <a:pPr marL="0" indent="0" algn="l">
              <a:lnSpc>
                <a:spcPts val="2850"/>
              </a:lnSpc>
              <a:buNone/>
            </a:pPr>
            <a:r>
              <a:rPr lang="en-US" sz="1750" dirty="0">
                <a:solidFill>
                  <a:srgbClr val="4C4C4D"/>
                </a:solidFill>
                <a:latin typeface="Heebo" pitchFamily="34" charset="0"/>
                <a:ea typeface="Heebo" pitchFamily="34" charset="-122"/>
                <a:cs typeface="Heebo" pitchFamily="34" charset="-120"/>
              </a:rPr>
              <a:t>Check for a valid SSL certificate (HTTPS and padlock icon) in the browser. While not foolproof, missing or invalid certificates are a strong indicator of a fraudulent site.</a:t>
            </a:r>
            <a:endParaRPr lang="en-US" sz="1750" dirty="0"/>
          </a:p>
        </p:txBody>
      </p:sp>
      <p:sp>
        <p:nvSpPr>
          <p:cNvPr id="8" name="Shape 6"/>
          <p:cNvSpPr/>
          <p:nvPr/>
        </p:nvSpPr>
        <p:spPr>
          <a:xfrm>
            <a:off x="7428548" y="1620560"/>
            <a:ext cx="3090624" cy="4988362"/>
          </a:xfrm>
          <a:prstGeom prst="roundRect">
            <a:avLst>
              <a:gd name="adj" fmla="val 1101"/>
            </a:avLst>
          </a:prstGeom>
          <a:solidFill>
            <a:srgbClr val="FFFFFF"/>
          </a:solidFill>
          <a:ln w="30480">
            <a:solidFill>
              <a:srgbClr val="D8D4D4"/>
            </a:solidFill>
            <a:prstDash val="solid"/>
          </a:ln>
        </p:spPr>
      </p:sp>
      <p:sp>
        <p:nvSpPr>
          <p:cNvPr id="9" name="Text 7"/>
          <p:cNvSpPr/>
          <p:nvPr/>
        </p:nvSpPr>
        <p:spPr>
          <a:xfrm>
            <a:off x="7685842" y="1877854"/>
            <a:ext cx="2576036" cy="708660"/>
          </a:xfrm>
          <a:prstGeom prst="rect">
            <a:avLst/>
          </a:prstGeom>
          <a:noFill/>
          <a:ln/>
        </p:spPr>
        <p:txBody>
          <a:bodyPr wrap="square" lIns="0" tIns="0" rIns="0" bIns="0" rtlCol="0" anchor="t"/>
          <a:lstStyle/>
          <a:p>
            <a:pPr marL="0" indent="0" algn="l">
              <a:lnSpc>
                <a:spcPts val="2750"/>
              </a:lnSpc>
              <a:buNone/>
            </a:pPr>
            <a:r>
              <a:rPr lang="en-US" sz="2200" dirty="0">
                <a:solidFill>
                  <a:srgbClr val="4C4C4D"/>
                </a:solidFill>
                <a:latin typeface="Crimson Pro Semi Bold" pitchFamily="34" charset="0"/>
                <a:ea typeface="Crimson Pro Semi Bold" pitchFamily="34" charset="-122"/>
                <a:cs typeface="Crimson Pro Semi Bold" pitchFamily="34" charset="-120"/>
              </a:rPr>
              <a:t>Identify Brand Impersonation</a:t>
            </a:r>
            <a:endParaRPr lang="en-US" sz="2200" dirty="0"/>
          </a:p>
        </p:txBody>
      </p:sp>
      <p:sp>
        <p:nvSpPr>
          <p:cNvPr id="10" name="Text 8"/>
          <p:cNvSpPr/>
          <p:nvPr/>
        </p:nvSpPr>
        <p:spPr>
          <a:xfrm>
            <a:off x="7685842" y="2722602"/>
            <a:ext cx="2576036" cy="2540318"/>
          </a:xfrm>
          <a:prstGeom prst="rect">
            <a:avLst/>
          </a:prstGeom>
          <a:noFill/>
          <a:ln/>
        </p:spPr>
        <p:txBody>
          <a:bodyPr wrap="square" lIns="0" tIns="0" rIns="0" bIns="0" rtlCol="0" anchor="t"/>
          <a:lstStyle/>
          <a:p>
            <a:pPr marL="0" indent="0" algn="l">
              <a:lnSpc>
                <a:spcPts val="2850"/>
              </a:lnSpc>
              <a:buNone/>
            </a:pPr>
            <a:r>
              <a:rPr lang="en-US" sz="1750" dirty="0">
                <a:solidFill>
                  <a:srgbClr val="4C4C4D"/>
                </a:solidFill>
                <a:latin typeface="Heebo" pitchFamily="34" charset="0"/>
                <a:ea typeface="Heebo" pitchFamily="34" charset="-122"/>
                <a:cs typeface="Heebo" pitchFamily="34" charset="-120"/>
              </a:rPr>
              <a:t>Look for subtle inconsistencies in branding, grammar, spelling, and tone that differ from legitimate communications from the purported sender.</a:t>
            </a:r>
            <a:endParaRPr lang="en-US" sz="1750" dirty="0"/>
          </a:p>
        </p:txBody>
      </p:sp>
      <p:sp>
        <p:nvSpPr>
          <p:cNvPr id="11" name="Shape 9"/>
          <p:cNvSpPr/>
          <p:nvPr/>
        </p:nvSpPr>
        <p:spPr>
          <a:xfrm>
            <a:off x="10745986" y="1620560"/>
            <a:ext cx="3090624" cy="4988362"/>
          </a:xfrm>
          <a:prstGeom prst="roundRect">
            <a:avLst>
              <a:gd name="adj" fmla="val 1101"/>
            </a:avLst>
          </a:prstGeom>
          <a:solidFill>
            <a:srgbClr val="FFFFFF"/>
          </a:solidFill>
          <a:ln w="30480">
            <a:solidFill>
              <a:srgbClr val="D8D4D4"/>
            </a:solidFill>
            <a:prstDash val="solid"/>
          </a:ln>
        </p:spPr>
      </p:sp>
      <p:sp>
        <p:nvSpPr>
          <p:cNvPr id="12" name="Text 10"/>
          <p:cNvSpPr/>
          <p:nvPr/>
        </p:nvSpPr>
        <p:spPr>
          <a:xfrm>
            <a:off x="11003280" y="1877854"/>
            <a:ext cx="2576036" cy="708660"/>
          </a:xfrm>
          <a:prstGeom prst="rect">
            <a:avLst/>
          </a:prstGeom>
          <a:noFill/>
          <a:ln/>
        </p:spPr>
        <p:txBody>
          <a:bodyPr wrap="square" lIns="0" tIns="0" rIns="0" bIns="0" rtlCol="0" anchor="t"/>
          <a:lstStyle/>
          <a:p>
            <a:pPr marL="0" indent="0" algn="l">
              <a:lnSpc>
                <a:spcPts val="2750"/>
              </a:lnSpc>
              <a:buNone/>
            </a:pPr>
            <a:r>
              <a:rPr lang="en-US" sz="2200" dirty="0">
                <a:solidFill>
                  <a:srgbClr val="4C4C4D"/>
                </a:solidFill>
                <a:latin typeface="Crimson Pro Semi Bold" pitchFamily="34" charset="0"/>
                <a:ea typeface="Crimson Pro Semi Bold" pitchFamily="34" charset="-122"/>
                <a:cs typeface="Crimson Pro Semi Bold" pitchFamily="34" charset="-120"/>
              </a:rPr>
              <a:t>Observe Unusual Form Behaviors</a:t>
            </a:r>
            <a:endParaRPr lang="en-US" sz="2200" dirty="0"/>
          </a:p>
        </p:txBody>
      </p:sp>
      <p:sp>
        <p:nvSpPr>
          <p:cNvPr id="13" name="Text 11"/>
          <p:cNvSpPr/>
          <p:nvPr/>
        </p:nvSpPr>
        <p:spPr>
          <a:xfrm>
            <a:off x="11003280" y="2722602"/>
            <a:ext cx="2576036" cy="3629025"/>
          </a:xfrm>
          <a:prstGeom prst="rect">
            <a:avLst/>
          </a:prstGeom>
          <a:noFill/>
          <a:ln/>
        </p:spPr>
        <p:txBody>
          <a:bodyPr wrap="square" lIns="0" tIns="0" rIns="0" bIns="0" rtlCol="0" anchor="t"/>
          <a:lstStyle/>
          <a:p>
            <a:pPr marL="0" indent="0" algn="l">
              <a:lnSpc>
                <a:spcPts val="2850"/>
              </a:lnSpc>
              <a:buNone/>
            </a:pPr>
            <a:r>
              <a:rPr lang="en-US" sz="1750" dirty="0">
                <a:solidFill>
                  <a:srgbClr val="4C4C4D"/>
                </a:solidFill>
                <a:latin typeface="Heebo" pitchFamily="34" charset="0"/>
                <a:ea typeface="Heebo" pitchFamily="34" charset="-122"/>
                <a:cs typeface="Heebo" pitchFamily="34" charset="-120"/>
              </a:rPr>
              <a:t>Legitimate forms usually perform client-side validation or provide clear error messages. Suspicious forms might accept any input, behave unexpectedly, or immediately redirect without clear confirmation.</a:t>
            </a:r>
            <a:endParaRPr lang="en-US" sz="1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793790" y="651986"/>
            <a:ext cx="5177909" cy="510302"/>
          </a:xfrm>
          <a:prstGeom prst="rect">
            <a:avLst/>
          </a:prstGeom>
          <a:noFill/>
          <a:ln/>
        </p:spPr>
        <p:txBody>
          <a:bodyPr wrap="none" lIns="0" tIns="0" rIns="0" bIns="0" rtlCol="0" anchor="t"/>
          <a:lstStyle/>
          <a:p>
            <a:pPr marL="0" indent="0" algn="l">
              <a:lnSpc>
                <a:spcPts val="4000"/>
              </a:lnSpc>
              <a:buNone/>
            </a:pPr>
            <a:r>
              <a:rPr lang="en-US" sz="3200" dirty="0">
                <a:solidFill>
                  <a:srgbClr val="152D47"/>
                </a:solidFill>
                <a:latin typeface="Crimson Pro Semi Bold" pitchFamily="34" charset="0"/>
                <a:ea typeface="Crimson Pro Semi Bold" pitchFamily="34" charset="-122"/>
                <a:cs typeface="Crimson Pro Semi Bold" pitchFamily="34" charset="-120"/>
              </a:rPr>
              <a:t>Phase 6: Credential Harvesting</a:t>
            </a:r>
            <a:endParaRPr lang="en-US" sz="3200" dirty="0"/>
          </a:p>
        </p:txBody>
      </p:sp>
      <p:sp>
        <p:nvSpPr>
          <p:cNvPr id="3" name="Text 1"/>
          <p:cNvSpPr/>
          <p:nvPr/>
        </p:nvSpPr>
        <p:spPr>
          <a:xfrm>
            <a:off x="793790" y="1437799"/>
            <a:ext cx="13042821" cy="310277"/>
          </a:xfrm>
          <a:prstGeom prst="rect">
            <a:avLst/>
          </a:prstGeom>
          <a:noFill/>
          <a:ln/>
        </p:spPr>
        <p:txBody>
          <a:bodyPr wrap="none" lIns="0" tIns="0" rIns="0" bIns="0" rtlCol="0" anchor="t"/>
          <a:lstStyle/>
          <a:p>
            <a:pPr marL="0" indent="0" algn="l">
              <a:lnSpc>
                <a:spcPts val="2400"/>
              </a:lnSpc>
              <a:buNone/>
            </a:pPr>
            <a:r>
              <a:rPr lang="en-US" sz="1600" dirty="0">
                <a:solidFill>
                  <a:srgbClr val="4C4C4D"/>
                </a:solidFill>
                <a:latin typeface="Heebo" pitchFamily="34" charset="0"/>
                <a:ea typeface="Heebo" pitchFamily="34" charset="-122"/>
                <a:cs typeface="Heebo" pitchFamily="34" charset="-120"/>
              </a:rPr>
              <a:t>Data collected by attackers:</a:t>
            </a:r>
            <a:endParaRPr lang="en-US" sz="1600" dirty="0"/>
          </a:p>
        </p:txBody>
      </p:sp>
      <p:sp>
        <p:nvSpPr>
          <p:cNvPr id="4" name="Shape 2"/>
          <p:cNvSpPr/>
          <p:nvPr/>
        </p:nvSpPr>
        <p:spPr>
          <a:xfrm>
            <a:off x="793790" y="1954768"/>
            <a:ext cx="3122890" cy="764143"/>
          </a:xfrm>
          <a:prstGeom prst="roundRect">
            <a:avLst>
              <a:gd name="adj" fmla="val 14360"/>
            </a:avLst>
          </a:prstGeom>
          <a:solidFill>
            <a:srgbClr val="FFFFFF"/>
          </a:solidFill>
          <a:ln w="22860">
            <a:solidFill>
              <a:srgbClr val="FFDAB9"/>
            </a:solidFill>
            <a:prstDash val="solid"/>
          </a:ln>
        </p:spPr>
      </p:sp>
      <p:sp>
        <p:nvSpPr>
          <p:cNvPr id="5" name="Shape 3"/>
          <p:cNvSpPr/>
          <p:nvPr/>
        </p:nvSpPr>
        <p:spPr>
          <a:xfrm>
            <a:off x="770930" y="1954768"/>
            <a:ext cx="91440" cy="764143"/>
          </a:xfrm>
          <a:prstGeom prst="roundRect">
            <a:avLst>
              <a:gd name="adj" fmla="val 33488"/>
            </a:avLst>
          </a:prstGeom>
          <a:solidFill>
            <a:srgbClr val="FFDAB9"/>
          </a:solidFill>
          <a:ln/>
        </p:spPr>
      </p:sp>
      <p:sp>
        <p:nvSpPr>
          <p:cNvPr id="6" name="Text 4"/>
          <p:cNvSpPr/>
          <p:nvPr/>
        </p:nvSpPr>
        <p:spPr>
          <a:xfrm>
            <a:off x="1089303" y="2181701"/>
            <a:ext cx="2600444" cy="310277"/>
          </a:xfrm>
          <a:prstGeom prst="rect">
            <a:avLst/>
          </a:prstGeom>
          <a:noFill/>
          <a:ln/>
        </p:spPr>
        <p:txBody>
          <a:bodyPr wrap="none" lIns="0" tIns="0" rIns="0" bIns="0" rtlCol="0" anchor="t"/>
          <a:lstStyle/>
          <a:p>
            <a:pPr marL="0" indent="0" algn="l">
              <a:lnSpc>
                <a:spcPts val="2400"/>
              </a:lnSpc>
              <a:buNone/>
            </a:pPr>
            <a:r>
              <a:rPr lang="en-US" sz="1600" dirty="0">
                <a:solidFill>
                  <a:srgbClr val="4C4C4D"/>
                </a:solidFill>
                <a:latin typeface="Heebo" pitchFamily="34" charset="0"/>
                <a:ea typeface="Heebo" pitchFamily="34" charset="-122"/>
                <a:cs typeface="Heebo" pitchFamily="34" charset="-120"/>
              </a:rPr>
              <a:t>Usernames/passwords</a:t>
            </a:r>
            <a:endParaRPr lang="en-US" sz="1600" dirty="0"/>
          </a:p>
        </p:txBody>
      </p:sp>
      <p:sp>
        <p:nvSpPr>
          <p:cNvPr id="7" name="Shape 5"/>
          <p:cNvSpPr/>
          <p:nvPr/>
        </p:nvSpPr>
        <p:spPr>
          <a:xfrm>
            <a:off x="4100393" y="1954768"/>
            <a:ext cx="3122890" cy="764143"/>
          </a:xfrm>
          <a:prstGeom prst="roundRect">
            <a:avLst>
              <a:gd name="adj" fmla="val 14360"/>
            </a:avLst>
          </a:prstGeom>
          <a:solidFill>
            <a:srgbClr val="FFFFFF"/>
          </a:solidFill>
          <a:ln w="22860">
            <a:solidFill>
              <a:srgbClr val="C1FFC1"/>
            </a:solidFill>
            <a:prstDash val="solid"/>
          </a:ln>
        </p:spPr>
      </p:sp>
      <p:sp>
        <p:nvSpPr>
          <p:cNvPr id="8" name="Shape 6"/>
          <p:cNvSpPr/>
          <p:nvPr/>
        </p:nvSpPr>
        <p:spPr>
          <a:xfrm>
            <a:off x="4077533" y="1954768"/>
            <a:ext cx="91440" cy="764143"/>
          </a:xfrm>
          <a:prstGeom prst="roundRect">
            <a:avLst>
              <a:gd name="adj" fmla="val 33488"/>
            </a:avLst>
          </a:prstGeom>
          <a:solidFill>
            <a:srgbClr val="C1FFC1"/>
          </a:solidFill>
          <a:ln/>
        </p:spPr>
      </p:sp>
      <p:sp>
        <p:nvSpPr>
          <p:cNvPr id="9" name="Text 7"/>
          <p:cNvSpPr/>
          <p:nvPr/>
        </p:nvSpPr>
        <p:spPr>
          <a:xfrm>
            <a:off x="4395907" y="2181701"/>
            <a:ext cx="2600444" cy="310277"/>
          </a:xfrm>
          <a:prstGeom prst="rect">
            <a:avLst/>
          </a:prstGeom>
          <a:noFill/>
          <a:ln/>
        </p:spPr>
        <p:txBody>
          <a:bodyPr wrap="none" lIns="0" tIns="0" rIns="0" bIns="0" rtlCol="0" anchor="t"/>
          <a:lstStyle/>
          <a:p>
            <a:pPr marL="0" indent="0" algn="l">
              <a:lnSpc>
                <a:spcPts val="2400"/>
              </a:lnSpc>
              <a:buNone/>
            </a:pPr>
            <a:r>
              <a:rPr lang="en-US" sz="1600" dirty="0">
                <a:solidFill>
                  <a:srgbClr val="4C4C4D"/>
                </a:solidFill>
                <a:latin typeface="Heebo" pitchFamily="34" charset="0"/>
                <a:ea typeface="Heebo" pitchFamily="34" charset="-122"/>
                <a:cs typeface="Heebo" pitchFamily="34" charset="-120"/>
              </a:rPr>
              <a:t>Credit card numbers</a:t>
            </a:r>
            <a:endParaRPr lang="en-US" sz="1600" dirty="0"/>
          </a:p>
        </p:txBody>
      </p:sp>
      <p:sp>
        <p:nvSpPr>
          <p:cNvPr id="10" name="Shape 8"/>
          <p:cNvSpPr/>
          <p:nvPr/>
        </p:nvSpPr>
        <p:spPr>
          <a:xfrm>
            <a:off x="7406997" y="1954768"/>
            <a:ext cx="3122890" cy="764143"/>
          </a:xfrm>
          <a:prstGeom prst="roundRect">
            <a:avLst>
              <a:gd name="adj" fmla="val 14360"/>
            </a:avLst>
          </a:prstGeom>
          <a:solidFill>
            <a:srgbClr val="FFFFFF"/>
          </a:solidFill>
          <a:ln w="22860">
            <a:solidFill>
              <a:srgbClr val="FFC0CB"/>
            </a:solidFill>
            <a:prstDash val="solid"/>
          </a:ln>
        </p:spPr>
      </p:sp>
      <p:sp>
        <p:nvSpPr>
          <p:cNvPr id="11" name="Shape 9"/>
          <p:cNvSpPr/>
          <p:nvPr/>
        </p:nvSpPr>
        <p:spPr>
          <a:xfrm>
            <a:off x="7384137" y="1954768"/>
            <a:ext cx="91440" cy="764143"/>
          </a:xfrm>
          <a:prstGeom prst="roundRect">
            <a:avLst>
              <a:gd name="adj" fmla="val 33488"/>
            </a:avLst>
          </a:prstGeom>
          <a:solidFill>
            <a:srgbClr val="FFC0CB"/>
          </a:solidFill>
          <a:ln/>
        </p:spPr>
      </p:sp>
      <p:sp>
        <p:nvSpPr>
          <p:cNvPr id="12" name="Text 10"/>
          <p:cNvSpPr/>
          <p:nvPr/>
        </p:nvSpPr>
        <p:spPr>
          <a:xfrm>
            <a:off x="7702510" y="2181701"/>
            <a:ext cx="2600444" cy="310277"/>
          </a:xfrm>
          <a:prstGeom prst="rect">
            <a:avLst/>
          </a:prstGeom>
          <a:noFill/>
          <a:ln/>
        </p:spPr>
        <p:txBody>
          <a:bodyPr wrap="none" lIns="0" tIns="0" rIns="0" bIns="0" rtlCol="0" anchor="t"/>
          <a:lstStyle/>
          <a:p>
            <a:pPr marL="0" indent="0" algn="l">
              <a:lnSpc>
                <a:spcPts val="2400"/>
              </a:lnSpc>
              <a:buNone/>
            </a:pPr>
            <a:r>
              <a:rPr lang="en-US" sz="1600" dirty="0">
                <a:solidFill>
                  <a:srgbClr val="4C4C4D"/>
                </a:solidFill>
                <a:latin typeface="Heebo" pitchFamily="34" charset="0"/>
                <a:ea typeface="Heebo" pitchFamily="34" charset="-122"/>
                <a:cs typeface="Heebo" pitchFamily="34" charset="-120"/>
              </a:rPr>
              <a:t>Social security numbers</a:t>
            </a:r>
            <a:endParaRPr lang="en-US" sz="1600" dirty="0"/>
          </a:p>
        </p:txBody>
      </p:sp>
      <p:sp>
        <p:nvSpPr>
          <p:cNvPr id="13" name="Shape 11"/>
          <p:cNvSpPr/>
          <p:nvPr/>
        </p:nvSpPr>
        <p:spPr>
          <a:xfrm>
            <a:off x="10713601" y="1954768"/>
            <a:ext cx="3123009" cy="764143"/>
          </a:xfrm>
          <a:prstGeom prst="roundRect">
            <a:avLst>
              <a:gd name="adj" fmla="val 14360"/>
            </a:avLst>
          </a:prstGeom>
          <a:solidFill>
            <a:srgbClr val="FFFFFF"/>
          </a:solidFill>
          <a:ln w="22860">
            <a:solidFill>
              <a:srgbClr val="E6E6FA"/>
            </a:solidFill>
            <a:prstDash val="solid"/>
          </a:ln>
        </p:spPr>
      </p:sp>
      <p:sp>
        <p:nvSpPr>
          <p:cNvPr id="14" name="Shape 12"/>
          <p:cNvSpPr/>
          <p:nvPr/>
        </p:nvSpPr>
        <p:spPr>
          <a:xfrm>
            <a:off x="10690741" y="1954768"/>
            <a:ext cx="91440" cy="764143"/>
          </a:xfrm>
          <a:prstGeom prst="roundRect">
            <a:avLst>
              <a:gd name="adj" fmla="val 33488"/>
            </a:avLst>
          </a:prstGeom>
          <a:solidFill>
            <a:srgbClr val="E6E6FA"/>
          </a:solidFill>
          <a:ln/>
        </p:spPr>
      </p:sp>
      <p:sp>
        <p:nvSpPr>
          <p:cNvPr id="15" name="Text 13"/>
          <p:cNvSpPr/>
          <p:nvPr/>
        </p:nvSpPr>
        <p:spPr>
          <a:xfrm>
            <a:off x="11009114" y="2181701"/>
            <a:ext cx="2600563" cy="310277"/>
          </a:xfrm>
          <a:prstGeom prst="rect">
            <a:avLst/>
          </a:prstGeom>
          <a:noFill/>
          <a:ln/>
        </p:spPr>
        <p:txBody>
          <a:bodyPr wrap="none" lIns="0" tIns="0" rIns="0" bIns="0" rtlCol="0" anchor="t"/>
          <a:lstStyle/>
          <a:p>
            <a:pPr marL="0" indent="0" algn="l">
              <a:lnSpc>
                <a:spcPts val="2400"/>
              </a:lnSpc>
              <a:buNone/>
            </a:pPr>
            <a:r>
              <a:rPr lang="en-US" sz="1600" dirty="0">
                <a:solidFill>
                  <a:srgbClr val="4C4C4D"/>
                </a:solidFill>
                <a:latin typeface="Heebo" pitchFamily="34" charset="0"/>
                <a:ea typeface="Heebo" pitchFamily="34" charset="-122"/>
                <a:cs typeface="Heebo" pitchFamily="34" charset="-120"/>
              </a:rPr>
              <a:t>Bank account details</a:t>
            </a:r>
            <a:endParaRPr lang="en-US" sz="1600" dirty="0"/>
          </a:p>
        </p:txBody>
      </p:sp>
      <p:sp>
        <p:nvSpPr>
          <p:cNvPr id="16" name="Shape 14"/>
          <p:cNvSpPr/>
          <p:nvPr/>
        </p:nvSpPr>
        <p:spPr>
          <a:xfrm>
            <a:off x="793790" y="2902625"/>
            <a:ext cx="3122890" cy="1074420"/>
          </a:xfrm>
          <a:prstGeom prst="roundRect">
            <a:avLst>
              <a:gd name="adj" fmla="val 10213"/>
            </a:avLst>
          </a:prstGeom>
          <a:solidFill>
            <a:srgbClr val="FFFFFF"/>
          </a:solidFill>
          <a:ln w="22860">
            <a:solidFill>
              <a:srgbClr val="FFFACD"/>
            </a:solidFill>
            <a:prstDash val="solid"/>
          </a:ln>
        </p:spPr>
      </p:sp>
      <p:sp>
        <p:nvSpPr>
          <p:cNvPr id="17" name="Shape 15"/>
          <p:cNvSpPr/>
          <p:nvPr/>
        </p:nvSpPr>
        <p:spPr>
          <a:xfrm>
            <a:off x="770930" y="2902625"/>
            <a:ext cx="91440" cy="1074420"/>
          </a:xfrm>
          <a:prstGeom prst="roundRect">
            <a:avLst>
              <a:gd name="adj" fmla="val 33488"/>
            </a:avLst>
          </a:prstGeom>
          <a:solidFill>
            <a:srgbClr val="FFFACD"/>
          </a:solidFill>
          <a:ln/>
        </p:spPr>
      </p:sp>
      <p:sp>
        <p:nvSpPr>
          <p:cNvPr id="18" name="Text 16"/>
          <p:cNvSpPr/>
          <p:nvPr/>
        </p:nvSpPr>
        <p:spPr>
          <a:xfrm>
            <a:off x="1089303" y="3129558"/>
            <a:ext cx="2600444" cy="310277"/>
          </a:xfrm>
          <a:prstGeom prst="rect">
            <a:avLst/>
          </a:prstGeom>
          <a:noFill/>
          <a:ln/>
        </p:spPr>
        <p:txBody>
          <a:bodyPr wrap="none" lIns="0" tIns="0" rIns="0" bIns="0" rtlCol="0" anchor="t"/>
          <a:lstStyle/>
          <a:p>
            <a:pPr marL="0" indent="0" algn="l">
              <a:lnSpc>
                <a:spcPts val="2400"/>
              </a:lnSpc>
              <a:buNone/>
            </a:pPr>
            <a:r>
              <a:rPr lang="en-US" sz="1600" dirty="0">
                <a:solidFill>
                  <a:srgbClr val="4C4C4D"/>
                </a:solidFill>
                <a:latin typeface="Heebo" pitchFamily="34" charset="0"/>
                <a:ea typeface="Heebo" pitchFamily="34" charset="-122"/>
                <a:cs typeface="Heebo" pitchFamily="34" charset="-120"/>
              </a:rPr>
              <a:t>Personal information</a:t>
            </a:r>
            <a:endParaRPr lang="en-US" sz="1600" dirty="0"/>
          </a:p>
        </p:txBody>
      </p:sp>
      <p:sp>
        <p:nvSpPr>
          <p:cNvPr id="19" name="Shape 17"/>
          <p:cNvSpPr/>
          <p:nvPr/>
        </p:nvSpPr>
        <p:spPr>
          <a:xfrm>
            <a:off x="4100393" y="2902625"/>
            <a:ext cx="3122890" cy="1074420"/>
          </a:xfrm>
          <a:prstGeom prst="roundRect">
            <a:avLst>
              <a:gd name="adj" fmla="val 10213"/>
            </a:avLst>
          </a:prstGeom>
          <a:solidFill>
            <a:srgbClr val="FFFFFF"/>
          </a:solidFill>
          <a:ln w="22860">
            <a:solidFill>
              <a:srgbClr val="FFDAB9"/>
            </a:solidFill>
            <a:prstDash val="solid"/>
          </a:ln>
        </p:spPr>
      </p:sp>
      <p:sp>
        <p:nvSpPr>
          <p:cNvPr id="20" name="Shape 18"/>
          <p:cNvSpPr/>
          <p:nvPr/>
        </p:nvSpPr>
        <p:spPr>
          <a:xfrm>
            <a:off x="4077533" y="2902625"/>
            <a:ext cx="91440" cy="1074420"/>
          </a:xfrm>
          <a:prstGeom prst="roundRect">
            <a:avLst>
              <a:gd name="adj" fmla="val 33488"/>
            </a:avLst>
          </a:prstGeom>
          <a:solidFill>
            <a:srgbClr val="FFDAB9"/>
          </a:solidFill>
          <a:ln/>
        </p:spPr>
      </p:sp>
      <p:sp>
        <p:nvSpPr>
          <p:cNvPr id="21" name="Text 19"/>
          <p:cNvSpPr/>
          <p:nvPr/>
        </p:nvSpPr>
        <p:spPr>
          <a:xfrm>
            <a:off x="4395907" y="3129558"/>
            <a:ext cx="2600444" cy="310277"/>
          </a:xfrm>
          <a:prstGeom prst="rect">
            <a:avLst/>
          </a:prstGeom>
          <a:noFill/>
          <a:ln/>
        </p:spPr>
        <p:txBody>
          <a:bodyPr wrap="none" lIns="0" tIns="0" rIns="0" bIns="0" rtlCol="0" anchor="t"/>
          <a:lstStyle/>
          <a:p>
            <a:pPr marL="0" indent="0" algn="l">
              <a:lnSpc>
                <a:spcPts val="2400"/>
              </a:lnSpc>
              <a:buNone/>
            </a:pPr>
            <a:r>
              <a:rPr lang="en-US" sz="1600" dirty="0">
                <a:solidFill>
                  <a:srgbClr val="4C4C4D"/>
                </a:solidFill>
                <a:latin typeface="Heebo" pitchFamily="34" charset="0"/>
                <a:ea typeface="Heebo" pitchFamily="34" charset="-122"/>
                <a:cs typeface="Heebo" pitchFamily="34" charset="-120"/>
              </a:rPr>
              <a:t>Session cookies</a:t>
            </a:r>
            <a:endParaRPr lang="en-US" sz="1600" dirty="0"/>
          </a:p>
        </p:txBody>
      </p:sp>
      <p:sp>
        <p:nvSpPr>
          <p:cNvPr id="22" name="Shape 20"/>
          <p:cNvSpPr/>
          <p:nvPr/>
        </p:nvSpPr>
        <p:spPr>
          <a:xfrm>
            <a:off x="7406997" y="2902625"/>
            <a:ext cx="3122890" cy="1074420"/>
          </a:xfrm>
          <a:prstGeom prst="roundRect">
            <a:avLst>
              <a:gd name="adj" fmla="val 10213"/>
            </a:avLst>
          </a:prstGeom>
          <a:solidFill>
            <a:srgbClr val="FFFFFF"/>
          </a:solidFill>
          <a:ln w="22860">
            <a:solidFill>
              <a:srgbClr val="C1FFC1"/>
            </a:solidFill>
            <a:prstDash val="solid"/>
          </a:ln>
        </p:spPr>
      </p:sp>
      <p:sp>
        <p:nvSpPr>
          <p:cNvPr id="23" name="Shape 21"/>
          <p:cNvSpPr/>
          <p:nvPr/>
        </p:nvSpPr>
        <p:spPr>
          <a:xfrm>
            <a:off x="7384137" y="2902625"/>
            <a:ext cx="91440" cy="1074420"/>
          </a:xfrm>
          <a:prstGeom prst="roundRect">
            <a:avLst>
              <a:gd name="adj" fmla="val 33488"/>
            </a:avLst>
          </a:prstGeom>
          <a:solidFill>
            <a:srgbClr val="C1FFC1"/>
          </a:solidFill>
          <a:ln/>
        </p:spPr>
      </p:sp>
      <p:sp>
        <p:nvSpPr>
          <p:cNvPr id="24" name="Text 22"/>
          <p:cNvSpPr/>
          <p:nvPr/>
        </p:nvSpPr>
        <p:spPr>
          <a:xfrm>
            <a:off x="7702510" y="3129558"/>
            <a:ext cx="2600444" cy="620554"/>
          </a:xfrm>
          <a:prstGeom prst="rect">
            <a:avLst/>
          </a:prstGeom>
          <a:noFill/>
          <a:ln/>
        </p:spPr>
        <p:txBody>
          <a:bodyPr wrap="square" lIns="0" tIns="0" rIns="0" bIns="0" rtlCol="0" anchor="t"/>
          <a:lstStyle/>
          <a:p>
            <a:pPr marL="0" indent="0" algn="l">
              <a:lnSpc>
                <a:spcPts val="2400"/>
              </a:lnSpc>
              <a:buNone/>
            </a:pPr>
            <a:r>
              <a:rPr lang="en-US" sz="1600" dirty="0">
                <a:solidFill>
                  <a:srgbClr val="4C4C4D"/>
                </a:solidFill>
                <a:latin typeface="Heebo" pitchFamily="34" charset="0"/>
                <a:ea typeface="Heebo" pitchFamily="34" charset="-122"/>
                <a:cs typeface="Heebo" pitchFamily="34" charset="-120"/>
              </a:rPr>
              <a:t>MFA codes (real-time phishing)</a:t>
            </a:r>
            <a:endParaRPr lang="en-US" sz="1600" dirty="0"/>
          </a:p>
        </p:txBody>
      </p:sp>
      <p:sp>
        <p:nvSpPr>
          <p:cNvPr id="25" name="Text 23"/>
          <p:cNvSpPr/>
          <p:nvPr/>
        </p:nvSpPr>
        <p:spPr>
          <a:xfrm>
            <a:off x="793790" y="4252555"/>
            <a:ext cx="4424005" cy="510302"/>
          </a:xfrm>
          <a:prstGeom prst="rect">
            <a:avLst/>
          </a:prstGeom>
          <a:noFill/>
          <a:ln/>
        </p:spPr>
        <p:txBody>
          <a:bodyPr wrap="none" lIns="0" tIns="0" rIns="0" bIns="0" rtlCol="0" anchor="t"/>
          <a:lstStyle/>
          <a:p>
            <a:pPr marL="0" indent="0" algn="l">
              <a:lnSpc>
                <a:spcPts val="4000"/>
              </a:lnSpc>
              <a:buNone/>
            </a:pPr>
            <a:r>
              <a:rPr lang="en-US" sz="3200" dirty="0">
                <a:solidFill>
                  <a:srgbClr val="152D47"/>
                </a:solidFill>
                <a:latin typeface="Crimson Pro Semi Bold" pitchFamily="34" charset="0"/>
                <a:ea typeface="Crimson Pro Semi Bold" pitchFamily="34" charset="-122"/>
                <a:cs typeface="Crimson Pro Semi Bold" pitchFamily="34" charset="-120"/>
              </a:rPr>
              <a:t>Phase 7: Post-Exploitation</a:t>
            </a:r>
            <a:endParaRPr lang="en-US" sz="3200" dirty="0"/>
          </a:p>
        </p:txBody>
      </p:sp>
      <p:sp>
        <p:nvSpPr>
          <p:cNvPr id="26" name="Text 24"/>
          <p:cNvSpPr/>
          <p:nvPr/>
        </p:nvSpPr>
        <p:spPr>
          <a:xfrm>
            <a:off x="793790" y="5038368"/>
            <a:ext cx="13042821" cy="310277"/>
          </a:xfrm>
          <a:prstGeom prst="rect">
            <a:avLst/>
          </a:prstGeom>
          <a:noFill/>
          <a:ln/>
        </p:spPr>
        <p:txBody>
          <a:bodyPr wrap="none" lIns="0" tIns="0" rIns="0" bIns="0" rtlCol="0" anchor="t"/>
          <a:lstStyle/>
          <a:p>
            <a:pPr marL="0" indent="0" algn="l">
              <a:lnSpc>
                <a:spcPts val="2400"/>
              </a:lnSpc>
              <a:buNone/>
            </a:pPr>
            <a:r>
              <a:rPr lang="en-US" sz="1600" dirty="0">
                <a:solidFill>
                  <a:srgbClr val="4C4C4D"/>
                </a:solidFill>
                <a:latin typeface="Heebo" pitchFamily="34" charset="0"/>
                <a:ea typeface="Heebo" pitchFamily="34" charset="-122"/>
                <a:cs typeface="Heebo" pitchFamily="34" charset="-120"/>
              </a:rPr>
              <a:t>What attackers do with stolen data:</a:t>
            </a:r>
            <a:endParaRPr lang="en-US" sz="1600" dirty="0"/>
          </a:p>
        </p:txBody>
      </p:sp>
      <p:sp>
        <p:nvSpPr>
          <p:cNvPr id="27" name="Shape 25"/>
          <p:cNvSpPr/>
          <p:nvPr/>
        </p:nvSpPr>
        <p:spPr>
          <a:xfrm>
            <a:off x="793790" y="5555337"/>
            <a:ext cx="3122890" cy="764143"/>
          </a:xfrm>
          <a:prstGeom prst="roundRect">
            <a:avLst>
              <a:gd name="adj" fmla="val 14360"/>
            </a:avLst>
          </a:prstGeom>
          <a:solidFill>
            <a:srgbClr val="FFFFFF"/>
          </a:solidFill>
          <a:ln w="22860">
            <a:solidFill>
              <a:srgbClr val="FFDAB9"/>
            </a:solidFill>
            <a:prstDash val="solid"/>
          </a:ln>
        </p:spPr>
      </p:sp>
      <p:sp>
        <p:nvSpPr>
          <p:cNvPr id="28" name="Shape 26"/>
          <p:cNvSpPr/>
          <p:nvPr/>
        </p:nvSpPr>
        <p:spPr>
          <a:xfrm>
            <a:off x="770930" y="5555337"/>
            <a:ext cx="91440" cy="764143"/>
          </a:xfrm>
          <a:prstGeom prst="roundRect">
            <a:avLst>
              <a:gd name="adj" fmla="val 33488"/>
            </a:avLst>
          </a:prstGeom>
          <a:solidFill>
            <a:srgbClr val="FFDAB9"/>
          </a:solidFill>
          <a:ln/>
        </p:spPr>
      </p:sp>
      <p:sp>
        <p:nvSpPr>
          <p:cNvPr id="29" name="Text 27"/>
          <p:cNvSpPr/>
          <p:nvPr/>
        </p:nvSpPr>
        <p:spPr>
          <a:xfrm>
            <a:off x="1089303" y="5782270"/>
            <a:ext cx="2600444" cy="310277"/>
          </a:xfrm>
          <a:prstGeom prst="rect">
            <a:avLst/>
          </a:prstGeom>
          <a:noFill/>
          <a:ln/>
        </p:spPr>
        <p:txBody>
          <a:bodyPr wrap="none" lIns="0" tIns="0" rIns="0" bIns="0" rtlCol="0" anchor="t"/>
          <a:lstStyle/>
          <a:p>
            <a:pPr marL="0" indent="0" algn="l">
              <a:lnSpc>
                <a:spcPts val="2400"/>
              </a:lnSpc>
              <a:buNone/>
            </a:pPr>
            <a:r>
              <a:rPr lang="en-US" sz="1600" dirty="0">
                <a:solidFill>
                  <a:srgbClr val="4C4C4D"/>
                </a:solidFill>
                <a:latin typeface="Heebo" pitchFamily="34" charset="0"/>
                <a:ea typeface="Heebo" pitchFamily="34" charset="-122"/>
                <a:cs typeface="Heebo" pitchFamily="34" charset="-120"/>
              </a:rPr>
              <a:t>Account takeover</a:t>
            </a:r>
            <a:endParaRPr lang="en-US" sz="1600" dirty="0"/>
          </a:p>
        </p:txBody>
      </p:sp>
      <p:sp>
        <p:nvSpPr>
          <p:cNvPr id="30" name="Shape 28"/>
          <p:cNvSpPr/>
          <p:nvPr/>
        </p:nvSpPr>
        <p:spPr>
          <a:xfrm>
            <a:off x="4100393" y="5555337"/>
            <a:ext cx="3122890" cy="764143"/>
          </a:xfrm>
          <a:prstGeom prst="roundRect">
            <a:avLst>
              <a:gd name="adj" fmla="val 14360"/>
            </a:avLst>
          </a:prstGeom>
          <a:solidFill>
            <a:srgbClr val="FFFFFF"/>
          </a:solidFill>
          <a:ln w="22860">
            <a:solidFill>
              <a:srgbClr val="C1FFC1"/>
            </a:solidFill>
            <a:prstDash val="solid"/>
          </a:ln>
        </p:spPr>
      </p:sp>
      <p:sp>
        <p:nvSpPr>
          <p:cNvPr id="31" name="Shape 29"/>
          <p:cNvSpPr/>
          <p:nvPr/>
        </p:nvSpPr>
        <p:spPr>
          <a:xfrm>
            <a:off x="4077533" y="5555337"/>
            <a:ext cx="91440" cy="764143"/>
          </a:xfrm>
          <a:prstGeom prst="roundRect">
            <a:avLst>
              <a:gd name="adj" fmla="val 33488"/>
            </a:avLst>
          </a:prstGeom>
          <a:solidFill>
            <a:srgbClr val="C1FFC1"/>
          </a:solidFill>
          <a:ln/>
        </p:spPr>
      </p:sp>
      <p:sp>
        <p:nvSpPr>
          <p:cNvPr id="32" name="Text 30"/>
          <p:cNvSpPr/>
          <p:nvPr/>
        </p:nvSpPr>
        <p:spPr>
          <a:xfrm>
            <a:off x="4395907" y="5782270"/>
            <a:ext cx="2600444" cy="310277"/>
          </a:xfrm>
          <a:prstGeom prst="rect">
            <a:avLst/>
          </a:prstGeom>
          <a:noFill/>
          <a:ln/>
        </p:spPr>
        <p:txBody>
          <a:bodyPr wrap="none" lIns="0" tIns="0" rIns="0" bIns="0" rtlCol="0" anchor="t"/>
          <a:lstStyle/>
          <a:p>
            <a:pPr marL="0" indent="0" algn="l">
              <a:lnSpc>
                <a:spcPts val="2400"/>
              </a:lnSpc>
              <a:buNone/>
            </a:pPr>
            <a:r>
              <a:rPr lang="en-US" sz="1600" dirty="0">
                <a:solidFill>
                  <a:srgbClr val="4C4C4D"/>
                </a:solidFill>
                <a:latin typeface="Heebo" pitchFamily="34" charset="0"/>
                <a:ea typeface="Heebo" pitchFamily="34" charset="-122"/>
                <a:cs typeface="Heebo" pitchFamily="34" charset="-120"/>
              </a:rPr>
              <a:t>Financial fraud</a:t>
            </a:r>
            <a:endParaRPr lang="en-US" sz="1600" dirty="0"/>
          </a:p>
        </p:txBody>
      </p:sp>
      <p:sp>
        <p:nvSpPr>
          <p:cNvPr id="33" name="Shape 31"/>
          <p:cNvSpPr/>
          <p:nvPr/>
        </p:nvSpPr>
        <p:spPr>
          <a:xfrm>
            <a:off x="7406997" y="5555337"/>
            <a:ext cx="3122890" cy="764143"/>
          </a:xfrm>
          <a:prstGeom prst="roundRect">
            <a:avLst>
              <a:gd name="adj" fmla="val 14360"/>
            </a:avLst>
          </a:prstGeom>
          <a:solidFill>
            <a:srgbClr val="FFFFFF"/>
          </a:solidFill>
          <a:ln w="22860">
            <a:solidFill>
              <a:srgbClr val="FFC0CB"/>
            </a:solidFill>
            <a:prstDash val="solid"/>
          </a:ln>
        </p:spPr>
      </p:sp>
      <p:sp>
        <p:nvSpPr>
          <p:cNvPr id="34" name="Shape 32"/>
          <p:cNvSpPr/>
          <p:nvPr/>
        </p:nvSpPr>
        <p:spPr>
          <a:xfrm>
            <a:off x="7384137" y="5555337"/>
            <a:ext cx="91440" cy="764143"/>
          </a:xfrm>
          <a:prstGeom prst="roundRect">
            <a:avLst>
              <a:gd name="adj" fmla="val 33488"/>
            </a:avLst>
          </a:prstGeom>
          <a:solidFill>
            <a:srgbClr val="FFC0CB"/>
          </a:solidFill>
          <a:ln/>
        </p:spPr>
      </p:sp>
      <p:sp>
        <p:nvSpPr>
          <p:cNvPr id="35" name="Text 33"/>
          <p:cNvSpPr/>
          <p:nvPr/>
        </p:nvSpPr>
        <p:spPr>
          <a:xfrm>
            <a:off x="7702510" y="5782270"/>
            <a:ext cx="2600444" cy="310277"/>
          </a:xfrm>
          <a:prstGeom prst="rect">
            <a:avLst/>
          </a:prstGeom>
          <a:noFill/>
          <a:ln/>
        </p:spPr>
        <p:txBody>
          <a:bodyPr wrap="none" lIns="0" tIns="0" rIns="0" bIns="0" rtlCol="0" anchor="t"/>
          <a:lstStyle/>
          <a:p>
            <a:pPr marL="0" indent="0" algn="l">
              <a:lnSpc>
                <a:spcPts val="2400"/>
              </a:lnSpc>
              <a:buNone/>
            </a:pPr>
            <a:r>
              <a:rPr lang="en-US" sz="1600" dirty="0">
                <a:solidFill>
                  <a:srgbClr val="4C4C4D"/>
                </a:solidFill>
                <a:latin typeface="Heebo" pitchFamily="34" charset="0"/>
                <a:ea typeface="Heebo" pitchFamily="34" charset="-122"/>
                <a:cs typeface="Heebo" pitchFamily="34" charset="-120"/>
              </a:rPr>
              <a:t>Identity theft</a:t>
            </a:r>
            <a:endParaRPr lang="en-US" sz="1600" dirty="0"/>
          </a:p>
        </p:txBody>
      </p:sp>
      <p:sp>
        <p:nvSpPr>
          <p:cNvPr id="36" name="Shape 34"/>
          <p:cNvSpPr/>
          <p:nvPr/>
        </p:nvSpPr>
        <p:spPr>
          <a:xfrm>
            <a:off x="10713601" y="5555337"/>
            <a:ext cx="3123009" cy="764143"/>
          </a:xfrm>
          <a:prstGeom prst="roundRect">
            <a:avLst>
              <a:gd name="adj" fmla="val 14360"/>
            </a:avLst>
          </a:prstGeom>
          <a:solidFill>
            <a:srgbClr val="FFFFFF"/>
          </a:solidFill>
          <a:ln w="22860">
            <a:solidFill>
              <a:srgbClr val="E6E6FA"/>
            </a:solidFill>
            <a:prstDash val="solid"/>
          </a:ln>
        </p:spPr>
      </p:sp>
      <p:sp>
        <p:nvSpPr>
          <p:cNvPr id="37" name="Shape 35"/>
          <p:cNvSpPr/>
          <p:nvPr/>
        </p:nvSpPr>
        <p:spPr>
          <a:xfrm>
            <a:off x="10690741" y="5555337"/>
            <a:ext cx="91440" cy="764143"/>
          </a:xfrm>
          <a:prstGeom prst="roundRect">
            <a:avLst>
              <a:gd name="adj" fmla="val 33488"/>
            </a:avLst>
          </a:prstGeom>
          <a:solidFill>
            <a:srgbClr val="E6E6FA"/>
          </a:solidFill>
          <a:ln/>
        </p:spPr>
      </p:sp>
      <p:sp>
        <p:nvSpPr>
          <p:cNvPr id="38" name="Text 36"/>
          <p:cNvSpPr/>
          <p:nvPr/>
        </p:nvSpPr>
        <p:spPr>
          <a:xfrm>
            <a:off x="11009114" y="5782270"/>
            <a:ext cx="2600563" cy="310277"/>
          </a:xfrm>
          <a:prstGeom prst="rect">
            <a:avLst/>
          </a:prstGeom>
          <a:noFill/>
          <a:ln/>
        </p:spPr>
        <p:txBody>
          <a:bodyPr wrap="none" lIns="0" tIns="0" rIns="0" bIns="0" rtlCol="0" anchor="t"/>
          <a:lstStyle/>
          <a:p>
            <a:pPr marL="0" indent="0" algn="l">
              <a:lnSpc>
                <a:spcPts val="2400"/>
              </a:lnSpc>
              <a:buNone/>
            </a:pPr>
            <a:r>
              <a:rPr lang="en-US" sz="1600" dirty="0">
                <a:solidFill>
                  <a:srgbClr val="4C4C4D"/>
                </a:solidFill>
                <a:latin typeface="Heebo" pitchFamily="34" charset="0"/>
                <a:ea typeface="Heebo" pitchFamily="34" charset="-122"/>
                <a:cs typeface="Heebo" pitchFamily="34" charset="-120"/>
              </a:rPr>
              <a:t>Sell on dark web</a:t>
            </a:r>
            <a:endParaRPr lang="en-US" sz="1600" dirty="0"/>
          </a:p>
        </p:txBody>
      </p:sp>
      <p:sp>
        <p:nvSpPr>
          <p:cNvPr id="39" name="Shape 37"/>
          <p:cNvSpPr/>
          <p:nvPr/>
        </p:nvSpPr>
        <p:spPr>
          <a:xfrm>
            <a:off x="793790" y="6503194"/>
            <a:ext cx="3122890" cy="1074420"/>
          </a:xfrm>
          <a:prstGeom prst="roundRect">
            <a:avLst>
              <a:gd name="adj" fmla="val 10213"/>
            </a:avLst>
          </a:prstGeom>
          <a:solidFill>
            <a:srgbClr val="FFFFFF"/>
          </a:solidFill>
          <a:ln w="22860">
            <a:solidFill>
              <a:srgbClr val="FFFACD"/>
            </a:solidFill>
            <a:prstDash val="solid"/>
          </a:ln>
        </p:spPr>
      </p:sp>
      <p:sp>
        <p:nvSpPr>
          <p:cNvPr id="40" name="Shape 38"/>
          <p:cNvSpPr/>
          <p:nvPr/>
        </p:nvSpPr>
        <p:spPr>
          <a:xfrm>
            <a:off x="770930" y="6503194"/>
            <a:ext cx="91440" cy="1074420"/>
          </a:xfrm>
          <a:prstGeom prst="roundRect">
            <a:avLst>
              <a:gd name="adj" fmla="val 33488"/>
            </a:avLst>
          </a:prstGeom>
          <a:solidFill>
            <a:srgbClr val="FFFACD"/>
          </a:solidFill>
          <a:ln/>
        </p:spPr>
      </p:sp>
      <p:sp>
        <p:nvSpPr>
          <p:cNvPr id="41" name="Text 39"/>
          <p:cNvSpPr/>
          <p:nvPr/>
        </p:nvSpPr>
        <p:spPr>
          <a:xfrm>
            <a:off x="1089303" y="6730127"/>
            <a:ext cx="2600444" cy="620554"/>
          </a:xfrm>
          <a:prstGeom prst="rect">
            <a:avLst/>
          </a:prstGeom>
          <a:noFill/>
          <a:ln/>
        </p:spPr>
        <p:txBody>
          <a:bodyPr wrap="square" lIns="0" tIns="0" rIns="0" bIns="0" rtlCol="0" anchor="t"/>
          <a:lstStyle/>
          <a:p>
            <a:pPr marL="0" indent="0" algn="l">
              <a:lnSpc>
                <a:spcPts val="2400"/>
              </a:lnSpc>
              <a:buNone/>
            </a:pPr>
            <a:r>
              <a:rPr lang="en-US" sz="1600" dirty="0">
                <a:solidFill>
                  <a:srgbClr val="4C4C4D"/>
                </a:solidFill>
                <a:latin typeface="Heebo" pitchFamily="34" charset="0"/>
                <a:ea typeface="Heebo" pitchFamily="34" charset="-122"/>
                <a:cs typeface="Heebo" pitchFamily="34" charset="-120"/>
              </a:rPr>
              <a:t>Lateral movement in corporate networks</a:t>
            </a:r>
            <a:endParaRPr lang="en-US" sz="1600" dirty="0"/>
          </a:p>
        </p:txBody>
      </p:sp>
      <p:sp>
        <p:nvSpPr>
          <p:cNvPr id="42" name="Shape 40"/>
          <p:cNvSpPr/>
          <p:nvPr/>
        </p:nvSpPr>
        <p:spPr>
          <a:xfrm>
            <a:off x="4100393" y="6503194"/>
            <a:ext cx="3122890" cy="1074420"/>
          </a:xfrm>
          <a:prstGeom prst="roundRect">
            <a:avLst>
              <a:gd name="adj" fmla="val 10213"/>
            </a:avLst>
          </a:prstGeom>
          <a:solidFill>
            <a:srgbClr val="FFFFFF"/>
          </a:solidFill>
          <a:ln w="22860">
            <a:solidFill>
              <a:srgbClr val="FFDAB9"/>
            </a:solidFill>
            <a:prstDash val="solid"/>
          </a:ln>
        </p:spPr>
      </p:sp>
      <p:sp>
        <p:nvSpPr>
          <p:cNvPr id="43" name="Shape 41"/>
          <p:cNvSpPr/>
          <p:nvPr/>
        </p:nvSpPr>
        <p:spPr>
          <a:xfrm>
            <a:off x="4077533" y="6503194"/>
            <a:ext cx="91440" cy="1074420"/>
          </a:xfrm>
          <a:prstGeom prst="roundRect">
            <a:avLst>
              <a:gd name="adj" fmla="val 33488"/>
            </a:avLst>
          </a:prstGeom>
          <a:solidFill>
            <a:srgbClr val="FFDAB9"/>
          </a:solidFill>
          <a:ln/>
        </p:spPr>
      </p:sp>
      <p:sp>
        <p:nvSpPr>
          <p:cNvPr id="44" name="Text 42"/>
          <p:cNvSpPr/>
          <p:nvPr/>
        </p:nvSpPr>
        <p:spPr>
          <a:xfrm>
            <a:off x="4395907" y="6730127"/>
            <a:ext cx="2600444" cy="310277"/>
          </a:xfrm>
          <a:prstGeom prst="rect">
            <a:avLst/>
          </a:prstGeom>
          <a:noFill/>
          <a:ln/>
        </p:spPr>
        <p:txBody>
          <a:bodyPr wrap="none" lIns="0" tIns="0" rIns="0" bIns="0" rtlCol="0" anchor="t"/>
          <a:lstStyle/>
          <a:p>
            <a:pPr marL="0" indent="0" algn="l">
              <a:lnSpc>
                <a:spcPts val="2400"/>
              </a:lnSpc>
              <a:buNone/>
            </a:pPr>
            <a:r>
              <a:rPr lang="en-US" sz="1600" dirty="0">
                <a:solidFill>
                  <a:srgbClr val="4C4C4D"/>
                </a:solidFill>
                <a:latin typeface="Heebo" pitchFamily="34" charset="0"/>
                <a:ea typeface="Heebo" pitchFamily="34" charset="-122"/>
                <a:cs typeface="Heebo" pitchFamily="34" charset="-120"/>
              </a:rPr>
              <a:t>Ransomware deployment</a:t>
            </a:r>
            <a:endParaRPr lang="en-US" sz="1600" dirty="0"/>
          </a:p>
        </p:txBody>
      </p:sp>
      <p:sp>
        <p:nvSpPr>
          <p:cNvPr id="45" name="Shape 43"/>
          <p:cNvSpPr/>
          <p:nvPr/>
        </p:nvSpPr>
        <p:spPr>
          <a:xfrm>
            <a:off x="7406997" y="6503194"/>
            <a:ext cx="3122890" cy="1074420"/>
          </a:xfrm>
          <a:prstGeom prst="roundRect">
            <a:avLst>
              <a:gd name="adj" fmla="val 10213"/>
            </a:avLst>
          </a:prstGeom>
          <a:solidFill>
            <a:srgbClr val="FFFFFF"/>
          </a:solidFill>
          <a:ln w="22860">
            <a:solidFill>
              <a:srgbClr val="C1FFC1"/>
            </a:solidFill>
            <a:prstDash val="solid"/>
          </a:ln>
        </p:spPr>
      </p:sp>
      <p:sp>
        <p:nvSpPr>
          <p:cNvPr id="46" name="Shape 44"/>
          <p:cNvSpPr/>
          <p:nvPr/>
        </p:nvSpPr>
        <p:spPr>
          <a:xfrm>
            <a:off x="7384137" y="6503194"/>
            <a:ext cx="91440" cy="1074420"/>
          </a:xfrm>
          <a:prstGeom prst="roundRect">
            <a:avLst>
              <a:gd name="adj" fmla="val 33488"/>
            </a:avLst>
          </a:prstGeom>
          <a:solidFill>
            <a:srgbClr val="C1FFC1"/>
          </a:solidFill>
          <a:ln/>
        </p:spPr>
      </p:sp>
      <p:sp>
        <p:nvSpPr>
          <p:cNvPr id="47" name="Text 45"/>
          <p:cNvSpPr/>
          <p:nvPr/>
        </p:nvSpPr>
        <p:spPr>
          <a:xfrm>
            <a:off x="7702510" y="6730127"/>
            <a:ext cx="2600444" cy="310277"/>
          </a:xfrm>
          <a:prstGeom prst="rect">
            <a:avLst/>
          </a:prstGeom>
          <a:noFill/>
          <a:ln/>
        </p:spPr>
        <p:txBody>
          <a:bodyPr wrap="none" lIns="0" tIns="0" rIns="0" bIns="0" rtlCol="0" anchor="t"/>
          <a:lstStyle/>
          <a:p>
            <a:pPr marL="0" indent="0" algn="l">
              <a:lnSpc>
                <a:spcPts val="2400"/>
              </a:lnSpc>
              <a:buNone/>
            </a:pPr>
            <a:r>
              <a:rPr lang="en-US" sz="1600" dirty="0">
                <a:solidFill>
                  <a:srgbClr val="4C4C4D"/>
                </a:solidFill>
                <a:latin typeface="Heebo" pitchFamily="34" charset="0"/>
                <a:ea typeface="Heebo" pitchFamily="34" charset="-122"/>
                <a:cs typeface="Heebo" pitchFamily="34" charset="-120"/>
              </a:rPr>
              <a:t>Business email compromise</a:t>
            </a:r>
            <a:endParaRPr lang="en-US" sz="1600" dirty="0"/>
          </a:p>
        </p:txBody>
      </p:sp>
      <p:sp>
        <p:nvSpPr>
          <p:cNvPr id="48" name="Shape 46"/>
          <p:cNvSpPr/>
          <p:nvPr/>
        </p:nvSpPr>
        <p:spPr>
          <a:xfrm>
            <a:off x="10713601" y="6503194"/>
            <a:ext cx="3123009" cy="1074420"/>
          </a:xfrm>
          <a:prstGeom prst="roundRect">
            <a:avLst>
              <a:gd name="adj" fmla="val 10213"/>
            </a:avLst>
          </a:prstGeom>
          <a:solidFill>
            <a:srgbClr val="FFFFFF"/>
          </a:solidFill>
          <a:ln w="22860">
            <a:solidFill>
              <a:srgbClr val="FFC0CB"/>
            </a:solidFill>
            <a:prstDash val="solid"/>
          </a:ln>
        </p:spPr>
      </p:sp>
      <p:sp>
        <p:nvSpPr>
          <p:cNvPr id="49" name="Shape 47"/>
          <p:cNvSpPr/>
          <p:nvPr/>
        </p:nvSpPr>
        <p:spPr>
          <a:xfrm>
            <a:off x="10690741" y="6503194"/>
            <a:ext cx="91440" cy="1074420"/>
          </a:xfrm>
          <a:prstGeom prst="roundRect">
            <a:avLst>
              <a:gd name="adj" fmla="val 33488"/>
            </a:avLst>
          </a:prstGeom>
          <a:solidFill>
            <a:srgbClr val="FFC0CB"/>
          </a:solidFill>
          <a:ln/>
        </p:spPr>
      </p:sp>
      <p:sp>
        <p:nvSpPr>
          <p:cNvPr id="50" name="Text 48"/>
          <p:cNvSpPr/>
          <p:nvPr/>
        </p:nvSpPr>
        <p:spPr>
          <a:xfrm>
            <a:off x="11009114" y="6730127"/>
            <a:ext cx="2600563" cy="310277"/>
          </a:xfrm>
          <a:prstGeom prst="rect">
            <a:avLst/>
          </a:prstGeom>
          <a:noFill/>
          <a:ln/>
        </p:spPr>
        <p:txBody>
          <a:bodyPr wrap="none" lIns="0" tIns="0" rIns="0" bIns="0" rtlCol="0" anchor="t"/>
          <a:lstStyle/>
          <a:p>
            <a:pPr marL="0" indent="0" algn="l">
              <a:lnSpc>
                <a:spcPts val="2400"/>
              </a:lnSpc>
              <a:buNone/>
            </a:pPr>
            <a:r>
              <a:rPr lang="en-US" sz="1600" dirty="0">
                <a:solidFill>
                  <a:srgbClr val="4C4C4D"/>
                </a:solidFill>
                <a:latin typeface="Heebo" pitchFamily="34" charset="0"/>
                <a:ea typeface="Heebo" pitchFamily="34" charset="-122"/>
                <a:cs typeface="Heebo" pitchFamily="34" charset="-120"/>
              </a:rPr>
              <a:t>Extortion</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85000"/>
            </a:srgbClr>
          </a:solidFill>
          <a:ln/>
        </p:spPr>
      </p:sp>
      <p:sp>
        <p:nvSpPr>
          <p:cNvPr id="4" name="Text 1"/>
          <p:cNvSpPr/>
          <p:nvPr/>
        </p:nvSpPr>
        <p:spPr>
          <a:xfrm>
            <a:off x="793790" y="830699"/>
            <a:ext cx="4252913" cy="531614"/>
          </a:xfrm>
          <a:prstGeom prst="rect">
            <a:avLst/>
          </a:prstGeom>
          <a:noFill/>
          <a:ln/>
        </p:spPr>
        <p:txBody>
          <a:bodyPr wrap="none" lIns="0" tIns="0" rIns="0" bIns="0" rtlCol="0" anchor="t"/>
          <a:lstStyle/>
          <a:p>
            <a:pPr marL="0" indent="0" algn="l">
              <a:lnSpc>
                <a:spcPts val="4150"/>
              </a:lnSpc>
              <a:buNone/>
            </a:pPr>
            <a:r>
              <a:rPr lang="en-US" sz="3300" dirty="0">
                <a:solidFill>
                  <a:srgbClr val="152D47"/>
                </a:solidFill>
                <a:latin typeface="Crimson Pro Semi Bold" pitchFamily="34" charset="0"/>
                <a:ea typeface="Crimson Pro Semi Bold" pitchFamily="34" charset="-122"/>
                <a:cs typeface="Crimson Pro Semi Bold" pitchFamily="34" charset="-120"/>
              </a:rPr>
              <a:t>Real-World Attacks</a:t>
            </a:r>
            <a:endParaRPr lang="en-US" sz="3300" dirty="0"/>
          </a:p>
        </p:txBody>
      </p:sp>
      <p:sp>
        <p:nvSpPr>
          <p:cNvPr id="5" name="Text 2"/>
          <p:cNvSpPr/>
          <p:nvPr/>
        </p:nvSpPr>
        <p:spPr>
          <a:xfrm>
            <a:off x="793790" y="1413272"/>
            <a:ext cx="4027170" cy="425291"/>
          </a:xfrm>
          <a:prstGeom prst="rect">
            <a:avLst/>
          </a:prstGeom>
          <a:noFill/>
          <a:ln/>
        </p:spPr>
        <p:txBody>
          <a:bodyPr wrap="none" lIns="0" tIns="0" rIns="0" bIns="0" rtlCol="0" anchor="t"/>
          <a:lstStyle/>
          <a:p>
            <a:pPr marL="0" indent="0" algn="l">
              <a:lnSpc>
                <a:spcPts val="3300"/>
              </a:lnSpc>
              <a:buNone/>
            </a:pPr>
            <a:r>
              <a:rPr lang="en-US" sz="2650" dirty="0">
                <a:solidFill>
                  <a:srgbClr val="152D47"/>
                </a:solidFill>
                <a:latin typeface="Crimson Pro Semi Bold" pitchFamily="34" charset="0"/>
                <a:ea typeface="Crimson Pro Semi Bold" pitchFamily="34" charset="-122"/>
                <a:cs typeface="Crimson Pro Semi Bold" pitchFamily="34" charset="-120"/>
              </a:rPr>
              <a:t>Twitter Bitcoin Scam (2020)</a:t>
            </a:r>
            <a:endParaRPr lang="en-US" sz="2650" dirty="0"/>
          </a:p>
        </p:txBody>
      </p:sp>
      <p:sp>
        <p:nvSpPr>
          <p:cNvPr id="6" name="Text 3"/>
          <p:cNvSpPr/>
          <p:nvPr/>
        </p:nvSpPr>
        <p:spPr>
          <a:xfrm>
            <a:off x="793790" y="2029897"/>
            <a:ext cx="13042821" cy="714375"/>
          </a:xfrm>
          <a:prstGeom prst="rect">
            <a:avLst/>
          </a:prstGeom>
          <a:noFill/>
          <a:ln/>
        </p:spPr>
        <p:txBody>
          <a:bodyPr wrap="square" lIns="0" tIns="0" rIns="0" bIns="0" rtlCol="0" anchor="t"/>
          <a:lstStyle/>
          <a:p>
            <a:pPr marL="0" indent="0" algn="l">
              <a:lnSpc>
                <a:spcPts val="1850"/>
              </a:lnSpc>
              <a:buNone/>
            </a:pPr>
            <a:r>
              <a:rPr lang="en-US" sz="1300" dirty="0">
                <a:solidFill>
                  <a:srgbClr val="4C4C4D"/>
                </a:solidFill>
                <a:latin typeface="Heebo" pitchFamily="34" charset="0"/>
                <a:ea typeface="Heebo" pitchFamily="34" charset="-122"/>
                <a:cs typeface="Heebo" pitchFamily="34" charset="-120"/>
              </a:rPr>
              <a:t>Using details supplied by unsuspecting employees, hackers were able to seize control of several high-profile user accounts, including those of Barack Obama, Elon Musk, Joe Biden, and Apple Inc.'s company account. The hackers then sent messages to Twitter followers soliciting Bitcoin, promising to double the transaction value in return. The hackers collected 12.86 BTC (about $117,000 at the time).</a:t>
            </a:r>
            <a:endParaRPr lang="en-US" sz="1300" dirty="0"/>
          </a:p>
        </p:txBody>
      </p:sp>
      <p:sp>
        <p:nvSpPr>
          <p:cNvPr id="7" name="Shape 4"/>
          <p:cNvSpPr/>
          <p:nvPr/>
        </p:nvSpPr>
        <p:spPr>
          <a:xfrm>
            <a:off x="793790" y="2972777"/>
            <a:ext cx="13042821" cy="28813"/>
          </a:xfrm>
          <a:prstGeom prst="rect">
            <a:avLst/>
          </a:prstGeom>
          <a:solidFill>
            <a:srgbClr val="4C4C4D">
              <a:alpha val="50000"/>
            </a:srgbClr>
          </a:solidFill>
          <a:ln/>
        </p:spPr>
      </p:sp>
      <p:sp>
        <p:nvSpPr>
          <p:cNvPr id="8" name="Text 5"/>
          <p:cNvSpPr/>
          <p:nvPr/>
        </p:nvSpPr>
        <p:spPr>
          <a:xfrm>
            <a:off x="793790" y="3192899"/>
            <a:ext cx="3863459" cy="425291"/>
          </a:xfrm>
          <a:prstGeom prst="rect">
            <a:avLst/>
          </a:prstGeom>
          <a:noFill/>
          <a:ln/>
        </p:spPr>
        <p:txBody>
          <a:bodyPr wrap="none" lIns="0" tIns="0" rIns="0" bIns="0" rtlCol="0" anchor="t"/>
          <a:lstStyle/>
          <a:p>
            <a:pPr marL="0" indent="0" algn="l">
              <a:lnSpc>
                <a:spcPts val="3300"/>
              </a:lnSpc>
              <a:buNone/>
            </a:pPr>
            <a:r>
              <a:rPr lang="en-US" sz="2650" dirty="0">
                <a:solidFill>
                  <a:srgbClr val="152D47"/>
                </a:solidFill>
                <a:latin typeface="Crimson Pro Semi Bold" pitchFamily="34" charset="0"/>
                <a:ea typeface="Crimson Pro Semi Bold" pitchFamily="34" charset="-122"/>
                <a:cs typeface="Crimson Pro Semi Bold" pitchFamily="34" charset="-120"/>
              </a:rPr>
              <a:t>Account Deactivation Scam</a:t>
            </a:r>
            <a:endParaRPr lang="en-US" sz="2650" dirty="0"/>
          </a:p>
        </p:txBody>
      </p:sp>
      <p:sp>
        <p:nvSpPr>
          <p:cNvPr id="9" name="Shape 6"/>
          <p:cNvSpPr/>
          <p:nvPr/>
        </p:nvSpPr>
        <p:spPr>
          <a:xfrm>
            <a:off x="793790" y="4064675"/>
            <a:ext cx="6457593" cy="856298"/>
          </a:xfrm>
          <a:prstGeom prst="roundRect">
            <a:avLst>
              <a:gd name="adj" fmla="val 12814"/>
            </a:avLst>
          </a:prstGeom>
          <a:solidFill>
            <a:srgbClr val="FFFFFF"/>
          </a:solidFill>
          <a:ln/>
        </p:spPr>
      </p:sp>
      <p:sp>
        <p:nvSpPr>
          <p:cNvPr id="10" name="Shape 7"/>
          <p:cNvSpPr/>
          <p:nvPr/>
        </p:nvSpPr>
        <p:spPr>
          <a:xfrm>
            <a:off x="793790" y="4041815"/>
            <a:ext cx="6457593" cy="91440"/>
          </a:xfrm>
          <a:prstGeom prst="roundRect">
            <a:avLst>
              <a:gd name="adj" fmla="val 27907"/>
            </a:avLst>
          </a:prstGeom>
          <a:solidFill>
            <a:srgbClr val="FFDAB9"/>
          </a:solidFill>
          <a:ln/>
        </p:spPr>
      </p:sp>
      <p:sp>
        <p:nvSpPr>
          <p:cNvPr id="11" name="Shape 8"/>
          <p:cNvSpPr/>
          <p:nvPr/>
        </p:nvSpPr>
        <p:spPr>
          <a:xfrm>
            <a:off x="3767376" y="3809524"/>
            <a:ext cx="510302" cy="510302"/>
          </a:xfrm>
          <a:prstGeom prst="roundRect">
            <a:avLst>
              <a:gd name="adj" fmla="val 179188"/>
            </a:avLst>
          </a:prstGeom>
          <a:solidFill>
            <a:srgbClr val="FFDAB9"/>
          </a:solidFill>
          <a:ln/>
        </p:spPr>
      </p:sp>
      <p:sp>
        <p:nvSpPr>
          <p:cNvPr id="12" name="Text 9"/>
          <p:cNvSpPr/>
          <p:nvPr/>
        </p:nvSpPr>
        <p:spPr>
          <a:xfrm>
            <a:off x="3920490" y="3937040"/>
            <a:ext cx="204073" cy="255151"/>
          </a:xfrm>
          <a:prstGeom prst="rect">
            <a:avLst/>
          </a:prstGeom>
          <a:noFill/>
          <a:ln/>
        </p:spPr>
        <p:txBody>
          <a:bodyPr wrap="none" lIns="0" tIns="0" rIns="0" bIns="0" rtlCol="0" anchor="t"/>
          <a:lstStyle/>
          <a:p>
            <a:pPr marL="0" indent="0" algn="l">
              <a:lnSpc>
                <a:spcPts val="2250"/>
              </a:lnSpc>
              <a:buNone/>
            </a:pPr>
            <a:r>
              <a:rPr lang="en-US" sz="1600" dirty="0">
                <a:solidFill>
                  <a:srgbClr val="000000"/>
                </a:solidFill>
                <a:latin typeface="Crimson Pro Semi Bold" pitchFamily="34" charset="0"/>
                <a:ea typeface="Crimson Pro Semi Bold" pitchFamily="34" charset="-122"/>
                <a:cs typeface="Crimson Pro Semi Bold" pitchFamily="34" charset="-120"/>
              </a:rPr>
              <a:t>1</a:t>
            </a:r>
            <a:endParaRPr lang="en-US" sz="1600" dirty="0"/>
          </a:p>
        </p:txBody>
      </p:sp>
      <p:sp>
        <p:nvSpPr>
          <p:cNvPr id="13" name="Text 10"/>
          <p:cNvSpPr/>
          <p:nvPr/>
        </p:nvSpPr>
        <p:spPr>
          <a:xfrm>
            <a:off x="986671" y="4489966"/>
            <a:ext cx="6071830" cy="238125"/>
          </a:xfrm>
          <a:prstGeom prst="rect">
            <a:avLst/>
          </a:prstGeom>
          <a:noFill/>
          <a:ln/>
        </p:spPr>
        <p:txBody>
          <a:bodyPr wrap="none" lIns="0" tIns="0" rIns="0" bIns="0" rtlCol="0" anchor="t"/>
          <a:lstStyle/>
          <a:p>
            <a:pPr marL="0" indent="0" algn="l">
              <a:lnSpc>
                <a:spcPts val="1850"/>
              </a:lnSpc>
              <a:buNone/>
            </a:pPr>
            <a:r>
              <a:rPr lang="en-US" sz="1300" dirty="0">
                <a:solidFill>
                  <a:srgbClr val="4C4C4D"/>
                </a:solidFill>
                <a:latin typeface="Heebo" pitchFamily="34" charset="0"/>
                <a:ea typeface="Heebo" pitchFamily="34" charset="-122"/>
                <a:cs typeface="Heebo" pitchFamily="34" charset="-120"/>
              </a:rPr>
              <a:t>Email claiming account will be deactivated</a:t>
            </a:r>
            <a:endParaRPr lang="en-US" sz="1300" dirty="0"/>
          </a:p>
        </p:txBody>
      </p:sp>
      <p:sp>
        <p:nvSpPr>
          <p:cNvPr id="14" name="Shape 11"/>
          <p:cNvSpPr/>
          <p:nvPr/>
        </p:nvSpPr>
        <p:spPr>
          <a:xfrm>
            <a:off x="7378898" y="4064675"/>
            <a:ext cx="6457712" cy="856298"/>
          </a:xfrm>
          <a:prstGeom prst="roundRect">
            <a:avLst>
              <a:gd name="adj" fmla="val 12814"/>
            </a:avLst>
          </a:prstGeom>
          <a:solidFill>
            <a:srgbClr val="FFFFFF"/>
          </a:solidFill>
          <a:ln/>
        </p:spPr>
      </p:sp>
      <p:sp>
        <p:nvSpPr>
          <p:cNvPr id="15" name="Shape 12"/>
          <p:cNvSpPr/>
          <p:nvPr/>
        </p:nvSpPr>
        <p:spPr>
          <a:xfrm>
            <a:off x="7378898" y="4041815"/>
            <a:ext cx="6457712" cy="91440"/>
          </a:xfrm>
          <a:prstGeom prst="roundRect">
            <a:avLst>
              <a:gd name="adj" fmla="val 27907"/>
            </a:avLst>
          </a:prstGeom>
          <a:solidFill>
            <a:srgbClr val="FFDAB9"/>
          </a:solidFill>
          <a:ln/>
        </p:spPr>
      </p:sp>
      <p:sp>
        <p:nvSpPr>
          <p:cNvPr id="16" name="Shape 13"/>
          <p:cNvSpPr/>
          <p:nvPr/>
        </p:nvSpPr>
        <p:spPr>
          <a:xfrm>
            <a:off x="10352603" y="3809524"/>
            <a:ext cx="510302" cy="510302"/>
          </a:xfrm>
          <a:prstGeom prst="roundRect">
            <a:avLst>
              <a:gd name="adj" fmla="val 179188"/>
            </a:avLst>
          </a:prstGeom>
          <a:solidFill>
            <a:srgbClr val="FFDAB9"/>
          </a:solidFill>
          <a:ln/>
        </p:spPr>
      </p:sp>
      <p:sp>
        <p:nvSpPr>
          <p:cNvPr id="17" name="Text 14"/>
          <p:cNvSpPr/>
          <p:nvPr/>
        </p:nvSpPr>
        <p:spPr>
          <a:xfrm>
            <a:off x="10505718" y="3937040"/>
            <a:ext cx="204073" cy="255151"/>
          </a:xfrm>
          <a:prstGeom prst="rect">
            <a:avLst/>
          </a:prstGeom>
          <a:noFill/>
          <a:ln/>
        </p:spPr>
        <p:txBody>
          <a:bodyPr wrap="none" lIns="0" tIns="0" rIns="0" bIns="0" rtlCol="0" anchor="t"/>
          <a:lstStyle/>
          <a:p>
            <a:pPr marL="0" indent="0" algn="l">
              <a:lnSpc>
                <a:spcPts val="2250"/>
              </a:lnSpc>
              <a:buNone/>
            </a:pPr>
            <a:r>
              <a:rPr lang="en-US" sz="1600" dirty="0">
                <a:solidFill>
                  <a:srgbClr val="000000"/>
                </a:solidFill>
                <a:latin typeface="Crimson Pro Semi Bold" pitchFamily="34" charset="0"/>
                <a:ea typeface="Crimson Pro Semi Bold" pitchFamily="34" charset="-122"/>
                <a:cs typeface="Crimson Pro Semi Bold" pitchFamily="34" charset="-120"/>
              </a:rPr>
              <a:t>2</a:t>
            </a:r>
            <a:endParaRPr lang="en-US" sz="1600" dirty="0"/>
          </a:p>
        </p:txBody>
      </p:sp>
      <p:sp>
        <p:nvSpPr>
          <p:cNvPr id="18" name="Text 15"/>
          <p:cNvSpPr/>
          <p:nvPr/>
        </p:nvSpPr>
        <p:spPr>
          <a:xfrm>
            <a:off x="7571780" y="4489966"/>
            <a:ext cx="6071949" cy="238125"/>
          </a:xfrm>
          <a:prstGeom prst="rect">
            <a:avLst/>
          </a:prstGeom>
          <a:noFill/>
          <a:ln/>
        </p:spPr>
        <p:txBody>
          <a:bodyPr wrap="none" lIns="0" tIns="0" rIns="0" bIns="0" rtlCol="0" anchor="t"/>
          <a:lstStyle/>
          <a:p>
            <a:pPr marL="0" indent="0" algn="l">
              <a:lnSpc>
                <a:spcPts val="1850"/>
              </a:lnSpc>
              <a:buNone/>
            </a:pPr>
            <a:r>
              <a:rPr lang="en-US" sz="1300" dirty="0">
                <a:solidFill>
                  <a:srgbClr val="4C4C4D"/>
                </a:solidFill>
                <a:latin typeface="Heebo" pitchFamily="34" charset="0"/>
                <a:ea typeface="Heebo" pitchFamily="34" charset="-122"/>
                <a:cs typeface="Heebo" pitchFamily="34" charset="-120"/>
              </a:rPr>
              <a:t>Creates urgency (24-48 hour deadline)</a:t>
            </a:r>
            <a:endParaRPr lang="en-US" sz="1300" dirty="0"/>
          </a:p>
        </p:txBody>
      </p:sp>
      <p:sp>
        <p:nvSpPr>
          <p:cNvPr id="19" name="Shape 16"/>
          <p:cNvSpPr/>
          <p:nvPr/>
        </p:nvSpPr>
        <p:spPr>
          <a:xfrm>
            <a:off x="793790" y="5303639"/>
            <a:ext cx="6457593" cy="856298"/>
          </a:xfrm>
          <a:prstGeom prst="roundRect">
            <a:avLst>
              <a:gd name="adj" fmla="val 12814"/>
            </a:avLst>
          </a:prstGeom>
          <a:solidFill>
            <a:srgbClr val="FFFFFF"/>
          </a:solidFill>
          <a:ln/>
        </p:spPr>
      </p:sp>
      <p:sp>
        <p:nvSpPr>
          <p:cNvPr id="20" name="Shape 17"/>
          <p:cNvSpPr/>
          <p:nvPr/>
        </p:nvSpPr>
        <p:spPr>
          <a:xfrm>
            <a:off x="793790" y="5280779"/>
            <a:ext cx="6457593" cy="91440"/>
          </a:xfrm>
          <a:prstGeom prst="roundRect">
            <a:avLst>
              <a:gd name="adj" fmla="val 27907"/>
            </a:avLst>
          </a:prstGeom>
          <a:solidFill>
            <a:srgbClr val="FFDAB9"/>
          </a:solidFill>
          <a:ln/>
        </p:spPr>
      </p:sp>
      <p:sp>
        <p:nvSpPr>
          <p:cNvPr id="21" name="Shape 18"/>
          <p:cNvSpPr/>
          <p:nvPr/>
        </p:nvSpPr>
        <p:spPr>
          <a:xfrm>
            <a:off x="3767376" y="5048488"/>
            <a:ext cx="510302" cy="510302"/>
          </a:xfrm>
          <a:prstGeom prst="roundRect">
            <a:avLst>
              <a:gd name="adj" fmla="val 179188"/>
            </a:avLst>
          </a:prstGeom>
          <a:solidFill>
            <a:srgbClr val="FFDAB9"/>
          </a:solidFill>
          <a:ln/>
        </p:spPr>
      </p:sp>
      <p:sp>
        <p:nvSpPr>
          <p:cNvPr id="22" name="Text 19"/>
          <p:cNvSpPr/>
          <p:nvPr/>
        </p:nvSpPr>
        <p:spPr>
          <a:xfrm>
            <a:off x="3920490" y="5176004"/>
            <a:ext cx="204073" cy="255151"/>
          </a:xfrm>
          <a:prstGeom prst="rect">
            <a:avLst/>
          </a:prstGeom>
          <a:noFill/>
          <a:ln/>
        </p:spPr>
        <p:txBody>
          <a:bodyPr wrap="none" lIns="0" tIns="0" rIns="0" bIns="0" rtlCol="0" anchor="t"/>
          <a:lstStyle/>
          <a:p>
            <a:pPr marL="0" indent="0" algn="l">
              <a:lnSpc>
                <a:spcPts val="2250"/>
              </a:lnSpc>
              <a:buNone/>
            </a:pPr>
            <a:r>
              <a:rPr lang="en-US" sz="1600" dirty="0">
                <a:solidFill>
                  <a:srgbClr val="000000"/>
                </a:solidFill>
                <a:latin typeface="Crimson Pro Semi Bold" pitchFamily="34" charset="0"/>
                <a:ea typeface="Crimson Pro Semi Bold" pitchFamily="34" charset="-122"/>
                <a:cs typeface="Crimson Pro Semi Bold" pitchFamily="34" charset="-120"/>
              </a:rPr>
              <a:t>3</a:t>
            </a:r>
            <a:endParaRPr lang="en-US" sz="1600" dirty="0"/>
          </a:p>
        </p:txBody>
      </p:sp>
      <p:sp>
        <p:nvSpPr>
          <p:cNvPr id="23" name="Text 20"/>
          <p:cNvSpPr/>
          <p:nvPr/>
        </p:nvSpPr>
        <p:spPr>
          <a:xfrm>
            <a:off x="986671" y="5728930"/>
            <a:ext cx="6071830" cy="238125"/>
          </a:xfrm>
          <a:prstGeom prst="rect">
            <a:avLst/>
          </a:prstGeom>
          <a:noFill/>
          <a:ln/>
        </p:spPr>
        <p:txBody>
          <a:bodyPr wrap="none" lIns="0" tIns="0" rIns="0" bIns="0" rtlCol="0" anchor="t"/>
          <a:lstStyle/>
          <a:p>
            <a:pPr marL="0" indent="0" algn="l">
              <a:lnSpc>
                <a:spcPts val="1850"/>
              </a:lnSpc>
              <a:buNone/>
            </a:pPr>
            <a:r>
              <a:rPr lang="en-US" sz="1300" dirty="0">
                <a:solidFill>
                  <a:srgbClr val="4C4C4D"/>
                </a:solidFill>
                <a:latin typeface="Heebo" pitchFamily="34" charset="0"/>
                <a:ea typeface="Heebo" pitchFamily="34" charset="-122"/>
                <a:cs typeface="Heebo" pitchFamily="34" charset="-120"/>
              </a:rPr>
              <a:t>Link to fake login page</a:t>
            </a:r>
            <a:endParaRPr lang="en-US" sz="1300" dirty="0"/>
          </a:p>
        </p:txBody>
      </p:sp>
      <p:sp>
        <p:nvSpPr>
          <p:cNvPr id="24" name="Shape 21"/>
          <p:cNvSpPr/>
          <p:nvPr/>
        </p:nvSpPr>
        <p:spPr>
          <a:xfrm>
            <a:off x="7378898" y="5303639"/>
            <a:ext cx="6457712" cy="856298"/>
          </a:xfrm>
          <a:prstGeom prst="roundRect">
            <a:avLst>
              <a:gd name="adj" fmla="val 12814"/>
            </a:avLst>
          </a:prstGeom>
          <a:solidFill>
            <a:srgbClr val="FFFFFF"/>
          </a:solidFill>
          <a:ln/>
        </p:spPr>
      </p:sp>
      <p:sp>
        <p:nvSpPr>
          <p:cNvPr id="25" name="Shape 22"/>
          <p:cNvSpPr/>
          <p:nvPr/>
        </p:nvSpPr>
        <p:spPr>
          <a:xfrm>
            <a:off x="7378898" y="5280779"/>
            <a:ext cx="6457712" cy="91440"/>
          </a:xfrm>
          <a:prstGeom prst="roundRect">
            <a:avLst>
              <a:gd name="adj" fmla="val 27907"/>
            </a:avLst>
          </a:prstGeom>
          <a:solidFill>
            <a:srgbClr val="FFDAB9"/>
          </a:solidFill>
          <a:ln/>
        </p:spPr>
      </p:sp>
      <p:sp>
        <p:nvSpPr>
          <p:cNvPr id="26" name="Shape 23"/>
          <p:cNvSpPr/>
          <p:nvPr/>
        </p:nvSpPr>
        <p:spPr>
          <a:xfrm>
            <a:off x="10352603" y="5048488"/>
            <a:ext cx="510302" cy="510302"/>
          </a:xfrm>
          <a:prstGeom prst="roundRect">
            <a:avLst>
              <a:gd name="adj" fmla="val 179188"/>
            </a:avLst>
          </a:prstGeom>
          <a:solidFill>
            <a:srgbClr val="FFDAB9"/>
          </a:solidFill>
          <a:ln/>
        </p:spPr>
      </p:sp>
      <p:sp>
        <p:nvSpPr>
          <p:cNvPr id="27" name="Text 24"/>
          <p:cNvSpPr/>
          <p:nvPr/>
        </p:nvSpPr>
        <p:spPr>
          <a:xfrm>
            <a:off x="10505718" y="5176004"/>
            <a:ext cx="204073" cy="255151"/>
          </a:xfrm>
          <a:prstGeom prst="rect">
            <a:avLst/>
          </a:prstGeom>
          <a:noFill/>
          <a:ln/>
        </p:spPr>
        <p:txBody>
          <a:bodyPr wrap="none" lIns="0" tIns="0" rIns="0" bIns="0" rtlCol="0" anchor="t"/>
          <a:lstStyle/>
          <a:p>
            <a:pPr marL="0" indent="0" algn="l">
              <a:lnSpc>
                <a:spcPts val="2250"/>
              </a:lnSpc>
              <a:buNone/>
            </a:pPr>
            <a:r>
              <a:rPr lang="en-US" sz="1600" dirty="0">
                <a:solidFill>
                  <a:srgbClr val="000000"/>
                </a:solidFill>
                <a:latin typeface="Crimson Pro Semi Bold" pitchFamily="34" charset="0"/>
                <a:ea typeface="Crimson Pro Semi Bold" pitchFamily="34" charset="-122"/>
                <a:cs typeface="Crimson Pro Semi Bold" pitchFamily="34" charset="-120"/>
              </a:rPr>
              <a:t>4</a:t>
            </a:r>
            <a:endParaRPr lang="en-US" sz="1600" dirty="0"/>
          </a:p>
        </p:txBody>
      </p:sp>
      <p:sp>
        <p:nvSpPr>
          <p:cNvPr id="28" name="Text 25"/>
          <p:cNvSpPr/>
          <p:nvPr/>
        </p:nvSpPr>
        <p:spPr>
          <a:xfrm>
            <a:off x="7571780" y="5728930"/>
            <a:ext cx="6071949" cy="238125"/>
          </a:xfrm>
          <a:prstGeom prst="rect">
            <a:avLst/>
          </a:prstGeom>
          <a:noFill/>
          <a:ln/>
        </p:spPr>
        <p:txBody>
          <a:bodyPr wrap="none" lIns="0" tIns="0" rIns="0" bIns="0" rtlCol="0" anchor="t"/>
          <a:lstStyle/>
          <a:p>
            <a:pPr marL="0" indent="0" algn="l">
              <a:lnSpc>
                <a:spcPts val="1850"/>
              </a:lnSpc>
              <a:buNone/>
            </a:pPr>
            <a:r>
              <a:rPr lang="en-US" sz="1300" dirty="0">
                <a:solidFill>
                  <a:srgbClr val="4C4C4D"/>
                </a:solidFill>
                <a:latin typeface="Heebo" pitchFamily="34" charset="0"/>
                <a:ea typeface="Heebo" pitchFamily="34" charset="-122"/>
                <a:cs typeface="Heebo" pitchFamily="34" charset="-120"/>
              </a:rPr>
              <a:t>Credentials captured</a:t>
            </a:r>
            <a:endParaRPr lang="en-US" sz="1300" dirty="0"/>
          </a:p>
        </p:txBody>
      </p:sp>
      <p:sp>
        <p:nvSpPr>
          <p:cNvPr id="29" name="Shape 26"/>
          <p:cNvSpPr/>
          <p:nvPr/>
        </p:nvSpPr>
        <p:spPr>
          <a:xfrm>
            <a:off x="793790" y="6542603"/>
            <a:ext cx="6457593" cy="856298"/>
          </a:xfrm>
          <a:prstGeom prst="roundRect">
            <a:avLst>
              <a:gd name="adj" fmla="val 12814"/>
            </a:avLst>
          </a:prstGeom>
          <a:solidFill>
            <a:srgbClr val="FFFFFF"/>
          </a:solidFill>
          <a:ln/>
        </p:spPr>
      </p:sp>
      <p:sp>
        <p:nvSpPr>
          <p:cNvPr id="30" name="Shape 27"/>
          <p:cNvSpPr/>
          <p:nvPr/>
        </p:nvSpPr>
        <p:spPr>
          <a:xfrm>
            <a:off x="793790" y="6519743"/>
            <a:ext cx="6457593" cy="91440"/>
          </a:xfrm>
          <a:prstGeom prst="roundRect">
            <a:avLst>
              <a:gd name="adj" fmla="val 27907"/>
            </a:avLst>
          </a:prstGeom>
          <a:solidFill>
            <a:srgbClr val="FFDAB9"/>
          </a:solidFill>
          <a:ln/>
        </p:spPr>
      </p:sp>
      <p:sp>
        <p:nvSpPr>
          <p:cNvPr id="31" name="Shape 28"/>
          <p:cNvSpPr/>
          <p:nvPr/>
        </p:nvSpPr>
        <p:spPr>
          <a:xfrm>
            <a:off x="3767376" y="6287453"/>
            <a:ext cx="510302" cy="510302"/>
          </a:xfrm>
          <a:prstGeom prst="roundRect">
            <a:avLst>
              <a:gd name="adj" fmla="val 179188"/>
            </a:avLst>
          </a:prstGeom>
          <a:solidFill>
            <a:srgbClr val="FFDAB9"/>
          </a:solidFill>
          <a:ln/>
        </p:spPr>
      </p:sp>
      <p:sp>
        <p:nvSpPr>
          <p:cNvPr id="32" name="Text 29"/>
          <p:cNvSpPr/>
          <p:nvPr/>
        </p:nvSpPr>
        <p:spPr>
          <a:xfrm>
            <a:off x="3920490" y="6414968"/>
            <a:ext cx="204073" cy="255151"/>
          </a:xfrm>
          <a:prstGeom prst="rect">
            <a:avLst/>
          </a:prstGeom>
          <a:noFill/>
          <a:ln/>
        </p:spPr>
        <p:txBody>
          <a:bodyPr wrap="none" lIns="0" tIns="0" rIns="0" bIns="0" rtlCol="0" anchor="t"/>
          <a:lstStyle/>
          <a:p>
            <a:pPr marL="0" indent="0" algn="l">
              <a:lnSpc>
                <a:spcPts val="2250"/>
              </a:lnSpc>
              <a:buNone/>
            </a:pPr>
            <a:r>
              <a:rPr lang="en-US" sz="1600" dirty="0">
                <a:solidFill>
                  <a:srgbClr val="000000"/>
                </a:solidFill>
                <a:latin typeface="Crimson Pro Semi Bold" pitchFamily="34" charset="0"/>
                <a:ea typeface="Crimson Pro Semi Bold" pitchFamily="34" charset="-122"/>
                <a:cs typeface="Crimson Pro Semi Bold" pitchFamily="34" charset="-120"/>
              </a:rPr>
              <a:t>5</a:t>
            </a:r>
            <a:endParaRPr lang="en-US" sz="1600" dirty="0"/>
          </a:p>
        </p:txBody>
      </p:sp>
      <p:sp>
        <p:nvSpPr>
          <p:cNvPr id="33" name="Text 30"/>
          <p:cNvSpPr/>
          <p:nvPr/>
        </p:nvSpPr>
        <p:spPr>
          <a:xfrm>
            <a:off x="986671" y="6967895"/>
            <a:ext cx="6071830" cy="238125"/>
          </a:xfrm>
          <a:prstGeom prst="rect">
            <a:avLst/>
          </a:prstGeom>
          <a:noFill/>
          <a:ln/>
        </p:spPr>
        <p:txBody>
          <a:bodyPr wrap="none" lIns="0" tIns="0" rIns="0" bIns="0" rtlCol="0" anchor="t"/>
          <a:lstStyle/>
          <a:p>
            <a:pPr marL="0" indent="0" algn="l">
              <a:lnSpc>
                <a:spcPts val="1850"/>
              </a:lnSpc>
              <a:buNone/>
            </a:pPr>
            <a:r>
              <a:rPr lang="en-US" sz="1300" dirty="0">
                <a:solidFill>
                  <a:srgbClr val="4C4C4D"/>
                </a:solidFill>
                <a:latin typeface="Heebo" pitchFamily="34" charset="0"/>
                <a:ea typeface="Heebo" pitchFamily="34" charset="-122"/>
                <a:cs typeface="Heebo" pitchFamily="34" charset="-120"/>
              </a:rPr>
              <a:t>Victim redirected to real site</a:t>
            </a:r>
            <a:endParaRPr lang="en-US" sz="1300" dirty="0"/>
          </a:p>
        </p:txBody>
      </p:sp>
      <p:sp>
        <p:nvSpPr>
          <p:cNvPr id="34" name="Shape 31"/>
          <p:cNvSpPr/>
          <p:nvPr/>
        </p:nvSpPr>
        <p:spPr>
          <a:xfrm>
            <a:off x="7378898" y="6542603"/>
            <a:ext cx="6457712" cy="856298"/>
          </a:xfrm>
          <a:prstGeom prst="roundRect">
            <a:avLst>
              <a:gd name="adj" fmla="val 12814"/>
            </a:avLst>
          </a:prstGeom>
          <a:solidFill>
            <a:srgbClr val="FFFFFF"/>
          </a:solidFill>
          <a:ln/>
        </p:spPr>
      </p:sp>
      <p:sp>
        <p:nvSpPr>
          <p:cNvPr id="35" name="Shape 32"/>
          <p:cNvSpPr/>
          <p:nvPr/>
        </p:nvSpPr>
        <p:spPr>
          <a:xfrm>
            <a:off x="7378898" y="6519743"/>
            <a:ext cx="6457712" cy="91440"/>
          </a:xfrm>
          <a:prstGeom prst="roundRect">
            <a:avLst>
              <a:gd name="adj" fmla="val 27907"/>
            </a:avLst>
          </a:prstGeom>
          <a:solidFill>
            <a:srgbClr val="FFDAB9"/>
          </a:solidFill>
          <a:ln/>
        </p:spPr>
      </p:sp>
      <p:sp>
        <p:nvSpPr>
          <p:cNvPr id="36" name="Shape 33"/>
          <p:cNvSpPr/>
          <p:nvPr/>
        </p:nvSpPr>
        <p:spPr>
          <a:xfrm>
            <a:off x="10352603" y="6287453"/>
            <a:ext cx="510302" cy="510302"/>
          </a:xfrm>
          <a:prstGeom prst="roundRect">
            <a:avLst>
              <a:gd name="adj" fmla="val 179188"/>
            </a:avLst>
          </a:prstGeom>
          <a:solidFill>
            <a:srgbClr val="FFDAB9"/>
          </a:solidFill>
          <a:ln/>
        </p:spPr>
      </p:sp>
      <p:sp>
        <p:nvSpPr>
          <p:cNvPr id="37" name="Text 34"/>
          <p:cNvSpPr/>
          <p:nvPr/>
        </p:nvSpPr>
        <p:spPr>
          <a:xfrm>
            <a:off x="10505718" y="6414968"/>
            <a:ext cx="204073" cy="255151"/>
          </a:xfrm>
          <a:prstGeom prst="rect">
            <a:avLst/>
          </a:prstGeom>
          <a:noFill/>
          <a:ln/>
        </p:spPr>
        <p:txBody>
          <a:bodyPr wrap="none" lIns="0" tIns="0" rIns="0" bIns="0" rtlCol="0" anchor="t"/>
          <a:lstStyle/>
          <a:p>
            <a:pPr marL="0" indent="0" algn="l">
              <a:lnSpc>
                <a:spcPts val="2250"/>
              </a:lnSpc>
              <a:buNone/>
            </a:pPr>
            <a:r>
              <a:rPr lang="en-US" sz="1600" dirty="0">
                <a:solidFill>
                  <a:srgbClr val="000000"/>
                </a:solidFill>
                <a:latin typeface="Crimson Pro Semi Bold" pitchFamily="34" charset="0"/>
                <a:ea typeface="Crimson Pro Semi Bold" pitchFamily="34" charset="-122"/>
                <a:cs typeface="Crimson Pro Semi Bold" pitchFamily="34" charset="-120"/>
              </a:rPr>
              <a:t>6</a:t>
            </a:r>
            <a:endParaRPr lang="en-US" sz="1600" dirty="0"/>
          </a:p>
        </p:txBody>
      </p:sp>
      <p:sp>
        <p:nvSpPr>
          <p:cNvPr id="38" name="Text 35"/>
          <p:cNvSpPr/>
          <p:nvPr/>
        </p:nvSpPr>
        <p:spPr>
          <a:xfrm>
            <a:off x="7571780" y="6967895"/>
            <a:ext cx="6071949" cy="238125"/>
          </a:xfrm>
          <a:prstGeom prst="rect">
            <a:avLst/>
          </a:prstGeom>
          <a:noFill/>
          <a:ln/>
        </p:spPr>
        <p:txBody>
          <a:bodyPr wrap="none" lIns="0" tIns="0" rIns="0" bIns="0" rtlCol="0" anchor="t"/>
          <a:lstStyle/>
          <a:p>
            <a:pPr marL="0" indent="0" algn="l">
              <a:lnSpc>
                <a:spcPts val="1850"/>
              </a:lnSpc>
              <a:buNone/>
            </a:pPr>
            <a:r>
              <a:rPr lang="en-US" sz="1300" dirty="0">
                <a:solidFill>
                  <a:srgbClr val="4C4C4D"/>
                </a:solidFill>
                <a:latin typeface="Heebo" pitchFamily="34" charset="0"/>
                <a:ea typeface="Heebo" pitchFamily="34" charset="-122"/>
                <a:cs typeface="Heebo" pitchFamily="34" charset="-120"/>
              </a:rPr>
              <a:t>Victim unaware of compromise</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793790" y="830937"/>
            <a:ext cx="5841206" cy="566976"/>
          </a:xfrm>
          <a:prstGeom prst="rect">
            <a:avLst/>
          </a:prstGeom>
          <a:noFill/>
          <a:ln/>
        </p:spPr>
        <p:txBody>
          <a:bodyPr wrap="none" lIns="0" tIns="0" rIns="0" bIns="0" rtlCol="0" anchor="t"/>
          <a:lstStyle/>
          <a:p>
            <a:pPr marL="0" indent="0" algn="l">
              <a:lnSpc>
                <a:spcPts val="4450"/>
              </a:lnSpc>
              <a:buNone/>
            </a:pPr>
            <a:r>
              <a:rPr lang="en-US" sz="3550" dirty="0">
                <a:solidFill>
                  <a:srgbClr val="152D47"/>
                </a:solidFill>
                <a:latin typeface="Crimson Pro Semi Bold" pitchFamily="34" charset="0"/>
                <a:ea typeface="Crimson Pro Semi Bold" pitchFamily="34" charset="-122"/>
                <a:cs typeface="Crimson Pro Semi Bold" pitchFamily="34" charset="-120"/>
              </a:rPr>
              <a:t>Phishing Detection Techniques</a:t>
            </a:r>
            <a:endParaRPr lang="en-US" sz="3550" dirty="0"/>
          </a:p>
        </p:txBody>
      </p:sp>
      <p:sp>
        <p:nvSpPr>
          <p:cNvPr id="3" name="Text 1"/>
          <p:cNvSpPr/>
          <p:nvPr/>
        </p:nvSpPr>
        <p:spPr>
          <a:xfrm>
            <a:off x="793790" y="1615559"/>
            <a:ext cx="13042821" cy="522446"/>
          </a:xfrm>
          <a:prstGeom prst="rect">
            <a:avLst/>
          </a:prstGeom>
          <a:noFill/>
          <a:ln/>
        </p:spPr>
        <p:txBody>
          <a:bodyPr wrap="square" lIns="0" tIns="0" rIns="0" bIns="0" rtlCol="0" anchor="t"/>
          <a:lstStyle/>
          <a:p>
            <a:pPr marL="0" indent="0" algn="l">
              <a:lnSpc>
                <a:spcPts val="2050"/>
              </a:lnSpc>
              <a:buNone/>
            </a:pPr>
            <a:r>
              <a:rPr lang="en-US" sz="1400" dirty="0">
                <a:solidFill>
                  <a:srgbClr val="4C4C4D"/>
                </a:solidFill>
                <a:latin typeface="Heebo" pitchFamily="34" charset="0"/>
                <a:ea typeface="Heebo" pitchFamily="34" charset="-122"/>
                <a:cs typeface="Heebo" pitchFamily="34" charset="-120"/>
              </a:rPr>
              <a:t>Effective identification of phishing attempts relies on analyzing multiple email and URL characteristics. By scrutinizing these key indicators, organizations can significantly enhance their defenses against malicious campaigns.</a:t>
            </a:r>
            <a:endParaRPr lang="en-US" sz="1400" dirty="0"/>
          </a:p>
        </p:txBody>
      </p:sp>
      <p:sp>
        <p:nvSpPr>
          <p:cNvPr id="4" name="Shape 2"/>
          <p:cNvSpPr/>
          <p:nvPr/>
        </p:nvSpPr>
        <p:spPr>
          <a:xfrm>
            <a:off x="793790" y="2573417"/>
            <a:ext cx="4250769" cy="2595801"/>
          </a:xfrm>
          <a:prstGeom prst="roundRect">
            <a:avLst>
              <a:gd name="adj" fmla="val 4227"/>
            </a:avLst>
          </a:prstGeom>
          <a:solidFill>
            <a:srgbClr val="FFFFFF"/>
          </a:solidFill>
          <a:ln/>
        </p:spPr>
      </p:sp>
      <p:sp>
        <p:nvSpPr>
          <p:cNvPr id="5" name="Shape 3"/>
          <p:cNvSpPr/>
          <p:nvPr/>
        </p:nvSpPr>
        <p:spPr>
          <a:xfrm>
            <a:off x="793790" y="2550557"/>
            <a:ext cx="4250769" cy="91440"/>
          </a:xfrm>
          <a:prstGeom prst="roundRect">
            <a:avLst>
              <a:gd name="adj" fmla="val 29767"/>
            </a:avLst>
          </a:prstGeom>
          <a:solidFill>
            <a:srgbClr val="FAD0C4"/>
          </a:solidFill>
          <a:ln/>
        </p:spPr>
      </p:sp>
      <p:sp>
        <p:nvSpPr>
          <p:cNvPr id="6" name="Shape 4"/>
          <p:cNvSpPr/>
          <p:nvPr/>
        </p:nvSpPr>
        <p:spPr>
          <a:xfrm>
            <a:off x="2646998" y="2301240"/>
            <a:ext cx="544354" cy="544354"/>
          </a:xfrm>
          <a:prstGeom prst="roundRect">
            <a:avLst>
              <a:gd name="adj" fmla="val 167979"/>
            </a:avLst>
          </a:prstGeom>
          <a:solidFill>
            <a:srgbClr val="FAD0C4"/>
          </a:solidFill>
          <a:ln/>
        </p:spPr>
      </p:sp>
      <p:pic>
        <p:nvPicPr>
          <p:cNvPr id="7"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810351" y="2464594"/>
            <a:ext cx="217646" cy="217646"/>
          </a:xfrm>
          <a:prstGeom prst="rect">
            <a:avLst/>
          </a:prstGeom>
        </p:spPr>
      </p:pic>
      <p:sp>
        <p:nvSpPr>
          <p:cNvPr id="8" name="Text 5"/>
          <p:cNvSpPr/>
          <p:nvPr/>
        </p:nvSpPr>
        <p:spPr>
          <a:xfrm>
            <a:off x="998101" y="3027045"/>
            <a:ext cx="2672358" cy="283488"/>
          </a:xfrm>
          <a:prstGeom prst="rect">
            <a:avLst/>
          </a:prstGeom>
          <a:noFill/>
          <a:ln/>
        </p:spPr>
        <p:txBody>
          <a:bodyPr wrap="none" lIns="0" tIns="0" rIns="0" bIns="0" rtlCol="0" anchor="t"/>
          <a:lstStyle/>
          <a:p>
            <a:pPr marL="0" indent="0" algn="l">
              <a:lnSpc>
                <a:spcPts val="2200"/>
              </a:lnSpc>
              <a:buNone/>
            </a:pPr>
            <a:r>
              <a:rPr lang="en-US" sz="1750" dirty="0">
                <a:solidFill>
                  <a:srgbClr val="4C4C4D"/>
                </a:solidFill>
                <a:latin typeface="Crimson Pro Semi Bold" pitchFamily="34" charset="0"/>
                <a:ea typeface="Crimson Pro Semi Bold" pitchFamily="34" charset="-122"/>
                <a:cs typeface="Crimson Pro Semi Bold" pitchFamily="34" charset="-120"/>
              </a:rPr>
              <a:t>Reply-To vs. From Mismatch</a:t>
            </a:r>
            <a:endParaRPr lang="en-US" sz="1750" dirty="0"/>
          </a:p>
        </p:txBody>
      </p:sp>
      <p:sp>
        <p:nvSpPr>
          <p:cNvPr id="9" name="Text 6"/>
          <p:cNvSpPr/>
          <p:nvPr/>
        </p:nvSpPr>
        <p:spPr>
          <a:xfrm>
            <a:off x="998101" y="3397568"/>
            <a:ext cx="3842147" cy="1044893"/>
          </a:xfrm>
          <a:prstGeom prst="rect">
            <a:avLst/>
          </a:prstGeom>
          <a:noFill/>
          <a:ln/>
        </p:spPr>
        <p:txBody>
          <a:bodyPr wrap="square" lIns="0" tIns="0" rIns="0" bIns="0" rtlCol="0" anchor="t"/>
          <a:lstStyle/>
          <a:p>
            <a:pPr marL="0" indent="0" algn="l">
              <a:lnSpc>
                <a:spcPts val="2050"/>
              </a:lnSpc>
              <a:buNone/>
            </a:pPr>
            <a:r>
              <a:rPr lang="en-US" sz="1400" dirty="0">
                <a:solidFill>
                  <a:srgbClr val="4C4C4D"/>
                </a:solidFill>
                <a:latin typeface="Heebo" pitchFamily="34" charset="0"/>
                <a:ea typeface="Heebo" pitchFamily="34" charset="-122"/>
                <a:cs typeface="Heebo" pitchFamily="34" charset="-120"/>
              </a:rPr>
              <a:t>Detect discrepancies where the 'Reply-To' address differs from the 'From' address, a common tactic used by phishers to redirect responses.</a:t>
            </a:r>
            <a:endParaRPr lang="en-US" sz="1400" dirty="0"/>
          </a:p>
        </p:txBody>
      </p:sp>
      <p:sp>
        <p:nvSpPr>
          <p:cNvPr id="10" name="Shape 7"/>
          <p:cNvSpPr/>
          <p:nvPr/>
        </p:nvSpPr>
        <p:spPr>
          <a:xfrm>
            <a:off x="5189696" y="2573417"/>
            <a:ext cx="4250888" cy="2595801"/>
          </a:xfrm>
          <a:prstGeom prst="roundRect">
            <a:avLst>
              <a:gd name="adj" fmla="val 4227"/>
            </a:avLst>
          </a:prstGeom>
          <a:solidFill>
            <a:srgbClr val="FFFFFF"/>
          </a:solidFill>
          <a:ln/>
        </p:spPr>
      </p:sp>
      <p:sp>
        <p:nvSpPr>
          <p:cNvPr id="11" name="Shape 8"/>
          <p:cNvSpPr/>
          <p:nvPr/>
        </p:nvSpPr>
        <p:spPr>
          <a:xfrm>
            <a:off x="5189696" y="2550557"/>
            <a:ext cx="4250888" cy="91440"/>
          </a:xfrm>
          <a:prstGeom prst="roundRect">
            <a:avLst>
              <a:gd name="adj" fmla="val 29767"/>
            </a:avLst>
          </a:prstGeom>
          <a:solidFill>
            <a:srgbClr val="FAD0C4"/>
          </a:solidFill>
          <a:ln/>
        </p:spPr>
      </p:sp>
      <p:sp>
        <p:nvSpPr>
          <p:cNvPr id="12" name="Shape 9"/>
          <p:cNvSpPr/>
          <p:nvPr/>
        </p:nvSpPr>
        <p:spPr>
          <a:xfrm>
            <a:off x="7042904" y="2301240"/>
            <a:ext cx="544354" cy="544354"/>
          </a:xfrm>
          <a:prstGeom prst="roundRect">
            <a:avLst>
              <a:gd name="adj" fmla="val 167979"/>
            </a:avLst>
          </a:prstGeom>
          <a:solidFill>
            <a:srgbClr val="FAD0C4"/>
          </a:solidFill>
          <a:ln/>
        </p:spPr>
      </p:sp>
      <p:pic>
        <p:nvPicPr>
          <p:cNvPr id="13"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206258" y="2464594"/>
            <a:ext cx="217646" cy="217646"/>
          </a:xfrm>
          <a:prstGeom prst="rect">
            <a:avLst/>
          </a:prstGeom>
        </p:spPr>
      </p:pic>
      <p:sp>
        <p:nvSpPr>
          <p:cNvPr id="14" name="Text 10"/>
          <p:cNvSpPr/>
          <p:nvPr/>
        </p:nvSpPr>
        <p:spPr>
          <a:xfrm>
            <a:off x="5394008" y="3027045"/>
            <a:ext cx="2523768" cy="283488"/>
          </a:xfrm>
          <a:prstGeom prst="rect">
            <a:avLst/>
          </a:prstGeom>
          <a:noFill/>
          <a:ln/>
        </p:spPr>
        <p:txBody>
          <a:bodyPr wrap="none" lIns="0" tIns="0" rIns="0" bIns="0" rtlCol="0" anchor="t"/>
          <a:lstStyle/>
          <a:p>
            <a:pPr marL="0" indent="0" algn="l">
              <a:lnSpc>
                <a:spcPts val="2200"/>
              </a:lnSpc>
              <a:buNone/>
            </a:pPr>
            <a:r>
              <a:rPr lang="en-US" sz="1750" dirty="0">
                <a:solidFill>
                  <a:srgbClr val="4C4C4D"/>
                </a:solidFill>
                <a:latin typeface="Crimson Pro Semi Bold" pitchFamily="34" charset="0"/>
                <a:ea typeface="Crimson Pro Semi Bold" pitchFamily="34" charset="-122"/>
                <a:cs typeface="Crimson Pro Semi Bold" pitchFamily="34" charset="-120"/>
              </a:rPr>
              <a:t>SPF/DKIM/DMARC Checks</a:t>
            </a:r>
            <a:endParaRPr lang="en-US" sz="1750" dirty="0"/>
          </a:p>
        </p:txBody>
      </p:sp>
      <p:sp>
        <p:nvSpPr>
          <p:cNvPr id="15" name="Text 11"/>
          <p:cNvSpPr/>
          <p:nvPr/>
        </p:nvSpPr>
        <p:spPr>
          <a:xfrm>
            <a:off x="5394008" y="3397568"/>
            <a:ext cx="3842266" cy="1567339"/>
          </a:xfrm>
          <a:prstGeom prst="rect">
            <a:avLst/>
          </a:prstGeom>
          <a:noFill/>
          <a:ln/>
        </p:spPr>
        <p:txBody>
          <a:bodyPr wrap="square" lIns="0" tIns="0" rIns="0" bIns="0" rtlCol="0" anchor="t"/>
          <a:lstStyle/>
          <a:p>
            <a:pPr marL="0" indent="0" algn="l">
              <a:lnSpc>
                <a:spcPts val="2050"/>
              </a:lnSpc>
              <a:buNone/>
            </a:pPr>
            <a:r>
              <a:rPr lang="en-US" sz="1400" dirty="0">
                <a:solidFill>
                  <a:srgbClr val="4C4C4D"/>
                </a:solidFill>
                <a:latin typeface="Heebo" pitchFamily="34" charset="0"/>
                <a:ea typeface="Heebo" pitchFamily="34" charset="-122"/>
                <a:cs typeface="Heebo" pitchFamily="34" charset="-120"/>
              </a:rPr>
              <a:t>Verify email authentication protocols. Failure in SPF (Sender Policy Framework), DKIM (DomainKeys Identified Mail), or DMARC (Domain-based Message Authentication, Reporting &amp; Conformance) indicates potential spoofing.</a:t>
            </a:r>
            <a:endParaRPr lang="en-US" sz="1400" dirty="0"/>
          </a:p>
        </p:txBody>
      </p:sp>
      <p:sp>
        <p:nvSpPr>
          <p:cNvPr id="16" name="Shape 12"/>
          <p:cNvSpPr/>
          <p:nvPr/>
        </p:nvSpPr>
        <p:spPr>
          <a:xfrm>
            <a:off x="9585722" y="2573417"/>
            <a:ext cx="4250888" cy="2595801"/>
          </a:xfrm>
          <a:prstGeom prst="roundRect">
            <a:avLst>
              <a:gd name="adj" fmla="val 4227"/>
            </a:avLst>
          </a:prstGeom>
          <a:solidFill>
            <a:srgbClr val="FFFFFF"/>
          </a:solidFill>
          <a:ln/>
        </p:spPr>
      </p:sp>
      <p:sp>
        <p:nvSpPr>
          <p:cNvPr id="17" name="Shape 13"/>
          <p:cNvSpPr/>
          <p:nvPr/>
        </p:nvSpPr>
        <p:spPr>
          <a:xfrm>
            <a:off x="9585722" y="2550557"/>
            <a:ext cx="4250888" cy="91440"/>
          </a:xfrm>
          <a:prstGeom prst="roundRect">
            <a:avLst>
              <a:gd name="adj" fmla="val 29767"/>
            </a:avLst>
          </a:prstGeom>
          <a:solidFill>
            <a:srgbClr val="FAD0C4"/>
          </a:solidFill>
          <a:ln/>
        </p:spPr>
      </p:sp>
      <p:sp>
        <p:nvSpPr>
          <p:cNvPr id="18" name="Shape 14"/>
          <p:cNvSpPr/>
          <p:nvPr/>
        </p:nvSpPr>
        <p:spPr>
          <a:xfrm>
            <a:off x="11438930" y="2301240"/>
            <a:ext cx="544354" cy="544354"/>
          </a:xfrm>
          <a:prstGeom prst="roundRect">
            <a:avLst>
              <a:gd name="adj" fmla="val 167979"/>
            </a:avLst>
          </a:prstGeom>
          <a:solidFill>
            <a:srgbClr val="FAD0C4"/>
          </a:solidFill>
          <a:ln/>
        </p:spPr>
      </p:sp>
      <p:pic>
        <p:nvPicPr>
          <p:cNvPr id="19"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602283" y="2464594"/>
            <a:ext cx="217646" cy="217646"/>
          </a:xfrm>
          <a:prstGeom prst="rect">
            <a:avLst/>
          </a:prstGeom>
        </p:spPr>
      </p:pic>
      <p:sp>
        <p:nvSpPr>
          <p:cNvPr id="20" name="Text 15"/>
          <p:cNvSpPr/>
          <p:nvPr/>
        </p:nvSpPr>
        <p:spPr>
          <a:xfrm>
            <a:off x="9790033" y="3027045"/>
            <a:ext cx="2419350" cy="283488"/>
          </a:xfrm>
          <a:prstGeom prst="rect">
            <a:avLst/>
          </a:prstGeom>
          <a:noFill/>
          <a:ln/>
        </p:spPr>
        <p:txBody>
          <a:bodyPr wrap="none" lIns="0" tIns="0" rIns="0" bIns="0" rtlCol="0" anchor="t"/>
          <a:lstStyle/>
          <a:p>
            <a:pPr marL="0" indent="0" algn="l">
              <a:lnSpc>
                <a:spcPts val="2200"/>
              </a:lnSpc>
              <a:buNone/>
            </a:pPr>
            <a:r>
              <a:rPr lang="en-US" sz="1750" dirty="0">
                <a:solidFill>
                  <a:srgbClr val="4C4C4D"/>
                </a:solidFill>
                <a:latin typeface="Crimson Pro Semi Bold" pitchFamily="34" charset="0"/>
                <a:ea typeface="Crimson Pro Semi Bold" pitchFamily="34" charset="-122"/>
                <a:cs typeface="Crimson Pro Semi Bold" pitchFamily="34" charset="-120"/>
              </a:rPr>
              <a:t>Suspicious URL Detection</a:t>
            </a:r>
            <a:endParaRPr lang="en-US" sz="1750" dirty="0"/>
          </a:p>
        </p:txBody>
      </p:sp>
      <p:sp>
        <p:nvSpPr>
          <p:cNvPr id="21" name="Text 16"/>
          <p:cNvSpPr/>
          <p:nvPr/>
        </p:nvSpPr>
        <p:spPr>
          <a:xfrm>
            <a:off x="9790033" y="3397568"/>
            <a:ext cx="3842266" cy="1306116"/>
          </a:xfrm>
          <a:prstGeom prst="rect">
            <a:avLst/>
          </a:prstGeom>
          <a:noFill/>
          <a:ln/>
        </p:spPr>
        <p:txBody>
          <a:bodyPr wrap="square" lIns="0" tIns="0" rIns="0" bIns="0" rtlCol="0" anchor="t"/>
          <a:lstStyle/>
          <a:p>
            <a:pPr marL="0" indent="0" algn="l">
              <a:lnSpc>
                <a:spcPts val="2050"/>
              </a:lnSpc>
              <a:buNone/>
            </a:pPr>
            <a:r>
              <a:rPr lang="en-US" sz="1400" dirty="0">
                <a:solidFill>
                  <a:srgbClr val="4C4C4D"/>
                </a:solidFill>
                <a:latin typeface="Heebo" pitchFamily="34" charset="0"/>
                <a:ea typeface="Heebo" pitchFamily="34" charset="-122"/>
                <a:cs typeface="Heebo" pitchFamily="34" charset="-120"/>
              </a:rPr>
              <a:t>Scan for unusual URL structures, including the use of IP addresses instead of domain names, excessive subdomains, or the presence of suspicious Top-Level Domains (TLDs) like .xyz or .top.</a:t>
            </a:r>
            <a:endParaRPr lang="en-US" sz="1400" dirty="0"/>
          </a:p>
        </p:txBody>
      </p:sp>
      <p:sp>
        <p:nvSpPr>
          <p:cNvPr id="22" name="Shape 17"/>
          <p:cNvSpPr/>
          <p:nvPr/>
        </p:nvSpPr>
        <p:spPr>
          <a:xfrm>
            <a:off x="793790" y="5586532"/>
            <a:ext cx="6448782" cy="1812131"/>
          </a:xfrm>
          <a:prstGeom prst="roundRect">
            <a:avLst>
              <a:gd name="adj" fmla="val 6055"/>
            </a:avLst>
          </a:prstGeom>
          <a:solidFill>
            <a:srgbClr val="FFFFFF"/>
          </a:solidFill>
          <a:ln/>
        </p:spPr>
      </p:sp>
      <p:sp>
        <p:nvSpPr>
          <p:cNvPr id="23" name="Shape 18"/>
          <p:cNvSpPr/>
          <p:nvPr/>
        </p:nvSpPr>
        <p:spPr>
          <a:xfrm>
            <a:off x="793790" y="5563672"/>
            <a:ext cx="6448782" cy="91440"/>
          </a:xfrm>
          <a:prstGeom prst="roundRect">
            <a:avLst>
              <a:gd name="adj" fmla="val 29767"/>
            </a:avLst>
          </a:prstGeom>
          <a:solidFill>
            <a:srgbClr val="FAD0C4"/>
          </a:solidFill>
          <a:ln/>
        </p:spPr>
      </p:sp>
      <p:sp>
        <p:nvSpPr>
          <p:cNvPr id="24" name="Shape 19"/>
          <p:cNvSpPr/>
          <p:nvPr/>
        </p:nvSpPr>
        <p:spPr>
          <a:xfrm>
            <a:off x="3745944" y="5314355"/>
            <a:ext cx="544354" cy="544354"/>
          </a:xfrm>
          <a:prstGeom prst="roundRect">
            <a:avLst>
              <a:gd name="adj" fmla="val 167979"/>
            </a:avLst>
          </a:prstGeom>
          <a:solidFill>
            <a:srgbClr val="FAD0C4"/>
          </a:solidFill>
          <a:ln/>
        </p:spPr>
      </p:sp>
      <p:pic>
        <p:nvPicPr>
          <p:cNvPr id="25"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909298" y="5477708"/>
            <a:ext cx="217646" cy="217646"/>
          </a:xfrm>
          <a:prstGeom prst="rect">
            <a:avLst/>
          </a:prstGeom>
        </p:spPr>
      </p:pic>
      <p:sp>
        <p:nvSpPr>
          <p:cNvPr id="26" name="Text 20"/>
          <p:cNvSpPr/>
          <p:nvPr/>
        </p:nvSpPr>
        <p:spPr>
          <a:xfrm>
            <a:off x="998101" y="6040160"/>
            <a:ext cx="2268260" cy="283488"/>
          </a:xfrm>
          <a:prstGeom prst="rect">
            <a:avLst/>
          </a:prstGeom>
          <a:noFill/>
          <a:ln/>
        </p:spPr>
        <p:txBody>
          <a:bodyPr wrap="none" lIns="0" tIns="0" rIns="0" bIns="0" rtlCol="0" anchor="t"/>
          <a:lstStyle/>
          <a:p>
            <a:pPr marL="0" indent="0" algn="l">
              <a:lnSpc>
                <a:spcPts val="2200"/>
              </a:lnSpc>
              <a:buNone/>
            </a:pPr>
            <a:r>
              <a:rPr lang="en-US" sz="1750" dirty="0">
                <a:solidFill>
                  <a:srgbClr val="4C4C4D"/>
                </a:solidFill>
                <a:latin typeface="Crimson Pro Semi Bold" pitchFamily="34" charset="0"/>
                <a:ea typeface="Crimson Pro Semi Bold" pitchFamily="34" charset="-122"/>
                <a:cs typeface="Crimson Pro Semi Bold" pitchFamily="34" charset="-120"/>
              </a:rPr>
              <a:t>Urgency Keywords</a:t>
            </a:r>
            <a:endParaRPr lang="en-US" sz="1750" dirty="0"/>
          </a:p>
        </p:txBody>
      </p:sp>
      <p:sp>
        <p:nvSpPr>
          <p:cNvPr id="27" name="Text 21"/>
          <p:cNvSpPr/>
          <p:nvPr/>
        </p:nvSpPr>
        <p:spPr>
          <a:xfrm>
            <a:off x="998101" y="6410682"/>
            <a:ext cx="6040160" cy="783669"/>
          </a:xfrm>
          <a:prstGeom prst="rect">
            <a:avLst/>
          </a:prstGeom>
          <a:noFill/>
          <a:ln/>
        </p:spPr>
        <p:txBody>
          <a:bodyPr wrap="square" lIns="0" tIns="0" rIns="0" bIns="0" rtlCol="0" anchor="t"/>
          <a:lstStyle/>
          <a:p>
            <a:pPr marL="0" indent="0" algn="l">
              <a:lnSpc>
                <a:spcPts val="2050"/>
              </a:lnSpc>
              <a:buNone/>
            </a:pPr>
            <a:r>
              <a:rPr lang="en-US" sz="1400" dirty="0">
                <a:solidFill>
                  <a:srgbClr val="4C4C4D"/>
                </a:solidFill>
                <a:latin typeface="Heebo" pitchFamily="34" charset="0"/>
                <a:ea typeface="Heebo" pitchFamily="34" charset="-122"/>
                <a:cs typeface="Heebo" pitchFamily="34" charset="-120"/>
              </a:rPr>
              <a:t>Identify phrases in subject lines or body text that create a false sense of urgency or threat, such as "URGENT," "IMMEDIATE ACTION REQUIRED," or "ACCOUNT SUSPENDED," to pressure recipients into hasty decisions.</a:t>
            </a:r>
            <a:endParaRPr lang="en-US" sz="1400" dirty="0"/>
          </a:p>
        </p:txBody>
      </p:sp>
      <p:sp>
        <p:nvSpPr>
          <p:cNvPr id="28" name="Shape 22"/>
          <p:cNvSpPr/>
          <p:nvPr/>
        </p:nvSpPr>
        <p:spPr>
          <a:xfrm>
            <a:off x="7387709" y="5586532"/>
            <a:ext cx="6448901" cy="1812131"/>
          </a:xfrm>
          <a:prstGeom prst="roundRect">
            <a:avLst>
              <a:gd name="adj" fmla="val 6055"/>
            </a:avLst>
          </a:prstGeom>
          <a:solidFill>
            <a:srgbClr val="FFFFFF"/>
          </a:solidFill>
          <a:ln/>
        </p:spPr>
      </p:sp>
      <p:sp>
        <p:nvSpPr>
          <p:cNvPr id="29" name="Shape 23"/>
          <p:cNvSpPr/>
          <p:nvPr/>
        </p:nvSpPr>
        <p:spPr>
          <a:xfrm>
            <a:off x="7387709" y="5563672"/>
            <a:ext cx="6448901" cy="91440"/>
          </a:xfrm>
          <a:prstGeom prst="roundRect">
            <a:avLst>
              <a:gd name="adj" fmla="val 29767"/>
            </a:avLst>
          </a:prstGeom>
          <a:solidFill>
            <a:srgbClr val="FAD0C4"/>
          </a:solidFill>
          <a:ln/>
        </p:spPr>
      </p:sp>
      <p:sp>
        <p:nvSpPr>
          <p:cNvPr id="30" name="Shape 24"/>
          <p:cNvSpPr/>
          <p:nvPr/>
        </p:nvSpPr>
        <p:spPr>
          <a:xfrm>
            <a:off x="10339983" y="5314355"/>
            <a:ext cx="544354" cy="544354"/>
          </a:xfrm>
          <a:prstGeom prst="roundRect">
            <a:avLst>
              <a:gd name="adj" fmla="val 167979"/>
            </a:avLst>
          </a:prstGeom>
          <a:solidFill>
            <a:srgbClr val="FAD0C4"/>
          </a:solidFill>
          <a:ln/>
        </p:spPr>
      </p:sp>
      <p:pic>
        <p:nvPicPr>
          <p:cNvPr id="31"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0503337" y="5477708"/>
            <a:ext cx="217646" cy="217646"/>
          </a:xfrm>
          <a:prstGeom prst="rect">
            <a:avLst/>
          </a:prstGeom>
        </p:spPr>
      </p:pic>
      <p:sp>
        <p:nvSpPr>
          <p:cNvPr id="32" name="Text 25"/>
          <p:cNvSpPr/>
          <p:nvPr/>
        </p:nvSpPr>
        <p:spPr>
          <a:xfrm>
            <a:off x="7592020" y="6040160"/>
            <a:ext cx="2268260" cy="283488"/>
          </a:xfrm>
          <a:prstGeom prst="rect">
            <a:avLst/>
          </a:prstGeom>
          <a:noFill/>
          <a:ln/>
        </p:spPr>
        <p:txBody>
          <a:bodyPr wrap="none" lIns="0" tIns="0" rIns="0" bIns="0" rtlCol="0" anchor="t"/>
          <a:lstStyle/>
          <a:p>
            <a:pPr marL="0" indent="0" algn="l">
              <a:lnSpc>
                <a:spcPts val="2200"/>
              </a:lnSpc>
              <a:buNone/>
            </a:pPr>
            <a:r>
              <a:rPr lang="en-US" sz="1750" dirty="0">
                <a:solidFill>
                  <a:srgbClr val="4C4C4D"/>
                </a:solidFill>
                <a:latin typeface="Crimson Pro Semi Bold" pitchFamily="34" charset="0"/>
                <a:ea typeface="Crimson Pro Semi Bold" pitchFamily="34" charset="-122"/>
                <a:cs typeface="Crimson Pro Semi Bold" pitchFamily="34" charset="-120"/>
              </a:rPr>
              <a:t>URL Length Analysis</a:t>
            </a:r>
            <a:endParaRPr lang="en-US" sz="1750" dirty="0"/>
          </a:p>
        </p:txBody>
      </p:sp>
      <p:sp>
        <p:nvSpPr>
          <p:cNvPr id="33" name="Text 26"/>
          <p:cNvSpPr/>
          <p:nvPr/>
        </p:nvSpPr>
        <p:spPr>
          <a:xfrm>
            <a:off x="7592020" y="6410682"/>
            <a:ext cx="6040279" cy="522446"/>
          </a:xfrm>
          <a:prstGeom prst="rect">
            <a:avLst/>
          </a:prstGeom>
          <a:noFill/>
          <a:ln/>
        </p:spPr>
        <p:txBody>
          <a:bodyPr wrap="square" lIns="0" tIns="0" rIns="0" bIns="0" rtlCol="0" anchor="t"/>
          <a:lstStyle/>
          <a:p>
            <a:pPr marL="0" indent="0" algn="l">
              <a:lnSpc>
                <a:spcPts val="2050"/>
              </a:lnSpc>
              <a:buNone/>
            </a:pPr>
            <a:r>
              <a:rPr lang="en-US" sz="1400" dirty="0">
                <a:solidFill>
                  <a:srgbClr val="4C4C4D"/>
                </a:solidFill>
                <a:latin typeface="Heebo" pitchFamily="34" charset="0"/>
                <a:ea typeface="Heebo" pitchFamily="34" charset="-122"/>
                <a:cs typeface="Heebo" pitchFamily="34" charset="-120"/>
              </a:rPr>
              <a:t>Flag unusually long URLs, which can be an indicator of obfuscation used by attackers to hide malicious destinations or embedded credentials.</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793790" y="694730"/>
            <a:ext cx="5357217" cy="637937"/>
          </a:xfrm>
          <a:prstGeom prst="rect">
            <a:avLst/>
          </a:prstGeom>
          <a:noFill/>
          <a:ln/>
        </p:spPr>
        <p:txBody>
          <a:bodyPr wrap="none" lIns="0" tIns="0" rIns="0" bIns="0" rtlCol="0" anchor="t"/>
          <a:lstStyle/>
          <a:p>
            <a:pPr marL="0" indent="0" algn="l">
              <a:lnSpc>
                <a:spcPts val="5000"/>
              </a:lnSpc>
              <a:buNone/>
            </a:pPr>
            <a:r>
              <a:rPr lang="en-US" sz="4000" dirty="0">
                <a:solidFill>
                  <a:srgbClr val="152D47"/>
                </a:solidFill>
                <a:latin typeface="Crimson Pro Semi Bold" pitchFamily="34" charset="0"/>
                <a:ea typeface="Crimson Pro Semi Bold" pitchFamily="34" charset="-122"/>
                <a:cs typeface="Crimson Pro Semi Bold" pitchFamily="34" charset="-120"/>
              </a:rPr>
              <a:t>Defense Against Phishing</a:t>
            </a:r>
            <a:endParaRPr lang="en-US" sz="4000" dirty="0"/>
          </a:p>
        </p:txBody>
      </p:sp>
      <p:sp>
        <p:nvSpPr>
          <p:cNvPr id="3" name="Text 1"/>
          <p:cNvSpPr/>
          <p:nvPr/>
        </p:nvSpPr>
        <p:spPr>
          <a:xfrm>
            <a:off x="793790" y="1406128"/>
            <a:ext cx="4082891" cy="510302"/>
          </a:xfrm>
          <a:prstGeom prst="rect">
            <a:avLst/>
          </a:prstGeom>
          <a:noFill/>
          <a:ln/>
        </p:spPr>
        <p:txBody>
          <a:bodyPr wrap="none" lIns="0" tIns="0" rIns="0" bIns="0" rtlCol="0" anchor="t"/>
          <a:lstStyle/>
          <a:p>
            <a:pPr marL="0" indent="0" algn="l">
              <a:lnSpc>
                <a:spcPts val="4000"/>
              </a:lnSpc>
              <a:buNone/>
            </a:pPr>
            <a:r>
              <a:rPr lang="en-US" sz="3200" dirty="0">
                <a:solidFill>
                  <a:srgbClr val="152D47"/>
                </a:solidFill>
                <a:latin typeface="Crimson Pro Semi Bold" pitchFamily="34" charset="0"/>
                <a:ea typeface="Crimson Pro Semi Bold" pitchFamily="34" charset="-122"/>
                <a:cs typeface="Crimson Pro Semi Bold" pitchFamily="34" charset="-120"/>
              </a:rPr>
              <a:t>Technical Controls</a:t>
            </a:r>
            <a:endParaRPr lang="en-US" sz="3200" dirty="0"/>
          </a:p>
        </p:txBody>
      </p:sp>
      <p:sp>
        <p:nvSpPr>
          <p:cNvPr id="4" name="Shape 2"/>
          <p:cNvSpPr/>
          <p:nvPr/>
        </p:nvSpPr>
        <p:spPr>
          <a:xfrm>
            <a:off x="793790" y="2191941"/>
            <a:ext cx="13042821" cy="3009067"/>
          </a:xfrm>
          <a:prstGeom prst="roundRect">
            <a:avLst>
              <a:gd name="adj" fmla="val 1018"/>
            </a:avLst>
          </a:prstGeom>
          <a:solidFill>
            <a:srgbClr val="F2EEEE"/>
          </a:solidFill>
          <a:ln/>
        </p:spPr>
      </p:sp>
      <p:sp>
        <p:nvSpPr>
          <p:cNvPr id="5" name="Shape 3"/>
          <p:cNvSpPr/>
          <p:nvPr/>
        </p:nvSpPr>
        <p:spPr>
          <a:xfrm>
            <a:off x="793790" y="2191941"/>
            <a:ext cx="6521410" cy="3009067"/>
          </a:xfrm>
          <a:prstGeom prst="roundRect">
            <a:avLst>
              <a:gd name="adj" fmla="val 1018"/>
            </a:avLst>
          </a:prstGeom>
          <a:solidFill>
            <a:srgbClr val="D4EDDA"/>
          </a:solidFill>
          <a:ln/>
        </p:spPr>
      </p:sp>
      <p:sp>
        <p:nvSpPr>
          <p:cNvPr id="6" name="Text 4"/>
          <p:cNvSpPr/>
          <p:nvPr/>
        </p:nvSpPr>
        <p:spPr>
          <a:xfrm>
            <a:off x="997863" y="2396014"/>
            <a:ext cx="2551748" cy="318849"/>
          </a:xfrm>
          <a:prstGeom prst="rect">
            <a:avLst/>
          </a:prstGeom>
          <a:noFill/>
          <a:ln/>
        </p:spPr>
        <p:txBody>
          <a:bodyPr wrap="none" lIns="0" tIns="0" rIns="0" bIns="0" rtlCol="0" anchor="t"/>
          <a:lstStyle/>
          <a:p>
            <a:pPr marL="0" indent="0" algn="l">
              <a:lnSpc>
                <a:spcPts val="2500"/>
              </a:lnSpc>
              <a:buNone/>
            </a:pPr>
            <a:r>
              <a:rPr lang="en-US" sz="2000" dirty="0">
                <a:solidFill>
                  <a:srgbClr val="000000"/>
                </a:solidFill>
                <a:latin typeface="Crimson Pro Semi Bold" pitchFamily="34" charset="0"/>
                <a:ea typeface="Crimson Pro Semi Bold" pitchFamily="34" charset="-122"/>
                <a:cs typeface="Crimson Pro Semi Bold" pitchFamily="34" charset="-120"/>
              </a:rPr>
              <a:t>Email Security:</a:t>
            </a:r>
            <a:endParaRPr lang="en-US" sz="2000" dirty="0"/>
          </a:p>
        </p:txBody>
      </p:sp>
      <p:sp>
        <p:nvSpPr>
          <p:cNvPr id="7" name="Text 5"/>
          <p:cNvSpPr/>
          <p:nvPr/>
        </p:nvSpPr>
        <p:spPr>
          <a:xfrm>
            <a:off x="997863" y="2824996"/>
            <a:ext cx="6113264" cy="2171938"/>
          </a:xfrm>
          <a:prstGeom prst="rect">
            <a:avLst/>
          </a:prstGeom>
          <a:noFill/>
          <a:ln/>
        </p:spPr>
        <p:txBody>
          <a:bodyPr wrap="square" lIns="0" tIns="0" rIns="0" bIns="0" rtlCol="0" anchor="t"/>
          <a:lstStyle/>
          <a:p>
            <a:pPr marL="0" indent="0" algn="l">
              <a:lnSpc>
                <a:spcPts val="2400"/>
              </a:lnSpc>
              <a:buNone/>
            </a:pPr>
            <a:r>
              <a:rPr lang="en-US" sz="1600" dirty="0">
                <a:solidFill>
                  <a:srgbClr val="000000"/>
                </a:solidFill>
                <a:latin typeface="Heebo" pitchFamily="34" charset="0"/>
                <a:ea typeface="Heebo" pitchFamily="34" charset="-122"/>
                <a:cs typeface="Heebo" pitchFamily="34" charset="-120"/>
              </a:rPr>
              <a:t>✓ SPF (Sender Policy Framework)</a:t>
            </a:r>
            <a:endParaRPr lang="en-US" sz="1600" dirty="0"/>
          </a:p>
          <a:p>
            <a:pPr marL="0" indent="0" algn="l">
              <a:lnSpc>
                <a:spcPts val="2400"/>
              </a:lnSpc>
              <a:buNone/>
            </a:pPr>
            <a:r>
              <a:rPr lang="en-US" sz="1600" dirty="0">
                <a:solidFill>
                  <a:srgbClr val="000000"/>
                </a:solidFill>
                <a:latin typeface="Heebo" pitchFamily="34" charset="0"/>
                <a:ea typeface="Heebo" pitchFamily="34" charset="-122"/>
                <a:cs typeface="Heebo" pitchFamily="34" charset="-120"/>
              </a:rPr>
              <a:t>✓ DKIM (DomainKeys Identified Mail)</a:t>
            </a:r>
            <a:endParaRPr lang="en-US" sz="1600" dirty="0"/>
          </a:p>
          <a:p>
            <a:pPr marL="0" indent="0" algn="l">
              <a:lnSpc>
                <a:spcPts val="2400"/>
              </a:lnSpc>
              <a:buNone/>
            </a:pPr>
            <a:r>
              <a:rPr lang="en-US" sz="1600" dirty="0">
                <a:solidFill>
                  <a:srgbClr val="000000"/>
                </a:solidFill>
                <a:latin typeface="Heebo" pitchFamily="34" charset="0"/>
                <a:ea typeface="Heebo" pitchFamily="34" charset="-122"/>
                <a:cs typeface="Heebo" pitchFamily="34" charset="-120"/>
              </a:rPr>
              <a:t>✓ DMARC (Domain-based Message Authentication)</a:t>
            </a:r>
            <a:endParaRPr lang="en-US" sz="1600" dirty="0"/>
          </a:p>
          <a:p>
            <a:pPr marL="0" indent="0" algn="l">
              <a:lnSpc>
                <a:spcPts val="2400"/>
              </a:lnSpc>
              <a:buNone/>
            </a:pPr>
            <a:r>
              <a:rPr lang="en-US" sz="1600" dirty="0">
                <a:solidFill>
                  <a:srgbClr val="000000"/>
                </a:solidFill>
                <a:latin typeface="Heebo" pitchFamily="34" charset="0"/>
                <a:ea typeface="Heebo" pitchFamily="34" charset="-122"/>
                <a:cs typeface="Heebo" pitchFamily="34" charset="-120"/>
              </a:rPr>
              <a:t>✓ Email filtering/sandboxing</a:t>
            </a:r>
            <a:endParaRPr lang="en-US" sz="1600" dirty="0"/>
          </a:p>
          <a:p>
            <a:pPr marL="0" indent="0" algn="l">
              <a:lnSpc>
                <a:spcPts val="2400"/>
              </a:lnSpc>
              <a:buNone/>
            </a:pPr>
            <a:r>
              <a:rPr lang="en-US" sz="1600" dirty="0">
                <a:solidFill>
                  <a:srgbClr val="000000"/>
                </a:solidFill>
                <a:latin typeface="Heebo" pitchFamily="34" charset="0"/>
                <a:ea typeface="Heebo" pitchFamily="34" charset="-122"/>
                <a:cs typeface="Heebo" pitchFamily="34" charset="-120"/>
              </a:rPr>
              <a:t>✓ Anti-phishing gateways</a:t>
            </a:r>
            <a:endParaRPr lang="en-US" sz="1600" dirty="0"/>
          </a:p>
          <a:p>
            <a:pPr marL="0" indent="0" algn="l">
              <a:lnSpc>
                <a:spcPts val="2400"/>
              </a:lnSpc>
              <a:buNone/>
            </a:pPr>
            <a:r>
              <a:rPr lang="en-US" sz="1600" dirty="0">
                <a:solidFill>
                  <a:srgbClr val="000000"/>
                </a:solidFill>
                <a:latin typeface="Heebo" pitchFamily="34" charset="0"/>
                <a:ea typeface="Heebo" pitchFamily="34" charset="-122"/>
                <a:cs typeface="Heebo" pitchFamily="34" charset="-120"/>
              </a:rPr>
              <a:t>✓ URL scanning and rewriting</a:t>
            </a:r>
            <a:endParaRPr lang="en-US" sz="1600" dirty="0"/>
          </a:p>
          <a:p>
            <a:pPr marL="0" indent="0" algn="l">
              <a:lnSpc>
                <a:spcPts val="2400"/>
              </a:lnSpc>
              <a:buNone/>
            </a:pPr>
            <a:r>
              <a:rPr lang="en-US" sz="1600" dirty="0">
                <a:solidFill>
                  <a:srgbClr val="000000"/>
                </a:solidFill>
                <a:latin typeface="Heebo" pitchFamily="34" charset="0"/>
                <a:ea typeface="Heebo" pitchFamily="34" charset="-122"/>
                <a:cs typeface="Heebo" pitchFamily="34" charset="-120"/>
              </a:rPr>
              <a:t>✓ Attachment sandboxing</a:t>
            </a:r>
            <a:endParaRPr lang="en-US" sz="1600" dirty="0"/>
          </a:p>
        </p:txBody>
      </p:sp>
      <p:sp>
        <p:nvSpPr>
          <p:cNvPr id="8" name="Shape 6"/>
          <p:cNvSpPr/>
          <p:nvPr/>
        </p:nvSpPr>
        <p:spPr>
          <a:xfrm>
            <a:off x="7315200" y="2191941"/>
            <a:ext cx="6521410" cy="3009067"/>
          </a:xfrm>
          <a:prstGeom prst="rect">
            <a:avLst/>
          </a:prstGeom>
          <a:solidFill>
            <a:srgbClr val="D4EDDA"/>
          </a:solidFill>
          <a:ln/>
        </p:spPr>
      </p:sp>
      <p:sp>
        <p:nvSpPr>
          <p:cNvPr id="9" name="Shape 7"/>
          <p:cNvSpPr/>
          <p:nvPr/>
        </p:nvSpPr>
        <p:spPr>
          <a:xfrm>
            <a:off x="7315200" y="2191941"/>
            <a:ext cx="22860" cy="3009067"/>
          </a:xfrm>
          <a:prstGeom prst="roundRect">
            <a:avLst>
              <a:gd name="adj" fmla="val 133954"/>
            </a:avLst>
          </a:prstGeom>
          <a:solidFill>
            <a:srgbClr val="BAD3C0"/>
          </a:solidFill>
          <a:ln/>
        </p:spPr>
      </p:sp>
      <p:sp>
        <p:nvSpPr>
          <p:cNvPr id="10" name="Text 8"/>
          <p:cNvSpPr/>
          <p:nvPr/>
        </p:nvSpPr>
        <p:spPr>
          <a:xfrm>
            <a:off x="7519273" y="2396014"/>
            <a:ext cx="2551748" cy="318849"/>
          </a:xfrm>
          <a:prstGeom prst="rect">
            <a:avLst/>
          </a:prstGeom>
          <a:noFill/>
          <a:ln/>
        </p:spPr>
        <p:txBody>
          <a:bodyPr wrap="none" lIns="0" tIns="0" rIns="0" bIns="0" rtlCol="0" anchor="t"/>
          <a:lstStyle/>
          <a:p>
            <a:pPr marL="0" indent="0" algn="l">
              <a:lnSpc>
                <a:spcPts val="2500"/>
              </a:lnSpc>
              <a:buNone/>
            </a:pPr>
            <a:r>
              <a:rPr lang="en-US" sz="2000" dirty="0">
                <a:solidFill>
                  <a:srgbClr val="000000"/>
                </a:solidFill>
                <a:latin typeface="Crimson Pro Semi Bold" pitchFamily="34" charset="0"/>
                <a:ea typeface="Crimson Pro Semi Bold" pitchFamily="34" charset="-122"/>
                <a:cs typeface="Crimson Pro Semi Bold" pitchFamily="34" charset="-120"/>
              </a:rPr>
              <a:t>Network Security:</a:t>
            </a:r>
            <a:endParaRPr lang="en-US" sz="2000" dirty="0"/>
          </a:p>
        </p:txBody>
      </p:sp>
      <p:sp>
        <p:nvSpPr>
          <p:cNvPr id="11" name="Text 9"/>
          <p:cNvSpPr/>
          <p:nvPr/>
        </p:nvSpPr>
        <p:spPr>
          <a:xfrm>
            <a:off x="7519273" y="2824996"/>
            <a:ext cx="6113264" cy="1551384"/>
          </a:xfrm>
          <a:prstGeom prst="rect">
            <a:avLst/>
          </a:prstGeom>
          <a:noFill/>
          <a:ln/>
        </p:spPr>
        <p:txBody>
          <a:bodyPr wrap="square" lIns="0" tIns="0" rIns="0" bIns="0" rtlCol="0" anchor="t"/>
          <a:lstStyle/>
          <a:p>
            <a:pPr marL="0" indent="0" algn="l">
              <a:lnSpc>
                <a:spcPts val="2400"/>
              </a:lnSpc>
              <a:buNone/>
            </a:pPr>
            <a:r>
              <a:rPr lang="en-US" sz="1600" dirty="0">
                <a:solidFill>
                  <a:srgbClr val="000000"/>
                </a:solidFill>
                <a:latin typeface="Heebo" pitchFamily="34" charset="0"/>
                <a:ea typeface="Heebo" pitchFamily="34" charset="-122"/>
                <a:cs typeface="Heebo" pitchFamily="34" charset="-120"/>
              </a:rPr>
              <a:t>✓ Web filtering/proxy</a:t>
            </a:r>
            <a:endParaRPr lang="en-US" sz="1600" dirty="0"/>
          </a:p>
          <a:p>
            <a:pPr marL="0" indent="0" algn="l">
              <a:lnSpc>
                <a:spcPts val="2400"/>
              </a:lnSpc>
              <a:buNone/>
            </a:pPr>
            <a:r>
              <a:rPr lang="en-US" sz="1600" dirty="0">
                <a:solidFill>
                  <a:srgbClr val="000000"/>
                </a:solidFill>
                <a:latin typeface="Heebo" pitchFamily="34" charset="0"/>
                <a:ea typeface="Heebo" pitchFamily="34" charset="-122"/>
                <a:cs typeface="Heebo" pitchFamily="34" charset="-120"/>
              </a:rPr>
              <a:t>✓ DNS filtering</a:t>
            </a:r>
            <a:endParaRPr lang="en-US" sz="1600" dirty="0"/>
          </a:p>
          <a:p>
            <a:pPr marL="0" indent="0" algn="l">
              <a:lnSpc>
                <a:spcPts val="2400"/>
              </a:lnSpc>
              <a:buNone/>
            </a:pPr>
            <a:r>
              <a:rPr lang="en-US" sz="1600" dirty="0">
                <a:solidFill>
                  <a:srgbClr val="000000"/>
                </a:solidFill>
                <a:latin typeface="Heebo" pitchFamily="34" charset="0"/>
                <a:ea typeface="Heebo" pitchFamily="34" charset="-122"/>
                <a:cs typeface="Heebo" pitchFamily="34" charset="-120"/>
              </a:rPr>
              <a:t>✓ SSL inspection</a:t>
            </a:r>
            <a:endParaRPr lang="en-US" sz="1600" dirty="0"/>
          </a:p>
          <a:p>
            <a:pPr marL="0" indent="0" algn="l">
              <a:lnSpc>
                <a:spcPts val="2400"/>
              </a:lnSpc>
              <a:buNone/>
            </a:pPr>
            <a:r>
              <a:rPr lang="en-US" sz="1600" dirty="0">
                <a:solidFill>
                  <a:srgbClr val="000000"/>
                </a:solidFill>
                <a:latin typeface="Heebo" pitchFamily="34" charset="0"/>
                <a:ea typeface="Heebo" pitchFamily="34" charset="-122"/>
                <a:cs typeface="Heebo" pitchFamily="34" charset="-120"/>
              </a:rPr>
              <a:t>✓ Intrusion detection systems</a:t>
            </a:r>
            <a:endParaRPr lang="en-US" sz="1600" dirty="0"/>
          </a:p>
          <a:p>
            <a:pPr marL="0" indent="0" algn="l">
              <a:lnSpc>
                <a:spcPts val="2400"/>
              </a:lnSpc>
              <a:buNone/>
            </a:pPr>
            <a:r>
              <a:rPr lang="en-US" sz="1600" dirty="0">
                <a:solidFill>
                  <a:srgbClr val="000000"/>
                </a:solidFill>
                <a:latin typeface="Heebo" pitchFamily="34" charset="0"/>
                <a:ea typeface="Heebo" pitchFamily="34" charset="-122"/>
                <a:cs typeface="Heebo" pitchFamily="34" charset="-120"/>
              </a:rPr>
              <a:t>✓ Zero Trust architecture</a:t>
            </a:r>
            <a:endParaRPr lang="en-US" sz="1600" dirty="0"/>
          </a:p>
        </p:txBody>
      </p:sp>
      <p:sp>
        <p:nvSpPr>
          <p:cNvPr id="12" name="Shape 10"/>
          <p:cNvSpPr/>
          <p:nvPr/>
        </p:nvSpPr>
        <p:spPr>
          <a:xfrm>
            <a:off x="793790" y="5509695"/>
            <a:ext cx="13042821" cy="33099"/>
          </a:xfrm>
          <a:prstGeom prst="rect">
            <a:avLst/>
          </a:prstGeom>
          <a:solidFill>
            <a:srgbClr val="4C4C4D">
              <a:alpha val="50000"/>
            </a:srgbClr>
          </a:solidFill>
          <a:ln/>
        </p:spPr>
      </p:sp>
      <p:sp>
        <p:nvSpPr>
          <p:cNvPr id="13" name="Text 11"/>
          <p:cNvSpPr/>
          <p:nvPr/>
        </p:nvSpPr>
        <p:spPr>
          <a:xfrm>
            <a:off x="793790" y="5818227"/>
            <a:ext cx="5654754" cy="510302"/>
          </a:xfrm>
          <a:prstGeom prst="rect">
            <a:avLst/>
          </a:prstGeom>
          <a:noFill/>
          <a:ln/>
        </p:spPr>
        <p:txBody>
          <a:bodyPr wrap="none" lIns="0" tIns="0" rIns="0" bIns="0" rtlCol="0" anchor="t"/>
          <a:lstStyle/>
          <a:p>
            <a:pPr marL="0" indent="0" algn="l">
              <a:lnSpc>
                <a:spcPts val="4000"/>
              </a:lnSpc>
              <a:buNone/>
            </a:pPr>
            <a:r>
              <a:rPr lang="en-US" sz="3200" dirty="0">
                <a:solidFill>
                  <a:srgbClr val="152D47"/>
                </a:solidFill>
                <a:latin typeface="Crimson Pro Semi Bold" pitchFamily="34" charset="0"/>
                <a:ea typeface="Crimson Pro Semi Bold" pitchFamily="34" charset="-122"/>
                <a:cs typeface="Crimson Pro Semi Bold" pitchFamily="34" charset="-120"/>
              </a:rPr>
              <a:t>Two-Factor Authentication (2FA)</a:t>
            </a:r>
            <a:endParaRPr lang="en-US" sz="3200" dirty="0"/>
          </a:p>
        </p:txBody>
      </p:sp>
      <p:sp>
        <p:nvSpPr>
          <p:cNvPr id="14" name="Text 12"/>
          <p:cNvSpPr/>
          <p:nvPr/>
        </p:nvSpPr>
        <p:spPr>
          <a:xfrm>
            <a:off x="793790" y="6604040"/>
            <a:ext cx="13042821" cy="930831"/>
          </a:xfrm>
          <a:prstGeom prst="rect">
            <a:avLst/>
          </a:prstGeom>
          <a:noFill/>
          <a:ln/>
        </p:spPr>
        <p:txBody>
          <a:bodyPr wrap="square" lIns="0" tIns="0" rIns="0" bIns="0" rtlCol="0" anchor="t"/>
          <a:lstStyle/>
          <a:p>
            <a:pPr marL="0" indent="0" algn="l">
              <a:lnSpc>
                <a:spcPts val="2400"/>
              </a:lnSpc>
              <a:buNone/>
            </a:pPr>
            <a:r>
              <a:rPr lang="en-US" sz="1600" dirty="0">
                <a:solidFill>
                  <a:srgbClr val="4C4C4D"/>
                </a:solidFill>
                <a:latin typeface="Heebo" pitchFamily="34" charset="0"/>
                <a:ea typeface="Heebo" pitchFamily="34" charset="-122"/>
                <a:cs typeface="Heebo" pitchFamily="34" charset="-120"/>
              </a:rPr>
              <a:t>Two-factor authentication is the most effective method for countering phishing attacks, as it adds an extra verification layer when logging in to sensitive applications. 2FA relies on users having two things: something they know, such as a password and username, and something they have, such as their smartphones.</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85000"/>
            </a:srgbClr>
          </a:solidFill>
          <a:ln/>
        </p:spPr>
      </p:sp>
      <p:sp>
        <p:nvSpPr>
          <p:cNvPr id="4" name="Text 1"/>
          <p:cNvSpPr/>
          <p:nvPr/>
        </p:nvSpPr>
        <p:spPr>
          <a:xfrm>
            <a:off x="793790" y="1156216"/>
            <a:ext cx="4536519" cy="566976"/>
          </a:xfrm>
          <a:prstGeom prst="rect">
            <a:avLst/>
          </a:prstGeom>
          <a:noFill/>
          <a:ln/>
        </p:spPr>
        <p:txBody>
          <a:bodyPr wrap="none" lIns="0" tIns="0" rIns="0" bIns="0" rtlCol="0" anchor="t"/>
          <a:lstStyle/>
          <a:p>
            <a:pPr marL="0" indent="0" algn="l">
              <a:lnSpc>
                <a:spcPts val="4450"/>
              </a:lnSpc>
              <a:buNone/>
            </a:pPr>
            <a:r>
              <a:rPr lang="en-US" sz="3550" dirty="0">
                <a:solidFill>
                  <a:srgbClr val="152D47"/>
                </a:solidFill>
                <a:latin typeface="Crimson Pro Semi Bold" pitchFamily="34" charset="0"/>
                <a:ea typeface="Crimson Pro Semi Bold" pitchFamily="34" charset="-122"/>
                <a:cs typeface="Crimson Pro Semi Bold" pitchFamily="34" charset="-120"/>
              </a:rPr>
              <a:t>Awareness</a:t>
            </a:r>
            <a:endParaRPr lang="en-US" sz="3550" dirty="0"/>
          </a:p>
        </p:txBody>
      </p:sp>
      <p:sp>
        <p:nvSpPr>
          <p:cNvPr id="5" name="Shape 2"/>
          <p:cNvSpPr/>
          <p:nvPr/>
        </p:nvSpPr>
        <p:spPr>
          <a:xfrm>
            <a:off x="793790" y="2403515"/>
            <a:ext cx="4196358" cy="1178600"/>
          </a:xfrm>
          <a:prstGeom prst="roundRect">
            <a:avLst>
              <a:gd name="adj" fmla="val 12413"/>
            </a:avLst>
          </a:prstGeom>
          <a:solidFill>
            <a:srgbClr val="FFFFFF"/>
          </a:solidFill>
          <a:ln/>
        </p:spPr>
      </p:sp>
      <p:sp>
        <p:nvSpPr>
          <p:cNvPr id="6" name="Shape 3"/>
          <p:cNvSpPr/>
          <p:nvPr/>
        </p:nvSpPr>
        <p:spPr>
          <a:xfrm>
            <a:off x="793790" y="2373035"/>
            <a:ext cx="4196358" cy="121920"/>
          </a:xfrm>
          <a:prstGeom prst="roundRect">
            <a:avLst>
              <a:gd name="adj" fmla="val 27907"/>
            </a:avLst>
          </a:prstGeom>
          <a:solidFill>
            <a:srgbClr val="CCFFCC"/>
          </a:solidFill>
          <a:ln/>
        </p:spPr>
      </p:sp>
      <p:sp>
        <p:nvSpPr>
          <p:cNvPr id="7" name="Shape 4"/>
          <p:cNvSpPr/>
          <p:nvPr/>
        </p:nvSpPr>
        <p:spPr>
          <a:xfrm>
            <a:off x="2551688" y="2063353"/>
            <a:ext cx="680442" cy="680442"/>
          </a:xfrm>
          <a:prstGeom prst="roundRect">
            <a:avLst>
              <a:gd name="adj" fmla="val 134383"/>
            </a:avLst>
          </a:prstGeom>
          <a:solidFill>
            <a:srgbClr val="CCFFCC"/>
          </a:solidFill>
          <a:ln/>
        </p:spPr>
      </p:sp>
      <p:pic>
        <p:nvPicPr>
          <p:cNvPr id="8"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755761" y="2267426"/>
            <a:ext cx="272177" cy="272177"/>
          </a:xfrm>
          <a:prstGeom prst="rect">
            <a:avLst/>
          </a:prstGeom>
        </p:spPr>
      </p:pic>
      <p:sp>
        <p:nvSpPr>
          <p:cNvPr id="9" name="Text 5"/>
          <p:cNvSpPr/>
          <p:nvPr/>
        </p:nvSpPr>
        <p:spPr>
          <a:xfrm>
            <a:off x="1051084" y="2970490"/>
            <a:ext cx="3363635" cy="354330"/>
          </a:xfrm>
          <a:prstGeom prst="rect">
            <a:avLst/>
          </a:prstGeom>
          <a:noFill/>
          <a:ln/>
        </p:spPr>
        <p:txBody>
          <a:bodyPr wrap="none" lIns="0" tIns="0" rIns="0" bIns="0" rtlCol="0" anchor="t"/>
          <a:lstStyle/>
          <a:p>
            <a:pPr marL="0" indent="0" algn="l">
              <a:lnSpc>
                <a:spcPts val="2750"/>
              </a:lnSpc>
              <a:buNone/>
            </a:pPr>
            <a:r>
              <a:rPr lang="en-US" sz="2200" dirty="0">
                <a:solidFill>
                  <a:srgbClr val="4C4C4D"/>
                </a:solidFill>
                <a:latin typeface="Crimson Pro Semi Bold" pitchFamily="34" charset="0"/>
                <a:ea typeface="Crimson Pro Semi Bold" pitchFamily="34" charset="-122"/>
                <a:cs typeface="Crimson Pro Semi Bold" pitchFamily="34" charset="-120"/>
              </a:rPr>
              <a:t>Recognizing phishing emails</a:t>
            </a:r>
            <a:endParaRPr lang="en-US" sz="2200" dirty="0"/>
          </a:p>
        </p:txBody>
      </p:sp>
      <p:sp>
        <p:nvSpPr>
          <p:cNvPr id="10" name="Shape 6"/>
          <p:cNvSpPr/>
          <p:nvPr/>
        </p:nvSpPr>
        <p:spPr>
          <a:xfrm>
            <a:off x="5216962" y="2403515"/>
            <a:ext cx="4196358" cy="1178600"/>
          </a:xfrm>
          <a:prstGeom prst="roundRect">
            <a:avLst>
              <a:gd name="adj" fmla="val 12413"/>
            </a:avLst>
          </a:prstGeom>
          <a:solidFill>
            <a:srgbClr val="FFFFFF"/>
          </a:solidFill>
          <a:ln/>
        </p:spPr>
      </p:sp>
      <p:sp>
        <p:nvSpPr>
          <p:cNvPr id="11" name="Shape 7"/>
          <p:cNvSpPr/>
          <p:nvPr/>
        </p:nvSpPr>
        <p:spPr>
          <a:xfrm>
            <a:off x="5216962" y="2373035"/>
            <a:ext cx="4196358" cy="121920"/>
          </a:xfrm>
          <a:prstGeom prst="roundRect">
            <a:avLst>
              <a:gd name="adj" fmla="val 27907"/>
            </a:avLst>
          </a:prstGeom>
          <a:solidFill>
            <a:srgbClr val="CCFFCC"/>
          </a:solidFill>
          <a:ln/>
        </p:spPr>
      </p:sp>
      <p:sp>
        <p:nvSpPr>
          <p:cNvPr id="12" name="Shape 8"/>
          <p:cNvSpPr/>
          <p:nvPr/>
        </p:nvSpPr>
        <p:spPr>
          <a:xfrm>
            <a:off x="6974860" y="2063353"/>
            <a:ext cx="680442" cy="680442"/>
          </a:xfrm>
          <a:prstGeom prst="roundRect">
            <a:avLst>
              <a:gd name="adj" fmla="val 134383"/>
            </a:avLst>
          </a:prstGeom>
          <a:solidFill>
            <a:srgbClr val="CCFFCC"/>
          </a:solidFill>
          <a:ln/>
        </p:spPr>
      </p:sp>
      <p:pic>
        <p:nvPicPr>
          <p:cNvPr id="13" name="Image 2"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178933" y="2267426"/>
            <a:ext cx="272177" cy="272177"/>
          </a:xfrm>
          <a:prstGeom prst="rect">
            <a:avLst/>
          </a:prstGeom>
        </p:spPr>
      </p:pic>
      <p:sp>
        <p:nvSpPr>
          <p:cNvPr id="14" name="Text 9"/>
          <p:cNvSpPr/>
          <p:nvPr/>
        </p:nvSpPr>
        <p:spPr>
          <a:xfrm>
            <a:off x="5474256" y="2970490"/>
            <a:ext cx="2896791" cy="354330"/>
          </a:xfrm>
          <a:prstGeom prst="rect">
            <a:avLst/>
          </a:prstGeom>
          <a:noFill/>
          <a:ln/>
        </p:spPr>
        <p:txBody>
          <a:bodyPr wrap="none" lIns="0" tIns="0" rIns="0" bIns="0" rtlCol="0" anchor="t"/>
          <a:lstStyle/>
          <a:p>
            <a:pPr marL="0" indent="0" algn="l">
              <a:lnSpc>
                <a:spcPts val="2750"/>
              </a:lnSpc>
              <a:buNone/>
            </a:pPr>
            <a:r>
              <a:rPr lang="en-US" sz="2200" dirty="0">
                <a:solidFill>
                  <a:srgbClr val="4C4C4D"/>
                </a:solidFill>
                <a:latin typeface="Crimson Pro Semi Bold" pitchFamily="34" charset="0"/>
                <a:ea typeface="Crimson Pro Semi Bold" pitchFamily="34" charset="-122"/>
                <a:cs typeface="Crimson Pro Semi Bold" pitchFamily="34" charset="-120"/>
              </a:rPr>
              <a:t>Verifying sender identity</a:t>
            </a:r>
            <a:endParaRPr lang="en-US" sz="2200" dirty="0"/>
          </a:p>
        </p:txBody>
      </p:sp>
      <p:sp>
        <p:nvSpPr>
          <p:cNvPr id="15" name="Shape 10"/>
          <p:cNvSpPr/>
          <p:nvPr/>
        </p:nvSpPr>
        <p:spPr>
          <a:xfrm>
            <a:off x="9640133" y="2403515"/>
            <a:ext cx="4196358" cy="1178600"/>
          </a:xfrm>
          <a:prstGeom prst="roundRect">
            <a:avLst>
              <a:gd name="adj" fmla="val 12413"/>
            </a:avLst>
          </a:prstGeom>
          <a:solidFill>
            <a:srgbClr val="FFFFFF"/>
          </a:solidFill>
          <a:ln/>
        </p:spPr>
      </p:sp>
      <p:sp>
        <p:nvSpPr>
          <p:cNvPr id="16" name="Shape 11"/>
          <p:cNvSpPr/>
          <p:nvPr/>
        </p:nvSpPr>
        <p:spPr>
          <a:xfrm>
            <a:off x="9640133" y="2373035"/>
            <a:ext cx="4196358" cy="121920"/>
          </a:xfrm>
          <a:prstGeom prst="roundRect">
            <a:avLst>
              <a:gd name="adj" fmla="val 27907"/>
            </a:avLst>
          </a:prstGeom>
          <a:solidFill>
            <a:srgbClr val="CCFFCC"/>
          </a:solidFill>
          <a:ln/>
        </p:spPr>
      </p:sp>
      <p:sp>
        <p:nvSpPr>
          <p:cNvPr id="17" name="Shape 12"/>
          <p:cNvSpPr/>
          <p:nvPr/>
        </p:nvSpPr>
        <p:spPr>
          <a:xfrm>
            <a:off x="11398032" y="2063353"/>
            <a:ext cx="680442" cy="680442"/>
          </a:xfrm>
          <a:prstGeom prst="roundRect">
            <a:avLst>
              <a:gd name="adj" fmla="val 134383"/>
            </a:avLst>
          </a:prstGeom>
          <a:solidFill>
            <a:srgbClr val="CCFFCC"/>
          </a:solidFill>
          <a:ln/>
        </p:spPr>
      </p:sp>
      <p:pic>
        <p:nvPicPr>
          <p:cNvPr id="18" name="Image 3"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1602105" y="2267426"/>
            <a:ext cx="272177" cy="272177"/>
          </a:xfrm>
          <a:prstGeom prst="rect">
            <a:avLst/>
          </a:prstGeom>
        </p:spPr>
      </p:pic>
      <p:sp>
        <p:nvSpPr>
          <p:cNvPr id="19" name="Text 13"/>
          <p:cNvSpPr/>
          <p:nvPr/>
        </p:nvSpPr>
        <p:spPr>
          <a:xfrm>
            <a:off x="9897427" y="2970490"/>
            <a:ext cx="3558778" cy="354330"/>
          </a:xfrm>
          <a:prstGeom prst="rect">
            <a:avLst/>
          </a:prstGeom>
          <a:noFill/>
          <a:ln/>
        </p:spPr>
        <p:txBody>
          <a:bodyPr wrap="none" lIns="0" tIns="0" rIns="0" bIns="0" rtlCol="0" anchor="t"/>
          <a:lstStyle/>
          <a:p>
            <a:pPr marL="0" indent="0" algn="l">
              <a:lnSpc>
                <a:spcPts val="2750"/>
              </a:lnSpc>
              <a:buNone/>
            </a:pPr>
            <a:r>
              <a:rPr lang="en-US" sz="2200" dirty="0">
                <a:solidFill>
                  <a:srgbClr val="4C4C4D"/>
                </a:solidFill>
                <a:latin typeface="Crimson Pro Semi Bold" pitchFamily="34" charset="0"/>
                <a:ea typeface="Crimson Pro Semi Bold" pitchFamily="34" charset="-122"/>
                <a:cs typeface="Crimson Pro Semi Bold" pitchFamily="34" charset="-120"/>
              </a:rPr>
              <a:t>Checking URLs before clicking</a:t>
            </a:r>
            <a:endParaRPr lang="en-US" sz="2200" dirty="0"/>
          </a:p>
        </p:txBody>
      </p:sp>
      <p:sp>
        <p:nvSpPr>
          <p:cNvPr id="20" name="Shape 14"/>
          <p:cNvSpPr/>
          <p:nvPr/>
        </p:nvSpPr>
        <p:spPr>
          <a:xfrm>
            <a:off x="793790" y="4149090"/>
            <a:ext cx="4196358" cy="1178600"/>
          </a:xfrm>
          <a:prstGeom prst="roundRect">
            <a:avLst>
              <a:gd name="adj" fmla="val 12413"/>
            </a:avLst>
          </a:prstGeom>
          <a:solidFill>
            <a:srgbClr val="FFFFFF"/>
          </a:solidFill>
          <a:ln/>
        </p:spPr>
      </p:sp>
      <p:sp>
        <p:nvSpPr>
          <p:cNvPr id="21" name="Shape 15"/>
          <p:cNvSpPr/>
          <p:nvPr/>
        </p:nvSpPr>
        <p:spPr>
          <a:xfrm>
            <a:off x="793790" y="4118610"/>
            <a:ext cx="4196358" cy="121920"/>
          </a:xfrm>
          <a:prstGeom prst="roundRect">
            <a:avLst>
              <a:gd name="adj" fmla="val 27907"/>
            </a:avLst>
          </a:prstGeom>
          <a:solidFill>
            <a:srgbClr val="CCFFCC"/>
          </a:solidFill>
          <a:ln/>
        </p:spPr>
      </p:sp>
      <p:sp>
        <p:nvSpPr>
          <p:cNvPr id="22" name="Shape 16"/>
          <p:cNvSpPr/>
          <p:nvPr/>
        </p:nvSpPr>
        <p:spPr>
          <a:xfrm>
            <a:off x="2551688" y="3808928"/>
            <a:ext cx="680442" cy="680442"/>
          </a:xfrm>
          <a:prstGeom prst="roundRect">
            <a:avLst>
              <a:gd name="adj" fmla="val 134383"/>
            </a:avLst>
          </a:prstGeom>
          <a:solidFill>
            <a:srgbClr val="CCFFCC"/>
          </a:solidFill>
          <a:ln/>
        </p:spPr>
      </p:sp>
      <p:pic>
        <p:nvPicPr>
          <p:cNvPr id="23" name="Image 4"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2755761" y="4013002"/>
            <a:ext cx="272177" cy="272177"/>
          </a:xfrm>
          <a:prstGeom prst="rect">
            <a:avLst/>
          </a:prstGeom>
        </p:spPr>
      </p:pic>
      <p:sp>
        <p:nvSpPr>
          <p:cNvPr id="24" name="Text 17"/>
          <p:cNvSpPr/>
          <p:nvPr/>
        </p:nvSpPr>
        <p:spPr>
          <a:xfrm>
            <a:off x="1051084" y="4716066"/>
            <a:ext cx="3289221" cy="354330"/>
          </a:xfrm>
          <a:prstGeom prst="rect">
            <a:avLst/>
          </a:prstGeom>
          <a:noFill/>
          <a:ln/>
        </p:spPr>
        <p:txBody>
          <a:bodyPr wrap="none" lIns="0" tIns="0" rIns="0" bIns="0" rtlCol="0" anchor="t"/>
          <a:lstStyle/>
          <a:p>
            <a:pPr marL="0" indent="0" algn="l">
              <a:lnSpc>
                <a:spcPts val="2750"/>
              </a:lnSpc>
              <a:buNone/>
            </a:pPr>
            <a:r>
              <a:rPr lang="en-US" sz="2200" dirty="0">
                <a:solidFill>
                  <a:srgbClr val="4C4C4D"/>
                </a:solidFill>
                <a:latin typeface="Crimson Pro Semi Bold" pitchFamily="34" charset="0"/>
                <a:ea typeface="Crimson Pro Semi Bold" pitchFamily="34" charset="-122"/>
                <a:cs typeface="Crimson Pro Semi Bold" pitchFamily="34" charset="-120"/>
              </a:rPr>
              <a:t>Reporting suspicious emails</a:t>
            </a:r>
            <a:endParaRPr lang="en-US" sz="2200" dirty="0"/>
          </a:p>
        </p:txBody>
      </p:sp>
      <p:sp>
        <p:nvSpPr>
          <p:cNvPr id="25" name="Shape 18"/>
          <p:cNvSpPr/>
          <p:nvPr/>
        </p:nvSpPr>
        <p:spPr>
          <a:xfrm>
            <a:off x="5216962" y="4149090"/>
            <a:ext cx="4196358" cy="1178600"/>
          </a:xfrm>
          <a:prstGeom prst="roundRect">
            <a:avLst>
              <a:gd name="adj" fmla="val 12413"/>
            </a:avLst>
          </a:prstGeom>
          <a:solidFill>
            <a:srgbClr val="FFFFFF"/>
          </a:solidFill>
          <a:ln/>
        </p:spPr>
      </p:sp>
      <p:sp>
        <p:nvSpPr>
          <p:cNvPr id="26" name="Shape 19"/>
          <p:cNvSpPr/>
          <p:nvPr/>
        </p:nvSpPr>
        <p:spPr>
          <a:xfrm>
            <a:off x="5216962" y="4118610"/>
            <a:ext cx="4196358" cy="121920"/>
          </a:xfrm>
          <a:prstGeom prst="roundRect">
            <a:avLst>
              <a:gd name="adj" fmla="val 27907"/>
            </a:avLst>
          </a:prstGeom>
          <a:solidFill>
            <a:srgbClr val="CCFFCC"/>
          </a:solidFill>
          <a:ln/>
        </p:spPr>
      </p:sp>
      <p:sp>
        <p:nvSpPr>
          <p:cNvPr id="27" name="Shape 20"/>
          <p:cNvSpPr/>
          <p:nvPr/>
        </p:nvSpPr>
        <p:spPr>
          <a:xfrm>
            <a:off x="6974860" y="3808928"/>
            <a:ext cx="680442" cy="680442"/>
          </a:xfrm>
          <a:prstGeom prst="roundRect">
            <a:avLst>
              <a:gd name="adj" fmla="val 134383"/>
            </a:avLst>
          </a:prstGeom>
          <a:solidFill>
            <a:srgbClr val="CCFFCC"/>
          </a:solidFill>
          <a:ln/>
        </p:spPr>
      </p:sp>
      <p:pic>
        <p:nvPicPr>
          <p:cNvPr id="28" name="Image 5" descr="preencoded.png"/>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7178933" y="4013002"/>
            <a:ext cx="272177" cy="272177"/>
          </a:xfrm>
          <a:prstGeom prst="rect">
            <a:avLst/>
          </a:prstGeom>
        </p:spPr>
      </p:pic>
      <p:sp>
        <p:nvSpPr>
          <p:cNvPr id="29" name="Text 21"/>
          <p:cNvSpPr/>
          <p:nvPr/>
        </p:nvSpPr>
        <p:spPr>
          <a:xfrm>
            <a:off x="5474256" y="4716066"/>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C4C4D"/>
                </a:solidFill>
                <a:latin typeface="Crimson Pro Semi Bold" pitchFamily="34" charset="0"/>
                <a:ea typeface="Crimson Pro Semi Bold" pitchFamily="34" charset="-122"/>
                <a:cs typeface="Crimson Pro Semi Bold" pitchFamily="34" charset="-120"/>
              </a:rPr>
              <a:t>Safe browsing practices</a:t>
            </a:r>
            <a:endParaRPr lang="en-US" sz="2200" dirty="0"/>
          </a:p>
        </p:txBody>
      </p:sp>
      <p:sp>
        <p:nvSpPr>
          <p:cNvPr id="30" name="Shape 22"/>
          <p:cNvSpPr/>
          <p:nvPr/>
        </p:nvSpPr>
        <p:spPr>
          <a:xfrm>
            <a:off x="9640133" y="4149090"/>
            <a:ext cx="4196358" cy="1178600"/>
          </a:xfrm>
          <a:prstGeom prst="roundRect">
            <a:avLst>
              <a:gd name="adj" fmla="val 12413"/>
            </a:avLst>
          </a:prstGeom>
          <a:solidFill>
            <a:srgbClr val="FFFFFF"/>
          </a:solidFill>
          <a:ln/>
        </p:spPr>
      </p:sp>
      <p:sp>
        <p:nvSpPr>
          <p:cNvPr id="31" name="Shape 23"/>
          <p:cNvSpPr/>
          <p:nvPr/>
        </p:nvSpPr>
        <p:spPr>
          <a:xfrm>
            <a:off x="9640133" y="4118610"/>
            <a:ext cx="4196358" cy="121920"/>
          </a:xfrm>
          <a:prstGeom prst="roundRect">
            <a:avLst>
              <a:gd name="adj" fmla="val 27907"/>
            </a:avLst>
          </a:prstGeom>
          <a:solidFill>
            <a:srgbClr val="CCFFCC"/>
          </a:solidFill>
          <a:ln/>
        </p:spPr>
      </p:sp>
      <p:sp>
        <p:nvSpPr>
          <p:cNvPr id="32" name="Shape 24"/>
          <p:cNvSpPr/>
          <p:nvPr/>
        </p:nvSpPr>
        <p:spPr>
          <a:xfrm>
            <a:off x="11398032" y="3808928"/>
            <a:ext cx="680442" cy="680442"/>
          </a:xfrm>
          <a:prstGeom prst="roundRect">
            <a:avLst>
              <a:gd name="adj" fmla="val 134383"/>
            </a:avLst>
          </a:prstGeom>
          <a:solidFill>
            <a:srgbClr val="CCFFCC"/>
          </a:solidFill>
          <a:ln/>
        </p:spPr>
      </p:sp>
      <p:pic>
        <p:nvPicPr>
          <p:cNvPr id="33" name="Image 6" descr="preencoded.png"/>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1602105" y="4013002"/>
            <a:ext cx="272177" cy="272177"/>
          </a:xfrm>
          <a:prstGeom prst="rect">
            <a:avLst/>
          </a:prstGeom>
        </p:spPr>
      </p:pic>
      <p:sp>
        <p:nvSpPr>
          <p:cNvPr id="34" name="Text 25"/>
          <p:cNvSpPr/>
          <p:nvPr/>
        </p:nvSpPr>
        <p:spPr>
          <a:xfrm>
            <a:off x="9897427" y="4716066"/>
            <a:ext cx="3449241" cy="354330"/>
          </a:xfrm>
          <a:prstGeom prst="rect">
            <a:avLst/>
          </a:prstGeom>
          <a:noFill/>
          <a:ln/>
        </p:spPr>
        <p:txBody>
          <a:bodyPr wrap="none" lIns="0" tIns="0" rIns="0" bIns="0" rtlCol="0" anchor="t"/>
          <a:lstStyle/>
          <a:p>
            <a:pPr marL="0" indent="0" algn="l">
              <a:lnSpc>
                <a:spcPts val="2750"/>
              </a:lnSpc>
              <a:buNone/>
            </a:pPr>
            <a:r>
              <a:rPr lang="en-US" sz="2200" dirty="0">
                <a:solidFill>
                  <a:srgbClr val="4C4C4D"/>
                </a:solidFill>
                <a:latin typeface="Crimson Pro Semi Bold" pitchFamily="34" charset="0"/>
                <a:ea typeface="Crimson Pro Semi Bold" pitchFamily="34" charset="-122"/>
                <a:cs typeface="Crimson Pro Semi Bold" pitchFamily="34" charset="-120"/>
              </a:rPr>
              <a:t>Social engineering awareness</a:t>
            </a:r>
            <a:endParaRPr lang="en-US" sz="2200" dirty="0"/>
          </a:p>
        </p:txBody>
      </p:sp>
      <p:sp>
        <p:nvSpPr>
          <p:cNvPr id="35" name="Shape 26"/>
          <p:cNvSpPr/>
          <p:nvPr/>
        </p:nvSpPr>
        <p:spPr>
          <a:xfrm>
            <a:off x="793790" y="5894665"/>
            <a:ext cx="13042702" cy="1178600"/>
          </a:xfrm>
          <a:prstGeom prst="roundRect">
            <a:avLst>
              <a:gd name="adj" fmla="val 12413"/>
            </a:avLst>
          </a:prstGeom>
          <a:solidFill>
            <a:srgbClr val="FFFFFF"/>
          </a:solidFill>
          <a:ln/>
        </p:spPr>
      </p:sp>
      <p:sp>
        <p:nvSpPr>
          <p:cNvPr id="36" name="Shape 27"/>
          <p:cNvSpPr/>
          <p:nvPr/>
        </p:nvSpPr>
        <p:spPr>
          <a:xfrm>
            <a:off x="793790" y="5864185"/>
            <a:ext cx="13042702" cy="121920"/>
          </a:xfrm>
          <a:prstGeom prst="roundRect">
            <a:avLst>
              <a:gd name="adj" fmla="val 27907"/>
            </a:avLst>
          </a:prstGeom>
          <a:solidFill>
            <a:srgbClr val="CCFFCC"/>
          </a:solidFill>
          <a:ln/>
        </p:spPr>
      </p:sp>
      <p:sp>
        <p:nvSpPr>
          <p:cNvPr id="37" name="Shape 28"/>
          <p:cNvSpPr/>
          <p:nvPr/>
        </p:nvSpPr>
        <p:spPr>
          <a:xfrm>
            <a:off x="6974860" y="5554504"/>
            <a:ext cx="680442" cy="680442"/>
          </a:xfrm>
          <a:prstGeom prst="roundRect">
            <a:avLst>
              <a:gd name="adj" fmla="val 134383"/>
            </a:avLst>
          </a:prstGeom>
          <a:solidFill>
            <a:srgbClr val="CCFFCC"/>
          </a:solidFill>
          <a:ln/>
        </p:spPr>
      </p:sp>
      <p:pic>
        <p:nvPicPr>
          <p:cNvPr id="38" name="Image 7" descr="preencoded.png"/>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7178933" y="5758577"/>
            <a:ext cx="272177" cy="272177"/>
          </a:xfrm>
          <a:prstGeom prst="rect">
            <a:avLst/>
          </a:prstGeom>
        </p:spPr>
      </p:pic>
      <p:sp>
        <p:nvSpPr>
          <p:cNvPr id="39" name="Text 29"/>
          <p:cNvSpPr/>
          <p:nvPr/>
        </p:nvSpPr>
        <p:spPr>
          <a:xfrm>
            <a:off x="1051084" y="6461641"/>
            <a:ext cx="3398758" cy="354330"/>
          </a:xfrm>
          <a:prstGeom prst="rect">
            <a:avLst/>
          </a:prstGeom>
          <a:noFill/>
          <a:ln/>
        </p:spPr>
        <p:txBody>
          <a:bodyPr wrap="none" lIns="0" tIns="0" rIns="0" bIns="0" rtlCol="0" anchor="t"/>
          <a:lstStyle/>
          <a:p>
            <a:pPr marL="0" indent="0" algn="l">
              <a:lnSpc>
                <a:spcPts val="2750"/>
              </a:lnSpc>
              <a:buNone/>
            </a:pPr>
            <a:r>
              <a:rPr lang="en-US" sz="2200" dirty="0">
                <a:solidFill>
                  <a:srgbClr val="4C4C4D"/>
                </a:solidFill>
                <a:latin typeface="Crimson Pro Semi Bold" pitchFamily="34" charset="0"/>
                <a:ea typeface="Crimson Pro Semi Bold" pitchFamily="34" charset="-122"/>
                <a:cs typeface="Crimson Pro Semi Bold" pitchFamily="34" charset="-120"/>
              </a:rPr>
              <a:t>Simulated phishing exercises</a:t>
            </a:r>
            <a:endParaRPr lang="en-US" sz="2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793790" y="759262"/>
            <a:ext cx="5097304" cy="496133"/>
          </a:xfrm>
          <a:prstGeom prst="rect">
            <a:avLst/>
          </a:prstGeom>
          <a:noFill/>
          <a:ln/>
        </p:spPr>
        <p:txBody>
          <a:bodyPr wrap="none" lIns="0" tIns="0" rIns="0" bIns="0" rtlCol="0" anchor="t"/>
          <a:lstStyle/>
          <a:p>
            <a:pPr marL="0" indent="0" algn="l">
              <a:lnSpc>
                <a:spcPts val="3900"/>
              </a:lnSpc>
              <a:buNone/>
            </a:pPr>
            <a:r>
              <a:rPr lang="en-US" sz="3100" dirty="0">
                <a:solidFill>
                  <a:srgbClr val="152D47"/>
                </a:solidFill>
                <a:latin typeface="Crimson Pro Semi Bold" pitchFamily="34" charset="0"/>
                <a:ea typeface="Crimson Pro Semi Bold" pitchFamily="34" charset="-122"/>
                <a:cs typeface="Crimson Pro Semi Bold" pitchFamily="34" charset="-120"/>
              </a:rPr>
              <a:t>Incident Response for Phishing</a:t>
            </a:r>
            <a:endParaRPr lang="en-US" sz="3100" dirty="0"/>
          </a:p>
        </p:txBody>
      </p:sp>
      <p:sp>
        <p:nvSpPr>
          <p:cNvPr id="3" name="Text 1"/>
          <p:cNvSpPr/>
          <p:nvPr/>
        </p:nvSpPr>
        <p:spPr>
          <a:xfrm>
            <a:off x="793790" y="1299805"/>
            <a:ext cx="3300413" cy="396835"/>
          </a:xfrm>
          <a:prstGeom prst="rect">
            <a:avLst/>
          </a:prstGeom>
          <a:noFill/>
          <a:ln/>
        </p:spPr>
        <p:txBody>
          <a:bodyPr wrap="none" lIns="0" tIns="0" rIns="0" bIns="0" rtlCol="0" anchor="t"/>
          <a:lstStyle/>
          <a:p>
            <a:pPr marL="0" indent="0" algn="l">
              <a:lnSpc>
                <a:spcPts val="3100"/>
              </a:lnSpc>
              <a:buNone/>
            </a:pPr>
            <a:r>
              <a:rPr lang="en-US" sz="2500" dirty="0">
                <a:solidFill>
                  <a:srgbClr val="152D47"/>
                </a:solidFill>
                <a:latin typeface="Crimson Pro Semi Bold" pitchFamily="34" charset="0"/>
                <a:ea typeface="Crimson Pro Semi Bold" pitchFamily="34" charset="-122"/>
                <a:cs typeface="Crimson Pro Semi Bold" pitchFamily="34" charset="-120"/>
              </a:rPr>
              <a:t>When phishing detected:</a:t>
            </a:r>
            <a:endParaRPr lang="en-US" sz="2500" dirty="0"/>
          </a:p>
        </p:txBody>
      </p:sp>
      <p:sp>
        <p:nvSpPr>
          <p:cNvPr id="4" name="Shape 2"/>
          <p:cNvSpPr/>
          <p:nvPr/>
        </p:nvSpPr>
        <p:spPr>
          <a:xfrm>
            <a:off x="793790" y="2101453"/>
            <a:ext cx="6465808" cy="794385"/>
          </a:xfrm>
          <a:prstGeom prst="roundRect">
            <a:avLst>
              <a:gd name="adj" fmla="val 13813"/>
            </a:avLst>
          </a:prstGeom>
          <a:solidFill>
            <a:srgbClr val="FFFFFF"/>
          </a:solidFill>
          <a:ln/>
        </p:spPr>
      </p:sp>
      <p:sp>
        <p:nvSpPr>
          <p:cNvPr id="5" name="Shape 3"/>
          <p:cNvSpPr/>
          <p:nvPr/>
        </p:nvSpPr>
        <p:spPr>
          <a:xfrm>
            <a:off x="793790" y="2078593"/>
            <a:ext cx="6465808" cy="91440"/>
          </a:xfrm>
          <a:prstGeom prst="roundRect">
            <a:avLst>
              <a:gd name="adj" fmla="val 26046"/>
            </a:avLst>
          </a:prstGeom>
          <a:solidFill>
            <a:srgbClr val="FFF3E0"/>
          </a:solidFill>
          <a:ln/>
        </p:spPr>
      </p:sp>
      <p:sp>
        <p:nvSpPr>
          <p:cNvPr id="6" name="Shape 4"/>
          <p:cNvSpPr/>
          <p:nvPr/>
        </p:nvSpPr>
        <p:spPr>
          <a:xfrm>
            <a:off x="3788569" y="1863328"/>
            <a:ext cx="476250" cy="476250"/>
          </a:xfrm>
          <a:prstGeom prst="roundRect">
            <a:avLst>
              <a:gd name="adj" fmla="val 192000"/>
            </a:avLst>
          </a:prstGeom>
          <a:solidFill>
            <a:srgbClr val="FFF3E0"/>
          </a:solidFill>
          <a:ln/>
        </p:spPr>
      </p:sp>
      <p:pic>
        <p:nvPicPr>
          <p:cNvPr id="7"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931444" y="2006203"/>
            <a:ext cx="190500" cy="190500"/>
          </a:xfrm>
          <a:prstGeom prst="rect">
            <a:avLst/>
          </a:prstGeom>
        </p:spPr>
      </p:pic>
      <p:sp>
        <p:nvSpPr>
          <p:cNvPr id="8" name="Text 5"/>
          <p:cNvSpPr/>
          <p:nvPr/>
        </p:nvSpPr>
        <p:spPr>
          <a:xfrm>
            <a:off x="975360" y="2498288"/>
            <a:ext cx="6102668" cy="215979"/>
          </a:xfrm>
          <a:prstGeom prst="rect">
            <a:avLst/>
          </a:prstGeom>
          <a:noFill/>
          <a:ln/>
        </p:spPr>
        <p:txBody>
          <a:bodyPr wrap="none" lIns="0" tIns="0" rIns="0" bIns="0" rtlCol="0" anchor="t"/>
          <a:lstStyle/>
          <a:p>
            <a:pPr marL="0" indent="0" algn="l">
              <a:lnSpc>
                <a:spcPts val="1700"/>
              </a:lnSpc>
              <a:buNone/>
            </a:pPr>
            <a:r>
              <a:rPr lang="en-US" sz="1250" dirty="0">
                <a:solidFill>
                  <a:srgbClr val="4C4C4D"/>
                </a:solidFill>
                <a:latin typeface="Heebo" pitchFamily="34" charset="0"/>
                <a:ea typeface="Heebo" pitchFamily="34" charset="-122"/>
                <a:cs typeface="Heebo" pitchFamily="34" charset="-120"/>
              </a:rPr>
              <a:t>Don't click any links</a:t>
            </a:r>
            <a:endParaRPr lang="en-US" sz="1250" dirty="0"/>
          </a:p>
        </p:txBody>
      </p:sp>
      <p:sp>
        <p:nvSpPr>
          <p:cNvPr id="9" name="Shape 6"/>
          <p:cNvSpPr/>
          <p:nvPr/>
        </p:nvSpPr>
        <p:spPr>
          <a:xfrm>
            <a:off x="7370683" y="2101453"/>
            <a:ext cx="6465927" cy="794385"/>
          </a:xfrm>
          <a:prstGeom prst="roundRect">
            <a:avLst>
              <a:gd name="adj" fmla="val 13813"/>
            </a:avLst>
          </a:prstGeom>
          <a:solidFill>
            <a:srgbClr val="FFFFFF"/>
          </a:solidFill>
          <a:ln/>
        </p:spPr>
      </p:sp>
      <p:sp>
        <p:nvSpPr>
          <p:cNvPr id="10" name="Shape 7"/>
          <p:cNvSpPr/>
          <p:nvPr/>
        </p:nvSpPr>
        <p:spPr>
          <a:xfrm>
            <a:off x="7370683" y="2078593"/>
            <a:ext cx="6465927" cy="91440"/>
          </a:xfrm>
          <a:prstGeom prst="roundRect">
            <a:avLst>
              <a:gd name="adj" fmla="val 26046"/>
            </a:avLst>
          </a:prstGeom>
          <a:solidFill>
            <a:srgbClr val="FFF3E0"/>
          </a:solidFill>
          <a:ln/>
        </p:spPr>
      </p:sp>
      <p:sp>
        <p:nvSpPr>
          <p:cNvPr id="11" name="Shape 8"/>
          <p:cNvSpPr/>
          <p:nvPr/>
        </p:nvSpPr>
        <p:spPr>
          <a:xfrm>
            <a:off x="10365462" y="1863328"/>
            <a:ext cx="476250" cy="476250"/>
          </a:xfrm>
          <a:prstGeom prst="roundRect">
            <a:avLst>
              <a:gd name="adj" fmla="val 192000"/>
            </a:avLst>
          </a:prstGeom>
          <a:solidFill>
            <a:srgbClr val="FFF3E0"/>
          </a:solidFill>
          <a:ln/>
        </p:spPr>
      </p:sp>
      <p:pic>
        <p:nvPicPr>
          <p:cNvPr id="12"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508337" y="2006203"/>
            <a:ext cx="190500" cy="190500"/>
          </a:xfrm>
          <a:prstGeom prst="rect">
            <a:avLst/>
          </a:prstGeom>
        </p:spPr>
      </p:pic>
      <p:sp>
        <p:nvSpPr>
          <p:cNvPr id="13" name="Text 9"/>
          <p:cNvSpPr/>
          <p:nvPr/>
        </p:nvSpPr>
        <p:spPr>
          <a:xfrm>
            <a:off x="7552253" y="2498288"/>
            <a:ext cx="6102787" cy="215979"/>
          </a:xfrm>
          <a:prstGeom prst="rect">
            <a:avLst/>
          </a:prstGeom>
          <a:noFill/>
          <a:ln/>
        </p:spPr>
        <p:txBody>
          <a:bodyPr wrap="none" lIns="0" tIns="0" rIns="0" bIns="0" rtlCol="0" anchor="t"/>
          <a:lstStyle/>
          <a:p>
            <a:pPr marL="0" indent="0" algn="l">
              <a:lnSpc>
                <a:spcPts val="1700"/>
              </a:lnSpc>
              <a:buNone/>
            </a:pPr>
            <a:r>
              <a:rPr lang="en-US" sz="1250" dirty="0">
                <a:solidFill>
                  <a:srgbClr val="4C4C4D"/>
                </a:solidFill>
                <a:latin typeface="Heebo" pitchFamily="34" charset="0"/>
                <a:ea typeface="Heebo" pitchFamily="34" charset="-122"/>
                <a:cs typeface="Heebo" pitchFamily="34" charset="-120"/>
              </a:rPr>
              <a:t>Report to IT/security team</a:t>
            </a:r>
            <a:endParaRPr lang="en-US" sz="1250" dirty="0"/>
          </a:p>
        </p:txBody>
      </p:sp>
      <p:sp>
        <p:nvSpPr>
          <p:cNvPr id="14" name="Shape 10"/>
          <p:cNvSpPr/>
          <p:nvPr/>
        </p:nvSpPr>
        <p:spPr>
          <a:xfrm>
            <a:off x="793790" y="3245048"/>
            <a:ext cx="6465808" cy="794385"/>
          </a:xfrm>
          <a:prstGeom prst="roundRect">
            <a:avLst>
              <a:gd name="adj" fmla="val 13813"/>
            </a:avLst>
          </a:prstGeom>
          <a:solidFill>
            <a:srgbClr val="FFFFFF"/>
          </a:solidFill>
          <a:ln/>
        </p:spPr>
      </p:sp>
      <p:sp>
        <p:nvSpPr>
          <p:cNvPr id="15" name="Shape 11"/>
          <p:cNvSpPr/>
          <p:nvPr/>
        </p:nvSpPr>
        <p:spPr>
          <a:xfrm>
            <a:off x="793790" y="3222188"/>
            <a:ext cx="6465808" cy="91440"/>
          </a:xfrm>
          <a:prstGeom prst="roundRect">
            <a:avLst>
              <a:gd name="adj" fmla="val 26046"/>
            </a:avLst>
          </a:prstGeom>
          <a:solidFill>
            <a:srgbClr val="FFF3E0"/>
          </a:solidFill>
          <a:ln/>
        </p:spPr>
      </p:sp>
      <p:sp>
        <p:nvSpPr>
          <p:cNvPr id="16" name="Shape 12"/>
          <p:cNvSpPr/>
          <p:nvPr/>
        </p:nvSpPr>
        <p:spPr>
          <a:xfrm>
            <a:off x="3788569" y="3006923"/>
            <a:ext cx="476250" cy="476250"/>
          </a:xfrm>
          <a:prstGeom prst="roundRect">
            <a:avLst>
              <a:gd name="adj" fmla="val 192000"/>
            </a:avLst>
          </a:prstGeom>
          <a:solidFill>
            <a:srgbClr val="FFF3E0"/>
          </a:solidFill>
          <a:ln/>
        </p:spPr>
      </p:sp>
      <p:pic>
        <p:nvPicPr>
          <p:cNvPr id="17"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931444" y="3149798"/>
            <a:ext cx="190500" cy="190500"/>
          </a:xfrm>
          <a:prstGeom prst="rect">
            <a:avLst/>
          </a:prstGeom>
        </p:spPr>
      </p:pic>
      <p:sp>
        <p:nvSpPr>
          <p:cNvPr id="18" name="Text 13"/>
          <p:cNvSpPr/>
          <p:nvPr/>
        </p:nvSpPr>
        <p:spPr>
          <a:xfrm>
            <a:off x="975360" y="3641884"/>
            <a:ext cx="6102668" cy="215979"/>
          </a:xfrm>
          <a:prstGeom prst="rect">
            <a:avLst/>
          </a:prstGeom>
          <a:noFill/>
          <a:ln/>
        </p:spPr>
        <p:txBody>
          <a:bodyPr wrap="none" lIns="0" tIns="0" rIns="0" bIns="0" rtlCol="0" anchor="t"/>
          <a:lstStyle/>
          <a:p>
            <a:pPr marL="0" indent="0" algn="l">
              <a:lnSpc>
                <a:spcPts val="1700"/>
              </a:lnSpc>
              <a:buNone/>
            </a:pPr>
            <a:r>
              <a:rPr lang="en-US" sz="1250" dirty="0">
                <a:solidFill>
                  <a:srgbClr val="4C4C4D"/>
                </a:solidFill>
                <a:latin typeface="Heebo" pitchFamily="34" charset="0"/>
                <a:ea typeface="Heebo" pitchFamily="34" charset="-122"/>
                <a:cs typeface="Heebo" pitchFamily="34" charset="-120"/>
              </a:rPr>
              <a:t>Preserve email headers</a:t>
            </a:r>
            <a:endParaRPr lang="en-US" sz="1250" dirty="0"/>
          </a:p>
        </p:txBody>
      </p:sp>
      <p:sp>
        <p:nvSpPr>
          <p:cNvPr id="19" name="Shape 14"/>
          <p:cNvSpPr/>
          <p:nvPr/>
        </p:nvSpPr>
        <p:spPr>
          <a:xfrm>
            <a:off x="7370683" y="3245048"/>
            <a:ext cx="6465927" cy="794385"/>
          </a:xfrm>
          <a:prstGeom prst="roundRect">
            <a:avLst>
              <a:gd name="adj" fmla="val 13813"/>
            </a:avLst>
          </a:prstGeom>
          <a:solidFill>
            <a:srgbClr val="FFFFFF"/>
          </a:solidFill>
          <a:ln/>
        </p:spPr>
      </p:sp>
      <p:sp>
        <p:nvSpPr>
          <p:cNvPr id="20" name="Shape 15"/>
          <p:cNvSpPr/>
          <p:nvPr/>
        </p:nvSpPr>
        <p:spPr>
          <a:xfrm>
            <a:off x="7370683" y="3222188"/>
            <a:ext cx="6465927" cy="91440"/>
          </a:xfrm>
          <a:prstGeom prst="roundRect">
            <a:avLst>
              <a:gd name="adj" fmla="val 26046"/>
            </a:avLst>
          </a:prstGeom>
          <a:solidFill>
            <a:srgbClr val="FFF3E0"/>
          </a:solidFill>
          <a:ln/>
        </p:spPr>
      </p:sp>
      <p:sp>
        <p:nvSpPr>
          <p:cNvPr id="21" name="Shape 16"/>
          <p:cNvSpPr/>
          <p:nvPr/>
        </p:nvSpPr>
        <p:spPr>
          <a:xfrm>
            <a:off x="10365462" y="3006923"/>
            <a:ext cx="476250" cy="476250"/>
          </a:xfrm>
          <a:prstGeom prst="roundRect">
            <a:avLst>
              <a:gd name="adj" fmla="val 192000"/>
            </a:avLst>
          </a:prstGeom>
          <a:solidFill>
            <a:srgbClr val="FFF3E0"/>
          </a:solidFill>
          <a:ln/>
        </p:spPr>
      </p:sp>
      <p:pic>
        <p:nvPicPr>
          <p:cNvPr id="22"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508337" y="3149798"/>
            <a:ext cx="190500" cy="190500"/>
          </a:xfrm>
          <a:prstGeom prst="rect">
            <a:avLst/>
          </a:prstGeom>
        </p:spPr>
      </p:pic>
      <p:sp>
        <p:nvSpPr>
          <p:cNvPr id="23" name="Text 17"/>
          <p:cNvSpPr/>
          <p:nvPr/>
        </p:nvSpPr>
        <p:spPr>
          <a:xfrm>
            <a:off x="7552253" y="3641884"/>
            <a:ext cx="6102787" cy="215979"/>
          </a:xfrm>
          <a:prstGeom prst="rect">
            <a:avLst/>
          </a:prstGeom>
          <a:noFill/>
          <a:ln/>
        </p:spPr>
        <p:txBody>
          <a:bodyPr wrap="none" lIns="0" tIns="0" rIns="0" bIns="0" rtlCol="0" anchor="t"/>
          <a:lstStyle/>
          <a:p>
            <a:pPr marL="0" indent="0" algn="l">
              <a:lnSpc>
                <a:spcPts val="1700"/>
              </a:lnSpc>
              <a:buNone/>
            </a:pPr>
            <a:r>
              <a:rPr lang="en-US" sz="1250" dirty="0">
                <a:solidFill>
                  <a:srgbClr val="4C4C4D"/>
                </a:solidFill>
                <a:latin typeface="Heebo" pitchFamily="34" charset="0"/>
                <a:ea typeface="Heebo" pitchFamily="34" charset="-122"/>
                <a:cs typeface="Heebo" pitchFamily="34" charset="-120"/>
              </a:rPr>
              <a:t>Block sender domain</a:t>
            </a:r>
            <a:endParaRPr lang="en-US" sz="1250" dirty="0"/>
          </a:p>
        </p:txBody>
      </p:sp>
      <p:sp>
        <p:nvSpPr>
          <p:cNvPr id="24" name="Shape 18"/>
          <p:cNvSpPr/>
          <p:nvPr/>
        </p:nvSpPr>
        <p:spPr>
          <a:xfrm>
            <a:off x="793790" y="4388644"/>
            <a:ext cx="6465808" cy="794385"/>
          </a:xfrm>
          <a:prstGeom prst="roundRect">
            <a:avLst>
              <a:gd name="adj" fmla="val 13813"/>
            </a:avLst>
          </a:prstGeom>
          <a:solidFill>
            <a:srgbClr val="FFFFFF"/>
          </a:solidFill>
          <a:ln/>
        </p:spPr>
      </p:sp>
      <p:sp>
        <p:nvSpPr>
          <p:cNvPr id="25" name="Shape 19"/>
          <p:cNvSpPr/>
          <p:nvPr/>
        </p:nvSpPr>
        <p:spPr>
          <a:xfrm>
            <a:off x="793790" y="4365784"/>
            <a:ext cx="6465808" cy="91440"/>
          </a:xfrm>
          <a:prstGeom prst="roundRect">
            <a:avLst>
              <a:gd name="adj" fmla="val 26046"/>
            </a:avLst>
          </a:prstGeom>
          <a:solidFill>
            <a:srgbClr val="FFF3E0"/>
          </a:solidFill>
          <a:ln/>
        </p:spPr>
      </p:sp>
      <p:sp>
        <p:nvSpPr>
          <p:cNvPr id="26" name="Shape 20"/>
          <p:cNvSpPr/>
          <p:nvPr/>
        </p:nvSpPr>
        <p:spPr>
          <a:xfrm>
            <a:off x="3788569" y="4150519"/>
            <a:ext cx="476250" cy="476250"/>
          </a:xfrm>
          <a:prstGeom prst="roundRect">
            <a:avLst>
              <a:gd name="adj" fmla="val 192000"/>
            </a:avLst>
          </a:prstGeom>
          <a:solidFill>
            <a:srgbClr val="FFF3E0"/>
          </a:solidFill>
          <a:ln/>
        </p:spPr>
      </p:sp>
      <p:pic>
        <p:nvPicPr>
          <p:cNvPr id="27"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931444" y="4293394"/>
            <a:ext cx="190500" cy="190500"/>
          </a:xfrm>
          <a:prstGeom prst="rect">
            <a:avLst/>
          </a:prstGeom>
        </p:spPr>
      </p:pic>
      <p:sp>
        <p:nvSpPr>
          <p:cNvPr id="28" name="Text 21"/>
          <p:cNvSpPr/>
          <p:nvPr/>
        </p:nvSpPr>
        <p:spPr>
          <a:xfrm>
            <a:off x="975360" y="4785479"/>
            <a:ext cx="6102668" cy="215979"/>
          </a:xfrm>
          <a:prstGeom prst="rect">
            <a:avLst/>
          </a:prstGeom>
          <a:noFill/>
          <a:ln/>
        </p:spPr>
        <p:txBody>
          <a:bodyPr wrap="none" lIns="0" tIns="0" rIns="0" bIns="0" rtlCol="0" anchor="t"/>
          <a:lstStyle/>
          <a:p>
            <a:pPr marL="0" indent="0" algn="l">
              <a:lnSpc>
                <a:spcPts val="1700"/>
              </a:lnSpc>
              <a:buNone/>
            </a:pPr>
            <a:r>
              <a:rPr lang="en-US" sz="1250" dirty="0">
                <a:solidFill>
                  <a:srgbClr val="4C4C4D"/>
                </a:solidFill>
                <a:latin typeface="Heebo" pitchFamily="34" charset="0"/>
                <a:ea typeface="Heebo" pitchFamily="34" charset="-122"/>
                <a:cs typeface="Heebo" pitchFamily="34" charset="-120"/>
              </a:rPr>
              <a:t>Scan affected systems</a:t>
            </a:r>
            <a:endParaRPr lang="en-US" sz="1250" dirty="0"/>
          </a:p>
        </p:txBody>
      </p:sp>
      <p:sp>
        <p:nvSpPr>
          <p:cNvPr id="29" name="Shape 22"/>
          <p:cNvSpPr/>
          <p:nvPr/>
        </p:nvSpPr>
        <p:spPr>
          <a:xfrm>
            <a:off x="7370683" y="4388644"/>
            <a:ext cx="6465927" cy="794385"/>
          </a:xfrm>
          <a:prstGeom prst="roundRect">
            <a:avLst>
              <a:gd name="adj" fmla="val 13813"/>
            </a:avLst>
          </a:prstGeom>
          <a:solidFill>
            <a:srgbClr val="FFFFFF"/>
          </a:solidFill>
          <a:ln/>
        </p:spPr>
      </p:sp>
      <p:sp>
        <p:nvSpPr>
          <p:cNvPr id="30" name="Shape 23"/>
          <p:cNvSpPr/>
          <p:nvPr/>
        </p:nvSpPr>
        <p:spPr>
          <a:xfrm>
            <a:off x="7370683" y="4365784"/>
            <a:ext cx="6465927" cy="91440"/>
          </a:xfrm>
          <a:prstGeom prst="roundRect">
            <a:avLst>
              <a:gd name="adj" fmla="val 26046"/>
            </a:avLst>
          </a:prstGeom>
          <a:solidFill>
            <a:srgbClr val="FFF3E0"/>
          </a:solidFill>
          <a:ln/>
        </p:spPr>
      </p:sp>
      <p:sp>
        <p:nvSpPr>
          <p:cNvPr id="31" name="Shape 24"/>
          <p:cNvSpPr/>
          <p:nvPr/>
        </p:nvSpPr>
        <p:spPr>
          <a:xfrm>
            <a:off x="10365462" y="4150519"/>
            <a:ext cx="476250" cy="476250"/>
          </a:xfrm>
          <a:prstGeom prst="roundRect">
            <a:avLst>
              <a:gd name="adj" fmla="val 192000"/>
            </a:avLst>
          </a:prstGeom>
          <a:solidFill>
            <a:srgbClr val="FFF3E0"/>
          </a:solidFill>
          <a:ln/>
        </p:spPr>
      </p:sp>
      <p:pic>
        <p:nvPicPr>
          <p:cNvPr id="32" name="Image 5"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0508337" y="4293394"/>
            <a:ext cx="190500" cy="190500"/>
          </a:xfrm>
          <a:prstGeom prst="rect">
            <a:avLst/>
          </a:prstGeom>
        </p:spPr>
      </p:pic>
      <p:sp>
        <p:nvSpPr>
          <p:cNvPr id="33" name="Text 25"/>
          <p:cNvSpPr/>
          <p:nvPr/>
        </p:nvSpPr>
        <p:spPr>
          <a:xfrm>
            <a:off x="7552253" y="4785479"/>
            <a:ext cx="6102787" cy="215979"/>
          </a:xfrm>
          <a:prstGeom prst="rect">
            <a:avLst/>
          </a:prstGeom>
          <a:noFill/>
          <a:ln/>
        </p:spPr>
        <p:txBody>
          <a:bodyPr wrap="none" lIns="0" tIns="0" rIns="0" bIns="0" rtlCol="0" anchor="t"/>
          <a:lstStyle/>
          <a:p>
            <a:pPr marL="0" indent="0" algn="l">
              <a:lnSpc>
                <a:spcPts val="1700"/>
              </a:lnSpc>
              <a:buNone/>
            </a:pPr>
            <a:r>
              <a:rPr lang="en-US" sz="1250" dirty="0">
                <a:solidFill>
                  <a:srgbClr val="4C4C4D"/>
                </a:solidFill>
                <a:latin typeface="Heebo" pitchFamily="34" charset="0"/>
                <a:ea typeface="Heebo" pitchFamily="34" charset="-122"/>
                <a:cs typeface="Heebo" pitchFamily="34" charset="-120"/>
              </a:rPr>
              <a:t>Reset compromised credentials</a:t>
            </a:r>
            <a:endParaRPr lang="en-US" sz="1250" dirty="0"/>
          </a:p>
        </p:txBody>
      </p:sp>
      <p:sp>
        <p:nvSpPr>
          <p:cNvPr id="34" name="Shape 26"/>
          <p:cNvSpPr/>
          <p:nvPr/>
        </p:nvSpPr>
        <p:spPr>
          <a:xfrm>
            <a:off x="793790" y="5532239"/>
            <a:ext cx="6465808" cy="794385"/>
          </a:xfrm>
          <a:prstGeom prst="roundRect">
            <a:avLst>
              <a:gd name="adj" fmla="val 13813"/>
            </a:avLst>
          </a:prstGeom>
          <a:solidFill>
            <a:srgbClr val="FFFFFF"/>
          </a:solidFill>
          <a:ln/>
        </p:spPr>
      </p:sp>
      <p:sp>
        <p:nvSpPr>
          <p:cNvPr id="35" name="Shape 27"/>
          <p:cNvSpPr/>
          <p:nvPr/>
        </p:nvSpPr>
        <p:spPr>
          <a:xfrm>
            <a:off x="793790" y="5509379"/>
            <a:ext cx="6465808" cy="91440"/>
          </a:xfrm>
          <a:prstGeom prst="roundRect">
            <a:avLst>
              <a:gd name="adj" fmla="val 26046"/>
            </a:avLst>
          </a:prstGeom>
          <a:solidFill>
            <a:srgbClr val="FFF3E0"/>
          </a:solidFill>
          <a:ln/>
        </p:spPr>
      </p:sp>
      <p:sp>
        <p:nvSpPr>
          <p:cNvPr id="36" name="Shape 28"/>
          <p:cNvSpPr/>
          <p:nvPr/>
        </p:nvSpPr>
        <p:spPr>
          <a:xfrm>
            <a:off x="3788569" y="5294114"/>
            <a:ext cx="476250" cy="476250"/>
          </a:xfrm>
          <a:prstGeom prst="roundRect">
            <a:avLst>
              <a:gd name="adj" fmla="val 192000"/>
            </a:avLst>
          </a:prstGeom>
          <a:solidFill>
            <a:srgbClr val="FFF3E0"/>
          </a:solidFill>
          <a:ln/>
        </p:spPr>
      </p:sp>
      <p:pic>
        <p:nvPicPr>
          <p:cNvPr id="37" name="Image 6" descr="preencoded.png"/>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3931444" y="5436989"/>
            <a:ext cx="190500" cy="190500"/>
          </a:xfrm>
          <a:prstGeom prst="rect">
            <a:avLst/>
          </a:prstGeom>
        </p:spPr>
      </p:pic>
      <p:sp>
        <p:nvSpPr>
          <p:cNvPr id="38" name="Text 29"/>
          <p:cNvSpPr/>
          <p:nvPr/>
        </p:nvSpPr>
        <p:spPr>
          <a:xfrm>
            <a:off x="975360" y="5929074"/>
            <a:ext cx="6102668" cy="215979"/>
          </a:xfrm>
          <a:prstGeom prst="rect">
            <a:avLst/>
          </a:prstGeom>
          <a:noFill/>
          <a:ln/>
        </p:spPr>
        <p:txBody>
          <a:bodyPr wrap="none" lIns="0" tIns="0" rIns="0" bIns="0" rtlCol="0" anchor="t"/>
          <a:lstStyle/>
          <a:p>
            <a:pPr marL="0" indent="0" algn="l">
              <a:lnSpc>
                <a:spcPts val="1700"/>
              </a:lnSpc>
              <a:buNone/>
            </a:pPr>
            <a:r>
              <a:rPr lang="en-US" sz="1250" dirty="0">
                <a:solidFill>
                  <a:srgbClr val="4C4C4D"/>
                </a:solidFill>
                <a:latin typeface="Heebo" pitchFamily="34" charset="0"/>
                <a:ea typeface="Heebo" pitchFamily="34" charset="-122"/>
                <a:cs typeface="Heebo" pitchFamily="34" charset="-120"/>
              </a:rPr>
              <a:t>Notify affected users</a:t>
            </a:r>
            <a:endParaRPr lang="en-US" sz="1250" dirty="0"/>
          </a:p>
        </p:txBody>
      </p:sp>
      <p:sp>
        <p:nvSpPr>
          <p:cNvPr id="39" name="Shape 30"/>
          <p:cNvSpPr/>
          <p:nvPr/>
        </p:nvSpPr>
        <p:spPr>
          <a:xfrm>
            <a:off x="7370683" y="5532239"/>
            <a:ext cx="6465927" cy="794385"/>
          </a:xfrm>
          <a:prstGeom prst="roundRect">
            <a:avLst>
              <a:gd name="adj" fmla="val 13813"/>
            </a:avLst>
          </a:prstGeom>
          <a:solidFill>
            <a:srgbClr val="FFFFFF"/>
          </a:solidFill>
          <a:ln/>
        </p:spPr>
      </p:sp>
      <p:sp>
        <p:nvSpPr>
          <p:cNvPr id="40" name="Shape 31"/>
          <p:cNvSpPr/>
          <p:nvPr/>
        </p:nvSpPr>
        <p:spPr>
          <a:xfrm>
            <a:off x="7370683" y="5509379"/>
            <a:ext cx="6465927" cy="91440"/>
          </a:xfrm>
          <a:prstGeom prst="roundRect">
            <a:avLst>
              <a:gd name="adj" fmla="val 26046"/>
            </a:avLst>
          </a:prstGeom>
          <a:solidFill>
            <a:srgbClr val="FFF3E0"/>
          </a:solidFill>
          <a:ln/>
        </p:spPr>
      </p:sp>
      <p:sp>
        <p:nvSpPr>
          <p:cNvPr id="41" name="Shape 32"/>
          <p:cNvSpPr/>
          <p:nvPr/>
        </p:nvSpPr>
        <p:spPr>
          <a:xfrm>
            <a:off x="10365462" y="5294114"/>
            <a:ext cx="476250" cy="476250"/>
          </a:xfrm>
          <a:prstGeom prst="roundRect">
            <a:avLst>
              <a:gd name="adj" fmla="val 192000"/>
            </a:avLst>
          </a:prstGeom>
          <a:solidFill>
            <a:srgbClr val="FFF3E0"/>
          </a:solidFill>
          <a:ln/>
        </p:spPr>
      </p:sp>
      <p:pic>
        <p:nvPicPr>
          <p:cNvPr id="42" name="Image 7" descr="preencoded.png"/>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10508337" y="5436989"/>
            <a:ext cx="190500" cy="190500"/>
          </a:xfrm>
          <a:prstGeom prst="rect">
            <a:avLst/>
          </a:prstGeom>
        </p:spPr>
      </p:pic>
      <p:sp>
        <p:nvSpPr>
          <p:cNvPr id="43" name="Text 33"/>
          <p:cNvSpPr/>
          <p:nvPr/>
        </p:nvSpPr>
        <p:spPr>
          <a:xfrm>
            <a:off x="7552253" y="5929074"/>
            <a:ext cx="6102787" cy="215979"/>
          </a:xfrm>
          <a:prstGeom prst="rect">
            <a:avLst/>
          </a:prstGeom>
          <a:noFill/>
          <a:ln/>
        </p:spPr>
        <p:txBody>
          <a:bodyPr wrap="none" lIns="0" tIns="0" rIns="0" bIns="0" rtlCol="0" anchor="t"/>
          <a:lstStyle/>
          <a:p>
            <a:pPr marL="0" indent="0" algn="l">
              <a:lnSpc>
                <a:spcPts val="1700"/>
              </a:lnSpc>
              <a:buNone/>
            </a:pPr>
            <a:r>
              <a:rPr lang="en-US" sz="1250" dirty="0">
                <a:solidFill>
                  <a:srgbClr val="4C4C4D"/>
                </a:solidFill>
                <a:latin typeface="Heebo" pitchFamily="34" charset="0"/>
                <a:ea typeface="Heebo" pitchFamily="34" charset="-122"/>
                <a:cs typeface="Heebo" pitchFamily="34" charset="-120"/>
              </a:rPr>
              <a:t>Document incident</a:t>
            </a:r>
            <a:endParaRPr lang="en-US" sz="1250" dirty="0"/>
          </a:p>
        </p:txBody>
      </p:sp>
      <p:sp>
        <p:nvSpPr>
          <p:cNvPr id="44" name="Shape 34"/>
          <p:cNvSpPr/>
          <p:nvPr/>
        </p:nvSpPr>
        <p:spPr>
          <a:xfrm>
            <a:off x="793790" y="6675834"/>
            <a:ext cx="13042821" cy="794385"/>
          </a:xfrm>
          <a:prstGeom prst="roundRect">
            <a:avLst>
              <a:gd name="adj" fmla="val 13813"/>
            </a:avLst>
          </a:prstGeom>
          <a:solidFill>
            <a:srgbClr val="FFFFFF"/>
          </a:solidFill>
          <a:ln/>
        </p:spPr>
      </p:sp>
      <p:sp>
        <p:nvSpPr>
          <p:cNvPr id="45" name="Shape 35"/>
          <p:cNvSpPr/>
          <p:nvPr/>
        </p:nvSpPr>
        <p:spPr>
          <a:xfrm>
            <a:off x="793790" y="6652974"/>
            <a:ext cx="13042821" cy="91440"/>
          </a:xfrm>
          <a:prstGeom prst="roundRect">
            <a:avLst>
              <a:gd name="adj" fmla="val 26046"/>
            </a:avLst>
          </a:prstGeom>
          <a:solidFill>
            <a:srgbClr val="FFF3E0"/>
          </a:solidFill>
          <a:ln/>
        </p:spPr>
      </p:sp>
      <p:sp>
        <p:nvSpPr>
          <p:cNvPr id="46" name="Shape 36"/>
          <p:cNvSpPr/>
          <p:nvPr/>
        </p:nvSpPr>
        <p:spPr>
          <a:xfrm>
            <a:off x="7077075" y="6437709"/>
            <a:ext cx="476250" cy="476250"/>
          </a:xfrm>
          <a:prstGeom prst="roundRect">
            <a:avLst>
              <a:gd name="adj" fmla="val 192000"/>
            </a:avLst>
          </a:prstGeom>
          <a:solidFill>
            <a:srgbClr val="FFF3E0"/>
          </a:solidFill>
          <a:ln/>
        </p:spPr>
      </p:sp>
      <p:pic>
        <p:nvPicPr>
          <p:cNvPr id="47" name="Image 8" descr="preencoded.png"/>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7219950" y="6580584"/>
            <a:ext cx="190500" cy="190500"/>
          </a:xfrm>
          <a:prstGeom prst="rect">
            <a:avLst/>
          </a:prstGeom>
        </p:spPr>
      </p:pic>
      <p:sp>
        <p:nvSpPr>
          <p:cNvPr id="48" name="Text 37"/>
          <p:cNvSpPr/>
          <p:nvPr/>
        </p:nvSpPr>
        <p:spPr>
          <a:xfrm>
            <a:off x="975360" y="7072670"/>
            <a:ext cx="12679680" cy="215979"/>
          </a:xfrm>
          <a:prstGeom prst="rect">
            <a:avLst/>
          </a:prstGeom>
          <a:noFill/>
          <a:ln/>
        </p:spPr>
        <p:txBody>
          <a:bodyPr wrap="none" lIns="0" tIns="0" rIns="0" bIns="0" rtlCol="0" anchor="t"/>
          <a:lstStyle/>
          <a:p>
            <a:pPr marL="0" indent="0" algn="l">
              <a:lnSpc>
                <a:spcPts val="1700"/>
              </a:lnSpc>
              <a:buNone/>
            </a:pPr>
            <a:r>
              <a:rPr lang="en-US" sz="1250" dirty="0">
                <a:solidFill>
                  <a:srgbClr val="4C4C4D"/>
                </a:solidFill>
                <a:latin typeface="Heebo" pitchFamily="34" charset="0"/>
                <a:ea typeface="Heebo" pitchFamily="34" charset="-122"/>
                <a:cs typeface="Heebo" pitchFamily="34" charset="-120"/>
              </a:rPr>
              <a:t>Update security controls</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3760351"/>
            <a:ext cx="7291030" cy="708779"/>
          </a:xfrm>
          <a:prstGeom prst="rect">
            <a:avLst/>
          </a:prstGeom>
          <a:noFill/>
          <a:ln/>
        </p:spPr>
        <p:txBody>
          <a:bodyPr wrap="none" lIns="0" tIns="0" rIns="0" bIns="0" rtlCol="0" anchor="t"/>
          <a:lstStyle/>
          <a:p>
            <a:pPr marL="0" indent="0" algn="l">
              <a:lnSpc>
                <a:spcPts val="5550"/>
              </a:lnSpc>
              <a:buNone/>
            </a:pPr>
            <a:r>
              <a:rPr lang="en-US" sz="4450" dirty="0">
                <a:solidFill>
                  <a:srgbClr val="152D47"/>
                </a:solidFill>
                <a:latin typeface="Crimson Pro Semi Bold" pitchFamily="34" charset="0"/>
                <a:ea typeface="Crimson Pro Semi Bold" pitchFamily="34" charset="-122"/>
                <a:cs typeface="Crimson Pro Semi Bold" pitchFamily="34" charset="-120"/>
              </a:rPr>
              <a:t>Advanced Phishing Techniques</a:t>
            </a:r>
            <a:endParaRPr lang="en-US" sz="44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889992"/>
            <a:ext cx="6628924" cy="425291"/>
          </a:xfrm>
          <a:prstGeom prst="rect">
            <a:avLst/>
          </a:prstGeom>
          <a:noFill/>
          <a:ln/>
        </p:spPr>
        <p:txBody>
          <a:bodyPr wrap="none" lIns="0" tIns="0" rIns="0" bIns="0" rtlCol="0" anchor="t"/>
          <a:lstStyle/>
          <a:p>
            <a:pPr marL="0" indent="0" algn="l">
              <a:lnSpc>
                <a:spcPts val="3300"/>
              </a:lnSpc>
              <a:buNone/>
            </a:pPr>
            <a:r>
              <a:rPr lang="en-US" sz="2650" dirty="0">
                <a:solidFill>
                  <a:srgbClr val="152D47"/>
                </a:solidFill>
                <a:latin typeface="Crimson Pro Semi Bold" pitchFamily="34" charset="0"/>
                <a:ea typeface="Crimson Pro Semi Bold" pitchFamily="34" charset="-122"/>
                <a:cs typeface="Crimson Pro Semi Bold" pitchFamily="34" charset="-120"/>
              </a:rPr>
              <a:t>Real-Time Phishing (Adversary-in-the-Middle)</a:t>
            </a:r>
            <a:endParaRPr lang="en-US" sz="2650" dirty="0"/>
          </a:p>
        </p:txBody>
      </p:sp>
      <p:sp>
        <p:nvSpPr>
          <p:cNvPr id="3" name="Text 1"/>
          <p:cNvSpPr/>
          <p:nvPr/>
        </p:nvSpPr>
        <p:spPr>
          <a:xfrm>
            <a:off x="793790" y="1366242"/>
            <a:ext cx="2850952" cy="318849"/>
          </a:xfrm>
          <a:prstGeom prst="rect">
            <a:avLst/>
          </a:prstGeom>
          <a:noFill/>
          <a:ln/>
        </p:spPr>
        <p:txBody>
          <a:bodyPr wrap="none" lIns="0" tIns="0" rIns="0" bIns="0" rtlCol="0" anchor="t"/>
          <a:lstStyle/>
          <a:p>
            <a:pPr marL="0" indent="0" algn="l">
              <a:lnSpc>
                <a:spcPts val="2500"/>
              </a:lnSpc>
              <a:buNone/>
            </a:pPr>
            <a:r>
              <a:rPr lang="en-US" sz="2000" dirty="0">
                <a:solidFill>
                  <a:srgbClr val="152D47"/>
                </a:solidFill>
                <a:latin typeface="Crimson Pro Semi Bold" pitchFamily="34" charset="0"/>
                <a:ea typeface="Crimson Pro Semi Bold" pitchFamily="34" charset="-122"/>
                <a:cs typeface="Crimson Pro Semi Bold" pitchFamily="34" charset="-120"/>
              </a:rPr>
              <a:t>How AiTM Phishing Works</a:t>
            </a:r>
            <a:endParaRPr lang="en-US" sz="2000" dirty="0"/>
          </a:p>
        </p:txBody>
      </p:sp>
      <p:sp>
        <p:nvSpPr>
          <p:cNvPr id="4" name="Text 2"/>
          <p:cNvSpPr/>
          <p:nvPr/>
        </p:nvSpPr>
        <p:spPr>
          <a:xfrm>
            <a:off x="793790" y="1991201"/>
            <a:ext cx="6313884" cy="238125"/>
          </a:xfrm>
          <a:prstGeom prst="rect">
            <a:avLst/>
          </a:prstGeom>
          <a:noFill/>
          <a:ln/>
        </p:spPr>
        <p:txBody>
          <a:bodyPr wrap="none" lIns="0" tIns="0" rIns="0" bIns="0" rtlCol="0" anchor="t"/>
          <a:lstStyle/>
          <a:p>
            <a:pPr marL="0" indent="0" algn="l">
              <a:lnSpc>
                <a:spcPts val="1850"/>
              </a:lnSpc>
              <a:buNone/>
            </a:pPr>
            <a:r>
              <a:rPr lang="en-US" sz="1300" b="1" dirty="0">
                <a:solidFill>
                  <a:srgbClr val="4C4C4D"/>
                </a:solidFill>
                <a:latin typeface="Heebo" pitchFamily="34" charset="0"/>
                <a:ea typeface="Heebo" pitchFamily="34" charset="-122"/>
                <a:cs typeface="Heebo" pitchFamily="34" charset="-120"/>
              </a:rPr>
              <a:t>Traditional phishing:</a:t>
            </a:r>
            <a:r>
              <a:rPr lang="en-US" sz="1300" dirty="0">
                <a:solidFill>
                  <a:srgbClr val="4C4C4D"/>
                </a:solidFill>
                <a:latin typeface="Heebo" pitchFamily="34" charset="0"/>
                <a:ea typeface="Heebo" pitchFamily="34" charset="-122"/>
                <a:cs typeface="Heebo" pitchFamily="34" charset="-120"/>
              </a:rPr>
              <a:t> Victim → Fake Site → Stolen credentials</a:t>
            </a:r>
            <a:endParaRPr lang="en-US" sz="1300" dirty="0"/>
          </a:p>
        </p:txBody>
      </p:sp>
      <p:sp>
        <p:nvSpPr>
          <p:cNvPr id="5" name="Text 3"/>
          <p:cNvSpPr/>
          <p:nvPr/>
        </p:nvSpPr>
        <p:spPr>
          <a:xfrm>
            <a:off x="793790" y="2344103"/>
            <a:ext cx="6313884" cy="476250"/>
          </a:xfrm>
          <a:prstGeom prst="rect">
            <a:avLst/>
          </a:prstGeom>
          <a:noFill/>
          <a:ln/>
        </p:spPr>
        <p:txBody>
          <a:bodyPr wrap="square" lIns="0" tIns="0" rIns="0" bIns="0" rtlCol="0" anchor="t"/>
          <a:lstStyle/>
          <a:p>
            <a:pPr marL="0" indent="0" algn="l">
              <a:lnSpc>
                <a:spcPts val="1850"/>
              </a:lnSpc>
              <a:buNone/>
            </a:pPr>
            <a:r>
              <a:rPr lang="en-US" sz="1300" b="1" dirty="0">
                <a:solidFill>
                  <a:srgbClr val="4C4C4D"/>
                </a:solidFill>
                <a:latin typeface="Heebo" pitchFamily="34" charset="0"/>
                <a:ea typeface="Heebo" pitchFamily="34" charset="-122"/>
                <a:cs typeface="Heebo" pitchFamily="34" charset="-120"/>
              </a:rPr>
              <a:t>AiTM Phishing:</a:t>
            </a:r>
            <a:r>
              <a:rPr lang="en-US" sz="1300" dirty="0">
                <a:solidFill>
                  <a:srgbClr val="4C4C4D"/>
                </a:solidFill>
                <a:latin typeface="Heebo" pitchFamily="34" charset="0"/>
                <a:ea typeface="Heebo" pitchFamily="34" charset="-122"/>
                <a:cs typeface="Heebo" pitchFamily="34" charset="-120"/>
              </a:rPr>
              <a:t> Victim → Proxy (Attacker) → Real Site ↓ Captures session cookies Bypasses MFA completely</a:t>
            </a:r>
            <a:endParaRPr lang="en-US" sz="1300" dirty="0"/>
          </a:p>
        </p:txBody>
      </p:sp>
      <p:sp>
        <p:nvSpPr>
          <p:cNvPr id="6" name="Shape 4"/>
          <p:cNvSpPr/>
          <p:nvPr/>
        </p:nvSpPr>
        <p:spPr>
          <a:xfrm>
            <a:off x="7407831" y="1876425"/>
            <a:ext cx="6558915" cy="2159556"/>
          </a:xfrm>
          <a:prstGeom prst="roundRect">
            <a:avLst>
              <a:gd name="adj" fmla="val 1182"/>
            </a:avLst>
          </a:prstGeom>
          <a:solidFill>
            <a:srgbClr val="EFEFEF"/>
          </a:solidFill>
          <a:ln/>
        </p:spPr>
      </p:sp>
      <p:sp>
        <p:nvSpPr>
          <p:cNvPr id="7" name="Text 5"/>
          <p:cNvSpPr/>
          <p:nvPr/>
        </p:nvSpPr>
        <p:spPr>
          <a:xfrm>
            <a:off x="7577852" y="2003941"/>
            <a:ext cx="2126456" cy="265747"/>
          </a:xfrm>
          <a:prstGeom prst="rect">
            <a:avLst/>
          </a:prstGeom>
          <a:noFill/>
          <a:ln/>
        </p:spPr>
        <p:txBody>
          <a:bodyPr wrap="none" lIns="0" tIns="0" rIns="0" bIns="0" rtlCol="0" anchor="t"/>
          <a:lstStyle/>
          <a:p>
            <a:pPr marL="0" indent="0" algn="l">
              <a:lnSpc>
                <a:spcPts val="2050"/>
              </a:lnSpc>
              <a:buNone/>
            </a:pPr>
            <a:r>
              <a:rPr lang="en-US" sz="1650" dirty="0">
                <a:solidFill>
                  <a:srgbClr val="152D47"/>
                </a:solidFill>
                <a:latin typeface="Crimson Pro Semi Bold" pitchFamily="34" charset="0"/>
                <a:ea typeface="Crimson Pro Semi Bold" pitchFamily="34" charset="-122"/>
                <a:cs typeface="Crimson Pro Semi Bold" pitchFamily="34" charset="-120"/>
              </a:rPr>
              <a:t>AiTM Attack Flow</a:t>
            </a:r>
            <a:endParaRPr lang="en-US" sz="1650" dirty="0"/>
          </a:p>
        </p:txBody>
      </p:sp>
      <p:sp>
        <p:nvSpPr>
          <p:cNvPr id="8" name="Text 6"/>
          <p:cNvSpPr/>
          <p:nvPr/>
        </p:nvSpPr>
        <p:spPr>
          <a:xfrm>
            <a:off x="7577852" y="2397204"/>
            <a:ext cx="6218873" cy="1524000"/>
          </a:xfrm>
          <a:prstGeom prst="rect">
            <a:avLst/>
          </a:prstGeom>
          <a:noFill/>
          <a:ln/>
        </p:spPr>
        <p:txBody>
          <a:bodyPr wrap="square" lIns="0" tIns="0" rIns="0" bIns="0" rtlCol="0" anchor="t"/>
          <a:lstStyle/>
          <a:p>
            <a:pPr marL="0" indent="0" algn="l">
              <a:lnSpc>
                <a:spcPts val="1500"/>
              </a:lnSpc>
              <a:buNone/>
            </a:pPr>
            <a:r>
              <a:rPr lang="en-US" sz="1050" dirty="0">
                <a:solidFill>
                  <a:srgbClr val="4C4C4D"/>
                </a:solidFill>
                <a:latin typeface="Heebo" pitchFamily="34" charset="0"/>
                <a:ea typeface="Heebo" pitchFamily="34" charset="-122"/>
                <a:cs typeface="Heebo" pitchFamily="34" charset="-120"/>
              </a:rPr>
              <a:t>Step 1: Setup reverse proxy</a:t>
            </a:r>
            <a:endParaRPr lang="en-US" sz="1050" dirty="0"/>
          </a:p>
          <a:p>
            <a:pPr marL="0" indent="0" algn="l">
              <a:lnSpc>
                <a:spcPts val="1500"/>
              </a:lnSpc>
              <a:buNone/>
            </a:pPr>
            <a:r>
              <a:rPr lang="en-US" sz="1050" dirty="0">
                <a:solidFill>
                  <a:srgbClr val="4C4C4D"/>
                </a:solidFill>
                <a:latin typeface="Heebo" pitchFamily="34" charset="0"/>
                <a:ea typeface="Heebo" pitchFamily="34" charset="-122"/>
                <a:cs typeface="Heebo" pitchFamily="34" charset="-120"/>
              </a:rPr>
              <a:t>Step 2: Send phishing email with proxy URL</a:t>
            </a:r>
            <a:endParaRPr lang="en-US" sz="1050" dirty="0"/>
          </a:p>
          <a:p>
            <a:pPr marL="0" indent="0" algn="l">
              <a:lnSpc>
                <a:spcPts val="1500"/>
              </a:lnSpc>
              <a:buNone/>
            </a:pPr>
            <a:r>
              <a:rPr lang="en-US" sz="1050" dirty="0">
                <a:solidFill>
                  <a:srgbClr val="4C4C4D"/>
                </a:solidFill>
                <a:latin typeface="Heebo" pitchFamily="34" charset="0"/>
                <a:ea typeface="Heebo" pitchFamily="34" charset="-122"/>
                <a:cs typeface="Heebo" pitchFamily="34" charset="-120"/>
              </a:rPr>
              <a:t>Step 3: Victim visits proxy URL</a:t>
            </a:r>
            <a:endParaRPr lang="en-US" sz="1050" dirty="0"/>
          </a:p>
          <a:p>
            <a:pPr marL="0" indent="0" algn="l">
              <a:lnSpc>
                <a:spcPts val="1500"/>
              </a:lnSpc>
              <a:buNone/>
            </a:pPr>
            <a:r>
              <a:rPr lang="en-US" sz="1050" dirty="0">
                <a:solidFill>
                  <a:srgbClr val="4C4C4D"/>
                </a:solidFill>
                <a:latin typeface="Heebo" pitchFamily="34" charset="0"/>
                <a:ea typeface="Heebo" pitchFamily="34" charset="-122"/>
                <a:cs typeface="Heebo" pitchFamily="34" charset="-120"/>
              </a:rPr>
              <a:t>Step 4: Proxy forwards to real website</a:t>
            </a:r>
            <a:endParaRPr lang="en-US" sz="1050" dirty="0"/>
          </a:p>
          <a:p>
            <a:pPr marL="0" indent="0" algn="l">
              <a:lnSpc>
                <a:spcPts val="1500"/>
              </a:lnSpc>
              <a:buNone/>
            </a:pPr>
            <a:r>
              <a:rPr lang="en-US" sz="1050" dirty="0">
                <a:solidFill>
                  <a:srgbClr val="4C4C4D"/>
                </a:solidFill>
                <a:latin typeface="Heebo" pitchFamily="34" charset="0"/>
                <a:ea typeface="Heebo" pitchFamily="34" charset="-122"/>
                <a:cs typeface="Heebo" pitchFamily="34" charset="-120"/>
              </a:rPr>
              <a:t>Step 5: Victim enters credentials</a:t>
            </a:r>
            <a:endParaRPr lang="en-US" sz="1050" dirty="0"/>
          </a:p>
          <a:p>
            <a:pPr marL="0" indent="0" algn="l">
              <a:lnSpc>
                <a:spcPts val="1500"/>
              </a:lnSpc>
              <a:buNone/>
            </a:pPr>
            <a:r>
              <a:rPr lang="en-US" sz="1050" dirty="0">
                <a:solidFill>
                  <a:srgbClr val="4C4C4D"/>
                </a:solidFill>
                <a:latin typeface="Heebo" pitchFamily="34" charset="0"/>
                <a:ea typeface="Heebo" pitchFamily="34" charset="-122"/>
                <a:cs typeface="Heebo" pitchFamily="34" charset="-120"/>
              </a:rPr>
              <a:t>Step 6: Proxy captures credentials AND session cookies</a:t>
            </a:r>
            <a:endParaRPr lang="en-US" sz="1050" dirty="0"/>
          </a:p>
          <a:p>
            <a:pPr marL="0" indent="0" algn="l">
              <a:lnSpc>
                <a:spcPts val="1500"/>
              </a:lnSpc>
              <a:buNone/>
            </a:pPr>
            <a:r>
              <a:rPr lang="en-US" sz="1050" dirty="0">
                <a:solidFill>
                  <a:srgbClr val="4C4C4D"/>
                </a:solidFill>
                <a:latin typeface="Heebo" pitchFamily="34" charset="0"/>
                <a:ea typeface="Heebo" pitchFamily="34" charset="-122"/>
                <a:cs typeface="Heebo" pitchFamily="34" charset="-120"/>
              </a:rPr>
              <a:t>Step 7: Attacker uses session cookie (bypasses MFA)</a:t>
            </a:r>
            <a:endParaRPr lang="en-US" sz="1050" dirty="0"/>
          </a:p>
          <a:p>
            <a:pPr marL="0" indent="0" algn="l">
              <a:lnSpc>
                <a:spcPts val="1500"/>
              </a:lnSpc>
              <a:buNone/>
            </a:pPr>
            <a:r>
              <a:rPr lang="en-US" sz="1050" dirty="0">
                <a:solidFill>
                  <a:srgbClr val="4C4C4D"/>
                </a:solidFill>
                <a:latin typeface="Heebo" pitchFamily="34" charset="0"/>
                <a:ea typeface="Heebo" pitchFamily="34" charset="-122"/>
                <a:cs typeface="Heebo" pitchFamily="34" charset="-120"/>
              </a:rPr>
              <a:t>Step 8: Full account access achieved</a:t>
            </a:r>
            <a:endParaRPr lang="en-US" sz="1050" dirty="0"/>
          </a:p>
        </p:txBody>
      </p:sp>
      <p:sp>
        <p:nvSpPr>
          <p:cNvPr id="9" name="Text 7"/>
          <p:cNvSpPr/>
          <p:nvPr/>
        </p:nvSpPr>
        <p:spPr>
          <a:xfrm>
            <a:off x="793790" y="4227314"/>
            <a:ext cx="2126456" cy="265747"/>
          </a:xfrm>
          <a:prstGeom prst="rect">
            <a:avLst/>
          </a:prstGeom>
          <a:noFill/>
          <a:ln/>
        </p:spPr>
        <p:txBody>
          <a:bodyPr wrap="none" lIns="0" tIns="0" rIns="0" bIns="0" rtlCol="0" anchor="t"/>
          <a:lstStyle/>
          <a:p>
            <a:pPr marL="0" indent="0" algn="l">
              <a:lnSpc>
                <a:spcPts val="2050"/>
              </a:lnSpc>
              <a:buNone/>
            </a:pPr>
            <a:r>
              <a:rPr lang="en-US" sz="1650" dirty="0">
                <a:solidFill>
                  <a:srgbClr val="152D47"/>
                </a:solidFill>
                <a:latin typeface="Crimson Pro Semi Bold" pitchFamily="34" charset="0"/>
                <a:ea typeface="Crimson Pro Semi Bold" pitchFamily="34" charset="-122"/>
                <a:cs typeface="Crimson Pro Semi Bold" pitchFamily="34" charset="-120"/>
              </a:rPr>
              <a:t>Tools Used</a:t>
            </a:r>
            <a:endParaRPr lang="en-US" sz="1650" dirty="0"/>
          </a:p>
        </p:txBody>
      </p:sp>
      <p:sp>
        <p:nvSpPr>
          <p:cNvPr id="10" name="Shape 8"/>
          <p:cNvSpPr/>
          <p:nvPr/>
        </p:nvSpPr>
        <p:spPr>
          <a:xfrm>
            <a:off x="793790" y="4684395"/>
            <a:ext cx="3165038" cy="920353"/>
          </a:xfrm>
          <a:prstGeom prst="roundRect">
            <a:avLst>
              <a:gd name="adj" fmla="val 2773"/>
            </a:avLst>
          </a:prstGeom>
          <a:solidFill>
            <a:srgbClr val="F2EEEE"/>
          </a:solidFill>
          <a:ln/>
        </p:spPr>
      </p:sp>
      <p:sp>
        <p:nvSpPr>
          <p:cNvPr id="11" name="Text 9"/>
          <p:cNvSpPr/>
          <p:nvPr/>
        </p:nvSpPr>
        <p:spPr>
          <a:xfrm>
            <a:off x="963811" y="4854416"/>
            <a:ext cx="2126456" cy="265747"/>
          </a:xfrm>
          <a:prstGeom prst="rect">
            <a:avLst/>
          </a:prstGeom>
          <a:noFill/>
          <a:ln/>
        </p:spPr>
        <p:txBody>
          <a:bodyPr wrap="none" lIns="0" tIns="0" rIns="0" bIns="0" rtlCol="0" anchor="t"/>
          <a:lstStyle/>
          <a:p>
            <a:pPr marL="0" indent="0" algn="l">
              <a:lnSpc>
                <a:spcPts val="2050"/>
              </a:lnSpc>
              <a:buNone/>
            </a:pPr>
            <a:r>
              <a:rPr lang="en-US" sz="1650" dirty="0">
                <a:solidFill>
                  <a:srgbClr val="4C4C4D"/>
                </a:solidFill>
                <a:latin typeface="Crimson Pro Semi Bold" pitchFamily="34" charset="0"/>
                <a:ea typeface="Crimson Pro Semi Bold" pitchFamily="34" charset="-122"/>
                <a:cs typeface="Crimson Pro Semi Bold" pitchFamily="34" charset="-120"/>
              </a:rPr>
              <a:t>Evilginx2</a:t>
            </a:r>
            <a:endParaRPr lang="en-US" sz="1650" dirty="0"/>
          </a:p>
        </p:txBody>
      </p:sp>
      <p:sp>
        <p:nvSpPr>
          <p:cNvPr id="12" name="Text 10"/>
          <p:cNvSpPr/>
          <p:nvPr/>
        </p:nvSpPr>
        <p:spPr>
          <a:xfrm>
            <a:off x="963811" y="5196602"/>
            <a:ext cx="2824996" cy="238125"/>
          </a:xfrm>
          <a:prstGeom prst="rect">
            <a:avLst/>
          </a:prstGeom>
          <a:noFill/>
          <a:ln/>
        </p:spPr>
        <p:txBody>
          <a:bodyPr wrap="none" lIns="0" tIns="0" rIns="0" bIns="0" rtlCol="0" anchor="t"/>
          <a:lstStyle/>
          <a:p>
            <a:pPr marL="0" indent="0" algn="l">
              <a:lnSpc>
                <a:spcPts val="1850"/>
              </a:lnSpc>
              <a:buNone/>
            </a:pPr>
            <a:r>
              <a:rPr lang="en-US" sz="1300" dirty="0">
                <a:solidFill>
                  <a:srgbClr val="4C4C4D"/>
                </a:solidFill>
                <a:latin typeface="Heebo" pitchFamily="34" charset="0"/>
                <a:ea typeface="Heebo" pitchFamily="34" charset="-122"/>
                <a:cs typeface="Heebo" pitchFamily="34" charset="-120"/>
              </a:rPr>
              <a:t>Reverse proxy framework</a:t>
            </a:r>
            <a:endParaRPr lang="en-US" sz="1300" dirty="0"/>
          </a:p>
        </p:txBody>
      </p:sp>
      <p:sp>
        <p:nvSpPr>
          <p:cNvPr id="13" name="Shape 11"/>
          <p:cNvSpPr/>
          <p:nvPr/>
        </p:nvSpPr>
        <p:spPr>
          <a:xfrm>
            <a:off x="4086344" y="4684395"/>
            <a:ext cx="3165038" cy="920353"/>
          </a:xfrm>
          <a:prstGeom prst="roundRect">
            <a:avLst>
              <a:gd name="adj" fmla="val 2773"/>
            </a:avLst>
          </a:prstGeom>
          <a:solidFill>
            <a:srgbClr val="F2EEEE"/>
          </a:solidFill>
          <a:ln/>
        </p:spPr>
      </p:sp>
      <p:sp>
        <p:nvSpPr>
          <p:cNvPr id="14" name="Text 12"/>
          <p:cNvSpPr/>
          <p:nvPr/>
        </p:nvSpPr>
        <p:spPr>
          <a:xfrm>
            <a:off x="4256365" y="4854416"/>
            <a:ext cx="2126456" cy="265747"/>
          </a:xfrm>
          <a:prstGeom prst="rect">
            <a:avLst/>
          </a:prstGeom>
          <a:noFill/>
          <a:ln/>
        </p:spPr>
        <p:txBody>
          <a:bodyPr wrap="none" lIns="0" tIns="0" rIns="0" bIns="0" rtlCol="0" anchor="t"/>
          <a:lstStyle/>
          <a:p>
            <a:pPr marL="0" indent="0" algn="l">
              <a:lnSpc>
                <a:spcPts val="2050"/>
              </a:lnSpc>
              <a:buNone/>
            </a:pPr>
            <a:r>
              <a:rPr lang="en-US" sz="1650" dirty="0">
                <a:solidFill>
                  <a:srgbClr val="4C4C4D"/>
                </a:solidFill>
                <a:latin typeface="Crimson Pro Semi Bold" pitchFamily="34" charset="0"/>
                <a:ea typeface="Crimson Pro Semi Bold" pitchFamily="34" charset="-122"/>
                <a:cs typeface="Crimson Pro Semi Bold" pitchFamily="34" charset="-120"/>
              </a:rPr>
              <a:t>Modlishka</a:t>
            </a:r>
            <a:endParaRPr lang="en-US" sz="1650" dirty="0"/>
          </a:p>
        </p:txBody>
      </p:sp>
      <p:sp>
        <p:nvSpPr>
          <p:cNvPr id="15" name="Text 13"/>
          <p:cNvSpPr/>
          <p:nvPr/>
        </p:nvSpPr>
        <p:spPr>
          <a:xfrm>
            <a:off x="4256365" y="5196602"/>
            <a:ext cx="2824996" cy="238125"/>
          </a:xfrm>
          <a:prstGeom prst="rect">
            <a:avLst/>
          </a:prstGeom>
          <a:noFill/>
          <a:ln/>
        </p:spPr>
        <p:txBody>
          <a:bodyPr wrap="none" lIns="0" tIns="0" rIns="0" bIns="0" rtlCol="0" anchor="t"/>
          <a:lstStyle/>
          <a:p>
            <a:pPr marL="0" indent="0" algn="l">
              <a:lnSpc>
                <a:spcPts val="1850"/>
              </a:lnSpc>
              <a:buNone/>
            </a:pPr>
            <a:r>
              <a:rPr lang="en-US" sz="1300" dirty="0">
                <a:solidFill>
                  <a:srgbClr val="4C4C4D"/>
                </a:solidFill>
                <a:latin typeface="Heebo" pitchFamily="34" charset="0"/>
                <a:ea typeface="Heebo" pitchFamily="34" charset="-122"/>
                <a:cs typeface="Heebo" pitchFamily="34" charset="-120"/>
              </a:rPr>
              <a:t>Reverse proxy tool</a:t>
            </a:r>
            <a:endParaRPr lang="en-US" sz="1300" dirty="0"/>
          </a:p>
        </p:txBody>
      </p:sp>
      <p:sp>
        <p:nvSpPr>
          <p:cNvPr id="16" name="Shape 14"/>
          <p:cNvSpPr/>
          <p:nvPr/>
        </p:nvSpPr>
        <p:spPr>
          <a:xfrm>
            <a:off x="7378898" y="4684395"/>
            <a:ext cx="3165038" cy="920353"/>
          </a:xfrm>
          <a:prstGeom prst="roundRect">
            <a:avLst>
              <a:gd name="adj" fmla="val 2773"/>
            </a:avLst>
          </a:prstGeom>
          <a:solidFill>
            <a:srgbClr val="F2EEEE"/>
          </a:solidFill>
          <a:ln/>
        </p:spPr>
      </p:sp>
      <p:sp>
        <p:nvSpPr>
          <p:cNvPr id="17" name="Text 15"/>
          <p:cNvSpPr/>
          <p:nvPr/>
        </p:nvSpPr>
        <p:spPr>
          <a:xfrm>
            <a:off x="7548920" y="4854416"/>
            <a:ext cx="2126456" cy="265747"/>
          </a:xfrm>
          <a:prstGeom prst="rect">
            <a:avLst/>
          </a:prstGeom>
          <a:noFill/>
          <a:ln/>
        </p:spPr>
        <p:txBody>
          <a:bodyPr wrap="none" lIns="0" tIns="0" rIns="0" bIns="0" rtlCol="0" anchor="t"/>
          <a:lstStyle/>
          <a:p>
            <a:pPr marL="0" indent="0" algn="l">
              <a:lnSpc>
                <a:spcPts val="2050"/>
              </a:lnSpc>
              <a:buNone/>
            </a:pPr>
            <a:r>
              <a:rPr lang="en-US" sz="1650" dirty="0">
                <a:solidFill>
                  <a:srgbClr val="4C4C4D"/>
                </a:solidFill>
                <a:latin typeface="Crimson Pro Semi Bold" pitchFamily="34" charset="0"/>
                <a:ea typeface="Crimson Pro Semi Bold" pitchFamily="34" charset="-122"/>
                <a:cs typeface="Crimson Pro Semi Bold" pitchFamily="34" charset="-120"/>
              </a:rPr>
              <a:t>Muraena</a:t>
            </a:r>
            <a:endParaRPr lang="en-US" sz="1650" dirty="0"/>
          </a:p>
        </p:txBody>
      </p:sp>
      <p:sp>
        <p:nvSpPr>
          <p:cNvPr id="18" name="Text 16"/>
          <p:cNvSpPr/>
          <p:nvPr/>
        </p:nvSpPr>
        <p:spPr>
          <a:xfrm>
            <a:off x="7548920" y="5196602"/>
            <a:ext cx="2824996" cy="238125"/>
          </a:xfrm>
          <a:prstGeom prst="rect">
            <a:avLst/>
          </a:prstGeom>
          <a:noFill/>
          <a:ln/>
        </p:spPr>
        <p:txBody>
          <a:bodyPr wrap="none" lIns="0" tIns="0" rIns="0" bIns="0" rtlCol="0" anchor="t"/>
          <a:lstStyle/>
          <a:p>
            <a:pPr marL="0" indent="0" algn="l">
              <a:lnSpc>
                <a:spcPts val="1850"/>
              </a:lnSpc>
              <a:buNone/>
            </a:pPr>
            <a:r>
              <a:rPr lang="en-US" sz="1300" dirty="0">
                <a:solidFill>
                  <a:srgbClr val="4C4C4D"/>
                </a:solidFill>
                <a:latin typeface="Heebo" pitchFamily="34" charset="0"/>
                <a:ea typeface="Heebo" pitchFamily="34" charset="-122"/>
                <a:cs typeface="Heebo" pitchFamily="34" charset="-120"/>
              </a:rPr>
              <a:t>Phishing proxy</a:t>
            </a:r>
            <a:endParaRPr lang="en-US" sz="1300" dirty="0"/>
          </a:p>
        </p:txBody>
      </p:sp>
      <p:sp>
        <p:nvSpPr>
          <p:cNvPr id="19" name="Shape 17"/>
          <p:cNvSpPr/>
          <p:nvPr/>
        </p:nvSpPr>
        <p:spPr>
          <a:xfrm>
            <a:off x="10671453" y="4684395"/>
            <a:ext cx="3165158" cy="920353"/>
          </a:xfrm>
          <a:prstGeom prst="roundRect">
            <a:avLst>
              <a:gd name="adj" fmla="val 2773"/>
            </a:avLst>
          </a:prstGeom>
          <a:solidFill>
            <a:srgbClr val="F2EEEE"/>
          </a:solidFill>
          <a:ln/>
        </p:spPr>
      </p:sp>
      <p:sp>
        <p:nvSpPr>
          <p:cNvPr id="20" name="Text 18"/>
          <p:cNvSpPr/>
          <p:nvPr/>
        </p:nvSpPr>
        <p:spPr>
          <a:xfrm>
            <a:off x="10841474" y="4854416"/>
            <a:ext cx="2126456" cy="265747"/>
          </a:xfrm>
          <a:prstGeom prst="rect">
            <a:avLst/>
          </a:prstGeom>
          <a:noFill/>
          <a:ln/>
        </p:spPr>
        <p:txBody>
          <a:bodyPr wrap="none" lIns="0" tIns="0" rIns="0" bIns="0" rtlCol="0" anchor="t"/>
          <a:lstStyle/>
          <a:p>
            <a:pPr marL="0" indent="0" algn="l">
              <a:lnSpc>
                <a:spcPts val="2050"/>
              </a:lnSpc>
              <a:buNone/>
            </a:pPr>
            <a:r>
              <a:rPr lang="en-US" sz="1650" dirty="0">
                <a:solidFill>
                  <a:srgbClr val="4C4C4D"/>
                </a:solidFill>
                <a:latin typeface="Crimson Pro Semi Bold" pitchFamily="34" charset="0"/>
                <a:ea typeface="Crimson Pro Semi Bold" pitchFamily="34" charset="-122"/>
                <a:cs typeface="Crimson Pro Semi Bold" pitchFamily="34" charset="-120"/>
              </a:rPr>
              <a:t>Canarytokens</a:t>
            </a:r>
            <a:endParaRPr lang="en-US" sz="1650" dirty="0"/>
          </a:p>
        </p:txBody>
      </p:sp>
      <p:sp>
        <p:nvSpPr>
          <p:cNvPr id="21" name="Text 19"/>
          <p:cNvSpPr/>
          <p:nvPr/>
        </p:nvSpPr>
        <p:spPr>
          <a:xfrm>
            <a:off x="10841474" y="5196602"/>
            <a:ext cx="2825115" cy="238125"/>
          </a:xfrm>
          <a:prstGeom prst="rect">
            <a:avLst/>
          </a:prstGeom>
          <a:noFill/>
          <a:ln/>
        </p:spPr>
        <p:txBody>
          <a:bodyPr wrap="none" lIns="0" tIns="0" rIns="0" bIns="0" rtlCol="0" anchor="t"/>
          <a:lstStyle/>
          <a:p>
            <a:pPr marL="0" indent="0" algn="l">
              <a:lnSpc>
                <a:spcPts val="1850"/>
              </a:lnSpc>
              <a:buNone/>
            </a:pPr>
            <a:r>
              <a:rPr lang="en-US" sz="1300" dirty="0">
                <a:solidFill>
                  <a:srgbClr val="4C4C4D"/>
                </a:solidFill>
                <a:latin typeface="Heebo" pitchFamily="34" charset="0"/>
                <a:ea typeface="Heebo" pitchFamily="34" charset="-122"/>
                <a:cs typeface="Heebo" pitchFamily="34" charset="-120"/>
              </a:rPr>
              <a:t>Detection tool</a:t>
            </a:r>
            <a:endParaRPr lang="en-US" sz="1300" dirty="0"/>
          </a:p>
        </p:txBody>
      </p:sp>
      <p:sp>
        <p:nvSpPr>
          <p:cNvPr id="22" name="Text 20"/>
          <p:cNvSpPr/>
          <p:nvPr/>
        </p:nvSpPr>
        <p:spPr>
          <a:xfrm>
            <a:off x="793790" y="5796082"/>
            <a:ext cx="2126456" cy="265747"/>
          </a:xfrm>
          <a:prstGeom prst="rect">
            <a:avLst/>
          </a:prstGeom>
          <a:noFill/>
          <a:ln/>
        </p:spPr>
        <p:txBody>
          <a:bodyPr wrap="none" lIns="0" tIns="0" rIns="0" bIns="0" rtlCol="0" anchor="t"/>
          <a:lstStyle/>
          <a:p>
            <a:pPr marL="0" indent="0" algn="l">
              <a:lnSpc>
                <a:spcPts val="2050"/>
              </a:lnSpc>
              <a:buNone/>
            </a:pPr>
            <a:r>
              <a:rPr lang="en-US" sz="1650" dirty="0">
                <a:solidFill>
                  <a:srgbClr val="152D47"/>
                </a:solidFill>
                <a:latin typeface="Crimson Pro Semi Bold" pitchFamily="34" charset="0"/>
                <a:ea typeface="Crimson Pro Semi Bold" pitchFamily="34" charset="-122"/>
                <a:cs typeface="Crimson Pro Semi Bold" pitchFamily="34" charset="-120"/>
              </a:rPr>
              <a:t>Defense:</a:t>
            </a:r>
            <a:endParaRPr lang="en-US" sz="1650" dirty="0"/>
          </a:p>
        </p:txBody>
      </p:sp>
      <p:sp>
        <p:nvSpPr>
          <p:cNvPr id="23" name="Text 21"/>
          <p:cNvSpPr/>
          <p:nvPr/>
        </p:nvSpPr>
        <p:spPr>
          <a:xfrm>
            <a:off x="793790" y="6253163"/>
            <a:ext cx="13042821" cy="1086445"/>
          </a:xfrm>
          <a:prstGeom prst="rect">
            <a:avLst/>
          </a:prstGeom>
          <a:noFill/>
          <a:ln/>
        </p:spPr>
        <p:txBody>
          <a:bodyPr wrap="square" lIns="0" tIns="0" rIns="0" bIns="0" rtlCol="0" anchor="t"/>
          <a:lstStyle/>
          <a:p>
            <a:pPr marL="342900" indent="-342900" algn="l">
              <a:lnSpc>
                <a:spcPts val="1850"/>
              </a:lnSpc>
              <a:buSzPct val="100000"/>
              <a:buChar char="•"/>
            </a:pPr>
            <a:r>
              <a:rPr lang="en-US" sz="1300" dirty="0">
                <a:solidFill>
                  <a:srgbClr val="4C4C4D"/>
                </a:solidFill>
                <a:latin typeface="Heebo" pitchFamily="34" charset="0"/>
                <a:ea typeface="Heebo" pitchFamily="34" charset="-122"/>
                <a:cs typeface="Heebo" pitchFamily="34" charset="-120"/>
              </a:rPr>
              <a:t>FIDO2/WebAuthn hardware keys</a:t>
            </a:r>
            <a:endParaRPr lang="en-US" sz="1300" dirty="0"/>
          </a:p>
          <a:p>
            <a:pPr marL="342900" indent="-342900" algn="l">
              <a:lnSpc>
                <a:spcPts val="1850"/>
              </a:lnSpc>
              <a:buSzPct val="100000"/>
              <a:buChar char="•"/>
            </a:pPr>
            <a:r>
              <a:rPr lang="en-US" sz="1300" dirty="0">
                <a:solidFill>
                  <a:srgbClr val="4C4C4D"/>
                </a:solidFill>
                <a:latin typeface="Heebo" pitchFamily="34" charset="0"/>
                <a:ea typeface="Heebo" pitchFamily="34" charset="-122"/>
                <a:cs typeface="Heebo" pitchFamily="34" charset="-120"/>
              </a:rPr>
              <a:t>Conditional access policies</a:t>
            </a:r>
            <a:endParaRPr lang="en-US" sz="1300" dirty="0"/>
          </a:p>
          <a:p>
            <a:pPr marL="342900" indent="-342900" algn="l">
              <a:lnSpc>
                <a:spcPts val="1850"/>
              </a:lnSpc>
              <a:buSzPct val="100000"/>
              <a:buChar char="•"/>
            </a:pPr>
            <a:r>
              <a:rPr lang="en-US" sz="1300" dirty="0">
                <a:solidFill>
                  <a:srgbClr val="4C4C4D"/>
                </a:solidFill>
                <a:latin typeface="Heebo" pitchFamily="34" charset="0"/>
                <a:ea typeface="Heebo" pitchFamily="34" charset="-122"/>
                <a:cs typeface="Heebo" pitchFamily="34" charset="-120"/>
              </a:rPr>
              <a:t>Device compliance checks</a:t>
            </a:r>
            <a:endParaRPr lang="en-US" sz="1300" dirty="0"/>
          </a:p>
          <a:p>
            <a:pPr marL="342900" indent="-342900" algn="l">
              <a:lnSpc>
                <a:spcPts val="1850"/>
              </a:lnSpc>
              <a:buSzPct val="100000"/>
              <a:buChar char="•"/>
            </a:pPr>
            <a:r>
              <a:rPr lang="en-US" sz="1300" dirty="0">
                <a:solidFill>
                  <a:srgbClr val="4C4C4D"/>
                </a:solidFill>
                <a:latin typeface="Heebo" pitchFamily="34" charset="0"/>
                <a:ea typeface="Heebo" pitchFamily="34" charset="-122"/>
                <a:cs typeface="Heebo" pitchFamily="34" charset="-120"/>
              </a:rPr>
              <a:t>Anomaly detection</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706517"/>
            <a:ext cx="5733693" cy="453628"/>
          </a:xfrm>
          <a:prstGeom prst="rect">
            <a:avLst/>
          </a:prstGeom>
          <a:noFill/>
          <a:ln/>
        </p:spPr>
        <p:txBody>
          <a:bodyPr wrap="none" lIns="0" tIns="0" rIns="0" bIns="0" rtlCol="0" anchor="t"/>
          <a:lstStyle/>
          <a:p>
            <a:pPr marL="0" indent="0" algn="l">
              <a:lnSpc>
                <a:spcPts val="3550"/>
              </a:lnSpc>
              <a:buNone/>
            </a:pPr>
            <a:r>
              <a:rPr lang="en-US" sz="2850" dirty="0">
                <a:solidFill>
                  <a:srgbClr val="152D47"/>
                </a:solidFill>
                <a:latin typeface="Crimson Pro Semi Bold" pitchFamily="34" charset="0"/>
                <a:ea typeface="Crimson Pro Semi Bold" pitchFamily="34" charset="-122"/>
                <a:cs typeface="Crimson Pro Semi Bold" pitchFamily="34" charset="-120"/>
              </a:rPr>
              <a:t>Browser-in-the-Browser (BitB) Attack</a:t>
            </a:r>
            <a:endParaRPr lang="en-US" sz="2850" dirty="0"/>
          </a:p>
        </p:txBody>
      </p:sp>
      <p:sp>
        <p:nvSpPr>
          <p:cNvPr id="3" name="Text 1"/>
          <p:cNvSpPr/>
          <p:nvPr/>
        </p:nvSpPr>
        <p:spPr>
          <a:xfrm>
            <a:off x="793790" y="1218128"/>
            <a:ext cx="2721888" cy="340162"/>
          </a:xfrm>
          <a:prstGeom prst="rect">
            <a:avLst/>
          </a:prstGeom>
          <a:noFill/>
          <a:ln/>
        </p:spPr>
        <p:txBody>
          <a:bodyPr wrap="none" lIns="0" tIns="0" rIns="0" bIns="0" rtlCol="0" anchor="t"/>
          <a:lstStyle/>
          <a:p>
            <a:pPr marL="0" indent="0" algn="l">
              <a:lnSpc>
                <a:spcPts val="2650"/>
              </a:lnSpc>
              <a:buNone/>
            </a:pPr>
            <a:r>
              <a:rPr lang="en-US" sz="2100" dirty="0">
                <a:solidFill>
                  <a:srgbClr val="152D47"/>
                </a:solidFill>
                <a:latin typeface="Crimson Pro Semi Bold" pitchFamily="34" charset="0"/>
                <a:ea typeface="Crimson Pro Semi Bold" pitchFamily="34" charset="-122"/>
                <a:cs typeface="Crimson Pro Semi Bold" pitchFamily="34" charset="-120"/>
              </a:rPr>
              <a:t>How BitB Works</a:t>
            </a:r>
            <a:endParaRPr lang="en-US" sz="2100" dirty="0"/>
          </a:p>
        </p:txBody>
      </p:sp>
      <p:sp>
        <p:nvSpPr>
          <p:cNvPr id="4" name="Text 2"/>
          <p:cNvSpPr/>
          <p:nvPr/>
        </p:nvSpPr>
        <p:spPr>
          <a:xfrm>
            <a:off x="793790" y="1775936"/>
            <a:ext cx="13042821" cy="261223"/>
          </a:xfrm>
          <a:prstGeom prst="rect">
            <a:avLst/>
          </a:prstGeom>
          <a:noFill/>
          <a:ln/>
        </p:spPr>
        <p:txBody>
          <a:bodyPr wrap="none" lIns="0" tIns="0" rIns="0" bIns="0" rtlCol="0" anchor="t"/>
          <a:lstStyle/>
          <a:p>
            <a:pPr marL="0" indent="0" algn="l">
              <a:lnSpc>
                <a:spcPts val="2050"/>
              </a:lnSpc>
              <a:buNone/>
            </a:pPr>
            <a:r>
              <a:rPr lang="en-US" sz="1400" b="1" dirty="0">
                <a:solidFill>
                  <a:srgbClr val="4C4C4D"/>
                </a:solidFill>
                <a:latin typeface="Heebo" pitchFamily="34" charset="0"/>
                <a:ea typeface="Heebo" pitchFamily="34" charset="-122"/>
                <a:cs typeface="Heebo" pitchFamily="34" charset="-120"/>
              </a:rPr>
              <a:t>Concept:</a:t>
            </a:r>
            <a:endParaRPr lang="en-US" sz="1400" dirty="0"/>
          </a:p>
        </p:txBody>
      </p:sp>
      <p:sp>
        <p:nvSpPr>
          <p:cNvPr id="5" name="Text 3"/>
          <p:cNvSpPr/>
          <p:nvPr/>
        </p:nvSpPr>
        <p:spPr>
          <a:xfrm>
            <a:off x="793790" y="2200394"/>
            <a:ext cx="13042821" cy="1197054"/>
          </a:xfrm>
          <a:prstGeom prst="rect">
            <a:avLst/>
          </a:prstGeom>
          <a:noFill/>
          <a:ln/>
        </p:spPr>
        <p:txBody>
          <a:bodyPr wrap="square" lIns="0" tIns="0" rIns="0" bIns="0" rtlCol="0" anchor="t"/>
          <a:lstStyle/>
          <a:p>
            <a:pPr marL="342900" indent="-342900" algn="l">
              <a:lnSpc>
                <a:spcPts val="2050"/>
              </a:lnSpc>
              <a:buSzPct val="100000"/>
              <a:buChar char="•"/>
            </a:pPr>
            <a:r>
              <a:rPr lang="en-US" sz="1400" dirty="0">
                <a:solidFill>
                  <a:srgbClr val="4C4C4D"/>
                </a:solidFill>
                <a:latin typeface="Heebo" pitchFamily="34" charset="0"/>
                <a:ea typeface="Heebo" pitchFamily="34" charset="-122"/>
                <a:cs typeface="Heebo" pitchFamily="34" charset="-120"/>
              </a:rPr>
              <a:t>Simulate browser popup window using HTML/CSS</a:t>
            </a:r>
            <a:endParaRPr lang="en-US" sz="1400" dirty="0"/>
          </a:p>
          <a:p>
            <a:pPr marL="342900" indent="-342900" algn="l">
              <a:lnSpc>
                <a:spcPts val="2050"/>
              </a:lnSpc>
              <a:buSzPct val="100000"/>
              <a:buChar char="•"/>
            </a:pPr>
            <a:r>
              <a:rPr lang="en-US" sz="1400" dirty="0">
                <a:solidFill>
                  <a:srgbClr val="4C4C4D"/>
                </a:solidFill>
                <a:latin typeface="Heebo" pitchFamily="34" charset="0"/>
                <a:ea typeface="Heebo" pitchFamily="34" charset="-122"/>
                <a:cs typeface="Heebo" pitchFamily="34" charset="-120"/>
              </a:rPr>
              <a:t>Fake "Sign in with Google/Microsoft" popup</a:t>
            </a:r>
            <a:endParaRPr lang="en-US" sz="1400" dirty="0"/>
          </a:p>
          <a:p>
            <a:pPr marL="342900" indent="-342900" algn="l">
              <a:lnSpc>
                <a:spcPts val="2050"/>
              </a:lnSpc>
              <a:buSzPct val="100000"/>
              <a:buChar char="•"/>
            </a:pPr>
            <a:r>
              <a:rPr lang="en-US" sz="1400" dirty="0">
                <a:solidFill>
                  <a:srgbClr val="4C4C4D"/>
                </a:solidFill>
                <a:latin typeface="Heebo" pitchFamily="34" charset="0"/>
                <a:ea typeface="Heebo" pitchFamily="34" charset="-122"/>
                <a:cs typeface="Heebo" pitchFamily="34" charset="-120"/>
              </a:rPr>
              <a:t>Appears completely legitimate</a:t>
            </a:r>
            <a:endParaRPr lang="en-US" sz="1400" dirty="0"/>
          </a:p>
          <a:p>
            <a:pPr marL="342900" indent="-342900" algn="l">
              <a:lnSpc>
                <a:spcPts val="2050"/>
              </a:lnSpc>
              <a:buSzPct val="100000"/>
              <a:buChar char="•"/>
            </a:pPr>
            <a:r>
              <a:rPr lang="en-US" sz="1400" dirty="0">
                <a:solidFill>
                  <a:srgbClr val="4C4C4D"/>
                </a:solidFill>
                <a:latin typeface="Heebo" pitchFamily="34" charset="0"/>
                <a:ea typeface="Heebo" pitchFamily="34" charset="-122"/>
                <a:cs typeface="Heebo" pitchFamily="34" charset="-120"/>
              </a:rPr>
              <a:t>Captures credentials silently</a:t>
            </a:r>
            <a:endParaRPr lang="en-US" sz="1400" dirty="0"/>
          </a:p>
        </p:txBody>
      </p:sp>
      <p:sp>
        <p:nvSpPr>
          <p:cNvPr id="6" name="Text 4"/>
          <p:cNvSpPr/>
          <p:nvPr/>
        </p:nvSpPr>
        <p:spPr>
          <a:xfrm>
            <a:off x="793790" y="3615095"/>
            <a:ext cx="2429232" cy="283488"/>
          </a:xfrm>
          <a:prstGeom prst="rect">
            <a:avLst/>
          </a:prstGeom>
          <a:noFill/>
          <a:ln/>
        </p:spPr>
        <p:txBody>
          <a:bodyPr wrap="none" lIns="0" tIns="0" rIns="0" bIns="0" rtlCol="0" anchor="t"/>
          <a:lstStyle/>
          <a:p>
            <a:pPr marL="0" indent="0" algn="l">
              <a:lnSpc>
                <a:spcPts val="2200"/>
              </a:lnSpc>
              <a:buNone/>
            </a:pPr>
            <a:r>
              <a:rPr lang="en-US" sz="1750" dirty="0">
                <a:solidFill>
                  <a:srgbClr val="152D47"/>
                </a:solidFill>
                <a:latin typeface="Crimson Pro Semi Bold" pitchFamily="34" charset="0"/>
                <a:ea typeface="Crimson Pro Semi Bold" pitchFamily="34" charset="-122"/>
                <a:cs typeface="Crimson Pro Semi Bold" pitchFamily="34" charset="-120"/>
              </a:rPr>
              <a:t>Example HTML structure:</a:t>
            </a:r>
            <a:endParaRPr lang="en-US" sz="1750" dirty="0"/>
          </a:p>
        </p:txBody>
      </p:sp>
      <p:sp>
        <p:nvSpPr>
          <p:cNvPr id="7" name="Shape 5"/>
          <p:cNvSpPr/>
          <p:nvPr/>
        </p:nvSpPr>
        <p:spPr>
          <a:xfrm>
            <a:off x="793790" y="4116229"/>
            <a:ext cx="13042821" cy="3406854"/>
          </a:xfrm>
          <a:prstGeom prst="roundRect">
            <a:avLst>
              <a:gd name="adj" fmla="val 799"/>
            </a:avLst>
          </a:prstGeom>
          <a:solidFill>
            <a:srgbClr val="F2F2F2"/>
          </a:solidFill>
          <a:ln/>
        </p:spPr>
      </p:sp>
      <p:sp>
        <p:nvSpPr>
          <p:cNvPr id="8" name="Shape 6"/>
          <p:cNvSpPr/>
          <p:nvPr/>
        </p:nvSpPr>
        <p:spPr>
          <a:xfrm>
            <a:off x="784741" y="4116229"/>
            <a:ext cx="13060918" cy="3406854"/>
          </a:xfrm>
          <a:prstGeom prst="roundRect">
            <a:avLst>
              <a:gd name="adj" fmla="val 799"/>
            </a:avLst>
          </a:prstGeom>
          <a:solidFill>
            <a:srgbClr val="F2F2F2"/>
          </a:solidFill>
          <a:ln/>
        </p:spPr>
      </p:sp>
      <p:sp>
        <p:nvSpPr>
          <p:cNvPr id="9" name="Text 7"/>
          <p:cNvSpPr/>
          <p:nvPr/>
        </p:nvSpPr>
        <p:spPr>
          <a:xfrm>
            <a:off x="966192" y="4252317"/>
            <a:ext cx="12698016" cy="3134678"/>
          </a:xfrm>
          <a:prstGeom prst="rect">
            <a:avLst/>
          </a:prstGeom>
          <a:noFill/>
          <a:ln/>
        </p:spPr>
        <p:txBody>
          <a:bodyPr wrap="square" lIns="0" tIns="0" rIns="0" bIns="0" rtlCol="0" anchor="t"/>
          <a:lstStyle/>
          <a:p>
            <a:pPr marL="0" indent="0" algn="l">
              <a:lnSpc>
                <a:spcPts val="2050"/>
              </a:lnSpc>
              <a:buNone/>
            </a:pPr>
            <a:r>
              <a:rPr lang="en-US" sz="1400" dirty="0">
                <a:solidFill>
                  <a:srgbClr val="4C4C4D"/>
                </a:solidFill>
                <a:highlight>
                  <a:srgbClr val="F2F2F2"/>
                </a:highlight>
                <a:latin typeface="Consolas" pitchFamily="34" charset="0"/>
                <a:ea typeface="Consolas" pitchFamily="34" charset="-122"/>
                <a:cs typeface="Consolas" pitchFamily="34" charset="-120"/>
              </a:rPr>
              <a:t>&lt;!-- Fake browser window simulation --&gt;</a:t>
            </a:r>
            <a:endParaRPr lang="en-US" sz="1400" dirty="0"/>
          </a:p>
          <a:p>
            <a:pPr marL="0" indent="0" algn="l">
              <a:lnSpc>
                <a:spcPts val="2050"/>
              </a:lnSpc>
              <a:buNone/>
            </a:pPr>
            <a:r>
              <a:rPr lang="en-US" sz="1400" dirty="0">
                <a:solidFill>
                  <a:srgbClr val="4C4C4D"/>
                </a:solidFill>
                <a:highlight>
                  <a:srgbClr val="F2F2F2"/>
                </a:highlight>
                <a:latin typeface="Consolas" pitchFamily="34" charset="0"/>
                <a:ea typeface="Consolas" pitchFamily="34" charset="-122"/>
                <a:cs typeface="Consolas" pitchFamily="34" charset="-120"/>
              </a:rPr>
              <a:t>&lt;div class="window-container"&gt;</a:t>
            </a:r>
            <a:endParaRPr lang="en-US" sz="1400" dirty="0"/>
          </a:p>
          <a:p>
            <a:pPr marL="0" indent="0" algn="l">
              <a:lnSpc>
                <a:spcPts val="2050"/>
              </a:lnSpc>
              <a:buNone/>
            </a:pPr>
            <a:r>
              <a:rPr lang="en-US" sz="1400" dirty="0">
                <a:solidFill>
                  <a:srgbClr val="4C4C4D"/>
                </a:solidFill>
                <a:highlight>
                  <a:srgbClr val="F2F2F2"/>
                </a:highlight>
                <a:latin typeface="Consolas" pitchFamily="34" charset="0"/>
                <a:ea typeface="Consolas" pitchFamily="34" charset="-122"/>
                <a:cs typeface="Consolas" pitchFamily="34" charset="-120"/>
              </a:rPr>
              <a:t> &lt;!-- Fake browser chrome --&gt;</a:t>
            </a:r>
            <a:endParaRPr lang="en-US" sz="1400" dirty="0"/>
          </a:p>
          <a:p>
            <a:pPr marL="0" indent="0" algn="l">
              <a:lnSpc>
                <a:spcPts val="2050"/>
              </a:lnSpc>
              <a:buNone/>
            </a:pPr>
            <a:r>
              <a:rPr lang="en-US" sz="1400" dirty="0">
                <a:solidFill>
                  <a:srgbClr val="4C4C4D"/>
                </a:solidFill>
                <a:highlight>
                  <a:srgbClr val="F2F2F2"/>
                </a:highlight>
                <a:latin typeface="Consolas" pitchFamily="34" charset="0"/>
                <a:ea typeface="Consolas" pitchFamily="34" charset="-122"/>
                <a:cs typeface="Consolas" pitchFamily="34" charset="-120"/>
              </a:rPr>
              <a:t> &lt;div class="browser-toolbar"&gt;</a:t>
            </a:r>
            <a:endParaRPr lang="en-US" sz="1400" dirty="0"/>
          </a:p>
          <a:p>
            <a:pPr marL="0" indent="0" algn="l">
              <a:lnSpc>
                <a:spcPts val="2050"/>
              </a:lnSpc>
              <a:buNone/>
            </a:pPr>
            <a:r>
              <a:rPr lang="en-US" sz="1400" dirty="0">
                <a:solidFill>
                  <a:srgbClr val="4C4C4D"/>
                </a:solidFill>
                <a:highlight>
                  <a:srgbClr val="F2F2F2"/>
                </a:highlight>
                <a:latin typeface="Consolas" pitchFamily="34" charset="0"/>
                <a:ea typeface="Consolas" pitchFamily="34" charset="-122"/>
                <a:cs typeface="Consolas" pitchFamily="34" charset="-120"/>
              </a:rPr>
              <a:t> &lt;div class="browser-buttons"&gt;</a:t>
            </a:r>
            <a:endParaRPr lang="en-US" sz="1400" dirty="0"/>
          </a:p>
          <a:p>
            <a:pPr marL="0" indent="0" algn="l">
              <a:lnSpc>
                <a:spcPts val="2050"/>
              </a:lnSpc>
              <a:buNone/>
            </a:pPr>
            <a:r>
              <a:rPr lang="en-US" sz="1400" dirty="0">
                <a:solidFill>
                  <a:srgbClr val="4C4C4D"/>
                </a:solidFill>
                <a:highlight>
                  <a:srgbClr val="F2F2F2"/>
                </a:highlight>
                <a:latin typeface="Consolas" pitchFamily="34" charset="0"/>
                <a:ea typeface="Consolas" pitchFamily="34" charset="-122"/>
                <a:cs typeface="Consolas" pitchFamily="34" charset="-120"/>
              </a:rPr>
              <a:t> &lt;span class="btn-close"&gt;&lt;/span&gt;</a:t>
            </a:r>
            <a:endParaRPr lang="en-US" sz="1400" dirty="0"/>
          </a:p>
          <a:p>
            <a:pPr marL="0" indent="0" algn="l">
              <a:lnSpc>
                <a:spcPts val="2050"/>
              </a:lnSpc>
              <a:buNone/>
            </a:pPr>
            <a:r>
              <a:rPr lang="en-US" sz="1400" dirty="0">
                <a:solidFill>
                  <a:srgbClr val="4C4C4D"/>
                </a:solidFill>
                <a:highlight>
                  <a:srgbClr val="F2F2F2"/>
                </a:highlight>
                <a:latin typeface="Consolas" pitchFamily="34" charset="0"/>
                <a:ea typeface="Consolas" pitchFamily="34" charset="-122"/>
                <a:cs typeface="Consolas" pitchFamily="34" charset="-120"/>
              </a:rPr>
              <a:t> &lt;span class="btn-minimize"&gt;&lt;/span&gt;</a:t>
            </a:r>
            <a:endParaRPr lang="en-US" sz="1400" dirty="0"/>
          </a:p>
          <a:p>
            <a:pPr marL="0" indent="0" algn="l">
              <a:lnSpc>
                <a:spcPts val="2050"/>
              </a:lnSpc>
              <a:buNone/>
            </a:pPr>
            <a:r>
              <a:rPr lang="en-US" sz="1400" dirty="0">
                <a:solidFill>
                  <a:srgbClr val="4C4C4D"/>
                </a:solidFill>
                <a:highlight>
                  <a:srgbClr val="F2F2F2"/>
                </a:highlight>
                <a:latin typeface="Consolas" pitchFamily="34" charset="0"/>
                <a:ea typeface="Consolas" pitchFamily="34" charset="-122"/>
                <a:cs typeface="Consolas" pitchFamily="34" charset="-120"/>
              </a:rPr>
              <a:t> &lt;span class="btn-maximize"&gt;&lt;/span&gt;</a:t>
            </a:r>
            <a:endParaRPr lang="en-US" sz="1400" dirty="0"/>
          </a:p>
          <a:p>
            <a:pPr marL="0" indent="0" algn="l">
              <a:lnSpc>
                <a:spcPts val="2050"/>
              </a:lnSpc>
              <a:buNone/>
            </a:pPr>
            <a:r>
              <a:rPr lang="en-US" sz="1400" dirty="0">
                <a:solidFill>
                  <a:srgbClr val="4C4C4D"/>
                </a:solidFill>
                <a:highlight>
                  <a:srgbClr val="F2F2F2"/>
                </a:highlight>
                <a:latin typeface="Consolas" pitchFamily="34" charset="0"/>
                <a:ea typeface="Consolas" pitchFamily="34" charset="-122"/>
                <a:cs typeface="Consolas" pitchFamily="34" charset="-120"/>
              </a:rPr>
              <a:t> &lt;/div&gt;</a:t>
            </a:r>
            <a:endParaRPr lang="en-US" sz="1400" dirty="0"/>
          </a:p>
          <a:p>
            <a:pPr marL="0" indent="0" algn="l">
              <a:lnSpc>
                <a:spcPts val="2050"/>
              </a:lnSpc>
              <a:buNone/>
            </a:pPr>
            <a:r>
              <a:rPr lang="en-US" sz="1400" dirty="0">
                <a:solidFill>
                  <a:srgbClr val="4C4C4D"/>
                </a:solidFill>
                <a:highlight>
                  <a:srgbClr val="F2F2F2"/>
                </a:highlight>
                <a:latin typeface="Consolas" pitchFamily="34" charset="0"/>
                <a:ea typeface="Consolas" pitchFamily="34" charset="-122"/>
                <a:cs typeface="Consolas" pitchFamily="34" charset="-120"/>
              </a:rPr>
              <a:t> &lt;!-- Fake URL bar showing legitimate domain --&gt;</a:t>
            </a:r>
            <a:endParaRPr lang="en-US" sz="1400" dirty="0"/>
          </a:p>
          <a:p>
            <a:pPr marL="0" indent="0" algn="l">
              <a:lnSpc>
                <a:spcPts val="2050"/>
              </a:lnSpc>
              <a:buNone/>
            </a:pPr>
            <a:r>
              <a:rPr lang="en-US" sz="1400" dirty="0">
                <a:solidFill>
                  <a:srgbClr val="4C4C4D"/>
                </a:solidFill>
                <a:highlight>
                  <a:srgbClr val="F2F2F2"/>
                </a:highlight>
                <a:latin typeface="Consolas" pitchFamily="34" charset="0"/>
                <a:ea typeface="Consolas" pitchFamily="34" charset="-122"/>
                <a:cs typeface="Consolas" pitchFamily="34" charset="-120"/>
              </a:rPr>
              <a:t> &lt;div class="url-bar"&gt;</a:t>
            </a:r>
            <a:endParaRPr lang="en-US" sz="1400" dirty="0"/>
          </a:p>
          <a:p>
            <a:pPr marL="0" indent="0" algn="l">
              <a:lnSpc>
                <a:spcPts val="2050"/>
              </a:lnSpc>
              <a:buNone/>
            </a:pPr>
            <a:r>
              <a:rPr lang="en-US" sz="1400" dirty="0">
                <a:solidFill>
                  <a:srgbClr val="4C4C4D"/>
                </a:solidFill>
                <a:highlight>
                  <a:srgbClr val="F2F2F2"/>
                </a:highlight>
                <a:latin typeface="Consolas" pitchFamily="34" charset="0"/>
                <a:ea typeface="Consolas" pitchFamily="34" charset="-122"/>
                <a:cs typeface="Consolas" pitchFamily="34" charset="-120"/>
              </a:rPr>
              <a:t> &lt;span class="lock-icon"&gt;</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1426607"/>
            <a:ext cx="4082891" cy="510302"/>
          </a:xfrm>
          <a:prstGeom prst="rect">
            <a:avLst/>
          </a:prstGeom>
          <a:noFill/>
          <a:ln/>
        </p:spPr>
        <p:txBody>
          <a:bodyPr wrap="none" lIns="0" tIns="0" rIns="0" bIns="0" rtlCol="0" anchor="t"/>
          <a:lstStyle/>
          <a:p>
            <a:pPr marL="0" indent="0" algn="l">
              <a:lnSpc>
                <a:spcPts val="4000"/>
              </a:lnSpc>
              <a:buNone/>
            </a:pPr>
            <a:r>
              <a:rPr lang="en-US" sz="3200" dirty="0">
                <a:solidFill>
                  <a:srgbClr val="152D47"/>
                </a:solidFill>
                <a:latin typeface="Crimson Pro Semi Bold" pitchFamily="34" charset="0"/>
                <a:ea typeface="Crimson Pro Semi Bold" pitchFamily="34" charset="-122"/>
                <a:cs typeface="Crimson Pro Semi Bold" pitchFamily="34" charset="-120"/>
              </a:rPr>
              <a:t>Deepfake Phishing</a:t>
            </a:r>
            <a:endParaRPr lang="en-US" sz="3200" dirty="0"/>
          </a:p>
        </p:txBody>
      </p:sp>
      <p:sp>
        <p:nvSpPr>
          <p:cNvPr id="4" name="Text 1"/>
          <p:cNvSpPr/>
          <p:nvPr/>
        </p:nvSpPr>
        <p:spPr>
          <a:xfrm>
            <a:off x="6280190" y="2010370"/>
            <a:ext cx="3062168" cy="382786"/>
          </a:xfrm>
          <a:prstGeom prst="rect">
            <a:avLst/>
          </a:prstGeom>
          <a:noFill/>
          <a:ln/>
        </p:spPr>
        <p:txBody>
          <a:bodyPr wrap="none" lIns="0" tIns="0" rIns="0" bIns="0" rtlCol="0" anchor="t"/>
          <a:lstStyle/>
          <a:p>
            <a:pPr marL="0" indent="0" algn="l">
              <a:lnSpc>
                <a:spcPts val="3000"/>
              </a:lnSpc>
              <a:buNone/>
            </a:pPr>
            <a:r>
              <a:rPr lang="en-US" sz="2400" dirty="0">
                <a:solidFill>
                  <a:srgbClr val="152D47"/>
                </a:solidFill>
                <a:latin typeface="Crimson Pro Semi Bold" pitchFamily="34" charset="0"/>
                <a:ea typeface="Crimson Pro Semi Bold" pitchFamily="34" charset="-122"/>
                <a:cs typeface="Crimson Pro Semi Bold" pitchFamily="34" charset="-120"/>
              </a:rPr>
              <a:t>AI-Powered Attacks</a:t>
            </a:r>
            <a:endParaRPr lang="en-US" sz="2400" dirty="0"/>
          </a:p>
        </p:txBody>
      </p:sp>
      <p:sp>
        <p:nvSpPr>
          <p:cNvPr id="5" name="Text 2"/>
          <p:cNvSpPr/>
          <p:nvPr/>
        </p:nvSpPr>
        <p:spPr>
          <a:xfrm>
            <a:off x="6280190" y="2852380"/>
            <a:ext cx="2551748" cy="318849"/>
          </a:xfrm>
          <a:prstGeom prst="rect">
            <a:avLst/>
          </a:prstGeom>
          <a:noFill/>
          <a:ln/>
        </p:spPr>
        <p:txBody>
          <a:bodyPr wrap="none" lIns="0" tIns="0" rIns="0" bIns="0" rtlCol="0" anchor="t"/>
          <a:lstStyle/>
          <a:p>
            <a:pPr marL="0" indent="0" algn="l">
              <a:lnSpc>
                <a:spcPts val="2500"/>
              </a:lnSpc>
              <a:buNone/>
            </a:pPr>
            <a:r>
              <a:rPr lang="en-US" sz="2000" dirty="0">
                <a:solidFill>
                  <a:srgbClr val="152D47"/>
                </a:solidFill>
                <a:latin typeface="Crimson Pro Semi Bold" pitchFamily="34" charset="0"/>
                <a:ea typeface="Crimson Pro Semi Bold" pitchFamily="34" charset="-122"/>
                <a:cs typeface="Crimson Pro Semi Bold" pitchFamily="34" charset="-120"/>
              </a:rPr>
              <a:t>Voice Cloning:</a:t>
            </a:r>
            <a:endParaRPr lang="en-US" sz="2000" dirty="0"/>
          </a:p>
        </p:txBody>
      </p:sp>
      <p:sp>
        <p:nvSpPr>
          <p:cNvPr id="6" name="Text 3"/>
          <p:cNvSpPr/>
          <p:nvPr/>
        </p:nvSpPr>
        <p:spPr>
          <a:xfrm>
            <a:off x="6280190" y="3354943"/>
            <a:ext cx="3529251" cy="1744266"/>
          </a:xfrm>
          <a:prstGeom prst="rect">
            <a:avLst/>
          </a:prstGeom>
          <a:noFill/>
          <a:ln/>
        </p:spPr>
        <p:txBody>
          <a:bodyPr wrap="square" lIns="0" tIns="0" rIns="0" bIns="0" rtlCol="0" anchor="t"/>
          <a:lstStyle/>
          <a:p>
            <a:pPr marL="342900" indent="-342900" algn="l">
              <a:lnSpc>
                <a:spcPts val="2400"/>
              </a:lnSpc>
              <a:buSzPct val="100000"/>
              <a:buChar char="•"/>
            </a:pPr>
            <a:r>
              <a:rPr lang="en-US" sz="1600" dirty="0">
                <a:solidFill>
                  <a:srgbClr val="4C4C4D"/>
                </a:solidFill>
                <a:latin typeface="Heebo" pitchFamily="34" charset="0"/>
                <a:ea typeface="Heebo" pitchFamily="34" charset="-122"/>
                <a:cs typeface="Heebo" pitchFamily="34" charset="-120"/>
              </a:rPr>
              <a:t>Clone executive voice using AI</a:t>
            </a:r>
            <a:endParaRPr lang="en-US" sz="1600" dirty="0"/>
          </a:p>
          <a:p>
            <a:pPr marL="342900" indent="-342900" algn="l">
              <a:lnSpc>
                <a:spcPts val="2400"/>
              </a:lnSpc>
              <a:buSzPct val="100000"/>
              <a:buChar char="•"/>
            </a:pPr>
            <a:r>
              <a:rPr lang="en-US" sz="1600" dirty="0">
                <a:solidFill>
                  <a:srgbClr val="4C4C4D"/>
                </a:solidFill>
                <a:latin typeface="Heebo" pitchFamily="34" charset="0"/>
                <a:ea typeface="Heebo" pitchFamily="34" charset="-122"/>
                <a:cs typeface="Heebo" pitchFamily="34" charset="-120"/>
              </a:rPr>
              <a:t>Call employees requesting urgent action</a:t>
            </a:r>
            <a:endParaRPr lang="en-US" sz="1600" dirty="0"/>
          </a:p>
          <a:p>
            <a:pPr marL="342900" indent="-342900" algn="l">
              <a:lnSpc>
                <a:spcPts val="2400"/>
              </a:lnSpc>
              <a:buSzPct val="100000"/>
              <a:buChar char="•"/>
            </a:pPr>
            <a:r>
              <a:rPr lang="en-US" sz="1600" dirty="0">
                <a:solidFill>
                  <a:srgbClr val="4C4C4D"/>
                </a:solidFill>
                <a:latin typeface="Heebo" pitchFamily="34" charset="0"/>
                <a:ea typeface="Heebo" pitchFamily="34" charset="-122"/>
                <a:cs typeface="Heebo" pitchFamily="34" charset="-120"/>
              </a:rPr>
              <a:t>Wire transfers, credential sharing</a:t>
            </a:r>
            <a:endParaRPr lang="en-US" sz="1600" dirty="0"/>
          </a:p>
          <a:p>
            <a:pPr marL="342900" indent="-342900" algn="l">
              <a:lnSpc>
                <a:spcPts val="2400"/>
              </a:lnSpc>
              <a:buSzPct val="100000"/>
              <a:buChar char="•"/>
            </a:pPr>
            <a:r>
              <a:rPr lang="en-US" sz="1600" dirty="0">
                <a:solidFill>
                  <a:srgbClr val="4C4C4D"/>
                </a:solidFill>
                <a:latin typeface="Heebo" pitchFamily="34" charset="0"/>
                <a:ea typeface="Heebo" pitchFamily="34" charset="-122"/>
                <a:cs typeface="Heebo" pitchFamily="34" charset="-120"/>
              </a:rPr>
              <a:t>Bypass voice verification systems</a:t>
            </a:r>
            <a:endParaRPr lang="en-US" sz="1600" dirty="0"/>
          </a:p>
        </p:txBody>
      </p:sp>
      <p:sp>
        <p:nvSpPr>
          <p:cNvPr id="7" name="Text 4"/>
          <p:cNvSpPr/>
          <p:nvPr/>
        </p:nvSpPr>
        <p:spPr>
          <a:xfrm>
            <a:off x="10314980" y="2852380"/>
            <a:ext cx="2551748" cy="318849"/>
          </a:xfrm>
          <a:prstGeom prst="rect">
            <a:avLst/>
          </a:prstGeom>
          <a:noFill/>
          <a:ln/>
        </p:spPr>
        <p:txBody>
          <a:bodyPr wrap="none" lIns="0" tIns="0" rIns="0" bIns="0" rtlCol="0" anchor="t"/>
          <a:lstStyle/>
          <a:p>
            <a:pPr marL="0" indent="0" algn="l">
              <a:lnSpc>
                <a:spcPts val="2500"/>
              </a:lnSpc>
              <a:buNone/>
            </a:pPr>
            <a:r>
              <a:rPr lang="en-US" sz="2000" dirty="0">
                <a:solidFill>
                  <a:srgbClr val="152D47"/>
                </a:solidFill>
                <a:latin typeface="Crimson Pro Semi Bold" pitchFamily="34" charset="0"/>
                <a:ea typeface="Crimson Pro Semi Bold" pitchFamily="34" charset="-122"/>
                <a:cs typeface="Crimson Pro Semi Bold" pitchFamily="34" charset="-120"/>
              </a:rPr>
              <a:t>Video Deepfakes:</a:t>
            </a:r>
            <a:endParaRPr lang="en-US" sz="2000" dirty="0"/>
          </a:p>
        </p:txBody>
      </p:sp>
      <p:sp>
        <p:nvSpPr>
          <p:cNvPr id="8" name="Text 5"/>
          <p:cNvSpPr/>
          <p:nvPr/>
        </p:nvSpPr>
        <p:spPr>
          <a:xfrm>
            <a:off x="10314980" y="3354943"/>
            <a:ext cx="3529251" cy="1744266"/>
          </a:xfrm>
          <a:prstGeom prst="rect">
            <a:avLst/>
          </a:prstGeom>
          <a:noFill/>
          <a:ln/>
        </p:spPr>
        <p:txBody>
          <a:bodyPr wrap="square" lIns="0" tIns="0" rIns="0" bIns="0" rtlCol="0" anchor="t"/>
          <a:lstStyle/>
          <a:p>
            <a:pPr marL="342900" indent="-342900" algn="l">
              <a:lnSpc>
                <a:spcPts val="2400"/>
              </a:lnSpc>
              <a:buSzPct val="100000"/>
              <a:buChar char="•"/>
            </a:pPr>
            <a:r>
              <a:rPr lang="en-US" sz="1600" dirty="0">
                <a:solidFill>
                  <a:srgbClr val="4C4C4D"/>
                </a:solidFill>
                <a:latin typeface="Heebo" pitchFamily="34" charset="0"/>
                <a:ea typeface="Heebo" pitchFamily="34" charset="-122"/>
                <a:cs typeface="Heebo" pitchFamily="34" charset="-120"/>
              </a:rPr>
              <a:t>Fake video calls impersonating executives</a:t>
            </a:r>
            <a:endParaRPr lang="en-US" sz="1600" dirty="0"/>
          </a:p>
          <a:p>
            <a:pPr marL="342900" indent="-342900" algn="l">
              <a:lnSpc>
                <a:spcPts val="2400"/>
              </a:lnSpc>
              <a:buSzPct val="100000"/>
              <a:buChar char="•"/>
            </a:pPr>
            <a:r>
              <a:rPr lang="en-US" sz="1600" dirty="0">
                <a:solidFill>
                  <a:srgbClr val="4C4C4D"/>
                </a:solidFill>
                <a:latin typeface="Heebo" pitchFamily="34" charset="0"/>
                <a:ea typeface="Heebo" pitchFamily="34" charset="-122"/>
                <a:cs typeface="Heebo" pitchFamily="34" charset="-120"/>
              </a:rPr>
              <a:t>Used in BEC attacks</a:t>
            </a:r>
            <a:endParaRPr lang="en-US" sz="1600" dirty="0"/>
          </a:p>
          <a:p>
            <a:pPr marL="342900" indent="-342900" algn="l">
              <a:lnSpc>
                <a:spcPts val="2400"/>
              </a:lnSpc>
              <a:buSzPct val="100000"/>
              <a:buChar char="•"/>
            </a:pPr>
            <a:r>
              <a:rPr lang="en-US" sz="1600" dirty="0">
                <a:solidFill>
                  <a:srgbClr val="4C4C4D"/>
                </a:solidFill>
                <a:latin typeface="Heebo" pitchFamily="34" charset="0"/>
                <a:ea typeface="Heebo" pitchFamily="34" charset="-122"/>
                <a:cs typeface="Heebo" pitchFamily="34" charset="-120"/>
              </a:rPr>
              <a:t>Increasingly convincing</a:t>
            </a:r>
            <a:endParaRPr lang="en-US" sz="1600" dirty="0"/>
          </a:p>
          <a:p>
            <a:pPr marL="342900" indent="-342900" algn="l">
              <a:lnSpc>
                <a:spcPts val="2400"/>
              </a:lnSpc>
              <a:buSzPct val="100000"/>
              <a:buChar char="•"/>
            </a:pPr>
            <a:r>
              <a:rPr lang="en-US" sz="1600" dirty="0">
                <a:solidFill>
                  <a:srgbClr val="4C4C4D"/>
                </a:solidFill>
                <a:latin typeface="Heebo" pitchFamily="34" charset="0"/>
                <a:ea typeface="Heebo" pitchFamily="34" charset="-122"/>
                <a:cs typeface="Heebo" pitchFamily="34" charset="-120"/>
              </a:rPr>
              <a:t>Difficult to detect in real-time</a:t>
            </a:r>
            <a:endParaRPr lang="en-US" sz="1600" dirty="0"/>
          </a:p>
        </p:txBody>
      </p:sp>
      <p:sp>
        <p:nvSpPr>
          <p:cNvPr id="9" name="Shape 6"/>
          <p:cNvSpPr/>
          <p:nvPr/>
        </p:nvSpPr>
        <p:spPr>
          <a:xfrm>
            <a:off x="6280190" y="5370195"/>
            <a:ext cx="7556421" cy="1432798"/>
          </a:xfrm>
          <a:prstGeom prst="roundRect">
            <a:avLst>
              <a:gd name="adj" fmla="val 2137"/>
            </a:avLst>
          </a:prstGeom>
          <a:solidFill>
            <a:srgbClr val="B3C3FF"/>
          </a:solidFill>
          <a:ln/>
        </p:spPr>
      </p:sp>
      <p:pic>
        <p:nvPicPr>
          <p:cNvPr id="10" name="Image 1" descr="preencoded.png"/>
          <p:cNvPicPr>
            <a:picLocks noChangeAspect="1"/>
          </p:cNvPicPr>
          <p:nvPr/>
        </p:nvPicPr>
        <p:blipFill>
          <a:blip r:embed="rId4"/>
          <a:stretch>
            <a:fillRect/>
          </a:stretch>
        </p:blipFill>
        <p:spPr>
          <a:xfrm>
            <a:off x="6484263" y="5659993"/>
            <a:ext cx="255151" cy="204073"/>
          </a:xfrm>
          <a:prstGeom prst="rect">
            <a:avLst/>
          </a:prstGeom>
        </p:spPr>
      </p:pic>
      <p:sp>
        <p:nvSpPr>
          <p:cNvPr id="11" name="Text 7"/>
          <p:cNvSpPr/>
          <p:nvPr/>
        </p:nvSpPr>
        <p:spPr>
          <a:xfrm>
            <a:off x="6943487" y="5604867"/>
            <a:ext cx="6689050" cy="930831"/>
          </a:xfrm>
          <a:prstGeom prst="rect">
            <a:avLst/>
          </a:prstGeom>
          <a:noFill/>
          <a:ln/>
        </p:spPr>
        <p:txBody>
          <a:bodyPr wrap="square" lIns="0" tIns="0" rIns="0" bIns="0" rtlCol="0" anchor="t"/>
          <a:lstStyle/>
          <a:p>
            <a:pPr marL="0" indent="0" algn="l">
              <a:lnSpc>
                <a:spcPts val="2400"/>
              </a:lnSpc>
              <a:buNone/>
            </a:pPr>
            <a:r>
              <a:rPr lang="en-US" sz="1600" b="1" dirty="0">
                <a:solidFill>
                  <a:srgbClr val="000000"/>
                </a:solidFill>
                <a:latin typeface="Heebo" pitchFamily="34" charset="0"/>
                <a:ea typeface="Heebo" pitchFamily="34" charset="-122"/>
                <a:cs typeface="Heebo" pitchFamily="34" charset="-120"/>
              </a:rPr>
              <a:t>Real case:</a:t>
            </a:r>
            <a:r>
              <a:rPr lang="en-US" sz="1600" dirty="0">
                <a:solidFill>
                  <a:srgbClr val="000000"/>
                </a:solidFill>
                <a:latin typeface="Heebo" pitchFamily="34" charset="0"/>
                <a:ea typeface="Heebo" pitchFamily="34" charset="-122"/>
                <a:cs typeface="Heebo" pitchFamily="34" charset="-120"/>
              </a:rPr>
              <a:t> A UK energy company CEO was tricked into transferring €220,000 after receiving a call from what sounded exactly like his parent company's CEO - actually an AI-generated voice clone.</a:t>
            </a:r>
            <a:endParaRPr 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928211"/>
            <a:ext cx="4536519" cy="566976"/>
          </a:xfrm>
          <a:prstGeom prst="rect">
            <a:avLst/>
          </a:prstGeom>
          <a:noFill/>
          <a:ln/>
        </p:spPr>
        <p:txBody>
          <a:bodyPr wrap="none" lIns="0" tIns="0" rIns="0" bIns="0" rtlCol="0" anchor="t"/>
          <a:lstStyle/>
          <a:p>
            <a:pPr marL="0" indent="0" algn="l">
              <a:lnSpc>
                <a:spcPts val="4450"/>
              </a:lnSpc>
              <a:buNone/>
            </a:pPr>
            <a:r>
              <a:rPr lang="en-US" sz="3550" dirty="0">
                <a:solidFill>
                  <a:srgbClr val="152D47"/>
                </a:solidFill>
                <a:latin typeface="Crimson Pro Semi Bold" pitchFamily="34" charset="0"/>
                <a:ea typeface="Crimson Pro Semi Bold" pitchFamily="34" charset="-122"/>
                <a:cs typeface="Crimson Pro Semi Bold" pitchFamily="34" charset="-120"/>
              </a:rPr>
              <a:t>Phishing Kit Analysis</a:t>
            </a:r>
            <a:endParaRPr lang="en-US" sz="3550" dirty="0"/>
          </a:p>
        </p:txBody>
      </p:sp>
      <p:sp>
        <p:nvSpPr>
          <p:cNvPr id="4" name="Text 1"/>
          <p:cNvSpPr/>
          <p:nvPr/>
        </p:nvSpPr>
        <p:spPr>
          <a:xfrm>
            <a:off x="6280190" y="1585912"/>
            <a:ext cx="4976932" cy="425291"/>
          </a:xfrm>
          <a:prstGeom prst="rect">
            <a:avLst/>
          </a:prstGeom>
          <a:noFill/>
          <a:ln/>
        </p:spPr>
        <p:txBody>
          <a:bodyPr wrap="none" lIns="0" tIns="0" rIns="0" bIns="0" rtlCol="0" anchor="t"/>
          <a:lstStyle/>
          <a:p>
            <a:pPr marL="0" indent="0" algn="l">
              <a:lnSpc>
                <a:spcPts val="3300"/>
              </a:lnSpc>
              <a:buNone/>
            </a:pPr>
            <a:r>
              <a:rPr lang="en-US" sz="2650" dirty="0">
                <a:solidFill>
                  <a:srgbClr val="152D47"/>
                </a:solidFill>
                <a:latin typeface="Crimson Pro Semi Bold" pitchFamily="34" charset="0"/>
                <a:ea typeface="Crimson Pro Semi Bold" pitchFamily="34" charset="-122"/>
                <a:cs typeface="Crimson Pro Semi Bold" pitchFamily="34" charset="-120"/>
              </a:rPr>
              <a:t>Common Phishing Kit Components</a:t>
            </a:r>
            <a:endParaRPr lang="en-US" sz="2650" dirty="0"/>
          </a:p>
        </p:txBody>
      </p:sp>
      <p:sp>
        <p:nvSpPr>
          <p:cNvPr id="5" name="Text 2"/>
          <p:cNvSpPr/>
          <p:nvPr/>
        </p:nvSpPr>
        <p:spPr>
          <a:xfrm>
            <a:off x="6280190" y="2351365"/>
            <a:ext cx="7556421" cy="362903"/>
          </a:xfrm>
          <a:prstGeom prst="rect">
            <a:avLst/>
          </a:prstGeom>
          <a:noFill/>
          <a:ln/>
        </p:spPr>
        <p:txBody>
          <a:bodyPr wrap="none" lIns="0" tIns="0" rIns="0" bIns="0" rtlCol="0" anchor="t"/>
          <a:lstStyle/>
          <a:p>
            <a:pPr marL="0" indent="0" algn="l">
              <a:lnSpc>
                <a:spcPts val="2850"/>
              </a:lnSpc>
              <a:buNone/>
            </a:pPr>
            <a:r>
              <a:rPr lang="en-US" sz="1750" b="1" dirty="0">
                <a:solidFill>
                  <a:srgbClr val="4C4C4D"/>
                </a:solidFill>
                <a:latin typeface="Heebo" pitchFamily="34" charset="0"/>
                <a:ea typeface="Heebo" pitchFamily="34" charset="-122"/>
                <a:cs typeface="Heebo" pitchFamily="34" charset="-120"/>
              </a:rPr>
              <a:t>Typical kit structure:</a:t>
            </a:r>
            <a:endParaRPr lang="en-US" sz="1750" dirty="0"/>
          </a:p>
        </p:txBody>
      </p:sp>
      <p:sp>
        <p:nvSpPr>
          <p:cNvPr id="6" name="Shape 3"/>
          <p:cNvSpPr/>
          <p:nvPr/>
        </p:nvSpPr>
        <p:spPr>
          <a:xfrm>
            <a:off x="6280190" y="2969419"/>
            <a:ext cx="7556421" cy="4331970"/>
          </a:xfrm>
          <a:prstGeom prst="roundRect">
            <a:avLst>
              <a:gd name="adj" fmla="val 785"/>
            </a:avLst>
          </a:prstGeom>
          <a:solidFill>
            <a:srgbClr val="F2F2F2"/>
          </a:solidFill>
          <a:ln/>
        </p:spPr>
      </p:sp>
      <p:sp>
        <p:nvSpPr>
          <p:cNvPr id="7" name="Shape 4"/>
          <p:cNvSpPr/>
          <p:nvPr/>
        </p:nvSpPr>
        <p:spPr>
          <a:xfrm>
            <a:off x="6268879" y="2969419"/>
            <a:ext cx="7579043" cy="4331970"/>
          </a:xfrm>
          <a:prstGeom prst="roundRect">
            <a:avLst>
              <a:gd name="adj" fmla="val 785"/>
            </a:avLst>
          </a:prstGeom>
          <a:solidFill>
            <a:srgbClr val="F2F2F2"/>
          </a:solidFill>
          <a:ln/>
        </p:spPr>
      </p:sp>
      <p:sp>
        <p:nvSpPr>
          <p:cNvPr id="8" name="Text 5"/>
          <p:cNvSpPr/>
          <p:nvPr/>
        </p:nvSpPr>
        <p:spPr>
          <a:xfrm>
            <a:off x="6495693" y="3139440"/>
            <a:ext cx="7125414" cy="3991928"/>
          </a:xfrm>
          <a:prstGeom prst="rect">
            <a:avLst/>
          </a:prstGeom>
          <a:noFill/>
          <a:ln/>
        </p:spPr>
        <p:txBody>
          <a:bodyPr wrap="square" lIns="0" tIns="0" rIns="0" bIns="0" rtlCol="0" anchor="t"/>
          <a:lstStyle/>
          <a:p>
            <a:pPr marL="0" indent="0" algn="l">
              <a:lnSpc>
                <a:spcPts val="2850"/>
              </a:lnSpc>
              <a:buNone/>
            </a:pPr>
            <a:r>
              <a:rPr lang="en-US" sz="1750" dirty="0">
                <a:solidFill>
                  <a:srgbClr val="4C4C4D"/>
                </a:solidFill>
                <a:highlight>
                  <a:srgbClr val="F2F2F2"/>
                </a:highlight>
                <a:latin typeface="Consolas" pitchFamily="34" charset="0"/>
                <a:ea typeface="Consolas" pitchFamily="34" charset="-122"/>
                <a:cs typeface="Consolas" pitchFamily="34" charset="-120"/>
              </a:rPr>
              <a:t>phishing_kit/</a:t>
            </a:r>
            <a:endParaRPr lang="en-US" sz="1750" dirty="0"/>
          </a:p>
          <a:p>
            <a:pPr marL="0" indent="0" algn="l">
              <a:lnSpc>
                <a:spcPts val="2850"/>
              </a:lnSpc>
              <a:buNone/>
            </a:pPr>
            <a:r>
              <a:rPr lang="en-US" sz="1750" dirty="0">
                <a:solidFill>
                  <a:srgbClr val="4C4C4D"/>
                </a:solidFill>
                <a:highlight>
                  <a:srgbClr val="F2F2F2"/>
                </a:highlight>
                <a:latin typeface="Consolas" pitchFamily="34" charset="0"/>
                <a:ea typeface="Consolas" pitchFamily="34" charset="-122"/>
                <a:cs typeface="Consolas" pitchFamily="34" charset="-120"/>
              </a:rPr>
              <a:t>├── index.php # Main phishing page</a:t>
            </a:r>
            <a:endParaRPr lang="en-US" sz="1750" dirty="0"/>
          </a:p>
          <a:p>
            <a:pPr marL="0" indent="0" algn="l">
              <a:lnSpc>
                <a:spcPts val="2850"/>
              </a:lnSpc>
              <a:buNone/>
            </a:pPr>
            <a:r>
              <a:rPr lang="en-US" sz="1750" dirty="0">
                <a:solidFill>
                  <a:srgbClr val="4C4C4D"/>
                </a:solidFill>
                <a:highlight>
                  <a:srgbClr val="F2F2F2"/>
                </a:highlight>
                <a:latin typeface="Consolas" pitchFamily="34" charset="0"/>
                <a:ea typeface="Consolas" pitchFamily="34" charset="-122"/>
                <a:cs typeface="Consolas" pitchFamily="34" charset="-120"/>
              </a:rPr>
              <a:t>├── login.php # Credential capture</a:t>
            </a:r>
            <a:endParaRPr lang="en-US" sz="1750" dirty="0"/>
          </a:p>
          <a:p>
            <a:pPr marL="0" indent="0" algn="l">
              <a:lnSpc>
                <a:spcPts val="2850"/>
              </a:lnSpc>
              <a:buNone/>
            </a:pPr>
            <a:r>
              <a:rPr lang="en-US" sz="1750" dirty="0">
                <a:solidFill>
                  <a:srgbClr val="4C4C4D"/>
                </a:solidFill>
                <a:highlight>
                  <a:srgbClr val="F2F2F2"/>
                </a:highlight>
                <a:latin typeface="Consolas" pitchFamily="34" charset="0"/>
                <a:ea typeface="Consolas" pitchFamily="34" charset="-122"/>
                <a:cs typeface="Consolas" pitchFamily="34" charset="-120"/>
              </a:rPr>
              <a:t>├── redirect.php # Redirect to real site</a:t>
            </a:r>
            <a:endParaRPr lang="en-US" sz="1750" dirty="0"/>
          </a:p>
          <a:p>
            <a:pPr marL="0" indent="0" algn="l">
              <a:lnSpc>
                <a:spcPts val="2850"/>
              </a:lnSpc>
              <a:buNone/>
            </a:pPr>
            <a:r>
              <a:rPr lang="en-US" sz="1750" dirty="0">
                <a:solidFill>
                  <a:srgbClr val="4C4C4D"/>
                </a:solidFill>
                <a:highlight>
                  <a:srgbClr val="F2F2F2"/>
                </a:highlight>
                <a:latin typeface="Consolas" pitchFamily="34" charset="0"/>
                <a:ea typeface="Consolas" pitchFamily="34" charset="-122"/>
                <a:cs typeface="Consolas" pitchFamily="34" charset="-120"/>
              </a:rPr>
              <a:t>├── assets/</a:t>
            </a:r>
            <a:endParaRPr lang="en-US" sz="1750" dirty="0"/>
          </a:p>
          <a:p>
            <a:pPr marL="0" indent="0" algn="l">
              <a:lnSpc>
                <a:spcPts val="2850"/>
              </a:lnSpc>
              <a:buNone/>
            </a:pPr>
            <a:r>
              <a:rPr lang="en-US" sz="1750" dirty="0">
                <a:solidFill>
                  <a:srgbClr val="4C4C4D"/>
                </a:solidFill>
                <a:highlight>
                  <a:srgbClr val="F2F2F2"/>
                </a:highlight>
                <a:latin typeface="Consolas" pitchFamily="34" charset="0"/>
                <a:ea typeface="Consolas" pitchFamily="34" charset="-122"/>
                <a:cs typeface="Consolas" pitchFamily="34" charset="-120"/>
              </a:rPr>
              <a:t>│ ├── css/ # Copied from real site</a:t>
            </a:r>
            <a:endParaRPr lang="en-US" sz="1750" dirty="0"/>
          </a:p>
          <a:p>
            <a:pPr marL="0" indent="0" algn="l">
              <a:lnSpc>
                <a:spcPts val="2850"/>
              </a:lnSpc>
              <a:buNone/>
            </a:pPr>
            <a:r>
              <a:rPr lang="en-US" sz="1750" dirty="0">
                <a:solidFill>
                  <a:srgbClr val="4C4C4D"/>
                </a:solidFill>
                <a:highlight>
                  <a:srgbClr val="F2F2F2"/>
                </a:highlight>
                <a:latin typeface="Consolas" pitchFamily="34" charset="0"/>
                <a:ea typeface="Consolas" pitchFamily="34" charset="-122"/>
                <a:cs typeface="Consolas" pitchFamily="34" charset="-120"/>
              </a:rPr>
              <a:t>│ ├── js/ # Copied from real site</a:t>
            </a:r>
            <a:endParaRPr lang="en-US" sz="1750" dirty="0"/>
          </a:p>
          <a:p>
            <a:pPr marL="0" indent="0" algn="l">
              <a:lnSpc>
                <a:spcPts val="2850"/>
              </a:lnSpc>
              <a:buNone/>
            </a:pPr>
            <a:r>
              <a:rPr lang="en-US" sz="1750" dirty="0">
                <a:solidFill>
                  <a:srgbClr val="4C4C4D"/>
                </a:solidFill>
                <a:highlight>
                  <a:srgbClr val="F2F2F2"/>
                </a:highlight>
                <a:latin typeface="Consolas" pitchFamily="34" charset="0"/>
                <a:ea typeface="Consolas" pitchFamily="34" charset="-122"/>
                <a:cs typeface="Consolas" pitchFamily="34" charset="-120"/>
              </a:rPr>
              <a:t>│ └── images/ # Copied logos/images</a:t>
            </a:r>
            <a:endParaRPr lang="en-US" sz="1750" dirty="0"/>
          </a:p>
          <a:p>
            <a:pPr marL="0" indent="0" algn="l">
              <a:lnSpc>
                <a:spcPts val="2850"/>
              </a:lnSpc>
              <a:buNone/>
            </a:pPr>
            <a:r>
              <a:rPr lang="en-US" sz="1750" dirty="0">
                <a:solidFill>
                  <a:srgbClr val="4C4C4D"/>
                </a:solidFill>
                <a:highlight>
                  <a:srgbClr val="F2F2F2"/>
                </a:highlight>
                <a:latin typeface="Consolas" pitchFamily="34" charset="0"/>
                <a:ea typeface="Consolas" pitchFamily="34" charset="-122"/>
                <a:cs typeface="Consolas" pitchFamily="34" charset="-120"/>
              </a:rPr>
              <a:t>├── logs/</a:t>
            </a:r>
            <a:endParaRPr lang="en-US" sz="1750" dirty="0"/>
          </a:p>
          <a:p>
            <a:pPr marL="0" indent="0" algn="l">
              <a:lnSpc>
                <a:spcPts val="2850"/>
              </a:lnSpc>
              <a:buNone/>
            </a:pPr>
            <a:r>
              <a:rPr lang="en-US" sz="1750" dirty="0">
                <a:solidFill>
                  <a:srgbClr val="4C4C4D"/>
                </a:solidFill>
                <a:highlight>
                  <a:srgbClr val="F2F2F2"/>
                </a:highlight>
                <a:latin typeface="Consolas" pitchFamily="34" charset="0"/>
                <a:ea typeface="Consolas" pitchFamily="34" charset="-122"/>
                <a:cs typeface="Consolas" pitchFamily="34" charset="-120"/>
              </a:rPr>
              <a:t>│ └── credentials.txt # Stolen data storage</a:t>
            </a:r>
            <a:endParaRPr lang="en-US" sz="1750" dirty="0"/>
          </a:p>
          <a:p>
            <a:pPr marL="0" indent="0" algn="l">
              <a:lnSpc>
                <a:spcPts val="2850"/>
              </a:lnSpc>
              <a:buNone/>
            </a:pPr>
            <a:r>
              <a:rPr lang="en-US" sz="1750" dirty="0">
                <a:solidFill>
                  <a:srgbClr val="4C4C4D"/>
                </a:solidFill>
                <a:highlight>
                  <a:srgbClr val="F2F2F2"/>
                </a:highlight>
                <a:latin typeface="Consolas" pitchFamily="34" charset="0"/>
                <a:ea typeface="Consolas" pitchFamily="34" charset="-122"/>
                <a:cs typeface="Consolas" pitchFamily="34" charset="-120"/>
              </a:rPr>
              <a:t>└── config.php # Attacker email/settings</a:t>
            </a:r>
            <a:endParaRPr lang="en-US" sz="17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315200" y="0"/>
            <a:ext cx="7315200" cy="8229600"/>
          </a:xfrm>
          <a:prstGeom prst="rect">
            <a:avLst/>
          </a:prstGeom>
        </p:spPr>
      </p:pic>
      <p:sp>
        <p:nvSpPr>
          <p:cNvPr id="3" name="Text 0"/>
          <p:cNvSpPr/>
          <p:nvPr/>
        </p:nvSpPr>
        <p:spPr>
          <a:xfrm>
            <a:off x="793790" y="2793683"/>
            <a:ext cx="5727621" cy="1417558"/>
          </a:xfrm>
          <a:prstGeom prst="rect">
            <a:avLst/>
          </a:prstGeom>
          <a:noFill/>
          <a:ln/>
        </p:spPr>
        <p:txBody>
          <a:bodyPr wrap="square" lIns="0" tIns="0" rIns="0" bIns="0" rtlCol="0" anchor="t"/>
          <a:lstStyle/>
          <a:p>
            <a:pPr marL="0" indent="0" algn="l">
              <a:lnSpc>
                <a:spcPts val="5550"/>
              </a:lnSpc>
              <a:buNone/>
            </a:pPr>
            <a:r>
              <a:rPr lang="en-US" sz="4450" dirty="0">
                <a:solidFill>
                  <a:srgbClr val="152D47"/>
                </a:solidFill>
                <a:latin typeface="Crimson Pro Semi Bold" pitchFamily="34" charset="0"/>
                <a:ea typeface="Crimson Pro Semi Bold" pitchFamily="34" charset="-122"/>
                <a:cs typeface="Crimson Pro Semi Bold" pitchFamily="34" charset="-120"/>
              </a:rPr>
              <a:t>Social Engineering Tactics</a:t>
            </a:r>
            <a:endParaRPr lang="en-US" sz="4450" dirty="0"/>
          </a:p>
        </p:txBody>
      </p:sp>
      <p:sp>
        <p:nvSpPr>
          <p:cNvPr id="4" name="Text 1"/>
          <p:cNvSpPr/>
          <p:nvPr/>
        </p:nvSpPr>
        <p:spPr>
          <a:xfrm>
            <a:off x="793790" y="4301966"/>
            <a:ext cx="5727621" cy="1133951"/>
          </a:xfrm>
          <a:prstGeom prst="rect">
            <a:avLst/>
          </a:prstGeom>
          <a:noFill/>
          <a:ln/>
        </p:spPr>
        <p:txBody>
          <a:bodyPr wrap="square" lIns="0" tIns="0" rIns="0" bIns="0" rtlCol="0" anchor="t"/>
          <a:lstStyle/>
          <a:p>
            <a:pPr marL="0" indent="0" algn="l">
              <a:lnSpc>
                <a:spcPts val="4450"/>
              </a:lnSpc>
              <a:buNone/>
            </a:pPr>
            <a:r>
              <a:rPr lang="en-US" sz="3550" dirty="0">
                <a:solidFill>
                  <a:srgbClr val="152D47"/>
                </a:solidFill>
                <a:latin typeface="Crimson Pro Semi Bold" pitchFamily="34" charset="0"/>
                <a:ea typeface="Crimson Pro Semi Bold" pitchFamily="34" charset="-122"/>
                <a:cs typeface="Crimson Pro Semi Bold" pitchFamily="34" charset="-120"/>
              </a:rPr>
              <a:t>Psychological Manipulation Techniques</a:t>
            </a:r>
            <a:endParaRPr lang="en-US" sz="35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1869519"/>
            <a:ext cx="3402330" cy="425291"/>
          </a:xfrm>
          <a:prstGeom prst="rect">
            <a:avLst/>
          </a:prstGeom>
          <a:noFill/>
          <a:ln/>
        </p:spPr>
        <p:txBody>
          <a:bodyPr wrap="none" lIns="0" tIns="0" rIns="0" bIns="0" rtlCol="0" anchor="t"/>
          <a:lstStyle/>
          <a:p>
            <a:pPr marL="0" indent="0" algn="l">
              <a:lnSpc>
                <a:spcPts val="3300"/>
              </a:lnSpc>
              <a:buNone/>
            </a:pPr>
            <a:r>
              <a:rPr lang="en-US" sz="2650" dirty="0">
                <a:solidFill>
                  <a:srgbClr val="152D47"/>
                </a:solidFill>
                <a:latin typeface="Crimson Pro Semi Bold" pitchFamily="34" charset="0"/>
                <a:ea typeface="Crimson Pro Semi Bold" pitchFamily="34" charset="-122"/>
                <a:cs typeface="Crimson Pro Semi Bold" pitchFamily="34" charset="-120"/>
              </a:rPr>
              <a:t>1. Authority</a:t>
            </a:r>
            <a:endParaRPr lang="en-US" sz="2650" dirty="0"/>
          </a:p>
        </p:txBody>
      </p:sp>
      <p:sp>
        <p:nvSpPr>
          <p:cNvPr id="3" name="Shape 1"/>
          <p:cNvSpPr/>
          <p:nvPr/>
        </p:nvSpPr>
        <p:spPr>
          <a:xfrm>
            <a:off x="630436" y="2634972"/>
            <a:ext cx="4531876" cy="3724989"/>
          </a:xfrm>
          <a:prstGeom prst="roundRect">
            <a:avLst>
              <a:gd name="adj" fmla="val 913"/>
            </a:avLst>
          </a:prstGeom>
          <a:solidFill>
            <a:srgbClr val="EFEFEF"/>
          </a:solidFill>
          <a:ln/>
        </p:spPr>
      </p:sp>
      <p:sp>
        <p:nvSpPr>
          <p:cNvPr id="4" name="Text 2"/>
          <p:cNvSpPr/>
          <p:nvPr/>
        </p:nvSpPr>
        <p:spPr>
          <a:xfrm>
            <a:off x="857250" y="2861786"/>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52D47"/>
                </a:solidFill>
                <a:latin typeface="Crimson Pro Semi Bold" pitchFamily="34" charset="0"/>
                <a:ea typeface="Crimson Pro Semi Bold" pitchFamily="34" charset="-122"/>
                <a:cs typeface="Crimson Pro Semi Bold" pitchFamily="34" charset="-120"/>
              </a:rPr>
              <a:t>Technique:</a:t>
            </a:r>
            <a:endParaRPr lang="en-US" sz="2200" dirty="0"/>
          </a:p>
        </p:txBody>
      </p:sp>
      <p:sp>
        <p:nvSpPr>
          <p:cNvPr id="5" name="Text 3"/>
          <p:cNvSpPr/>
          <p:nvPr/>
        </p:nvSpPr>
        <p:spPr>
          <a:xfrm>
            <a:off x="857250" y="3442930"/>
            <a:ext cx="4078248" cy="1973104"/>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4C4C4D"/>
                </a:solidFill>
                <a:latin typeface="Heebo" pitchFamily="34" charset="0"/>
                <a:ea typeface="Heebo" pitchFamily="34" charset="-122"/>
                <a:cs typeface="Heebo" pitchFamily="34" charset="-120"/>
              </a:rPr>
              <a:t>Impersonate authority figures</a:t>
            </a:r>
            <a:endParaRPr lang="en-US" sz="1750" dirty="0"/>
          </a:p>
          <a:p>
            <a:pPr marL="342900" indent="-342900" algn="l">
              <a:lnSpc>
                <a:spcPts val="2850"/>
              </a:lnSpc>
              <a:buSzPct val="100000"/>
              <a:buChar char="•"/>
            </a:pPr>
            <a:r>
              <a:rPr lang="en-US" sz="1750" dirty="0">
                <a:solidFill>
                  <a:srgbClr val="4C4C4D"/>
                </a:solidFill>
                <a:latin typeface="Heebo" pitchFamily="34" charset="0"/>
                <a:ea typeface="Heebo" pitchFamily="34" charset="-122"/>
                <a:cs typeface="Heebo" pitchFamily="34" charset="-120"/>
              </a:rPr>
              <a:t>CEO, IT department, government agencies</a:t>
            </a:r>
            <a:endParaRPr lang="en-US" sz="1750" dirty="0"/>
          </a:p>
          <a:p>
            <a:pPr marL="342900" indent="-342900" algn="l">
              <a:lnSpc>
                <a:spcPts val="2850"/>
              </a:lnSpc>
              <a:buSzPct val="100000"/>
              <a:buChar char="•"/>
            </a:pPr>
            <a:r>
              <a:rPr lang="en-US" sz="1750" dirty="0">
                <a:solidFill>
                  <a:srgbClr val="4C4C4D"/>
                </a:solidFill>
                <a:latin typeface="Heebo" pitchFamily="34" charset="0"/>
                <a:ea typeface="Heebo" pitchFamily="34" charset="-122"/>
                <a:cs typeface="Heebo" pitchFamily="34" charset="-120"/>
              </a:rPr>
              <a:t>Law enforcement, banks, tax authorities</a:t>
            </a:r>
            <a:endParaRPr lang="en-US" sz="1750" dirty="0"/>
          </a:p>
        </p:txBody>
      </p:sp>
      <p:sp>
        <p:nvSpPr>
          <p:cNvPr id="6" name="Text 4"/>
          <p:cNvSpPr/>
          <p:nvPr/>
        </p:nvSpPr>
        <p:spPr>
          <a:xfrm>
            <a:off x="5559981" y="2861786"/>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52D47"/>
                </a:solidFill>
                <a:latin typeface="Crimson Pro Semi Bold" pitchFamily="34" charset="0"/>
                <a:ea typeface="Crimson Pro Semi Bold" pitchFamily="34" charset="-122"/>
                <a:cs typeface="Crimson Pro Semi Bold" pitchFamily="34" charset="-120"/>
              </a:rPr>
              <a:t>Example:</a:t>
            </a:r>
            <a:endParaRPr lang="en-US" sz="2200" dirty="0"/>
          </a:p>
        </p:txBody>
      </p:sp>
      <p:sp>
        <p:nvSpPr>
          <p:cNvPr id="7" name="Text 5"/>
          <p:cNvSpPr/>
          <p:nvPr/>
        </p:nvSpPr>
        <p:spPr>
          <a:xfrm>
            <a:off x="5900142" y="3471267"/>
            <a:ext cx="7943969" cy="725805"/>
          </a:xfrm>
          <a:prstGeom prst="rect">
            <a:avLst/>
          </a:prstGeom>
          <a:noFill/>
          <a:ln/>
        </p:spPr>
        <p:txBody>
          <a:bodyPr wrap="square" lIns="0" tIns="0" rIns="0" bIns="0" rtlCol="0" anchor="t"/>
          <a:lstStyle/>
          <a:p>
            <a:pPr marL="0" indent="0" algn="l">
              <a:lnSpc>
                <a:spcPts val="2850"/>
              </a:lnSpc>
              <a:buNone/>
            </a:pPr>
            <a:r>
              <a:rPr lang="en-US" sz="1750" dirty="0">
                <a:solidFill>
                  <a:srgbClr val="4C4C4D"/>
                </a:solidFill>
                <a:latin typeface="Heebo" pitchFamily="34" charset="0"/>
                <a:ea typeface="Heebo" pitchFamily="34" charset="-122"/>
                <a:cs typeface="Heebo" pitchFamily="34" charset="-120"/>
              </a:rPr>
              <a:t>"This is the IT department. We detected unauthorized access to your account. You must verify your credentials immediately to prevent account lockout."</a:t>
            </a:r>
            <a:endParaRPr lang="en-US" sz="1750" dirty="0"/>
          </a:p>
        </p:txBody>
      </p:sp>
      <p:sp>
        <p:nvSpPr>
          <p:cNvPr id="8" name="Shape 6"/>
          <p:cNvSpPr/>
          <p:nvPr/>
        </p:nvSpPr>
        <p:spPr>
          <a:xfrm>
            <a:off x="5559981" y="3471267"/>
            <a:ext cx="30480" cy="725805"/>
          </a:xfrm>
          <a:prstGeom prst="rect">
            <a:avLst/>
          </a:prstGeom>
          <a:solidFill>
            <a:srgbClr val="2150FE"/>
          </a:solidFill>
          <a:ln/>
        </p:spPr>
      </p:sp>
      <p:sp>
        <p:nvSpPr>
          <p:cNvPr id="9" name="Text 7"/>
          <p:cNvSpPr/>
          <p:nvPr/>
        </p:nvSpPr>
        <p:spPr>
          <a:xfrm>
            <a:off x="5559981" y="4452223"/>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52D47"/>
                </a:solidFill>
                <a:latin typeface="Crimson Pro Semi Bold" pitchFamily="34" charset="0"/>
                <a:ea typeface="Crimson Pro Semi Bold" pitchFamily="34" charset="-122"/>
                <a:cs typeface="Crimson Pro Semi Bold" pitchFamily="34" charset="-120"/>
              </a:rPr>
              <a:t>Defense:</a:t>
            </a:r>
            <a:endParaRPr lang="en-US" sz="2200" dirty="0"/>
          </a:p>
        </p:txBody>
      </p:sp>
      <p:sp>
        <p:nvSpPr>
          <p:cNvPr id="10" name="Text 8"/>
          <p:cNvSpPr/>
          <p:nvPr/>
        </p:nvSpPr>
        <p:spPr>
          <a:xfrm>
            <a:off x="5559981" y="5033367"/>
            <a:ext cx="8284131" cy="1247299"/>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4C4C4D"/>
                </a:solidFill>
                <a:latin typeface="Heebo" pitchFamily="34" charset="0"/>
                <a:ea typeface="Heebo" pitchFamily="34" charset="-122"/>
                <a:cs typeface="Heebo" pitchFamily="34" charset="-120"/>
              </a:rPr>
              <a:t>Verify identity through official channels</a:t>
            </a:r>
            <a:endParaRPr lang="en-US" sz="1750" dirty="0"/>
          </a:p>
          <a:p>
            <a:pPr marL="342900" indent="-342900" algn="l">
              <a:lnSpc>
                <a:spcPts val="2850"/>
              </a:lnSpc>
              <a:buSzPct val="100000"/>
              <a:buChar char="•"/>
            </a:pPr>
            <a:r>
              <a:rPr lang="en-US" sz="1750" dirty="0">
                <a:solidFill>
                  <a:srgbClr val="4C4C4D"/>
                </a:solidFill>
                <a:latin typeface="Heebo" pitchFamily="34" charset="0"/>
                <a:ea typeface="Heebo" pitchFamily="34" charset="-122"/>
                <a:cs typeface="Heebo" pitchFamily="34" charset="-120"/>
              </a:rPr>
              <a:t>Call back using known numbers</a:t>
            </a:r>
            <a:endParaRPr lang="en-US" sz="1750" dirty="0"/>
          </a:p>
          <a:p>
            <a:pPr marL="342900" indent="-342900" algn="l">
              <a:lnSpc>
                <a:spcPts val="2850"/>
              </a:lnSpc>
              <a:buSzPct val="100000"/>
              <a:buChar char="•"/>
            </a:pPr>
            <a:r>
              <a:rPr lang="en-US" sz="1750" dirty="0">
                <a:solidFill>
                  <a:srgbClr val="4C4C4D"/>
                </a:solidFill>
                <a:latin typeface="Heebo" pitchFamily="34" charset="0"/>
                <a:ea typeface="Heebo" pitchFamily="34" charset="-122"/>
                <a:cs typeface="Heebo" pitchFamily="34" charset="-120"/>
              </a:rPr>
              <a:t>Follow verification procedures</a:t>
            </a:r>
            <a:endParaRPr lang="en-US" sz="17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2367677"/>
            <a:ext cx="3402330" cy="425291"/>
          </a:xfrm>
          <a:prstGeom prst="rect">
            <a:avLst/>
          </a:prstGeom>
          <a:noFill/>
          <a:ln/>
        </p:spPr>
        <p:txBody>
          <a:bodyPr wrap="none" lIns="0" tIns="0" rIns="0" bIns="0" rtlCol="0" anchor="t"/>
          <a:lstStyle/>
          <a:p>
            <a:pPr marL="0" indent="0" algn="l">
              <a:lnSpc>
                <a:spcPts val="3300"/>
              </a:lnSpc>
              <a:buNone/>
            </a:pPr>
            <a:r>
              <a:rPr lang="en-US" sz="2650" dirty="0">
                <a:solidFill>
                  <a:srgbClr val="152D47"/>
                </a:solidFill>
                <a:latin typeface="Crimson Pro Semi Bold" pitchFamily="34" charset="0"/>
                <a:ea typeface="Crimson Pro Semi Bold" pitchFamily="34" charset="-122"/>
                <a:cs typeface="Crimson Pro Semi Bold" pitchFamily="34" charset="-120"/>
              </a:rPr>
              <a:t>2. Urgency &amp; Fear</a:t>
            </a:r>
            <a:endParaRPr lang="en-US" sz="2650" dirty="0"/>
          </a:p>
        </p:txBody>
      </p:sp>
      <p:sp>
        <p:nvSpPr>
          <p:cNvPr id="3" name="Shape 1"/>
          <p:cNvSpPr/>
          <p:nvPr/>
        </p:nvSpPr>
        <p:spPr>
          <a:xfrm>
            <a:off x="793790" y="3246596"/>
            <a:ext cx="4196358" cy="2615208"/>
          </a:xfrm>
          <a:prstGeom prst="roundRect">
            <a:avLst>
              <a:gd name="adj" fmla="val 5594"/>
            </a:avLst>
          </a:prstGeom>
          <a:solidFill>
            <a:srgbClr val="FFFFFF"/>
          </a:solidFill>
          <a:ln w="30480">
            <a:solidFill>
              <a:srgbClr val="AFCBF8"/>
            </a:solidFill>
            <a:prstDash val="solid"/>
          </a:ln>
        </p:spPr>
      </p:sp>
      <p:sp>
        <p:nvSpPr>
          <p:cNvPr id="4" name="Shape 2"/>
          <p:cNvSpPr/>
          <p:nvPr/>
        </p:nvSpPr>
        <p:spPr>
          <a:xfrm>
            <a:off x="763310" y="3246596"/>
            <a:ext cx="121920" cy="2615208"/>
          </a:xfrm>
          <a:prstGeom prst="roundRect">
            <a:avLst>
              <a:gd name="adj" fmla="val 27907"/>
            </a:avLst>
          </a:prstGeom>
          <a:solidFill>
            <a:srgbClr val="AFCBF8"/>
          </a:solidFill>
          <a:ln/>
        </p:spPr>
      </p:sp>
      <p:sp>
        <p:nvSpPr>
          <p:cNvPr id="5" name="Text 3"/>
          <p:cNvSpPr/>
          <p:nvPr/>
        </p:nvSpPr>
        <p:spPr>
          <a:xfrm>
            <a:off x="1142524" y="3503890"/>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C4C4D"/>
                </a:solidFill>
                <a:latin typeface="Crimson Pro Semi Bold" pitchFamily="34" charset="0"/>
                <a:ea typeface="Crimson Pro Semi Bold" pitchFamily="34" charset="-122"/>
                <a:cs typeface="Crimson Pro Semi Bold" pitchFamily="34" charset="-120"/>
              </a:rPr>
              <a:t>Technique:</a:t>
            </a:r>
            <a:endParaRPr lang="en-US" sz="2200" dirty="0"/>
          </a:p>
        </p:txBody>
      </p:sp>
      <p:sp>
        <p:nvSpPr>
          <p:cNvPr id="6" name="Text 4"/>
          <p:cNvSpPr/>
          <p:nvPr/>
        </p:nvSpPr>
        <p:spPr>
          <a:xfrm>
            <a:off x="1142524" y="3994309"/>
            <a:ext cx="3590330" cy="1610201"/>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4C4C4D"/>
                </a:solidFill>
                <a:latin typeface="Heebo" pitchFamily="34" charset="0"/>
                <a:ea typeface="Heebo" pitchFamily="34" charset="-122"/>
                <a:cs typeface="Heebo" pitchFamily="34" charset="-120"/>
              </a:rPr>
              <a:t>Create time pressure</a:t>
            </a:r>
            <a:endParaRPr lang="en-US" sz="1750" dirty="0"/>
          </a:p>
          <a:p>
            <a:pPr marL="342900" indent="-342900" algn="l">
              <a:lnSpc>
                <a:spcPts val="2850"/>
              </a:lnSpc>
              <a:buSzPct val="100000"/>
              <a:buChar char="•"/>
            </a:pPr>
            <a:r>
              <a:rPr lang="en-US" sz="1750" dirty="0">
                <a:solidFill>
                  <a:srgbClr val="4C4C4D"/>
                </a:solidFill>
                <a:latin typeface="Heebo" pitchFamily="34" charset="0"/>
                <a:ea typeface="Heebo" pitchFamily="34" charset="-122"/>
                <a:cs typeface="Heebo" pitchFamily="34" charset="-120"/>
              </a:rPr>
              <a:t>Threaten negative consequences</a:t>
            </a:r>
            <a:endParaRPr lang="en-US" sz="1750" dirty="0"/>
          </a:p>
          <a:p>
            <a:pPr marL="342900" indent="-342900" algn="l">
              <a:lnSpc>
                <a:spcPts val="2850"/>
              </a:lnSpc>
              <a:buSzPct val="100000"/>
              <a:buChar char="•"/>
            </a:pPr>
            <a:r>
              <a:rPr lang="en-US" sz="1750" dirty="0">
                <a:solidFill>
                  <a:srgbClr val="4C4C4D"/>
                </a:solidFill>
                <a:latin typeface="Heebo" pitchFamily="34" charset="0"/>
                <a:ea typeface="Heebo" pitchFamily="34" charset="-122"/>
                <a:cs typeface="Heebo" pitchFamily="34" charset="-120"/>
              </a:rPr>
              <a:t>Exploit fear of loss</a:t>
            </a:r>
            <a:endParaRPr lang="en-US" sz="1750" dirty="0"/>
          </a:p>
        </p:txBody>
      </p:sp>
      <p:sp>
        <p:nvSpPr>
          <p:cNvPr id="7" name="Shape 5"/>
          <p:cNvSpPr/>
          <p:nvPr/>
        </p:nvSpPr>
        <p:spPr>
          <a:xfrm>
            <a:off x="5216962" y="3246596"/>
            <a:ext cx="4196358" cy="2615208"/>
          </a:xfrm>
          <a:prstGeom prst="roundRect">
            <a:avLst>
              <a:gd name="adj" fmla="val 5594"/>
            </a:avLst>
          </a:prstGeom>
          <a:solidFill>
            <a:srgbClr val="FFFFFF"/>
          </a:solidFill>
          <a:ln w="30480">
            <a:solidFill>
              <a:srgbClr val="AFCBF8"/>
            </a:solidFill>
            <a:prstDash val="solid"/>
          </a:ln>
        </p:spPr>
      </p:sp>
      <p:sp>
        <p:nvSpPr>
          <p:cNvPr id="8" name="Shape 6"/>
          <p:cNvSpPr/>
          <p:nvPr/>
        </p:nvSpPr>
        <p:spPr>
          <a:xfrm>
            <a:off x="5186482" y="3246596"/>
            <a:ext cx="121920" cy="2615208"/>
          </a:xfrm>
          <a:prstGeom prst="roundRect">
            <a:avLst>
              <a:gd name="adj" fmla="val 27907"/>
            </a:avLst>
          </a:prstGeom>
          <a:solidFill>
            <a:srgbClr val="AFCBF8"/>
          </a:solidFill>
          <a:ln/>
        </p:spPr>
      </p:sp>
      <p:sp>
        <p:nvSpPr>
          <p:cNvPr id="9" name="Text 7"/>
          <p:cNvSpPr/>
          <p:nvPr/>
        </p:nvSpPr>
        <p:spPr>
          <a:xfrm>
            <a:off x="5565696" y="3503890"/>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C4C4D"/>
                </a:solidFill>
                <a:latin typeface="Crimson Pro Semi Bold" pitchFamily="34" charset="0"/>
                <a:ea typeface="Crimson Pro Semi Bold" pitchFamily="34" charset="-122"/>
                <a:cs typeface="Crimson Pro Semi Bold" pitchFamily="34" charset="-120"/>
              </a:rPr>
              <a:t>Example:</a:t>
            </a:r>
            <a:endParaRPr lang="en-US" sz="2200" dirty="0"/>
          </a:p>
        </p:txBody>
      </p:sp>
      <p:sp>
        <p:nvSpPr>
          <p:cNvPr id="10" name="Text 8"/>
          <p:cNvSpPr/>
          <p:nvPr/>
        </p:nvSpPr>
        <p:spPr>
          <a:xfrm>
            <a:off x="5565696" y="3994309"/>
            <a:ext cx="3590330" cy="1451610"/>
          </a:xfrm>
          <a:prstGeom prst="rect">
            <a:avLst/>
          </a:prstGeom>
          <a:noFill/>
          <a:ln/>
        </p:spPr>
        <p:txBody>
          <a:bodyPr wrap="square" lIns="0" tIns="0" rIns="0" bIns="0" rtlCol="0" anchor="t"/>
          <a:lstStyle/>
          <a:p>
            <a:pPr marL="0" indent="0" algn="l">
              <a:lnSpc>
                <a:spcPts val="2850"/>
              </a:lnSpc>
              <a:buNone/>
            </a:pPr>
            <a:r>
              <a:rPr lang="en-US" sz="1750" dirty="0">
                <a:solidFill>
                  <a:srgbClr val="4C4C4D"/>
                </a:solidFill>
                <a:latin typeface="Heebo" pitchFamily="34" charset="0"/>
                <a:ea typeface="Heebo" pitchFamily="34" charset="-122"/>
                <a:cs typeface="Heebo" pitchFamily="34" charset="-120"/>
              </a:rPr>
              <a:t>"Your account will be permanently deleted in 2 hours unless you verify your identity. Click here NOW to prevent this."</a:t>
            </a:r>
            <a:endParaRPr lang="en-US" sz="1750" dirty="0"/>
          </a:p>
        </p:txBody>
      </p:sp>
      <p:sp>
        <p:nvSpPr>
          <p:cNvPr id="11" name="Shape 9"/>
          <p:cNvSpPr/>
          <p:nvPr/>
        </p:nvSpPr>
        <p:spPr>
          <a:xfrm>
            <a:off x="9640133" y="3246596"/>
            <a:ext cx="4196358" cy="2615208"/>
          </a:xfrm>
          <a:prstGeom prst="roundRect">
            <a:avLst>
              <a:gd name="adj" fmla="val 5594"/>
            </a:avLst>
          </a:prstGeom>
          <a:solidFill>
            <a:srgbClr val="FFFFFF"/>
          </a:solidFill>
          <a:ln w="30480">
            <a:solidFill>
              <a:srgbClr val="AFCBF8"/>
            </a:solidFill>
            <a:prstDash val="solid"/>
          </a:ln>
        </p:spPr>
      </p:sp>
      <p:sp>
        <p:nvSpPr>
          <p:cNvPr id="12" name="Shape 10"/>
          <p:cNvSpPr/>
          <p:nvPr/>
        </p:nvSpPr>
        <p:spPr>
          <a:xfrm>
            <a:off x="9609653" y="3246596"/>
            <a:ext cx="121920" cy="2615208"/>
          </a:xfrm>
          <a:prstGeom prst="roundRect">
            <a:avLst>
              <a:gd name="adj" fmla="val 27907"/>
            </a:avLst>
          </a:prstGeom>
          <a:solidFill>
            <a:srgbClr val="AFCBF8"/>
          </a:solidFill>
          <a:ln/>
        </p:spPr>
      </p:sp>
      <p:sp>
        <p:nvSpPr>
          <p:cNvPr id="13" name="Text 11"/>
          <p:cNvSpPr/>
          <p:nvPr/>
        </p:nvSpPr>
        <p:spPr>
          <a:xfrm>
            <a:off x="9988868" y="3503890"/>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C4C4D"/>
                </a:solidFill>
                <a:latin typeface="Crimson Pro Semi Bold" pitchFamily="34" charset="0"/>
                <a:ea typeface="Crimson Pro Semi Bold" pitchFamily="34" charset="-122"/>
                <a:cs typeface="Crimson Pro Semi Bold" pitchFamily="34" charset="-120"/>
              </a:rPr>
              <a:t>Defense:</a:t>
            </a:r>
            <a:endParaRPr lang="en-US" sz="2200" dirty="0"/>
          </a:p>
        </p:txBody>
      </p:sp>
      <p:sp>
        <p:nvSpPr>
          <p:cNvPr id="14" name="Text 12"/>
          <p:cNvSpPr/>
          <p:nvPr/>
        </p:nvSpPr>
        <p:spPr>
          <a:xfrm>
            <a:off x="9988868" y="3994309"/>
            <a:ext cx="3590330" cy="1610201"/>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4C4C4D"/>
                </a:solidFill>
                <a:latin typeface="Heebo" pitchFamily="34" charset="0"/>
                <a:ea typeface="Heebo" pitchFamily="34" charset="-122"/>
                <a:cs typeface="Heebo" pitchFamily="34" charset="-120"/>
              </a:rPr>
              <a:t>Take time to verify</a:t>
            </a:r>
            <a:endParaRPr lang="en-US" sz="1750" dirty="0"/>
          </a:p>
          <a:p>
            <a:pPr marL="342900" indent="-342900" algn="l">
              <a:lnSpc>
                <a:spcPts val="2850"/>
              </a:lnSpc>
              <a:buSzPct val="100000"/>
              <a:buChar char="•"/>
            </a:pPr>
            <a:r>
              <a:rPr lang="en-US" sz="1750" dirty="0">
                <a:solidFill>
                  <a:srgbClr val="4C4C4D"/>
                </a:solidFill>
                <a:latin typeface="Heebo" pitchFamily="34" charset="0"/>
                <a:ea typeface="Heebo" pitchFamily="34" charset="-122"/>
                <a:cs typeface="Heebo" pitchFamily="34" charset="-120"/>
              </a:rPr>
              <a:t>Legitimate organizations don't rush</a:t>
            </a:r>
            <a:endParaRPr lang="en-US" sz="1750" dirty="0"/>
          </a:p>
          <a:p>
            <a:pPr marL="342900" indent="-342900" algn="l">
              <a:lnSpc>
                <a:spcPts val="2850"/>
              </a:lnSpc>
              <a:buSzPct val="100000"/>
              <a:buChar char="•"/>
            </a:pPr>
            <a:r>
              <a:rPr lang="en-US" sz="1750" dirty="0">
                <a:solidFill>
                  <a:srgbClr val="4C4C4D"/>
                </a:solidFill>
                <a:latin typeface="Heebo" pitchFamily="34" charset="0"/>
                <a:ea typeface="Heebo" pitchFamily="34" charset="-122"/>
                <a:cs typeface="Heebo" pitchFamily="34" charset="-120"/>
              </a:rPr>
              <a:t>Contact company directly</a:t>
            </a:r>
            <a:endParaRPr lang="en-US" sz="17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1352907"/>
            <a:ext cx="3062168" cy="382786"/>
          </a:xfrm>
          <a:prstGeom prst="rect">
            <a:avLst/>
          </a:prstGeom>
          <a:noFill/>
          <a:ln/>
        </p:spPr>
        <p:txBody>
          <a:bodyPr wrap="none" lIns="0" tIns="0" rIns="0" bIns="0" rtlCol="0" anchor="t"/>
          <a:lstStyle/>
          <a:p>
            <a:pPr marL="0" indent="0" algn="l">
              <a:lnSpc>
                <a:spcPts val="3000"/>
              </a:lnSpc>
              <a:buNone/>
            </a:pPr>
            <a:r>
              <a:rPr lang="en-US" sz="2400" dirty="0">
                <a:solidFill>
                  <a:srgbClr val="152D47"/>
                </a:solidFill>
                <a:latin typeface="Crimson Pro Semi Bold" pitchFamily="34" charset="0"/>
                <a:ea typeface="Crimson Pro Semi Bold" pitchFamily="34" charset="-122"/>
                <a:cs typeface="Crimson Pro Semi Bold" pitchFamily="34" charset="-120"/>
              </a:rPr>
              <a:t>3. Social Proof</a:t>
            </a:r>
            <a:endParaRPr lang="en-US" sz="2400" dirty="0"/>
          </a:p>
        </p:txBody>
      </p:sp>
      <p:sp>
        <p:nvSpPr>
          <p:cNvPr id="3" name="Shape 1"/>
          <p:cNvSpPr/>
          <p:nvPr/>
        </p:nvSpPr>
        <p:spPr>
          <a:xfrm>
            <a:off x="793790" y="2103120"/>
            <a:ext cx="4225052" cy="4773454"/>
          </a:xfrm>
          <a:prstGeom prst="roundRect">
            <a:avLst>
              <a:gd name="adj" fmla="val 725"/>
            </a:avLst>
          </a:prstGeom>
          <a:solidFill>
            <a:srgbClr val="F2EEEE"/>
          </a:solidFill>
          <a:ln/>
        </p:spPr>
      </p:sp>
      <p:sp>
        <p:nvSpPr>
          <p:cNvPr id="4" name="Text 2"/>
          <p:cNvSpPr/>
          <p:nvPr/>
        </p:nvSpPr>
        <p:spPr>
          <a:xfrm>
            <a:off x="997863" y="2307193"/>
            <a:ext cx="2551748" cy="318849"/>
          </a:xfrm>
          <a:prstGeom prst="rect">
            <a:avLst/>
          </a:prstGeom>
          <a:noFill/>
          <a:ln/>
        </p:spPr>
        <p:txBody>
          <a:bodyPr wrap="none" lIns="0" tIns="0" rIns="0" bIns="0" rtlCol="0" anchor="t"/>
          <a:lstStyle/>
          <a:p>
            <a:pPr marL="0" indent="0" algn="l">
              <a:lnSpc>
                <a:spcPts val="2500"/>
              </a:lnSpc>
              <a:buNone/>
            </a:pPr>
            <a:r>
              <a:rPr lang="en-US" sz="2000" dirty="0">
                <a:solidFill>
                  <a:srgbClr val="4C4C4D"/>
                </a:solidFill>
                <a:latin typeface="Crimson Pro Semi Bold" pitchFamily="34" charset="0"/>
                <a:ea typeface="Crimson Pro Semi Bold" pitchFamily="34" charset="-122"/>
                <a:cs typeface="Crimson Pro Semi Bold" pitchFamily="34" charset="-120"/>
              </a:rPr>
              <a:t>Technique:</a:t>
            </a:r>
            <a:endParaRPr lang="en-US" sz="2000" dirty="0"/>
          </a:p>
        </p:txBody>
      </p:sp>
      <p:sp>
        <p:nvSpPr>
          <p:cNvPr id="5" name="Text 3"/>
          <p:cNvSpPr/>
          <p:nvPr/>
        </p:nvSpPr>
        <p:spPr>
          <a:xfrm>
            <a:off x="997863" y="2736175"/>
            <a:ext cx="3816906" cy="1679972"/>
          </a:xfrm>
          <a:prstGeom prst="rect">
            <a:avLst/>
          </a:prstGeom>
          <a:noFill/>
          <a:ln/>
        </p:spPr>
        <p:txBody>
          <a:bodyPr wrap="square" lIns="0" tIns="0" rIns="0" bIns="0" rtlCol="0" anchor="t"/>
          <a:lstStyle/>
          <a:p>
            <a:pPr marL="342900" indent="-342900" algn="l">
              <a:lnSpc>
                <a:spcPts val="2400"/>
              </a:lnSpc>
              <a:buSzPct val="100000"/>
              <a:buChar char="•"/>
            </a:pPr>
            <a:r>
              <a:rPr lang="en-US" sz="1600" dirty="0">
                <a:solidFill>
                  <a:srgbClr val="4C4C4D"/>
                </a:solidFill>
                <a:latin typeface="Heebo" pitchFamily="34" charset="0"/>
                <a:ea typeface="Heebo" pitchFamily="34" charset="-122"/>
                <a:cs typeface="Heebo" pitchFamily="34" charset="-120"/>
              </a:rPr>
              <a:t>Reference colleagues or trusted contacts</a:t>
            </a:r>
            <a:endParaRPr lang="en-US" sz="1600" dirty="0"/>
          </a:p>
          <a:p>
            <a:pPr marL="342900" indent="-342900" algn="l">
              <a:lnSpc>
                <a:spcPts val="2400"/>
              </a:lnSpc>
              <a:buSzPct val="100000"/>
              <a:buChar char="•"/>
            </a:pPr>
            <a:r>
              <a:rPr lang="en-US" sz="1600" dirty="0">
                <a:solidFill>
                  <a:srgbClr val="4C4C4D"/>
                </a:solidFill>
                <a:latin typeface="Heebo" pitchFamily="34" charset="0"/>
                <a:ea typeface="Heebo" pitchFamily="34" charset="-122"/>
                <a:cs typeface="Heebo" pitchFamily="34" charset="-120"/>
              </a:rPr>
              <a:t>"Your colleague John already updated his info"</a:t>
            </a:r>
            <a:endParaRPr lang="en-US" sz="1600" dirty="0"/>
          </a:p>
          <a:p>
            <a:pPr marL="342900" indent="-342900" algn="l">
              <a:lnSpc>
                <a:spcPts val="2400"/>
              </a:lnSpc>
              <a:buSzPct val="100000"/>
              <a:buChar char="•"/>
            </a:pPr>
            <a:r>
              <a:rPr lang="en-US" sz="1600" dirty="0">
                <a:solidFill>
                  <a:srgbClr val="4C4C4D"/>
                </a:solidFill>
                <a:latin typeface="Heebo" pitchFamily="34" charset="0"/>
                <a:ea typeface="Heebo" pitchFamily="34" charset="-122"/>
                <a:cs typeface="Heebo" pitchFamily="34" charset="-120"/>
              </a:rPr>
              <a:t>Fake testimonials and reviews</a:t>
            </a:r>
            <a:endParaRPr lang="en-US" sz="1600" dirty="0"/>
          </a:p>
        </p:txBody>
      </p:sp>
      <p:sp>
        <p:nvSpPr>
          <p:cNvPr id="6" name="Text 4"/>
          <p:cNvSpPr/>
          <p:nvPr/>
        </p:nvSpPr>
        <p:spPr>
          <a:xfrm>
            <a:off x="997863" y="4526280"/>
            <a:ext cx="3816906" cy="930831"/>
          </a:xfrm>
          <a:prstGeom prst="rect">
            <a:avLst/>
          </a:prstGeom>
          <a:noFill/>
          <a:ln/>
        </p:spPr>
        <p:txBody>
          <a:bodyPr wrap="square" lIns="0" tIns="0" rIns="0" bIns="0" rtlCol="0" anchor="t"/>
          <a:lstStyle/>
          <a:p>
            <a:pPr marL="0" indent="0" algn="l">
              <a:lnSpc>
                <a:spcPts val="2400"/>
              </a:lnSpc>
              <a:buNone/>
            </a:pPr>
            <a:r>
              <a:rPr lang="en-US" sz="1600" b="1" dirty="0">
                <a:solidFill>
                  <a:srgbClr val="4C4C4D"/>
                </a:solidFill>
                <a:latin typeface="Heebo" pitchFamily="34" charset="0"/>
                <a:ea typeface="Heebo" pitchFamily="34" charset="-122"/>
                <a:cs typeface="Heebo" pitchFamily="34" charset="-120"/>
              </a:rPr>
              <a:t>Example:</a:t>
            </a:r>
            <a:r>
              <a:rPr lang="en-US" sz="1600" dirty="0">
                <a:solidFill>
                  <a:srgbClr val="4C4C4D"/>
                </a:solidFill>
                <a:latin typeface="Heebo" pitchFamily="34" charset="0"/>
                <a:ea typeface="Heebo" pitchFamily="34" charset="-122"/>
                <a:cs typeface="Heebo" pitchFamily="34" charset="-120"/>
              </a:rPr>
              <a:t> </a:t>
            </a:r>
            <a:r>
              <a:rPr lang="en-US" sz="1600" i="1" dirty="0">
                <a:solidFill>
                  <a:srgbClr val="4C4C4D"/>
                </a:solidFill>
                <a:latin typeface="Heebo" pitchFamily="34" charset="0"/>
                <a:ea typeface="Heebo" pitchFamily="34" charset="-122"/>
                <a:cs typeface="Heebo" pitchFamily="34" charset="-120"/>
              </a:rPr>
              <a:t>Your colleague John already updated his info — you should too, or you'll miss the deadline!</a:t>
            </a:r>
            <a:endParaRPr lang="en-US" sz="1600" dirty="0"/>
          </a:p>
        </p:txBody>
      </p:sp>
      <p:sp>
        <p:nvSpPr>
          <p:cNvPr id="7" name="Text 5"/>
          <p:cNvSpPr/>
          <p:nvPr/>
        </p:nvSpPr>
        <p:spPr>
          <a:xfrm>
            <a:off x="997863" y="5567243"/>
            <a:ext cx="3816906" cy="310277"/>
          </a:xfrm>
          <a:prstGeom prst="rect">
            <a:avLst/>
          </a:prstGeom>
          <a:noFill/>
          <a:ln/>
        </p:spPr>
        <p:txBody>
          <a:bodyPr wrap="none" lIns="0" tIns="0" rIns="0" bIns="0" rtlCol="0" anchor="t"/>
          <a:lstStyle/>
          <a:p>
            <a:pPr marL="0" indent="0" algn="l">
              <a:lnSpc>
                <a:spcPts val="2400"/>
              </a:lnSpc>
              <a:buNone/>
            </a:pPr>
            <a:r>
              <a:rPr lang="en-US" sz="1600" b="1" dirty="0">
                <a:solidFill>
                  <a:srgbClr val="4C4C4D"/>
                </a:solidFill>
                <a:latin typeface="Heebo" pitchFamily="34" charset="0"/>
                <a:ea typeface="Heebo" pitchFamily="34" charset="-122"/>
                <a:cs typeface="Heebo" pitchFamily="34" charset="-120"/>
              </a:rPr>
              <a:t>Defense:</a:t>
            </a:r>
            <a:endParaRPr lang="en-US" sz="1600" dirty="0"/>
          </a:p>
        </p:txBody>
      </p:sp>
      <p:sp>
        <p:nvSpPr>
          <p:cNvPr id="8" name="Text 6"/>
          <p:cNvSpPr/>
          <p:nvPr/>
        </p:nvSpPr>
        <p:spPr>
          <a:xfrm>
            <a:off x="997863" y="5987653"/>
            <a:ext cx="3816906" cy="684848"/>
          </a:xfrm>
          <a:prstGeom prst="rect">
            <a:avLst/>
          </a:prstGeom>
          <a:noFill/>
          <a:ln/>
        </p:spPr>
        <p:txBody>
          <a:bodyPr wrap="square" lIns="0" tIns="0" rIns="0" bIns="0" rtlCol="0" anchor="t"/>
          <a:lstStyle/>
          <a:p>
            <a:pPr marL="342900" indent="-342900" algn="l">
              <a:lnSpc>
                <a:spcPts val="2400"/>
              </a:lnSpc>
              <a:buSzPct val="100000"/>
              <a:buChar char="•"/>
            </a:pPr>
            <a:r>
              <a:rPr lang="en-US" sz="1600" dirty="0">
                <a:solidFill>
                  <a:srgbClr val="4C4C4D"/>
                </a:solidFill>
                <a:latin typeface="Heebo" pitchFamily="34" charset="0"/>
                <a:ea typeface="Heebo" pitchFamily="34" charset="-122"/>
                <a:cs typeface="Heebo" pitchFamily="34" charset="-120"/>
              </a:rPr>
              <a:t>Verify with colleagues directly</a:t>
            </a:r>
            <a:endParaRPr lang="en-US" sz="1600" dirty="0"/>
          </a:p>
          <a:p>
            <a:pPr marL="342900" indent="-342900" algn="l">
              <a:lnSpc>
                <a:spcPts val="2400"/>
              </a:lnSpc>
              <a:buSzPct val="100000"/>
              <a:buChar char="•"/>
            </a:pPr>
            <a:r>
              <a:rPr lang="en-US" sz="1600" dirty="0">
                <a:solidFill>
                  <a:srgbClr val="4C4C4D"/>
                </a:solidFill>
                <a:latin typeface="Heebo" pitchFamily="34" charset="0"/>
                <a:ea typeface="Heebo" pitchFamily="34" charset="-122"/>
                <a:cs typeface="Heebo" pitchFamily="34" charset="-120"/>
              </a:rPr>
              <a:t>Don't trust unverifiable claims</a:t>
            </a:r>
            <a:endParaRPr lang="en-US" sz="1600" dirty="0"/>
          </a:p>
        </p:txBody>
      </p:sp>
      <p:sp>
        <p:nvSpPr>
          <p:cNvPr id="9" name="Shape 7"/>
          <p:cNvSpPr/>
          <p:nvPr/>
        </p:nvSpPr>
        <p:spPr>
          <a:xfrm>
            <a:off x="5202555" y="2103120"/>
            <a:ext cx="4225171" cy="4773454"/>
          </a:xfrm>
          <a:prstGeom prst="roundRect">
            <a:avLst>
              <a:gd name="adj" fmla="val 725"/>
            </a:avLst>
          </a:prstGeom>
          <a:solidFill>
            <a:srgbClr val="F2EEEE"/>
          </a:solidFill>
          <a:ln/>
        </p:spPr>
      </p:sp>
      <p:sp>
        <p:nvSpPr>
          <p:cNvPr id="10" name="Text 8"/>
          <p:cNvSpPr/>
          <p:nvPr/>
        </p:nvSpPr>
        <p:spPr>
          <a:xfrm>
            <a:off x="5406628" y="2307193"/>
            <a:ext cx="2551748" cy="318849"/>
          </a:xfrm>
          <a:prstGeom prst="rect">
            <a:avLst/>
          </a:prstGeom>
          <a:noFill/>
          <a:ln/>
        </p:spPr>
        <p:txBody>
          <a:bodyPr wrap="none" lIns="0" tIns="0" rIns="0" bIns="0" rtlCol="0" anchor="t"/>
          <a:lstStyle/>
          <a:p>
            <a:pPr marL="0" indent="0" algn="l">
              <a:lnSpc>
                <a:spcPts val="2500"/>
              </a:lnSpc>
              <a:buNone/>
            </a:pPr>
            <a:r>
              <a:rPr lang="en-US" sz="2000" dirty="0">
                <a:solidFill>
                  <a:srgbClr val="4C4C4D"/>
                </a:solidFill>
                <a:latin typeface="Crimson Pro Semi Bold" pitchFamily="34" charset="0"/>
                <a:ea typeface="Crimson Pro Semi Bold" pitchFamily="34" charset="-122"/>
                <a:cs typeface="Crimson Pro Semi Bold" pitchFamily="34" charset="-120"/>
              </a:rPr>
              <a:t>4. Reciprocity</a:t>
            </a:r>
            <a:endParaRPr lang="en-US" sz="2000" dirty="0"/>
          </a:p>
        </p:txBody>
      </p:sp>
      <p:sp>
        <p:nvSpPr>
          <p:cNvPr id="11" name="Text 9"/>
          <p:cNvSpPr/>
          <p:nvPr/>
        </p:nvSpPr>
        <p:spPr>
          <a:xfrm>
            <a:off x="5406628" y="2736175"/>
            <a:ext cx="3817025" cy="1059418"/>
          </a:xfrm>
          <a:prstGeom prst="rect">
            <a:avLst/>
          </a:prstGeom>
          <a:noFill/>
          <a:ln/>
        </p:spPr>
        <p:txBody>
          <a:bodyPr wrap="square" lIns="0" tIns="0" rIns="0" bIns="0" rtlCol="0" anchor="t"/>
          <a:lstStyle/>
          <a:p>
            <a:pPr marL="342900" indent="-342900" algn="l">
              <a:lnSpc>
                <a:spcPts val="2400"/>
              </a:lnSpc>
              <a:buSzPct val="100000"/>
              <a:buChar char="•"/>
            </a:pPr>
            <a:r>
              <a:rPr lang="en-US" sz="1600" dirty="0">
                <a:solidFill>
                  <a:srgbClr val="4C4C4D"/>
                </a:solidFill>
                <a:latin typeface="Heebo" pitchFamily="34" charset="0"/>
                <a:ea typeface="Heebo" pitchFamily="34" charset="-122"/>
                <a:cs typeface="Heebo" pitchFamily="34" charset="-120"/>
              </a:rPr>
              <a:t>Offer something valuable first</a:t>
            </a:r>
            <a:endParaRPr lang="en-US" sz="1600" dirty="0"/>
          </a:p>
          <a:p>
            <a:pPr marL="342900" indent="-342900" algn="l">
              <a:lnSpc>
                <a:spcPts val="2400"/>
              </a:lnSpc>
              <a:buSzPct val="100000"/>
              <a:buChar char="•"/>
            </a:pPr>
            <a:r>
              <a:rPr lang="en-US" sz="1600" dirty="0">
                <a:solidFill>
                  <a:srgbClr val="4C4C4D"/>
                </a:solidFill>
                <a:latin typeface="Heebo" pitchFamily="34" charset="0"/>
                <a:ea typeface="Heebo" pitchFamily="34" charset="-122"/>
                <a:cs typeface="Heebo" pitchFamily="34" charset="-120"/>
              </a:rPr>
              <a:t>Free gift, prize, reward</a:t>
            </a:r>
            <a:endParaRPr lang="en-US" sz="1600" dirty="0"/>
          </a:p>
          <a:p>
            <a:pPr marL="342900" indent="-342900" algn="l">
              <a:lnSpc>
                <a:spcPts val="2400"/>
              </a:lnSpc>
              <a:buSzPct val="100000"/>
              <a:buChar char="•"/>
            </a:pPr>
            <a:r>
              <a:rPr lang="en-US" sz="1600" dirty="0">
                <a:solidFill>
                  <a:srgbClr val="4C4C4D"/>
                </a:solidFill>
                <a:latin typeface="Heebo" pitchFamily="34" charset="0"/>
                <a:ea typeface="Heebo" pitchFamily="34" charset="-122"/>
                <a:cs typeface="Heebo" pitchFamily="34" charset="-120"/>
              </a:rPr>
              <a:t>Creates sense of obligation</a:t>
            </a:r>
            <a:endParaRPr lang="en-US" sz="1600" dirty="0"/>
          </a:p>
        </p:txBody>
      </p:sp>
      <p:sp>
        <p:nvSpPr>
          <p:cNvPr id="12" name="Text 10"/>
          <p:cNvSpPr/>
          <p:nvPr/>
        </p:nvSpPr>
        <p:spPr>
          <a:xfrm>
            <a:off x="5406628" y="3905726"/>
            <a:ext cx="3817025" cy="620554"/>
          </a:xfrm>
          <a:prstGeom prst="rect">
            <a:avLst/>
          </a:prstGeom>
          <a:noFill/>
          <a:ln/>
        </p:spPr>
        <p:txBody>
          <a:bodyPr wrap="square" lIns="0" tIns="0" rIns="0" bIns="0" rtlCol="0" anchor="t"/>
          <a:lstStyle/>
          <a:p>
            <a:pPr marL="0" indent="0" algn="l">
              <a:lnSpc>
                <a:spcPts val="2400"/>
              </a:lnSpc>
              <a:buNone/>
            </a:pPr>
            <a:r>
              <a:rPr lang="en-US" sz="1600" b="1" dirty="0">
                <a:solidFill>
                  <a:srgbClr val="4C4C4D"/>
                </a:solidFill>
                <a:latin typeface="Heebo" pitchFamily="34" charset="0"/>
                <a:ea typeface="Heebo" pitchFamily="34" charset="-122"/>
                <a:cs typeface="Heebo" pitchFamily="34" charset="-120"/>
              </a:rPr>
              <a:t>Example:</a:t>
            </a:r>
            <a:r>
              <a:rPr lang="en-US" sz="1600" dirty="0">
                <a:solidFill>
                  <a:srgbClr val="4C4C4D"/>
                </a:solidFill>
                <a:latin typeface="Heebo" pitchFamily="34" charset="0"/>
                <a:ea typeface="Heebo" pitchFamily="34" charset="-122"/>
                <a:cs typeface="Heebo" pitchFamily="34" charset="-120"/>
              </a:rPr>
              <a:t> "You've been selected for a free iPhone! Just verify your shipping details."</a:t>
            </a:r>
            <a:endParaRPr lang="en-US" sz="1600" dirty="0"/>
          </a:p>
        </p:txBody>
      </p:sp>
      <p:sp>
        <p:nvSpPr>
          <p:cNvPr id="13" name="Text 11"/>
          <p:cNvSpPr/>
          <p:nvPr/>
        </p:nvSpPr>
        <p:spPr>
          <a:xfrm>
            <a:off x="5406628" y="4636413"/>
            <a:ext cx="3817025" cy="310277"/>
          </a:xfrm>
          <a:prstGeom prst="rect">
            <a:avLst/>
          </a:prstGeom>
          <a:noFill/>
          <a:ln/>
        </p:spPr>
        <p:txBody>
          <a:bodyPr wrap="none" lIns="0" tIns="0" rIns="0" bIns="0" rtlCol="0" anchor="t"/>
          <a:lstStyle/>
          <a:p>
            <a:pPr marL="0" indent="0" algn="l">
              <a:lnSpc>
                <a:spcPts val="2400"/>
              </a:lnSpc>
              <a:buNone/>
            </a:pPr>
            <a:r>
              <a:rPr lang="en-US" sz="1600" b="1" dirty="0">
                <a:solidFill>
                  <a:srgbClr val="4C4C4D"/>
                </a:solidFill>
                <a:latin typeface="Heebo" pitchFamily="34" charset="0"/>
                <a:ea typeface="Heebo" pitchFamily="34" charset="-122"/>
                <a:cs typeface="Heebo" pitchFamily="34" charset="-120"/>
              </a:rPr>
              <a:t>Defense:</a:t>
            </a:r>
            <a:endParaRPr lang="en-US" sz="1600" dirty="0"/>
          </a:p>
        </p:txBody>
      </p:sp>
      <p:sp>
        <p:nvSpPr>
          <p:cNvPr id="14" name="Text 12"/>
          <p:cNvSpPr/>
          <p:nvPr/>
        </p:nvSpPr>
        <p:spPr>
          <a:xfrm>
            <a:off x="5406628" y="5056823"/>
            <a:ext cx="3817025" cy="684848"/>
          </a:xfrm>
          <a:prstGeom prst="rect">
            <a:avLst/>
          </a:prstGeom>
          <a:noFill/>
          <a:ln/>
        </p:spPr>
        <p:txBody>
          <a:bodyPr wrap="square" lIns="0" tIns="0" rIns="0" bIns="0" rtlCol="0" anchor="t"/>
          <a:lstStyle/>
          <a:p>
            <a:pPr marL="342900" indent="-342900" algn="l">
              <a:lnSpc>
                <a:spcPts val="2400"/>
              </a:lnSpc>
              <a:buSzPct val="100000"/>
              <a:buChar char="•"/>
            </a:pPr>
            <a:r>
              <a:rPr lang="en-US" sz="1600" dirty="0">
                <a:solidFill>
                  <a:srgbClr val="4C4C4D"/>
                </a:solidFill>
                <a:latin typeface="Heebo" pitchFamily="34" charset="0"/>
                <a:ea typeface="Heebo" pitchFamily="34" charset="-122"/>
                <a:cs typeface="Heebo" pitchFamily="34" charset="-120"/>
              </a:rPr>
              <a:t>Be skeptical of unexpected rewards</a:t>
            </a:r>
            <a:endParaRPr lang="en-US" sz="1600" dirty="0"/>
          </a:p>
          <a:p>
            <a:pPr marL="342900" indent="-342900" algn="l">
              <a:lnSpc>
                <a:spcPts val="2400"/>
              </a:lnSpc>
              <a:buSzPct val="100000"/>
              <a:buChar char="•"/>
            </a:pPr>
            <a:r>
              <a:rPr lang="en-US" sz="1600" dirty="0">
                <a:solidFill>
                  <a:srgbClr val="4C4C4D"/>
                </a:solidFill>
                <a:latin typeface="Heebo" pitchFamily="34" charset="0"/>
                <a:ea typeface="Heebo" pitchFamily="34" charset="-122"/>
                <a:cs typeface="Heebo" pitchFamily="34" charset="-120"/>
              </a:rPr>
              <a:t>Research offers independently</a:t>
            </a:r>
            <a:endParaRPr lang="en-US" sz="1600" dirty="0"/>
          </a:p>
        </p:txBody>
      </p:sp>
      <p:sp>
        <p:nvSpPr>
          <p:cNvPr id="15" name="Shape 13"/>
          <p:cNvSpPr/>
          <p:nvPr/>
        </p:nvSpPr>
        <p:spPr>
          <a:xfrm>
            <a:off x="9611439" y="2103120"/>
            <a:ext cx="4225171" cy="4773454"/>
          </a:xfrm>
          <a:prstGeom prst="roundRect">
            <a:avLst>
              <a:gd name="adj" fmla="val 725"/>
            </a:avLst>
          </a:prstGeom>
          <a:solidFill>
            <a:srgbClr val="F2EEEE"/>
          </a:solidFill>
          <a:ln/>
        </p:spPr>
      </p:sp>
      <p:sp>
        <p:nvSpPr>
          <p:cNvPr id="16" name="Text 14"/>
          <p:cNvSpPr/>
          <p:nvPr/>
        </p:nvSpPr>
        <p:spPr>
          <a:xfrm>
            <a:off x="9815513" y="2307193"/>
            <a:ext cx="2551748" cy="318849"/>
          </a:xfrm>
          <a:prstGeom prst="rect">
            <a:avLst/>
          </a:prstGeom>
          <a:noFill/>
          <a:ln/>
        </p:spPr>
        <p:txBody>
          <a:bodyPr wrap="none" lIns="0" tIns="0" rIns="0" bIns="0" rtlCol="0" anchor="t"/>
          <a:lstStyle/>
          <a:p>
            <a:pPr marL="0" indent="0" algn="l">
              <a:lnSpc>
                <a:spcPts val="2500"/>
              </a:lnSpc>
              <a:buNone/>
            </a:pPr>
            <a:r>
              <a:rPr lang="en-US" sz="2000" dirty="0">
                <a:solidFill>
                  <a:srgbClr val="4C4C4D"/>
                </a:solidFill>
                <a:latin typeface="Crimson Pro Semi Bold" pitchFamily="34" charset="0"/>
                <a:ea typeface="Crimson Pro Semi Bold" pitchFamily="34" charset="-122"/>
                <a:cs typeface="Crimson Pro Semi Bold" pitchFamily="34" charset="-120"/>
              </a:rPr>
              <a:t>5. Scarcity</a:t>
            </a:r>
            <a:endParaRPr lang="en-US" sz="2000" dirty="0"/>
          </a:p>
        </p:txBody>
      </p:sp>
      <p:sp>
        <p:nvSpPr>
          <p:cNvPr id="17" name="Text 15"/>
          <p:cNvSpPr/>
          <p:nvPr/>
        </p:nvSpPr>
        <p:spPr>
          <a:xfrm>
            <a:off x="9815513" y="2736175"/>
            <a:ext cx="3817025" cy="1059418"/>
          </a:xfrm>
          <a:prstGeom prst="rect">
            <a:avLst/>
          </a:prstGeom>
          <a:noFill/>
          <a:ln/>
        </p:spPr>
        <p:txBody>
          <a:bodyPr wrap="square" lIns="0" tIns="0" rIns="0" bIns="0" rtlCol="0" anchor="t"/>
          <a:lstStyle/>
          <a:p>
            <a:pPr marL="342900" indent="-342900" algn="l">
              <a:lnSpc>
                <a:spcPts val="2400"/>
              </a:lnSpc>
              <a:buSzPct val="100000"/>
              <a:buChar char="•"/>
            </a:pPr>
            <a:r>
              <a:rPr lang="en-US" sz="1600" dirty="0">
                <a:solidFill>
                  <a:srgbClr val="4C4C4D"/>
                </a:solidFill>
                <a:latin typeface="Heebo" pitchFamily="34" charset="0"/>
                <a:ea typeface="Heebo" pitchFamily="34" charset="-122"/>
                <a:cs typeface="Heebo" pitchFamily="34" charset="-120"/>
              </a:rPr>
              <a:t>Limited time offers</a:t>
            </a:r>
            <a:endParaRPr lang="en-US" sz="1600" dirty="0"/>
          </a:p>
          <a:p>
            <a:pPr marL="342900" indent="-342900" algn="l">
              <a:lnSpc>
                <a:spcPts val="2400"/>
              </a:lnSpc>
              <a:buSzPct val="100000"/>
              <a:buChar char="•"/>
            </a:pPr>
            <a:r>
              <a:rPr lang="en-US" sz="1600" dirty="0">
                <a:solidFill>
                  <a:srgbClr val="4C4C4D"/>
                </a:solidFill>
                <a:latin typeface="Heebo" pitchFamily="34" charset="0"/>
                <a:ea typeface="Heebo" pitchFamily="34" charset="-122"/>
                <a:cs typeface="Heebo" pitchFamily="34" charset="-120"/>
              </a:rPr>
              <a:t>"Only 3 spots remaining"</a:t>
            </a:r>
            <a:endParaRPr lang="en-US" sz="1600" dirty="0"/>
          </a:p>
          <a:p>
            <a:pPr marL="342900" indent="-342900" algn="l">
              <a:lnSpc>
                <a:spcPts val="2400"/>
              </a:lnSpc>
              <a:buSzPct val="100000"/>
              <a:buChar char="•"/>
            </a:pPr>
            <a:r>
              <a:rPr lang="en-US" sz="1600" dirty="0">
                <a:solidFill>
                  <a:srgbClr val="4C4C4D"/>
                </a:solidFill>
                <a:latin typeface="Heebo" pitchFamily="34" charset="0"/>
                <a:ea typeface="Heebo" pitchFamily="34" charset="-122"/>
                <a:cs typeface="Heebo" pitchFamily="34" charset="-120"/>
              </a:rPr>
              <a:t>Creates FOMO (Fear of Missing Out)</a:t>
            </a:r>
            <a:endParaRPr lang="en-US" sz="1600" dirty="0"/>
          </a:p>
        </p:txBody>
      </p:sp>
      <p:sp>
        <p:nvSpPr>
          <p:cNvPr id="18" name="Text 16"/>
          <p:cNvSpPr/>
          <p:nvPr/>
        </p:nvSpPr>
        <p:spPr>
          <a:xfrm>
            <a:off x="9815513" y="3905726"/>
            <a:ext cx="3817025" cy="310277"/>
          </a:xfrm>
          <a:prstGeom prst="rect">
            <a:avLst/>
          </a:prstGeom>
          <a:noFill/>
          <a:ln/>
        </p:spPr>
        <p:txBody>
          <a:bodyPr wrap="none" lIns="0" tIns="0" rIns="0" bIns="0" rtlCol="0" anchor="t"/>
          <a:lstStyle/>
          <a:p>
            <a:pPr marL="0" indent="0" algn="l">
              <a:lnSpc>
                <a:spcPts val="2400"/>
              </a:lnSpc>
              <a:buNone/>
            </a:pPr>
            <a:r>
              <a:rPr lang="en-US" sz="1600" b="1" dirty="0">
                <a:solidFill>
                  <a:srgbClr val="4C4C4D"/>
                </a:solidFill>
                <a:latin typeface="Heebo" pitchFamily="34" charset="0"/>
                <a:ea typeface="Heebo" pitchFamily="34" charset="-122"/>
                <a:cs typeface="Heebo" pitchFamily="34" charset="-120"/>
              </a:rPr>
              <a:t>Defense:</a:t>
            </a:r>
            <a:endParaRPr lang="en-US" sz="1600" dirty="0"/>
          </a:p>
        </p:txBody>
      </p:sp>
      <p:sp>
        <p:nvSpPr>
          <p:cNvPr id="19" name="Text 17"/>
          <p:cNvSpPr/>
          <p:nvPr/>
        </p:nvSpPr>
        <p:spPr>
          <a:xfrm>
            <a:off x="9815513" y="4326136"/>
            <a:ext cx="3817025" cy="684848"/>
          </a:xfrm>
          <a:prstGeom prst="rect">
            <a:avLst/>
          </a:prstGeom>
          <a:noFill/>
          <a:ln/>
        </p:spPr>
        <p:txBody>
          <a:bodyPr wrap="square" lIns="0" tIns="0" rIns="0" bIns="0" rtlCol="0" anchor="t"/>
          <a:lstStyle/>
          <a:p>
            <a:pPr marL="342900" indent="-342900" algn="l">
              <a:lnSpc>
                <a:spcPts val="2400"/>
              </a:lnSpc>
              <a:buSzPct val="100000"/>
              <a:buChar char="•"/>
            </a:pPr>
            <a:r>
              <a:rPr lang="en-US" sz="1600" dirty="0">
                <a:solidFill>
                  <a:srgbClr val="4C4C4D"/>
                </a:solidFill>
                <a:latin typeface="Heebo" pitchFamily="34" charset="0"/>
                <a:ea typeface="Heebo" pitchFamily="34" charset="-122"/>
                <a:cs typeface="Heebo" pitchFamily="34" charset="-120"/>
              </a:rPr>
              <a:t>Don't make rushed decisions</a:t>
            </a:r>
            <a:endParaRPr lang="en-US" sz="1600" dirty="0"/>
          </a:p>
          <a:p>
            <a:pPr marL="342900" indent="-342900" algn="l">
              <a:lnSpc>
                <a:spcPts val="2400"/>
              </a:lnSpc>
              <a:buSzPct val="100000"/>
              <a:buChar char="•"/>
            </a:pPr>
            <a:r>
              <a:rPr lang="en-US" sz="1600" dirty="0">
                <a:solidFill>
                  <a:srgbClr val="4C4C4D"/>
                </a:solidFill>
                <a:latin typeface="Heebo" pitchFamily="34" charset="0"/>
                <a:ea typeface="Heebo" pitchFamily="34" charset="-122"/>
                <a:cs typeface="Heebo" pitchFamily="34" charset="-120"/>
              </a:rPr>
              <a:t>Research before acting</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2893</Words>
  <Application>Microsoft Office PowerPoint</Application>
  <PresentationFormat>Custom</PresentationFormat>
  <Paragraphs>400</Paragraphs>
  <Slides>28</Slides>
  <Notes>28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Heebo</vt:lpstr>
      <vt:lpstr>Crimson Pro Light</vt:lpstr>
      <vt:lpstr>Consolas</vt:lpstr>
      <vt:lpstr>Arial</vt:lpstr>
      <vt:lpstr>Crimson Pro Semi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shrishanth battu</cp:lastModifiedBy>
  <cp:revision>3</cp:revision>
  <dcterms:created xsi:type="dcterms:W3CDTF">2026-02-23T17:00:58Z</dcterms:created>
  <dcterms:modified xsi:type="dcterms:W3CDTF">2026-02-23T17:10:56Z</dcterms:modified>
</cp:coreProperties>
</file>