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strument Sans Medium" panose="020B0604020202020204" charset="0"/>
      <p:regular r:id="rId13"/>
    </p:embeddedFont>
    <p:embeddedFont>
      <p:font typeface="Instrument Sans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79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246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22302"/>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Nmap: Network Scanning and Security Auditing</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80773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What is Nmap?</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Nmap (Network Mapper) is a free and open-source tool for network exploration and security auditing[1]. It was designed to rapidly scan large networks, although it works fine against single hosts, using raw IP packets to determine what hosts are available on the network, what services they're offering, what operating systems they're running, and what type of packet filters/firewalls are in use.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5639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Why Use Nmap?</a:t>
            </a:r>
            <a:endParaRPr lang="en-US" sz="4450" dirty="0"/>
          </a:p>
        </p:txBody>
      </p:sp>
      <p:sp>
        <p:nvSpPr>
          <p:cNvPr id="4" name="Text 1"/>
          <p:cNvSpPr/>
          <p:nvPr/>
        </p:nvSpPr>
        <p:spPr>
          <a:xfrm>
            <a:off x="793790" y="14558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5468"/>
                </a:solidFill>
                <a:latin typeface="Instrument Sans Semi Bold" pitchFamily="34" charset="0"/>
                <a:ea typeface="Instrument Sans Semi Bold" pitchFamily="34" charset="-122"/>
                <a:cs typeface="Instrument Sans Semi Bold" pitchFamily="34" charset="-120"/>
              </a:rPr>
              <a:t>Primary Uses:</a:t>
            </a:r>
            <a:endParaRPr lang="en-US" sz="2200" dirty="0"/>
          </a:p>
        </p:txBody>
      </p:sp>
      <p:sp>
        <p:nvSpPr>
          <p:cNvPr id="5" name="Shape 2"/>
          <p:cNvSpPr/>
          <p:nvPr/>
        </p:nvSpPr>
        <p:spPr>
          <a:xfrm>
            <a:off x="793790" y="2150388"/>
            <a:ext cx="2367558" cy="2402324"/>
          </a:xfrm>
          <a:prstGeom prst="roundRect">
            <a:avLst>
              <a:gd name="adj" fmla="val 4024"/>
            </a:avLst>
          </a:prstGeom>
          <a:solidFill>
            <a:srgbClr val="E2E3E9"/>
          </a:solidFill>
          <a:ln w="7620">
            <a:solidFill>
              <a:srgbClr val="C8C9CF"/>
            </a:solidFill>
            <a:prstDash val="solid"/>
          </a:ln>
        </p:spPr>
      </p:sp>
      <p:sp>
        <p:nvSpPr>
          <p:cNvPr id="6" name="Text 3"/>
          <p:cNvSpPr/>
          <p:nvPr/>
        </p:nvSpPr>
        <p:spPr>
          <a:xfrm>
            <a:off x="1028224" y="2384822"/>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Network Discovery</a:t>
            </a:r>
            <a:endParaRPr lang="en-US" sz="2200" dirty="0"/>
          </a:p>
        </p:txBody>
      </p:sp>
      <p:sp>
        <p:nvSpPr>
          <p:cNvPr id="7" name="Text 4"/>
          <p:cNvSpPr/>
          <p:nvPr/>
        </p:nvSpPr>
        <p:spPr>
          <a:xfrm>
            <a:off x="1028224" y="3229570"/>
            <a:ext cx="1898690"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Network discovery and security auditing</a:t>
            </a:r>
            <a:endParaRPr lang="en-US" sz="1750" dirty="0"/>
          </a:p>
        </p:txBody>
      </p:sp>
      <p:sp>
        <p:nvSpPr>
          <p:cNvPr id="8" name="Shape 5"/>
          <p:cNvSpPr/>
          <p:nvPr/>
        </p:nvSpPr>
        <p:spPr>
          <a:xfrm>
            <a:off x="3388162" y="2150388"/>
            <a:ext cx="2367558" cy="2402324"/>
          </a:xfrm>
          <a:prstGeom prst="roundRect">
            <a:avLst>
              <a:gd name="adj" fmla="val 4024"/>
            </a:avLst>
          </a:prstGeom>
          <a:solidFill>
            <a:srgbClr val="E2E3E9"/>
          </a:solidFill>
          <a:ln w="7620">
            <a:solidFill>
              <a:srgbClr val="C8C9CF"/>
            </a:solidFill>
            <a:prstDash val="solid"/>
          </a:ln>
        </p:spPr>
      </p:sp>
      <p:sp>
        <p:nvSpPr>
          <p:cNvPr id="9" name="Text 6"/>
          <p:cNvSpPr/>
          <p:nvPr/>
        </p:nvSpPr>
        <p:spPr>
          <a:xfrm>
            <a:off x="3622596" y="2384822"/>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Inventory Management</a:t>
            </a:r>
            <a:endParaRPr lang="en-US" sz="2200" dirty="0"/>
          </a:p>
        </p:txBody>
      </p:sp>
      <p:sp>
        <p:nvSpPr>
          <p:cNvPr id="10" name="Text 7"/>
          <p:cNvSpPr/>
          <p:nvPr/>
        </p:nvSpPr>
        <p:spPr>
          <a:xfrm>
            <a:off x="3622596" y="3229570"/>
            <a:ext cx="1898690"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Network inventory management</a:t>
            </a:r>
            <a:endParaRPr lang="en-US" sz="1750" dirty="0"/>
          </a:p>
        </p:txBody>
      </p:sp>
      <p:sp>
        <p:nvSpPr>
          <p:cNvPr id="11" name="Shape 8"/>
          <p:cNvSpPr/>
          <p:nvPr/>
        </p:nvSpPr>
        <p:spPr>
          <a:xfrm>
            <a:off x="5982533" y="2150388"/>
            <a:ext cx="2367558" cy="2402324"/>
          </a:xfrm>
          <a:prstGeom prst="roundRect">
            <a:avLst>
              <a:gd name="adj" fmla="val 4024"/>
            </a:avLst>
          </a:prstGeom>
          <a:solidFill>
            <a:srgbClr val="E2E3E9"/>
          </a:solidFill>
          <a:ln w="7620">
            <a:solidFill>
              <a:srgbClr val="C8C9CF"/>
            </a:solidFill>
            <a:prstDash val="solid"/>
          </a:ln>
        </p:spPr>
      </p:sp>
      <p:sp>
        <p:nvSpPr>
          <p:cNvPr id="12" name="Text 9"/>
          <p:cNvSpPr/>
          <p:nvPr/>
        </p:nvSpPr>
        <p:spPr>
          <a:xfrm>
            <a:off x="6216968" y="2384822"/>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Service Monitoring</a:t>
            </a:r>
            <a:endParaRPr lang="en-US" sz="2200" dirty="0"/>
          </a:p>
        </p:txBody>
      </p:sp>
      <p:sp>
        <p:nvSpPr>
          <p:cNvPr id="13" name="Text 10"/>
          <p:cNvSpPr/>
          <p:nvPr/>
        </p:nvSpPr>
        <p:spPr>
          <a:xfrm>
            <a:off x="6216968" y="3229570"/>
            <a:ext cx="1898690"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Service upgrade schedule management</a:t>
            </a:r>
            <a:endParaRPr lang="en-US" sz="1750" dirty="0"/>
          </a:p>
        </p:txBody>
      </p:sp>
      <p:sp>
        <p:nvSpPr>
          <p:cNvPr id="14" name="Shape 11"/>
          <p:cNvSpPr/>
          <p:nvPr/>
        </p:nvSpPr>
        <p:spPr>
          <a:xfrm>
            <a:off x="793790" y="4807863"/>
            <a:ext cx="2367558" cy="2765227"/>
          </a:xfrm>
          <a:prstGeom prst="roundRect">
            <a:avLst>
              <a:gd name="adj" fmla="val 4024"/>
            </a:avLst>
          </a:prstGeom>
          <a:solidFill>
            <a:srgbClr val="E2E3E9"/>
          </a:solidFill>
          <a:ln w="7620">
            <a:solidFill>
              <a:srgbClr val="C8C9CF"/>
            </a:solidFill>
            <a:prstDash val="solid"/>
          </a:ln>
        </p:spPr>
      </p:sp>
      <p:sp>
        <p:nvSpPr>
          <p:cNvPr id="15" name="Text 12"/>
          <p:cNvSpPr/>
          <p:nvPr/>
        </p:nvSpPr>
        <p:spPr>
          <a:xfrm>
            <a:off x="1028224" y="5042297"/>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Uptime Monitoring</a:t>
            </a:r>
            <a:endParaRPr lang="en-US" sz="2200" dirty="0"/>
          </a:p>
        </p:txBody>
      </p:sp>
      <p:sp>
        <p:nvSpPr>
          <p:cNvPr id="16" name="Text 13"/>
          <p:cNvSpPr/>
          <p:nvPr/>
        </p:nvSpPr>
        <p:spPr>
          <a:xfrm>
            <a:off x="1028224" y="5887045"/>
            <a:ext cx="1898690" cy="72580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Monitoring host or service uptime</a:t>
            </a:r>
            <a:endParaRPr lang="en-US" sz="1750" dirty="0"/>
          </a:p>
        </p:txBody>
      </p:sp>
      <p:sp>
        <p:nvSpPr>
          <p:cNvPr id="17" name="Shape 14"/>
          <p:cNvSpPr/>
          <p:nvPr/>
        </p:nvSpPr>
        <p:spPr>
          <a:xfrm>
            <a:off x="3388162" y="4807863"/>
            <a:ext cx="2367558" cy="2765227"/>
          </a:xfrm>
          <a:prstGeom prst="roundRect">
            <a:avLst>
              <a:gd name="adj" fmla="val 4024"/>
            </a:avLst>
          </a:prstGeom>
          <a:solidFill>
            <a:srgbClr val="E2E3E9"/>
          </a:solidFill>
          <a:ln w="7620">
            <a:solidFill>
              <a:srgbClr val="C8C9CF"/>
            </a:solidFill>
            <a:prstDash val="solid"/>
          </a:ln>
        </p:spPr>
      </p:sp>
      <p:sp>
        <p:nvSpPr>
          <p:cNvPr id="18" name="Text 15"/>
          <p:cNvSpPr/>
          <p:nvPr/>
        </p:nvSpPr>
        <p:spPr>
          <a:xfrm>
            <a:off x="3622596" y="5042297"/>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Vulnerability Detection</a:t>
            </a:r>
            <a:endParaRPr lang="en-US" sz="2200" dirty="0"/>
          </a:p>
        </p:txBody>
      </p:sp>
      <p:sp>
        <p:nvSpPr>
          <p:cNvPr id="19" name="Text 16"/>
          <p:cNvSpPr/>
          <p:nvPr/>
        </p:nvSpPr>
        <p:spPr>
          <a:xfrm>
            <a:off x="3622596" y="5887045"/>
            <a:ext cx="1898690"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Port scanning and vulnerability detection</a:t>
            </a:r>
            <a:endParaRPr lang="en-US" sz="1750" dirty="0"/>
          </a:p>
        </p:txBody>
      </p:sp>
      <p:sp>
        <p:nvSpPr>
          <p:cNvPr id="20" name="Shape 17"/>
          <p:cNvSpPr/>
          <p:nvPr/>
        </p:nvSpPr>
        <p:spPr>
          <a:xfrm>
            <a:off x="5982533" y="4807863"/>
            <a:ext cx="2367558" cy="2765227"/>
          </a:xfrm>
          <a:prstGeom prst="roundRect">
            <a:avLst>
              <a:gd name="adj" fmla="val 4024"/>
            </a:avLst>
          </a:prstGeom>
          <a:solidFill>
            <a:srgbClr val="E2E3E9"/>
          </a:solidFill>
          <a:ln w="7620">
            <a:solidFill>
              <a:srgbClr val="C8C9CF"/>
            </a:solidFill>
            <a:prstDash val="solid"/>
          </a:ln>
        </p:spPr>
      </p:sp>
      <p:sp>
        <p:nvSpPr>
          <p:cNvPr id="21" name="Text 18"/>
          <p:cNvSpPr/>
          <p:nvPr/>
        </p:nvSpPr>
        <p:spPr>
          <a:xfrm>
            <a:off x="6216968" y="5042297"/>
            <a:ext cx="1898690" cy="708660"/>
          </a:xfrm>
          <a:prstGeom prst="rect">
            <a:avLst/>
          </a:prstGeom>
          <a:noFill/>
          <a:ln/>
        </p:spPr>
        <p:txBody>
          <a:bodyPr wrap="squar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Configuration Audit</a:t>
            </a:r>
            <a:endParaRPr lang="en-US" sz="2200" dirty="0"/>
          </a:p>
        </p:txBody>
      </p:sp>
      <p:sp>
        <p:nvSpPr>
          <p:cNvPr id="22" name="Text 19"/>
          <p:cNvSpPr/>
          <p:nvPr/>
        </p:nvSpPr>
        <p:spPr>
          <a:xfrm>
            <a:off x="6216968" y="5887045"/>
            <a:ext cx="1898690" cy="145161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Identifying risky configurations and outdated software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688788"/>
            <a:ext cx="6884789"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Installation &amp; Permissions</a:t>
            </a:r>
            <a:endParaRPr lang="en-US" sz="4450" dirty="0"/>
          </a:p>
        </p:txBody>
      </p:sp>
      <p:sp>
        <p:nvSpPr>
          <p:cNvPr id="3" name="Shape 1"/>
          <p:cNvSpPr/>
          <p:nvPr/>
        </p:nvSpPr>
        <p:spPr>
          <a:xfrm>
            <a:off x="793790" y="3851196"/>
            <a:ext cx="13042821" cy="1689616"/>
          </a:xfrm>
          <a:prstGeom prst="roundRect">
            <a:avLst>
              <a:gd name="adj" fmla="val 5638"/>
            </a:avLst>
          </a:prstGeom>
          <a:solidFill>
            <a:srgbClr val="D4D5DE"/>
          </a:solidFill>
          <a:ln/>
        </p:spPr>
      </p:sp>
      <p:pic>
        <p:nvPicPr>
          <p:cNvPr id="4" name="Image 0" descr="preencoded.png"/>
          <p:cNvPicPr>
            <a:picLocks noChangeAspect="1"/>
          </p:cNvPicPr>
          <p:nvPr/>
        </p:nvPicPr>
        <p:blipFill>
          <a:blip r:embed="rId3"/>
          <a:stretch>
            <a:fillRect/>
          </a:stretch>
        </p:blipFill>
        <p:spPr>
          <a:xfrm>
            <a:off x="1020604" y="4195286"/>
            <a:ext cx="283488" cy="226814"/>
          </a:xfrm>
          <a:prstGeom prst="rect">
            <a:avLst/>
          </a:prstGeom>
        </p:spPr>
      </p:pic>
      <p:sp>
        <p:nvSpPr>
          <p:cNvPr id="5" name="Text 2"/>
          <p:cNvSpPr/>
          <p:nvPr/>
        </p:nvSpPr>
        <p:spPr>
          <a:xfrm>
            <a:off x="1530906" y="4134683"/>
            <a:ext cx="12078891" cy="1088708"/>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Important:</a:t>
            </a:r>
            <a:r>
              <a:rPr lang="en-US" sz="1750" dirty="0">
                <a:solidFill>
                  <a:srgbClr val="000000"/>
                </a:solidFill>
                <a:latin typeface="Instrument Sans Medium" pitchFamily="34" charset="0"/>
                <a:ea typeface="Instrument Sans Medium" pitchFamily="34" charset="-122"/>
                <a:cs typeface="Instrument Sans Medium" pitchFamily="34" charset="-120"/>
              </a:rPr>
              <a:t> Nmap uses sudo to access low-level networking capabilities that require root privileges, enabling faster, more accurate, and lower-impact scanning[2]. Without sudo, Nmap falls back to slower, noisier methods that complete full TCP connections and are more likely to be detected and logged.</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1640" y="688300"/>
            <a:ext cx="5297805" cy="662226"/>
          </a:xfrm>
          <a:prstGeom prst="rect">
            <a:avLst/>
          </a:prstGeom>
          <a:noFill/>
          <a:ln/>
        </p:spPr>
        <p:txBody>
          <a:bodyPr wrap="none" lIns="0" tIns="0" rIns="0" bIns="0" rtlCol="0" anchor="t"/>
          <a:lstStyle/>
          <a:p>
            <a:pPr marL="0" indent="0" algn="l">
              <a:lnSpc>
                <a:spcPts val="5200"/>
              </a:lnSpc>
              <a:buNone/>
            </a:pPr>
            <a:r>
              <a:rPr lang="en-US" sz="4150" dirty="0">
                <a:solidFill>
                  <a:srgbClr val="505468"/>
                </a:solidFill>
                <a:latin typeface="Instrument Sans Semi Bold" pitchFamily="34" charset="0"/>
                <a:ea typeface="Instrument Sans Semi Bold" pitchFamily="34" charset="-122"/>
                <a:cs typeface="Instrument Sans Semi Bold" pitchFamily="34" charset="-120"/>
              </a:rPr>
              <a:t>Basic Nmap Syntax</a:t>
            </a:r>
            <a:endParaRPr lang="en-US" sz="4150" dirty="0"/>
          </a:p>
        </p:txBody>
      </p:sp>
      <p:sp>
        <p:nvSpPr>
          <p:cNvPr id="3" name="Shape 1"/>
          <p:cNvSpPr/>
          <p:nvPr/>
        </p:nvSpPr>
        <p:spPr>
          <a:xfrm>
            <a:off x="741640" y="1746409"/>
            <a:ext cx="13147119" cy="645557"/>
          </a:xfrm>
          <a:prstGeom prst="roundRect">
            <a:avLst>
              <a:gd name="adj" fmla="val 13787"/>
            </a:avLst>
          </a:prstGeom>
          <a:solidFill>
            <a:srgbClr val="F2F2F2"/>
          </a:solidFill>
          <a:ln/>
        </p:spPr>
      </p:sp>
      <p:sp>
        <p:nvSpPr>
          <p:cNvPr id="4" name="Shape 2"/>
          <p:cNvSpPr/>
          <p:nvPr/>
        </p:nvSpPr>
        <p:spPr>
          <a:xfrm>
            <a:off x="731163" y="1746409"/>
            <a:ext cx="13168074" cy="645557"/>
          </a:xfrm>
          <a:prstGeom prst="roundRect">
            <a:avLst>
              <a:gd name="adj" fmla="val 4924"/>
            </a:avLst>
          </a:prstGeom>
          <a:solidFill>
            <a:srgbClr val="F2F2F2"/>
          </a:solidFill>
          <a:ln/>
        </p:spPr>
      </p:sp>
      <p:sp>
        <p:nvSpPr>
          <p:cNvPr id="5" name="Text 3"/>
          <p:cNvSpPr/>
          <p:nvPr/>
        </p:nvSpPr>
        <p:spPr>
          <a:xfrm>
            <a:off x="942975" y="1905238"/>
            <a:ext cx="12744450" cy="327898"/>
          </a:xfrm>
          <a:prstGeom prst="rect">
            <a:avLst/>
          </a:prstGeom>
          <a:noFill/>
          <a:ln/>
        </p:spPr>
        <p:txBody>
          <a:bodyPr wrap="none" lIns="0" tIns="0" rIns="0" bIns="0" rtlCol="0" anchor="t"/>
          <a:lstStyle/>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[Scan Type] [Options] {target specification}</a:t>
            </a:r>
            <a:endParaRPr lang="en-US" sz="1650" dirty="0"/>
          </a:p>
        </p:txBody>
      </p:sp>
      <p:sp>
        <p:nvSpPr>
          <p:cNvPr id="6" name="Text 4"/>
          <p:cNvSpPr/>
          <p:nvPr/>
        </p:nvSpPr>
        <p:spPr>
          <a:xfrm>
            <a:off x="741640" y="2688908"/>
            <a:ext cx="4238268" cy="529828"/>
          </a:xfrm>
          <a:prstGeom prst="rect">
            <a:avLst/>
          </a:prstGeom>
          <a:noFill/>
          <a:ln/>
        </p:spPr>
        <p:txBody>
          <a:bodyPr wrap="none" lIns="0" tIns="0" rIns="0" bIns="0" rtlCol="0" anchor="t"/>
          <a:lstStyle/>
          <a:p>
            <a:pPr marL="0" indent="0" algn="l">
              <a:lnSpc>
                <a:spcPts val="4150"/>
              </a:lnSpc>
              <a:buNone/>
            </a:pPr>
            <a:r>
              <a:rPr lang="en-US" sz="3300" dirty="0">
                <a:solidFill>
                  <a:srgbClr val="505468"/>
                </a:solidFill>
                <a:latin typeface="Instrument Sans Semi Bold" pitchFamily="34" charset="0"/>
                <a:ea typeface="Instrument Sans Semi Bold" pitchFamily="34" charset="-122"/>
                <a:cs typeface="Instrument Sans Semi Bold" pitchFamily="34" charset="-120"/>
              </a:rPr>
              <a:t>Target Specification</a:t>
            </a:r>
            <a:endParaRPr lang="en-US" sz="3300" dirty="0"/>
          </a:p>
        </p:txBody>
      </p:sp>
      <p:sp>
        <p:nvSpPr>
          <p:cNvPr id="7" name="Text 5"/>
          <p:cNvSpPr/>
          <p:nvPr/>
        </p:nvSpPr>
        <p:spPr>
          <a:xfrm>
            <a:off x="741640" y="3713559"/>
            <a:ext cx="2648903" cy="331113"/>
          </a:xfrm>
          <a:prstGeom prst="rect">
            <a:avLst/>
          </a:prstGeom>
          <a:noFill/>
          <a:ln/>
        </p:spPr>
        <p:txBody>
          <a:bodyPr wrap="none" lIns="0" tIns="0" rIns="0" bIns="0" rtlCol="0" anchor="t"/>
          <a:lstStyle/>
          <a:p>
            <a:pPr marL="0" indent="0" algn="l">
              <a:lnSpc>
                <a:spcPts val="2600"/>
              </a:lnSpc>
              <a:buNone/>
            </a:pPr>
            <a:r>
              <a:rPr lang="en-US" sz="2050" dirty="0">
                <a:solidFill>
                  <a:srgbClr val="505468"/>
                </a:solidFill>
                <a:latin typeface="Instrument Sans Semi Bold" pitchFamily="34" charset="0"/>
                <a:ea typeface="Instrument Sans Semi Bold" pitchFamily="34" charset="-122"/>
                <a:cs typeface="Instrument Sans Semi Bold" pitchFamily="34" charset="-120"/>
              </a:rPr>
              <a:t>Single targets:</a:t>
            </a:r>
            <a:endParaRPr lang="en-US" sz="2050" dirty="0"/>
          </a:p>
        </p:txBody>
      </p:sp>
      <p:sp>
        <p:nvSpPr>
          <p:cNvPr id="8" name="Shape 6"/>
          <p:cNvSpPr/>
          <p:nvPr/>
        </p:nvSpPr>
        <p:spPr>
          <a:xfrm>
            <a:off x="741640" y="4267319"/>
            <a:ext cx="6315075" cy="973455"/>
          </a:xfrm>
          <a:prstGeom prst="roundRect">
            <a:avLst>
              <a:gd name="adj" fmla="val 9143"/>
            </a:avLst>
          </a:prstGeom>
          <a:solidFill>
            <a:srgbClr val="F2F2F2"/>
          </a:solidFill>
          <a:ln/>
        </p:spPr>
      </p:sp>
      <p:sp>
        <p:nvSpPr>
          <p:cNvPr id="9" name="Shape 7"/>
          <p:cNvSpPr/>
          <p:nvPr/>
        </p:nvSpPr>
        <p:spPr>
          <a:xfrm>
            <a:off x="731163" y="4267319"/>
            <a:ext cx="6336030" cy="973455"/>
          </a:xfrm>
          <a:prstGeom prst="roundRect">
            <a:avLst>
              <a:gd name="adj" fmla="val 3265"/>
            </a:avLst>
          </a:prstGeom>
          <a:solidFill>
            <a:srgbClr val="F2F2F2"/>
          </a:solidFill>
          <a:ln/>
        </p:spPr>
      </p:sp>
      <p:sp>
        <p:nvSpPr>
          <p:cNvPr id="10" name="Text 8"/>
          <p:cNvSpPr/>
          <p:nvPr/>
        </p:nvSpPr>
        <p:spPr>
          <a:xfrm>
            <a:off x="942975" y="4426148"/>
            <a:ext cx="5912406" cy="655796"/>
          </a:xfrm>
          <a:prstGeom prst="rect">
            <a:avLst/>
          </a:prstGeom>
          <a:noFill/>
          <a:ln/>
        </p:spPr>
        <p:txBody>
          <a:bodyPr wrap="square" lIns="0" tIns="0" rIns="0" bIns="0" rtlCol="0" anchor="t"/>
          <a:lstStyle/>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192.168.1.1</a:t>
            </a:r>
            <a:endParaRPr lang="en-US" sz="1650" dirty="0"/>
          </a:p>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scanme.nmap.org</a:t>
            </a:r>
            <a:endParaRPr lang="en-US" sz="1650" dirty="0"/>
          </a:p>
        </p:txBody>
      </p:sp>
      <p:sp>
        <p:nvSpPr>
          <p:cNvPr id="11" name="Text 9"/>
          <p:cNvSpPr/>
          <p:nvPr/>
        </p:nvSpPr>
        <p:spPr>
          <a:xfrm>
            <a:off x="741640" y="5463421"/>
            <a:ext cx="2648903" cy="331113"/>
          </a:xfrm>
          <a:prstGeom prst="rect">
            <a:avLst/>
          </a:prstGeom>
          <a:noFill/>
          <a:ln/>
        </p:spPr>
        <p:txBody>
          <a:bodyPr wrap="none" lIns="0" tIns="0" rIns="0" bIns="0" rtlCol="0" anchor="t"/>
          <a:lstStyle/>
          <a:p>
            <a:pPr marL="0" indent="0" algn="l">
              <a:lnSpc>
                <a:spcPts val="2600"/>
              </a:lnSpc>
              <a:buNone/>
            </a:pPr>
            <a:r>
              <a:rPr lang="en-US" sz="2050" dirty="0">
                <a:solidFill>
                  <a:srgbClr val="505468"/>
                </a:solidFill>
                <a:latin typeface="Instrument Sans Semi Bold" pitchFamily="34" charset="0"/>
                <a:ea typeface="Instrument Sans Semi Bold" pitchFamily="34" charset="-122"/>
                <a:cs typeface="Instrument Sans Semi Bold" pitchFamily="34" charset="-120"/>
              </a:rPr>
              <a:t>Multiple targets:</a:t>
            </a:r>
            <a:endParaRPr lang="en-US" sz="2050" dirty="0"/>
          </a:p>
        </p:txBody>
      </p:sp>
      <p:sp>
        <p:nvSpPr>
          <p:cNvPr id="12" name="Shape 10"/>
          <p:cNvSpPr/>
          <p:nvPr/>
        </p:nvSpPr>
        <p:spPr>
          <a:xfrm>
            <a:off x="741640" y="6017181"/>
            <a:ext cx="6315075" cy="1301353"/>
          </a:xfrm>
          <a:prstGeom prst="roundRect">
            <a:avLst>
              <a:gd name="adj" fmla="val 6839"/>
            </a:avLst>
          </a:prstGeom>
          <a:solidFill>
            <a:srgbClr val="F2F2F2"/>
          </a:solidFill>
          <a:ln/>
        </p:spPr>
      </p:sp>
      <p:sp>
        <p:nvSpPr>
          <p:cNvPr id="13" name="Shape 11"/>
          <p:cNvSpPr/>
          <p:nvPr/>
        </p:nvSpPr>
        <p:spPr>
          <a:xfrm>
            <a:off x="731163" y="6017181"/>
            <a:ext cx="6336030" cy="1301353"/>
          </a:xfrm>
          <a:prstGeom prst="roundRect">
            <a:avLst>
              <a:gd name="adj" fmla="val 2443"/>
            </a:avLst>
          </a:prstGeom>
          <a:solidFill>
            <a:srgbClr val="F2F2F2"/>
          </a:solidFill>
          <a:ln/>
        </p:spPr>
      </p:sp>
      <p:sp>
        <p:nvSpPr>
          <p:cNvPr id="14" name="Text 12"/>
          <p:cNvSpPr/>
          <p:nvPr/>
        </p:nvSpPr>
        <p:spPr>
          <a:xfrm>
            <a:off x="942975" y="6176010"/>
            <a:ext cx="5912406" cy="983694"/>
          </a:xfrm>
          <a:prstGeom prst="rect">
            <a:avLst/>
          </a:prstGeom>
          <a:noFill/>
          <a:ln/>
        </p:spPr>
        <p:txBody>
          <a:bodyPr wrap="square" lIns="0" tIns="0" rIns="0" bIns="0" rtlCol="0" anchor="t"/>
          <a:lstStyle/>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192.168.1.1 192.168.1.2 192.168.1.3</a:t>
            </a:r>
            <a:endParaRPr lang="en-US" sz="1650" dirty="0"/>
          </a:p>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192.168.1.1-20</a:t>
            </a:r>
            <a:endParaRPr lang="en-US" sz="1650" dirty="0"/>
          </a:p>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192.168.1.0/24 # Entire subnet</a:t>
            </a:r>
            <a:endParaRPr lang="en-US" sz="1650" dirty="0"/>
          </a:p>
        </p:txBody>
      </p:sp>
      <p:sp>
        <p:nvSpPr>
          <p:cNvPr id="15" name="Text 13"/>
          <p:cNvSpPr/>
          <p:nvPr/>
        </p:nvSpPr>
        <p:spPr>
          <a:xfrm>
            <a:off x="7581305" y="3713559"/>
            <a:ext cx="2648903" cy="331113"/>
          </a:xfrm>
          <a:prstGeom prst="rect">
            <a:avLst/>
          </a:prstGeom>
          <a:noFill/>
          <a:ln/>
        </p:spPr>
        <p:txBody>
          <a:bodyPr wrap="none" lIns="0" tIns="0" rIns="0" bIns="0" rtlCol="0" anchor="t"/>
          <a:lstStyle/>
          <a:p>
            <a:pPr marL="0" indent="0" algn="l">
              <a:lnSpc>
                <a:spcPts val="2600"/>
              </a:lnSpc>
              <a:buNone/>
            </a:pPr>
            <a:r>
              <a:rPr lang="en-US" sz="2050" dirty="0">
                <a:solidFill>
                  <a:srgbClr val="505468"/>
                </a:solidFill>
                <a:latin typeface="Instrument Sans Semi Bold" pitchFamily="34" charset="0"/>
                <a:ea typeface="Instrument Sans Semi Bold" pitchFamily="34" charset="-122"/>
                <a:cs typeface="Instrument Sans Semi Bold" pitchFamily="34" charset="-120"/>
              </a:rPr>
              <a:t>From file:</a:t>
            </a:r>
            <a:endParaRPr lang="en-US" sz="2050" dirty="0"/>
          </a:p>
        </p:txBody>
      </p:sp>
      <p:sp>
        <p:nvSpPr>
          <p:cNvPr id="16" name="Shape 14"/>
          <p:cNvSpPr/>
          <p:nvPr/>
        </p:nvSpPr>
        <p:spPr>
          <a:xfrm>
            <a:off x="7581305" y="4267319"/>
            <a:ext cx="6315075" cy="645557"/>
          </a:xfrm>
          <a:prstGeom prst="roundRect">
            <a:avLst>
              <a:gd name="adj" fmla="val 13787"/>
            </a:avLst>
          </a:prstGeom>
          <a:solidFill>
            <a:srgbClr val="F2F2F2"/>
          </a:solidFill>
          <a:ln/>
        </p:spPr>
      </p:sp>
      <p:sp>
        <p:nvSpPr>
          <p:cNvPr id="17" name="Shape 15"/>
          <p:cNvSpPr/>
          <p:nvPr/>
        </p:nvSpPr>
        <p:spPr>
          <a:xfrm>
            <a:off x="7570827" y="4267319"/>
            <a:ext cx="6336030" cy="645557"/>
          </a:xfrm>
          <a:prstGeom prst="roundRect">
            <a:avLst>
              <a:gd name="adj" fmla="val 4924"/>
            </a:avLst>
          </a:prstGeom>
          <a:solidFill>
            <a:srgbClr val="F2F2F2"/>
          </a:solidFill>
          <a:ln/>
        </p:spPr>
      </p:sp>
      <p:sp>
        <p:nvSpPr>
          <p:cNvPr id="18" name="Text 16"/>
          <p:cNvSpPr/>
          <p:nvPr/>
        </p:nvSpPr>
        <p:spPr>
          <a:xfrm>
            <a:off x="7782639" y="4426148"/>
            <a:ext cx="5912406" cy="327898"/>
          </a:xfrm>
          <a:prstGeom prst="rect">
            <a:avLst/>
          </a:prstGeom>
          <a:noFill/>
          <a:ln/>
        </p:spPr>
        <p:txBody>
          <a:bodyPr wrap="none" lIns="0" tIns="0" rIns="0" bIns="0" rtlCol="0" anchor="t"/>
          <a:lstStyle/>
          <a:p>
            <a:pPr marL="0" indent="0" algn="l">
              <a:lnSpc>
                <a:spcPts val="255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-iL targets.txt</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9615" y="857012"/>
            <a:ext cx="6425684" cy="651510"/>
          </a:xfrm>
          <a:prstGeom prst="rect">
            <a:avLst/>
          </a:prstGeom>
          <a:noFill/>
          <a:ln/>
        </p:spPr>
        <p:txBody>
          <a:bodyPr wrap="none" lIns="0" tIns="0" rIns="0" bIns="0" rtlCol="0" anchor="t"/>
          <a:lstStyle/>
          <a:p>
            <a:pPr marL="0" indent="0" algn="l">
              <a:lnSpc>
                <a:spcPts val="5100"/>
              </a:lnSpc>
              <a:buNone/>
            </a:pPr>
            <a:r>
              <a:rPr lang="en-US" sz="4100" dirty="0">
                <a:solidFill>
                  <a:srgbClr val="505468"/>
                </a:solidFill>
                <a:latin typeface="Instrument Sans Semi Bold" pitchFamily="34" charset="0"/>
                <a:ea typeface="Instrument Sans Semi Bold" pitchFamily="34" charset="-122"/>
                <a:cs typeface="Instrument Sans Semi Bold" pitchFamily="34" charset="-120"/>
              </a:rPr>
              <a:t>Port Scanning Techniques</a:t>
            </a:r>
            <a:endParaRPr lang="en-US" sz="4100" dirty="0"/>
          </a:p>
        </p:txBody>
      </p:sp>
      <p:sp>
        <p:nvSpPr>
          <p:cNvPr id="3" name="Shape 1"/>
          <p:cNvSpPr/>
          <p:nvPr/>
        </p:nvSpPr>
        <p:spPr>
          <a:xfrm>
            <a:off x="729615" y="1891784"/>
            <a:ext cx="3149084" cy="5480804"/>
          </a:xfrm>
          <a:prstGeom prst="roundRect">
            <a:avLst>
              <a:gd name="adj" fmla="val 2781"/>
            </a:avLst>
          </a:prstGeom>
          <a:solidFill>
            <a:srgbClr val="FFFFFF">
              <a:alpha val="95000"/>
            </a:srgbClr>
          </a:solidFill>
          <a:ln w="22860">
            <a:solidFill>
              <a:srgbClr val="C8C9CF"/>
            </a:solidFill>
            <a:prstDash val="solid"/>
          </a:ln>
        </p:spPr>
      </p:sp>
      <p:sp>
        <p:nvSpPr>
          <p:cNvPr id="4" name="Shape 2"/>
          <p:cNvSpPr/>
          <p:nvPr/>
        </p:nvSpPr>
        <p:spPr>
          <a:xfrm>
            <a:off x="752475" y="1914644"/>
            <a:ext cx="3103364" cy="625435"/>
          </a:xfrm>
          <a:prstGeom prst="roundRect">
            <a:avLst>
              <a:gd name="adj" fmla="val 9615"/>
            </a:avLst>
          </a:prstGeom>
          <a:solidFill>
            <a:srgbClr val="E2E3E9"/>
          </a:solidFill>
          <a:ln/>
        </p:spPr>
      </p:sp>
      <p:sp>
        <p:nvSpPr>
          <p:cNvPr id="5" name="Text 3"/>
          <p:cNvSpPr/>
          <p:nvPr/>
        </p:nvSpPr>
        <p:spPr>
          <a:xfrm>
            <a:off x="2147768" y="2028111"/>
            <a:ext cx="312658" cy="390882"/>
          </a:xfrm>
          <a:prstGeom prst="rect">
            <a:avLst/>
          </a:prstGeom>
          <a:noFill/>
          <a:ln/>
        </p:spPr>
        <p:txBody>
          <a:bodyPr wrap="none" lIns="0" tIns="0" rIns="0" bIns="0" rtlCol="0" anchor="t"/>
          <a:lstStyle/>
          <a:p>
            <a:pPr marL="0" indent="0" algn="l">
              <a:lnSpc>
                <a:spcPts val="2450"/>
              </a:lnSpc>
              <a:buNone/>
            </a:pPr>
            <a:r>
              <a:rPr lang="en-US" sz="2450" dirty="0">
                <a:solidFill>
                  <a:srgbClr val="5B5F71"/>
                </a:solidFill>
                <a:latin typeface="Instrument Sans Semi Bold" pitchFamily="34" charset="0"/>
                <a:ea typeface="Instrument Sans Semi Bold" pitchFamily="34" charset="-122"/>
                <a:cs typeface="Instrument Sans Semi Bold" pitchFamily="34" charset="-120"/>
              </a:rPr>
              <a:t>1</a:t>
            </a:r>
            <a:endParaRPr lang="en-US" sz="2450" dirty="0"/>
          </a:p>
        </p:txBody>
      </p:sp>
      <p:sp>
        <p:nvSpPr>
          <p:cNvPr id="6" name="Text 4"/>
          <p:cNvSpPr/>
          <p:nvPr/>
        </p:nvSpPr>
        <p:spPr>
          <a:xfrm>
            <a:off x="960953" y="2731651"/>
            <a:ext cx="2686407" cy="651510"/>
          </a:xfrm>
          <a:prstGeom prst="rect">
            <a:avLst/>
          </a:prstGeom>
          <a:noFill/>
          <a:ln/>
        </p:spPr>
        <p:txBody>
          <a:bodyPr wrap="square" lIns="0" tIns="0" rIns="0" bIns="0" rtlCol="0" anchor="t"/>
          <a:lstStyle/>
          <a:p>
            <a:pPr marL="0" indent="0" algn="l">
              <a:lnSpc>
                <a:spcPts val="2550"/>
              </a:lnSpc>
              <a:buNone/>
            </a:pPr>
            <a:r>
              <a:rPr lang="en-US" sz="2050" dirty="0">
                <a:solidFill>
                  <a:srgbClr val="5B5F71"/>
                </a:solidFill>
                <a:latin typeface="Instrument Sans Semi Bold" pitchFamily="34" charset="0"/>
                <a:ea typeface="Instrument Sans Semi Bold" pitchFamily="34" charset="-122"/>
                <a:cs typeface="Instrument Sans Semi Bold" pitchFamily="34" charset="-120"/>
              </a:rPr>
              <a:t>TCP Connect Scan (-sT)</a:t>
            </a:r>
            <a:endParaRPr lang="en-US" sz="2050" dirty="0"/>
          </a:p>
        </p:txBody>
      </p:sp>
      <p:sp>
        <p:nvSpPr>
          <p:cNvPr id="7" name="Shape 5"/>
          <p:cNvSpPr/>
          <p:nvPr/>
        </p:nvSpPr>
        <p:spPr>
          <a:xfrm>
            <a:off x="960953" y="3598664"/>
            <a:ext cx="2686407" cy="632698"/>
          </a:xfrm>
          <a:prstGeom prst="roundRect">
            <a:avLst>
              <a:gd name="adj" fmla="val 13840"/>
            </a:avLst>
          </a:prstGeom>
          <a:solidFill>
            <a:srgbClr val="F2F2F2"/>
          </a:solidFill>
          <a:ln/>
        </p:spPr>
      </p:sp>
      <p:sp>
        <p:nvSpPr>
          <p:cNvPr id="8" name="Shape 6"/>
          <p:cNvSpPr/>
          <p:nvPr/>
        </p:nvSpPr>
        <p:spPr>
          <a:xfrm>
            <a:off x="950595" y="3598664"/>
            <a:ext cx="2707124" cy="632698"/>
          </a:xfrm>
          <a:prstGeom prst="roundRect">
            <a:avLst>
              <a:gd name="adj" fmla="val 4943"/>
            </a:avLst>
          </a:prstGeom>
          <a:solidFill>
            <a:srgbClr val="F2F2F2"/>
          </a:solidFill>
          <a:ln/>
        </p:spPr>
      </p:sp>
      <p:sp>
        <p:nvSpPr>
          <p:cNvPr id="9" name="Text 7"/>
          <p:cNvSpPr/>
          <p:nvPr/>
        </p:nvSpPr>
        <p:spPr>
          <a:xfrm>
            <a:off x="1159073" y="3754993"/>
            <a:ext cx="2290167" cy="320040"/>
          </a:xfrm>
          <a:prstGeom prst="rect">
            <a:avLst/>
          </a:prstGeom>
          <a:noFill/>
          <a:ln/>
        </p:spPr>
        <p:txBody>
          <a:bodyPr wrap="none" lIns="0" tIns="0" rIns="0" bIns="0" rtlCol="0" anchor="t"/>
          <a:lstStyle/>
          <a:p>
            <a:pPr marL="0" indent="0" algn="l">
              <a:lnSpc>
                <a:spcPts val="2500"/>
              </a:lnSpc>
              <a:buNone/>
            </a:pPr>
            <a:r>
              <a:rPr lang="en-US" sz="1600" dirty="0">
                <a:solidFill>
                  <a:srgbClr val="5B5F71"/>
                </a:solidFill>
                <a:highlight>
                  <a:srgbClr val="F2F2F2"/>
                </a:highlight>
                <a:latin typeface="Consolas Medium" pitchFamily="34" charset="0"/>
                <a:ea typeface="Consolas Medium" pitchFamily="34" charset="-122"/>
                <a:cs typeface="Consolas Medium" pitchFamily="34" charset="-120"/>
              </a:rPr>
              <a:t>nmap -sT 192.168.1.1</a:t>
            </a:r>
            <a:endParaRPr lang="en-US" sz="1600" dirty="0"/>
          </a:p>
        </p:txBody>
      </p:sp>
      <p:sp>
        <p:nvSpPr>
          <p:cNvPr id="10" name="Text 8"/>
          <p:cNvSpPr/>
          <p:nvPr/>
        </p:nvSpPr>
        <p:spPr>
          <a:xfrm>
            <a:off x="960953" y="4446865"/>
            <a:ext cx="2686407" cy="1920578"/>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Completes full TCP three-way handshake</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Noisy and easily detected</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Default when run without root privileges</a:t>
            </a:r>
            <a:endParaRPr lang="en-US" sz="1600" dirty="0"/>
          </a:p>
        </p:txBody>
      </p:sp>
      <p:sp>
        <p:nvSpPr>
          <p:cNvPr id="11" name="Shape 9"/>
          <p:cNvSpPr/>
          <p:nvPr/>
        </p:nvSpPr>
        <p:spPr>
          <a:xfrm>
            <a:off x="4070271" y="1891784"/>
            <a:ext cx="3149084" cy="5480804"/>
          </a:xfrm>
          <a:prstGeom prst="roundRect">
            <a:avLst>
              <a:gd name="adj" fmla="val 2781"/>
            </a:avLst>
          </a:prstGeom>
          <a:solidFill>
            <a:srgbClr val="FFFFFF">
              <a:alpha val="95000"/>
            </a:srgbClr>
          </a:solidFill>
          <a:ln w="22860">
            <a:solidFill>
              <a:srgbClr val="C8C9CF"/>
            </a:solidFill>
            <a:prstDash val="solid"/>
          </a:ln>
        </p:spPr>
      </p:sp>
      <p:sp>
        <p:nvSpPr>
          <p:cNvPr id="12" name="Shape 10"/>
          <p:cNvSpPr/>
          <p:nvPr/>
        </p:nvSpPr>
        <p:spPr>
          <a:xfrm>
            <a:off x="4093131" y="1914644"/>
            <a:ext cx="3103364" cy="625435"/>
          </a:xfrm>
          <a:prstGeom prst="roundRect">
            <a:avLst>
              <a:gd name="adj" fmla="val 9615"/>
            </a:avLst>
          </a:prstGeom>
          <a:solidFill>
            <a:srgbClr val="E2E3E9"/>
          </a:solidFill>
          <a:ln/>
        </p:spPr>
      </p:sp>
      <p:sp>
        <p:nvSpPr>
          <p:cNvPr id="13" name="Text 11"/>
          <p:cNvSpPr/>
          <p:nvPr/>
        </p:nvSpPr>
        <p:spPr>
          <a:xfrm>
            <a:off x="5488424" y="2028111"/>
            <a:ext cx="312658" cy="390882"/>
          </a:xfrm>
          <a:prstGeom prst="rect">
            <a:avLst/>
          </a:prstGeom>
          <a:noFill/>
          <a:ln/>
        </p:spPr>
        <p:txBody>
          <a:bodyPr wrap="none" lIns="0" tIns="0" rIns="0" bIns="0" rtlCol="0" anchor="t"/>
          <a:lstStyle/>
          <a:p>
            <a:pPr marL="0" indent="0" algn="l">
              <a:lnSpc>
                <a:spcPts val="2450"/>
              </a:lnSpc>
              <a:buNone/>
            </a:pPr>
            <a:r>
              <a:rPr lang="en-US" sz="2450" dirty="0">
                <a:solidFill>
                  <a:srgbClr val="5B5F71"/>
                </a:solidFill>
                <a:latin typeface="Instrument Sans Semi Bold" pitchFamily="34" charset="0"/>
                <a:ea typeface="Instrument Sans Semi Bold" pitchFamily="34" charset="-122"/>
                <a:cs typeface="Instrument Sans Semi Bold" pitchFamily="34" charset="-120"/>
              </a:rPr>
              <a:t>2</a:t>
            </a:r>
            <a:endParaRPr lang="en-US" sz="2450" dirty="0"/>
          </a:p>
        </p:txBody>
      </p:sp>
      <p:sp>
        <p:nvSpPr>
          <p:cNvPr id="14" name="Text 12"/>
          <p:cNvSpPr/>
          <p:nvPr/>
        </p:nvSpPr>
        <p:spPr>
          <a:xfrm>
            <a:off x="4301609" y="2731651"/>
            <a:ext cx="2686407" cy="651510"/>
          </a:xfrm>
          <a:prstGeom prst="rect">
            <a:avLst/>
          </a:prstGeom>
          <a:noFill/>
          <a:ln/>
        </p:spPr>
        <p:txBody>
          <a:bodyPr wrap="square" lIns="0" tIns="0" rIns="0" bIns="0" rtlCol="0" anchor="t"/>
          <a:lstStyle/>
          <a:p>
            <a:pPr marL="0" indent="0" algn="l">
              <a:lnSpc>
                <a:spcPts val="2550"/>
              </a:lnSpc>
              <a:buNone/>
            </a:pPr>
            <a:r>
              <a:rPr lang="en-US" sz="2050" dirty="0">
                <a:solidFill>
                  <a:srgbClr val="5B5F71"/>
                </a:solidFill>
                <a:latin typeface="Instrument Sans Semi Bold" pitchFamily="34" charset="0"/>
                <a:ea typeface="Instrument Sans Semi Bold" pitchFamily="34" charset="-122"/>
                <a:cs typeface="Instrument Sans Semi Bold" pitchFamily="34" charset="-120"/>
              </a:rPr>
              <a:t>SYN Scan (-sS) [Stealth Scan]</a:t>
            </a:r>
            <a:endParaRPr lang="en-US" sz="2050" dirty="0"/>
          </a:p>
        </p:txBody>
      </p:sp>
      <p:sp>
        <p:nvSpPr>
          <p:cNvPr id="15" name="Shape 13"/>
          <p:cNvSpPr/>
          <p:nvPr/>
        </p:nvSpPr>
        <p:spPr>
          <a:xfrm>
            <a:off x="4301609" y="3598664"/>
            <a:ext cx="2686407" cy="952738"/>
          </a:xfrm>
          <a:prstGeom prst="roundRect">
            <a:avLst>
              <a:gd name="adj" fmla="val 9191"/>
            </a:avLst>
          </a:prstGeom>
          <a:solidFill>
            <a:srgbClr val="F2F2F2"/>
          </a:solidFill>
          <a:ln/>
        </p:spPr>
      </p:sp>
      <p:sp>
        <p:nvSpPr>
          <p:cNvPr id="16" name="Shape 14"/>
          <p:cNvSpPr/>
          <p:nvPr/>
        </p:nvSpPr>
        <p:spPr>
          <a:xfrm>
            <a:off x="4291251" y="3598664"/>
            <a:ext cx="2707124" cy="952738"/>
          </a:xfrm>
          <a:prstGeom prst="roundRect">
            <a:avLst>
              <a:gd name="adj" fmla="val 3282"/>
            </a:avLst>
          </a:prstGeom>
          <a:solidFill>
            <a:srgbClr val="F2F2F2"/>
          </a:solidFill>
          <a:ln/>
        </p:spPr>
      </p:sp>
      <p:sp>
        <p:nvSpPr>
          <p:cNvPr id="17" name="Text 15"/>
          <p:cNvSpPr/>
          <p:nvPr/>
        </p:nvSpPr>
        <p:spPr>
          <a:xfrm>
            <a:off x="4499729" y="3754993"/>
            <a:ext cx="2290167" cy="640080"/>
          </a:xfrm>
          <a:prstGeom prst="rect">
            <a:avLst/>
          </a:prstGeom>
          <a:noFill/>
          <a:ln/>
        </p:spPr>
        <p:txBody>
          <a:bodyPr wrap="square" lIns="0" tIns="0" rIns="0" bIns="0" rtlCol="0" anchor="t"/>
          <a:lstStyle/>
          <a:p>
            <a:pPr marL="0" indent="0" algn="l">
              <a:lnSpc>
                <a:spcPts val="2500"/>
              </a:lnSpc>
              <a:buNone/>
            </a:pPr>
            <a:r>
              <a:rPr lang="en-US" sz="1600" dirty="0">
                <a:solidFill>
                  <a:srgbClr val="5B5F71"/>
                </a:solidFill>
                <a:highlight>
                  <a:srgbClr val="F2F2F2"/>
                </a:highlight>
                <a:latin typeface="Consolas Medium" pitchFamily="34" charset="0"/>
                <a:ea typeface="Consolas Medium" pitchFamily="34" charset="-122"/>
                <a:cs typeface="Consolas Medium" pitchFamily="34" charset="-120"/>
              </a:rPr>
              <a:t>sudo nmap -sS 192.168.1.1</a:t>
            </a:r>
            <a:endParaRPr lang="en-US" sz="1600" dirty="0"/>
          </a:p>
        </p:txBody>
      </p:sp>
      <p:sp>
        <p:nvSpPr>
          <p:cNvPr id="18" name="Text 16"/>
          <p:cNvSpPr/>
          <p:nvPr/>
        </p:nvSpPr>
        <p:spPr>
          <a:xfrm>
            <a:off x="4301609" y="4766905"/>
            <a:ext cx="2686407" cy="2240675"/>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Half-open scan (doesn't complete handshake)</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Faster and stealthier than TCP connect</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Requires root/administrator privileges</a:t>
            </a:r>
            <a:endParaRPr lang="en-US" sz="1600" dirty="0"/>
          </a:p>
        </p:txBody>
      </p:sp>
      <p:sp>
        <p:nvSpPr>
          <p:cNvPr id="19" name="Shape 17"/>
          <p:cNvSpPr/>
          <p:nvPr/>
        </p:nvSpPr>
        <p:spPr>
          <a:xfrm>
            <a:off x="7410926" y="1891784"/>
            <a:ext cx="3149084" cy="5480804"/>
          </a:xfrm>
          <a:prstGeom prst="roundRect">
            <a:avLst>
              <a:gd name="adj" fmla="val 2781"/>
            </a:avLst>
          </a:prstGeom>
          <a:solidFill>
            <a:srgbClr val="FFFFFF">
              <a:alpha val="95000"/>
            </a:srgbClr>
          </a:solidFill>
          <a:ln w="22860">
            <a:solidFill>
              <a:srgbClr val="C8C9CF"/>
            </a:solidFill>
            <a:prstDash val="solid"/>
          </a:ln>
        </p:spPr>
      </p:sp>
      <p:sp>
        <p:nvSpPr>
          <p:cNvPr id="20" name="Shape 18"/>
          <p:cNvSpPr/>
          <p:nvPr/>
        </p:nvSpPr>
        <p:spPr>
          <a:xfrm>
            <a:off x="7433786" y="1914644"/>
            <a:ext cx="3103364" cy="625435"/>
          </a:xfrm>
          <a:prstGeom prst="roundRect">
            <a:avLst>
              <a:gd name="adj" fmla="val 9615"/>
            </a:avLst>
          </a:prstGeom>
          <a:solidFill>
            <a:srgbClr val="E2E3E9"/>
          </a:solidFill>
          <a:ln/>
        </p:spPr>
      </p:sp>
      <p:sp>
        <p:nvSpPr>
          <p:cNvPr id="21" name="Text 19"/>
          <p:cNvSpPr/>
          <p:nvPr/>
        </p:nvSpPr>
        <p:spPr>
          <a:xfrm>
            <a:off x="8829080" y="2028111"/>
            <a:ext cx="312658" cy="390882"/>
          </a:xfrm>
          <a:prstGeom prst="rect">
            <a:avLst/>
          </a:prstGeom>
          <a:noFill/>
          <a:ln/>
        </p:spPr>
        <p:txBody>
          <a:bodyPr wrap="none" lIns="0" tIns="0" rIns="0" bIns="0" rtlCol="0" anchor="t"/>
          <a:lstStyle/>
          <a:p>
            <a:pPr marL="0" indent="0" algn="l">
              <a:lnSpc>
                <a:spcPts val="2450"/>
              </a:lnSpc>
              <a:buNone/>
            </a:pPr>
            <a:r>
              <a:rPr lang="en-US" sz="2450" dirty="0">
                <a:solidFill>
                  <a:srgbClr val="5B5F71"/>
                </a:solidFill>
                <a:latin typeface="Instrument Sans Semi Bold" pitchFamily="34" charset="0"/>
                <a:ea typeface="Instrument Sans Semi Bold" pitchFamily="34" charset="-122"/>
                <a:cs typeface="Instrument Sans Semi Bold" pitchFamily="34" charset="-120"/>
              </a:rPr>
              <a:t>3</a:t>
            </a:r>
            <a:endParaRPr lang="en-US" sz="2450" dirty="0"/>
          </a:p>
        </p:txBody>
      </p:sp>
      <p:sp>
        <p:nvSpPr>
          <p:cNvPr id="22" name="Text 20"/>
          <p:cNvSpPr/>
          <p:nvPr/>
        </p:nvSpPr>
        <p:spPr>
          <a:xfrm>
            <a:off x="7642265" y="2731651"/>
            <a:ext cx="2606040" cy="325755"/>
          </a:xfrm>
          <a:prstGeom prst="rect">
            <a:avLst/>
          </a:prstGeom>
          <a:noFill/>
          <a:ln/>
        </p:spPr>
        <p:txBody>
          <a:bodyPr wrap="none" lIns="0" tIns="0" rIns="0" bIns="0" rtlCol="0" anchor="t"/>
          <a:lstStyle/>
          <a:p>
            <a:pPr marL="0" indent="0" algn="l">
              <a:lnSpc>
                <a:spcPts val="2550"/>
              </a:lnSpc>
              <a:buNone/>
            </a:pPr>
            <a:r>
              <a:rPr lang="en-US" sz="2050" dirty="0">
                <a:solidFill>
                  <a:srgbClr val="5B5F71"/>
                </a:solidFill>
                <a:latin typeface="Instrument Sans Semi Bold" pitchFamily="34" charset="0"/>
                <a:ea typeface="Instrument Sans Semi Bold" pitchFamily="34" charset="-122"/>
                <a:cs typeface="Instrument Sans Semi Bold" pitchFamily="34" charset="-120"/>
              </a:rPr>
              <a:t>UDP Scan (-sU)</a:t>
            </a:r>
            <a:endParaRPr lang="en-US" sz="2050" dirty="0"/>
          </a:p>
        </p:txBody>
      </p:sp>
      <p:sp>
        <p:nvSpPr>
          <p:cNvPr id="23" name="Shape 21"/>
          <p:cNvSpPr/>
          <p:nvPr/>
        </p:nvSpPr>
        <p:spPr>
          <a:xfrm>
            <a:off x="7642265" y="3272909"/>
            <a:ext cx="2686407" cy="952738"/>
          </a:xfrm>
          <a:prstGeom prst="roundRect">
            <a:avLst>
              <a:gd name="adj" fmla="val 9191"/>
            </a:avLst>
          </a:prstGeom>
          <a:solidFill>
            <a:srgbClr val="F2F2F2"/>
          </a:solidFill>
          <a:ln/>
        </p:spPr>
      </p:sp>
      <p:sp>
        <p:nvSpPr>
          <p:cNvPr id="24" name="Shape 22"/>
          <p:cNvSpPr/>
          <p:nvPr/>
        </p:nvSpPr>
        <p:spPr>
          <a:xfrm>
            <a:off x="7631906" y="3272909"/>
            <a:ext cx="2707124" cy="952738"/>
          </a:xfrm>
          <a:prstGeom prst="roundRect">
            <a:avLst>
              <a:gd name="adj" fmla="val 3282"/>
            </a:avLst>
          </a:prstGeom>
          <a:solidFill>
            <a:srgbClr val="F2F2F2"/>
          </a:solidFill>
          <a:ln/>
        </p:spPr>
      </p:sp>
      <p:sp>
        <p:nvSpPr>
          <p:cNvPr id="25" name="Text 23"/>
          <p:cNvSpPr/>
          <p:nvPr/>
        </p:nvSpPr>
        <p:spPr>
          <a:xfrm>
            <a:off x="7840385" y="3429238"/>
            <a:ext cx="2290167" cy="640080"/>
          </a:xfrm>
          <a:prstGeom prst="rect">
            <a:avLst/>
          </a:prstGeom>
          <a:noFill/>
          <a:ln/>
        </p:spPr>
        <p:txBody>
          <a:bodyPr wrap="square" lIns="0" tIns="0" rIns="0" bIns="0" rtlCol="0" anchor="t"/>
          <a:lstStyle/>
          <a:p>
            <a:pPr marL="0" indent="0" algn="l">
              <a:lnSpc>
                <a:spcPts val="2500"/>
              </a:lnSpc>
              <a:buNone/>
            </a:pPr>
            <a:r>
              <a:rPr lang="en-US" sz="1600" dirty="0">
                <a:solidFill>
                  <a:srgbClr val="5B5F71"/>
                </a:solidFill>
                <a:highlight>
                  <a:srgbClr val="F2F2F2"/>
                </a:highlight>
                <a:latin typeface="Consolas Medium" pitchFamily="34" charset="0"/>
                <a:ea typeface="Consolas Medium" pitchFamily="34" charset="-122"/>
                <a:cs typeface="Consolas Medium" pitchFamily="34" charset="-120"/>
              </a:rPr>
              <a:t>sudo nmap -sU 192.168.1.1</a:t>
            </a:r>
            <a:endParaRPr lang="en-US" sz="1600" dirty="0"/>
          </a:p>
        </p:txBody>
      </p:sp>
      <p:sp>
        <p:nvSpPr>
          <p:cNvPr id="26" name="Text 24"/>
          <p:cNvSpPr/>
          <p:nvPr/>
        </p:nvSpPr>
        <p:spPr>
          <a:xfrm>
            <a:off x="7642265" y="4441150"/>
            <a:ext cx="2686407" cy="1280386"/>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Scans UDP ports</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Slower than TCP scans</a:t>
            </a:r>
            <a:endParaRPr lang="en-US" sz="1600" dirty="0"/>
          </a:p>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Important for DNS, DHCP, SNMP services</a:t>
            </a:r>
            <a:endParaRPr lang="en-US" sz="1600" dirty="0"/>
          </a:p>
        </p:txBody>
      </p:sp>
      <p:sp>
        <p:nvSpPr>
          <p:cNvPr id="27" name="Shape 25"/>
          <p:cNvSpPr/>
          <p:nvPr/>
        </p:nvSpPr>
        <p:spPr>
          <a:xfrm>
            <a:off x="10751582" y="1891784"/>
            <a:ext cx="3149203" cy="5480804"/>
          </a:xfrm>
          <a:prstGeom prst="roundRect">
            <a:avLst>
              <a:gd name="adj" fmla="val 2781"/>
            </a:avLst>
          </a:prstGeom>
          <a:solidFill>
            <a:srgbClr val="FFFFFF">
              <a:alpha val="95000"/>
            </a:srgbClr>
          </a:solidFill>
          <a:ln w="22860">
            <a:solidFill>
              <a:srgbClr val="C8C9CF"/>
            </a:solidFill>
            <a:prstDash val="solid"/>
          </a:ln>
        </p:spPr>
      </p:sp>
      <p:sp>
        <p:nvSpPr>
          <p:cNvPr id="28" name="Shape 26"/>
          <p:cNvSpPr/>
          <p:nvPr/>
        </p:nvSpPr>
        <p:spPr>
          <a:xfrm>
            <a:off x="10774442" y="1914644"/>
            <a:ext cx="3103483" cy="625435"/>
          </a:xfrm>
          <a:prstGeom prst="roundRect">
            <a:avLst>
              <a:gd name="adj" fmla="val 9615"/>
            </a:avLst>
          </a:prstGeom>
          <a:solidFill>
            <a:srgbClr val="E2E3E9"/>
          </a:solidFill>
          <a:ln/>
        </p:spPr>
      </p:sp>
      <p:sp>
        <p:nvSpPr>
          <p:cNvPr id="29" name="Text 27"/>
          <p:cNvSpPr/>
          <p:nvPr/>
        </p:nvSpPr>
        <p:spPr>
          <a:xfrm>
            <a:off x="12169854" y="2028111"/>
            <a:ext cx="312658" cy="390882"/>
          </a:xfrm>
          <a:prstGeom prst="rect">
            <a:avLst/>
          </a:prstGeom>
          <a:noFill/>
          <a:ln/>
        </p:spPr>
        <p:txBody>
          <a:bodyPr wrap="none" lIns="0" tIns="0" rIns="0" bIns="0" rtlCol="0" anchor="t"/>
          <a:lstStyle/>
          <a:p>
            <a:pPr marL="0" indent="0" algn="l">
              <a:lnSpc>
                <a:spcPts val="2450"/>
              </a:lnSpc>
              <a:buNone/>
            </a:pPr>
            <a:r>
              <a:rPr lang="en-US" sz="2450" dirty="0">
                <a:solidFill>
                  <a:srgbClr val="5B5F71"/>
                </a:solidFill>
                <a:latin typeface="Instrument Sans Semi Bold" pitchFamily="34" charset="0"/>
                <a:ea typeface="Instrument Sans Semi Bold" pitchFamily="34" charset="-122"/>
                <a:cs typeface="Instrument Sans Semi Bold" pitchFamily="34" charset="-120"/>
              </a:rPr>
              <a:t>4</a:t>
            </a:r>
            <a:endParaRPr lang="en-US" sz="2450" dirty="0"/>
          </a:p>
        </p:txBody>
      </p:sp>
      <p:sp>
        <p:nvSpPr>
          <p:cNvPr id="30" name="Text 28"/>
          <p:cNvSpPr/>
          <p:nvPr/>
        </p:nvSpPr>
        <p:spPr>
          <a:xfrm>
            <a:off x="10982920" y="2731651"/>
            <a:ext cx="2686526" cy="651510"/>
          </a:xfrm>
          <a:prstGeom prst="rect">
            <a:avLst/>
          </a:prstGeom>
          <a:noFill/>
          <a:ln/>
        </p:spPr>
        <p:txBody>
          <a:bodyPr wrap="square" lIns="0" tIns="0" rIns="0" bIns="0" rtlCol="0" anchor="t"/>
          <a:lstStyle/>
          <a:p>
            <a:pPr marL="0" indent="0" algn="l">
              <a:lnSpc>
                <a:spcPts val="2550"/>
              </a:lnSpc>
              <a:buNone/>
            </a:pPr>
            <a:r>
              <a:rPr lang="en-US" sz="2050" dirty="0">
                <a:solidFill>
                  <a:srgbClr val="5B5F71"/>
                </a:solidFill>
                <a:latin typeface="Instrument Sans Semi Bold" pitchFamily="34" charset="0"/>
                <a:ea typeface="Instrument Sans Semi Bold" pitchFamily="34" charset="-122"/>
                <a:cs typeface="Instrument Sans Semi Bold" pitchFamily="34" charset="-120"/>
              </a:rPr>
              <a:t>Comprehensive Scan (-sS -sU)</a:t>
            </a:r>
            <a:endParaRPr lang="en-US" sz="2050" dirty="0"/>
          </a:p>
        </p:txBody>
      </p:sp>
      <p:sp>
        <p:nvSpPr>
          <p:cNvPr id="31" name="Shape 29"/>
          <p:cNvSpPr/>
          <p:nvPr/>
        </p:nvSpPr>
        <p:spPr>
          <a:xfrm>
            <a:off x="10982920" y="3598664"/>
            <a:ext cx="2686526" cy="952738"/>
          </a:xfrm>
          <a:prstGeom prst="roundRect">
            <a:avLst>
              <a:gd name="adj" fmla="val 9191"/>
            </a:avLst>
          </a:prstGeom>
          <a:solidFill>
            <a:srgbClr val="F2F2F2"/>
          </a:solidFill>
          <a:ln/>
        </p:spPr>
      </p:sp>
      <p:sp>
        <p:nvSpPr>
          <p:cNvPr id="32" name="Shape 30"/>
          <p:cNvSpPr/>
          <p:nvPr/>
        </p:nvSpPr>
        <p:spPr>
          <a:xfrm>
            <a:off x="10972562" y="3598664"/>
            <a:ext cx="2707243" cy="952738"/>
          </a:xfrm>
          <a:prstGeom prst="roundRect">
            <a:avLst>
              <a:gd name="adj" fmla="val 3282"/>
            </a:avLst>
          </a:prstGeom>
          <a:solidFill>
            <a:srgbClr val="F2F2F2"/>
          </a:solidFill>
          <a:ln/>
        </p:spPr>
      </p:sp>
      <p:sp>
        <p:nvSpPr>
          <p:cNvPr id="33" name="Text 31"/>
          <p:cNvSpPr/>
          <p:nvPr/>
        </p:nvSpPr>
        <p:spPr>
          <a:xfrm>
            <a:off x="11181040" y="3754993"/>
            <a:ext cx="2290286" cy="640080"/>
          </a:xfrm>
          <a:prstGeom prst="rect">
            <a:avLst/>
          </a:prstGeom>
          <a:noFill/>
          <a:ln/>
        </p:spPr>
        <p:txBody>
          <a:bodyPr wrap="square" lIns="0" tIns="0" rIns="0" bIns="0" rtlCol="0" anchor="t"/>
          <a:lstStyle/>
          <a:p>
            <a:pPr marL="0" indent="0" algn="l">
              <a:lnSpc>
                <a:spcPts val="2500"/>
              </a:lnSpc>
              <a:buNone/>
            </a:pPr>
            <a:r>
              <a:rPr lang="en-US" sz="1600" dirty="0">
                <a:solidFill>
                  <a:srgbClr val="5B5F71"/>
                </a:solidFill>
                <a:highlight>
                  <a:srgbClr val="F2F2F2"/>
                </a:highlight>
                <a:latin typeface="Consolas Medium" pitchFamily="34" charset="0"/>
                <a:ea typeface="Consolas Medium" pitchFamily="34" charset="-122"/>
                <a:cs typeface="Consolas Medium" pitchFamily="34" charset="-120"/>
              </a:rPr>
              <a:t>sudo nmap -sS -sU 192.168.1.1</a:t>
            </a:r>
            <a:endParaRPr lang="en-US" sz="1600" dirty="0"/>
          </a:p>
        </p:txBody>
      </p:sp>
      <p:sp>
        <p:nvSpPr>
          <p:cNvPr id="34" name="Text 32"/>
          <p:cNvSpPr/>
          <p:nvPr/>
        </p:nvSpPr>
        <p:spPr>
          <a:xfrm>
            <a:off x="10982920" y="4766905"/>
            <a:ext cx="2686526" cy="640080"/>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5B5F71"/>
                </a:solidFill>
                <a:latin typeface="Instrument Sans Medium" pitchFamily="34" charset="0"/>
                <a:ea typeface="Instrument Sans Medium" pitchFamily="34" charset="-122"/>
                <a:cs typeface="Instrument Sans Medium" pitchFamily="34" charset="-120"/>
              </a:rPr>
              <a:t>Scans both TCP and UDP ports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1403" y="853321"/>
            <a:ext cx="5367457" cy="670917"/>
          </a:xfrm>
          <a:prstGeom prst="rect">
            <a:avLst/>
          </a:prstGeom>
          <a:noFill/>
          <a:ln/>
        </p:spPr>
        <p:txBody>
          <a:bodyPr wrap="none" lIns="0" tIns="0" rIns="0" bIns="0" rtlCol="0" anchor="t"/>
          <a:lstStyle/>
          <a:p>
            <a:pPr marL="0" indent="0" algn="l">
              <a:lnSpc>
                <a:spcPts val="5250"/>
              </a:lnSpc>
              <a:buNone/>
            </a:pPr>
            <a:r>
              <a:rPr lang="en-US" sz="4200" dirty="0">
                <a:solidFill>
                  <a:srgbClr val="505468"/>
                </a:solidFill>
                <a:latin typeface="Instrument Sans Semi Bold" pitchFamily="34" charset="0"/>
                <a:ea typeface="Instrument Sans Semi Bold" pitchFamily="34" charset="-122"/>
                <a:cs typeface="Instrument Sans Semi Bold" pitchFamily="34" charset="-120"/>
              </a:rPr>
              <a:t>Port Specification</a:t>
            </a:r>
            <a:endParaRPr lang="en-US" sz="4200" dirty="0"/>
          </a:p>
        </p:txBody>
      </p:sp>
      <p:sp>
        <p:nvSpPr>
          <p:cNvPr id="3" name="Text 1"/>
          <p:cNvSpPr/>
          <p:nvPr/>
        </p:nvSpPr>
        <p:spPr>
          <a:xfrm>
            <a:off x="751403" y="2032159"/>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05468"/>
                </a:solidFill>
                <a:latin typeface="Instrument Sans Semi Bold" pitchFamily="34" charset="0"/>
                <a:ea typeface="Instrument Sans Semi Bold" pitchFamily="34" charset="-122"/>
                <a:cs typeface="Instrument Sans Semi Bold" pitchFamily="34" charset="-120"/>
              </a:rPr>
              <a:t>Specific ports:</a:t>
            </a:r>
            <a:endParaRPr lang="en-US" sz="2100" dirty="0"/>
          </a:p>
        </p:txBody>
      </p:sp>
      <p:sp>
        <p:nvSpPr>
          <p:cNvPr id="4" name="Shape 2"/>
          <p:cNvSpPr/>
          <p:nvPr/>
        </p:nvSpPr>
        <p:spPr>
          <a:xfrm>
            <a:off x="751403" y="2596158"/>
            <a:ext cx="6301978" cy="990362"/>
          </a:xfrm>
          <a:prstGeom prst="roundRect">
            <a:avLst>
              <a:gd name="adj" fmla="val 9105"/>
            </a:avLst>
          </a:prstGeom>
          <a:solidFill>
            <a:srgbClr val="F2F2F2"/>
          </a:solidFill>
          <a:ln/>
        </p:spPr>
      </p:sp>
      <p:sp>
        <p:nvSpPr>
          <p:cNvPr id="5" name="Shape 3"/>
          <p:cNvSpPr/>
          <p:nvPr/>
        </p:nvSpPr>
        <p:spPr>
          <a:xfrm>
            <a:off x="740688" y="2596158"/>
            <a:ext cx="6323409" cy="990362"/>
          </a:xfrm>
          <a:prstGeom prst="roundRect">
            <a:avLst>
              <a:gd name="adj" fmla="val 3252"/>
            </a:avLst>
          </a:prstGeom>
          <a:solidFill>
            <a:srgbClr val="F2F2F2"/>
          </a:solidFill>
          <a:ln/>
        </p:spPr>
      </p:sp>
      <p:sp>
        <p:nvSpPr>
          <p:cNvPr id="6" name="Text 4"/>
          <p:cNvSpPr/>
          <p:nvPr/>
        </p:nvSpPr>
        <p:spPr>
          <a:xfrm>
            <a:off x="955358" y="2757130"/>
            <a:ext cx="5894070" cy="668417"/>
          </a:xfrm>
          <a:prstGeom prst="rect">
            <a:avLst/>
          </a:prstGeom>
          <a:noFill/>
          <a:ln/>
        </p:spPr>
        <p:txBody>
          <a:bodyPr wrap="square" lIns="0" tIns="0" rIns="0" bIns="0" rtlCol="0" anchor="t"/>
          <a:lstStyle/>
          <a:p>
            <a:pPr marL="0" indent="0" algn="l">
              <a:lnSpc>
                <a:spcPts val="260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-p 80,443 192.168.1.1</a:t>
            </a:r>
            <a:endParaRPr lang="en-US" sz="1650" dirty="0"/>
          </a:p>
          <a:p>
            <a:pPr marL="0" indent="0" algn="l">
              <a:lnSpc>
                <a:spcPts val="260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-p 1-1000 192.168.1.1</a:t>
            </a:r>
            <a:endParaRPr lang="en-US" sz="1650" dirty="0"/>
          </a:p>
        </p:txBody>
      </p:sp>
      <p:sp>
        <p:nvSpPr>
          <p:cNvPr id="7" name="Text 5"/>
          <p:cNvSpPr/>
          <p:nvPr/>
        </p:nvSpPr>
        <p:spPr>
          <a:xfrm>
            <a:off x="751403" y="3815120"/>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05468"/>
                </a:solidFill>
                <a:latin typeface="Instrument Sans Semi Bold" pitchFamily="34" charset="0"/>
                <a:ea typeface="Instrument Sans Semi Bold" pitchFamily="34" charset="-122"/>
                <a:cs typeface="Instrument Sans Semi Bold" pitchFamily="34" charset="-120"/>
              </a:rPr>
              <a:t>All ports (-p-):</a:t>
            </a:r>
            <a:endParaRPr lang="en-US" sz="2100" dirty="0"/>
          </a:p>
        </p:txBody>
      </p:sp>
      <p:sp>
        <p:nvSpPr>
          <p:cNvPr id="8" name="Shape 6"/>
          <p:cNvSpPr/>
          <p:nvPr/>
        </p:nvSpPr>
        <p:spPr>
          <a:xfrm>
            <a:off x="751403" y="4379119"/>
            <a:ext cx="6301978" cy="656153"/>
          </a:xfrm>
          <a:prstGeom prst="roundRect">
            <a:avLst>
              <a:gd name="adj" fmla="val 13743"/>
            </a:avLst>
          </a:prstGeom>
          <a:solidFill>
            <a:srgbClr val="F2F2F2"/>
          </a:solidFill>
          <a:ln/>
        </p:spPr>
      </p:sp>
      <p:sp>
        <p:nvSpPr>
          <p:cNvPr id="9" name="Shape 7"/>
          <p:cNvSpPr/>
          <p:nvPr/>
        </p:nvSpPr>
        <p:spPr>
          <a:xfrm>
            <a:off x="740688" y="4379119"/>
            <a:ext cx="6323409" cy="656153"/>
          </a:xfrm>
          <a:prstGeom prst="roundRect">
            <a:avLst>
              <a:gd name="adj" fmla="val 4908"/>
            </a:avLst>
          </a:prstGeom>
          <a:solidFill>
            <a:srgbClr val="F2F2F2"/>
          </a:solidFill>
          <a:ln/>
        </p:spPr>
      </p:sp>
      <p:sp>
        <p:nvSpPr>
          <p:cNvPr id="10" name="Text 8"/>
          <p:cNvSpPr/>
          <p:nvPr/>
        </p:nvSpPr>
        <p:spPr>
          <a:xfrm>
            <a:off x="955358" y="4540091"/>
            <a:ext cx="5894070" cy="334208"/>
          </a:xfrm>
          <a:prstGeom prst="rect">
            <a:avLst/>
          </a:prstGeom>
          <a:noFill/>
          <a:ln/>
        </p:spPr>
        <p:txBody>
          <a:bodyPr wrap="none" lIns="0" tIns="0" rIns="0" bIns="0" rtlCol="0" anchor="t"/>
          <a:lstStyle/>
          <a:p>
            <a:pPr marL="0" indent="0" algn="l">
              <a:lnSpc>
                <a:spcPts val="260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sudo nmap -p- 192.168.1.1</a:t>
            </a:r>
            <a:endParaRPr lang="en-US" sz="1650" dirty="0"/>
          </a:p>
        </p:txBody>
      </p:sp>
      <p:sp>
        <p:nvSpPr>
          <p:cNvPr id="11" name="Shape 9"/>
          <p:cNvSpPr/>
          <p:nvPr/>
        </p:nvSpPr>
        <p:spPr>
          <a:xfrm>
            <a:off x="751403" y="5263872"/>
            <a:ext cx="6301978" cy="1883688"/>
          </a:xfrm>
          <a:prstGeom prst="roundRect">
            <a:avLst>
              <a:gd name="adj" fmla="val 4787"/>
            </a:avLst>
          </a:prstGeom>
          <a:solidFill>
            <a:srgbClr val="D4D5DE"/>
          </a:solidFill>
          <a:ln/>
        </p:spPr>
      </p:sp>
      <p:pic>
        <p:nvPicPr>
          <p:cNvPr id="12" name="Image 0" descr="preencoded.png"/>
          <p:cNvPicPr>
            <a:picLocks noChangeAspect="1"/>
          </p:cNvPicPr>
          <p:nvPr/>
        </p:nvPicPr>
        <p:blipFill>
          <a:blip r:embed="rId3"/>
          <a:stretch>
            <a:fillRect/>
          </a:stretch>
        </p:blipFill>
        <p:spPr>
          <a:xfrm>
            <a:off x="966073" y="5580459"/>
            <a:ext cx="268367" cy="214670"/>
          </a:xfrm>
          <a:prstGeom prst="rect">
            <a:avLst/>
          </a:prstGeom>
        </p:spPr>
      </p:pic>
      <p:sp>
        <p:nvSpPr>
          <p:cNvPr id="13" name="Text 10"/>
          <p:cNvSpPr/>
          <p:nvPr/>
        </p:nvSpPr>
        <p:spPr>
          <a:xfrm>
            <a:off x="1449110" y="5520571"/>
            <a:ext cx="5389602" cy="1336834"/>
          </a:xfrm>
          <a:prstGeom prst="rect">
            <a:avLst/>
          </a:prstGeom>
          <a:noFill/>
          <a:ln/>
        </p:spPr>
        <p:txBody>
          <a:bodyPr wrap="square" lIns="0" tIns="0" rIns="0" bIns="0" rtlCol="0" anchor="t"/>
          <a:lstStyle/>
          <a:p>
            <a:pPr marL="0" indent="0" algn="l">
              <a:lnSpc>
                <a:spcPts val="2600"/>
              </a:lnSpc>
              <a:buNone/>
            </a:pPr>
            <a:r>
              <a:rPr lang="en-US" sz="1650" dirty="0">
                <a:solidFill>
                  <a:srgbClr val="000000"/>
                </a:solidFill>
                <a:latin typeface="Instrument Sans Medium" pitchFamily="34" charset="0"/>
                <a:ea typeface="Instrument Sans Medium" pitchFamily="34" charset="-122"/>
                <a:cs typeface="Instrument Sans Medium" pitchFamily="34" charset="-120"/>
              </a:rPr>
              <a:t>⚠️ </a:t>
            </a:r>
            <a:r>
              <a:rPr lang="en-US" sz="1650" b="1" dirty="0">
                <a:solidFill>
                  <a:srgbClr val="000000"/>
                </a:solidFill>
                <a:latin typeface="Instrument Sans Medium" pitchFamily="34" charset="0"/>
                <a:ea typeface="Instrument Sans Medium" pitchFamily="34" charset="-122"/>
                <a:cs typeface="Instrument Sans Medium" pitchFamily="34" charset="-120"/>
              </a:rPr>
              <a:t>Warning:</a:t>
            </a:r>
            <a:r>
              <a:rPr lang="en-US" sz="1650" dirty="0">
                <a:solidFill>
                  <a:srgbClr val="000000"/>
                </a:solidFill>
                <a:latin typeface="Instrument Sans Medium" pitchFamily="34" charset="0"/>
                <a:ea typeface="Instrument Sans Medium" pitchFamily="34" charset="-122"/>
                <a:cs typeface="Instrument Sans Medium" pitchFamily="34" charset="-120"/>
              </a:rPr>
              <a:t> Full port scans take 10-20 minutes per host. Scanning an entire /24 network (256 hosts) with -p- would take days[2]. Run -p- only on interesting targets or where you need complete visibility.</a:t>
            </a:r>
            <a:endParaRPr lang="en-US" sz="1650" dirty="0"/>
          </a:p>
        </p:txBody>
      </p:sp>
      <p:sp>
        <p:nvSpPr>
          <p:cNvPr id="14" name="Text 11"/>
          <p:cNvSpPr/>
          <p:nvPr/>
        </p:nvSpPr>
        <p:spPr>
          <a:xfrm>
            <a:off x="7584638" y="2032159"/>
            <a:ext cx="2683669" cy="335399"/>
          </a:xfrm>
          <a:prstGeom prst="rect">
            <a:avLst/>
          </a:prstGeom>
          <a:noFill/>
          <a:ln/>
        </p:spPr>
        <p:txBody>
          <a:bodyPr wrap="none" lIns="0" tIns="0" rIns="0" bIns="0" rtlCol="0" anchor="t"/>
          <a:lstStyle/>
          <a:p>
            <a:pPr marL="0" indent="0" algn="l">
              <a:lnSpc>
                <a:spcPts val="2600"/>
              </a:lnSpc>
              <a:buNone/>
            </a:pPr>
            <a:r>
              <a:rPr lang="en-US" sz="2100" dirty="0">
                <a:solidFill>
                  <a:srgbClr val="505468"/>
                </a:solidFill>
                <a:latin typeface="Instrument Sans Semi Bold" pitchFamily="34" charset="0"/>
                <a:ea typeface="Instrument Sans Semi Bold" pitchFamily="34" charset="-122"/>
                <a:cs typeface="Instrument Sans Semi Bold" pitchFamily="34" charset="-120"/>
              </a:rPr>
              <a:t>Common ports:</a:t>
            </a:r>
            <a:endParaRPr lang="en-US" sz="2100" dirty="0"/>
          </a:p>
        </p:txBody>
      </p:sp>
      <p:sp>
        <p:nvSpPr>
          <p:cNvPr id="15" name="Shape 12"/>
          <p:cNvSpPr/>
          <p:nvPr/>
        </p:nvSpPr>
        <p:spPr>
          <a:xfrm>
            <a:off x="7584638" y="2596158"/>
            <a:ext cx="6301978" cy="656153"/>
          </a:xfrm>
          <a:prstGeom prst="roundRect">
            <a:avLst>
              <a:gd name="adj" fmla="val 13743"/>
            </a:avLst>
          </a:prstGeom>
          <a:solidFill>
            <a:srgbClr val="F2F2F2"/>
          </a:solidFill>
          <a:ln/>
        </p:spPr>
      </p:sp>
      <p:sp>
        <p:nvSpPr>
          <p:cNvPr id="16" name="Shape 13"/>
          <p:cNvSpPr/>
          <p:nvPr/>
        </p:nvSpPr>
        <p:spPr>
          <a:xfrm>
            <a:off x="7573923" y="2596158"/>
            <a:ext cx="6323409" cy="656153"/>
          </a:xfrm>
          <a:prstGeom prst="roundRect">
            <a:avLst>
              <a:gd name="adj" fmla="val 4908"/>
            </a:avLst>
          </a:prstGeom>
          <a:solidFill>
            <a:srgbClr val="F2F2F2"/>
          </a:solidFill>
          <a:ln/>
        </p:spPr>
      </p:sp>
      <p:sp>
        <p:nvSpPr>
          <p:cNvPr id="17" name="Text 14"/>
          <p:cNvSpPr/>
          <p:nvPr/>
        </p:nvSpPr>
        <p:spPr>
          <a:xfrm>
            <a:off x="7788593" y="2757130"/>
            <a:ext cx="5894070" cy="334208"/>
          </a:xfrm>
          <a:prstGeom prst="rect">
            <a:avLst/>
          </a:prstGeom>
          <a:noFill/>
          <a:ln/>
        </p:spPr>
        <p:txBody>
          <a:bodyPr wrap="none" lIns="0" tIns="0" rIns="0" bIns="0" rtlCol="0" anchor="t"/>
          <a:lstStyle/>
          <a:p>
            <a:pPr marL="0" indent="0" algn="l">
              <a:lnSpc>
                <a:spcPts val="2600"/>
              </a:lnSpc>
              <a:buNone/>
            </a:pPr>
            <a:r>
              <a:rPr lang="en-US" sz="1650" dirty="0">
                <a:solidFill>
                  <a:srgbClr val="5B5F71"/>
                </a:solidFill>
                <a:highlight>
                  <a:srgbClr val="F2F2F2"/>
                </a:highlight>
                <a:latin typeface="Consolas Medium" pitchFamily="34" charset="0"/>
                <a:ea typeface="Consolas Medium" pitchFamily="34" charset="-122"/>
                <a:cs typeface="Consolas Medium" pitchFamily="34" charset="-120"/>
              </a:rPr>
              <a:t>nmap --top-ports 100 192.168.1.1</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585680" y="1156216"/>
            <a:ext cx="4500920" cy="428268"/>
          </a:xfrm>
          <a:prstGeom prst="rect">
            <a:avLst/>
          </a:prstGeom>
          <a:noFill/>
          <a:ln/>
        </p:spPr>
        <p:txBody>
          <a:bodyPr wrap="none" lIns="0" tIns="0" rIns="0" bIns="0" rtlCol="0" anchor="t"/>
          <a:lstStyle/>
          <a:p>
            <a:pPr marL="0" indent="0" algn="l">
              <a:lnSpc>
                <a:spcPts val="3350"/>
              </a:lnSpc>
              <a:buNone/>
            </a:pPr>
            <a:r>
              <a:rPr lang="en-US" sz="2650" dirty="0">
                <a:solidFill>
                  <a:srgbClr val="505468"/>
                </a:solidFill>
                <a:latin typeface="Instrument Sans Semi Bold" pitchFamily="34" charset="0"/>
                <a:ea typeface="Instrument Sans Semi Bold" pitchFamily="34" charset="-122"/>
                <a:cs typeface="Instrument Sans Semi Bold" pitchFamily="34" charset="-120"/>
              </a:rPr>
              <a:t>Service &amp; Version Detection</a:t>
            </a:r>
            <a:endParaRPr lang="en-US" sz="2650" dirty="0"/>
          </a:p>
        </p:txBody>
      </p:sp>
      <p:sp>
        <p:nvSpPr>
          <p:cNvPr id="3" name="Text 1"/>
          <p:cNvSpPr/>
          <p:nvPr/>
        </p:nvSpPr>
        <p:spPr>
          <a:xfrm>
            <a:off x="2585680" y="1617583"/>
            <a:ext cx="2344222"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Detect service versions (-sV):</a:t>
            </a:r>
            <a:endParaRPr lang="en-US" sz="1300" dirty="0"/>
          </a:p>
        </p:txBody>
      </p:sp>
      <p:sp>
        <p:nvSpPr>
          <p:cNvPr id="4" name="Shape 2"/>
          <p:cNvSpPr/>
          <p:nvPr/>
        </p:nvSpPr>
        <p:spPr>
          <a:xfrm>
            <a:off x="2585680" y="1955840"/>
            <a:ext cx="9458920" cy="381357"/>
          </a:xfrm>
          <a:prstGeom prst="roundRect">
            <a:avLst>
              <a:gd name="adj" fmla="val 15098"/>
            </a:avLst>
          </a:prstGeom>
          <a:solidFill>
            <a:srgbClr val="F2F2F2"/>
          </a:solidFill>
          <a:ln/>
        </p:spPr>
      </p:sp>
      <p:sp>
        <p:nvSpPr>
          <p:cNvPr id="5" name="Shape 3"/>
          <p:cNvSpPr/>
          <p:nvPr/>
        </p:nvSpPr>
        <p:spPr>
          <a:xfrm>
            <a:off x="2578894" y="1955840"/>
            <a:ext cx="9472493" cy="381357"/>
          </a:xfrm>
          <a:prstGeom prst="roundRect">
            <a:avLst>
              <a:gd name="adj" fmla="val 5392"/>
            </a:avLst>
          </a:prstGeom>
          <a:solidFill>
            <a:srgbClr val="F2F2F2"/>
          </a:solidFill>
          <a:ln/>
        </p:spPr>
      </p:sp>
      <p:sp>
        <p:nvSpPr>
          <p:cNvPr id="6" name="Text 4"/>
          <p:cNvSpPr/>
          <p:nvPr/>
        </p:nvSpPr>
        <p:spPr>
          <a:xfrm>
            <a:off x="2715935" y="2058591"/>
            <a:ext cx="9198412"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-sV 192.168.1.1</a:t>
            </a:r>
            <a:endParaRPr lang="en-US" sz="1050" dirty="0"/>
          </a:p>
        </p:txBody>
      </p:sp>
      <p:sp>
        <p:nvSpPr>
          <p:cNvPr id="7" name="Text 5"/>
          <p:cNvSpPr/>
          <p:nvPr/>
        </p:nvSpPr>
        <p:spPr>
          <a:xfrm>
            <a:off x="2585680" y="2461379"/>
            <a:ext cx="2379226"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Aggressive version detection:</a:t>
            </a:r>
            <a:endParaRPr lang="en-US" sz="1300" dirty="0"/>
          </a:p>
        </p:txBody>
      </p:sp>
      <p:sp>
        <p:nvSpPr>
          <p:cNvPr id="8" name="Shape 6"/>
          <p:cNvSpPr/>
          <p:nvPr/>
        </p:nvSpPr>
        <p:spPr>
          <a:xfrm>
            <a:off x="2585680" y="2799636"/>
            <a:ext cx="9458920" cy="381357"/>
          </a:xfrm>
          <a:prstGeom prst="roundRect">
            <a:avLst>
              <a:gd name="adj" fmla="val 15098"/>
            </a:avLst>
          </a:prstGeom>
          <a:solidFill>
            <a:srgbClr val="F2F2F2"/>
          </a:solidFill>
          <a:ln/>
        </p:spPr>
      </p:sp>
      <p:sp>
        <p:nvSpPr>
          <p:cNvPr id="9" name="Shape 7"/>
          <p:cNvSpPr/>
          <p:nvPr/>
        </p:nvSpPr>
        <p:spPr>
          <a:xfrm>
            <a:off x="2578894" y="2799636"/>
            <a:ext cx="9472493" cy="381357"/>
          </a:xfrm>
          <a:prstGeom prst="roundRect">
            <a:avLst>
              <a:gd name="adj" fmla="val 5392"/>
            </a:avLst>
          </a:prstGeom>
          <a:solidFill>
            <a:srgbClr val="F2F2F2"/>
          </a:solidFill>
          <a:ln/>
        </p:spPr>
      </p:sp>
      <p:sp>
        <p:nvSpPr>
          <p:cNvPr id="10" name="Text 8"/>
          <p:cNvSpPr/>
          <p:nvPr/>
        </p:nvSpPr>
        <p:spPr>
          <a:xfrm>
            <a:off x="2715935" y="2902387"/>
            <a:ext cx="9198412"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-sV --version-intensity 5 192.168.1.1</a:t>
            </a:r>
            <a:endParaRPr lang="en-US" sz="1050" dirty="0"/>
          </a:p>
        </p:txBody>
      </p:sp>
      <p:sp>
        <p:nvSpPr>
          <p:cNvPr id="11" name="Text 9"/>
          <p:cNvSpPr/>
          <p:nvPr/>
        </p:nvSpPr>
        <p:spPr>
          <a:xfrm>
            <a:off x="2585680" y="3305175"/>
            <a:ext cx="2741652" cy="342662"/>
          </a:xfrm>
          <a:prstGeom prst="rect">
            <a:avLst/>
          </a:prstGeom>
          <a:noFill/>
          <a:ln/>
        </p:spPr>
        <p:txBody>
          <a:bodyPr wrap="none" lIns="0" tIns="0" rIns="0" bIns="0" rtlCol="0" anchor="t"/>
          <a:lstStyle/>
          <a:p>
            <a:pPr marL="0" indent="0" algn="l">
              <a:lnSpc>
                <a:spcPts val="2650"/>
              </a:lnSpc>
              <a:buNone/>
            </a:pPr>
            <a:r>
              <a:rPr lang="en-US" sz="2150" dirty="0">
                <a:solidFill>
                  <a:srgbClr val="505468"/>
                </a:solidFill>
                <a:latin typeface="Instrument Sans Semi Bold" pitchFamily="34" charset="0"/>
                <a:ea typeface="Instrument Sans Semi Bold" pitchFamily="34" charset="-122"/>
                <a:cs typeface="Instrument Sans Semi Bold" pitchFamily="34" charset="-120"/>
              </a:rPr>
              <a:t>OS Detection</a:t>
            </a:r>
            <a:endParaRPr lang="en-US" sz="2150" dirty="0"/>
          </a:p>
        </p:txBody>
      </p:sp>
      <p:sp>
        <p:nvSpPr>
          <p:cNvPr id="12" name="Shape 10"/>
          <p:cNvSpPr/>
          <p:nvPr/>
        </p:nvSpPr>
        <p:spPr>
          <a:xfrm>
            <a:off x="2585680" y="3772019"/>
            <a:ext cx="9458920" cy="381357"/>
          </a:xfrm>
          <a:prstGeom prst="roundRect">
            <a:avLst>
              <a:gd name="adj" fmla="val 15098"/>
            </a:avLst>
          </a:prstGeom>
          <a:solidFill>
            <a:srgbClr val="F2F2F2"/>
          </a:solidFill>
          <a:ln/>
        </p:spPr>
      </p:sp>
      <p:sp>
        <p:nvSpPr>
          <p:cNvPr id="13" name="Shape 11"/>
          <p:cNvSpPr/>
          <p:nvPr/>
        </p:nvSpPr>
        <p:spPr>
          <a:xfrm>
            <a:off x="2578894" y="3772019"/>
            <a:ext cx="9472493" cy="381357"/>
          </a:xfrm>
          <a:prstGeom prst="roundRect">
            <a:avLst>
              <a:gd name="adj" fmla="val 5392"/>
            </a:avLst>
          </a:prstGeom>
          <a:solidFill>
            <a:srgbClr val="F2F2F2"/>
          </a:solidFill>
          <a:ln/>
        </p:spPr>
      </p:sp>
      <p:sp>
        <p:nvSpPr>
          <p:cNvPr id="14" name="Text 12"/>
          <p:cNvSpPr/>
          <p:nvPr/>
        </p:nvSpPr>
        <p:spPr>
          <a:xfrm>
            <a:off x="2715935" y="3874770"/>
            <a:ext cx="9198412"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sudo nmap -O 192.168.1.1</a:t>
            </a:r>
            <a:endParaRPr lang="en-US" sz="1050" dirty="0"/>
          </a:p>
        </p:txBody>
      </p:sp>
      <p:sp>
        <p:nvSpPr>
          <p:cNvPr id="15" name="Text 13"/>
          <p:cNvSpPr/>
          <p:nvPr/>
        </p:nvSpPr>
        <p:spPr>
          <a:xfrm>
            <a:off x="2585680" y="4277558"/>
            <a:ext cx="2035135"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Aggressive OS detection:</a:t>
            </a:r>
            <a:endParaRPr lang="en-US" sz="1300" dirty="0"/>
          </a:p>
        </p:txBody>
      </p:sp>
      <p:sp>
        <p:nvSpPr>
          <p:cNvPr id="16" name="Shape 14"/>
          <p:cNvSpPr/>
          <p:nvPr/>
        </p:nvSpPr>
        <p:spPr>
          <a:xfrm>
            <a:off x="2585680" y="4615815"/>
            <a:ext cx="9458920" cy="381357"/>
          </a:xfrm>
          <a:prstGeom prst="roundRect">
            <a:avLst>
              <a:gd name="adj" fmla="val 15098"/>
            </a:avLst>
          </a:prstGeom>
          <a:solidFill>
            <a:srgbClr val="F2F2F2"/>
          </a:solidFill>
          <a:ln/>
        </p:spPr>
      </p:sp>
      <p:sp>
        <p:nvSpPr>
          <p:cNvPr id="17" name="Shape 15"/>
          <p:cNvSpPr/>
          <p:nvPr/>
        </p:nvSpPr>
        <p:spPr>
          <a:xfrm>
            <a:off x="2578894" y="4615815"/>
            <a:ext cx="9472493" cy="381357"/>
          </a:xfrm>
          <a:prstGeom prst="roundRect">
            <a:avLst>
              <a:gd name="adj" fmla="val 5392"/>
            </a:avLst>
          </a:prstGeom>
          <a:solidFill>
            <a:srgbClr val="F2F2F2"/>
          </a:solidFill>
          <a:ln/>
        </p:spPr>
      </p:sp>
      <p:sp>
        <p:nvSpPr>
          <p:cNvPr id="18" name="Text 16"/>
          <p:cNvSpPr/>
          <p:nvPr/>
        </p:nvSpPr>
        <p:spPr>
          <a:xfrm>
            <a:off x="2715935" y="4718566"/>
            <a:ext cx="9198412"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sudo nmap -O --osscan-guess 192.168.1.1</a:t>
            </a:r>
            <a:endParaRPr lang="en-US" sz="1050" dirty="0"/>
          </a:p>
        </p:txBody>
      </p:sp>
      <p:sp>
        <p:nvSpPr>
          <p:cNvPr id="19" name="Text 17"/>
          <p:cNvSpPr/>
          <p:nvPr/>
        </p:nvSpPr>
        <p:spPr>
          <a:xfrm>
            <a:off x="2585680" y="5121354"/>
            <a:ext cx="3805952" cy="342662"/>
          </a:xfrm>
          <a:prstGeom prst="rect">
            <a:avLst/>
          </a:prstGeom>
          <a:noFill/>
          <a:ln/>
        </p:spPr>
        <p:txBody>
          <a:bodyPr wrap="none" lIns="0" tIns="0" rIns="0" bIns="0" rtlCol="0" anchor="t"/>
          <a:lstStyle/>
          <a:p>
            <a:pPr marL="0" indent="0" algn="l">
              <a:lnSpc>
                <a:spcPts val="2650"/>
              </a:lnSpc>
              <a:buNone/>
            </a:pPr>
            <a:r>
              <a:rPr lang="en-US" sz="2150" dirty="0">
                <a:solidFill>
                  <a:srgbClr val="505468"/>
                </a:solidFill>
                <a:latin typeface="Instrument Sans Semi Bold" pitchFamily="34" charset="0"/>
                <a:ea typeface="Instrument Sans Semi Bold" pitchFamily="34" charset="-122"/>
                <a:cs typeface="Instrument Sans Semi Bold" pitchFamily="34" charset="-120"/>
              </a:rPr>
              <a:t>Nmap Scripting Engine (NSE)</a:t>
            </a:r>
            <a:endParaRPr lang="en-US" sz="2150" dirty="0"/>
          </a:p>
        </p:txBody>
      </p:sp>
      <p:sp>
        <p:nvSpPr>
          <p:cNvPr id="20" name="Text 18"/>
          <p:cNvSpPr/>
          <p:nvPr/>
        </p:nvSpPr>
        <p:spPr>
          <a:xfrm>
            <a:off x="2585680" y="5588198"/>
            <a:ext cx="9458920"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NSE can detect known vulnerabilities, identify risky configurations, and flag outdated software.</a:t>
            </a:r>
            <a:endParaRPr lang="en-US" sz="1050" dirty="0"/>
          </a:p>
        </p:txBody>
      </p:sp>
      <p:sp>
        <p:nvSpPr>
          <p:cNvPr id="21" name="Text 19"/>
          <p:cNvSpPr/>
          <p:nvPr/>
        </p:nvSpPr>
        <p:spPr>
          <a:xfrm>
            <a:off x="2585680" y="5939909"/>
            <a:ext cx="1713548"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Default scripts:</a:t>
            </a:r>
            <a:endParaRPr lang="en-US" sz="1300" dirty="0"/>
          </a:p>
        </p:txBody>
      </p:sp>
      <p:sp>
        <p:nvSpPr>
          <p:cNvPr id="22" name="Shape 20"/>
          <p:cNvSpPr/>
          <p:nvPr/>
        </p:nvSpPr>
        <p:spPr>
          <a:xfrm>
            <a:off x="2585680" y="6247090"/>
            <a:ext cx="2897386" cy="381357"/>
          </a:xfrm>
          <a:prstGeom prst="roundRect">
            <a:avLst>
              <a:gd name="adj" fmla="val 15098"/>
            </a:avLst>
          </a:prstGeom>
          <a:solidFill>
            <a:srgbClr val="F2F2F2"/>
          </a:solidFill>
          <a:ln/>
        </p:spPr>
      </p:sp>
      <p:sp>
        <p:nvSpPr>
          <p:cNvPr id="23" name="Shape 21"/>
          <p:cNvSpPr/>
          <p:nvPr/>
        </p:nvSpPr>
        <p:spPr>
          <a:xfrm>
            <a:off x="2578894" y="6247090"/>
            <a:ext cx="2910959" cy="381357"/>
          </a:xfrm>
          <a:prstGeom prst="roundRect">
            <a:avLst>
              <a:gd name="adj" fmla="val 5392"/>
            </a:avLst>
          </a:prstGeom>
          <a:solidFill>
            <a:srgbClr val="F2F2F2"/>
          </a:solidFill>
          <a:ln/>
        </p:spPr>
      </p:sp>
      <p:sp>
        <p:nvSpPr>
          <p:cNvPr id="24" name="Text 22"/>
          <p:cNvSpPr/>
          <p:nvPr/>
        </p:nvSpPr>
        <p:spPr>
          <a:xfrm>
            <a:off x="2715935" y="6349841"/>
            <a:ext cx="2636877" cy="175855"/>
          </a:xfrm>
          <a:prstGeom prst="rect">
            <a:avLst/>
          </a:prstGeom>
          <a:noFill/>
          <a:ln/>
        </p:spPr>
        <p:txBody>
          <a:bodyPr wrap="non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 192.168.1.1</a:t>
            </a:r>
            <a:endParaRPr lang="en-US" sz="1050" dirty="0"/>
          </a:p>
        </p:txBody>
      </p:sp>
      <p:sp>
        <p:nvSpPr>
          <p:cNvPr id="25" name="Text 23"/>
          <p:cNvSpPr/>
          <p:nvPr/>
        </p:nvSpPr>
        <p:spPr>
          <a:xfrm>
            <a:off x="5825014" y="5939909"/>
            <a:ext cx="1950125"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Specific script category:</a:t>
            </a:r>
            <a:endParaRPr lang="en-US" sz="1300" dirty="0"/>
          </a:p>
        </p:txBody>
      </p:sp>
      <p:sp>
        <p:nvSpPr>
          <p:cNvPr id="26" name="Shape 24"/>
          <p:cNvSpPr/>
          <p:nvPr/>
        </p:nvSpPr>
        <p:spPr>
          <a:xfrm>
            <a:off x="5825014" y="6247090"/>
            <a:ext cx="2897386" cy="733068"/>
          </a:xfrm>
          <a:prstGeom prst="roundRect">
            <a:avLst>
              <a:gd name="adj" fmla="val 7854"/>
            </a:avLst>
          </a:prstGeom>
          <a:solidFill>
            <a:srgbClr val="F2F2F2"/>
          </a:solidFill>
          <a:ln/>
        </p:spPr>
      </p:sp>
      <p:sp>
        <p:nvSpPr>
          <p:cNvPr id="27" name="Shape 25"/>
          <p:cNvSpPr/>
          <p:nvPr/>
        </p:nvSpPr>
        <p:spPr>
          <a:xfrm>
            <a:off x="5818227" y="6247090"/>
            <a:ext cx="2910959" cy="733068"/>
          </a:xfrm>
          <a:prstGeom prst="roundRect">
            <a:avLst>
              <a:gd name="adj" fmla="val 2805"/>
            </a:avLst>
          </a:prstGeom>
          <a:solidFill>
            <a:srgbClr val="F2F2F2"/>
          </a:solidFill>
          <a:ln/>
        </p:spPr>
      </p:sp>
      <p:sp>
        <p:nvSpPr>
          <p:cNvPr id="28" name="Text 26"/>
          <p:cNvSpPr/>
          <p:nvPr/>
        </p:nvSpPr>
        <p:spPr>
          <a:xfrm>
            <a:off x="5955268" y="6349841"/>
            <a:ext cx="2636877" cy="527566"/>
          </a:xfrm>
          <a:prstGeom prst="rect">
            <a:avLst/>
          </a:prstGeom>
          <a:noFill/>
          <a:ln/>
        </p:spPr>
        <p:txBody>
          <a:bodyPr wrap="squar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--script vuln 192.168.1.1</a:t>
            </a:r>
            <a:endParaRPr lang="en-US" sz="1050" dirty="0"/>
          </a:p>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--script auth 192.168.1.1</a:t>
            </a:r>
            <a:endParaRPr lang="en-US" sz="1050" dirty="0"/>
          </a:p>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--script discovery 192.168.1.1</a:t>
            </a:r>
            <a:endParaRPr lang="en-US" sz="1050" dirty="0"/>
          </a:p>
        </p:txBody>
      </p:sp>
      <p:sp>
        <p:nvSpPr>
          <p:cNvPr id="29" name="Text 27"/>
          <p:cNvSpPr/>
          <p:nvPr/>
        </p:nvSpPr>
        <p:spPr>
          <a:xfrm>
            <a:off x="9064347" y="5939909"/>
            <a:ext cx="1713548" cy="214074"/>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Specific script:</a:t>
            </a:r>
            <a:endParaRPr lang="en-US" sz="1300" dirty="0"/>
          </a:p>
        </p:txBody>
      </p:sp>
      <p:sp>
        <p:nvSpPr>
          <p:cNvPr id="30" name="Shape 28"/>
          <p:cNvSpPr/>
          <p:nvPr/>
        </p:nvSpPr>
        <p:spPr>
          <a:xfrm>
            <a:off x="9064347" y="6247090"/>
            <a:ext cx="2995374" cy="557213"/>
          </a:xfrm>
          <a:prstGeom prst="roundRect">
            <a:avLst>
              <a:gd name="adj" fmla="val 10333"/>
            </a:avLst>
          </a:prstGeom>
          <a:solidFill>
            <a:srgbClr val="F2F2F2"/>
          </a:solidFill>
          <a:ln/>
        </p:spPr>
      </p:sp>
      <p:sp>
        <p:nvSpPr>
          <p:cNvPr id="31" name="Shape 29"/>
          <p:cNvSpPr/>
          <p:nvPr/>
        </p:nvSpPr>
        <p:spPr>
          <a:xfrm>
            <a:off x="9057561" y="6247090"/>
            <a:ext cx="3008948" cy="557213"/>
          </a:xfrm>
          <a:prstGeom prst="roundRect">
            <a:avLst>
              <a:gd name="adj" fmla="val 3690"/>
            </a:avLst>
          </a:prstGeom>
          <a:solidFill>
            <a:srgbClr val="F2F2F2"/>
          </a:solidFill>
          <a:ln/>
        </p:spPr>
      </p:sp>
      <p:sp>
        <p:nvSpPr>
          <p:cNvPr id="32" name="Text 30"/>
          <p:cNvSpPr/>
          <p:nvPr/>
        </p:nvSpPr>
        <p:spPr>
          <a:xfrm>
            <a:off x="9194602" y="6349841"/>
            <a:ext cx="2734866" cy="351711"/>
          </a:xfrm>
          <a:prstGeom prst="rect">
            <a:avLst/>
          </a:prstGeom>
          <a:noFill/>
          <a:ln/>
        </p:spPr>
        <p:txBody>
          <a:bodyPr wrap="square" lIns="0" tIns="0" rIns="0" bIns="0" rtlCol="0" anchor="t"/>
          <a:lstStyle/>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--script http-title 192.168.1.1</a:t>
            </a:r>
            <a:endParaRPr lang="en-US" sz="1050" dirty="0"/>
          </a:p>
          <a:p>
            <a:pPr marL="0" indent="0" algn="l">
              <a:lnSpc>
                <a:spcPts val="1350"/>
              </a:lnSpc>
              <a:buNone/>
            </a:pPr>
            <a:r>
              <a:rPr lang="en-US" sz="1050" dirty="0">
                <a:solidFill>
                  <a:srgbClr val="5B5F71"/>
                </a:solidFill>
                <a:highlight>
                  <a:srgbClr val="F2F2F2"/>
                </a:highlight>
                <a:latin typeface="Consolas Medium" pitchFamily="34" charset="0"/>
                <a:ea typeface="Consolas Medium" pitchFamily="34" charset="-122"/>
                <a:cs typeface="Consolas Medium" pitchFamily="34" charset="-120"/>
              </a:rPr>
              <a:t>nmap --script ssl-cert 192.168.1.1</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02449" y="555784"/>
            <a:ext cx="3022163" cy="354330"/>
          </a:xfrm>
          <a:prstGeom prst="rect">
            <a:avLst/>
          </a:prstGeom>
          <a:noFill/>
          <a:ln/>
        </p:spPr>
        <p:txBody>
          <a:bodyPr wrap="none" lIns="0" tIns="0" rIns="0" bIns="0" rtlCol="0" anchor="t"/>
          <a:lstStyle/>
          <a:p>
            <a:pPr marL="0" indent="0" algn="l">
              <a:lnSpc>
                <a:spcPts val="2750"/>
              </a:lnSpc>
              <a:buNone/>
            </a:pPr>
            <a:r>
              <a:rPr lang="en-US" sz="2200" dirty="0">
                <a:solidFill>
                  <a:srgbClr val="505468"/>
                </a:solidFill>
                <a:latin typeface="Instrument Sans Semi Bold" pitchFamily="34" charset="0"/>
                <a:ea typeface="Instrument Sans Semi Bold" pitchFamily="34" charset="-122"/>
                <a:cs typeface="Instrument Sans Semi Bold" pitchFamily="34" charset="-120"/>
              </a:rPr>
              <a:t>Timing &amp; Performance</a:t>
            </a:r>
            <a:endParaRPr lang="en-US" sz="2200" dirty="0"/>
          </a:p>
        </p:txBody>
      </p:sp>
      <p:sp>
        <p:nvSpPr>
          <p:cNvPr id="3" name="Text 1"/>
          <p:cNvSpPr/>
          <p:nvPr/>
        </p:nvSpPr>
        <p:spPr>
          <a:xfrm>
            <a:off x="3402449" y="932736"/>
            <a:ext cx="1981676"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Timing templates (-T0 to -T5):</a:t>
            </a:r>
            <a:endParaRPr lang="en-US" sz="1100" dirty="0"/>
          </a:p>
        </p:txBody>
      </p:sp>
      <p:sp>
        <p:nvSpPr>
          <p:cNvPr id="4" name="Shape 2"/>
          <p:cNvSpPr/>
          <p:nvPr/>
        </p:nvSpPr>
        <p:spPr>
          <a:xfrm>
            <a:off x="3402449" y="1194911"/>
            <a:ext cx="7825502" cy="986552"/>
          </a:xfrm>
          <a:prstGeom prst="roundRect">
            <a:avLst>
              <a:gd name="adj" fmla="val 4828"/>
            </a:avLst>
          </a:prstGeom>
          <a:solidFill>
            <a:srgbClr val="F2F2F2"/>
          </a:solidFill>
          <a:ln/>
        </p:spPr>
      </p:sp>
      <p:sp>
        <p:nvSpPr>
          <p:cNvPr id="5" name="Shape 3"/>
          <p:cNvSpPr/>
          <p:nvPr/>
        </p:nvSpPr>
        <p:spPr>
          <a:xfrm>
            <a:off x="3396853" y="1194911"/>
            <a:ext cx="7836694" cy="986552"/>
          </a:xfrm>
          <a:prstGeom prst="roundRect">
            <a:avLst>
              <a:gd name="adj" fmla="val 1724"/>
            </a:avLst>
          </a:prstGeom>
          <a:solidFill>
            <a:srgbClr val="F2F2F2"/>
          </a:solidFill>
          <a:ln/>
        </p:spPr>
      </p:sp>
      <p:sp>
        <p:nvSpPr>
          <p:cNvPr id="6" name="Text 4"/>
          <p:cNvSpPr/>
          <p:nvPr/>
        </p:nvSpPr>
        <p:spPr>
          <a:xfrm>
            <a:off x="3510201" y="1279922"/>
            <a:ext cx="7609999" cy="816531"/>
          </a:xfrm>
          <a:prstGeom prst="rect">
            <a:avLst/>
          </a:prstGeom>
          <a:noFill/>
          <a:ln/>
        </p:spPr>
        <p:txBody>
          <a:bodyPr wrap="squar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-T0 192.168.1.1 # Paranoid (slowest, IDS evasion)</a:t>
            </a:r>
            <a:endParaRPr lang="en-US" sz="850" dirty="0"/>
          </a:p>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-T1 192.168.1.1 # Sneaky</a:t>
            </a:r>
            <a:endParaRPr lang="en-US" sz="850" dirty="0"/>
          </a:p>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-T2 192.168.1.1 # Polite</a:t>
            </a:r>
            <a:endParaRPr lang="en-US" sz="850" dirty="0"/>
          </a:p>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-T3 192.168.1.1 # Normal (default)</a:t>
            </a:r>
            <a:endParaRPr lang="en-US" sz="850" dirty="0"/>
          </a:p>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-T4 192.168.1.1 # Aggressive (faster)</a:t>
            </a:r>
            <a:endParaRPr lang="en-US" sz="850" dirty="0"/>
          </a:p>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-T5 192.168.1.1 # Insane (fastest)</a:t>
            </a:r>
            <a:endParaRPr lang="en-US" sz="850" dirty="0"/>
          </a:p>
        </p:txBody>
      </p:sp>
      <p:sp>
        <p:nvSpPr>
          <p:cNvPr id="7" name="Text 5"/>
          <p:cNvSpPr/>
          <p:nvPr/>
        </p:nvSpPr>
        <p:spPr>
          <a:xfrm>
            <a:off x="3402449" y="2266474"/>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505468"/>
                </a:solidFill>
                <a:latin typeface="Instrument Sans Semi Bold" pitchFamily="34" charset="0"/>
                <a:ea typeface="Instrument Sans Semi Bold" pitchFamily="34" charset="-122"/>
                <a:cs typeface="Instrument Sans Semi Bold" pitchFamily="34" charset="-120"/>
              </a:rPr>
              <a:t>Firewall/IDS Evasion</a:t>
            </a:r>
            <a:endParaRPr lang="en-US" sz="1750" dirty="0"/>
          </a:p>
        </p:txBody>
      </p:sp>
      <p:sp>
        <p:nvSpPr>
          <p:cNvPr id="8" name="Text 6"/>
          <p:cNvSpPr/>
          <p:nvPr/>
        </p:nvSpPr>
        <p:spPr>
          <a:xfrm>
            <a:off x="3402449" y="2691646"/>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Fragment packets:</a:t>
            </a:r>
            <a:endParaRPr lang="en-US" sz="1100" dirty="0"/>
          </a:p>
        </p:txBody>
      </p:sp>
      <p:sp>
        <p:nvSpPr>
          <p:cNvPr id="9" name="Shape 7"/>
          <p:cNvSpPr/>
          <p:nvPr/>
        </p:nvSpPr>
        <p:spPr>
          <a:xfrm>
            <a:off x="3402449" y="2932509"/>
            <a:ext cx="3774400" cy="306110"/>
          </a:xfrm>
          <a:prstGeom prst="roundRect">
            <a:avLst>
              <a:gd name="adj" fmla="val 15561"/>
            </a:avLst>
          </a:prstGeom>
          <a:solidFill>
            <a:srgbClr val="F2F2F2"/>
          </a:solidFill>
          <a:ln/>
        </p:spPr>
      </p:sp>
      <p:sp>
        <p:nvSpPr>
          <p:cNvPr id="10" name="Shape 8"/>
          <p:cNvSpPr/>
          <p:nvPr/>
        </p:nvSpPr>
        <p:spPr>
          <a:xfrm>
            <a:off x="3396853" y="2932509"/>
            <a:ext cx="3785592" cy="306110"/>
          </a:xfrm>
          <a:prstGeom prst="roundRect">
            <a:avLst>
              <a:gd name="adj" fmla="val 5558"/>
            </a:avLst>
          </a:prstGeom>
          <a:solidFill>
            <a:srgbClr val="F2F2F2"/>
          </a:solidFill>
          <a:ln/>
        </p:spPr>
      </p:sp>
      <p:sp>
        <p:nvSpPr>
          <p:cNvPr id="11" name="Text 9"/>
          <p:cNvSpPr/>
          <p:nvPr/>
        </p:nvSpPr>
        <p:spPr>
          <a:xfrm>
            <a:off x="3510201" y="3017520"/>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-f 192.168.1.1</a:t>
            </a:r>
            <a:endParaRPr lang="en-US" sz="850" dirty="0"/>
          </a:p>
        </p:txBody>
      </p:sp>
      <p:sp>
        <p:nvSpPr>
          <p:cNvPr id="12" name="Text 10"/>
          <p:cNvSpPr/>
          <p:nvPr/>
        </p:nvSpPr>
        <p:spPr>
          <a:xfrm>
            <a:off x="3402449" y="330231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Decoy scanning:</a:t>
            </a:r>
            <a:endParaRPr lang="en-US" sz="1100" dirty="0"/>
          </a:p>
        </p:txBody>
      </p:sp>
      <p:sp>
        <p:nvSpPr>
          <p:cNvPr id="13" name="Shape 11"/>
          <p:cNvSpPr/>
          <p:nvPr/>
        </p:nvSpPr>
        <p:spPr>
          <a:xfrm>
            <a:off x="3402449" y="3543181"/>
            <a:ext cx="3774400" cy="306110"/>
          </a:xfrm>
          <a:prstGeom prst="roundRect">
            <a:avLst>
              <a:gd name="adj" fmla="val 15561"/>
            </a:avLst>
          </a:prstGeom>
          <a:solidFill>
            <a:srgbClr val="F2F2F2"/>
          </a:solidFill>
          <a:ln/>
        </p:spPr>
      </p:sp>
      <p:sp>
        <p:nvSpPr>
          <p:cNvPr id="14" name="Shape 12"/>
          <p:cNvSpPr/>
          <p:nvPr/>
        </p:nvSpPr>
        <p:spPr>
          <a:xfrm>
            <a:off x="3396853" y="3543181"/>
            <a:ext cx="3785592" cy="306110"/>
          </a:xfrm>
          <a:prstGeom prst="roundRect">
            <a:avLst>
              <a:gd name="adj" fmla="val 5558"/>
            </a:avLst>
          </a:prstGeom>
          <a:solidFill>
            <a:srgbClr val="F2F2F2"/>
          </a:solidFill>
          <a:ln/>
        </p:spPr>
      </p:sp>
      <p:sp>
        <p:nvSpPr>
          <p:cNvPr id="15" name="Text 13"/>
          <p:cNvSpPr/>
          <p:nvPr/>
        </p:nvSpPr>
        <p:spPr>
          <a:xfrm>
            <a:off x="3510201" y="3628192"/>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-D RND:10 192.168.1.1</a:t>
            </a:r>
            <a:endParaRPr lang="en-US" sz="850" dirty="0"/>
          </a:p>
        </p:txBody>
      </p:sp>
      <p:sp>
        <p:nvSpPr>
          <p:cNvPr id="16" name="Text 14"/>
          <p:cNvSpPr/>
          <p:nvPr/>
        </p:nvSpPr>
        <p:spPr>
          <a:xfrm>
            <a:off x="3402449" y="3912989"/>
            <a:ext cx="147982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Idle/Zombie scan (-sI):</a:t>
            </a:r>
            <a:endParaRPr lang="en-US" sz="1100" dirty="0"/>
          </a:p>
        </p:txBody>
      </p:sp>
      <p:sp>
        <p:nvSpPr>
          <p:cNvPr id="17" name="Shape 15"/>
          <p:cNvSpPr/>
          <p:nvPr/>
        </p:nvSpPr>
        <p:spPr>
          <a:xfrm>
            <a:off x="3402449" y="4153853"/>
            <a:ext cx="3774400" cy="306110"/>
          </a:xfrm>
          <a:prstGeom prst="roundRect">
            <a:avLst>
              <a:gd name="adj" fmla="val 15561"/>
            </a:avLst>
          </a:prstGeom>
          <a:solidFill>
            <a:srgbClr val="F2F2F2"/>
          </a:solidFill>
          <a:ln/>
        </p:spPr>
      </p:sp>
      <p:sp>
        <p:nvSpPr>
          <p:cNvPr id="18" name="Shape 16"/>
          <p:cNvSpPr/>
          <p:nvPr/>
        </p:nvSpPr>
        <p:spPr>
          <a:xfrm>
            <a:off x="3396853" y="4153853"/>
            <a:ext cx="3785592" cy="306110"/>
          </a:xfrm>
          <a:prstGeom prst="roundRect">
            <a:avLst>
              <a:gd name="adj" fmla="val 5558"/>
            </a:avLst>
          </a:prstGeom>
          <a:solidFill>
            <a:srgbClr val="F2F2F2"/>
          </a:solidFill>
          <a:ln/>
        </p:spPr>
      </p:sp>
      <p:sp>
        <p:nvSpPr>
          <p:cNvPr id="19" name="Text 17"/>
          <p:cNvSpPr/>
          <p:nvPr/>
        </p:nvSpPr>
        <p:spPr>
          <a:xfrm>
            <a:off x="3510201" y="4238863"/>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-sI zombie_host target_host</a:t>
            </a:r>
            <a:endParaRPr lang="en-US" sz="850" dirty="0"/>
          </a:p>
        </p:txBody>
      </p:sp>
      <p:sp>
        <p:nvSpPr>
          <p:cNvPr id="20" name="Text 18"/>
          <p:cNvSpPr/>
          <p:nvPr/>
        </p:nvSpPr>
        <p:spPr>
          <a:xfrm>
            <a:off x="3402449" y="4523661"/>
            <a:ext cx="3774400" cy="408265"/>
          </a:xfrm>
          <a:prstGeom prst="rect">
            <a:avLst/>
          </a:prstGeom>
          <a:noFill/>
          <a:ln/>
        </p:spPr>
        <p:txBody>
          <a:bodyPr wrap="square" lIns="0" tIns="0" rIns="0" bIns="0" rtlCol="0" anchor="t"/>
          <a:lstStyle/>
          <a:p>
            <a:pPr marL="0" indent="0" algn="l">
              <a:lnSpc>
                <a:spcPts val="1050"/>
              </a:lnSpc>
              <a:buNone/>
            </a:pPr>
            <a:r>
              <a:rPr lang="en-US" sz="850" dirty="0">
                <a:solidFill>
                  <a:srgbClr val="5B5F71"/>
                </a:solidFill>
                <a:latin typeface="Instrument Sans Medium" pitchFamily="34" charset="0"/>
                <a:ea typeface="Instrument Sans Medium" pitchFamily="34" charset="-122"/>
                <a:cs typeface="Instrument Sans Medium" pitchFamily="34" charset="-120"/>
              </a:rPr>
              <a:t>This allows completely blind portscanning with no packets sent to the target from your real IP, and can even bypass packet filters in certain circumstances.</a:t>
            </a:r>
            <a:endParaRPr lang="en-US" sz="850" dirty="0"/>
          </a:p>
        </p:txBody>
      </p:sp>
      <p:sp>
        <p:nvSpPr>
          <p:cNvPr id="21" name="Text 19"/>
          <p:cNvSpPr/>
          <p:nvPr/>
        </p:nvSpPr>
        <p:spPr>
          <a:xfrm>
            <a:off x="7461171" y="2691646"/>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Spoof source IP:</a:t>
            </a:r>
            <a:endParaRPr lang="en-US" sz="1100" dirty="0"/>
          </a:p>
        </p:txBody>
      </p:sp>
      <p:sp>
        <p:nvSpPr>
          <p:cNvPr id="22" name="Shape 20"/>
          <p:cNvSpPr/>
          <p:nvPr/>
        </p:nvSpPr>
        <p:spPr>
          <a:xfrm>
            <a:off x="7461171" y="2932509"/>
            <a:ext cx="3774400" cy="306110"/>
          </a:xfrm>
          <a:prstGeom prst="roundRect">
            <a:avLst>
              <a:gd name="adj" fmla="val 15561"/>
            </a:avLst>
          </a:prstGeom>
          <a:solidFill>
            <a:srgbClr val="F2F2F2"/>
          </a:solidFill>
          <a:ln/>
        </p:spPr>
      </p:sp>
      <p:sp>
        <p:nvSpPr>
          <p:cNvPr id="23" name="Shape 21"/>
          <p:cNvSpPr/>
          <p:nvPr/>
        </p:nvSpPr>
        <p:spPr>
          <a:xfrm>
            <a:off x="7455575" y="2932509"/>
            <a:ext cx="3785592" cy="306110"/>
          </a:xfrm>
          <a:prstGeom prst="roundRect">
            <a:avLst>
              <a:gd name="adj" fmla="val 5558"/>
            </a:avLst>
          </a:prstGeom>
          <a:solidFill>
            <a:srgbClr val="F2F2F2"/>
          </a:solidFill>
          <a:ln/>
        </p:spPr>
      </p:sp>
      <p:sp>
        <p:nvSpPr>
          <p:cNvPr id="24" name="Text 22"/>
          <p:cNvSpPr/>
          <p:nvPr/>
        </p:nvSpPr>
        <p:spPr>
          <a:xfrm>
            <a:off x="7568922" y="3017520"/>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-S spoofed_ip target</a:t>
            </a:r>
            <a:endParaRPr lang="en-US" sz="850" dirty="0"/>
          </a:p>
        </p:txBody>
      </p:sp>
      <p:sp>
        <p:nvSpPr>
          <p:cNvPr id="25" name="Text 23"/>
          <p:cNvSpPr/>
          <p:nvPr/>
        </p:nvSpPr>
        <p:spPr>
          <a:xfrm>
            <a:off x="3402449" y="5067895"/>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505468"/>
                </a:solidFill>
                <a:latin typeface="Instrument Sans Semi Bold" pitchFamily="34" charset="0"/>
                <a:ea typeface="Instrument Sans Semi Bold" pitchFamily="34" charset="-122"/>
                <a:cs typeface="Instrument Sans Semi Bold" pitchFamily="34" charset="-120"/>
              </a:rPr>
              <a:t>Output Options</a:t>
            </a:r>
            <a:endParaRPr lang="en-US" sz="1750" dirty="0"/>
          </a:p>
        </p:txBody>
      </p:sp>
      <p:sp>
        <p:nvSpPr>
          <p:cNvPr id="26" name="Text 24"/>
          <p:cNvSpPr/>
          <p:nvPr/>
        </p:nvSpPr>
        <p:spPr>
          <a:xfrm>
            <a:off x="3402449" y="549306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Normal output:</a:t>
            </a:r>
            <a:endParaRPr lang="en-US" sz="1100" dirty="0"/>
          </a:p>
        </p:txBody>
      </p:sp>
      <p:sp>
        <p:nvSpPr>
          <p:cNvPr id="27" name="Shape 25"/>
          <p:cNvSpPr/>
          <p:nvPr/>
        </p:nvSpPr>
        <p:spPr>
          <a:xfrm>
            <a:off x="3402449" y="5733931"/>
            <a:ext cx="3774400" cy="306110"/>
          </a:xfrm>
          <a:prstGeom prst="roundRect">
            <a:avLst>
              <a:gd name="adj" fmla="val 15561"/>
            </a:avLst>
          </a:prstGeom>
          <a:solidFill>
            <a:srgbClr val="F2F2F2"/>
          </a:solidFill>
          <a:ln/>
        </p:spPr>
      </p:sp>
      <p:sp>
        <p:nvSpPr>
          <p:cNvPr id="28" name="Shape 26"/>
          <p:cNvSpPr/>
          <p:nvPr/>
        </p:nvSpPr>
        <p:spPr>
          <a:xfrm>
            <a:off x="3396853" y="5733931"/>
            <a:ext cx="3785592" cy="306110"/>
          </a:xfrm>
          <a:prstGeom prst="roundRect">
            <a:avLst>
              <a:gd name="adj" fmla="val 5558"/>
            </a:avLst>
          </a:prstGeom>
          <a:solidFill>
            <a:srgbClr val="F2F2F2"/>
          </a:solidFill>
          <a:ln/>
        </p:spPr>
      </p:sp>
      <p:sp>
        <p:nvSpPr>
          <p:cNvPr id="29" name="Text 27"/>
          <p:cNvSpPr/>
          <p:nvPr/>
        </p:nvSpPr>
        <p:spPr>
          <a:xfrm>
            <a:off x="3510201" y="5818942"/>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-oN output.txt 192.168.1.1</a:t>
            </a:r>
            <a:endParaRPr lang="en-US" sz="850" dirty="0"/>
          </a:p>
        </p:txBody>
      </p:sp>
      <p:sp>
        <p:nvSpPr>
          <p:cNvPr id="30" name="Text 28"/>
          <p:cNvSpPr/>
          <p:nvPr/>
        </p:nvSpPr>
        <p:spPr>
          <a:xfrm>
            <a:off x="3402449" y="610373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XML output:</a:t>
            </a:r>
            <a:endParaRPr lang="en-US" sz="1100" dirty="0"/>
          </a:p>
        </p:txBody>
      </p:sp>
      <p:sp>
        <p:nvSpPr>
          <p:cNvPr id="31" name="Shape 29"/>
          <p:cNvSpPr/>
          <p:nvPr/>
        </p:nvSpPr>
        <p:spPr>
          <a:xfrm>
            <a:off x="3402449" y="6344603"/>
            <a:ext cx="3774400" cy="306110"/>
          </a:xfrm>
          <a:prstGeom prst="roundRect">
            <a:avLst>
              <a:gd name="adj" fmla="val 15561"/>
            </a:avLst>
          </a:prstGeom>
          <a:solidFill>
            <a:srgbClr val="F2F2F2"/>
          </a:solidFill>
          <a:ln/>
        </p:spPr>
      </p:sp>
      <p:sp>
        <p:nvSpPr>
          <p:cNvPr id="32" name="Shape 30"/>
          <p:cNvSpPr/>
          <p:nvPr/>
        </p:nvSpPr>
        <p:spPr>
          <a:xfrm>
            <a:off x="3396853" y="6344603"/>
            <a:ext cx="3785592" cy="306110"/>
          </a:xfrm>
          <a:prstGeom prst="roundRect">
            <a:avLst>
              <a:gd name="adj" fmla="val 5558"/>
            </a:avLst>
          </a:prstGeom>
          <a:solidFill>
            <a:srgbClr val="F2F2F2"/>
          </a:solidFill>
          <a:ln/>
        </p:spPr>
      </p:sp>
      <p:sp>
        <p:nvSpPr>
          <p:cNvPr id="33" name="Text 31"/>
          <p:cNvSpPr/>
          <p:nvPr/>
        </p:nvSpPr>
        <p:spPr>
          <a:xfrm>
            <a:off x="3510201" y="6429613"/>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-oX output.xml 192.168.1.1</a:t>
            </a:r>
            <a:endParaRPr lang="en-US" sz="850" dirty="0"/>
          </a:p>
        </p:txBody>
      </p:sp>
      <p:sp>
        <p:nvSpPr>
          <p:cNvPr id="34" name="Text 32"/>
          <p:cNvSpPr/>
          <p:nvPr/>
        </p:nvSpPr>
        <p:spPr>
          <a:xfrm>
            <a:off x="7461171" y="5493068"/>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Grepable output:</a:t>
            </a:r>
            <a:endParaRPr lang="en-US" sz="1100" dirty="0"/>
          </a:p>
        </p:txBody>
      </p:sp>
      <p:sp>
        <p:nvSpPr>
          <p:cNvPr id="35" name="Shape 33"/>
          <p:cNvSpPr/>
          <p:nvPr/>
        </p:nvSpPr>
        <p:spPr>
          <a:xfrm>
            <a:off x="7461171" y="5733931"/>
            <a:ext cx="3774400" cy="306110"/>
          </a:xfrm>
          <a:prstGeom prst="roundRect">
            <a:avLst>
              <a:gd name="adj" fmla="val 15561"/>
            </a:avLst>
          </a:prstGeom>
          <a:solidFill>
            <a:srgbClr val="F2F2F2"/>
          </a:solidFill>
          <a:ln/>
        </p:spPr>
      </p:sp>
      <p:sp>
        <p:nvSpPr>
          <p:cNvPr id="36" name="Shape 34"/>
          <p:cNvSpPr/>
          <p:nvPr/>
        </p:nvSpPr>
        <p:spPr>
          <a:xfrm>
            <a:off x="7455575" y="5733931"/>
            <a:ext cx="3785592" cy="306110"/>
          </a:xfrm>
          <a:prstGeom prst="roundRect">
            <a:avLst>
              <a:gd name="adj" fmla="val 5558"/>
            </a:avLst>
          </a:prstGeom>
          <a:solidFill>
            <a:srgbClr val="F2F2F2"/>
          </a:solidFill>
          <a:ln/>
        </p:spPr>
      </p:sp>
      <p:sp>
        <p:nvSpPr>
          <p:cNvPr id="37" name="Text 35"/>
          <p:cNvSpPr/>
          <p:nvPr/>
        </p:nvSpPr>
        <p:spPr>
          <a:xfrm>
            <a:off x="7568922" y="5818942"/>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-oG output.gnmap 192.168.1.1</a:t>
            </a:r>
            <a:endParaRPr lang="en-US" sz="850" dirty="0"/>
          </a:p>
        </p:txBody>
      </p:sp>
      <p:sp>
        <p:nvSpPr>
          <p:cNvPr id="38" name="Text 36"/>
          <p:cNvSpPr/>
          <p:nvPr/>
        </p:nvSpPr>
        <p:spPr>
          <a:xfrm>
            <a:off x="7461171" y="6103739"/>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All formats:</a:t>
            </a:r>
            <a:endParaRPr lang="en-US" sz="1100" dirty="0"/>
          </a:p>
        </p:txBody>
      </p:sp>
      <p:sp>
        <p:nvSpPr>
          <p:cNvPr id="39" name="Shape 37"/>
          <p:cNvSpPr/>
          <p:nvPr/>
        </p:nvSpPr>
        <p:spPr>
          <a:xfrm>
            <a:off x="7461171" y="6344603"/>
            <a:ext cx="3774400" cy="306110"/>
          </a:xfrm>
          <a:prstGeom prst="roundRect">
            <a:avLst>
              <a:gd name="adj" fmla="val 15561"/>
            </a:avLst>
          </a:prstGeom>
          <a:solidFill>
            <a:srgbClr val="F2F2F2"/>
          </a:solidFill>
          <a:ln/>
        </p:spPr>
      </p:sp>
      <p:sp>
        <p:nvSpPr>
          <p:cNvPr id="40" name="Shape 38"/>
          <p:cNvSpPr/>
          <p:nvPr/>
        </p:nvSpPr>
        <p:spPr>
          <a:xfrm>
            <a:off x="7455575" y="6344603"/>
            <a:ext cx="3785592" cy="306110"/>
          </a:xfrm>
          <a:prstGeom prst="roundRect">
            <a:avLst>
              <a:gd name="adj" fmla="val 5558"/>
            </a:avLst>
          </a:prstGeom>
          <a:solidFill>
            <a:srgbClr val="F2F2F2"/>
          </a:solidFill>
          <a:ln/>
        </p:spPr>
      </p:sp>
      <p:sp>
        <p:nvSpPr>
          <p:cNvPr id="41" name="Text 39"/>
          <p:cNvSpPr/>
          <p:nvPr/>
        </p:nvSpPr>
        <p:spPr>
          <a:xfrm>
            <a:off x="7568922" y="6429613"/>
            <a:ext cx="3558897"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-oA output_name 192.168.1.1</a:t>
            </a:r>
            <a:endParaRPr lang="en-US" sz="850" dirty="0"/>
          </a:p>
        </p:txBody>
      </p:sp>
      <p:sp>
        <p:nvSpPr>
          <p:cNvPr id="42" name="Text 40"/>
          <p:cNvSpPr/>
          <p:nvPr/>
        </p:nvSpPr>
        <p:spPr>
          <a:xfrm>
            <a:off x="3402449" y="6799421"/>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505468"/>
                </a:solidFill>
                <a:latin typeface="Instrument Sans Semi Bold" pitchFamily="34" charset="0"/>
                <a:ea typeface="Instrument Sans Semi Bold" pitchFamily="34" charset="-122"/>
                <a:cs typeface="Instrument Sans Semi Bold" pitchFamily="34" charset="-120"/>
              </a:rPr>
              <a:t>Aggressive Scan (-A)</a:t>
            </a:r>
            <a:endParaRPr lang="en-US" sz="1750" dirty="0"/>
          </a:p>
        </p:txBody>
      </p:sp>
      <p:sp>
        <p:nvSpPr>
          <p:cNvPr id="43" name="Text 41"/>
          <p:cNvSpPr/>
          <p:nvPr/>
        </p:nvSpPr>
        <p:spPr>
          <a:xfrm>
            <a:off x="3402449" y="7167920"/>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latin typeface="Instrument Sans Medium" pitchFamily="34" charset="0"/>
                <a:ea typeface="Instrument Sans Medium" pitchFamily="34" charset="-122"/>
                <a:cs typeface="Instrument Sans Medium" pitchFamily="34" charset="-120"/>
              </a:rPr>
              <a:t>Combines OS detection, version detection, script scanning, and traceroute:</a:t>
            </a:r>
            <a:endParaRPr lang="en-US" sz="850" dirty="0"/>
          </a:p>
        </p:txBody>
      </p:sp>
      <p:sp>
        <p:nvSpPr>
          <p:cNvPr id="44" name="Shape 42"/>
          <p:cNvSpPr/>
          <p:nvPr/>
        </p:nvSpPr>
        <p:spPr>
          <a:xfrm>
            <a:off x="3402449" y="7367707"/>
            <a:ext cx="7825502" cy="306110"/>
          </a:xfrm>
          <a:prstGeom prst="roundRect">
            <a:avLst>
              <a:gd name="adj" fmla="val 15561"/>
            </a:avLst>
          </a:prstGeom>
          <a:solidFill>
            <a:srgbClr val="F2F2F2"/>
          </a:solidFill>
          <a:ln/>
        </p:spPr>
      </p:sp>
      <p:sp>
        <p:nvSpPr>
          <p:cNvPr id="45" name="Shape 43"/>
          <p:cNvSpPr/>
          <p:nvPr/>
        </p:nvSpPr>
        <p:spPr>
          <a:xfrm>
            <a:off x="3396853" y="7367707"/>
            <a:ext cx="7836694" cy="306110"/>
          </a:xfrm>
          <a:prstGeom prst="roundRect">
            <a:avLst>
              <a:gd name="adj" fmla="val 5558"/>
            </a:avLst>
          </a:prstGeom>
          <a:solidFill>
            <a:srgbClr val="F2F2F2"/>
          </a:solidFill>
          <a:ln/>
        </p:spPr>
      </p:sp>
      <p:sp>
        <p:nvSpPr>
          <p:cNvPr id="46" name="Text 44"/>
          <p:cNvSpPr/>
          <p:nvPr/>
        </p:nvSpPr>
        <p:spPr>
          <a:xfrm>
            <a:off x="3510201" y="7452717"/>
            <a:ext cx="760999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-A -T4 scanme.nmap.org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02449" y="3118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5468"/>
                </a:solidFill>
                <a:latin typeface="Instrument Sans Semi Bold" pitchFamily="34" charset="0"/>
                <a:ea typeface="Instrument Sans Semi Bold" pitchFamily="34" charset="-122"/>
                <a:cs typeface="Instrument Sans Semi Bold" pitchFamily="34" charset="-120"/>
              </a:rPr>
              <a:t>Practical Examples</a:t>
            </a:r>
            <a:endParaRPr lang="en-US" sz="2200" dirty="0"/>
          </a:p>
        </p:txBody>
      </p:sp>
      <p:sp>
        <p:nvSpPr>
          <p:cNvPr id="3" name="Shape 1"/>
          <p:cNvSpPr/>
          <p:nvPr/>
        </p:nvSpPr>
        <p:spPr>
          <a:xfrm>
            <a:off x="3402449" y="779502"/>
            <a:ext cx="7825502" cy="1003935"/>
          </a:xfrm>
          <a:prstGeom prst="roundRect">
            <a:avLst>
              <a:gd name="adj" fmla="val 4745"/>
            </a:avLst>
          </a:prstGeom>
          <a:solidFill>
            <a:srgbClr val="FFFFFF">
              <a:alpha val="95000"/>
            </a:srgbClr>
          </a:solidFill>
          <a:ln w="15240">
            <a:solidFill>
              <a:srgbClr val="C8C9CF"/>
            </a:solidFill>
            <a:prstDash val="solid"/>
          </a:ln>
        </p:spPr>
      </p:sp>
      <p:sp>
        <p:nvSpPr>
          <p:cNvPr id="4" name="Shape 2"/>
          <p:cNvSpPr/>
          <p:nvPr/>
        </p:nvSpPr>
        <p:spPr>
          <a:xfrm>
            <a:off x="3417689" y="794742"/>
            <a:ext cx="453628" cy="973455"/>
          </a:xfrm>
          <a:prstGeom prst="roundRect">
            <a:avLst>
              <a:gd name="adj" fmla="val 6469"/>
            </a:avLst>
          </a:prstGeom>
          <a:solidFill>
            <a:srgbClr val="E2E3E9"/>
          </a:solidFill>
          <a:ln/>
        </p:spPr>
      </p:sp>
      <p:sp>
        <p:nvSpPr>
          <p:cNvPr id="5" name="Text 3"/>
          <p:cNvSpPr/>
          <p:nvPr/>
        </p:nvSpPr>
        <p:spPr>
          <a:xfrm>
            <a:off x="3555683" y="1175147"/>
            <a:ext cx="170021" cy="212646"/>
          </a:xfrm>
          <a:prstGeom prst="rect">
            <a:avLst/>
          </a:prstGeom>
          <a:noFill/>
          <a:ln/>
        </p:spPr>
        <p:txBody>
          <a:bodyPr wrap="none" lIns="0" tIns="0" rIns="0" bIns="0" rtlCol="0" anchor="t"/>
          <a:lstStyle/>
          <a:p>
            <a:pPr marL="0" indent="0" algn="l">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1</a:t>
            </a:r>
            <a:endParaRPr lang="en-US" sz="1300" dirty="0"/>
          </a:p>
        </p:txBody>
      </p:sp>
      <p:sp>
        <p:nvSpPr>
          <p:cNvPr id="6" name="Text 4"/>
          <p:cNvSpPr/>
          <p:nvPr/>
        </p:nvSpPr>
        <p:spPr>
          <a:xfrm>
            <a:off x="3927991" y="908090"/>
            <a:ext cx="1679615" cy="177165"/>
          </a:xfrm>
          <a:prstGeom prst="rect">
            <a:avLst/>
          </a:prstGeom>
          <a:noFill/>
          <a:ln/>
        </p:spPr>
        <p:txBody>
          <a:bodyPr wrap="none" lIns="0" tIns="0" rIns="0" bIns="0" rtlCol="0" anchor="t"/>
          <a:lstStyle/>
          <a:p>
            <a:pPr marL="0" indent="0" algn="l">
              <a:lnSpc>
                <a:spcPts val="1350"/>
              </a:lnSpc>
              <a:buNone/>
            </a:pPr>
            <a:r>
              <a:rPr lang="en-US" sz="1100" dirty="0">
                <a:solidFill>
                  <a:srgbClr val="5B5F71"/>
                </a:solidFill>
                <a:latin typeface="Instrument Sans Semi Bold" pitchFamily="34" charset="0"/>
                <a:ea typeface="Instrument Sans Semi Bold" pitchFamily="34" charset="-122"/>
                <a:cs typeface="Instrument Sans Semi Bold" pitchFamily="34" charset="-120"/>
              </a:rPr>
              <a:t>Quick Network Discovery</a:t>
            </a:r>
            <a:endParaRPr lang="en-US" sz="1100" dirty="0"/>
          </a:p>
        </p:txBody>
      </p:sp>
      <p:sp>
        <p:nvSpPr>
          <p:cNvPr id="7" name="Shape 5"/>
          <p:cNvSpPr/>
          <p:nvPr/>
        </p:nvSpPr>
        <p:spPr>
          <a:xfrm>
            <a:off x="3927991" y="1148953"/>
            <a:ext cx="7171373" cy="306110"/>
          </a:xfrm>
          <a:prstGeom prst="roundRect">
            <a:avLst>
              <a:gd name="adj" fmla="val 15561"/>
            </a:avLst>
          </a:prstGeom>
          <a:solidFill>
            <a:srgbClr val="F2F2F2"/>
          </a:solidFill>
          <a:ln/>
        </p:spPr>
      </p:sp>
      <p:sp>
        <p:nvSpPr>
          <p:cNvPr id="8" name="Shape 6"/>
          <p:cNvSpPr/>
          <p:nvPr/>
        </p:nvSpPr>
        <p:spPr>
          <a:xfrm>
            <a:off x="3922395" y="1148953"/>
            <a:ext cx="7182564" cy="306110"/>
          </a:xfrm>
          <a:prstGeom prst="roundRect">
            <a:avLst>
              <a:gd name="adj" fmla="val 5558"/>
            </a:avLst>
          </a:prstGeom>
          <a:solidFill>
            <a:srgbClr val="F2F2F2"/>
          </a:solidFill>
          <a:ln/>
        </p:spPr>
      </p:sp>
      <p:sp>
        <p:nvSpPr>
          <p:cNvPr id="9" name="Text 7"/>
          <p:cNvSpPr/>
          <p:nvPr/>
        </p:nvSpPr>
        <p:spPr>
          <a:xfrm>
            <a:off x="4035743" y="1233964"/>
            <a:ext cx="695586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sudo nmap -sn 192.168.1.0/24</a:t>
            </a:r>
            <a:endParaRPr lang="en-US" sz="850" dirty="0"/>
          </a:p>
        </p:txBody>
      </p:sp>
      <p:sp>
        <p:nvSpPr>
          <p:cNvPr id="10" name="Text 8"/>
          <p:cNvSpPr/>
          <p:nvPr/>
        </p:nvSpPr>
        <p:spPr>
          <a:xfrm>
            <a:off x="3927991" y="1518761"/>
            <a:ext cx="7171373"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latin typeface="Instrument Sans Medium" pitchFamily="34" charset="0"/>
                <a:ea typeface="Instrument Sans Medium" pitchFamily="34" charset="-122"/>
                <a:cs typeface="Instrument Sans Medium" pitchFamily="34" charset="-120"/>
              </a:rPr>
              <a:t>Ping scan only (no port scan)</a:t>
            </a:r>
            <a:endParaRPr lang="en-US" sz="850" dirty="0"/>
          </a:p>
        </p:txBody>
      </p:sp>
      <p:sp>
        <p:nvSpPr>
          <p:cNvPr id="11" name="Shape 9"/>
          <p:cNvSpPr/>
          <p:nvPr/>
        </p:nvSpPr>
        <p:spPr>
          <a:xfrm>
            <a:off x="3402449" y="1840111"/>
            <a:ext cx="7825502" cy="804148"/>
          </a:xfrm>
          <a:prstGeom prst="roundRect">
            <a:avLst>
              <a:gd name="adj" fmla="val 5924"/>
            </a:avLst>
          </a:prstGeom>
          <a:solidFill>
            <a:srgbClr val="FFFFFF">
              <a:alpha val="95000"/>
            </a:srgbClr>
          </a:solidFill>
          <a:ln w="15240">
            <a:solidFill>
              <a:srgbClr val="C8C9CF"/>
            </a:solidFill>
            <a:prstDash val="solid"/>
          </a:ln>
        </p:spPr>
      </p:sp>
      <p:sp>
        <p:nvSpPr>
          <p:cNvPr id="12" name="Shape 10"/>
          <p:cNvSpPr/>
          <p:nvPr/>
        </p:nvSpPr>
        <p:spPr>
          <a:xfrm>
            <a:off x="3417689" y="1855351"/>
            <a:ext cx="453628" cy="773668"/>
          </a:xfrm>
          <a:prstGeom prst="roundRect">
            <a:avLst>
              <a:gd name="adj" fmla="val 6469"/>
            </a:avLst>
          </a:prstGeom>
          <a:solidFill>
            <a:srgbClr val="E2E3E9"/>
          </a:solidFill>
          <a:ln/>
        </p:spPr>
      </p:sp>
      <p:sp>
        <p:nvSpPr>
          <p:cNvPr id="13" name="Text 11"/>
          <p:cNvSpPr/>
          <p:nvPr/>
        </p:nvSpPr>
        <p:spPr>
          <a:xfrm>
            <a:off x="3555683" y="2135862"/>
            <a:ext cx="170021" cy="212646"/>
          </a:xfrm>
          <a:prstGeom prst="rect">
            <a:avLst/>
          </a:prstGeom>
          <a:noFill/>
          <a:ln/>
        </p:spPr>
        <p:txBody>
          <a:bodyPr wrap="none" lIns="0" tIns="0" rIns="0" bIns="0" rtlCol="0" anchor="t"/>
          <a:lstStyle/>
          <a:p>
            <a:pPr marL="0" indent="0" algn="l">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2</a:t>
            </a:r>
            <a:endParaRPr lang="en-US" sz="1300" dirty="0"/>
          </a:p>
        </p:txBody>
      </p:sp>
      <p:sp>
        <p:nvSpPr>
          <p:cNvPr id="14" name="Text 12"/>
          <p:cNvSpPr/>
          <p:nvPr/>
        </p:nvSpPr>
        <p:spPr>
          <a:xfrm>
            <a:off x="3927991" y="1968698"/>
            <a:ext cx="2210038" cy="177165"/>
          </a:xfrm>
          <a:prstGeom prst="rect">
            <a:avLst/>
          </a:prstGeom>
          <a:noFill/>
          <a:ln/>
        </p:spPr>
        <p:txBody>
          <a:bodyPr wrap="none" lIns="0" tIns="0" rIns="0" bIns="0" rtlCol="0" anchor="t"/>
          <a:lstStyle/>
          <a:p>
            <a:pPr marL="0" indent="0" algn="l">
              <a:lnSpc>
                <a:spcPts val="1350"/>
              </a:lnSpc>
              <a:buNone/>
            </a:pPr>
            <a:r>
              <a:rPr lang="en-US" sz="1100" dirty="0">
                <a:solidFill>
                  <a:srgbClr val="5B5F71"/>
                </a:solidFill>
                <a:latin typeface="Instrument Sans Semi Bold" pitchFamily="34" charset="0"/>
                <a:ea typeface="Instrument Sans Semi Bold" pitchFamily="34" charset="-122"/>
                <a:cs typeface="Instrument Sans Semi Bold" pitchFamily="34" charset="-120"/>
              </a:rPr>
              <a:t>Comprehensive Single Host Scan</a:t>
            </a:r>
            <a:endParaRPr lang="en-US" sz="1100" dirty="0"/>
          </a:p>
        </p:txBody>
      </p:sp>
      <p:sp>
        <p:nvSpPr>
          <p:cNvPr id="15" name="Shape 13"/>
          <p:cNvSpPr/>
          <p:nvPr/>
        </p:nvSpPr>
        <p:spPr>
          <a:xfrm>
            <a:off x="3927991" y="2209562"/>
            <a:ext cx="7171373" cy="306110"/>
          </a:xfrm>
          <a:prstGeom prst="roundRect">
            <a:avLst>
              <a:gd name="adj" fmla="val 15561"/>
            </a:avLst>
          </a:prstGeom>
          <a:solidFill>
            <a:srgbClr val="F2F2F2"/>
          </a:solidFill>
          <a:ln/>
        </p:spPr>
      </p:sp>
      <p:sp>
        <p:nvSpPr>
          <p:cNvPr id="16" name="Shape 14"/>
          <p:cNvSpPr/>
          <p:nvPr/>
        </p:nvSpPr>
        <p:spPr>
          <a:xfrm>
            <a:off x="3922395" y="2209562"/>
            <a:ext cx="7182564" cy="306110"/>
          </a:xfrm>
          <a:prstGeom prst="roundRect">
            <a:avLst>
              <a:gd name="adj" fmla="val 5558"/>
            </a:avLst>
          </a:prstGeom>
          <a:solidFill>
            <a:srgbClr val="F2F2F2"/>
          </a:solidFill>
          <a:ln/>
        </p:spPr>
      </p:sp>
      <p:sp>
        <p:nvSpPr>
          <p:cNvPr id="17" name="Text 15"/>
          <p:cNvSpPr/>
          <p:nvPr/>
        </p:nvSpPr>
        <p:spPr>
          <a:xfrm>
            <a:off x="4035743" y="2294573"/>
            <a:ext cx="695586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sudo nmap -A -T4 -p- 192.168.1.100</a:t>
            </a:r>
            <a:endParaRPr lang="en-US" sz="850" dirty="0"/>
          </a:p>
        </p:txBody>
      </p:sp>
      <p:sp>
        <p:nvSpPr>
          <p:cNvPr id="18" name="Shape 16"/>
          <p:cNvSpPr/>
          <p:nvPr/>
        </p:nvSpPr>
        <p:spPr>
          <a:xfrm>
            <a:off x="3402449" y="2700933"/>
            <a:ext cx="7825502" cy="804148"/>
          </a:xfrm>
          <a:prstGeom prst="roundRect">
            <a:avLst>
              <a:gd name="adj" fmla="val 5924"/>
            </a:avLst>
          </a:prstGeom>
          <a:solidFill>
            <a:srgbClr val="FFFFFF">
              <a:alpha val="95000"/>
            </a:srgbClr>
          </a:solidFill>
          <a:ln w="15240">
            <a:solidFill>
              <a:srgbClr val="C8C9CF"/>
            </a:solidFill>
            <a:prstDash val="solid"/>
          </a:ln>
        </p:spPr>
      </p:sp>
      <p:sp>
        <p:nvSpPr>
          <p:cNvPr id="19" name="Shape 17"/>
          <p:cNvSpPr/>
          <p:nvPr/>
        </p:nvSpPr>
        <p:spPr>
          <a:xfrm>
            <a:off x="3417689" y="2716173"/>
            <a:ext cx="453628" cy="773668"/>
          </a:xfrm>
          <a:prstGeom prst="roundRect">
            <a:avLst>
              <a:gd name="adj" fmla="val 6469"/>
            </a:avLst>
          </a:prstGeom>
          <a:solidFill>
            <a:srgbClr val="E2E3E9"/>
          </a:solidFill>
          <a:ln/>
        </p:spPr>
      </p:sp>
      <p:sp>
        <p:nvSpPr>
          <p:cNvPr id="20" name="Text 18"/>
          <p:cNvSpPr/>
          <p:nvPr/>
        </p:nvSpPr>
        <p:spPr>
          <a:xfrm>
            <a:off x="3555683" y="2996684"/>
            <a:ext cx="170021" cy="212646"/>
          </a:xfrm>
          <a:prstGeom prst="rect">
            <a:avLst/>
          </a:prstGeom>
          <a:noFill/>
          <a:ln/>
        </p:spPr>
        <p:txBody>
          <a:bodyPr wrap="none" lIns="0" tIns="0" rIns="0" bIns="0" rtlCol="0" anchor="t"/>
          <a:lstStyle/>
          <a:p>
            <a:pPr marL="0" indent="0" algn="l">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3</a:t>
            </a:r>
            <a:endParaRPr lang="en-US" sz="1300" dirty="0"/>
          </a:p>
        </p:txBody>
      </p:sp>
      <p:sp>
        <p:nvSpPr>
          <p:cNvPr id="21" name="Text 19"/>
          <p:cNvSpPr/>
          <p:nvPr/>
        </p:nvSpPr>
        <p:spPr>
          <a:xfrm>
            <a:off x="3927991" y="2829520"/>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B5F71"/>
                </a:solidFill>
                <a:latin typeface="Instrument Sans Semi Bold" pitchFamily="34" charset="0"/>
                <a:ea typeface="Instrument Sans Semi Bold" pitchFamily="34" charset="-122"/>
                <a:cs typeface="Instrument Sans Semi Bold" pitchFamily="34" charset="-120"/>
              </a:rPr>
              <a:t>Vulnerability Scan</a:t>
            </a:r>
            <a:endParaRPr lang="en-US" sz="1100" dirty="0"/>
          </a:p>
        </p:txBody>
      </p:sp>
      <p:sp>
        <p:nvSpPr>
          <p:cNvPr id="22" name="Shape 20"/>
          <p:cNvSpPr/>
          <p:nvPr/>
        </p:nvSpPr>
        <p:spPr>
          <a:xfrm>
            <a:off x="3927991" y="3070384"/>
            <a:ext cx="7171373" cy="306110"/>
          </a:xfrm>
          <a:prstGeom prst="roundRect">
            <a:avLst>
              <a:gd name="adj" fmla="val 15561"/>
            </a:avLst>
          </a:prstGeom>
          <a:solidFill>
            <a:srgbClr val="F2F2F2"/>
          </a:solidFill>
          <a:ln/>
        </p:spPr>
      </p:sp>
      <p:sp>
        <p:nvSpPr>
          <p:cNvPr id="23" name="Shape 21"/>
          <p:cNvSpPr/>
          <p:nvPr/>
        </p:nvSpPr>
        <p:spPr>
          <a:xfrm>
            <a:off x="3922395" y="3070384"/>
            <a:ext cx="7182564" cy="306110"/>
          </a:xfrm>
          <a:prstGeom prst="roundRect">
            <a:avLst>
              <a:gd name="adj" fmla="val 5558"/>
            </a:avLst>
          </a:prstGeom>
          <a:solidFill>
            <a:srgbClr val="F2F2F2"/>
          </a:solidFill>
          <a:ln/>
        </p:spPr>
      </p:sp>
      <p:sp>
        <p:nvSpPr>
          <p:cNvPr id="24" name="Text 22"/>
          <p:cNvSpPr/>
          <p:nvPr/>
        </p:nvSpPr>
        <p:spPr>
          <a:xfrm>
            <a:off x="4035743" y="3155394"/>
            <a:ext cx="695586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-sV --script vuln 192.168.1.1</a:t>
            </a:r>
            <a:endParaRPr lang="en-US" sz="850" dirty="0"/>
          </a:p>
        </p:txBody>
      </p:sp>
      <p:sp>
        <p:nvSpPr>
          <p:cNvPr id="25" name="Shape 23"/>
          <p:cNvSpPr/>
          <p:nvPr/>
        </p:nvSpPr>
        <p:spPr>
          <a:xfrm>
            <a:off x="3402449" y="3561755"/>
            <a:ext cx="7825502" cy="804148"/>
          </a:xfrm>
          <a:prstGeom prst="roundRect">
            <a:avLst>
              <a:gd name="adj" fmla="val 5924"/>
            </a:avLst>
          </a:prstGeom>
          <a:solidFill>
            <a:srgbClr val="FFFFFF">
              <a:alpha val="95000"/>
            </a:srgbClr>
          </a:solidFill>
          <a:ln w="15240">
            <a:solidFill>
              <a:srgbClr val="C8C9CF"/>
            </a:solidFill>
            <a:prstDash val="solid"/>
          </a:ln>
        </p:spPr>
      </p:sp>
      <p:sp>
        <p:nvSpPr>
          <p:cNvPr id="26" name="Shape 24"/>
          <p:cNvSpPr/>
          <p:nvPr/>
        </p:nvSpPr>
        <p:spPr>
          <a:xfrm>
            <a:off x="3417689" y="3576995"/>
            <a:ext cx="453628" cy="773668"/>
          </a:xfrm>
          <a:prstGeom prst="roundRect">
            <a:avLst>
              <a:gd name="adj" fmla="val 6469"/>
            </a:avLst>
          </a:prstGeom>
          <a:solidFill>
            <a:srgbClr val="E2E3E9"/>
          </a:solidFill>
          <a:ln/>
        </p:spPr>
      </p:sp>
      <p:sp>
        <p:nvSpPr>
          <p:cNvPr id="27" name="Text 25"/>
          <p:cNvSpPr/>
          <p:nvPr/>
        </p:nvSpPr>
        <p:spPr>
          <a:xfrm>
            <a:off x="3555683" y="3857506"/>
            <a:ext cx="170021" cy="212646"/>
          </a:xfrm>
          <a:prstGeom prst="rect">
            <a:avLst/>
          </a:prstGeom>
          <a:noFill/>
          <a:ln/>
        </p:spPr>
        <p:txBody>
          <a:bodyPr wrap="none" lIns="0" tIns="0" rIns="0" bIns="0" rtlCol="0" anchor="t"/>
          <a:lstStyle/>
          <a:p>
            <a:pPr marL="0" indent="0" algn="l">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4</a:t>
            </a:r>
            <a:endParaRPr lang="en-US" sz="1300" dirty="0"/>
          </a:p>
        </p:txBody>
      </p:sp>
      <p:sp>
        <p:nvSpPr>
          <p:cNvPr id="28" name="Text 26"/>
          <p:cNvSpPr/>
          <p:nvPr/>
        </p:nvSpPr>
        <p:spPr>
          <a:xfrm>
            <a:off x="3927991" y="3690342"/>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B5F71"/>
                </a:solidFill>
                <a:latin typeface="Instrument Sans Semi Bold" pitchFamily="34" charset="0"/>
                <a:ea typeface="Instrument Sans Semi Bold" pitchFamily="34" charset="-122"/>
                <a:cs typeface="Instrument Sans Semi Bold" pitchFamily="34" charset="-120"/>
              </a:rPr>
              <a:t>Web Server Analysis</a:t>
            </a:r>
            <a:endParaRPr lang="en-US" sz="1100" dirty="0"/>
          </a:p>
        </p:txBody>
      </p:sp>
      <p:sp>
        <p:nvSpPr>
          <p:cNvPr id="29" name="Shape 27"/>
          <p:cNvSpPr/>
          <p:nvPr/>
        </p:nvSpPr>
        <p:spPr>
          <a:xfrm>
            <a:off x="3927991" y="3931206"/>
            <a:ext cx="7171373" cy="306110"/>
          </a:xfrm>
          <a:prstGeom prst="roundRect">
            <a:avLst>
              <a:gd name="adj" fmla="val 15561"/>
            </a:avLst>
          </a:prstGeom>
          <a:solidFill>
            <a:srgbClr val="F2F2F2"/>
          </a:solidFill>
          <a:ln/>
        </p:spPr>
      </p:sp>
      <p:sp>
        <p:nvSpPr>
          <p:cNvPr id="30" name="Shape 28"/>
          <p:cNvSpPr/>
          <p:nvPr/>
        </p:nvSpPr>
        <p:spPr>
          <a:xfrm>
            <a:off x="3922395" y="3931206"/>
            <a:ext cx="7182564" cy="306110"/>
          </a:xfrm>
          <a:prstGeom prst="roundRect">
            <a:avLst>
              <a:gd name="adj" fmla="val 5558"/>
            </a:avLst>
          </a:prstGeom>
          <a:solidFill>
            <a:srgbClr val="F2F2F2"/>
          </a:solidFill>
          <a:ln/>
        </p:spPr>
      </p:sp>
      <p:sp>
        <p:nvSpPr>
          <p:cNvPr id="31" name="Text 29"/>
          <p:cNvSpPr/>
          <p:nvPr/>
        </p:nvSpPr>
        <p:spPr>
          <a:xfrm>
            <a:off x="4035743" y="4016216"/>
            <a:ext cx="695586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nmap -p 80,443 --script http-enum,http-headers 192.168.1.1</a:t>
            </a:r>
            <a:endParaRPr lang="en-US" sz="850" dirty="0"/>
          </a:p>
        </p:txBody>
      </p:sp>
      <p:sp>
        <p:nvSpPr>
          <p:cNvPr id="32" name="Shape 30"/>
          <p:cNvSpPr/>
          <p:nvPr/>
        </p:nvSpPr>
        <p:spPr>
          <a:xfrm>
            <a:off x="3402449" y="4422577"/>
            <a:ext cx="7825502" cy="804148"/>
          </a:xfrm>
          <a:prstGeom prst="roundRect">
            <a:avLst>
              <a:gd name="adj" fmla="val 5924"/>
            </a:avLst>
          </a:prstGeom>
          <a:solidFill>
            <a:srgbClr val="FFFFFF">
              <a:alpha val="95000"/>
            </a:srgbClr>
          </a:solidFill>
          <a:ln w="15240">
            <a:solidFill>
              <a:srgbClr val="C8C9CF"/>
            </a:solidFill>
            <a:prstDash val="solid"/>
          </a:ln>
        </p:spPr>
      </p:sp>
      <p:sp>
        <p:nvSpPr>
          <p:cNvPr id="33" name="Shape 31"/>
          <p:cNvSpPr/>
          <p:nvPr/>
        </p:nvSpPr>
        <p:spPr>
          <a:xfrm>
            <a:off x="3417689" y="4437817"/>
            <a:ext cx="453628" cy="773668"/>
          </a:xfrm>
          <a:prstGeom prst="roundRect">
            <a:avLst>
              <a:gd name="adj" fmla="val 6469"/>
            </a:avLst>
          </a:prstGeom>
          <a:solidFill>
            <a:srgbClr val="E2E3E9"/>
          </a:solidFill>
          <a:ln/>
        </p:spPr>
      </p:sp>
      <p:sp>
        <p:nvSpPr>
          <p:cNvPr id="34" name="Text 32"/>
          <p:cNvSpPr/>
          <p:nvPr/>
        </p:nvSpPr>
        <p:spPr>
          <a:xfrm>
            <a:off x="3555683" y="4718328"/>
            <a:ext cx="170021" cy="212646"/>
          </a:xfrm>
          <a:prstGeom prst="rect">
            <a:avLst/>
          </a:prstGeom>
          <a:noFill/>
          <a:ln/>
        </p:spPr>
        <p:txBody>
          <a:bodyPr wrap="none" lIns="0" tIns="0" rIns="0" bIns="0" rtlCol="0" anchor="t"/>
          <a:lstStyle/>
          <a:p>
            <a:pPr marL="0" indent="0" algn="l">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5</a:t>
            </a:r>
            <a:endParaRPr lang="en-US" sz="1300" dirty="0"/>
          </a:p>
        </p:txBody>
      </p:sp>
      <p:sp>
        <p:nvSpPr>
          <p:cNvPr id="35" name="Text 33"/>
          <p:cNvSpPr/>
          <p:nvPr/>
        </p:nvSpPr>
        <p:spPr>
          <a:xfrm>
            <a:off x="3927991" y="4551164"/>
            <a:ext cx="2383274" cy="177165"/>
          </a:xfrm>
          <a:prstGeom prst="rect">
            <a:avLst/>
          </a:prstGeom>
          <a:noFill/>
          <a:ln/>
        </p:spPr>
        <p:txBody>
          <a:bodyPr wrap="none" lIns="0" tIns="0" rIns="0" bIns="0" rtlCol="0" anchor="t"/>
          <a:lstStyle/>
          <a:p>
            <a:pPr marL="0" indent="0" algn="l">
              <a:lnSpc>
                <a:spcPts val="1350"/>
              </a:lnSpc>
              <a:buNone/>
            </a:pPr>
            <a:r>
              <a:rPr lang="en-US" sz="1100" dirty="0">
                <a:solidFill>
                  <a:srgbClr val="5B5F71"/>
                </a:solidFill>
                <a:latin typeface="Instrument Sans Semi Bold" pitchFamily="34" charset="0"/>
                <a:ea typeface="Instrument Sans Semi Bold" pitchFamily="34" charset="-122"/>
                <a:cs typeface="Instrument Sans Semi Bold" pitchFamily="34" charset="-120"/>
              </a:rPr>
              <a:t>Stealth Scan with Service Detection</a:t>
            </a:r>
            <a:endParaRPr lang="en-US" sz="1100" dirty="0"/>
          </a:p>
        </p:txBody>
      </p:sp>
      <p:sp>
        <p:nvSpPr>
          <p:cNvPr id="36" name="Shape 34"/>
          <p:cNvSpPr/>
          <p:nvPr/>
        </p:nvSpPr>
        <p:spPr>
          <a:xfrm>
            <a:off x="3927991" y="4792028"/>
            <a:ext cx="7171373" cy="306110"/>
          </a:xfrm>
          <a:prstGeom prst="roundRect">
            <a:avLst>
              <a:gd name="adj" fmla="val 15561"/>
            </a:avLst>
          </a:prstGeom>
          <a:solidFill>
            <a:srgbClr val="F2F2F2"/>
          </a:solidFill>
          <a:ln/>
        </p:spPr>
      </p:sp>
      <p:sp>
        <p:nvSpPr>
          <p:cNvPr id="37" name="Shape 35"/>
          <p:cNvSpPr/>
          <p:nvPr/>
        </p:nvSpPr>
        <p:spPr>
          <a:xfrm>
            <a:off x="3922395" y="4792028"/>
            <a:ext cx="7182564" cy="306110"/>
          </a:xfrm>
          <a:prstGeom prst="roundRect">
            <a:avLst>
              <a:gd name="adj" fmla="val 5558"/>
            </a:avLst>
          </a:prstGeom>
          <a:solidFill>
            <a:srgbClr val="F2F2F2"/>
          </a:solidFill>
          <a:ln/>
        </p:spPr>
      </p:sp>
      <p:sp>
        <p:nvSpPr>
          <p:cNvPr id="38" name="Text 36"/>
          <p:cNvSpPr/>
          <p:nvPr/>
        </p:nvSpPr>
        <p:spPr>
          <a:xfrm>
            <a:off x="4035743" y="4877038"/>
            <a:ext cx="6955869" cy="136088"/>
          </a:xfrm>
          <a:prstGeom prst="rect">
            <a:avLst/>
          </a:prstGeom>
          <a:noFill/>
          <a:ln/>
        </p:spPr>
        <p:txBody>
          <a:bodyPr wrap="none" lIns="0" tIns="0" rIns="0" bIns="0" rtlCol="0" anchor="t"/>
          <a:lstStyle/>
          <a:p>
            <a:pPr marL="0" indent="0" algn="l">
              <a:lnSpc>
                <a:spcPts val="1050"/>
              </a:lnSpc>
              <a:buNone/>
            </a:pPr>
            <a:r>
              <a:rPr lang="en-US" sz="850" dirty="0">
                <a:solidFill>
                  <a:srgbClr val="5B5F71"/>
                </a:solidFill>
                <a:highlight>
                  <a:srgbClr val="F2F2F2"/>
                </a:highlight>
                <a:latin typeface="Consolas Medium" pitchFamily="34" charset="0"/>
                <a:ea typeface="Consolas Medium" pitchFamily="34" charset="-122"/>
                <a:cs typeface="Consolas Medium" pitchFamily="34" charset="-120"/>
              </a:rPr>
              <a:t>sudo nmap -sS -sV -T2 192.168.1.1</a:t>
            </a:r>
            <a:endParaRPr lang="en-US" sz="850" dirty="0"/>
          </a:p>
        </p:txBody>
      </p:sp>
      <p:sp>
        <p:nvSpPr>
          <p:cNvPr id="39" name="Text 37"/>
          <p:cNvSpPr/>
          <p:nvPr/>
        </p:nvSpPr>
        <p:spPr>
          <a:xfrm>
            <a:off x="3402449" y="5311735"/>
            <a:ext cx="3105507" cy="283488"/>
          </a:xfrm>
          <a:prstGeom prst="rect">
            <a:avLst/>
          </a:prstGeom>
          <a:noFill/>
          <a:ln/>
        </p:spPr>
        <p:txBody>
          <a:bodyPr wrap="none" lIns="0" tIns="0" rIns="0" bIns="0" rtlCol="0" anchor="t"/>
          <a:lstStyle/>
          <a:p>
            <a:pPr marL="0" indent="0" algn="l">
              <a:lnSpc>
                <a:spcPts val="2200"/>
              </a:lnSpc>
              <a:buNone/>
            </a:pPr>
            <a:r>
              <a:rPr lang="en-US" sz="1750" dirty="0">
                <a:solidFill>
                  <a:srgbClr val="505468"/>
                </a:solidFill>
                <a:latin typeface="Instrument Sans Semi Bold" pitchFamily="34" charset="0"/>
                <a:ea typeface="Instrument Sans Semi Bold" pitchFamily="34" charset="-122"/>
                <a:cs typeface="Instrument Sans Semi Bold" pitchFamily="34" charset="-120"/>
              </a:rPr>
              <a:t>Understanding Nmap Output</a:t>
            </a:r>
            <a:endParaRPr lang="en-US" sz="1750" dirty="0"/>
          </a:p>
        </p:txBody>
      </p:sp>
      <p:sp>
        <p:nvSpPr>
          <p:cNvPr id="40" name="Text 38"/>
          <p:cNvSpPr/>
          <p:nvPr/>
        </p:nvSpPr>
        <p:spPr>
          <a:xfrm>
            <a:off x="3402449" y="5617845"/>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5468"/>
                </a:solidFill>
                <a:latin typeface="Instrument Sans Semi Bold" pitchFamily="34" charset="0"/>
                <a:ea typeface="Instrument Sans Semi Bold" pitchFamily="34" charset="-122"/>
                <a:cs typeface="Instrument Sans Semi Bold" pitchFamily="34" charset="-120"/>
              </a:rPr>
              <a:t>Port States:</a:t>
            </a:r>
            <a:endParaRPr lang="en-US" sz="1100" dirty="0"/>
          </a:p>
        </p:txBody>
      </p:sp>
      <p:sp>
        <p:nvSpPr>
          <p:cNvPr id="41" name="Text 39"/>
          <p:cNvSpPr/>
          <p:nvPr/>
        </p:nvSpPr>
        <p:spPr>
          <a:xfrm>
            <a:off x="3402449" y="5880021"/>
            <a:ext cx="7825502" cy="816582"/>
          </a:xfrm>
          <a:prstGeom prst="rect">
            <a:avLst/>
          </a:prstGeom>
          <a:noFill/>
          <a:ln/>
        </p:spPr>
        <p:txBody>
          <a:bodyPr wrap="square" lIns="0" tIns="0" rIns="0" bIns="0" rtlCol="0" anchor="t"/>
          <a:lstStyle/>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Open:</a:t>
            </a:r>
            <a:r>
              <a:rPr lang="en-US" sz="850" dirty="0">
                <a:solidFill>
                  <a:srgbClr val="5B5F71"/>
                </a:solidFill>
                <a:latin typeface="Instrument Sans Medium" pitchFamily="34" charset="0"/>
                <a:ea typeface="Instrument Sans Medium" pitchFamily="34" charset="-122"/>
                <a:cs typeface="Instrument Sans Medium" pitchFamily="34" charset="-120"/>
              </a:rPr>
              <a:t> Application is listening for connections</a:t>
            </a:r>
            <a:endParaRPr lang="en-US" sz="850" dirty="0"/>
          </a:p>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Closed:</a:t>
            </a:r>
            <a:r>
              <a:rPr lang="en-US" sz="850" dirty="0">
                <a:solidFill>
                  <a:srgbClr val="5B5F71"/>
                </a:solidFill>
                <a:latin typeface="Instrument Sans Medium" pitchFamily="34" charset="0"/>
                <a:ea typeface="Instrument Sans Medium" pitchFamily="34" charset="-122"/>
                <a:cs typeface="Instrument Sans Medium" pitchFamily="34" charset="-120"/>
              </a:rPr>
              <a:t> No application listening, but could open anytime</a:t>
            </a:r>
            <a:endParaRPr lang="en-US" sz="850" dirty="0"/>
          </a:p>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Filtered:</a:t>
            </a:r>
            <a:r>
              <a:rPr lang="en-US" sz="850" dirty="0">
                <a:solidFill>
                  <a:srgbClr val="5B5F71"/>
                </a:solidFill>
                <a:latin typeface="Instrument Sans Medium" pitchFamily="34" charset="0"/>
                <a:ea typeface="Instrument Sans Medium" pitchFamily="34" charset="-122"/>
                <a:cs typeface="Instrument Sans Medium" pitchFamily="34" charset="-120"/>
              </a:rPr>
              <a:t> Firewall/filter is blocking the port</a:t>
            </a:r>
            <a:endParaRPr lang="en-US" sz="850" dirty="0"/>
          </a:p>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Unfiltered:</a:t>
            </a:r>
            <a:r>
              <a:rPr lang="en-US" sz="850" dirty="0">
                <a:solidFill>
                  <a:srgbClr val="5B5F71"/>
                </a:solidFill>
                <a:latin typeface="Instrument Sans Medium" pitchFamily="34" charset="0"/>
                <a:ea typeface="Instrument Sans Medium" pitchFamily="34" charset="-122"/>
                <a:cs typeface="Instrument Sans Medium" pitchFamily="34" charset="-120"/>
              </a:rPr>
              <a:t> Port is responsive but Nmap can't determine if open/closed</a:t>
            </a:r>
            <a:endParaRPr lang="en-US" sz="850" dirty="0"/>
          </a:p>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Open|Filtered:</a:t>
            </a:r>
            <a:r>
              <a:rPr lang="en-US" sz="850" dirty="0">
                <a:solidFill>
                  <a:srgbClr val="5B5F71"/>
                </a:solidFill>
                <a:latin typeface="Instrument Sans Medium" pitchFamily="34" charset="0"/>
                <a:ea typeface="Instrument Sans Medium" pitchFamily="34" charset="-122"/>
                <a:cs typeface="Instrument Sans Medium" pitchFamily="34" charset="-120"/>
              </a:rPr>
              <a:t> Cannot determine between open or filtered</a:t>
            </a:r>
            <a:endParaRPr lang="en-US" sz="850" dirty="0"/>
          </a:p>
          <a:p>
            <a:pPr marL="342900" indent="-342900" algn="l">
              <a:lnSpc>
                <a:spcPts val="1050"/>
              </a:lnSpc>
              <a:buSzPct val="100000"/>
              <a:buChar char="•"/>
            </a:pPr>
            <a:r>
              <a:rPr lang="en-US" sz="850" b="1" dirty="0">
                <a:solidFill>
                  <a:srgbClr val="5B5F71"/>
                </a:solidFill>
                <a:latin typeface="Instrument Sans Medium" pitchFamily="34" charset="0"/>
                <a:ea typeface="Instrument Sans Medium" pitchFamily="34" charset="-122"/>
                <a:cs typeface="Instrument Sans Medium" pitchFamily="34" charset="-120"/>
              </a:rPr>
              <a:t>Closed|Filtered:</a:t>
            </a:r>
            <a:r>
              <a:rPr lang="en-US" sz="850" dirty="0">
                <a:solidFill>
                  <a:srgbClr val="5B5F71"/>
                </a:solidFill>
                <a:latin typeface="Instrument Sans Medium" pitchFamily="34" charset="0"/>
                <a:ea typeface="Instrument Sans Medium" pitchFamily="34" charset="-122"/>
                <a:cs typeface="Instrument Sans Medium" pitchFamily="34" charset="-120"/>
              </a:rPr>
              <a:t> Cannot determine between closed or filtered</a:t>
            </a:r>
            <a:endParaRPr lang="en-US" sz="850" dirty="0"/>
          </a:p>
        </p:txBody>
      </p:sp>
      <p:sp>
        <p:nvSpPr>
          <p:cNvPr id="42" name="Shape 40"/>
          <p:cNvSpPr/>
          <p:nvPr/>
        </p:nvSpPr>
        <p:spPr>
          <a:xfrm>
            <a:off x="3402449" y="6760301"/>
            <a:ext cx="255151" cy="255151"/>
          </a:xfrm>
          <a:prstGeom prst="roundRect">
            <a:avLst>
              <a:gd name="adj" fmla="val 18669"/>
            </a:avLst>
          </a:prstGeom>
          <a:solidFill>
            <a:srgbClr val="E2E3E9"/>
          </a:solidFill>
          <a:ln w="7620">
            <a:solidFill>
              <a:srgbClr val="C8C9CF"/>
            </a:solidFill>
            <a:prstDash val="solid"/>
          </a:ln>
        </p:spPr>
      </p:sp>
      <p:sp>
        <p:nvSpPr>
          <p:cNvPr id="43" name="Text 41"/>
          <p:cNvSpPr/>
          <p:nvPr/>
        </p:nvSpPr>
        <p:spPr>
          <a:xfrm>
            <a:off x="3444954" y="6781494"/>
            <a:ext cx="170021" cy="212646"/>
          </a:xfrm>
          <a:prstGeom prst="rect">
            <a:avLst/>
          </a:prstGeom>
          <a:noFill/>
          <a:ln/>
        </p:spPr>
        <p:txBody>
          <a:bodyPr wrap="none" lIns="0" tIns="0" rIns="0" bIns="0" rtlCol="0" anchor="t"/>
          <a:lstStyle/>
          <a:p>
            <a:pPr marL="0" indent="0" algn="ctr">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1</a:t>
            </a:r>
            <a:endParaRPr lang="en-US" sz="1300" dirty="0"/>
          </a:p>
        </p:txBody>
      </p:sp>
      <p:sp>
        <p:nvSpPr>
          <p:cNvPr id="44" name="Text 42"/>
          <p:cNvSpPr/>
          <p:nvPr/>
        </p:nvSpPr>
        <p:spPr>
          <a:xfrm>
            <a:off x="3714274" y="6797091"/>
            <a:ext cx="7513677" cy="136088"/>
          </a:xfrm>
          <a:prstGeom prst="rect">
            <a:avLst/>
          </a:prstGeom>
          <a:noFill/>
          <a:ln/>
        </p:spPr>
        <p:txBody>
          <a:bodyPr wrap="none" lIns="0" tIns="0" rIns="0" bIns="0" rtlCol="0" anchor="t"/>
          <a:lstStyle/>
          <a:p>
            <a:pPr marL="0" indent="0" algn="l">
              <a:lnSpc>
                <a:spcPts val="1050"/>
              </a:lnSpc>
              <a:buNone/>
            </a:pPr>
            <a:r>
              <a:rPr lang="en-US" sz="850" b="1" dirty="0">
                <a:solidFill>
                  <a:srgbClr val="5B5F71"/>
                </a:solidFill>
                <a:latin typeface="Instrument Sans Medium" pitchFamily="34" charset="0"/>
                <a:ea typeface="Instrument Sans Medium" pitchFamily="34" charset="-122"/>
                <a:cs typeface="Instrument Sans Medium" pitchFamily="34" charset="-120"/>
              </a:rPr>
              <a:t>Start with host discovery</a:t>
            </a:r>
            <a:r>
              <a:rPr lang="en-US" sz="850" dirty="0">
                <a:solidFill>
                  <a:srgbClr val="5B5F71"/>
                </a:solidFill>
                <a:latin typeface="Instrument Sans Medium" pitchFamily="34" charset="0"/>
                <a:ea typeface="Instrument Sans Medium" pitchFamily="34" charset="-122"/>
                <a:cs typeface="Instrument Sans Medium" pitchFamily="34" charset="-120"/>
              </a:rPr>
              <a:t> before full port scans</a:t>
            </a:r>
            <a:endParaRPr lang="en-US" sz="850" dirty="0"/>
          </a:p>
        </p:txBody>
      </p:sp>
      <p:sp>
        <p:nvSpPr>
          <p:cNvPr id="45" name="Shape 43"/>
          <p:cNvSpPr/>
          <p:nvPr/>
        </p:nvSpPr>
        <p:spPr>
          <a:xfrm>
            <a:off x="3402449" y="7128800"/>
            <a:ext cx="255151" cy="255151"/>
          </a:xfrm>
          <a:prstGeom prst="roundRect">
            <a:avLst>
              <a:gd name="adj" fmla="val 18669"/>
            </a:avLst>
          </a:prstGeom>
          <a:solidFill>
            <a:srgbClr val="E2E3E9"/>
          </a:solidFill>
          <a:ln w="7620">
            <a:solidFill>
              <a:srgbClr val="C8C9CF"/>
            </a:solidFill>
            <a:prstDash val="solid"/>
          </a:ln>
        </p:spPr>
      </p:sp>
      <p:sp>
        <p:nvSpPr>
          <p:cNvPr id="46" name="Text 44"/>
          <p:cNvSpPr/>
          <p:nvPr/>
        </p:nvSpPr>
        <p:spPr>
          <a:xfrm>
            <a:off x="3444954" y="7149993"/>
            <a:ext cx="170021" cy="212646"/>
          </a:xfrm>
          <a:prstGeom prst="rect">
            <a:avLst/>
          </a:prstGeom>
          <a:noFill/>
          <a:ln/>
        </p:spPr>
        <p:txBody>
          <a:bodyPr wrap="none" lIns="0" tIns="0" rIns="0" bIns="0" rtlCol="0" anchor="t"/>
          <a:lstStyle/>
          <a:p>
            <a:pPr marL="0" indent="0" algn="ctr">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2</a:t>
            </a:r>
            <a:endParaRPr lang="en-US" sz="1300" dirty="0"/>
          </a:p>
        </p:txBody>
      </p:sp>
      <p:sp>
        <p:nvSpPr>
          <p:cNvPr id="47" name="Text 45"/>
          <p:cNvSpPr/>
          <p:nvPr/>
        </p:nvSpPr>
        <p:spPr>
          <a:xfrm>
            <a:off x="3714274" y="7165590"/>
            <a:ext cx="7513677" cy="136088"/>
          </a:xfrm>
          <a:prstGeom prst="rect">
            <a:avLst/>
          </a:prstGeom>
          <a:noFill/>
          <a:ln/>
        </p:spPr>
        <p:txBody>
          <a:bodyPr wrap="none" lIns="0" tIns="0" rIns="0" bIns="0" rtlCol="0" anchor="t"/>
          <a:lstStyle/>
          <a:p>
            <a:pPr marL="0" indent="0" algn="l">
              <a:lnSpc>
                <a:spcPts val="1050"/>
              </a:lnSpc>
              <a:buNone/>
            </a:pPr>
            <a:r>
              <a:rPr lang="en-US" sz="850" b="1" dirty="0">
                <a:solidFill>
                  <a:srgbClr val="5B5F71"/>
                </a:solidFill>
                <a:latin typeface="Instrument Sans Medium" pitchFamily="34" charset="0"/>
                <a:ea typeface="Instrument Sans Medium" pitchFamily="34" charset="-122"/>
                <a:cs typeface="Instrument Sans Medium" pitchFamily="34" charset="-120"/>
              </a:rPr>
              <a:t>Use appropriate timing</a:t>
            </a:r>
            <a:r>
              <a:rPr lang="en-US" sz="850" dirty="0">
                <a:solidFill>
                  <a:srgbClr val="5B5F71"/>
                </a:solidFill>
                <a:latin typeface="Instrument Sans Medium" pitchFamily="34" charset="0"/>
                <a:ea typeface="Instrument Sans Medium" pitchFamily="34" charset="-122"/>
                <a:cs typeface="Instrument Sans Medium" pitchFamily="34" charset="-120"/>
              </a:rPr>
              <a:t> (-T2 for stealth, -T4 for speed)</a:t>
            </a:r>
            <a:endParaRPr lang="en-US" sz="850" dirty="0"/>
          </a:p>
        </p:txBody>
      </p:sp>
      <p:sp>
        <p:nvSpPr>
          <p:cNvPr id="48" name="Shape 46"/>
          <p:cNvSpPr/>
          <p:nvPr/>
        </p:nvSpPr>
        <p:spPr>
          <a:xfrm>
            <a:off x="3402449" y="7497298"/>
            <a:ext cx="255151" cy="255151"/>
          </a:xfrm>
          <a:prstGeom prst="roundRect">
            <a:avLst>
              <a:gd name="adj" fmla="val 18669"/>
            </a:avLst>
          </a:prstGeom>
          <a:solidFill>
            <a:srgbClr val="E2E3E9"/>
          </a:solidFill>
          <a:ln w="7620">
            <a:solidFill>
              <a:srgbClr val="C8C9CF"/>
            </a:solidFill>
            <a:prstDash val="solid"/>
          </a:ln>
        </p:spPr>
      </p:sp>
      <p:sp>
        <p:nvSpPr>
          <p:cNvPr id="49" name="Text 47"/>
          <p:cNvSpPr/>
          <p:nvPr/>
        </p:nvSpPr>
        <p:spPr>
          <a:xfrm>
            <a:off x="3444954" y="7518491"/>
            <a:ext cx="170021" cy="212646"/>
          </a:xfrm>
          <a:prstGeom prst="rect">
            <a:avLst/>
          </a:prstGeom>
          <a:noFill/>
          <a:ln/>
        </p:spPr>
        <p:txBody>
          <a:bodyPr wrap="none" lIns="0" tIns="0" rIns="0" bIns="0" rtlCol="0" anchor="t"/>
          <a:lstStyle/>
          <a:p>
            <a:pPr marL="0" indent="0" algn="ctr">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3</a:t>
            </a:r>
            <a:endParaRPr lang="en-US" sz="1300" dirty="0"/>
          </a:p>
        </p:txBody>
      </p:sp>
      <p:sp>
        <p:nvSpPr>
          <p:cNvPr id="50" name="Text 48"/>
          <p:cNvSpPr/>
          <p:nvPr/>
        </p:nvSpPr>
        <p:spPr>
          <a:xfrm>
            <a:off x="3714274" y="7534088"/>
            <a:ext cx="7513677" cy="136088"/>
          </a:xfrm>
          <a:prstGeom prst="rect">
            <a:avLst/>
          </a:prstGeom>
          <a:noFill/>
          <a:ln/>
        </p:spPr>
        <p:txBody>
          <a:bodyPr wrap="none" lIns="0" tIns="0" rIns="0" bIns="0" rtlCol="0" anchor="t"/>
          <a:lstStyle/>
          <a:p>
            <a:pPr marL="0" indent="0" algn="l">
              <a:lnSpc>
                <a:spcPts val="1050"/>
              </a:lnSpc>
              <a:buNone/>
            </a:pPr>
            <a:r>
              <a:rPr lang="en-US" sz="850" b="1" dirty="0">
                <a:solidFill>
                  <a:srgbClr val="5B5F71"/>
                </a:solidFill>
                <a:latin typeface="Instrument Sans Medium" pitchFamily="34" charset="0"/>
                <a:ea typeface="Instrument Sans Medium" pitchFamily="34" charset="-122"/>
                <a:cs typeface="Instrument Sans Medium" pitchFamily="34" charset="-120"/>
              </a:rPr>
              <a:t>Limit scope</a:t>
            </a:r>
            <a:r>
              <a:rPr lang="en-US" sz="850" dirty="0">
                <a:solidFill>
                  <a:srgbClr val="5B5F71"/>
                </a:solidFill>
                <a:latin typeface="Instrument Sans Medium" pitchFamily="34" charset="0"/>
                <a:ea typeface="Instrument Sans Medium" pitchFamily="34" charset="-122"/>
                <a:cs typeface="Instrument Sans Medium" pitchFamily="34" charset="-120"/>
              </a:rPr>
              <a:t> to necessary targets and ports</a:t>
            </a:r>
            <a:endParaRPr lang="en-US" sz="850" dirty="0"/>
          </a:p>
        </p:txBody>
      </p:sp>
      <p:sp>
        <p:nvSpPr>
          <p:cNvPr id="51" name="Shape 49"/>
          <p:cNvSpPr/>
          <p:nvPr/>
        </p:nvSpPr>
        <p:spPr>
          <a:xfrm>
            <a:off x="3402449" y="7865796"/>
            <a:ext cx="255151" cy="255151"/>
          </a:xfrm>
          <a:prstGeom prst="roundRect">
            <a:avLst>
              <a:gd name="adj" fmla="val 18669"/>
            </a:avLst>
          </a:prstGeom>
          <a:solidFill>
            <a:srgbClr val="E2E3E9"/>
          </a:solidFill>
          <a:ln w="7620">
            <a:solidFill>
              <a:srgbClr val="C8C9CF"/>
            </a:solidFill>
            <a:prstDash val="solid"/>
          </a:ln>
        </p:spPr>
      </p:sp>
      <p:sp>
        <p:nvSpPr>
          <p:cNvPr id="52" name="Text 50"/>
          <p:cNvSpPr/>
          <p:nvPr/>
        </p:nvSpPr>
        <p:spPr>
          <a:xfrm>
            <a:off x="3444954" y="7886990"/>
            <a:ext cx="170021" cy="212646"/>
          </a:xfrm>
          <a:prstGeom prst="rect">
            <a:avLst/>
          </a:prstGeom>
          <a:noFill/>
          <a:ln/>
        </p:spPr>
        <p:txBody>
          <a:bodyPr wrap="none" lIns="0" tIns="0" rIns="0" bIns="0" rtlCol="0" anchor="t"/>
          <a:lstStyle/>
          <a:p>
            <a:pPr marL="0" indent="0" algn="ctr">
              <a:lnSpc>
                <a:spcPts val="1300"/>
              </a:lnSpc>
              <a:buNone/>
            </a:pPr>
            <a:r>
              <a:rPr lang="en-US" sz="1300" dirty="0">
                <a:solidFill>
                  <a:srgbClr val="5B5F71"/>
                </a:solidFill>
                <a:latin typeface="Instrument Sans Semi Bold" pitchFamily="34" charset="0"/>
                <a:ea typeface="Instrument Sans Semi Bold" pitchFamily="34" charset="-122"/>
                <a:cs typeface="Instrument Sans Semi Bold" pitchFamily="34" charset="-120"/>
              </a:rPr>
              <a:t>4</a:t>
            </a:r>
            <a:endParaRPr lang="en-US" sz="1300" dirty="0"/>
          </a:p>
        </p:txBody>
      </p:sp>
      <p:sp>
        <p:nvSpPr>
          <p:cNvPr id="53" name="Text 51"/>
          <p:cNvSpPr/>
          <p:nvPr/>
        </p:nvSpPr>
        <p:spPr>
          <a:xfrm>
            <a:off x="3714274" y="7902587"/>
            <a:ext cx="7513677" cy="136088"/>
          </a:xfrm>
          <a:prstGeom prst="rect">
            <a:avLst/>
          </a:prstGeom>
          <a:noFill/>
          <a:ln/>
        </p:spPr>
        <p:txBody>
          <a:bodyPr wrap="none" lIns="0" tIns="0" rIns="0" bIns="0" rtlCol="0" anchor="t"/>
          <a:lstStyle/>
          <a:p>
            <a:pPr marL="0" indent="0" algn="l">
              <a:lnSpc>
                <a:spcPts val="1050"/>
              </a:lnSpc>
              <a:buNone/>
            </a:pPr>
            <a:r>
              <a:rPr lang="en-US" sz="850" b="1" dirty="0">
                <a:solidFill>
                  <a:srgbClr val="5B5F71"/>
                </a:solidFill>
                <a:latin typeface="Instrument Sans Medium" pitchFamily="34" charset="0"/>
                <a:ea typeface="Instrument Sans Medium" pitchFamily="34" charset="-122"/>
                <a:cs typeface="Instrument Sans Medium" pitchFamily="34" charset="-120"/>
              </a:rPr>
              <a:t>Save output</a:t>
            </a:r>
            <a:r>
              <a:rPr lang="en-US" sz="850" dirty="0">
                <a:solidFill>
                  <a:srgbClr val="5B5F71"/>
                </a:solidFill>
                <a:latin typeface="Instrument Sans Medium" pitchFamily="34" charset="0"/>
                <a:ea typeface="Instrument Sans Medium" pitchFamily="34" charset="-122"/>
                <a:cs typeface="Instrument Sans Medium" pitchFamily="34" charset="-120"/>
              </a:rPr>
              <a:t> for documentation and analysis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921</Words>
  <Application>Microsoft Office PowerPoint</Application>
  <PresentationFormat>Custom</PresentationFormat>
  <Paragraphs>156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Consolas Medium</vt:lpstr>
      <vt:lpstr>Arial</vt:lpstr>
      <vt:lpstr>Instrument Sans Semi Bold</vt:lpstr>
      <vt:lpstr>Instrument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3</cp:revision>
  <dcterms:created xsi:type="dcterms:W3CDTF">2026-02-12T09:08:54Z</dcterms:created>
  <dcterms:modified xsi:type="dcterms:W3CDTF">2026-02-12T09:21:15Z</dcterms:modified>
</cp:coreProperties>
</file>