
<file path=[Content_Types].xml><?xml version="1.0" encoding="utf-8"?>
<Types xmlns="http://schemas.openxmlformats.org/package/2006/content-types">
  <Default Extension="xml" ContentType="application/vnd.openxmlformats-officedocument.extended-properties+xml"/>
  <Default Extension="png" ContentType="image/png"/>
  <Default Extension="svg" ContentType="image/svg+xml"/>
  <Default Extension="fntdata" ContentType="application/x-fontdata"/>
  <Default Extension="rels" ContentType="application/vnd.openxmlformats-package.relationships+xml"/>
  <Override PartName="/docProps/core.xml" ContentType="application/vnd.openxmlformats-package.core-properties+xml"/>
  <Override PartName="/ppt/presentation.xml" ContentType="application/vnd.openxmlformats-officedocument.presentationml.presentation.main+xml"/>
  <Override PartName="/ppt/slides/slide12.xml" ContentType="application/vnd.openxmlformats-officedocument.presentationml.slide+xml"/>
  <Override PartName="/ppt/notesSlides/notesSlide12.xml" ContentType="application/vnd.openxmlformats-officedocument.presentationml.notesSlide+xml"/>
  <Override PartName="/ppt/notesMasters/notesMaster1.xml" ContentType="application/vnd.openxmlformats-officedocument.presentationml.notesMaster+xml"/>
  <Override PartName="/ppt/theme/theme2.xml" ContentType="application/vnd.openxmlformats-officedocument.theme+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Layouts/slideLayout8.xml" ContentType="application/vnd.openxmlformats-officedocument.presentationml.slideLayout+xml"/>
  <Override PartName="/ppt/slideLayouts/slideLayout3.xml" ContentType="application/vnd.openxmlformats-officedocument.presentationml.slideLayout+xml"/>
  <Override PartName="/ppt/slideLayouts/slideLayout7.xml" ContentType="application/vnd.openxmlformats-officedocument.presentationml.slideLayout+xml"/>
  <Override PartName="/ppt/slideLayouts/slideLayout2.xml" ContentType="application/vnd.openxmlformats-officedocument.presentationml.slideLayout+xml"/>
  <Override PartName="/ppt/slideLayouts/slideLayout6.xml" ContentType="application/vnd.openxmlformats-officedocument.presentationml.slideLayout+xml"/>
  <Override PartName="/ppt/theme/theme1.xml" ContentType="application/vnd.openxmlformats-officedocument.theme+xml"/>
  <Override PartName="/ppt/slideLayouts/slideLayout10.xml" ContentType="application/vnd.openxmlformats-officedocument.presentationml.slideLayout+xml"/>
  <Override PartName="/ppt/slideLayouts/slideLayout4.xml" ContentType="application/vnd.openxmlformats-officedocument.presentationml.slideLayout+xml"/>
  <Override PartName="/ppt/slideLayouts/slideLayout9.xml" ContentType="application/vnd.openxmlformats-officedocument.presentationml.slideLayout+xml"/>
  <Override PartName="/ppt/slides/slide17.xml" ContentType="application/vnd.openxmlformats-officedocument.presentationml.slide+xml"/>
  <Override PartName="/ppt/notesSlides/notesSlide17.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viewProps.xml" ContentType="application/vnd.openxmlformats-officedocument.presentationml.viewProps+xml"/>
  <Override PartName="/ppt/slides/slide6.xml" ContentType="application/vnd.openxmlformats-officedocument.presentationml.slide+xml"/>
  <Override PartName="/ppt/notesSlides/notesSlide6.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presProps.xml" ContentType="application/vnd.openxmlformats-officedocument.presentationml.presProps+xml"/>
  <Override PartName="/ppt/slides/slide1.xml" ContentType="application/vnd.openxmlformats-officedocument.presentationml.slide+xml"/>
  <Override PartName="/ppt/notesSlides/notesSlide1.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tableStyles.xml" ContentType="application/vnd.openxmlformats-officedocument.presentationml.tableStyles+xml"/>
  <Override PartName="/ppt/slides/slide9.xml" ContentType="application/vnd.openxmlformats-officedocument.presentationml.slide+xml"/>
  <Override PartName="/ppt/notesSlides/notesSlide9.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officeDocument/2006/relationships/extended-properties" Target="/docProps/app.xml" Id="rId3" /><Relationship Type="http://schemas.openxmlformats.org/package/2006/relationships/metadata/core-properties" Target="/docProps/core.xml" Id="rId2" /><Relationship Type="http://schemas.openxmlformats.org/officeDocument/2006/relationships/officeDocument" Target="/ppt/presentation.xml" Id="rId1" /></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4630400" cy="8229600"/>
  <p:notesSz cx="8229600" cy="14630400"/>
  <p:embeddedFontLst>
    <p:embeddedFont>
      <p:font typeface="Consolas" panose="020B0609020204030204" pitchFamily="49" charset="0"/>
      <p:regular r:id="rId28"/>
      <p:bold r:id="rId29"/>
      <p:italic r:id="rId30"/>
      <p:boldItalic r:id="rId31"/>
    </p:embeddedFont>
    <p:embeddedFont>
      <p:font typeface="Merriweather" panose="00000500000000000000" pitchFamily="2" charset="0"/>
      <p:regular r:id="rId3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677" y="67"/>
      </p:cViewPr>
      <p:guideLst/>
    </p:cSldViewPr>
  </p:slid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slide" Target="/ppt/slides/slide12.xml" Id="rId13" /><Relationship Type="http://schemas.openxmlformats.org/officeDocument/2006/relationships/slide" Target="/ppt/slides/slide17.xml" Id="rId18" /><Relationship Type="http://schemas.openxmlformats.org/officeDocument/2006/relationships/slide" Target="/ppt/slides/slide25.xml" Id="rId26" /><Relationship Type="http://schemas.openxmlformats.org/officeDocument/2006/relationships/slide" Target="/ppt/slides/slide2.xml" Id="rId3" /><Relationship Type="http://schemas.openxmlformats.org/officeDocument/2006/relationships/slide" Target="/ppt/slides/slide20.xml" Id="rId21" /><Relationship Type="http://schemas.openxmlformats.org/officeDocument/2006/relationships/viewProps" Target="/ppt/viewProps.xml" Id="rId34" /><Relationship Type="http://schemas.openxmlformats.org/officeDocument/2006/relationships/slide" Target="/ppt/slides/slide6.xml" Id="rId7" /><Relationship Type="http://schemas.openxmlformats.org/officeDocument/2006/relationships/slide" Target="/ppt/slides/slide11.xml" Id="rId12" /><Relationship Type="http://schemas.openxmlformats.org/officeDocument/2006/relationships/slide" Target="/ppt/slides/slide16.xml" Id="rId17" /><Relationship Type="http://schemas.openxmlformats.org/officeDocument/2006/relationships/slide" Target="/ppt/slides/slide24.xml" Id="rId25" /><Relationship Type="http://schemas.openxmlformats.org/officeDocument/2006/relationships/presProps" Target="/ppt/presProps.xml" Id="rId33" /><Relationship Type="http://schemas.openxmlformats.org/officeDocument/2006/relationships/slide" Target="/ppt/slides/slide1.xml" Id="rId2" /><Relationship Type="http://schemas.openxmlformats.org/officeDocument/2006/relationships/slide" Target="/ppt/slides/slide15.xml" Id="rId16" /><Relationship Type="http://schemas.openxmlformats.org/officeDocument/2006/relationships/slide" Target="/ppt/slides/slide19.xml" Id="rId20" /><Relationship Type="http://schemas.openxmlformats.org/officeDocument/2006/relationships/font" Target="/ppt/fonts/font2.fntdata" Id="rId29" /><Relationship Type="http://schemas.openxmlformats.org/officeDocument/2006/relationships/slideMaster" Target="/ppt/slideMasters/slideMaster1.xml" Id="rId1" /><Relationship Type="http://schemas.openxmlformats.org/officeDocument/2006/relationships/slide" Target="/ppt/slides/slide5.xml" Id="rId6" /><Relationship Type="http://schemas.openxmlformats.org/officeDocument/2006/relationships/slide" Target="/ppt/slides/slide10.xml" Id="rId11" /><Relationship Type="http://schemas.openxmlformats.org/officeDocument/2006/relationships/slide" Target="/ppt/slides/slide23.xml" Id="rId24" /><Relationship Type="http://schemas.openxmlformats.org/officeDocument/2006/relationships/font" Target="/ppt/fonts/font5.fntdata" Id="rId32" /><Relationship Type="http://schemas.openxmlformats.org/officeDocument/2006/relationships/slide" Target="/ppt/slides/slide4.xml" Id="rId5" /><Relationship Type="http://schemas.openxmlformats.org/officeDocument/2006/relationships/slide" Target="/ppt/slides/slide14.xml" Id="rId15" /><Relationship Type="http://schemas.openxmlformats.org/officeDocument/2006/relationships/slide" Target="/ppt/slides/slide22.xml" Id="rId23" /><Relationship Type="http://schemas.openxmlformats.org/officeDocument/2006/relationships/font" Target="/ppt/fonts/font1.fntdata" Id="rId28" /><Relationship Type="http://schemas.openxmlformats.org/officeDocument/2006/relationships/tableStyles" Target="/ppt/tableStyles.xml" Id="rId36" /><Relationship Type="http://schemas.openxmlformats.org/officeDocument/2006/relationships/slide" Target="/ppt/slides/slide9.xml" Id="rId10" /><Relationship Type="http://schemas.openxmlformats.org/officeDocument/2006/relationships/slide" Target="/ppt/slides/slide18.xml" Id="rId19" /><Relationship Type="http://schemas.openxmlformats.org/officeDocument/2006/relationships/font" Target="/ppt/fonts/font4.fntdata" Id="rId31" /><Relationship Type="http://schemas.openxmlformats.org/officeDocument/2006/relationships/slide" Target="/ppt/slides/slide3.xml" Id="rId4" /><Relationship Type="http://schemas.openxmlformats.org/officeDocument/2006/relationships/slide" Target="/ppt/slides/slide8.xml" Id="rId9" /><Relationship Type="http://schemas.openxmlformats.org/officeDocument/2006/relationships/slide" Target="/ppt/slides/slide13.xml" Id="rId14" /><Relationship Type="http://schemas.openxmlformats.org/officeDocument/2006/relationships/slide" Target="/ppt/slides/slide21.xml" Id="rId22" /><Relationship Type="http://schemas.openxmlformats.org/officeDocument/2006/relationships/notesMaster" Target="/ppt/notesMasters/notesMaster1.xml" Id="rId27" /><Relationship Type="http://schemas.openxmlformats.org/officeDocument/2006/relationships/font" Target="/ppt/fonts/font3.fntdata" Id="rId30" /><Relationship Type="http://schemas.openxmlformats.org/officeDocument/2006/relationships/theme" Target="/ppt/theme/theme1.xml" Id="rId35" /><Relationship Type="http://schemas.openxmlformats.org/officeDocument/2006/relationships/slide" Target="/ppt/slides/slide7.xml" Id="rId8" /></Relationships>
</file>

<file path=ppt/notesMasters/_rels/notesMaster1.xml.rels>&#65279;<?xml version="1.0" encoding="utf-8"?><Relationships xmlns="http://schemas.openxmlformats.org/package/2006/relationships"><Relationship Type="http://schemas.openxmlformats.org/officeDocument/2006/relationships/theme" Target="/ppt/theme/theme2.xml" Id="rId1"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0331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&#65279;<?xml version="1.0" encoding="utf-8"?><Relationships xmlns="http://schemas.openxmlformats.org/package/2006/relationships"><Relationship Type="http://schemas.openxmlformats.org/officeDocument/2006/relationships/slide" Target="/ppt/slides/slide1.xml" Id="rId2" /><Relationship Type="http://schemas.openxmlformats.org/officeDocument/2006/relationships/notesMaster" Target="/ppt/notesMasters/notesMaster1.xml" Id="rI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Id2" /><Relationship Type="http://schemas.openxmlformats.org/officeDocument/2006/relationships/notesMaster" Target="/ppt/notesMasters/notesMaster1.xml" Id="rI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Id2" /><Relationship Type="http://schemas.openxmlformats.org/officeDocument/2006/relationships/notesMaster" Target="/ppt/notesMasters/notesMaster1.xml" Id="rId1" /></Relationships>
</file>

<file path=ppt/notesSlides/_rels/notesSlide4.xml.rels>&#65279;<?xml version="1.0" encoding="utf-8"?><Relationships xmlns="http://schemas.openxmlformats.org/package/2006/relationships"><Relationship Type="http://schemas.openxmlformats.org/officeDocument/2006/relationships/slide" Target="/ppt/slides/slide4.xml" Id="rId2" /><Relationship Type="http://schemas.openxmlformats.org/officeDocument/2006/relationships/notesMaster" Target="/ppt/notesMasters/notesMaster1.xml" Id="rId1" /></Relationships>
</file>

<file path=ppt/notesSlides/_rels/notesSlide5.xml.rels>&#65279;<?xml version="1.0" encoding="utf-8"?><Relationships xmlns="http://schemas.openxmlformats.org/package/2006/relationships"><Relationship Type="http://schemas.openxmlformats.org/officeDocument/2006/relationships/slide" Target="/ppt/slides/slide5.xml" Id="rId2" /><Relationship Type="http://schemas.openxmlformats.org/officeDocument/2006/relationships/notesMaster" Target="/ppt/notesMasters/notesMaster1.xml" Id="rId1" /></Relationships>
</file>

<file path=ppt/notesSlides/_rels/notesSlide6.xml.rels>&#65279;<?xml version="1.0" encoding="utf-8"?><Relationships xmlns="http://schemas.openxmlformats.org/package/2006/relationships"><Relationship Type="http://schemas.openxmlformats.org/officeDocument/2006/relationships/slide" Target="/ppt/slides/slide6.xml" Id="rId2" /><Relationship Type="http://schemas.openxmlformats.org/officeDocument/2006/relationships/notesMaster" Target="/ppt/notesMasters/notesMaster1.xml" Id="rId1" /></Relationships>
</file>

<file path=ppt/notesSlides/_rels/notesSlide7.xml.rels>&#65279;<?xml version="1.0" encoding="utf-8"?><Relationships xmlns="http://schemas.openxmlformats.org/package/2006/relationships"><Relationship Type="http://schemas.openxmlformats.org/officeDocument/2006/relationships/slide" Target="/ppt/slides/slide7.xml" Id="rId2" /><Relationship Type="http://schemas.openxmlformats.org/officeDocument/2006/relationships/notesMaster" Target="/ppt/notesMasters/notesMaster1.xml" Id="rId1" /></Relationships>
</file>

<file path=ppt/notesSlides/_rels/notesSlide8.xml.rels>&#65279;<?xml version="1.0" encoding="utf-8"?><Relationships xmlns="http://schemas.openxmlformats.org/package/2006/relationships"><Relationship Type="http://schemas.openxmlformats.org/officeDocument/2006/relationships/slide" Target="/ppt/slides/slide8.xml" Id="rId2" /><Relationship Type="http://schemas.openxmlformats.org/officeDocument/2006/relationships/notesMaster" Target="/ppt/notesMasters/notesMaster1.xml" Id="rId1" /></Relationships>
</file>

<file path=ppt/notesSlides/_rels/notesSlide9.xml.rels>&#65279;<?xml version="1.0" encoding="utf-8"?><Relationships xmlns="http://schemas.openxmlformats.org/package/2006/relationships"><Relationship Type="http://schemas.openxmlformats.org/officeDocument/2006/relationships/slide" Target="/ppt/slides/slide9.xml" Id="rId2" /><Relationship Type="http://schemas.openxmlformats.org/officeDocument/2006/relationships/notesMaster" Target="/ppt/notesMasters/notesMaster1.xml" Id="rId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Id2" /><Relationship Type="http://schemas.openxmlformats.org/officeDocument/2006/relationships/notesMaster" Target="/ppt/notesMasters/notesMaster1.xml" Id="rId1"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Id2" /><Relationship Type="http://schemas.openxmlformats.org/officeDocument/2006/relationships/notesMaster" Target="/ppt/notesMasters/notesMaster1.xml" Id="rId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Id2" /><Relationship Type="http://schemas.openxmlformats.org/officeDocument/2006/relationships/notesMaster" Target="/ppt/notesMasters/notesMaster1.xml" Id="rId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Id2" /><Relationship Type="http://schemas.openxmlformats.org/officeDocument/2006/relationships/notesMaster" Target="/ppt/notesMasters/notesMaster1.xml" Id="rId1"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Id2" /><Relationship Type="http://schemas.openxmlformats.org/officeDocument/2006/relationships/notesMaster" Target="/ppt/notesMasters/notesMaster1.xml" Id="rId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Id2" /><Relationship Type="http://schemas.openxmlformats.org/officeDocument/2006/relationships/notesMaster" Target="/ppt/notesMasters/notesMaster1.xml" Id="rId1"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Id2" /><Relationship Type="http://schemas.openxmlformats.org/officeDocument/2006/relationships/notesMaster" Target="/ppt/notesMasters/notesMaster1.xml" Id="rI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Id2" /><Relationship Type="http://schemas.openxmlformats.org/officeDocument/2006/relationships/notesMaster" Target="/ppt/notesMasters/notesMaster1.xml" Id="rId1"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Id2" /><Relationship Type="http://schemas.openxmlformats.org/officeDocument/2006/relationships/notesMaster" Target="/ppt/notesMasters/notesMaster1.xml" Id="rId1"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Id2" /><Relationship Type="http://schemas.openxmlformats.org/officeDocument/2006/relationships/notesMaster" Target="/ppt/notesMasters/notesMaster1.xml" Id="rId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Id2" /><Relationship Type="http://schemas.openxmlformats.org/officeDocument/2006/relationships/notesMaster" Target="/ppt/notesMasters/notesMaster1.xml" Id="rId1"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Id2" /><Relationship Type="http://schemas.openxmlformats.org/officeDocument/2006/relationships/notesMaster" Target="/ppt/notesMasters/notesMaster1.xml" Id="rId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Id2" /><Relationship Type="http://schemas.openxmlformats.org/officeDocument/2006/relationships/notesMaster" Target="/ppt/notesMasters/notesMaster1.xml" Id="rId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Id2" /><Relationship Type="http://schemas.openxmlformats.org/officeDocument/2006/relationships/notesMaster" Target="/ppt/notesMasters/notesMaster1.xml" Id="rId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Id2" /><Relationship Type="http://schemas.openxmlformats.org/officeDocument/2006/relationships/notesMaster" Target="/ppt/notesMasters/notesMaster1.xml" Id="rId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Id2" /><Relationship Type="http://schemas.openxmlformats.org/officeDocument/2006/relationships/notesMaster" Target="/ppt/notesMasters/notesMaster1.xml" Id="rId1"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2.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3.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4.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5.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6.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7.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8.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9.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_rels/slideLayout10.xml.rels>&#65279;<?xml version="1.0" encoding="utf-8"?><Relationships xmlns="http://schemas.openxmlformats.org/package/2006/relationships"><Relationship Type="http://schemas.openxmlformats.org/officeDocument/2006/relationships/image" Target="/ppt/media/image1.png" Id="rId2" /><Relationship Type="http://schemas.openxmlformats.org/officeDocument/2006/relationships/slideMaster" Target="/ppt/slideMasters/slideMaster1.xml" Id="rId1" /></Relationships>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9151A">
              <a:alpha val="95000"/>
            </a:srgbClr>
          </a:solidFill>
          <a:ln/>
        </p:spPr>
      </p:sp>
    </p:spTree>
    <p:extLst>
      <p:ext uri="{BB962C8B-B14F-4D97-AF65-F5344CB8AC3E}">
        <p14:creationId xmlns:p14="http://schemas.microsoft.com/office/powerpoint/2010/main" val="3609400710"/>
      </p:ext>
    </p:extLst>
  </p:cSld>
  <p:clrMapOvr>
    <a:masterClrMapping/>
  </p:clrMapOvr>
</p:sldLayout>
</file>

<file path=ppt/slideMasters/_rels/slideMaster1.xml.rels>&#65279;<?xml version="1.0" encoding="utf-8"?><Relationships xmlns="http://schemas.openxmlformats.org/package/2006/relationships"><Relationship Type="http://schemas.openxmlformats.org/officeDocument/2006/relationships/slideLayout" Target="/ppt/slideLayouts/slideLayout8.xml" Id="rId8" /><Relationship Type="http://schemas.openxmlformats.org/officeDocument/2006/relationships/slideLayout" Target="/ppt/slideLayouts/slideLayout3.xml" Id="rId3" /><Relationship Type="http://schemas.openxmlformats.org/officeDocument/2006/relationships/slideLayout" Target="/ppt/slideLayouts/slideLayout7.xml" Id="rId7" /><Relationship Type="http://schemas.openxmlformats.org/officeDocument/2006/relationships/slideLayout" Target="/ppt/slideLayouts/slideLayout2.xml" Id="rId2" /><Relationship Type="http://schemas.openxmlformats.org/officeDocument/2006/relationships/slideLayout" Target="/ppt/slideLayouts/slideLayout6.xml" Id="rId6" /><Relationship Type="http://schemas.openxmlformats.org/officeDocument/2006/relationships/theme" Target="/ppt/theme/theme1.xml" Id="rId11" /><Relationship Type="http://schemas.openxmlformats.org/officeDocument/2006/relationships/slideLayout" Target="/ppt/slideLayouts/slideLayout5.xml" Id="rId5" /><Relationship Type="http://schemas.openxmlformats.org/officeDocument/2006/relationships/slideLayout" Target="/ppt/slideLayouts/slideLayout10.xml" Id="rId10" /><Relationship Type="http://schemas.openxmlformats.org/officeDocument/2006/relationships/slideLayout" Target="/ppt/slideLayouts/slideLayout4.xml" Id="rId4" /><Relationship Type="http://schemas.openxmlformats.org/officeDocument/2006/relationships/slideLayout" Target="/ppt/slideLayouts/slideLayout9.xml" Id="rId9"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ppt/media/image2.png" Id="rId3" /><Relationship Type="http://schemas.openxmlformats.org/officeDocument/2006/relationships/notesSlide" Target="/ppt/notesSlides/notesSlide1.xml" Id="rId2" /><Relationship Type="http://schemas.openxmlformats.org/officeDocument/2006/relationships/slideLayout" Target="/ppt/slideLayouts/slideLayout2.xml" Id="rId1" /></Relationships>
</file>

<file path=ppt/slides/_rels/slide2.xml.rels>&#65279;<?xml version="1.0" encoding="utf-8"?><Relationships xmlns="http://schemas.openxmlformats.org/package/2006/relationships"><Relationship Type="http://schemas.openxmlformats.org/officeDocument/2006/relationships/image" Target="/ppt/media/image3.png" Id="rId3" /><Relationship Type="http://schemas.openxmlformats.org/officeDocument/2006/relationships/notesSlide" Target="/ppt/notesSlides/notesSlide2.xml" Id="rId2" /><Relationship Type="http://schemas.openxmlformats.org/officeDocument/2006/relationships/slideLayout" Target="/ppt/slideLayouts/slideLayout3.xml" Id="rId1" /></Relationships>
</file>

<file path=ppt/slides/_rels/slide3.xml.rels>&#65279;<?xml version="1.0" encoding="utf-8"?><Relationships xmlns="http://schemas.openxmlformats.org/package/2006/relationships"><Relationship Type="http://schemas.openxmlformats.org/officeDocument/2006/relationships/image" Target="/ppt/media/image4.png" Id="rId3" /><Relationship Type="http://schemas.openxmlformats.org/officeDocument/2006/relationships/notesSlide" Target="/ppt/notesSlides/notesSlide3.xml" Id="rId2" /><Relationship Type="http://schemas.openxmlformats.org/officeDocument/2006/relationships/slideLayout" Target="/ppt/slideLayouts/slideLayout4.xml" Id="rId1" /><Relationship Type="http://schemas.openxmlformats.org/officeDocument/2006/relationships/image" Target="/ppt/media/image5.png" Id="rId4" /></Relationships>
</file>

<file path=ppt/slides/_rels/slide4.xml.rels>&#65279;<?xml version="1.0" encoding="utf-8"?><Relationships xmlns="http://schemas.openxmlformats.org/package/2006/relationships"><Relationship Type="http://schemas.openxmlformats.org/officeDocument/2006/relationships/image" Target="/ppt/media/image6.png" Id="rId3" /><Relationship Type="http://schemas.openxmlformats.org/officeDocument/2006/relationships/notesSlide" Target="/ppt/notesSlides/notesSlide4.xml" Id="rId2" /><Relationship Type="http://schemas.openxmlformats.org/officeDocument/2006/relationships/slideLayout" Target="/ppt/slideLayouts/slideLayout5.xml" Id="rId1" /><Relationship Type="http://schemas.openxmlformats.org/officeDocument/2006/relationships/image" Target="/ppt/media/image7.png" Id="rId4" /></Relationships>
</file>

<file path=ppt/slides/_rels/slide5.xml.rels>&#65279;<?xml version="1.0" encoding="utf-8"?><Relationships xmlns="http://schemas.openxmlformats.org/package/2006/relationships"><Relationship Type="http://schemas.openxmlformats.org/officeDocument/2006/relationships/notesSlide" Target="/ppt/notesSlides/notesSlide5.xml" Id="rId2" /><Relationship Type="http://schemas.openxmlformats.org/officeDocument/2006/relationships/slideLayout" Target="/ppt/slideLayouts/slideLayout6.xml" Id="rId1" /></Relationships>
</file>

<file path=ppt/slides/_rels/slide6.xml.rels>&#65279;<?xml version="1.0" encoding="utf-8"?><Relationships xmlns="http://schemas.openxmlformats.org/package/2006/relationships"><Relationship Type="http://schemas.openxmlformats.org/officeDocument/2006/relationships/notesSlide" Target="/ppt/notesSlides/notesSlide6.xml" Id="rId2" /><Relationship Type="http://schemas.openxmlformats.org/officeDocument/2006/relationships/slideLayout" Target="/ppt/slideLayouts/slideLayout7.xml" Id="rId1" /></Relationships>
</file>

<file path=ppt/slides/_rels/slide7.xml.rels>&#65279;<?xml version="1.0" encoding="utf-8"?><Relationships xmlns="http://schemas.openxmlformats.org/package/2006/relationships"><Relationship Type="http://schemas.openxmlformats.org/officeDocument/2006/relationships/notesSlide" Target="/ppt/notesSlides/notesSlide7.xml" Id="rId2" /><Relationship Type="http://schemas.openxmlformats.org/officeDocument/2006/relationships/slideLayout" Target="/ppt/slideLayouts/slideLayout8.xml" Id="rId1" /></Relationships>
</file>

<file path=ppt/slides/_rels/slide8.xml.rels>&#65279;<?xml version="1.0" encoding="utf-8"?><Relationships xmlns="http://schemas.openxmlformats.org/package/2006/relationships"><Relationship Type="http://schemas.openxmlformats.org/officeDocument/2006/relationships/image" Target="/ppt/media/image8.png" Id="rId3" /><Relationship Type="http://schemas.openxmlformats.org/officeDocument/2006/relationships/notesSlide" Target="/ppt/notesSlides/notesSlide8.xml" Id="rId2" /><Relationship Type="http://schemas.openxmlformats.org/officeDocument/2006/relationships/slideLayout" Target="/ppt/slideLayouts/slideLayout9.xml" Id="rId1" /></Relationships>
</file>

<file path=ppt/slides/_rels/slide9.xml.rels>&#65279;<?xml version="1.0" encoding="utf-8"?><Relationships xmlns="http://schemas.openxmlformats.org/package/2006/relationships"><Relationship Type="http://schemas.openxmlformats.org/officeDocument/2006/relationships/image" Target="/ppt/media/image9.png" Id="rId3" /><Relationship Type="http://schemas.openxmlformats.org/officeDocument/2006/relationships/notesSlide" Target="/ppt/notesSlides/notesSlide9.xml" Id="rId2" /><Relationship Type="http://schemas.openxmlformats.org/officeDocument/2006/relationships/slideLayout" Target="/ppt/slideLayouts/slideLayout2.xml" Id="rId1" /></Relationships>
</file>

<file path=ppt/slides/_rels/slide10.xml.rels>&#65279;<?xml version="1.0" encoding="utf-8"?><Relationships xmlns="http://schemas.openxmlformats.org/package/2006/relationships"><Relationship Type="http://schemas.openxmlformats.org/officeDocument/2006/relationships/notesSlide" Target="/ppt/notesSlides/notesSlide10.xml" Id="rId2" /><Relationship Type="http://schemas.openxmlformats.org/officeDocument/2006/relationships/slideLayout" Target="/ppt/slideLayouts/slideLayout3.xml" Id="rId1" /></Relationships>
</file>

<file path=ppt/slides/_rels/slide11.xml.rels>&#65279;<?xml version="1.0" encoding="utf-8"?><Relationships xmlns="http://schemas.openxmlformats.org/package/2006/relationships"><Relationship Type="http://schemas.openxmlformats.org/officeDocument/2006/relationships/image" Target="/ppt/media/image10.png" Id="rId3" /><Relationship Type="http://schemas.openxmlformats.org/officeDocument/2006/relationships/notesSlide" Target="/ppt/notesSlides/notesSlide11.xml" Id="rId2" /><Relationship Type="http://schemas.openxmlformats.org/officeDocument/2006/relationships/slideLayout" Target="/ppt/slideLayouts/slideLayout4.xml" Id="rId1" /><Relationship Type="http://schemas.openxmlformats.org/officeDocument/2006/relationships/image" Target="/ppt/media/image11.png" Id="rId4" /></Relationships>
</file>

<file path=ppt/slides/_rels/slide12.xml.rels>&#65279;<?xml version="1.0" encoding="utf-8"?><Relationships xmlns="http://schemas.openxmlformats.org/package/2006/relationships"><Relationship Type="http://schemas.openxmlformats.org/officeDocument/2006/relationships/notesSlide" Target="/ppt/notesSlides/notesSlide12.xml" Id="rId2" /><Relationship Type="http://schemas.openxmlformats.org/officeDocument/2006/relationships/slideLayout" Target="/ppt/slideLayouts/slideLayout5.xml" Id="rId1" /></Relationships>
</file>

<file path=ppt/slides/_rels/slide13.xml.rels>&#65279;<?xml version="1.0" encoding="utf-8"?><Relationships xmlns="http://schemas.openxmlformats.org/package/2006/relationships"><Relationship Type="http://schemas.openxmlformats.org/officeDocument/2006/relationships/notesSlide" Target="/ppt/notesSlides/notesSlide13.xml" Id="rId2" /><Relationship Type="http://schemas.openxmlformats.org/officeDocument/2006/relationships/slideLayout" Target="/ppt/slideLayouts/slideLayout6.xml" Id="rId1" /></Relationships>
</file>

<file path=ppt/slides/_rels/slide14.xml.rels>&#65279;<?xml version="1.0" encoding="utf-8"?><Relationships xmlns="http://schemas.openxmlformats.org/package/2006/relationships"><Relationship Type="http://schemas.openxmlformats.org/officeDocument/2006/relationships/image" Target="/ppt/media/image17.svg" Id="rId8" /><Relationship Type="http://schemas.openxmlformats.org/officeDocument/2006/relationships/image" Target="/ppt/media/image22.png" Id="rId13" /><Relationship Type="http://schemas.openxmlformats.org/officeDocument/2006/relationships/image" Target="/ppt/media/image12.png" Id="rId3" /><Relationship Type="http://schemas.openxmlformats.org/officeDocument/2006/relationships/image" Target="/ppt/media/image16.png" Id="rId7" /><Relationship Type="http://schemas.openxmlformats.org/officeDocument/2006/relationships/image" Target="/ppt/media/image21.svg" Id="rId12" /><Relationship Type="http://schemas.openxmlformats.org/officeDocument/2006/relationships/notesSlide" Target="/ppt/notesSlides/notesSlide14.xml" Id="rId2" /><Relationship Type="http://schemas.openxmlformats.org/officeDocument/2006/relationships/slideLayout" Target="/ppt/slideLayouts/slideLayout7.xml" Id="rId1" /><Relationship Type="http://schemas.openxmlformats.org/officeDocument/2006/relationships/image" Target="/ppt/media/image15.svg" Id="rId6" /><Relationship Type="http://schemas.openxmlformats.org/officeDocument/2006/relationships/image" Target="/ppt/media/image20.png" Id="rId11" /><Relationship Type="http://schemas.openxmlformats.org/officeDocument/2006/relationships/image" Target="/ppt/media/image14.png" Id="rId5" /><Relationship Type="http://schemas.openxmlformats.org/officeDocument/2006/relationships/image" Target="/ppt/media/image19.svg" Id="rId10" /><Relationship Type="http://schemas.openxmlformats.org/officeDocument/2006/relationships/image" Target="/ppt/media/image13.svg" Id="rId4" /><Relationship Type="http://schemas.openxmlformats.org/officeDocument/2006/relationships/image" Target="/ppt/media/image18.png" Id="rId9" /><Relationship Type="http://schemas.openxmlformats.org/officeDocument/2006/relationships/image" Target="/ppt/media/image23.svg" Id="rId14" /></Relationships>
</file>

<file path=ppt/slides/_rels/slide15.xml.rels>&#65279;<?xml version="1.0" encoding="utf-8"?><Relationships xmlns="http://schemas.openxmlformats.org/package/2006/relationships"><Relationship Type="http://schemas.openxmlformats.org/officeDocument/2006/relationships/notesSlide" Target="/ppt/notesSlides/notesSlide15.xml" Id="rId2" /><Relationship Type="http://schemas.openxmlformats.org/officeDocument/2006/relationships/slideLayout" Target="/ppt/slideLayouts/slideLayout8.xml" Id="rId1" /></Relationships>
</file>

<file path=ppt/slides/_rels/slide16.xml.rels>&#65279;<?xml version="1.0" encoding="utf-8"?><Relationships xmlns="http://schemas.openxmlformats.org/package/2006/relationships"><Relationship Type="http://schemas.openxmlformats.org/officeDocument/2006/relationships/notesSlide" Target="/ppt/notesSlides/notesSlide16.xml" Id="rId2" /><Relationship Type="http://schemas.openxmlformats.org/officeDocument/2006/relationships/slideLayout" Target="/ppt/slideLayouts/slideLayout9.xml" Id="rId1" /></Relationships>
</file>

<file path=ppt/slides/_rels/slide17.xml.rels>&#65279;<?xml version="1.0" encoding="utf-8"?><Relationships xmlns="http://schemas.openxmlformats.org/package/2006/relationships"><Relationship Type="http://schemas.openxmlformats.org/officeDocument/2006/relationships/notesSlide" Target="/ppt/notesSlides/notesSlide17.xml" Id="rId2" /><Relationship Type="http://schemas.openxmlformats.org/officeDocument/2006/relationships/slideLayout" Target="/ppt/slideLayouts/slideLayout10.xml" Id="rId1" /></Relationships>
</file>

<file path=ppt/slides/_rels/slide18.xml.rels>&#65279;<?xml version="1.0" encoding="utf-8"?><Relationships xmlns="http://schemas.openxmlformats.org/package/2006/relationships"><Relationship Type="http://schemas.openxmlformats.org/officeDocument/2006/relationships/image" Target="/ppt/media/image24.png" Id="rId3" /><Relationship Type="http://schemas.openxmlformats.org/officeDocument/2006/relationships/notesSlide" Target="/ppt/notesSlides/notesSlide18.xml" Id="rId2" /><Relationship Type="http://schemas.openxmlformats.org/officeDocument/2006/relationships/slideLayout" Target="/ppt/slideLayouts/slideLayout2.xml" Id="rId1" /></Relationships>
</file>

<file path=ppt/slides/_rels/slide19.xml.rels>&#65279;<?xml version="1.0" encoding="utf-8"?><Relationships xmlns="http://schemas.openxmlformats.org/package/2006/relationships"><Relationship Type="http://schemas.openxmlformats.org/officeDocument/2006/relationships/image" Target="/ppt/media/image25.png" Id="rId3" /><Relationship Type="http://schemas.openxmlformats.org/officeDocument/2006/relationships/notesSlide" Target="/ppt/notesSlides/notesSlide19.xml" Id="rId2" /><Relationship Type="http://schemas.openxmlformats.org/officeDocument/2006/relationships/slideLayout" Target="/ppt/slideLayouts/slideLayout3.xml" Id="rId1" /></Relationships>
</file>

<file path=ppt/slides/_rels/slide20.xml.rels>&#65279;<?xml version="1.0" encoding="utf-8"?><Relationships xmlns="http://schemas.openxmlformats.org/package/2006/relationships"><Relationship Type="http://schemas.openxmlformats.org/officeDocument/2006/relationships/image" Target="/ppt/media/image26.png" Id="rId3" /><Relationship Type="http://schemas.openxmlformats.org/officeDocument/2006/relationships/notesSlide" Target="/ppt/notesSlides/notesSlide20.xml" Id="rId2" /><Relationship Type="http://schemas.openxmlformats.org/officeDocument/2006/relationships/slideLayout" Target="/ppt/slideLayouts/slideLayout4.xml" Id="rId1" /><Relationship Type="http://schemas.openxmlformats.org/officeDocument/2006/relationships/image" Target="/ppt/media/image27.png" Id="rId4" /></Relationships>
</file>

<file path=ppt/slides/_rels/slide21.xml.rels>&#65279;<?xml version="1.0" encoding="utf-8"?><Relationships xmlns="http://schemas.openxmlformats.org/package/2006/relationships"><Relationship Type="http://schemas.openxmlformats.org/officeDocument/2006/relationships/image" Target="/ppt/media/image33.svg" Id="rId8" /><Relationship Type="http://schemas.openxmlformats.org/officeDocument/2006/relationships/image" Target="/ppt/media/image28.png" Id="rId3" /><Relationship Type="http://schemas.openxmlformats.org/officeDocument/2006/relationships/image" Target="/ppt/media/image32.png" Id="rId7" /><Relationship Type="http://schemas.openxmlformats.org/officeDocument/2006/relationships/notesSlide" Target="/ppt/notesSlides/notesSlide21.xml" Id="rId2" /><Relationship Type="http://schemas.openxmlformats.org/officeDocument/2006/relationships/slideLayout" Target="/ppt/slideLayouts/slideLayout5.xml" Id="rId1" /><Relationship Type="http://schemas.openxmlformats.org/officeDocument/2006/relationships/image" Target="/ppt/media/image31.svg" Id="rId6" /><Relationship Type="http://schemas.openxmlformats.org/officeDocument/2006/relationships/image" Target="/ppt/media/image30.png" Id="rId5" /><Relationship Type="http://schemas.openxmlformats.org/officeDocument/2006/relationships/image" Target="/ppt/media/image29.svg" Id="rId4" /></Relationships>
</file>

<file path=ppt/slides/_rels/slide22.xml.rels>&#65279;<?xml version="1.0" encoding="utf-8"?><Relationships xmlns="http://schemas.openxmlformats.org/package/2006/relationships"><Relationship Type="http://schemas.openxmlformats.org/officeDocument/2006/relationships/notesSlide" Target="/ppt/notesSlides/notesSlide22.xml" Id="rId2" /><Relationship Type="http://schemas.openxmlformats.org/officeDocument/2006/relationships/slideLayout" Target="/ppt/slideLayouts/slideLayout6.xml" Id="rId1" /></Relationships>
</file>

<file path=ppt/slides/_rels/slide23.xml.rels>&#65279;<?xml version="1.0" encoding="utf-8"?><Relationships xmlns="http://schemas.openxmlformats.org/package/2006/relationships"><Relationship Type="http://schemas.openxmlformats.org/officeDocument/2006/relationships/image" Target="/ppt/media/image39.png" Id="rId8" /><Relationship Type="http://schemas.openxmlformats.org/officeDocument/2006/relationships/image" Target="/ppt/media/image34.png" Id="rId3" /><Relationship Type="http://schemas.openxmlformats.org/officeDocument/2006/relationships/image" Target="/ppt/media/image38.png" Id="rId7" /><Relationship Type="http://schemas.openxmlformats.org/officeDocument/2006/relationships/notesSlide" Target="/ppt/notesSlides/notesSlide23.xml" Id="rId2" /><Relationship Type="http://schemas.openxmlformats.org/officeDocument/2006/relationships/slideLayout" Target="/ppt/slideLayouts/slideLayout7.xml" Id="rId1" /><Relationship Type="http://schemas.openxmlformats.org/officeDocument/2006/relationships/image" Target="/ppt/media/image37.png" Id="rId6" /><Relationship Type="http://schemas.openxmlformats.org/officeDocument/2006/relationships/image" Target="/ppt/media/image36.png" Id="rId5" /><Relationship Type="http://schemas.openxmlformats.org/officeDocument/2006/relationships/image" Target="/ppt/media/image35.png" Id="rId4" /></Relationships>
</file>

<file path=ppt/slides/_rels/slide24.xml.rels>&#65279;<?xml version="1.0" encoding="utf-8"?><Relationships xmlns="http://schemas.openxmlformats.org/package/2006/relationships"><Relationship Type="http://schemas.openxmlformats.org/officeDocument/2006/relationships/image" Target="/ppt/media/image13.svg" Id="rId8" /><Relationship Type="http://schemas.openxmlformats.org/officeDocument/2006/relationships/image" Target="/ppt/media/image18.png" Id="rId3" /><Relationship Type="http://schemas.openxmlformats.org/officeDocument/2006/relationships/image" Target="/ppt/media/image12.png" Id="rId7" /><Relationship Type="http://schemas.openxmlformats.org/officeDocument/2006/relationships/image" Target="/ppt/media/image15.svg" Id="rId12" /><Relationship Type="http://schemas.openxmlformats.org/officeDocument/2006/relationships/notesSlide" Target="/ppt/notesSlides/notesSlide24.xml" Id="rId2" /><Relationship Type="http://schemas.openxmlformats.org/officeDocument/2006/relationships/slideLayout" Target="/ppt/slideLayouts/slideLayout8.xml" Id="rId1" /><Relationship Type="http://schemas.openxmlformats.org/officeDocument/2006/relationships/image" Target="/ppt/media/image41.svg" Id="rId6" /><Relationship Type="http://schemas.openxmlformats.org/officeDocument/2006/relationships/image" Target="/ppt/media/image14.png" Id="rId11" /><Relationship Type="http://schemas.openxmlformats.org/officeDocument/2006/relationships/image" Target="/ppt/media/image40.png" Id="rId5" /><Relationship Type="http://schemas.openxmlformats.org/officeDocument/2006/relationships/image" Target="/ppt/media/image43.svg" Id="rId10" /><Relationship Type="http://schemas.openxmlformats.org/officeDocument/2006/relationships/image" Target="/ppt/media/image19.svg" Id="rId4" /><Relationship Type="http://schemas.openxmlformats.org/officeDocument/2006/relationships/image" Target="/ppt/media/image42.png" Id="rId9" /></Relationships>
</file>

<file path=ppt/slides/_rels/slide25.xml.rels>&#65279;<?xml version="1.0" encoding="utf-8"?><Relationships xmlns="http://schemas.openxmlformats.org/package/2006/relationships"><Relationship Type="http://schemas.openxmlformats.org/officeDocument/2006/relationships/notesSlide" Target="/ppt/notesSlides/notesSlide25.xml" Id="rId2" /><Relationship Type="http://schemas.openxmlformats.org/officeDocument/2006/relationships/slideLayout" Target="/ppt/slideLayouts/slideLayout9.xml" Id="rId1" /></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2575322"/>
            <a:ext cx="7416403" cy="2313861"/>
          </a:xfrm>
          <a:prstGeom prst="rect">
            <a:avLst/>
          </a:prstGeom>
          <a:noFill/>
          <a:ln/>
        </p:spPr>
        <p:txBody>
          <a:bodyPr wrap="square" lIns="0" tIns="0" rIns="0" bIns="0" rtlCol="0" anchor="t"/>
          <a:lstStyle/>
          <a:p>
            <a:pPr marL="0" indent="0" algn="l">
              <a:lnSpc>
                <a:spcPts val="6050"/>
              </a:lnSpc>
              <a:buNone/>
            </a:pPr>
            <a:r>
              <a:rPr lang="en-US" sz="4850" b="1" dirty="0">
                <a:solidFill>
                  <a:srgbClr val="F5F0F0"/>
                </a:solidFill>
                <a:latin typeface="Merriweather" pitchFamily="34" charset="0"/>
                <a:ea typeface="Merriweather" pitchFamily="34" charset="-122"/>
                <a:cs typeface="Merriweather" pitchFamily="34" charset="-120"/>
              </a:rPr>
              <a:t>Storage Locations of Website Security Tokens in Browsers</a:t>
            </a:r>
            <a:endParaRPr lang="en-US" sz="4850" dirty="0"/>
          </a:p>
        </p:txBody>
      </p:sp>
      <p:sp>
        <p:nvSpPr>
          <p:cNvPr id="4" name="Text 1"/>
          <p:cNvSpPr/>
          <p:nvPr/>
        </p:nvSpPr>
        <p:spPr>
          <a:xfrm>
            <a:off x="863798" y="5259348"/>
            <a:ext cx="7416403" cy="394811"/>
          </a:xfrm>
          <a:prstGeom prst="rect">
            <a:avLst/>
          </a:prstGeom>
          <a:noFill/>
          <a:ln/>
        </p:spPr>
        <p:txBody>
          <a:bodyPr wrap="none" lIns="0" tIns="0" rIns="0" bIns="0" rtlCol="0" anchor="t"/>
          <a:lstStyle/>
          <a:p>
            <a:pPr marL="0" indent="0" algn="l">
              <a:lnSpc>
                <a:spcPts val="3100"/>
              </a:lnSpc>
              <a:buNone/>
            </a:pPr>
            <a:endParaRPr lang="en-US" sz="1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59787"/>
          </a:xfrm>
          <a:prstGeom prst="rect">
            <a:avLst/>
          </a:prstGeom>
        </p:spPr>
      </p:pic>
      <p:sp>
        <p:nvSpPr>
          <p:cNvPr id="3" name="Text 0"/>
          <p:cNvSpPr/>
          <p:nvPr/>
        </p:nvSpPr>
        <p:spPr>
          <a:xfrm>
            <a:off x="856655" y="3732848"/>
            <a:ext cx="12917091" cy="3824883"/>
          </a:xfrm>
          <a:prstGeom prst="rect">
            <a:avLst/>
          </a:prstGeom>
          <a:noFill/>
          <a:ln/>
        </p:spPr>
        <p:txBody>
          <a:bodyPr wrap="square" lIns="0" tIns="0" rIns="0" bIns="0" rtlCol="0" anchor="t"/>
          <a:lstStyle/>
          <a:p>
            <a:pPr marL="0" indent="0" algn="l">
              <a:lnSpc>
                <a:spcPts val="6000"/>
              </a:lnSpc>
              <a:buNone/>
            </a:pPr>
            <a:r>
              <a:rPr lang="en-US" sz="4800" dirty="0">
                <a:solidFill>
                  <a:srgbClr val="F5F0F0"/>
                </a:solidFill>
                <a:latin typeface="Merriweather" pitchFamily="34" charset="0"/>
                <a:ea typeface="Merriweather" pitchFamily="34" charset="-122"/>
                <a:cs typeface="Merriweather" pitchFamily="34" charset="-120"/>
              </a:rPr>
              <a:t>Security tokens for websites (like JWTs, session cookies, OAuth tokens, or CSRF tokens) are typically stored in the browser in one of these main places, depending on how the site implements authentication:</a:t>
            </a:r>
            <a:endParaRPr lang="en-US" sz="4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1000363" y="894159"/>
            <a:ext cx="8283178" cy="503277"/>
          </a:xfrm>
          <a:prstGeom prst="rect">
            <a:avLst/>
          </a:prstGeom>
          <a:noFill/>
          <a:ln/>
        </p:spPr>
        <p:txBody>
          <a:bodyPr wrap="none" lIns="0" tIns="0" rIns="0" bIns="0" rtlCol="0" anchor="t"/>
          <a:lstStyle/>
          <a:p>
            <a:pPr marL="0" indent="0" algn="l">
              <a:lnSpc>
                <a:spcPts val="3950"/>
              </a:lnSpc>
              <a:buNone/>
            </a:pPr>
            <a:r>
              <a:rPr lang="en-US" sz="3150" dirty="0">
                <a:solidFill>
                  <a:srgbClr val="609DFF"/>
                </a:solidFill>
                <a:latin typeface="Merriweather" pitchFamily="34" charset="0"/>
                <a:ea typeface="Merriweather" pitchFamily="34" charset="-122"/>
                <a:cs typeface="Merriweather" pitchFamily="34" charset="-120"/>
              </a:rPr>
              <a:t>Cookies</a:t>
            </a:r>
            <a:r>
              <a:rPr lang="en-US" sz="3150" dirty="0">
                <a:solidFill>
                  <a:srgbClr val="F5F0F0"/>
                </a:solidFill>
                <a:latin typeface="Merriweather" pitchFamily="34" charset="0"/>
                <a:ea typeface="Merriweather" pitchFamily="34" charset="-122"/>
                <a:cs typeface="Merriweather" pitchFamily="34" charset="-120"/>
              </a:rPr>
              <a:t> (most common for session tokens)</a:t>
            </a:r>
            <a:endParaRPr lang="en-US" sz="3150" dirty="0"/>
          </a:p>
        </p:txBody>
      </p:sp>
      <p:sp>
        <p:nvSpPr>
          <p:cNvPr id="3" name="Text 1"/>
          <p:cNvSpPr/>
          <p:nvPr/>
        </p:nvSpPr>
        <p:spPr>
          <a:xfrm>
            <a:off x="1000363" y="1725811"/>
            <a:ext cx="12629674" cy="731044"/>
          </a:xfrm>
          <a:prstGeom prst="rect">
            <a:avLst/>
          </a:prstGeom>
          <a:noFill/>
          <a:ln/>
        </p:spPr>
        <p:txBody>
          <a:bodyPr wrap="square" lIns="0" tIns="0" rIns="0" bIns="0" rtlCol="0" anchor="t"/>
          <a:lstStyle/>
          <a:p>
            <a:pPr marL="0" indent="0" algn="l">
              <a:lnSpc>
                <a:spcPts val="2850"/>
              </a:lnSpc>
              <a:buNone/>
            </a:pPr>
            <a:r>
              <a:rPr lang="en-US" sz="1950" dirty="0">
                <a:solidFill>
                  <a:srgbClr val="E2E6E9"/>
                </a:solidFill>
                <a:latin typeface="Merriweather" pitchFamily="34" charset="0"/>
                <a:ea typeface="Merriweather" pitchFamily="34" charset="-122"/>
                <a:cs typeface="Merriweather" pitchFamily="34" charset="-120"/>
              </a:rPr>
              <a:t>Stored in the browser's cookie jar, accessible via document.cookie in JavaScript. They're sent automatically with HTTP requests to the same domain.</a:t>
            </a:r>
            <a:endParaRPr lang="en-US" sz="1950" dirty="0"/>
          </a:p>
        </p:txBody>
      </p:sp>
      <p:sp>
        <p:nvSpPr>
          <p:cNvPr id="4" name="Text 2"/>
          <p:cNvSpPr/>
          <p:nvPr/>
        </p:nvSpPr>
        <p:spPr>
          <a:xfrm>
            <a:off x="1000363" y="2641521"/>
            <a:ext cx="12629674" cy="365522"/>
          </a:xfrm>
          <a:prstGeom prst="rect">
            <a:avLst/>
          </a:prstGeom>
          <a:noFill/>
          <a:ln/>
        </p:spPr>
        <p:txBody>
          <a:bodyPr wrap="none" lIns="0" tIns="0" rIns="0" bIns="0" rtlCol="0" anchor="t"/>
          <a:lstStyle/>
          <a:p>
            <a:pPr marL="0" indent="0" algn="l">
              <a:lnSpc>
                <a:spcPts val="2850"/>
              </a:lnSpc>
              <a:buNone/>
            </a:pPr>
            <a:r>
              <a:rPr lang="en-US" sz="1950" dirty="0">
                <a:solidFill>
                  <a:srgbClr val="E2E6E9"/>
                </a:solidFill>
                <a:latin typeface="Merriweather" pitchFamily="34" charset="0"/>
                <a:ea typeface="Merriweather" pitchFamily="34" charset="-122"/>
                <a:cs typeface="Merriweather" pitchFamily="34" charset="-120"/>
              </a:rPr>
              <a:t>Check them in DevTools under </a:t>
            </a:r>
            <a:r>
              <a:rPr lang="en-US" sz="1950" b="1" dirty="0">
                <a:solidFill>
                  <a:srgbClr val="E2E6E9"/>
                </a:solidFill>
                <a:latin typeface="Merriweather" pitchFamily="34" charset="0"/>
                <a:ea typeface="Merriweather" pitchFamily="34" charset="-122"/>
                <a:cs typeface="Merriweather" pitchFamily="34" charset="-120"/>
              </a:rPr>
              <a:t>Application &gt; Cookies</a:t>
            </a:r>
            <a:r>
              <a:rPr lang="en-US" sz="1950" dirty="0">
                <a:solidFill>
                  <a:srgbClr val="E2E6E9"/>
                </a:solidFill>
                <a:latin typeface="Merriweather" pitchFamily="34" charset="0"/>
                <a:ea typeface="Merriweather" pitchFamily="34" charset="-122"/>
                <a:cs typeface="Merriweather" pitchFamily="34" charset="-120"/>
              </a:rPr>
              <a:t> (Chrome/Edge) or </a:t>
            </a:r>
            <a:r>
              <a:rPr lang="en-US" sz="1950" b="1" dirty="0">
                <a:solidFill>
                  <a:srgbClr val="E2E6E9"/>
                </a:solidFill>
                <a:latin typeface="Merriweather" pitchFamily="34" charset="0"/>
                <a:ea typeface="Merriweather" pitchFamily="34" charset="-122"/>
                <a:cs typeface="Merriweather" pitchFamily="34" charset="-120"/>
              </a:rPr>
              <a:t>Storage &gt; Cookies</a:t>
            </a:r>
            <a:r>
              <a:rPr lang="en-US" sz="1950" dirty="0">
                <a:solidFill>
                  <a:srgbClr val="E2E6E9"/>
                </a:solidFill>
                <a:latin typeface="Merriweather" pitchFamily="34" charset="0"/>
                <a:ea typeface="Merriweather" pitchFamily="34" charset="-122"/>
                <a:cs typeface="Merriweather" pitchFamily="34" charset="-120"/>
              </a:rPr>
              <a:t> (Firefox).</a:t>
            </a:r>
            <a:endParaRPr lang="en-US" sz="1950" dirty="0"/>
          </a:p>
        </p:txBody>
      </p:sp>
      <p:sp>
        <p:nvSpPr>
          <p:cNvPr id="5" name="Text 3"/>
          <p:cNvSpPr/>
          <p:nvPr/>
        </p:nvSpPr>
        <p:spPr>
          <a:xfrm>
            <a:off x="1000363" y="3191708"/>
            <a:ext cx="12629674" cy="373142"/>
          </a:xfrm>
          <a:prstGeom prst="rect">
            <a:avLst/>
          </a:prstGeom>
          <a:noFill/>
          <a:ln/>
        </p:spPr>
        <p:txBody>
          <a:bodyPr wrap="none" lIns="0" tIns="0" rIns="0" bIns="0" rtlCol="0" anchor="t"/>
          <a:lstStyle/>
          <a:p>
            <a:pPr marL="0" indent="0" algn="l">
              <a:lnSpc>
                <a:spcPts val="2850"/>
              </a:lnSpc>
              <a:buNone/>
            </a:pPr>
            <a:r>
              <a:rPr lang="en-US" sz="1950" dirty="0">
                <a:solidFill>
                  <a:srgbClr val="E2E6E9"/>
                </a:solidFill>
                <a:latin typeface="Merriweather" pitchFamily="34" charset="0"/>
                <a:ea typeface="Merriweather" pitchFamily="34" charset="-122"/>
                <a:cs typeface="Merriweather" pitchFamily="34" charset="-120"/>
              </a:rPr>
              <a:t>Sensitive ones often have </a:t>
            </a:r>
            <a:r>
              <a:rPr lang="en-US" sz="1950" dirty="0">
                <a:solidFill>
                  <a:srgbClr val="E2E6E9"/>
                </a:solidFill>
                <a:highlight>
                  <a:srgbClr val="162227"/>
                </a:highlight>
                <a:latin typeface="Consolas" pitchFamily="34" charset="0"/>
                <a:ea typeface="Consolas" pitchFamily="34" charset="-122"/>
                <a:cs typeface="Consolas" pitchFamily="34" charset="-120"/>
              </a:rPr>
              <a:t>HttpOnly</a:t>
            </a:r>
            <a:r>
              <a:rPr lang="en-US" sz="1950" dirty="0">
                <a:solidFill>
                  <a:srgbClr val="E2E6E9"/>
                </a:solidFill>
                <a:latin typeface="Merriweather" pitchFamily="34" charset="0"/>
                <a:ea typeface="Merriweather" pitchFamily="34" charset="-122"/>
                <a:cs typeface="Merriweather" pitchFamily="34" charset="-120"/>
              </a:rPr>
              <a:t> (blocks JS access), </a:t>
            </a:r>
            <a:r>
              <a:rPr lang="en-US" sz="1950" dirty="0">
                <a:solidFill>
                  <a:srgbClr val="E2E6E9"/>
                </a:solidFill>
                <a:highlight>
                  <a:srgbClr val="162227"/>
                </a:highlight>
                <a:latin typeface="Consolas" pitchFamily="34" charset="0"/>
                <a:ea typeface="Consolas" pitchFamily="34" charset="-122"/>
                <a:cs typeface="Consolas" pitchFamily="34" charset="-120"/>
              </a:rPr>
              <a:t>Secure</a:t>
            </a:r>
            <a:r>
              <a:rPr lang="en-US" sz="1950" dirty="0">
                <a:solidFill>
                  <a:srgbClr val="E2E6E9"/>
                </a:solidFill>
                <a:latin typeface="Merriweather" pitchFamily="34" charset="0"/>
                <a:ea typeface="Merriweather" pitchFamily="34" charset="-122"/>
                <a:cs typeface="Merriweather" pitchFamily="34" charset="-120"/>
              </a:rPr>
              <a:t> (HTTPS only), and </a:t>
            </a:r>
            <a:r>
              <a:rPr lang="en-US" sz="1950" dirty="0">
                <a:solidFill>
                  <a:srgbClr val="E2E6E9"/>
                </a:solidFill>
                <a:highlight>
                  <a:srgbClr val="162227"/>
                </a:highlight>
                <a:latin typeface="Consolas" pitchFamily="34" charset="0"/>
                <a:ea typeface="Consolas" pitchFamily="34" charset="-122"/>
                <a:cs typeface="Consolas" pitchFamily="34" charset="-120"/>
              </a:rPr>
              <a:t>SameSite</a:t>
            </a:r>
            <a:r>
              <a:rPr lang="en-US" sz="1950" dirty="0">
                <a:solidFill>
                  <a:srgbClr val="E2E6E9"/>
                </a:solidFill>
                <a:latin typeface="Merriweather" pitchFamily="34" charset="0"/>
                <a:ea typeface="Merriweather" pitchFamily="34" charset="-122"/>
                <a:cs typeface="Merriweather" pitchFamily="34" charset="-120"/>
              </a:rPr>
              <a:t> flags.</a:t>
            </a:r>
            <a:endParaRPr lang="en-US" sz="1950" dirty="0"/>
          </a:p>
        </p:txBody>
      </p:sp>
      <p:pic>
        <p:nvPicPr>
          <p:cNvPr id="6" name="Image 0" descr="preencoded.png"/>
          <p:cNvPicPr>
            <a:picLocks noChangeAspect="1"/>
          </p:cNvPicPr>
          <p:nvPr/>
        </p:nvPicPr>
        <p:blipFill>
          <a:blip r:embed="rId3"/>
          <a:stretch>
            <a:fillRect/>
          </a:stretch>
        </p:blipFill>
        <p:spPr>
          <a:xfrm>
            <a:off x="1000363" y="3934182"/>
            <a:ext cx="6069211" cy="3216592"/>
          </a:xfrm>
          <a:prstGeom prst="rect">
            <a:avLst/>
          </a:prstGeom>
        </p:spPr>
      </p:pic>
      <p:pic>
        <p:nvPicPr>
          <p:cNvPr id="7" name="Image 1" descr="preencoded.png"/>
          <p:cNvPicPr>
            <a:picLocks noChangeAspect="1"/>
          </p:cNvPicPr>
          <p:nvPr/>
        </p:nvPicPr>
        <p:blipFill>
          <a:blip r:embed="rId4"/>
          <a:stretch>
            <a:fillRect/>
          </a:stretch>
        </p:blipFill>
        <p:spPr>
          <a:xfrm>
            <a:off x="7568446" y="3934182"/>
            <a:ext cx="6069211" cy="3216592"/>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1184196" y="572333"/>
            <a:ext cx="5863709" cy="488752"/>
          </a:xfrm>
          <a:prstGeom prst="rect">
            <a:avLst/>
          </a:prstGeom>
          <a:noFill/>
          <a:ln/>
        </p:spPr>
        <p:txBody>
          <a:bodyPr wrap="none" lIns="0" tIns="0" rIns="0" bIns="0" rtlCol="0" anchor="t"/>
          <a:lstStyle/>
          <a:p>
            <a:pPr marL="0" indent="0" algn="l">
              <a:lnSpc>
                <a:spcPts val="3800"/>
              </a:lnSpc>
              <a:buNone/>
            </a:pPr>
            <a:r>
              <a:rPr lang="en-US" sz="3050" dirty="0">
                <a:solidFill>
                  <a:srgbClr val="609DFF"/>
                </a:solidFill>
                <a:latin typeface="Merriweather" pitchFamily="34" charset="0"/>
                <a:ea typeface="Merriweather" pitchFamily="34" charset="-122"/>
                <a:cs typeface="Merriweather" pitchFamily="34" charset="-120"/>
              </a:rPr>
              <a:t>LocalStorage or SessionStorage</a:t>
            </a:r>
            <a:endParaRPr lang="en-US" sz="3050" dirty="0"/>
          </a:p>
        </p:txBody>
      </p:sp>
      <p:sp>
        <p:nvSpPr>
          <p:cNvPr id="3" name="Text 1"/>
          <p:cNvSpPr/>
          <p:nvPr/>
        </p:nvSpPr>
        <p:spPr>
          <a:xfrm>
            <a:off x="1184196" y="1370647"/>
            <a:ext cx="12261890" cy="707946"/>
          </a:xfrm>
          <a:prstGeom prst="rect">
            <a:avLst/>
          </a:prstGeom>
          <a:noFill/>
          <a:ln/>
        </p:spPr>
        <p:txBody>
          <a:bodyPr wrap="square" lIns="0" tIns="0" rIns="0" bIns="0" rtlCol="0" anchor="t"/>
          <a:lstStyle/>
          <a:p>
            <a:pPr marL="0" indent="0" algn="l">
              <a:lnSpc>
                <a:spcPts val="2750"/>
              </a:lnSpc>
              <a:buNone/>
            </a:pPr>
            <a:r>
              <a:rPr lang="en-US" sz="1900" dirty="0">
                <a:solidFill>
                  <a:srgbClr val="E2E6E9"/>
                </a:solidFill>
                <a:latin typeface="Merriweather" pitchFamily="34" charset="0"/>
                <a:ea typeface="Merriweather" pitchFamily="34" charset="-122"/>
                <a:cs typeface="Merriweather" pitchFamily="34" charset="-120"/>
              </a:rPr>
              <a:t>Stored as key-value pairs in the browser's Web Storage API. Easily accessible via </a:t>
            </a:r>
            <a:r>
              <a:rPr lang="en-US" sz="1900" dirty="0">
                <a:solidFill>
                  <a:srgbClr val="E2E6E9"/>
                </a:solidFill>
                <a:highlight>
                  <a:srgbClr val="162227"/>
                </a:highlight>
                <a:latin typeface="Consolas" pitchFamily="34" charset="0"/>
                <a:ea typeface="Consolas" pitchFamily="34" charset="-122"/>
                <a:cs typeface="Consolas" pitchFamily="34" charset="-120"/>
              </a:rPr>
              <a:t>localStorage.getItem('token')</a:t>
            </a:r>
            <a:r>
              <a:rPr lang="en-US" sz="1900" dirty="0">
                <a:solidFill>
                  <a:srgbClr val="E2E6E9"/>
                </a:solidFill>
                <a:latin typeface="Merriweather" pitchFamily="34" charset="0"/>
                <a:ea typeface="Merriweather" pitchFamily="34" charset="-122"/>
                <a:cs typeface="Merriweather" pitchFamily="34" charset="-120"/>
              </a:rPr>
              <a:t> or </a:t>
            </a:r>
            <a:r>
              <a:rPr lang="en-US" sz="1900" dirty="0">
                <a:solidFill>
                  <a:srgbClr val="E2E6E9"/>
                </a:solidFill>
                <a:highlight>
                  <a:srgbClr val="162227"/>
                </a:highlight>
                <a:latin typeface="Consolas" pitchFamily="34" charset="0"/>
                <a:ea typeface="Consolas" pitchFamily="34" charset="-122"/>
                <a:cs typeface="Consolas" pitchFamily="34" charset="-120"/>
              </a:rPr>
              <a:t>sessionStorage.getItem('token')</a:t>
            </a:r>
            <a:r>
              <a:rPr lang="en-US" sz="1900" dirty="0">
                <a:solidFill>
                  <a:srgbClr val="E2E6E9"/>
                </a:solidFill>
                <a:latin typeface="Merriweather" pitchFamily="34" charset="0"/>
                <a:ea typeface="Merriweather" pitchFamily="34" charset="-122"/>
                <a:cs typeface="Merriweather" pitchFamily="34" charset="-120"/>
              </a:rPr>
              <a:t> in the console.</a:t>
            </a:r>
            <a:endParaRPr lang="en-US" sz="1900" dirty="0"/>
          </a:p>
        </p:txBody>
      </p:sp>
      <p:sp>
        <p:nvSpPr>
          <p:cNvPr id="4" name="Text 2"/>
          <p:cNvSpPr/>
          <p:nvPr/>
        </p:nvSpPr>
        <p:spPr>
          <a:xfrm>
            <a:off x="1184196" y="2252663"/>
            <a:ext cx="12261890" cy="350163"/>
          </a:xfrm>
          <a:prstGeom prst="rect">
            <a:avLst/>
          </a:prstGeom>
          <a:noFill/>
          <a:ln/>
        </p:spPr>
        <p:txBody>
          <a:bodyPr wrap="none" lIns="0" tIns="0" rIns="0" bIns="0" rtlCol="0" anchor="t"/>
          <a:lstStyle/>
          <a:p>
            <a:pPr marL="0" indent="0" algn="l">
              <a:lnSpc>
                <a:spcPts val="2750"/>
              </a:lnSpc>
              <a:buNone/>
            </a:pPr>
            <a:r>
              <a:rPr lang="en-US" sz="1900" dirty="0">
                <a:solidFill>
                  <a:srgbClr val="E2E6E9"/>
                </a:solidFill>
                <a:latin typeface="Merriweather" pitchFamily="34" charset="0"/>
                <a:ea typeface="Merriweather" pitchFamily="34" charset="-122"/>
                <a:cs typeface="Merriweather" pitchFamily="34" charset="-120"/>
              </a:rPr>
              <a:t>LocalStorage persists across sessions; SessionStorage clears on tab close.</a:t>
            </a:r>
            <a:endParaRPr lang="en-US" sz="1900" dirty="0"/>
          </a:p>
        </p:txBody>
      </p:sp>
      <p:sp>
        <p:nvSpPr>
          <p:cNvPr id="5" name="Text 3"/>
          <p:cNvSpPr/>
          <p:nvPr/>
        </p:nvSpPr>
        <p:spPr>
          <a:xfrm>
            <a:off x="1184196" y="2776895"/>
            <a:ext cx="12261890" cy="350163"/>
          </a:xfrm>
          <a:prstGeom prst="rect">
            <a:avLst/>
          </a:prstGeom>
          <a:noFill/>
          <a:ln/>
        </p:spPr>
        <p:txBody>
          <a:bodyPr wrap="none" lIns="0" tIns="0" rIns="0" bIns="0" rtlCol="0" anchor="t"/>
          <a:lstStyle/>
          <a:p>
            <a:pPr marL="0" indent="0" algn="l">
              <a:lnSpc>
                <a:spcPts val="2750"/>
              </a:lnSpc>
              <a:buNone/>
            </a:pPr>
            <a:r>
              <a:rPr lang="en-US" sz="1900" dirty="0">
                <a:solidFill>
                  <a:srgbClr val="E2E6E9"/>
                </a:solidFill>
                <a:latin typeface="Merriweather" pitchFamily="34" charset="0"/>
                <a:ea typeface="Merriweather" pitchFamily="34" charset="-122"/>
                <a:cs typeface="Merriweather" pitchFamily="34" charset="-120"/>
              </a:rPr>
              <a:t>View in DevTools: </a:t>
            </a:r>
            <a:r>
              <a:rPr lang="en-US" sz="1900" b="1" dirty="0">
                <a:solidFill>
                  <a:srgbClr val="E2E6E9"/>
                </a:solidFill>
                <a:latin typeface="Merriweather" pitchFamily="34" charset="0"/>
                <a:ea typeface="Merriweather" pitchFamily="34" charset="-122"/>
                <a:cs typeface="Merriweather" pitchFamily="34" charset="-120"/>
              </a:rPr>
              <a:t>Application &gt; Local Storage</a:t>
            </a:r>
            <a:r>
              <a:rPr lang="en-US" sz="1900" dirty="0">
                <a:solidFill>
                  <a:srgbClr val="E2E6E9"/>
                </a:solidFill>
                <a:latin typeface="Merriweather" pitchFamily="34" charset="0"/>
                <a:ea typeface="Merriweather" pitchFamily="34" charset="-122"/>
                <a:cs typeface="Merriweather" pitchFamily="34" charset="-120"/>
              </a:rPr>
              <a:t> or </a:t>
            </a:r>
            <a:r>
              <a:rPr lang="en-US" sz="1900" b="1" dirty="0">
                <a:solidFill>
                  <a:srgbClr val="E2E6E9"/>
                </a:solidFill>
                <a:latin typeface="Merriweather" pitchFamily="34" charset="0"/>
                <a:ea typeface="Merriweather" pitchFamily="34" charset="-122"/>
                <a:cs typeface="Merriweather" pitchFamily="34" charset="-120"/>
              </a:rPr>
              <a:t>Session Storage</a:t>
            </a:r>
            <a:r>
              <a:rPr lang="en-US" sz="1900" dirty="0">
                <a:solidFill>
                  <a:srgbClr val="E2E6E9"/>
                </a:solidFill>
                <a:latin typeface="Merriweather" pitchFamily="34" charset="0"/>
                <a:ea typeface="Merriweather" pitchFamily="34" charset="-122"/>
                <a:cs typeface="Merriweather" pitchFamily="34" charset="-120"/>
              </a:rPr>
              <a:t>.</a:t>
            </a:r>
            <a:endParaRPr lang="en-US" sz="1900" dirty="0"/>
          </a:p>
        </p:txBody>
      </p:sp>
      <p:pic>
        <p:nvPicPr>
          <p:cNvPr id="6" name="Image 0" descr="preencoded.png"/>
          <p:cNvPicPr>
            <a:picLocks noChangeAspect="1"/>
          </p:cNvPicPr>
          <p:nvPr/>
        </p:nvPicPr>
        <p:blipFill>
          <a:blip r:embed="rId3"/>
          <a:stretch>
            <a:fillRect/>
          </a:stretch>
        </p:blipFill>
        <p:spPr>
          <a:xfrm>
            <a:off x="782048" y="3559815"/>
            <a:ext cx="6668003" cy="2066960"/>
          </a:xfrm>
          <a:prstGeom prst="rect">
            <a:avLst/>
          </a:prstGeom>
        </p:spPr>
      </p:pic>
      <p:pic>
        <p:nvPicPr>
          <p:cNvPr id="7" name="Image 1" descr="preencoded.png"/>
          <p:cNvPicPr>
            <a:picLocks noChangeAspect="1"/>
          </p:cNvPicPr>
          <p:nvPr/>
        </p:nvPicPr>
        <p:blipFill>
          <a:blip r:embed="rId4"/>
          <a:stretch>
            <a:fillRect/>
          </a:stretch>
        </p:blipFill>
        <p:spPr>
          <a:xfrm>
            <a:off x="7561183" y="3475196"/>
            <a:ext cx="5892403" cy="4007882"/>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863798" y="2294811"/>
            <a:ext cx="4936569" cy="616982"/>
          </a:xfrm>
          <a:prstGeom prst="rect">
            <a:avLst/>
          </a:prstGeom>
          <a:noFill/>
          <a:ln/>
        </p:spPr>
        <p:txBody>
          <a:bodyPr wrap="none" lIns="0" tIns="0" rIns="0" bIns="0" rtlCol="0" anchor="t"/>
          <a:lstStyle/>
          <a:p>
            <a:pPr marL="0" indent="0" algn="l">
              <a:lnSpc>
                <a:spcPts val="4850"/>
              </a:lnSpc>
              <a:buNone/>
            </a:pPr>
            <a:r>
              <a:rPr lang="en-US" sz="3850" dirty="0">
                <a:solidFill>
                  <a:srgbClr val="609DFF"/>
                </a:solidFill>
                <a:latin typeface="Merriweather" pitchFamily="34" charset="0"/>
                <a:ea typeface="Merriweather" pitchFamily="34" charset="-122"/>
                <a:cs typeface="Merriweather" pitchFamily="34" charset="-120"/>
              </a:rPr>
              <a:t>IndexedDB</a:t>
            </a:r>
            <a:endParaRPr lang="en-US" sz="3850" dirty="0"/>
          </a:p>
        </p:txBody>
      </p:sp>
      <p:sp>
        <p:nvSpPr>
          <p:cNvPr id="3" name="Text 1"/>
          <p:cNvSpPr/>
          <p:nvPr/>
        </p:nvSpPr>
        <p:spPr>
          <a:xfrm>
            <a:off x="863798" y="3405426"/>
            <a:ext cx="12902803" cy="987028"/>
          </a:xfrm>
          <a:prstGeom prst="rect">
            <a:avLst/>
          </a:prstGeom>
          <a:noFill/>
          <a:ln/>
        </p:spPr>
        <p:txBody>
          <a:bodyPr wrap="square" lIns="0" tIns="0" rIns="0" bIns="0" rtlCol="0" anchor="t"/>
          <a:lstStyle/>
          <a:p>
            <a:pPr marL="0" indent="0" algn="l">
              <a:lnSpc>
                <a:spcPts val="3850"/>
              </a:lnSpc>
              <a:buNone/>
            </a:pPr>
            <a:r>
              <a:rPr lang="en-US" sz="2400" dirty="0">
                <a:solidFill>
                  <a:srgbClr val="E2E6E9"/>
                </a:solidFill>
                <a:latin typeface="Merriweather" pitchFamily="34" charset="0"/>
                <a:ea typeface="Merriweather" pitchFamily="34" charset="-122"/>
                <a:cs typeface="Merriweather" pitchFamily="34" charset="-120"/>
              </a:rPr>
              <a:t>For larger or structured token data, stored in a client-side database. Access via indexedDB API.</a:t>
            </a:r>
            <a:endParaRPr lang="en-US" sz="2400" dirty="0"/>
          </a:p>
        </p:txBody>
      </p:sp>
      <p:sp>
        <p:nvSpPr>
          <p:cNvPr id="4" name="Text 2"/>
          <p:cNvSpPr/>
          <p:nvPr/>
        </p:nvSpPr>
        <p:spPr>
          <a:xfrm>
            <a:off x="863798" y="4670108"/>
            <a:ext cx="12902803" cy="493514"/>
          </a:xfrm>
          <a:prstGeom prst="rect">
            <a:avLst/>
          </a:prstGeom>
          <a:noFill/>
          <a:ln/>
        </p:spPr>
        <p:txBody>
          <a:bodyPr wrap="none" lIns="0" tIns="0" rIns="0" bIns="0" rtlCol="0" anchor="t"/>
          <a:lstStyle/>
          <a:p>
            <a:pPr marL="0" indent="0" algn="l">
              <a:lnSpc>
                <a:spcPts val="3850"/>
              </a:lnSpc>
              <a:buNone/>
            </a:pPr>
            <a:r>
              <a:rPr lang="en-US" sz="2400" dirty="0">
                <a:solidFill>
                  <a:srgbClr val="E2E6E9"/>
                </a:solidFill>
                <a:latin typeface="Merriweather" pitchFamily="34" charset="0"/>
                <a:ea typeface="Merriweather" pitchFamily="34" charset="-122"/>
                <a:cs typeface="Merriweather" pitchFamily="34" charset="-120"/>
              </a:rPr>
              <a:t>Less common for simple tokens but used in SPAs.</a:t>
            </a:r>
            <a:endParaRPr lang="en-US" sz="2400" dirty="0"/>
          </a:p>
        </p:txBody>
      </p:sp>
      <p:sp>
        <p:nvSpPr>
          <p:cNvPr id="5" name="Text 3"/>
          <p:cNvSpPr/>
          <p:nvPr/>
        </p:nvSpPr>
        <p:spPr>
          <a:xfrm>
            <a:off x="863798" y="5441275"/>
            <a:ext cx="12902803" cy="493514"/>
          </a:xfrm>
          <a:prstGeom prst="rect">
            <a:avLst/>
          </a:prstGeom>
          <a:noFill/>
          <a:ln/>
        </p:spPr>
        <p:txBody>
          <a:bodyPr wrap="none" lIns="0" tIns="0" rIns="0" bIns="0" rtlCol="0" anchor="t"/>
          <a:lstStyle/>
          <a:p>
            <a:pPr marL="0" indent="0" algn="l">
              <a:lnSpc>
                <a:spcPts val="3850"/>
              </a:lnSpc>
              <a:buNone/>
            </a:pPr>
            <a:r>
              <a:rPr lang="en-US" sz="2400" dirty="0">
                <a:solidFill>
                  <a:srgbClr val="E2E6E9"/>
                </a:solidFill>
                <a:latin typeface="Merriweather" pitchFamily="34" charset="0"/>
                <a:ea typeface="Merriweather" pitchFamily="34" charset="-122"/>
                <a:cs typeface="Merriweather" pitchFamily="34" charset="-120"/>
              </a:rPr>
              <a:t>Check DevTools: </a:t>
            </a:r>
            <a:r>
              <a:rPr lang="en-US" sz="2400" b="1" dirty="0">
                <a:solidFill>
                  <a:srgbClr val="E2E6E9"/>
                </a:solidFill>
                <a:latin typeface="Merriweather" pitchFamily="34" charset="0"/>
                <a:ea typeface="Merriweather" pitchFamily="34" charset="-122"/>
                <a:cs typeface="Merriweather" pitchFamily="34" charset="-120"/>
              </a:rPr>
              <a:t>Application &gt; IndexedDB</a:t>
            </a:r>
            <a:r>
              <a:rPr lang="en-US" sz="2400" dirty="0">
                <a:solidFill>
                  <a:srgbClr val="E2E6E9"/>
                </a:solidFill>
                <a:latin typeface="Merriweather" pitchFamily="34" charset="0"/>
                <a:ea typeface="Merriweather" pitchFamily="34" charset="-122"/>
                <a:cs typeface="Merriweather" pitchFamily="34" charset="-120"/>
              </a:rPr>
              <a:t>.</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863798" y="2433638"/>
            <a:ext cx="5232440" cy="616982"/>
          </a:xfrm>
          <a:prstGeom prst="rect">
            <a:avLst/>
          </a:prstGeom>
          <a:noFill/>
          <a:ln/>
        </p:spPr>
        <p:txBody>
          <a:bodyPr wrap="none" lIns="0" tIns="0" rIns="0" bIns="0" rtlCol="0" anchor="t"/>
          <a:lstStyle/>
          <a:p>
            <a:pPr marL="0" indent="0" algn="l">
              <a:lnSpc>
                <a:spcPts val="4850"/>
              </a:lnSpc>
              <a:buNone/>
            </a:pPr>
            <a:r>
              <a:rPr lang="en-US" sz="3850" dirty="0">
                <a:solidFill>
                  <a:srgbClr val="609DFF"/>
                </a:solidFill>
                <a:latin typeface="Merriweather" pitchFamily="34" charset="0"/>
                <a:ea typeface="Merriweather" pitchFamily="34" charset="-122"/>
                <a:cs typeface="Merriweather" pitchFamily="34" charset="-120"/>
              </a:rPr>
              <a:t>Memory (in-memory)</a:t>
            </a:r>
            <a:endParaRPr lang="en-US" sz="3850" dirty="0"/>
          </a:p>
        </p:txBody>
      </p:sp>
      <p:sp>
        <p:nvSpPr>
          <p:cNvPr id="3" name="Text 1"/>
          <p:cNvSpPr/>
          <p:nvPr/>
        </p:nvSpPr>
        <p:spPr>
          <a:xfrm>
            <a:off x="863798" y="3544252"/>
            <a:ext cx="12902803" cy="987028"/>
          </a:xfrm>
          <a:prstGeom prst="rect">
            <a:avLst/>
          </a:prstGeom>
          <a:noFill/>
          <a:ln/>
        </p:spPr>
        <p:txBody>
          <a:bodyPr wrap="square" lIns="0" tIns="0" rIns="0" bIns="0" rtlCol="0" anchor="t"/>
          <a:lstStyle/>
          <a:p>
            <a:pPr marL="0" indent="0" algn="l">
              <a:lnSpc>
                <a:spcPts val="3850"/>
              </a:lnSpc>
              <a:buNone/>
            </a:pPr>
            <a:r>
              <a:rPr lang="en-US" sz="2400" dirty="0">
                <a:solidFill>
                  <a:srgbClr val="E2E6E9"/>
                </a:solidFill>
                <a:latin typeface="Merriweather" pitchFamily="34" charset="0"/>
                <a:ea typeface="Merriweather" pitchFamily="34" charset="-122"/>
                <a:cs typeface="Merriweather" pitchFamily="34" charset="-120"/>
              </a:rPr>
              <a:t>Some single-page apps (SPAs) keep tokens only in JavaScript variables during the session, never persisted.</a:t>
            </a:r>
            <a:endParaRPr lang="en-US" sz="2400" dirty="0"/>
          </a:p>
        </p:txBody>
      </p:sp>
      <p:sp>
        <p:nvSpPr>
          <p:cNvPr id="4" name="Text 2"/>
          <p:cNvSpPr/>
          <p:nvPr/>
        </p:nvSpPr>
        <p:spPr>
          <a:xfrm>
            <a:off x="863798" y="4808934"/>
            <a:ext cx="12902803" cy="987028"/>
          </a:xfrm>
          <a:prstGeom prst="rect">
            <a:avLst/>
          </a:prstGeom>
          <a:noFill/>
          <a:ln/>
        </p:spPr>
        <p:txBody>
          <a:bodyPr wrap="square" lIns="0" tIns="0" rIns="0" bIns="0" rtlCol="0" anchor="t"/>
          <a:lstStyle/>
          <a:p>
            <a:pPr marL="0" indent="0" algn="l">
              <a:lnSpc>
                <a:spcPts val="3850"/>
              </a:lnSpc>
              <a:buNone/>
            </a:pPr>
            <a:r>
              <a:rPr lang="en-US" sz="2400" dirty="0">
                <a:solidFill>
                  <a:srgbClr val="E2E6E9"/>
                </a:solidFill>
                <a:latin typeface="Merriweather" pitchFamily="34" charset="0"/>
                <a:ea typeface="Merriweather" pitchFamily="34" charset="-122"/>
                <a:cs typeface="Merriweather" pitchFamily="34" charset="-120"/>
              </a:rPr>
              <a:t>These vanish on page refresh inspect variables in DevTools </a:t>
            </a:r>
            <a:r>
              <a:rPr lang="en-US" sz="2400" b="1" dirty="0">
                <a:solidFill>
                  <a:srgbClr val="E2E6E9"/>
                </a:solidFill>
                <a:latin typeface="Merriweather" pitchFamily="34" charset="0"/>
                <a:ea typeface="Merriweather" pitchFamily="34" charset="-122"/>
                <a:cs typeface="Merriweather" pitchFamily="34" charset="-120"/>
              </a:rPr>
              <a:t>Sources &gt; Scope</a:t>
            </a:r>
            <a:r>
              <a:rPr lang="en-US" sz="2400" dirty="0">
                <a:solidFill>
                  <a:srgbClr val="E2E6E9"/>
                </a:solidFill>
                <a:latin typeface="Merriweather" pitchFamily="34" charset="0"/>
                <a:ea typeface="Merriweather" pitchFamily="34" charset="-122"/>
                <a:cs typeface="Merriweather" pitchFamily="34" charset="-120"/>
              </a:rPr>
              <a:t> or console.</a:t>
            </a:r>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863798" y="2190036"/>
            <a:ext cx="7796093"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To enumerate during pentesting:</a:t>
            </a:r>
            <a:endParaRPr lang="en-US" sz="3850" dirty="0"/>
          </a:p>
        </p:txBody>
      </p:sp>
      <p:sp>
        <p:nvSpPr>
          <p:cNvPr id="3" name="Shape 1"/>
          <p:cNvSpPr/>
          <p:nvPr/>
        </p:nvSpPr>
        <p:spPr>
          <a:xfrm>
            <a:off x="863798" y="3300651"/>
            <a:ext cx="12902803" cy="2738914"/>
          </a:xfrm>
          <a:prstGeom prst="roundRect">
            <a:avLst>
              <a:gd name="adj" fmla="val 3785"/>
            </a:avLst>
          </a:prstGeom>
          <a:solidFill>
            <a:srgbClr val="162227"/>
          </a:solidFill>
          <a:ln/>
        </p:spPr>
      </p:sp>
      <p:sp>
        <p:nvSpPr>
          <p:cNvPr id="4" name="Shape 2"/>
          <p:cNvSpPr/>
          <p:nvPr/>
        </p:nvSpPr>
        <p:spPr>
          <a:xfrm>
            <a:off x="851535" y="3300651"/>
            <a:ext cx="12927330" cy="2738914"/>
          </a:xfrm>
          <a:prstGeom prst="roundRect">
            <a:avLst>
              <a:gd name="adj" fmla="val 1352"/>
            </a:avLst>
          </a:prstGeom>
          <a:solidFill>
            <a:srgbClr val="162227"/>
          </a:solidFill>
          <a:ln/>
        </p:spPr>
      </p:sp>
      <p:sp>
        <p:nvSpPr>
          <p:cNvPr id="5" name="Text 3"/>
          <p:cNvSpPr/>
          <p:nvPr/>
        </p:nvSpPr>
        <p:spPr>
          <a:xfrm>
            <a:off x="1098352" y="3485674"/>
            <a:ext cx="12433697" cy="2368868"/>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 Cookies</a:t>
            </a:r>
            <a:endParaRPr lang="en-US" sz="1900" dirty="0"/>
          </a:p>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console.log(document.cookie);</a:t>
            </a:r>
            <a:endParaRPr lang="en-US" sz="1900" dirty="0"/>
          </a:p>
          <a:p>
            <a:pPr marL="0" indent="0" algn="l">
              <a:lnSpc>
                <a:spcPts val="3100"/>
              </a:lnSpc>
              <a:buNone/>
            </a:pPr>
            <a:endParaRPr lang="en-US" sz="1900" dirty="0"/>
          </a:p>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 Local/Session Storage</a:t>
            </a:r>
            <a:endParaRPr lang="en-US" sz="1900" dirty="0"/>
          </a:p>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Object.entries(localStorage).forEach(([k,v]) =&gt; console.log(k,v));</a:t>
            </a:r>
            <a:endParaRPr lang="en-US" sz="1900" dirty="0"/>
          </a:p>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Object.entries(sessionStorage).forEach(([k,v]) =&gt; console.log(k,v));</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3085386"/>
          </a:xfrm>
          <a:prstGeom prst="rect">
            <a:avLst/>
          </a:prstGeom>
        </p:spPr>
      </p:pic>
      <p:sp>
        <p:nvSpPr>
          <p:cNvPr id="3" name="Text 0"/>
          <p:cNvSpPr/>
          <p:nvPr/>
        </p:nvSpPr>
        <p:spPr>
          <a:xfrm>
            <a:off x="863798" y="5160169"/>
            <a:ext cx="12902803" cy="994648"/>
          </a:xfrm>
          <a:prstGeom prst="rect">
            <a:avLst/>
          </a:prstGeom>
          <a:noFill/>
          <a:ln/>
        </p:spPr>
        <p:txBody>
          <a:bodyPr wrap="square" lIns="0" tIns="0" rIns="0" bIns="0" rtlCol="0" anchor="t"/>
          <a:lstStyle/>
          <a:p>
            <a:pPr marL="0" indent="0" algn="l">
              <a:lnSpc>
                <a:spcPts val="3850"/>
              </a:lnSpc>
              <a:buNone/>
            </a:pPr>
            <a:r>
              <a:rPr lang="en-US" sz="2400" dirty="0">
                <a:solidFill>
                  <a:srgbClr val="E2E6E9"/>
                </a:solidFill>
                <a:latin typeface="Merriweather" pitchFamily="34" charset="0"/>
                <a:ea typeface="Merriweather" pitchFamily="34" charset="-122"/>
                <a:cs typeface="Merriweather" pitchFamily="34" charset="-120"/>
              </a:rPr>
              <a:t>Always check </a:t>
            </a:r>
            <a:r>
              <a:rPr lang="en-US" sz="2400" b="1" dirty="0">
                <a:solidFill>
                  <a:srgbClr val="E2E6E9"/>
                </a:solidFill>
                <a:latin typeface="Merriweather" pitchFamily="34" charset="0"/>
                <a:ea typeface="Merriweather" pitchFamily="34" charset="-122"/>
                <a:cs typeface="Merriweather" pitchFamily="34" charset="-120"/>
              </a:rPr>
              <a:t>Network tab</a:t>
            </a:r>
            <a:r>
              <a:rPr lang="en-US" sz="2400" dirty="0">
                <a:solidFill>
                  <a:srgbClr val="E2E6E9"/>
                </a:solidFill>
                <a:latin typeface="Merriweather" pitchFamily="34" charset="0"/>
                <a:ea typeface="Merriweather" pitchFamily="34" charset="-122"/>
                <a:cs typeface="Merriweather" pitchFamily="34" charset="-120"/>
              </a:rPr>
              <a:t> in DevTools for </a:t>
            </a:r>
            <a:r>
              <a:rPr lang="en-US" sz="2400" dirty="0">
                <a:solidFill>
                  <a:srgbClr val="E2E6E9"/>
                </a:solidFill>
                <a:highlight>
                  <a:srgbClr val="162227"/>
                </a:highlight>
                <a:latin typeface="Consolas" pitchFamily="34" charset="0"/>
                <a:ea typeface="Consolas" pitchFamily="34" charset="-122"/>
                <a:cs typeface="Consolas" pitchFamily="34" charset="-120"/>
              </a:rPr>
              <a:t>Authorization: Bearer &lt;token&gt;</a:t>
            </a:r>
            <a:r>
              <a:rPr lang="en-US" sz="2400" dirty="0">
                <a:solidFill>
                  <a:srgbClr val="E2E6E9"/>
                </a:solidFill>
                <a:latin typeface="Merriweather" pitchFamily="34" charset="0"/>
                <a:ea typeface="Merriweather" pitchFamily="34" charset="-122"/>
                <a:cs typeface="Merriweather" pitchFamily="34" charset="-120"/>
              </a:rPr>
              <a:t> headers, reveals API tokens not stored in standard locations.</a:t>
            </a:r>
            <a:endParaRPr lang="en-US" sz="2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2957870"/>
            <a:ext cx="7416403" cy="2313861"/>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Common Names Used for Security Tokens in a Website</a:t>
            </a:r>
            <a:endParaRPr lang="en-US" sz="4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2377916"/>
            <a:ext cx="12902803" cy="2313861"/>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Security tokens can be named almost anything, but in real projects you'll see certain patterns again and again.</a:t>
            </a:r>
            <a:endParaRPr lang="en-US" sz="4850" dirty="0"/>
          </a:p>
        </p:txBody>
      </p:sp>
      <p:sp>
        <p:nvSpPr>
          <p:cNvPr id="3" name="Text 1"/>
          <p:cNvSpPr/>
          <p:nvPr/>
        </p:nvSpPr>
        <p:spPr>
          <a:xfrm>
            <a:off x="863798" y="5061942"/>
            <a:ext cx="12902803"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These naming conventions is crucial for security testing, debugging, and implementation. Let's explore the most common patterns you'll encounter across different authentication systems.</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52491" y="2509957"/>
            <a:ext cx="4869299" cy="3209687"/>
          </a:xfrm>
          <a:prstGeom prst="rect">
            <a:avLst/>
          </a:prstGeom>
        </p:spPr>
      </p:pic>
      <p:sp>
        <p:nvSpPr>
          <p:cNvPr id="4" name="Text 0"/>
          <p:cNvSpPr/>
          <p:nvPr/>
        </p:nvSpPr>
        <p:spPr>
          <a:xfrm>
            <a:off x="863798" y="1479352"/>
            <a:ext cx="6835259"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Session/Cookie Tokens</a:t>
            </a:r>
            <a:endParaRPr lang="en-US" sz="4850" dirty="0"/>
          </a:p>
        </p:txBody>
      </p:sp>
      <p:sp>
        <p:nvSpPr>
          <p:cNvPr id="5" name="Text 1"/>
          <p:cNvSpPr/>
          <p:nvPr/>
        </p:nvSpPr>
        <p:spPr>
          <a:xfrm>
            <a:off x="863798" y="2349341"/>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Server-side sessions</a:t>
            </a:r>
            <a:endParaRPr lang="en-US" sz="2400" dirty="0"/>
          </a:p>
        </p:txBody>
      </p:sp>
      <p:sp>
        <p:nvSpPr>
          <p:cNvPr id="6" name="Shape 2"/>
          <p:cNvSpPr/>
          <p:nvPr/>
        </p:nvSpPr>
        <p:spPr>
          <a:xfrm>
            <a:off x="863798" y="3105031"/>
            <a:ext cx="2307550" cy="1313736"/>
          </a:xfrm>
          <a:prstGeom prst="roundRect">
            <a:avLst>
              <a:gd name="adj" fmla="val 7891"/>
            </a:avLst>
          </a:prstGeom>
          <a:solidFill>
            <a:srgbClr val="003180"/>
          </a:solidFill>
          <a:ln w="15240">
            <a:solidFill>
              <a:srgbClr val="194A99"/>
            </a:solidFill>
            <a:prstDash val="solid"/>
          </a:ln>
        </p:spPr>
      </p:sp>
      <p:sp>
        <p:nvSpPr>
          <p:cNvPr id="7" name="Text 3"/>
          <p:cNvSpPr/>
          <p:nvPr/>
        </p:nvSpPr>
        <p:spPr>
          <a:xfrm>
            <a:off x="1125855" y="3367088"/>
            <a:ext cx="1783437"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PHPSESSID</a:t>
            </a:r>
            <a:endParaRPr lang="en-US" sz="1900" dirty="0"/>
          </a:p>
        </p:txBody>
      </p:sp>
      <p:sp>
        <p:nvSpPr>
          <p:cNvPr id="8" name="Shape 4"/>
          <p:cNvSpPr/>
          <p:nvPr/>
        </p:nvSpPr>
        <p:spPr>
          <a:xfrm>
            <a:off x="3418165" y="3105031"/>
            <a:ext cx="2307550" cy="1313736"/>
          </a:xfrm>
          <a:prstGeom prst="roundRect">
            <a:avLst>
              <a:gd name="adj" fmla="val 7891"/>
            </a:avLst>
          </a:prstGeom>
          <a:solidFill>
            <a:srgbClr val="003180"/>
          </a:solidFill>
          <a:ln w="15240">
            <a:solidFill>
              <a:srgbClr val="194A99"/>
            </a:solidFill>
            <a:prstDash val="solid"/>
          </a:ln>
        </p:spPr>
      </p:sp>
      <p:sp>
        <p:nvSpPr>
          <p:cNvPr id="9" name="Text 5"/>
          <p:cNvSpPr/>
          <p:nvPr/>
        </p:nvSpPr>
        <p:spPr>
          <a:xfrm>
            <a:off x="3680222" y="3367088"/>
            <a:ext cx="1783437"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JSESSIONID</a:t>
            </a:r>
            <a:endParaRPr lang="en-US" sz="1900" dirty="0"/>
          </a:p>
        </p:txBody>
      </p:sp>
      <p:sp>
        <p:nvSpPr>
          <p:cNvPr id="10" name="Shape 6"/>
          <p:cNvSpPr/>
          <p:nvPr/>
        </p:nvSpPr>
        <p:spPr>
          <a:xfrm>
            <a:off x="5972532" y="3105031"/>
            <a:ext cx="2307550" cy="1313736"/>
          </a:xfrm>
          <a:prstGeom prst="roundRect">
            <a:avLst>
              <a:gd name="adj" fmla="val 7891"/>
            </a:avLst>
          </a:prstGeom>
          <a:solidFill>
            <a:srgbClr val="003180"/>
          </a:solidFill>
          <a:ln w="15240">
            <a:solidFill>
              <a:srgbClr val="194A99"/>
            </a:solidFill>
            <a:prstDash val="solid"/>
          </a:ln>
        </p:spPr>
      </p:sp>
      <p:sp>
        <p:nvSpPr>
          <p:cNvPr id="11" name="Text 7"/>
          <p:cNvSpPr/>
          <p:nvPr/>
        </p:nvSpPr>
        <p:spPr>
          <a:xfrm>
            <a:off x="6234589" y="3367088"/>
            <a:ext cx="1783437" cy="789622"/>
          </a:xfrm>
          <a:prstGeom prst="rect">
            <a:avLst/>
          </a:prstGeom>
          <a:noFill/>
          <a:ln/>
        </p:spPr>
        <p:txBody>
          <a:bodyPr wrap="squar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ASP.NET_SessionId</a:t>
            </a:r>
            <a:endParaRPr lang="en-US" sz="1900" dirty="0"/>
          </a:p>
        </p:txBody>
      </p:sp>
      <p:sp>
        <p:nvSpPr>
          <p:cNvPr id="12" name="Shape 8"/>
          <p:cNvSpPr/>
          <p:nvPr/>
        </p:nvSpPr>
        <p:spPr>
          <a:xfrm>
            <a:off x="863798" y="4665583"/>
            <a:ext cx="2307550" cy="918924"/>
          </a:xfrm>
          <a:prstGeom prst="roundRect">
            <a:avLst>
              <a:gd name="adj" fmla="val 11282"/>
            </a:avLst>
          </a:prstGeom>
          <a:solidFill>
            <a:srgbClr val="003180"/>
          </a:solidFill>
          <a:ln w="15240">
            <a:solidFill>
              <a:srgbClr val="194A99"/>
            </a:solidFill>
            <a:prstDash val="solid"/>
          </a:ln>
        </p:spPr>
      </p:sp>
      <p:sp>
        <p:nvSpPr>
          <p:cNvPr id="13" name="Text 9"/>
          <p:cNvSpPr/>
          <p:nvPr/>
        </p:nvSpPr>
        <p:spPr>
          <a:xfrm>
            <a:off x="1125855" y="4927640"/>
            <a:ext cx="1783437"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SESSIONID</a:t>
            </a:r>
            <a:endParaRPr lang="en-US" sz="1900" dirty="0"/>
          </a:p>
        </p:txBody>
      </p:sp>
      <p:sp>
        <p:nvSpPr>
          <p:cNvPr id="14" name="Shape 10"/>
          <p:cNvSpPr/>
          <p:nvPr/>
        </p:nvSpPr>
        <p:spPr>
          <a:xfrm>
            <a:off x="3418165" y="4665583"/>
            <a:ext cx="2307550" cy="918924"/>
          </a:xfrm>
          <a:prstGeom prst="roundRect">
            <a:avLst>
              <a:gd name="adj" fmla="val 11282"/>
            </a:avLst>
          </a:prstGeom>
          <a:solidFill>
            <a:srgbClr val="003180"/>
          </a:solidFill>
          <a:ln w="15240">
            <a:solidFill>
              <a:srgbClr val="194A99"/>
            </a:solidFill>
            <a:prstDash val="solid"/>
          </a:ln>
        </p:spPr>
      </p:sp>
      <p:sp>
        <p:nvSpPr>
          <p:cNvPr id="15" name="Text 11"/>
          <p:cNvSpPr/>
          <p:nvPr/>
        </p:nvSpPr>
        <p:spPr>
          <a:xfrm>
            <a:off x="3680222" y="4927640"/>
            <a:ext cx="1783437"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session_id</a:t>
            </a:r>
            <a:endParaRPr lang="en-US" sz="1900" dirty="0"/>
          </a:p>
        </p:txBody>
      </p:sp>
      <p:sp>
        <p:nvSpPr>
          <p:cNvPr id="16" name="Shape 12"/>
          <p:cNvSpPr/>
          <p:nvPr/>
        </p:nvSpPr>
        <p:spPr>
          <a:xfrm>
            <a:off x="5972532" y="4665583"/>
            <a:ext cx="2307550" cy="918924"/>
          </a:xfrm>
          <a:prstGeom prst="roundRect">
            <a:avLst>
              <a:gd name="adj" fmla="val 11282"/>
            </a:avLst>
          </a:prstGeom>
          <a:solidFill>
            <a:srgbClr val="003180"/>
          </a:solidFill>
          <a:ln w="15240">
            <a:solidFill>
              <a:srgbClr val="194A99"/>
            </a:solidFill>
            <a:prstDash val="solid"/>
          </a:ln>
        </p:spPr>
      </p:sp>
      <p:sp>
        <p:nvSpPr>
          <p:cNvPr id="17" name="Text 13"/>
          <p:cNvSpPr/>
          <p:nvPr/>
        </p:nvSpPr>
        <p:spPr>
          <a:xfrm>
            <a:off x="6234589" y="4927640"/>
            <a:ext cx="1783437"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sid</a:t>
            </a:r>
            <a:endParaRPr lang="en-US" sz="1900" dirty="0"/>
          </a:p>
        </p:txBody>
      </p:sp>
      <p:sp>
        <p:nvSpPr>
          <p:cNvPr id="18" name="Shape 14"/>
          <p:cNvSpPr/>
          <p:nvPr/>
        </p:nvSpPr>
        <p:spPr>
          <a:xfrm>
            <a:off x="863798" y="5831324"/>
            <a:ext cx="7416284" cy="918924"/>
          </a:xfrm>
          <a:prstGeom prst="roundRect">
            <a:avLst>
              <a:gd name="adj" fmla="val 11282"/>
            </a:avLst>
          </a:prstGeom>
          <a:solidFill>
            <a:srgbClr val="003180"/>
          </a:solidFill>
          <a:ln w="15240">
            <a:solidFill>
              <a:srgbClr val="194A99"/>
            </a:solidFill>
            <a:prstDash val="solid"/>
          </a:ln>
        </p:spPr>
      </p:sp>
      <p:sp>
        <p:nvSpPr>
          <p:cNvPr id="19" name="Text 15"/>
          <p:cNvSpPr/>
          <p:nvPr/>
        </p:nvSpPr>
        <p:spPr>
          <a:xfrm>
            <a:off x="1125855" y="6093381"/>
            <a:ext cx="6892171"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sess_id</a:t>
            </a:r>
            <a:endParaRPr lang="en-US" sz="1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2229088"/>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JWT/Bearer Tokens</a:t>
            </a:r>
            <a:endParaRPr lang="en-US" sz="4850" dirty="0"/>
          </a:p>
        </p:txBody>
      </p:sp>
      <p:sp>
        <p:nvSpPr>
          <p:cNvPr id="3" name="Text 1"/>
          <p:cNvSpPr/>
          <p:nvPr/>
        </p:nvSpPr>
        <p:spPr>
          <a:xfrm>
            <a:off x="863798" y="3099078"/>
            <a:ext cx="6100643"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API auth, often in localStorage or headers</a:t>
            </a:r>
            <a:endParaRPr lang="en-US" sz="2400" dirty="0"/>
          </a:p>
        </p:txBody>
      </p:sp>
      <p:sp>
        <p:nvSpPr>
          <p:cNvPr id="4" name="Shape 2"/>
          <p:cNvSpPr/>
          <p:nvPr/>
        </p:nvSpPr>
        <p:spPr>
          <a:xfrm>
            <a:off x="863798" y="3854768"/>
            <a:ext cx="3040499" cy="949404"/>
          </a:xfrm>
          <a:prstGeom prst="roundRect">
            <a:avLst>
              <a:gd name="adj" fmla="val 10919"/>
            </a:avLst>
          </a:prstGeom>
          <a:solidFill>
            <a:srgbClr val="09151A">
              <a:alpha val="95000"/>
            </a:srgbClr>
          </a:solidFill>
          <a:ln w="30480">
            <a:solidFill>
              <a:srgbClr val="194A99"/>
            </a:solidFill>
            <a:prstDash val="solid"/>
          </a:ln>
        </p:spPr>
      </p:sp>
      <p:sp>
        <p:nvSpPr>
          <p:cNvPr id="5" name="Text 3"/>
          <p:cNvSpPr/>
          <p:nvPr/>
        </p:nvSpPr>
        <p:spPr>
          <a:xfrm>
            <a:off x="1141095" y="4132064"/>
            <a:ext cx="2485906"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token</a:t>
            </a:r>
            <a:endParaRPr lang="en-US" sz="1900" dirty="0"/>
          </a:p>
        </p:txBody>
      </p:sp>
      <p:sp>
        <p:nvSpPr>
          <p:cNvPr id="6" name="Shape 4"/>
          <p:cNvSpPr/>
          <p:nvPr/>
        </p:nvSpPr>
        <p:spPr>
          <a:xfrm>
            <a:off x="4151114" y="3854768"/>
            <a:ext cx="3040618" cy="949404"/>
          </a:xfrm>
          <a:prstGeom prst="roundRect">
            <a:avLst>
              <a:gd name="adj" fmla="val 10919"/>
            </a:avLst>
          </a:prstGeom>
          <a:solidFill>
            <a:srgbClr val="09151A">
              <a:alpha val="95000"/>
            </a:srgbClr>
          </a:solidFill>
          <a:ln w="30480">
            <a:solidFill>
              <a:srgbClr val="194A99"/>
            </a:solidFill>
            <a:prstDash val="solid"/>
          </a:ln>
        </p:spPr>
      </p:sp>
      <p:sp>
        <p:nvSpPr>
          <p:cNvPr id="7" name="Text 5"/>
          <p:cNvSpPr/>
          <p:nvPr/>
        </p:nvSpPr>
        <p:spPr>
          <a:xfrm>
            <a:off x="4428411" y="4132064"/>
            <a:ext cx="248602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access_token</a:t>
            </a:r>
            <a:endParaRPr lang="en-US" sz="1900" dirty="0"/>
          </a:p>
        </p:txBody>
      </p:sp>
      <p:sp>
        <p:nvSpPr>
          <p:cNvPr id="8" name="Shape 6"/>
          <p:cNvSpPr/>
          <p:nvPr/>
        </p:nvSpPr>
        <p:spPr>
          <a:xfrm>
            <a:off x="7438549" y="3854768"/>
            <a:ext cx="3040618" cy="949404"/>
          </a:xfrm>
          <a:prstGeom prst="roundRect">
            <a:avLst>
              <a:gd name="adj" fmla="val 10919"/>
            </a:avLst>
          </a:prstGeom>
          <a:solidFill>
            <a:srgbClr val="09151A">
              <a:alpha val="95000"/>
            </a:srgbClr>
          </a:solidFill>
          <a:ln w="30480">
            <a:solidFill>
              <a:srgbClr val="194A99"/>
            </a:solidFill>
            <a:prstDash val="solid"/>
          </a:ln>
        </p:spPr>
      </p:sp>
      <p:sp>
        <p:nvSpPr>
          <p:cNvPr id="9" name="Text 7"/>
          <p:cNvSpPr/>
          <p:nvPr/>
        </p:nvSpPr>
        <p:spPr>
          <a:xfrm>
            <a:off x="7715845" y="4132064"/>
            <a:ext cx="248602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id_token</a:t>
            </a:r>
            <a:endParaRPr lang="en-US" sz="1900" dirty="0"/>
          </a:p>
        </p:txBody>
      </p:sp>
      <p:sp>
        <p:nvSpPr>
          <p:cNvPr id="10" name="Shape 8"/>
          <p:cNvSpPr/>
          <p:nvPr/>
        </p:nvSpPr>
        <p:spPr>
          <a:xfrm>
            <a:off x="10725983" y="3854768"/>
            <a:ext cx="3040618" cy="949404"/>
          </a:xfrm>
          <a:prstGeom prst="roundRect">
            <a:avLst>
              <a:gd name="adj" fmla="val 10919"/>
            </a:avLst>
          </a:prstGeom>
          <a:solidFill>
            <a:srgbClr val="09151A">
              <a:alpha val="95000"/>
            </a:srgbClr>
          </a:solidFill>
          <a:ln w="30480">
            <a:solidFill>
              <a:srgbClr val="194A99"/>
            </a:solidFill>
            <a:prstDash val="solid"/>
          </a:ln>
        </p:spPr>
      </p:sp>
      <p:sp>
        <p:nvSpPr>
          <p:cNvPr id="11" name="Text 9"/>
          <p:cNvSpPr/>
          <p:nvPr/>
        </p:nvSpPr>
        <p:spPr>
          <a:xfrm>
            <a:off x="11003280" y="4132064"/>
            <a:ext cx="248602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auth_token</a:t>
            </a:r>
            <a:endParaRPr lang="en-US" sz="1900" dirty="0"/>
          </a:p>
        </p:txBody>
      </p:sp>
      <p:sp>
        <p:nvSpPr>
          <p:cNvPr id="12" name="Shape 10"/>
          <p:cNvSpPr/>
          <p:nvPr/>
        </p:nvSpPr>
        <p:spPr>
          <a:xfrm>
            <a:off x="863798" y="5050988"/>
            <a:ext cx="4136350" cy="949404"/>
          </a:xfrm>
          <a:prstGeom prst="roundRect">
            <a:avLst>
              <a:gd name="adj" fmla="val 10919"/>
            </a:avLst>
          </a:prstGeom>
          <a:solidFill>
            <a:srgbClr val="09151A">
              <a:alpha val="95000"/>
            </a:srgbClr>
          </a:solidFill>
          <a:ln w="30480">
            <a:solidFill>
              <a:srgbClr val="194A99"/>
            </a:solidFill>
            <a:prstDash val="solid"/>
          </a:ln>
        </p:spPr>
      </p:sp>
      <p:sp>
        <p:nvSpPr>
          <p:cNvPr id="13" name="Text 11"/>
          <p:cNvSpPr/>
          <p:nvPr/>
        </p:nvSpPr>
        <p:spPr>
          <a:xfrm>
            <a:off x="1141095" y="5328285"/>
            <a:ext cx="3581757"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bearer_token</a:t>
            </a:r>
            <a:endParaRPr lang="en-US" sz="1900" dirty="0"/>
          </a:p>
        </p:txBody>
      </p:sp>
      <p:sp>
        <p:nvSpPr>
          <p:cNvPr id="14" name="Shape 12"/>
          <p:cNvSpPr/>
          <p:nvPr/>
        </p:nvSpPr>
        <p:spPr>
          <a:xfrm>
            <a:off x="5246965" y="5050988"/>
            <a:ext cx="4136350" cy="949404"/>
          </a:xfrm>
          <a:prstGeom prst="roundRect">
            <a:avLst>
              <a:gd name="adj" fmla="val 10919"/>
            </a:avLst>
          </a:prstGeom>
          <a:solidFill>
            <a:srgbClr val="09151A">
              <a:alpha val="95000"/>
            </a:srgbClr>
          </a:solidFill>
          <a:ln w="30480">
            <a:solidFill>
              <a:srgbClr val="194A99"/>
            </a:solidFill>
            <a:prstDash val="solid"/>
          </a:ln>
        </p:spPr>
      </p:sp>
      <p:sp>
        <p:nvSpPr>
          <p:cNvPr id="15" name="Text 13"/>
          <p:cNvSpPr/>
          <p:nvPr/>
        </p:nvSpPr>
        <p:spPr>
          <a:xfrm>
            <a:off x="5524262" y="5328285"/>
            <a:ext cx="3581757"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jwt</a:t>
            </a:r>
            <a:endParaRPr lang="en-US" sz="1900" dirty="0"/>
          </a:p>
        </p:txBody>
      </p:sp>
      <p:sp>
        <p:nvSpPr>
          <p:cNvPr id="16" name="Shape 14"/>
          <p:cNvSpPr/>
          <p:nvPr/>
        </p:nvSpPr>
        <p:spPr>
          <a:xfrm>
            <a:off x="9630132" y="5050988"/>
            <a:ext cx="4136469" cy="949404"/>
          </a:xfrm>
          <a:prstGeom prst="roundRect">
            <a:avLst>
              <a:gd name="adj" fmla="val 10919"/>
            </a:avLst>
          </a:prstGeom>
          <a:solidFill>
            <a:srgbClr val="09151A">
              <a:alpha val="95000"/>
            </a:srgbClr>
          </a:solidFill>
          <a:ln w="30480">
            <a:solidFill>
              <a:srgbClr val="194A99"/>
            </a:solidFill>
            <a:prstDash val="solid"/>
          </a:ln>
        </p:spPr>
      </p:sp>
      <p:sp>
        <p:nvSpPr>
          <p:cNvPr id="17" name="Text 15"/>
          <p:cNvSpPr/>
          <p:nvPr/>
        </p:nvSpPr>
        <p:spPr>
          <a:xfrm>
            <a:off x="9907429" y="5328285"/>
            <a:ext cx="3581876"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idtoken</a:t>
            </a:r>
            <a:endParaRPr lang="en-US" sz="1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2230160"/>
            <a:ext cx="6958727"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OAuth/OpenID Connect</a:t>
            </a:r>
            <a:endParaRPr lang="en-US" sz="4850" dirty="0"/>
          </a:p>
        </p:txBody>
      </p:sp>
      <p:sp>
        <p:nvSpPr>
          <p:cNvPr id="3" name="Shape 1"/>
          <p:cNvSpPr/>
          <p:nvPr/>
        </p:nvSpPr>
        <p:spPr>
          <a:xfrm>
            <a:off x="686038" y="3371612"/>
            <a:ext cx="6505813" cy="2627709"/>
          </a:xfrm>
          <a:prstGeom prst="roundRect">
            <a:avLst>
              <a:gd name="adj" fmla="val 6763"/>
            </a:avLst>
          </a:prstGeom>
          <a:solidFill>
            <a:srgbClr val="609DFF">
              <a:alpha val="95000"/>
            </a:srgbClr>
          </a:solidFill>
          <a:ln/>
        </p:spPr>
      </p:sp>
      <p:sp>
        <p:nvSpPr>
          <p:cNvPr id="4" name="Text 2"/>
          <p:cNvSpPr/>
          <p:nvPr/>
        </p:nvSpPr>
        <p:spPr>
          <a:xfrm>
            <a:off x="932855" y="3618428"/>
            <a:ext cx="4174927" cy="462796"/>
          </a:xfrm>
          <a:prstGeom prst="rect">
            <a:avLst/>
          </a:prstGeom>
          <a:noFill/>
          <a:ln/>
        </p:spPr>
        <p:txBody>
          <a:bodyPr wrap="none" lIns="0" tIns="0" rIns="0" bIns="0" rtlCol="0" anchor="t"/>
          <a:lstStyle/>
          <a:p>
            <a:pPr marL="0" indent="0" algn="l">
              <a:lnSpc>
                <a:spcPts val="3600"/>
              </a:lnSpc>
              <a:buNone/>
            </a:pPr>
            <a:r>
              <a:rPr lang="en-US" sz="2900" dirty="0">
                <a:solidFill>
                  <a:srgbClr val="FFFFFF"/>
                </a:solidFill>
                <a:latin typeface="Merriweather" pitchFamily="34" charset="0"/>
                <a:ea typeface="Merriweather" pitchFamily="34" charset="-122"/>
                <a:cs typeface="Merriweather" pitchFamily="34" charset="-120"/>
              </a:rPr>
              <a:t>OAuth/OpenID Connect</a:t>
            </a:r>
            <a:endParaRPr lang="en-US" sz="2900" dirty="0"/>
          </a:p>
        </p:txBody>
      </p:sp>
      <p:sp>
        <p:nvSpPr>
          <p:cNvPr id="5" name="Text 3"/>
          <p:cNvSpPr/>
          <p:nvPr/>
        </p:nvSpPr>
        <p:spPr>
          <a:xfrm>
            <a:off x="932855" y="4328041"/>
            <a:ext cx="6012180" cy="789622"/>
          </a:xfrm>
          <a:prstGeom prst="rect">
            <a:avLst/>
          </a:prstGeom>
          <a:noFill/>
          <a:ln/>
        </p:spPr>
        <p:txBody>
          <a:bodyPr wrap="square" lIns="0" tIns="0" rIns="0" bIns="0" rtlCol="0" anchor="t"/>
          <a:lstStyle/>
          <a:p>
            <a:pPr marL="0" indent="0" algn="l">
              <a:lnSpc>
                <a:spcPts val="3100"/>
              </a:lnSpc>
              <a:buNone/>
            </a:pPr>
            <a:r>
              <a:rPr lang="en-US" sz="1900" dirty="0">
                <a:solidFill>
                  <a:srgbClr val="FFFFFF"/>
                </a:solidFill>
                <a:latin typeface="Merriweather" pitchFamily="34" charset="0"/>
                <a:ea typeface="Merriweather" pitchFamily="34" charset="-122"/>
                <a:cs typeface="Merriweather" pitchFamily="34" charset="-120"/>
              </a:rPr>
              <a:t>Modern authentication protocols used across the web</a:t>
            </a:r>
            <a:endParaRPr lang="en-US" sz="1900" dirty="0"/>
          </a:p>
        </p:txBody>
      </p:sp>
      <p:sp>
        <p:nvSpPr>
          <p:cNvPr id="6" name="Text 4"/>
          <p:cNvSpPr/>
          <p:nvPr/>
        </p:nvSpPr>
        <p:spPr>
          <a:xfrm>
            <a:off x="7623929" y="3593663"/>
            <a:ext cx="6150293" cy="1974654"/>
          </a:xfrm>
          <a:prstGeom prst="rect">
            <a:avLst/>
          </a:prstGeom>
          <a:noFill/>
          <a:ln/>
        </p:spPr>
        <p:txBody>
          <a:bodyPr wrap="square" lIns="0" tIns="0" rIns="0" bIns="0" rtlCol="0" anchor="t"/>
          <a:lstStyle/>
          <a:p>
            <a:pPr marL="342900" indent="-342900" algn="l">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accessToken</a:t>
            </a:r>
            <a:endParaRPr lang="en-US" sz="1900" dirty="0"/>
          </a:p>
          <a:p>
            <a:pPr marL="342900" indent="-342900" algn="l">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idToken</a:t>
            </a:r>
            <a:endParaRPr lang="en-US" sz="1900" dirty="0"/>
          </a:p>
          <a:p>
            <a:pPr marL="342900" indent="-342900" algn="l">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refresh_token</a:t>
            </a:r>
            <a:endParaRPr lang="en-US" sz="1900" dirty="0"/>
          </a:p>
          <a:p>
            <a:pPr marL="342900" indent="-342900" algn="l">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authorization_code</a:t>
            </a:r>
            <a:endParaRPr lang="en-US" sz="1900" dirty="0"/>
          </a:p>
          <a:p>
            <a:pPr marL="342900" indent="-342900" algn="l">
              <a:lnSpc>
                <a:spcPts val="3100"/>
              </a:lnSpc>
              <a:buSzPct val="100000"/>
              <a:buChar char="•"/>
            </a:pPr>
            <a:r>
              <a:rPr lang="en-US" sz="1900" b="1" dirty="0">
                <a:solidFill>
                  <a:srgbClr val="E2E6E9"/>
                </a:solidFill>
                <a:latin typeface="Merriweather" pitchFamily="34" charset="0"/>
                <a:ea typeface="Merriweather" pitchFamily="34" charset="-122"/>
                <a:cs typeface="Merriweather" pitchFamily="34" charset="-120"/>
              </a:rPr>
              <a:t>code</a:t>
            </a:r>
            <a:endParaRPr lang="en-US" sz="1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1272302"/>
            <a:ext cx="617077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CSRF Tokens</a:t>
            </a:r>
            <a:endParaRPr lang="en-US" sz="4850" dirty="0"/>
          </a:p>
        </p:txBody>
      </p:sp>
      <p:sp>
        <p:nvSpPr>
          <p:cNvPr id="3" name="Text 1"/>
          <p:cNvSpPr/>
          <p:nvPr/>
        </p:nvSpPr>
        <p:spPr>
          <a:xfrm>
            <a:off x="863798" y="2142292"/>
            <a:ext cx="3185993"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Anti-CSRF protection</a:t>
            </a:r>
            <a:endParaRPr lang="en-US" sz="2400" dirty="0"/>
          </a:p>
        </p:txBody>
      </p:sp>
      <p:sp>
        <p:nvSpPr>
          <p:cNvPr id="4" name="Shape 2"/>
          <p:cNvSpPr/>
          <p:nvPr/>
        </p:nvSpPr>
        <p:spPr>
          <a:xfrm>
            <a:off x="863798" y="2897981"/>
            <a:ext cx="3040499" cy="1906191"/>
          </a:xfrm>
          <a:prstGeom prst="roundRect">
            <a:avLst>
              <a:gd name="adj" fmla="val 5439"/>
            </a:avLst>
          </a:prstGeom>
          <a:solidFill>
            <a:srgbClr val="003180"/>
          </a:solidFill>
          <a:ln w="15240">
            <a:solidFill>
              <a:srgbClr val="194A99"/>
            </a:solidFill>
            <a:prstDash val="solid"/>
          </a:ln>
        </p:spPr>
      </p:sp>
      <p:sp>
        <p:nvSpPr>
          <p:cNvPr id="5" name="Shape 3"/>
          <p:cNvSpPr/>
          <p:nvPr/>
        </p:nvSpPr>
        <p:spPr>
          <a:xfrm>
            <a:off x="1125855" y="3160038"/>
            <a:ext cx="740450" cy="740450"/>
          </a:xfrm>
          <a:prstGeom prst="roundRect">
            <a:avLst>
              <a:gd name="adj" fmla="val 12348012"/>
            </a:avLst>
          </a:prstGeom>
          <a:solidFill>
            <a:srgbClr val="609DFF"/>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9452" y="3363635"/>
            <a:ext cx="333137" cy="333137"/>
          </a:xfrm>
          <a:prstGeom prst="rect">
            <a:avLst/>
          </a:prstGeom>
        </p:spPr>
      </p:pic>
      <p:sp>
        <p:nvSpPr>
          <p:cNvPr id="7" name="Text 4"/>
          <p:cNvSpPr/>
          <p:nvPr/>
        </p:nvSpPr>
        <p:spPr>
          <a:xfrm>
            <a:off x="1125855" y="4147304"/>
            <a:ext cx="2516386"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csrf_token</a:t>
            </a:r>
            <a:endParaRPr lang="en-US" sz="1900" dirty="0"/>
          </a:p>
        </p:txBody>
      </p:sp>
      <p:sp>
        <p:nvSpPr>
          <p:cNvPr id="8" name="Shape 5"/>
          <p:cNvSpPr/>
          <p:nvPr/>
        </p:nvSpPr>
        <p:spPr>
          <a:xfrm>
            <a:off x="4151114" y="2897981"/>
            <a:ext cx="3040618" cy="1906191"/>
          </a:xfrm>
          <a:prstGeom prst="roundRect">
            <a:avLst>
              <a:gd name="adj" fmla="val 5439"/>
            </a:avLst>
          </a:prstGeom>
          <a:solidFill>
            <a:srgbClr val="003180"/>
          </a:solidFill>
          <a:ln w="15240">
            <a:solidFill>
              <a:srgbClr val="194A99"/>
            </a:solidFill>
            <a:prstDash val="solid"/>
          </a:ln>
        </p:spPr>
      </p:sp>
      <p:sp>
        <p:nvSpPr>
          <p:cNvPr id="9" name="Shape 6"/>
          <p:cNvSpPr/>
          <p:nvPr/>
        </p:nvSpPr>
        <p:spPr>
          <a:xfrm>
            <a:off x="4413171" y="3160038"/>
            <a:ext cx="740450" cy="740450"/>
          </a:xfrm>
          <a:prstGeom prst="roundRect">
            <a:avLst>
              <a:gd name="adj" fmla="val 12348012"/>
            </a:avLst>
          </a:prstGeom>
          <a:solidFill>
            <a:srgbClr val="609DFF"/>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16768" y="3363635"/>
            <a:ext cx="333137" cy="333137"/>
          </a:xfrm>
          <a:prstGeom prst="rect">
            <a:avLst/>
          </a:prstGeom>
        </p:spPr>
      </p:pic>
      <p:sp>
        <p:nvSpPr>
          <p:cNvPr id="11" name="Text 7"/>
          <p:cNvSpPr/>
          <p:nvPr/>
        </p:nvSpPr>
        <p:spPr>
          <a:xfrm>
            <a:off x="4413171" y="4147304"/>
            <a:ext cx="251650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_token</a:t>
            </a:r>
            <a:endParaRPr lang="en-US" sz="1900" dirty="0"/>
          </a:p>
        </p:txBody>
      </p:sp>
      <p:sp>
        <p:nvSpPr>
          <p:cNvPr id="12" name="Shape 8"/>
          <p:cNvSpPr/>
          <p:nvPr/>
        </p:nvSpPr>
        <p:spPr>
          <a:xfrm>
            <a:off x="7438549" y="2897981"/>
            <a:ext cx="3040618" cy="1906191"/>
          </a:xfrm>
          <a:prstGeom prst="roundRect">
            <a:avLst>
              <a:gd name="adj" fmla="val 5439"/>
            </a:avLst>
          </a:prstGeom>
          <a:solidFill>
            <a:srgbClr val="003180"/>
          </a:solidFill>
          <a:ln w="15240">
            <a:solidFill>
              <a:srgbClr val="194A99"/>
            </a:solidFill>
            <a:prstDash val="solid"/>
          </a:ln>
        </p:spPr>
      </p:sp>
      <p:sp>
        <p:nvSpPr>
          <p:cNvPr id="13" name="Shape 9"/>
          <p:cNvSpPr/>
          <p:nvPr/>
        </p:nvSpPr>
        <p:spPr>
          <a:xfrm>
            <a:off x="7700605" y="3160038"/>
            <a:ext cx="740450" cy="740450"/>
          </a:xfrm>
          <a:prstGeom prst="roundRect">
            <a:avLst>
              <a:gd name="adj" fmla="val 12348012"/>
            </a:avLst>
          </a:prstGeom>
          <a:solidFill>
            <a:srgbClr val="609DFF"/>
          </a:solidFill>
          <a:ln/>
        </p:spPr>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4202" y="3363635"/>
            <a:ext cx="333137" cy="333137"/>
          </a:xfrm>
          <a:prstGeom prst="rect">
            <a:avLst/>
          </a:prstGeom>
        </p:spPr>
      </p:pic>
      <p:sp>
        <p:nvSpPr>
          <p:cNvPr id="15" name="Text 10"/>
          <p:cNvSpPr/>
          <p:nvPr/>
        </p:nvSpPr>
        <p:spPr>
          <a:xfrm>
            <a:off x="7700605" y="4147304"/>
            <a:ext cx="251650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authenticity_token</a:t>
            </a:r>
            <a:endParaRPr lang="en-US" sz="1900" dirty="0"/>
          </a:p>
        </p:txBody>
      </p:sp>
      <p:sp>
        <p:nvSpPr>
          <p:cNvPr id="16" name="Shape 11"/>
          <p:cNvSpPr/>
          <p:nvPr/>
        </p:nvSpPr>
        <p:spPr>
          <a:xfrm>
            <a:off x="10725983" y="2897981"/>
            <a:ext cx="3040618" cy="1906191"/>
          </a:xfrm>
          <a:prstGeom prst="roundRect">
            <a:avLst>
              <a:gd name="adj" fmla="val 5439"/>
            </a:avLst>
          </a:prstGeom>
          <a:solidFill>
            <a:srgbClr val="003180"/>
          </a:solidFill>
          <a:ln w="15240">
            <a:solidFill>
              <a:srgbClr val="194A99"/>
            </a:solidFill>
            <a:prstDash val="solid"/>
          </a:ln>
        </p:spPr>
      </p:sp>
      <p:sp>
        <p:nvSpPr>
          <p:cNvPr id="17" name="Shape 12"/>
          <p:cNvSpPr/>
          <p:nvPr/>
        </p:nvSpPr>
        <p:spPr>
          <a:xfrm>
            <a:off x="10988040" y="3160038"/>
            <a:ext cx="740450" cy="740450"/>
          </a:xfrm>
          <a:prstGeom prst="roundRect">
            <a:avLst>
              <a:gd name="adj" fmla="val 12348012"/>
            </a:avLst>
          </a:prstGeom>
          <a:solidFill>
            <a:srgbClr val="609DFF"/>
          </a:solidFill>
          <a:ln/>
        </p:spPr>
      </p:sp>
      <p:pic>
        <p:nvPicPr>
          <p:cNvPr id="18"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191637" y="3363635"/>
            <a:ext cx="333137" cy="333137"/>
          </a:xfrm>
          <a:prstGeom prst="rect">
            <a:avLst/>
          </a:prstGeom>
        </p:spPr>
      </p:pic>
      <p:sp>
        <p:nvSpPr>
          <p:cNvPr id="19" name="Text 13"/>
          <p:cNvSpPr/>
          <p:nvPr/>
        </p:nvSpPr>
        <p:spPr>
          <a:xfrm>
            <a:off x="10988040" y="4147304"/>
            <a:ext cx="251650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xsrf_token</a:t>
            </a:r>
            <a:endParaRPr lang="en-US" sz="1900" dirty="0"/>
          </a:p>
        </p:txBody>
      </p:sp>
      <p:sp>
        <p:nvSpPr>
          <p:cNvPr id="20" name="Shape 14"/>
          <p:cNvSpPr/>
          <p:nvPr/>
        </p:nvSpPr>
        <p:spPr>
          <a:xfrm>
            <a:off x="863798" y="5050988"/>
            <a:ext cx="6327934" cy="1906191"/>
          </a:xfrm>
          <a:prstGeom prst="roundRect">
            <a:avLst>
              <a:gd name="adj" fmla="val 5439"/>
            </a:avLst>
          </a:prstGeom>
          <a:solidFill>
            <a:srgbClr val="003180"/>
          </a:solidFill>
          <a:ln w="15240">
            <a:solidFill>
              <a:srgbClr val="194A99"/>
            </a:solidFill>
            <a:prstDash val="solid"/>
          </a:ln>
        </p:spPr>
      </p:sp>
      <p:sp>
        <p:nvSpPr>
          <p:cNvPr id="21" name="Shape 15"/>
          <p:cNvSpPr/>
          <p:nvPr/>
        </p:nvSpPr>
        <p:spPr>
          <a:xfrm>
            <a:off x="1125855" y="5313045"/>
            <a:ext cx="740450" cy="740450"/>
          </a:xfrm>
          <a:prstGeom prst="roundRect">
            <a:avLst>
              <a:gd name="adj" fmla="val 12348012"/>
            </a:avLst>
          </a:prstGeom>
          <a:solidFill>
            <a:srgbClr val="609DFF"/>
          </a:solidFill>
          <a:ln/>
        </p:spPr>
      </p:sp>
      <p:pic>
        <p:nvPicPr>
          <p:cNvPr id="22"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29452" y="5516642"/>
            <a:ext cx="333137" cy="333137"/>
          </a:xfrm>
          <a:prstGeom prst="rect">
            <a:avLst/>
          </a:prstGeom>
        </p:spPr>
      </p:pic>
      <p:sp>
        <p:nvSpPr>
          <p:cNvPr id="23" name="Text 16"/>
          <p:cNvSpPr/>
          <p:nvPr/>
        </p:nvSpPr>
        <p:spPr>
          <a:xfrm>
            <a:off x="1125855" y="6300311"/>
            <a:ext cx="5803821"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XSRF-TOKEN</a:t>
            </a:r>
            <a:endParaRPr lang="en-US" sz="1900" dirty="0"/>
          </a:p>
        </p:txBody>
      </p:sp>
      <p:sp>
        <p:nvSpPr>
          <p:cNvPr id="24" name="Shape 17"/>
          <p:cNvSpPr/>
          <p:nvPr/>
        </p:nvSpPr>
        <p:spPr>
          <a:xfrm>
            <a:off x="7438549" y="5050988"/>
            <a:ext cx="6328053" cy="1906191"/>
          </a:xfrm>
          <a:prstGeom prst="roundRect">
            <a:avLst>
              <a:gd name="adj" fmla="val 5439"/>
            </a:avLst>
          </a:prstGeom>
          <a:solidFill>
            <a:srgbClr val="003180"/>
          </a:solidFill>
          <a:ln w="15240">
            <a:solidFill>
              <a:srgbClr val="194A99"/>
            </a:solidFill>
            <a:prstDash val="solid"/>
          </a:ln>
        </p:spPr>
      </p:sp>
      <p:sp>
        <p:nvSpPr>
          <p:cNvPr id="25" name="Shape 18"/>
          <p:cNvSpPr/>
          <p:nvPr/>
        </p:nvSpPr>
        <p:spPr>
          <a:xfrm>
            <a:off x="7700605" y="5313045"/>
            <a:ext cx="740450" cy="740450"/>
          </a:xfrm>
          <a:prstGeom prst="roundRect">
            <a:avLst>
              <a:gd name="adj" fmla="val 12348012"/>
            </a:avLst>
          </a:prstGeom>
          <a:solidFill>
            <a:srgbClr val="609DFF"/>
          </a:solidFill>
          <a:ln/>
        </p:spPr>
      </p:sp>
      <p:pic>
        <p:nvPicPr>
          <p:cNvPr id="26" name="Image 5" descr="preencoded.png"/>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904202" y="5516642"/>
            <a:ext cx="333137" cy="333137"/>
          </a:xfrm>
          <a:prstGeom prst="rect">
            <a:avLst/>
          </a:prstGeom>
        </p:spPr>
      </p:pic>
      <p:sp>
        <p:nvSpPr>
          <p:cNvPr id="27" name="Text 19"/>
          <p:cNvSpPr/>
          <p:nvPr/>
        </p:nvSpPr>
        <p:spPr>
          <a:xfrm>
            <a:off x="7700605" y="6300311"/>
            <a:ext cx="5803940"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__RequestVerificationToken</a:t>
            </a:r>
            <a:endParaRPr lang="en-US" sz="1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2193608"/>
            <a:ext cx="6453426"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SAML/Enterprise SSO</a:t>
            </a:r>
            <a:endParaRPr lang="en-US" sz="4850" dirty="0"/>
          </a:p>
        </p:txBody>
      </p:sp>
      <p:sp>
        <p:nvSpPr>
          <p:cNvPr id="3" name="Text 1"/>
          <p:cNvSpPr/>
          <p:nvPr/>
        </p:nvSpPr>
        <p:spPr>
          <a:xfrm>
            <a:off x="863798" y="3581876"/>
            <a:ext cx="3226713"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SAML/Enterprise SSO</a:t>
            </a:r>
            <a:endParaRPr lang="en-US" sz="2400" dirty="0"/>
          </a:p>
        </p:txBody>
      </p:sp>
      <p:sp>
        <p:nvSpPr>
          <p:cNvPr id="4" name="Text 2"/>
          <p:cNvSpPr/>
          <p:nvPr/>
        </p:nvSpPr>
        <p:spPr>
          <a:xfrm>
            <a:off x="863798" y="4214217"/>
            <a:ext cx="4124444" cy="118443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Enterprise single sign-on authentication tokens used in corporate environments</a:t>
            </a:r>
            <a:endParaRPr lang="en-US" sz="1900" dirty="0"/>
          </a:p>
        </p:txBody>
      </p:sp>
      <p:sp>
        <p:nvSpPr>
          <p:cNvPr id="5" name="Shape 3"/>
          <p:cNvSpPr/>
          <p:nvPr/>
        </p:nvSpPr>
        <p:spPr>
          <a:xfrm>
            <a:off x="5598081" y="3612713"/>
            <a:ext cx="3964543" cy="949404"/>
          </a:xfrm>
          <a:prstGeom prst="roundRect">
            <a:avLst>
              <a:gd name="adj" fmla="val 15410"/>
            </a:avLst>
          </a:prstGeom>
          <a:solidFill>
            <a:srgbClr val="09151A">
              <a:alpha val="95000"/>
            </a:srgbClr>
          </a:solidFill>
          <a:ln w="30480">
            <a:solidFill>
              <a:srgbClr val="194A99"/>
            </a:solidFill>
            <a:prstDash val="solid"/>
          </a:ln>
        </p:spPr>
      </p:sp>
      <p:sp>
        <p:nvSpPr>
          <p:cNvPr id="6" name="Shape 4"/>
          <p:cNvSpPr/>
          <p:nvPr/>
        </p:nvSpPr>
        <p:spPr>
          <a:xfrm>
            <a:off x="5567601" y="3612713"/>
            <a:ext cx="121920" cy="949404"/>
          </a:xfrm>
          <a:prstGeom prst="roundRect">
            <a:avLst>
              <a:gd name="adj" fmla="val 85031"/>
            </a:avLst>
          </a:prstGeom>
          <a:solidFill>
            <a:srgbClr val="609DFF"/>
          </a:solidFill>
          <a:ln/>
        </p:spPr>
      </p:sp>
      <p:sp>
        <p:nvSpPr>
          <p:cNvPr id="7" name="Text 5"/>
          <p:cNvSpPr/>
          <p:nvPr/>
        </p:nvSpPr>
        <p:spPr>
          <a:xfrm>
            <a:off x="5966817" y="3890010"/>
            <a:ext cx="3318510"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SAMLResponse</a:t>
            </a:r>
            <a:endParaRPr lang="en-US" sz="1900" dirty="0"/>
          </a:p>
        </p:txBody>
      </p:sp>
      <p:sp>
        <p:nvSpPr>
          <p:cNvPr id="8" name="Shape 6"/>
          <p:cNvSpPr/>
          <p:nvPr/>
        </p:nvSpPr>
        <p:spPr>
          <a:xfrm>
            <a:off x="9809440" y="3612713"/>
            <a:ext cx="3964662" cy="949404"/>
          </a:xfrm>
          <a:prstGeom prst="roundRect">
            <a:avLst>
              <a:gd name="adj" fmla="val 15410"/>
            </a:avLst>
          </a:prstGeom>
          <a:solidFill>
            <a:srgbClr val="09151A">
              <a:alpha val="95000"/>
            </a:srgbClr>
          </a:solidFill>
          <a:ln w="30480">
            <a:solidFill>
              <a:srgbClr val="194A99"/>
            </a:solidFill>
            <a:prstDash val="solid"/>
          </a:ln>
        </p:spPr>
      </p:sp>
      <p:sp>
        <p:nvSpPr>
          <p:cNvPr id="9" name="Shape 7"/>
          <p:cNvSpPr/>
          <p:nvPr/>
        </p:nvSpPr>
        <p:spPr>
          <a:xfrm>
            <a:off x="9778960" y="3612713"/>
            <a:ext cx="121920" cy="949404"/>
          </a:xfrm>
          <a:prstGeom prst="roundRect">
            <a:avLst>
              <a:gd name="adj" fmla="val 85031"/>
            </a:avLst>
          </a:prstGeom>
          <a:solidFill>
            <a:srgbClr val="609DFF"/>
          </a:solidFill>
          <a:ln/>
        </p:spPr>
      </p:sp>
      <p:sp>
        <p:nvSpPr>
          <p:cNvPr id="10" name="Text 8"/>
          <p:cNvSpPr/>
          <p:nvPr/>
        </p:nvSpPr>
        <p:spPr>
          <a:xfrm>
            <a:off x="10178177" y="3890010"/>
            <a:ext cx="3318629"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RelayState</a:t>
            </a:r>
            <a:endParaRPr lang="en-US" sz="1900" dirty="0"/>
          </a:p>
        </p:txBody>
      </p:sp>
      <p:sp>
        <p:nvSpPr>
          <p:cNvPr id="11" name="Shape 9"/>
          <p:cNvSpPr/>
          <p:nvPr/>
        </p:nvSpPr>
        <p:spPr>
          <a:xfrm>
            <a:off x="5598081" y="4808934"/>
            <a:ext cx="3964543" cy="949404"/>
          </a:xfrm>
          <a:prstGeom prst="roundRect">
            <a:avLst>
              <a:gd name="adj" fmla="val 15410"/>
            </a:avLst>
          </a:prstGeom>
          <a:solidFill>
            <a:srgbClr val="09151A">
              <a:alpha val="95000"/>
            </a:srgbClr>
          </a:solidFill>
          <a:ln w="30480">
            <a:solidFill>
              <a:srgbClr val="194A99"/>
            </a:solidFill>
            <a:prstDash val="solid"/>
          </a:ln>
        </p:spPr>
      </p:sp>
      <p:sp>
        <p:nvSpPr>
          <p:cNvPr id="12" name="Shape 10"/>
          <p:cNvSpPr/>
          <p:nvPr/>
        </p:nvSpPr>
        <p:spPr>
          <a:xfrm>
            <a:off x="5567601" y="4808934"/>
            <a:ext cx="121920" cy="949404"/>
          </a:xfrm>
          <a:prstGeom prst="roundRect">
            <a:avLst>
              <a:gd name="adj" fmla="val 85031"/>
            </a:avLst>
          </a:prstGeom>
          <a:solidFill>
            <a:srgbClr val="609DFF"/>
          </a:solidFill>
          <a:ln/>
        </p:spPr>
      </p:sp>
      <p:sp>
        <p:nvSpPr>
          <p:cNvPr id="13" name="Text 11"/>
          <p:cNvSpPr/>
          <p:nvPr/>
        </p:nvSpPr>
        <p:spPr>
          <a:xfrm>
            <a:off x="5966817" y="5086231"/>
            <a:ext cx="3318510"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saml_token</a:t>
            </a:r>
            <a:endParaRPr lang="en-US" sz="1900" dirty="0"/>
          </a:p>
        </p:txBody>
      </p:sp>
      <p:sp>
        <p:nvSpPr>
          <p:cNvPr id="14" name="Shape 12"/>
          <p:cNvSpPr/>
          <p:nvPr/>
        </p:nvSpPr>
        <p:spPr>
          <a:xfrm>
            <a:off x="9809440" y="4808934"/>
            <a:ext cx="3964662" cy="949404"/>
          </a:xfrm>
          <a:prstGeom prst="roundRect">
            <a:avLst>
              <a:gd name="adj" fmla="val 15410"/>
            </a:avLst>
          </a:prstGeom>
          <a:solidFill>
            <a:srgbClr val="09151A">
              <a:alpha val="95000"/>
            </a:srgbClr>
          </a:solidFill>
          <a:ln w="30480">
            <a:solidFill>
              <a:srgbClr val="194A99"/>
            </a:solidFill>
            <a:prstDash val="solid"/>
          </a:ln>
        </p:spPr>
      </p:sp>
      <p:sp>
        <p:nvSpPr>
          <p:cNvPr id="15" name="Shape 13"/>
          <p:cNvSpPr/>
          <p:nvPr/>
        </p:nvSpPr>
        <p:spPr>
          <a:xfrm>
            <a:off x="9778960" y="4808934"/>
            <a:ext cx="121920" cy="949404"/>
          </a:xfrm>
          <a:prstGeom prst="roundRect">
            <a:avLst>
              <a:gd name="adj" fmla="val 85031"/>
            </a:avLst>
          </a:prstGeom>
          <a:solidFill>
            <a:srgbClr val="609DFF"/>
          </a:solidFill>
          <a:ln/>
        </p:spPr>
      </p:sp>
      <p:sp>
        <p:nvSpPr>
          <p:cNvPr id="16" name="Text 14"/>
          <p:cNvSpPr/>
          <p:nvPr/>
        </p:nvSpPr>
        <p:spPr>
          <a:xfrm>
            <a:off x="10178177" y="5086231"/>
            <a:ext cx="3318629"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saml_assertion</a:t>
            </a:r>
            <a:endParaRPr lang="en-US" sz="1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2439948"/>
            <a:ext cx="10697647"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App-Specific/Common SPA Patterns</a:t>
            </a:r>
            <a:endParaRPr lang="en-US" sz="4850" dirty="0"/>
          </a:p>
        </p:txBody>
      </p:sp>
      <p:sp>
        <p:nvSpPr>
          <p:cNvPr id="3" name="Shape 1"/>
          <p:cNvSpPr/>
          <p:nvPr/>
        </p:nvSpPr>
        <p:spPr>
          <a:xfrm>
            <a:off x="863798" y="3704868"/>
            <a:ext cx="3040499" cy="918924"/>
          </a:xfrm>
          <a:prstGeom prst="roundRect">
            <a:avLst>
              <a:gd name="adj" fmla="val 64466"/>
            </a:avLst>
          </a:prstGeom>
          <a:solidFill>
            <a:srgbClr val="003180"/>
          </a:solidFill>
          <a:ln w="15240">
            <a:solidFill>
              <a:srgbClr val="194A99"/>
            </a:solidFill>
            <a:prstDash val="solid"/>
          </a:ln>
        </p:spPr>
      </p:sp>
      <p:sp>
        <p:nvSpPr>
          <p:cNvPr id="4" name="Text 2"/>
          <p:cNvSpPr/>
          <p:nvPr/>
        </p:nvSpPr>
        <p:spPr>
          <a:xfrm>
            <a:off x="1125855" y="3966924"/>
            <a:ext cx="2516386"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userToken</a:t>
            </a:r>
            <a:endParaRPr lang="en-US" sz="1900" dirty="0"/>
          </a:p>
        </p:txBody>
      </p:sp>
      <p:sp>
        <p:nvSpPr>
          <p:cNvPr id="5" name="Shape 3"/>
          <p:cNvSpPr/>
          <p:nvPr/>
        </p:nvSpPr>
        <p:spPr>
          <a:xfrm>
            <a:off x="4151114" y="3704868"/>
            <a:ext cx="3040618" cy="918924"/>
          </a:xfrm>
          <a:prstGeom prst="roundRect">
            <a:avLst>
              <a:gd name="adj" fmla="val 64466"/>
            </a:avLst>
          </a:prstGeom>
          <a:solidFill>
            <a:srgbClr val="003180"/>
          </a:solidFill>
          <a:ln w="15240">
            <a:solidFill>
              <a:srgbClr val="194A99"/>
            </a:solidFill>
            <a:prstDash val="solid"/>
          </a:ln>
        </p:spPr>
      </p:sp>
      <p:sp>
        <p:nvSpPr>
          <p:cNvPr id="6" name="Text 4"/>
          <p:cNvSpPr/>
          <p:nvPr/>
        </p:nvSpPr>
        <p:spPr>
          <a:xfrm>
            <a:off x="4413171" y="3966924"/>
            <a:ext cx="251650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apiKey</a:t>
            </a:r>
            <a:endParaRPr lang="en-US" sz="1900" dirty="0"/>
          </a:p>
        </p:txBody>
      </p:sp>
      <p:sp>
        <p:nvSpPr>
          <p:cNvPr id="7" name="Shape 5"/>
          <p:cNvSpPr/>
          <p:nvPr/>
        </p:nvSpPr>
        <p:spPr>
          <a:xfrm>
            <a:off x="7438549" y="3704868"/>
            <a:ext cx="3040618" cy="918924"/>
          </a:xfrm>
          <a:prstGeom prst="roundRect">
            <a:avLst>
              <a:gd name="adj" fmla="val 64466"/>
            </a:avLst>
          </a:prstGeom>
          <a:solidFill>
            <a:srgbClr val="003180"/>
          </a:solidFill>
          <a:ln w="15240">
            <a:solidFill>
              <a:srgbClr val="194A99"/>
            </a:solidFill>
            <a:prstDash val="solid"/>
          </a:ln>
        </p:spPr>
      </p:sp>
      <p:sp>
        <p:nvSpPr>
          <p:cNvPr id="8" name="Text 6"/>
          <p:cNvSpPr/>
          <p:nvPr/>
        </p:nvSpPr>
        <p:spPr>
          <a:xfrm>
            <a:off x="7700605" y="3966924"/>
            <a:ext cx="251650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api_token</a:t>
            </a:r>
            <a:endParaRPr lang="en-US" sz="1900" dirty="0"/>
          </a:p>
        </p:txBody>
      </p:sp>
      <p:sp>
        <p:nvSpPr>
          <p:cNvPr id="9" name="Shape 7"/>
          <p:cNvSpPr/>
          <p:nvPr/>
        </p:nvSpPr>
        <p:spPr>
          <a:xfrm>
            <a:off x="10725983" y="3704868"/>
            <a:ext cx="3040618" cy="918924"/>
          </a:xfrm>
          <a:prstGeom prst="roundRect">
            <a:avLst>
              <a:gd name="adj" fmla="val 64466"/>
            </a:avLst>
          </a:prstGeom>
          <a:solidFill>
            <a:srgbClr val="003180"/>
          </a:solidFill>
          <a:ln w="15240">
            <a:solidFill>
              <a:srgbClr val="194A99"/>
            </a:solidFill>
            <a:prstDash val="solid"/>
          </a:ln>
        </p:spPr>
      </p:sp>
      <p:sp>
        <p:nvSpPr>
          <p:cNvPr id="10" name="Text 8"/>
          <p:cNvSpPr/>
          <p:nvPr/>
        </p:nvSpPr>
        <p:spPr>
          <a:xfrm>
            <a:off x="10988040" y="3966924"/>
            <a:ext cx="2516505"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auth</a:t>
            </a:r>
            <a:endParaRPr lang="en-US" sz="1900" dirty="0"/>
          </a:p>
        </p:txBody>
      </p:sp>
      <p:sp>
        <p:nvSpPr>
          <p:cNvPr id="11" name="Shape 9"/>
          <p:cNvSpPr/>
          <p:nvPr/>
        </p:nvSpPr>
        <p:spPr>
          <a:xfrm>
            <a:off x="863798" y="4870609"/>
            <a:ext cx="6327934" cy="918924"/>
          </a:xfrm>
          <a:prstGeom prst="roundRect">
            <a:avLst>
              <a:gd name="adj" fmla="val 64466"/>
            </a:avLst>
          </a:prstGeom>
          <a:solidFill>
            <a:srgbClr val="003180"/>
          </a:solidFill>
          <a:ln w="15240">
            <a:solidFill>
              <a:srgbClr val="194A99"/>
            </a:solidFill>
            <a:prstDash val="solid"/>
          </a:ln>
        </p:spPr>
      </p:sp>
      <p:sp>
        <p:nvSpPr>
          <p:cNvPr id="12" name="Text 10"/>
          <p:cNvSpPr/>
          <p:nvPr/>
        </p:nvSpPr>
        <p:spPr>
          <a:xfrm>
            <a:off x="1125855" y="5132665"/>
            <a:ext cx="5803821"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user_session</a:t>
            </a:r>
            <a:endParaRPr lang="en-US" sz="1900" dirty="0"/>
          </a:p>
        </p:txBody>
      </p:sp>
      <p:sp>
        <p:nvSpPr>
          <p:cNvPr id="13" name="Shape 11"/>
          <p:cNvSpPr/>
          <p:nvPr/>
        </p:nvSpPr>
        <p:spPr>
          <a:xfrm>
            <a:off x="7438549" y="4870609"/>
            <a:ext cx="6328053" cy="918924"/>
          </a:xfrm>
          <a:prstGeom prst="roundRect">
            <a:avLst>
              <a:gd name="adj" fmla="val 64466"/>
            </a:avLst>
          </a:prstGeom>
          <a:solidFill>
            <a:srgbClr val="003180"/>
          </a:solidFill>
          <a:ln w="15240">
            <a:solidFill>
              <a:srgbClr val="194A99"/>
            </a:solidFill>
            <a:prstDash val="solid"/>
          </a:ln>
        </p:spPr>
      </p:sp>
      <p:sp>
        <p:nvSpPr>
          <p:cNvPr id="14" name="Text 12"/>
          <p:cNvSpPr/>
          <p:nvPr/>
        </p:nvSpPr>
        <p:spPr>
          <a:xfrm>
            <a:off x="7700605" y="5132665"/>
            <a:ext cx="5803940" cy="394811"/>
          </a:xfrm>
          <a:prstGeom prst="rect">
            <a:avLst/>
          </a:prstGeom>
          <a:noFill/>
          <a:ln/>
        </p:spPr>
        <p:txBody>
          <a:bodyPr wrap="none" lIns="0" tIns="0" rIns="0" bIns="0" rtlCol="0" anchor="t"/>
          <a:lstStyle/>
          <a:p>
            <a:pPr marL="0" indent="0" algn="l">
              <a:lnSpc>
                <a:spcPts val="3100"/>
              </a:lnSpc>
              <a:buNone/>
            </a:pPr>
            <a:r>
              <a:rPr lang="en-US" sz="1900" b="1" dirty="0">
                <a:solidFill>
                  <a:srgbClr val="E2E6E9"/>
                </a:solidFill>
                <a:latin typeface="Merriweather" pitchFamily="34" charset="0"/>
                <a:ea typeface="Merriweather" pitchFamily="34" charset="-122"/>
                <a:cs typeface="Merriweather" pitchFamily="34" charset="-120"/>
              </a:rPr>
              <a:t>login_token</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1391245"/>
            <a:ext cx="9173051" cy="771287"/>
          </a:xfrm>
          <a:prstGeom prst="rect">
            <a:avLst/>
          </a:prstGeom>
          <a:noFill/>
          <a:ln/>
        </p:spPr>
        <p:txBody>
          <a:bodyPr wrap="non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Quick enumeration commands</a:t>
            </a:r>
            <a:endParaRPr lang="en-US" sz="4850" dirty="0"/>
          </a:p>
        </p:txBody>
      </p:sp>
      <p:sp>
        <p:nvSpPr>
          <p:cNvPr id="3" name="Text 1"/>
          <p:cNvSpPr/>
          <p:nvPr/>
        </p:nvSpPr>
        <p:spPr>
          <a:xfrm>
            <a:off x="863798" y="2261235"/>
            <a:ext cx="3460671"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Run in browser console</a:t>
            </a:r>
            <a:endParaRPr lang="en-US" sz="2400" dirty="0"/>
          </a:p>
        </p:txBody>
      </p:sp>
      <p:sp>
        <p:nvSpPr>
          <p:cNvPr id="4" name="Shape 2"/>
          <p:cNvSpPr/>
          <p:nvPr/>
        </p:nvSpPr>
        <p:spPr>
          <a:xfrm>
            <a:off x="863798" y="3016925"/>
            <a:ext cx="12902803" cy="2344103"/>
          </a:xfrm>
          <a:prstGeom prst="roundRect">
            <a:avLst>
              <a:gd name="adj" fmla="val 4423"/>
            </a:avLst>
          </a:prstGeom>
          <a:solidFill>
            <a:srgbClr val="162227"/>
          </a:solidFill>
          <a:ln/>
        </p:spPr>
      </p:sp>
      <p:sp>
        <p:nvSpPr>
          <p:cNvPr id="5" name="Shape 3"/>
          <p:cNvSpPr/>
          <p:nvPr/>
        </p:nvSpPr>
        <p:spPr>
          <a:xfrm>
            <a:off x="851535" y="3016925"/>
            <a:ext cx="12927330" cy="2344103"/>
          </a:xfrm>
          <a:prstGeom prst="roundRect">
            <a:avLst>
              <a:gd name="adj" fmla="val 1579"/>
            </a:avLst>
          </a:prstGeom>
          <a:solidFill>
            <a:srgbClr val="162227"/>
          </a:solidFill>
          <a:ln/>
        </p:spPr>
      </p:sp>
      <p:sp>
        <p:nvSpPr>
          <p:cNvPr id="6" name="Text 4"/>
          <p:cNvSpPr/>
          <p:nvPr/>
        </p:nvSpPr>
        <p:spPr>
          <a:xfrm>
            <a:off x="1098352" y="3201948"/>
            <a:ext cx="12433697" cy="1974056"/>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 Scan storage for token-like keys</a:t>
            </a:r>
            <a:endParaRPr lang="en-US" sz="1900" dirty="0"/>
          </a:p>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[...localStorage, ...sessionStorage].filter(k =&gt; k.match(/token|auth|sess|csrf|jwt|bearer/i)</a:t>
            </a:r>
            <a:endParaRPr lang="en-US" sz="1900" dirty="0"/>
          </a:p>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).forEach(k =&gt; console.log(k, eval(k))); // eval for local/sessionStorage</a:t>
            </a:r>
            <a:endParaRPr lang="en-US" sz="1900" dirty="0"/>
          </a:p>
          <a:p>
            <a:pPr marL="0" indent="0" algn="l">
              <a:lnSpc>
                <a:spcPts val="3100"/>
              </a:lnSpc>
              <a:buNone/>
            </a:pPr>
            <a:endParaRPr lang="en-US" sz="1900" dirty="0"/>
          </a:p>
          <a:p>
            <a:pPr marL="0" indent="0" algn="l">
              <a:lnSpc>
                <a:spcPts val="3100"/>
              </a:lnSpc>
              <a:buNone/>
            </a:pPr>
            <a:r>
              <a:rPr lang="en-US" sz="1900" dirty="0">
                <a:solidFill>
                  <a:srgbClr val="E2E6E9"/>
                </a:solidFill>
                <a:highlight>
                  <a:srgbClr val="162227"/>
                </a:highlight>
                <a:latin typeface="Consolas" pitchFamily="34" charset="0"/>
                <a:ea typeface="Consolas" pitchFamily="34" charset="-122"/>
                <a:cs typeface="Consolas" pitchFamily="34" charset="-120"/>
              </a:rPr>
              <a:t>// Headers in Network tab: Authorization, X-Auth-Token, X-API-Key</a:t>
            </a:r>
            <a:endParaRPr lang="en-US" sz="1900" dirty="0"/>
          </a:p>
        </p:txBody>
      </p:sp>
      <p:sp>
        <p:nvSpPr>
          <p:cNvPr id="7" name="Text 5"/>
          <p:cNvSpPr/>
          <p:nvPr/>
        </p:nvSpPr>
        <p:spPr>
          <a:xfrm>
            <a:off x="863798" y="5638681"/>
            <a:ext cx="12902803" cy="1199674"/>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During pentests, grep responses for these patterns too </a:t>
            </a:r>
            <a:r>
              <a:rPr lang="en-US" sz="1900" dirty="0">
                <a:solidFill>
                  <a:srgbClr val="E2E6E9"/>
                </a:solidFill>
                <a:highlight>
                  <a:srgbClr val="162227"/>
                </a:highlight>
                <a:latin typeface="Consolas" pitchFamily="34" charset="0"/>
                <a:ea typeface="Consolas" pitchFamily="34" charset="-122"/>
                <a:cs typeface="Consolas" pitchFamily="34" charset="-120"/>
              </a:rPr>
              <a:t>grep -i "token\|auth\|sess\|jwt" response.html</a:t>
            </a:r>
            <a:r>
              <a:rPr lang="en-US" sz="1900" dirty="0">
                <a:solidFill>
                  <a:srgbClr val="E2E6E9"/>
                </a:solidFill>
                <a:latin typeface="Merriweather" pitchFamily="34" charset="0"/>
                <a:ea typeface="Merriweather" pitchFamily="34" charset="-122"/>
                <a:cs typeface="Merriweather" pitchFamily="34" charset="-120"/>
              </a:rPr>
              <a:t>. Many sites use predictable prefixes like </a:t>
            </a:r>
            <a:r>
              <a:rPr lang="en-US" sz="1900" dirty="0">
                <a:solidFill>
                  <a:srgbClr val="E2E6E9"/>
                </a:solidFill>
                <a:highlight>
                  <a:srgbClr val="162227"/>
                </a:highlight>
                <a:latin typeface="Consolas" pitchFamily="34" charset="0"/>
                <a:ea typeface="Consolas" pitchFamily="34" charset="-122"/>
                <a:cs typeface="Consolas" pitchFamily="34" charset="-120"/>
              </a:rPr>
              <a:t>app_</a:t>
            </a:r>
            <a:r>
              <a:rPr lang="en-US" sz="1900" dirty="0">
                <a:solidFill>
                  <a:srgbClr val="E2E6E9"/>
                </a:solidFill>
                <a:latin typeface="Merriweather" pitchFamily="34" charset="0"/>
                <a:ea typeface="Merriweather" pitchFamily="34" charset="-122"/>
                <a:cs typeface="Merriweather" pitchFamily="34" charset="-120"/>
              </a:rPr>
              <a:t> or </a:t>
            </a:r>
            <a:r>
              <a:rPr lang="en-US" sz="1900" dirty="0">
                <a:solidFill>
                  <a:srgbClr val="E2E6E9"/>
                </a:solidFill>
                <a:highlight>
                  <a:srgbClr val="162227"/>
                </a:highlight>
                <a:latin typeface="Consolas" pitchFamily="34" charset="0"/>
                <a:ea typeface="Consolas" pitchFamily="34" charset="-122"/>
                <a:cs typeface="Consolas" pitchFamily="34" charset="-120"/>
              </a:rPr>
              <a:t>_app</a:t>
            </a:r>
            <a:r>
              <a:rPr lang="en-US" sz="1900" dirty="0">
                <a:solidFill>
                  <a:srgbClr val="E2E6E9"/>
                </a:solidFill>
                <a:latin typeface="Merriweather" pitchFamily="34" charset="0"/>
                <a:ea typeface="Merriweather" pitchFamily="34" charset="-122"/>
                <a:cs typeface="Merriweather" pitchFamily="34" charset="-120"/>
              </a:rPr>
              <a:t>. Check </a:t>
            </a:r>
            <a:r>
              <a:rPr lang="en-US" sz="1900" dirty="0">
                <a:solidFill>
                  <a:srgbClr val="E2E6E9"/>
                </a:solidFill>
                <a:highlight>
                  <a:srgbClr val="162227"/>
                </a:highlight>
                <a:latin typeface="Consolas" pitchFamily="34" charset="0"/>
                <a:ea typeface="Consolas" pitchFamily="34" charset="-122"/>
                <a:cs typeface="Consolas" pitchFamily="34" charset="-120"/>
              </a:rPr>
              <a:t>robots.txt/sitemap.xml</a:t>
            </a:r>
            <a:r>
              <a:rPr lang="en-US" sz="1900" dirty="0">
                <a:solidFill>
                  <a:srgbClr val="E2E6E9"/>
                </a:solidFill>
                <a:latin typeface="Merriweather" pitchFamily="34" charset="0"/>
                <a:ea typeface="Merriweather" pitchFamily="34" charset="-122"/>
                <a:cs typeface="Merriweather" pitchFamily="34" charset="-120"/>
              </a:rPr>
              <a:t> for admin panels that expose auth endpoints.</a:t>
            </a:r>
            <a:endParaRPr lang="en-US" sz="1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Text 0"/>
          <p:cNvSpPr/>
          <p:nvPr/>
        </p:nvSpPr>
        <p:spPr>
          <a:xfrm>
            <a:off x="863798" y="3343513"/>
            <a:ext cx="7416403" cy="1542574"/>
          </a:xfrm>
          <a:prstGeom prst="rect">
            <a:avLst/>
          </a:prstGeom>
          <a:noFill/>
          <a:ln/>
        </p:spPr>
        <p:txBody>
          <a:bodyPr wrap="square" lIns="0" tIns="0" rIns="0" bIns="0" rtlCol="0" anchor="t"/>
          <a:lstStyle/>
          <a:p>
            <a:pPr marL="0" indent="0" algn="l">
              <a:lnSpc>
                <a:spcPts val="6050"/>
              </a:lnSpc>
              <a:buNone/>
            </a:pPr>
            <a:r>
              <a:rPr lang="en-US" sz="4850" dirty="0">
                <a:solidFill>
                  <a:srgbClr val="F5F0F0"/>
                </a:solidFill>
                <a:latin typeface="Merriweather" pitchFamily="34" charset="0"/>
                <a:ea typeface="Merriweather" pitchFamily="34" charset="-122"/>
                <a:cs typeface="Merriweather" pitchFamily="34" charset="-120"/>
              </a:rPr>
              <a:t>Parameters used to generate token</a:t>
            </a:r>
            <a:endParaRPr lang="en-US" sz="4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501622"/>
          </a:xfrm>
          <a:prstGeom prst="rect">
            <a:avLst/>
          </a:prstGeom>
        </p:spPr>
      </p:pic>
      <p:sp>
        <p:nvSpPr>
          <p:cNvPr id="3" name="Text 0"/>
          <p:cNvSpPr/>
          <p:nvPr/>
        </p:nvSpPr>
        <p:spPr>
          <a:xfrm>
            <a:off x="1038225" y="3671173"/>
            <a:ext cx="12553831" cy="1875949"/>
          </a:xfrm>
          <a:prstGeom prst="rect">
            <a:avLst/>
          </a:prstGeom>
          <a:noFill/>
          <a:ln/>
        </p:spPr>
        <p:txBody>
          <a:bodyPr wrap="square" lIns="0" tIns="0" rIns="0" bIns="0" rtlCol="0" anchor="t"/>
          <a:lstStyle/>
          <a:p>
            <a:pPr marL="0" indent="0" algn="l">
              <a:lnSpc>
                <a:spcPts val="4900"/>
              </a:lnSpc>
              <a:buNone/>
            </a:pPr>
            <a:r>
              <a:rPr lang="en-US" sz="3900" dirty="0">
                <a:solidFill>
                  <a:srgbClr val="F5F0F0"/>
                </a:solidFill>
                <a:latin typeface="Merriweather" pitchFamily="34" charset="0"/>
                <a:ea typeface="Merriweather" pitchFamily="34" charset="-122"/>
                <a:cs typeface="Merriweather" pitchFamily="34" charset="-120"/>
              </a:rPr>
              <a:t>Token generation parameters vary by type, but here are the most common inputs/claims used across authentication systems.</a:t>
            </a:r>
            <a:endParaRPr lang="en-US" sz="3900" dirty="0"/>
          </a:p>
        </p:txBody>
      </p:sp>
      <p:sp>
        <p:nvSpPr>
          <p:cNvPr id="4" name="Text 1"/>
          <p:cNvSpPr/>
          <p:nvPr/>
        </p:nvSpPr>
        <p:spPr>
          <a:xfrm>
            <a:off x="1038225" y="5790486"/>
            <a:ext cx="12553831" cy="724614"/>
          </a:xfrm>
          <a:prstGeom prst="rect">
            <a:avLst/>
          </a:prstGeom>
          <a:noFill/>
          <a:ln/>
        </p:spPr>
        <p:txBody>
          <a:bodyPr wrap="square" lIns="0" tIns="0" rIns="0" bIns="0" rtlCol="0" anchor="t"/>
          <a:lstStyle/>
          <a:p>
            <a:pPr marL="0" indent="0" algn="l">
              <a:lnSpc>
                <a:spcPts val="2850"/>
              </a:lnSpc>
              <a:buNone/>
            </a:pPr>
            <a:r>
              <a:rPr lang="en-US" sz="1950" dirty="0">
                <a:solidFill>
                  <a:srgbClr val="E2E6E9"/>
                </a:solidFill>
                <a:latin typeface="Merriweather" pitchFamily="34" charset="0"/>
                <a:ea typeface="Merriweather" pitchFamily="34" charset="-122"/>
                <a:cs typeface="Merriweather" pitchFamily="34" charset="-120"/>
              </a:rPr>
              <a:t>Security tokens aren't random strings. They're generated using specific inputs (claims + metadata + secrets). What's used depends on the token type (JWT, session ID, OAuth token, etc.).</a:t>
            </a:r>
            <a:endParaRPr lang="en-US" sz="1950" dirty="0"/>
          </a:p>
        </p:txBody>
      </p:sp>
      <p:sp>
        <p:nvSpPr>
          <p:cNvPr id="5" name="Text 2"/>
          <p:cNvSpPr/>
          <p:nvPr/>
        </p:nvSpPr>
        <p:spPr>
          <a:xfrm>
            <a:off x="1038225" y="6697623"/>
            <a:ext cx="12553831" cy="362307"/>
          </a:xfrm>
          <a:prstGeom prst="rect">
            <a:avLst/>
          </a:prstGeom>
          <a:noFill/>
          <a:ln/>
        </p:spPr>
        <p:txBody>
          <a:bodyPr wrap="none" lIns="0" tIns="0" rIns="0" bIns="0" rtlCol="0" anchor="t"/>
          <a:lstStyle/>
          <a:p>
            <a:pPr marL="0" indent="0" algn="l">
              <a:lnSpc>
                <a:spcPts val="2850"/>
              </a:lnSpc>
              <a:buNone/>
            </a:pPr>
            <a:r>
              <a:rPr lang="en-US" sz="1950" b="1" dirty="0">
                <a:solidFill>
                  <a:srgbClr val="E2E6E9"/>
                </a:solidFill>
                <a:latin typeface="Merriweather" pitchFamily="34" charset="0"/>
                <a:ea typeface="Merriweather" pitchFamily="34" charset="-122"/>
                <a:cs typeface="Merriweather" pitchFamily="34" charset="-120"/>
              </a:rPr>
              <a:t>These are what servers typically require or embed when creating tokens:</a:t>
            </a:r>
            <a:endParaRPr lang="en-US" sz="19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308491" y="2603778"/>
            <a:ext cx="4869299" cy="3021925"/>
          </a:xfrm>
          <a:prstGeom prst="rect">
            <a:avLst/>
          </a:prstGeom>
        </p:spPr>
      </p:pic>
      <p:sp>
        <p:nvSpPr>
          <p:cNvPr id="4" name="Text 0"/>
          <p:cNvSpPr/>
          <p:nvPr/>
        </p:nvSpPr>
        <p:spPr>
          <a:xfrm>
            <a:off x="6350198" y="971907"/>
            <a:ext cx="4936569"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Session ID Tokens</a:t>
            </a:r>
            <a:endParaRPr lang="en-US" sz="3850" dirty="0"/>
          </a:p>
        </p:txBody>
      </p:sp>
      <p:sp>
        <p:nvSpPr>
          <p:cNvPr id="5" name="Text 1"/>
          <p:cNvSpPr/>
          <p:nvPr/>
        </p:nvSpPr>
        <p:spPr>
          <a:xfrm>
            <a:off x="6350198" y="1687592"/>
            <a:ext cx="3824526" cy="385524"/>
          </a:xfrm>
          <a:prstGeom prst="rect">
            <a:avLst/>
          </a:prstGeom>
          <a:noFill/>
          <a:ln/>
        </p:spPr>
        <p:txBody>
          <a:bodyPr wrap="none" lIns="0" tIns="0" rIns="0" bIns="0" rtlCol="0" anchor="t"/>
          <a:lstStyle/>
          <a:p>
            <a:pPr marL="0" indent="0" algn="l">
              <a:lnSpc>
                <a:spcPts val="3000"/>
              </a:lnSpc>
              <a:buNone/>
            </a:pPr>
            <a:r>
              <a:rPr lang="en-US" sz="2400" dirty="0">
                <a:solidFill>
                  <a:srgbClr val="F5F0F0"/>
                </a:solidFill>
                <a:latin typeface="Merriweather" pitchFamily="34" charset="0"/>
                <a:ea typeface="Merriweather" pitchFamily="34" charset="-122"/>
                <a:cs typeface="Merriweather" pitchFamily="34" charset="-120"/>
              </a:rPr>
              <a:t>(PHPSESSID, JSESSIONID)</a:t>
            </a:r>
            <a:endParaRPr lang="en-US" sz="2400" dirty="0"/>
          </a:p>
        </p:txBody>
      </p:sp>
      <p:sp>
        <p:nvSpPr>
          <p:cNvPr id="6" name="Shape 2"/>
          <p:cNvSpPr/>
          <p:nvPr/>
        </p:nvSpPr>
        <p:spPr>
          <a:xfrm>
            <a:off x="6350198" y="2720935"/>
            <a:ext cx="3407093" cy="1551265"/>
          </a:xfrm>
          <a:prstGeom prst="roundRect">
            <a:avLst>
              <a:gd name="adj" fmla="val 6683"/>
            </a:avLst>
          </a:prstGeom>
          <a:solidFill>
            <a:srgbClr val="003180"/>
          </a:solidFill>
          <a:ln w="15240">
            <a:solidFill>
              <a:srgbClr val="194A99"/>
            </a:solidFill>
            <a:prstDash val="solid"/>
          </a:ln>
        </p:spPr>
      </p:sp>
      <p:sp>
        <p:nvSpPr>
          <p:cNvPr id="7" name="Text 3"/>
          <p:cNvSpPr/>
          <p:nvPr/>
        </p:nvSpPr>
        <p:spPr>
          <a:xfrm>
            <a:off x="6612255" y="2982992"/>
            <a:ext cx="288297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user_id</a:t>
            </a:r>
            <a:endParaRPr lang="en-US" sz="2400" dirty="0"/>
          </a:p>
        </p:txBody>
      </p:sp>
      <p:sp>
        <p:nvSpPr>
          <p:cNvPr id="8" name="Text 4"/>
          <p:cNvSpPr/>
          <p:nvPr/>
        </p:nvSpPr>
        <p:spPr>
          <a:xfrm>
            <a:off x="6612255" y="3615333"/>
            <a:ext cx="2882979"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(or session_user_id)</a:t>
            </a:r>
            <a:endParaRPr lang="en-US" sz="1900" dirty="0"/>
          </a:p>
        </p:txBody>
      </p:sp>
      <p:sp>
        <p:nvSpPr>
          <p:cNvPr id="9" name="Shape 5"/>
          <p:cNvSpPr/>
          <p:nvPr/>
        </p:nvSpPr>
        <p:spPr>
          <a:xfrm>
            <a:off x="6350198" y="4519017"/>
            <a:ext cx="3407093" cy="909637"/>
          </a:xfrm>
          <a:prstGeom prst="roundRect">
            <a:avLst>
              <a:gd name="adj" fmla="val 11397"/>
            </a:avLst>
          </a:prstGeom>
          <a:solidFill>
            <a:srgbClr val="003180"/>
          </a:solidFill>
          <a:ln w="15240">
            <a:solidFill>
              <a:srgbClr val="194A99"/>
            </a:solidFill>
            <a:prstDash val="solid"/>
          </a:ln>
        </p:spPr>
      </p:sp>
      <p:sp>
        <p:nvSpPr>
          <p:cNvPr id="10" name="Text 6"/>
          <p:cNvSpPr/>
          <p:nvPr/>
        </p:nvSpPr>
        <p:spPr>
          <a:xfrm>
            <a:off x="6612255" y="4781074"/>
            <a:ext cx="288297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ip_address</a:t>
            </a:r>
            <a:endParaRPr lang="en-US" sz="2400" dirty="0"/>
          </a:p>
        </p:txBody>
      </p:sp>
      <p:sp>
        <p:nvSpPr>
          <p:cNvPr id="11" name="Shape 7"/>
          <p:cNvSpPr/>
          <p:nvPr/>
        </p:nvSpPr>
        <p:spPr>
          <a:xfrm>
            <a:off x="6350198" y="5675471"/>
            <a:ext cx="3407093" cy="909637"/>
          </a:xfrm>
          <a:prstGeom prst="roundRect">
            <a:avLst>
              <a:gd name="adj" fmla="val 11397"/>
            </a:avLst>
          </a:prstGeom>
          <a:solidFill>
            <a:srgbClr val="003180"/>
          </a:solidFill>
          <a:ln w="15240">
            <a:solidFill>
              <a:srgbClr val="194A99"/>
            </a:solidFill>
            <a:prstDash val="solid"/>
          </a:ln>
        </p:spPr>
      </p:sp>
      <p:sp>
        <p:nvSpPr>
          <p:cNvPr id="12" name="Text 8"/>
          <p:cNvSpPr/>
          <p:nvPr/>
        </p:nvSpPr>
        <p:spPr>
          <a:xfrm>
            <a:off x="6612255" y="5937528"/>
            <a:ext cx="288297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user_agent</a:t>
            </a:r>
            <a:endParaRPr lang="en-US" sz="2400" dirty="0"/>
          </a:p>
        </p:txBody>
      </p:sp>
      <p:sp>
        <p:nvSpPr>
          <p:cNvPr id="13" name="Shape 9"/>
          <p:cNvSpPr/>
          <p:nvPr/>
        </p:nvSpPr>
        <p:spPr>
          <a:xfrm>
            <a:off x="10367129" y="2720935"/>
            <a:ext cx="3407093" cy="909637"/>
          </a:xfrm>
          <a:prstGeom prst="roundRect">
            <a:avLst>
              <a:gd name="adj" fmla="val 11397"/>
            </a:avLst>
          </a:prstGeom>
          <a:solidFill>
            <a:srgbClr val="003180"/>
          </a:solidFill>
          <a:ln w="15240">
            <a:solidFill>
              <a:srgbClr val="194A99"/>
            </a:solidFill>
            <a:prstDash val="solid"/>
          </a:ln>
        </p:spPr>
      </p:sp>
      <p:sp>
        <p:nvSpPr>
          <p:cNvPr id="14" name="Text 10"/>
          <p:cNvSpPr/>
          <p:nvPr/>
        </p:nvSpPr>
        <p:spPr>
          <a:xfrm>
            <a:off x="10629186" y="2982992"/>
            <a:ext cx="288297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login_timestamp</a:t>
            </a:r>
            <a:endParaRPr lang="en-US" sz="2400" dirty="0"/>
          </a:p>
        </p:txBody>
      </p:sp>
      <p:sp>
        <p:nvSpPr>
          <p:cNvPr id="15" name="Shape 11"/>
          <p:cNvSpPr/>
          <p:nvPr/>
        </p:nvSpPr>
        <p:spPr>
          <a:xfrm>
            <a:off x="10367129" y="3877389"/>
            <a:ext cx="3407093" cy="909637"/>
          </a:xfrm>
          <a:prstGeom prst="roundRect">
            <a:avLst>
              <a:gd name="adj" fmla="val 11397"/>
            </a:avLst>
          </a:prstGeom>
          <a:solidFill>
            <a:srgbClr val="003180"/>
          </a:solidFill>
          <a:ln w="15240">
            <a:solidFill>
              <a:srgbClr val="194A99"/>
            </a:solidFill>
            <a:prstDash val="solid"/>
          </a:ln>
        </p:spPr>
      </p:sp>
      <p:sp>
        <p:nvSpPr>
          <p:cNvPr id="16" name="Text 12"/>
          <p:cNvSpPr/>
          <p:nvPr/>
        </p:nvSpPr>
        <p:spPr>
          <a:xfrm>
            <a:off x="10629186" y="4139446"/>
            <a:ext cx="288297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session_expiry</a:t>
            </a:r>
            <a:endParaRPr lang="en-US" sz="2400" dirty="0"/>
          </a:p>
        </p:txBody>
      </p:sp>
      <p:sp>
        <p:nvSpPr>
          <p:cNvPr id="17" name="Shape 13"/>
          <p:cNvSpPr/>
          <p:nvPr/>
        </p:nvSpPr>
        <p:spPr>
          <a:xfrm>
            <a:off x="10367129" y="5033843"/>
            <a:ext cx="3407093" cy="1946077"/>
          </a:xfrm>
          <a:prstGeom prst="roundRect">
            <a:avLst>
              <a:gd name="adj" fmla="val 5327"/>
            </a:avLst>
          </a:prstGeom>
          <a:solidFill>
            <a:srgbClr val="003180"/>
          </a:solidFill>
          <a:ln w="15240">
            <a:solidFill>
              <a:srgbClr val="194A99"/>
            </a:solidFill>
            <a:prstDash val="solid"/>
          </a:ln>
        </p:spPr>
      </p:sp>
      <p:sp>
        <p:nvSpPr>
          <p:cNvPr id="18" name="Text 14"/>
          <p:cNvSpPr/>
          <p:nvPr/>
        </p:nvSpPr>
        <p:spPr>
          <a:xfrm>
            <a:off x="10629186" y="5295900"/>
            <a:ext cx="2882979"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hmac_signature</a:t>
            </a:r>
            <a:endParaRPr lang="en-US" sz="2400" dirty="0"/>
          </a:p>
        </p:txBody>
      </p:sp>
      <p:sp>
        <p:nvSpPr>
          <p:cNvPr id="19" name="Text 15"/>
          <p:cNvSpPr/>
          <p:nvPr/>
        </p:nvSpPr>
        <p:spPr>
          <a:xfrm>
            <a:off x="10629186" y="5928241"/>
            <a:ext cx="2882979"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(server-side secret + data)</a:t>
            </a:r>
            <a:endParaRPr lang="en-US" sz="1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780098" y="1087041"/>
            <a:ext cx="4457819" cy="557213"/>
          </a:xfrm>
          <a:prstGeom prst="rect">
            <a:avLst/>
          </a:prstGeom>
          <a:noFill/>
          <a:ln/>
        </p:spPr>
        <p:txBody>
          <a:bodyPr wrap="none" lIns="0" tIns="0" rIns="0" bIns="0" rtlCol="0" anchor="t"/>
          <a:lstStyle/>
          <a:p>
            <a:pPr marL="0" indent="0" algn="l">
              <a:lnSpc>
                <a:spcPts val="4350"/>
              </a:lnSpc>
              <a:buNone/>
            </a:pPr>
            <a:r>
              <a:rPr lang="en-US" sz="3500" dirty="0">
                <a:solidFill>
                  <a:srgbClr val="F5F0F0"/>
                </a:solidFill>
                <a:latin typeface="Merriweather" pitchFamily="34" charset="0"/>
                <a:ea typeface="Merriweather" pitchFamily="34" charset="-122"/>
                <a:cs typeface="Merriweather" pitchFamily="34" charset="-120"/>
              </a:rPr>
              <a:t>JWT Tokens</a:t>
            </a:r>
            <a:endParaRPr lang="en-US" sz="3500" dirty="0"/>
          </a:p>
        </p:txBody>
      </p:sp>
      <p:sp>
        <p:nvSpPr>
          <p:cNvPr id="3" name="Text 1"/>
          <p:cNvSpPr/>
          <p:nvPr/>
        </p:nvSpPr>
        <p:spPr>
          <a:xfrm>
            <a:off x="780098" y="1724739"/>
            <a:ext cx="2786063" cy="348258"/>
          </a:xfrm>
          <a:prstGeom prst="rect">
            <a:avLst/>
          </a:prstGeom>
          <a:noFill/>
          <a:ln/>
        </p:spPr>
        <p:txBody>
          <a:bodyPr wrap="none" lIns="0" tIns="0" rIns="0" bIns="0" rtlCol="0" anchor="t"/>
          <a:lstStyle/>
          <a:p>
            <a:pPr marL="0" indent="0" algn="l">
              <a:lnSpc>
                <a:spcPts val="2700"/>
              </a:lnSpc>
              <a:buNone/>
            </a:pPr>
            <a:r>
              <a:rPr lang="en-US" sz="2150" dirty="0">
                <a:solidFill>
                  <a:srgbClr val="F5F0F0"/>
                </a:solidFill>
                <a:latin typeface="Merriweather" pitchFamily="34" charset="0"/>
                <a:ea typeface="Merriweather" pitchFamily="34" charset="-122"/>
                <a:cs typeface="Merriweather" pitchFamily="34" charset="-120"/>
              </a:rPr>
              <a:t>(JSON Web Tokens)</a:t>
            </a:r>
            <a:endParaRPr lang="en-US" sz="2150" dirty="0"/>
          </a:p>
        </p:txBody>
      </p:sp>
      <p:sp>
        <p:nvSpPr>
          <p:cNvPr id="4" name="Shape 2"/>
          <p:cNvSpPr/>
          <p:nvPr/>
        </p:nvSpPr>
        <p:spPr>
          <a:xfrm>
            <a:off x="780098" y="2374821"/>
            <a:ext cx="4222552" cy="4767620"/>
          </a:xfrm>
          <a:prstGeom prst="roundRect">
            <a:avLst>
              <a:gd name="adj" fmla="val 2217"/>
            </a:avLst>
          </a:prstGeom>
          <a:solidFill>
            <a:srgbClr val="09151A">
              <a:alpha val="95000"/>
            </a:srgbClr>
          </a:solidFill>
          <a:ln w="30480">
            <a:solidFill>
              <a:srgbClr val="194A99"/>
            </a:solidFill>
            <a:prstDash val="solid"/>
          </a:ln>
        </p:spPr>
      </p:sp>
      <p:sp>
        <p:nvSpPr>
          <p:cNvPr id="5" name="Shape 3"/>
          <p:cNvSpPr/>
          <p:nvPr/>
        </p:nvSpPr>
        <p:spPr>
          <a:xfrm>
            <a:off x="810577" y="2405301"/>
            <a:ext cx="4161592" cy="668655"/>
          </a:xfrm>
          <a:prstGeom prst="roundRect">
            <a:avLst>
              <a:gd name="adj" fmla="val 8530"/>
            </a:avLst>
          </a:prstGeom>
          <a:solidFill>
            <a:srgbClr val="003180"/>
          </a:solidFill>
          <a:ln/>
        </p:spPr>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724150" y="2568654"/>
            <a:ext cx="334328" cy="334328"/>
          </a:xfrm>
          <a:prstGeom prst="rect">
            <a:avLst/>
          </a:prstGeom>
        </p:spPr>
      </p:pic>
      <p:sp>
        <p:nvSpPr>
          <p:cNvPr id="7" name="Text 4"/>
          <p:cNvSpPr/>
          <p:nvPr/>
        </p:nvSpPr>
        <p:spPr>
          <a:xfrm>
            <a:off x="1033462" y="3275171"/>
            <a:ext cx="2786063" cy="348258"/>
          </a:xfrm>
          <a:prstGeom prst="rect">
            <a:avLst/>
          </a:prstGeom>
          <a:noFill/>
          <a:ln/>
        </p:spPr>
        <p:txBody>
          <a:bodyPr wrap="non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Header (always)</a:t>
            </a:r>
            <a:endParaRPr lang="en-US" sz="2150" dirty="0"/>
          </a:p>
        </p:txBody>
      </p:sp>
      <p:sp>
        <p:nvSpPr>
          <p:cNvPr id="8" name="Text 5"/>
          <p:cNvSpPr/>
          <p:nvPr/>
        </p:nvSpPr>
        <p:spPr>
          <a:xfrm>
            <a:off x="1033462" y="3744158"/>
            <a:ext cx="3715822" cy="1357329"/>
          </a:xfrm>
          <a:prstGeom prst="rect">
            <a:avLst/>
          </a:prstGeom>
          <a:noFill/>
          <a:ln/>
        </p:spPr>
        <p:txBody>
          <a:bodyPr wrap="square" lIns="0" tIns="0" rIns="0" bIns="0" rtlCol="0" anchor="t"/>
          <a:lstStyle/>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alg: HS256/RS256 (signature algo)</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typ: JWT</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kid: key_id (for key rotation)</a:t>
            </a:r>
            <a:endParaRPr lang="en-US" sz="1750" dirty="0"/>
          </a:p>
        </p:txBody>
      </p:sp>
      <p:sp>
        <p:nvSpPr>
          <p:cNvPr id="9" name="Shape 6"/>
          <p:cNvSpPr/>
          <p:nvPr/>
        </p:nvSpPr>
        <p:spPr>
          <a:xfrm>
            <a:off x="5203865" y="2374821"/>
            <a:ext cx="4222552" cy="4767620"/>
          </a:xfrm>
          <a:prstGeom prst="roundRect">
            <a:avLst>
              <a:gd name="adj" fmla="val 2217"/>
            </a:avLst>
          </a:prstGeom>
          <a:solidFill>
            <a:srgbClr val="09151A">
              <a:alpha val="95000"/>
            </a:srgbClr>
          </a:solidFill>
          <a:ln w="30480">
            <a:solidFill>
              <a:srgbClr val="194A99"/>
            </a:solidFill>
            <a:prstDash val="solid"/>
          </a:ln>
        </p:spPr>
      </p:sp>
      <p:sp>
        <p:nvSpPr>
          <p:cNvPr id="10" name="Shape 7"/>
          <p:cNvSpPr/>
          <p:nvPr/>
        </p:nvSpPr>
        <p:spPr>
          <a:xfrm>
            <a:off x="5234345" y="2405301"/>
            <a:ext cx="4161592" cy="668655"/>
          </a:xfrm>
          <a:prstGeom prst="roundRect">
            <a:avLst>
              <a:gd name="adj" fmla="val 8530"/>
            </a:avLst>
          </a:prstGeom>
          <a:solidFill>
            <a:srgbClr val="003180"/>
          </a:solidFill>
          <a:ln/>
        </p:spPr>
      </p:sp>
      <p:pic>
        <p:nvPicPr>
          <p:cNvPr id="11"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47917" y="2568654"/>
            <a:ext cx="334328" cy="334328"/>
          </a:xfrm>
          <a:prstGeom prst="rect">
            <a:avLst/>
          </a:prstGeom>
        </p:spPr>
      </p:pic>
      <p:sp>
        <p:nvSpPr>
          <p:cNvPr id="12" name="Text 8"/>
          <p:cNvSpPr/>
          <p:nvPr/>
        </p:nvSpPr>
        <p:spPr>
          <a:xfrm>
            <a:off x="5457230" y="3275171"/>
            <a:ext cx="3715822" cy="696516"/>
          </a:xfrm>
          <a:prstGeom prst="rect">
            <a:avLst/>
          </a:prstGeom>
          <a:noFill/>
          <a:ln/>
        </p:spPr>
        <p:txBody>
          <a:bodyPr wrap="squar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Payload Claims (core params)</a:t>
            </a:r>
            <a:endParaRPr lang="en-US" sz="2150" dirty="0"/>
          </a:p>
        </p:txBody>
      </p:sp>
      <p:sp>
        <p:nvSpPr>
          <p:cNvPr id="13" name="Text 9"/>
          <p:cNvSpPr/>
          <p:nvPr/>
        </p:nvSpPr>
        <p:spPr>
          <a:xfrm>
            <a:off x="5457230" y="4092416"/>
            <a:ext cx="3715822" cy="2375326"/>
          </a:xfrm>
          <a:prstGeom prst="rect">
            <a:avLst/>
          </a:prstGeom>
          <a:noFill/>
          <a:ln/>
        </p:spPr>
        <p:txBody>
          <a:bodyPr wrap="square" lIns="0" tIns="0" rIns="0" bIns="0" rtlCol="0" anchor="t"/>
          <a:lstStyle/>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sub: user_id/email</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iat: issued_at (timestamp)</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exp: expires_at (timestamp)</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nbf: not_before (timestamp)</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iss: issuer</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aud: audience</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jti: jwt_id (unique)</a:t>
            </a:r>
            <a:endParaRPr lang="en-US" sz="1750" dirty="0"/>
          </a:p>
        </p:txBody>
      </p:sp>
      <p:sp>
        <p:nvSpPr>
          <p:cNvPr id="14" name="Shape 10"/>
          <p:cNvSpPr/>
          <p:nvPr/>
        </p:nvSpPr>
        <p:spPr>
          <a:xfrm>
            <a:off x="9627632" y="2374821"/>
            <a:ext cx="4222671" cy="4767620"/>
          </a:xfrm>
          <a:prstGeom prst="roundRect">
            <a:avLst>
              <a:gd name="adj" fmla="val 2217"/>
            </a:avLst>
          </a:prstGeom>
          <a:solidFill>
            <a:srgbClr val="09151A">
              <a:alpha val="95000"/>
            </a:srgbClr>
          </a:solidFill>
          <a:ln w="30480">
            <a:solidFill>
              <a:srgbClr val="194A99"/>
            </a:solidFill>
            <a:prstDash val="solid"/>
          </a:ln>
        </p:spPr>
      </p:sp>
      <p:sp>
        <p:nvSpPr>
          <p:cNvPr id="15" name="Shape 11"/>
          <p:cNvSpPr/>
          <p:nvPr/>
        </p:nvSpPr>
        <p:spPr>
          <a:xfrm>
            <a:off x="9658112" y="2405301"/>
            <a:ext cx="4161711" cy="668655"/>
          </a:xfrm>
          <a:prstGeom prst="roundRect">
            <a:avLst>
              <a:gd name="adj" fmla="val 8530"/>
            </a:avLst>
          </a:prstGeom>
          <a:solidFill>
            <a:srgbClr val="003180"/>
          </a:solidFill>
          <a:ln/>
        </p:spPr>
      </p:sp>
      <p:pic>
        <p:nvPicPr>
          <p:cNvPr id="16"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571803" y="2568654"/>
            <a:ext cx="334328" cy="334328"/>
          </a:xfrm>
          <a:prstGeom prst="rect">
            <a:avLst/>
          </a:prstGeom>
        </p:spPr>
      </p:pic>
      <p:sp>
        <p:nvSpPr>
          <p:cNvPr id="17" name="Text 12"/>
          <p:cNvSpPr/>
          <p:nvPr/>
        </p:nvSpPr>
        <p:spPr>
          <a:xfrm>
            <a:off x="9880997" y="3275171"/>
            <a:ext cx="3715941" cy="696516"/>
          </a:xfrm>
          <a:prstGeom prst="rect">
            <a:avLst/>
          </a:prstGeom>
          <a:noFill/>
          <a:ln/>
        </p:spPr>
        <p:txBody>
          <a:bodyPr wrap="square" lIns="0" tIns="0" rIns="0" bIns="0" rtlCol="0" anchor="t"/>
          <a:lstStyle/>
          <a:p>
            <a:pPr marL="0" indent="0" algn="l">
              <a:lnSpc>
                <a:spcPts val="2700"/>
              </a:lnSpc>
              <a:buNone/>
            </a:pPr>
            <a:r>
              <a:rPr lang="en-US" sz="2150" dirty="0">
                <a:solidFill>
                  <a:srgbClr val="E2E6E9"/>
                </a:solidFill>
                <a:latin typeface="Merriweather" pitchFamily="34" charset="0"/>
                <a:ea typeface="Merriweather" pitchFamily="34" charset="-122"/>
                <a:cs typeface="Merriweather" pitchFamily="34" charset="-120"/>
              </a:rPr>
              <a:t>Custom Claims (app-specific)</a:t>
            </a:r>
            <a:endParaRPr lang="en-US" sz="2150" dirty="0"/>
          </a:p>
        </p:txBody>
      </p:sp>
      <p:sp>
        <p:nvSpPr>
          <p:cNvPr id="18" name="Text 13"/>
          <p:cNvSpPr/>
          <p:nvPr/>
        </p:nvSpPr>
        <p:spPr>
          <a:xfrm>
            <a:off x="9880997" y="4092416"/>
            <a:ext cx="3715941" cy="1696662"/>
          </a:xfrm>
          <a:prstGeom prst="rect">
            <a:avLst/>
          </a:prstGeom>
          <a:noFill/>
          <a:ln/>
        </p:spPr>
        <p:txBody>
          <a:bodyPr wrap="square" lIns="0" tIns="0" rIns="0" bIns="0" rtlCol="0" anchor="t"/>
          <a:lstStyle/>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user_id, username, email, roles, permissions, tenant_id</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scope, client_id (OAuth)</a:t>
            </a:r>
            <a:endParaRPr lang="en-US" sz="1750" dirty="0"/>
          </a:p>
          <a:p>
            <a:pPr marL="342900" indent="-342900" algn="l">
              <a:lnSpc>
                <a:spcPts val="2650"/>
              </a:lnSpc>
              <a:buSzPct val="100000"/>
              <a:buChar char="•"/>
            </a:pPr>
            <a:r>
              <a:rPr lang="en-US" sz="1750" dirty="0">
                <a:solidFill>
                  <a:srgbClr val="E2E6E9"/>
                </a:solidFill>
                <a:latin typeface="Merriweather" pitchFamily="34" charset="0"/>
                <a:ea typeface="Merriweather" pitchFamily="34" charset="-122"/>
                <a:cs typeface="Merriweather" pitchFamily="34" charset="-120"/>
              </a:rPr>
              <a:t>refresh_token_id, device_id, ip_address</a:t>
            </a:r>
            <a:endParaRPr lang="en-US" sz="17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2350532"/>
            <a:ext cx="4936569"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OAuth 2.0 Tokens</a:t>
            </a:r>
            <a:endParaRPr lang="en-US" sz="3850" dirty="0"/>
          </a:p>
        </p:txBody>
      </p:sp>
      <p:sp>
        <p:nvSpPr>
          <p:cNvPr id="3" name="Text 1"/>
          <p:cNvSpPr/>
          <p:nvPr/>
        </p:nvSpPr>
        <p:spPr>
          <a:xfrm>
            <a:off x="863798" y="3559731"/>
            <a:ext cx="6150293" cy="1974654"/>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grant_type: authorization_code/password/refresh_token</a:t>
            </a:r>
            <a:endParaRPr lang="en-US" sz="1900" dirty="0"/>
          </a:p>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client_id, client_secret</a:t>
            </a:r>
            <a:endParaRPr lang="en-US" sz="1900" dirty="0"/>
          </a:p>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code: auth_code (from /authorize)</a:t>
            </a:r>
            <a:endParaRPr lang="en-US" sz="1900" dirty="0"/>
          </a:p>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redirect_uri</a:t>
            </a:r>
            <a:endParaRPr lang="en-US" sz="1900" dirty="0"/>
          </a:p>
        </p:txBody>
      </p:sp>
      <p:sp>
        <p:nvSpPr>
          <p:cNvPr id="4" name="Text 2"/>
          <p:cNvSpPr/>
          <p:nvPr/>
        </p:nvSpPr>
        <p:spPr>
          <a:xfrm>
            <a:off x="7623929" y="3559731"/>
            <a:ext cx="6150293" cy="1579724"/>
          </a:xfrm>
          <a:prstGeom prst="rect">
            <a:avLst/>
          </a:prstGeom>
          <a:noFill/>
          <a:ln/>
        </p:spPr>
        <p:txBody>
          <a:bodyPr wrap="square" lIns="0" tIns="0" rIns="0" bIns="0" rtlCol="0" anchor="t"/>
          <a:lstStyle/>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scope: read write profile email</a:t>
            </a:r>
            <a:endParaRPr lang="en-US" sz="1900" dirty="0"/>
          </a:p>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state: CSRF protection</a:t>
            </a:r>
            <a:endParaRPr lang="en-US" sz="1900" dirty="0"/>
          </a:p>
          <a:p>
            <a:pPr marL="342900" indent="-342900" algn="l">
              <a:lnSpc>
                <a:spcPts val="3100"/>
              </a:lnSpc>
              <a:buSzPct val="100000"/>
              <a:buChar char="•"/>
            </a:pPr>
            <a:r>
              <a:rPr lang="en-US" sz="1900" dirty="0">
                <a:solidFill>
                  <a:srgbClr val="E2E6E9"/>
                </a:solidFill>
                <a:latin typeface="Merriweather" pitchFamily="34" charset="0"/>
                <a:ea typeface="Merriweather" pitchFamily="34" charset="-122"/>
                <a:cs typeface="Merriweather" pitchFamily="34" charset="-120"/>
              </a:rPr>
              <a:t>user_id, username, password (resource owner flow)</a:t>
            </a:r>
            <a:endParaRPr lang="en-US" sz="19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9414391" y="2708791"/>
            <a:ext cx="4945499" cy="2811899"/>
          </a:xfrm>
          <a:prstGeom prst="rect">
            <a:avLst/>
          </a:prstGeom>
        </p:spPr>
      </p:pic>
      <p:sp>
        <p:nvSpPr>
          <p:cNvPr id="4" name="Text 0"/>
          <p:cNvSpPr/>
          <p:nvPr/>
        </p:nvSpPr>
        <p:spPr>
          <a:xfrm>
            <a:off x="757238" y="665917"/>
            <a:ext cx="4327565" cy="540901"/>
          </a:xfrm>
          <a:prstGeom prst="rect">
            <a:avLst/>
          </a:prstGeom>
          <a:noFill/>
          <a:ln/>
        </p:spPr>
        <p:txBody>
          <a:bodyPr wrap="none" lIns="0" tIns="0" rIns="0" bIns="0" rtlCol="0" anchor="t"/>
          <a:lstStyle/>
          <a:p>
            <a:pPr marL="0" indent="0" algn="l">
              <a:lnSpc>
                <a:spcPts val="4250"/>
              </a:lnSpc>
              <a:buNone/>
            </a:pPr>
            <a:r>
              <a:rPr lang="en-US" sz="3400" dirty="0">
                <a:solidFill>
                  <a:srgbClr val="F5F0F0"/>
                </a:solidFill>
                <a:latin typeface="Merriweather" pitchFamily="34" charset="0"/>
                <a:ea typeface="Merriweather" pitchFamily="34" charset="-122"/>
                <a:cs typeface="Merriweather" pitchFamily="34" charset="-120"/>
              </a:rPr>
              <a:t>CSRF Tokens</a:t>
            </a:r>
            <a:endParaRPr lang="en-US" sz="3400" dirty="0"/>
          </a:p>
        </p:txBody>
      </p:sp>
      <p:sp>
        <p:nvSpPr>
          <p:cNvPr id="5" name="Text 1"/>
          <p:cNvSpPr/>
          <p:nvPr/>
        </p:nvSpPr>
        <p:spPr>
          <a:xfrm>
            <a:off x="757238" y="1661874"/>
            <a:ext cx="4448056" cy="324683"/>
          </a:xfrm>
          <a:prstGeom prst="rect">
            <a:avLst/>
          </a:prstGeom>
          <a:noFill/>
          <a:ln/>
        </p:spPr>
        <p:txBody>
          <a:bodyPr wrap="none" lIns="0" tIns="0" rIns="0" bIns="0" rtlCol="0" anchor="t"/>
          <a:lstStyle/>
          <a:p>
            <a:pPr marL="0" indent="0" algn="l">
              <a:lnSpc>
                <a:spcPts val="2550"/>
              </a:lnSpc>
              <a:buNone/>
            </a:pPr>
            <a:endParaRPr lang="en-US" sz="1700" dirty="0"/>
          </a:p>
        </p:txBody>
      </p:sp>
      <p:sp>
        <p:nvSpPr>
          <p:cNvPr id="6" name="Text 2"/>
          <p:cNvSpPr/>
          <p:nvPr/>
        </p:nvSpPr>
        <p:spPr>
          <a:xfrm>
            <a:off x="5740837" y="1661874"/>
            <a:ext cx="2653427" cy="324683"/>
          </a:xfrm>
          <a:prstGeom prst="rect">
            <a:avLst/>
          </a:prstGeom>
          <a:noFill/>
          <a:ln/>
        </p:spPr>
        <p:txBody>
          <a:bodyPr wrap="none" lIns="0" tIns="0" rIns="0" bIns="0" rtlCol="0" anchor="t"/>
          <a:lstStyle/>
          <a:p>
            <a:pPr marL="0" indent="0" algn="l">
              <a:lnSpc>
                <a:spcPts val="2550"/>
              </a:lnSpc>
              <a:buNone/>
            </a:pPr>
            <a:endParaRPr lang="en-US" sz="1700" dirty="0"/>
          </a:p>
        </p:txBody>
      </p:sp>
      <p:pic>
        <p:nvPicPr>
          <p:cNvPr id="7" name="Image 2" descr="preencoded.png"/>
          <p:cNvPicPr>
            <a:picLocks noChangeAspect="1"/>
          </p:cNvPicPr>
          <p:nvPr/>
        </p:nvPicPr>
        <p:blipFill>
          <a:blip r:embed="rId5"/>
          <a:stretch>
            <a:fillRect/>
          </a:stretch>
        </p:blipFill>
        <p:spPr>
          <a:xfrm>
            <a:off x="757238" y="2370534"/>
            <a:ext cx="1081802" cy="1298258"/>
          </a:xfrm>
          <a:prstGeom prst="rect">
            <a:avLst/>
          </a:prstGeom>
        </p:spPr>
      </p:pic>
      <p:sp>
        <p:nvSpPr>
          <p:cNvPr id="8" name="Text 3"/>
          <p:cNvSpPr/>
          <p:nvPr/>
        </p:nvSpPr>
        <p:spPr>
          <a:xfrm>
            <a:off x="2028706" y="2586871"/>
            <a:ext cx="2704624" cy="338138"/>
          </a:xfrm>
          <a:prstGeom prst="rect">
            <a:avLst/>
          </a:prstGeom>
          <a:noFill/>
          <a:ln/>
        </p:spPr>
        <p:txBody>
          <a:bodyPr wrap="none" lIns="0" tIns="0" rIns="0" bIns="0" rtlCol="0" anchor="t"/>
          <a:lstStyle/>
          <a:p>
            <a:pPr marL="0" indent="0" algn="l">
              <a:lnSpc>
                <a:spcPts val="2650"/>
              </a:lnSpc>
              <a:buNone/>
            </a:pPr>
            <a:r>
              <a:rPr lang="en-US" sz="2100" dirty="0">
                <a:solidFill>
                  <a:srgbClr val="E2E6E9"/>
                </a:solidFill>
                <a:latin typeface="Merriweather" pitchFamily="34" charset="0"/>
                <a:ea typeface="Merriweather" pitchFamily="34" charset="-122"/>
                <a:cs typeface="Merriweather" pitchFamily="34" charset="-120"/>
              </a:rPr>
              <a:t>session_id</a:t>
            </a:r>
            <a:endParaRPr lang="en-US" sz="2100" dirty="0"/>
          </a:p>
        </p:txBody>
      </p:sp>
      <p:sp>
        <p:nvSpPr>
          <p:cNvPr id="9" name="Text 4"/>
          <p:cNvSpPr/>
          <p:nvPr/>
        </p:nvSpPr>
        <p:spPr>
          <a:xfrm>
            <a:off x="2028706" y="3038713"/>
            <a:ext cx="6358057" cy="324683"/>
          </a:xfrm>
          <a:prstGeom prst="rect">
            <a:avLst/>
          </a:prstGeom>
          <a:noFill/>
          <a:ln/>
        </p:spPr>
        <p:txBody>
          <a:bodyPr wrap="none" lIns="0" tIns="0" rIns="0" bIns="0" rtlCol="0" anchor="t"/>
          <a:lstStyle/>
          <a:p>
            <a:pPr marL="0" indent="0" algn="l">
              <a:lnSpc>
                <a:spcPts val="2550"/>
              </a:lnSpc>
              <a:buNone/>
            </a:pPr>
            <a:r>
              <a:rPr lang="en-US" sz="1700" dirty="0">
                <a:solidFill>
                  <a:srgbClr val="E2E6E9"/>
                </a:solidFill>
                <a:latin typeface="Merriweather" pitchFamily="34" charset="0"/>
                <a:ea typeface="Merriweather" pitchFamily="34" charset="-122"/>
                <a:cs typeface="Merriweather" pitchFamily="34" charset="-120"/>
              </a:rPr>
              <a:t>(links to user session)</a:t>
            </a:r>
            <a:endParaRPr lang="en-US" sz="1700" dirty="0"/>
          </a:p>
        </p:txBody>
      </p:sp>
      <p:pic>
        <p:nvPicPr>
          <p:cNvPr id="10" name="Image 3" descr="preencoded.png"/>
          <p:cNvPicPr>
            <a:picLocks noChangeAspect="1"/>
          </p:cNvPicPr>
          <p:nvPr/>
        </p:nvPicPr>
        <p:blipFill>
          <a:blip r:embed="rId6"/>
          <a:stretch>
            <a:fillRect/>
          </a:stretch>
        </p:blipFill>
        <p:spPr>
          <a:xfrm>
            <a:off x="757238" y="3668792"/>
            <a:ext cx="1081802" cy="1298258"/>
          </a:xfrm>
          <a:prstGeom prst="rect">
            <a:avLst/>
          </a:prstGeom>
        </p:spPr>
      </p:pic>
      <p:sp>
        <p:nvSpPr>
          <p:cNvPr id="11" name="Text 5"/>
          <p:cNvSpPr/>
          <p:nvPr/>
        </p:nvSpPr>
        <p:spPr>
          <a:xfrm>
            <a:off x="2028706" y="3885128"/>
            <a:ext cx="2704624" cy="338138"/>
          </a:xfrm>
          <a:prstGeom prst="rect">
            <a:avLst/>
          </a:prstGeom>
          <a:noFill/>
          <a:ln/>
        </p:spPr>
        <p:txBody>
          <a:bodyPr wrap="none" lIns="0" tIns="0" rIns="0" bIns="0" rtlCol="0" anchor="t"/>
          <a:lstStyle/>
          <a:p>
            <a:pPr marL="0" indent="0" algn="l">
              <a:lnSpc>
                <a:spcPts val="2650"/>
              </a:lnSpc>
              <a:buNone/>
            </a:pPr>
            <a:r>
              <a:rPr lang="en-US" sz="2100" dirty="0">
                <a:solidFill>
                  <a:srgbClr val="E2E6E9"/>
                </a:solidFill>
                <a:latin typeface="Merriweather" pitchFamily="34" charset="0"/>
                <a:ea typeface="Merriweather" pitchFamily="34" charset="-122"/>
                <a:cs typeface="Merriweather" pitchFamily="34" charset="-120"/>
              </a:rPr>
              <a:t>timestamp</a:t>
            </a:r>
            <a:endParaRPr lang="en-US" sz="2100" dirty="0"/>
          </a:p>
        </p:txBody>
      </p:sp>
      <p:pic>
        <p:nvPicPr>
          <p:cNvPr id="12" name="Image 4" descr="preencoded.png"/>
          <p:cNvPicPr>
            <a:picLocks noChangeAspect="1"/>
          </p:cNvPicPr>
          <p:nvPr/>
        </p:nvPicPr>
        <p:blipFill>
          <a:blip r:embed="rId7"/>
          <a:stretch>
            <a:fillRect/>
          </a:stretch>
        </p:blipFill>
        <p:spPr>
          <a:xfrm>
            <a:off x="757238" y="4967049"/>
            <a:ext cx="1081802" cy="1298258"/>
          </a:xfrm>
          <a:prstGeom prst="rect">
            <a:avLst/>
          </a:prstGeom>
        </p:spPr>
      </p:pic>
      <p:sp>
        <p:nvSpPr>
          <p:cNvPr id="13" name="Text 6"/>
          <p:cNvSpPr/>
          <p:nvPr/>
        </p:nvSpPr>
        <p:spPr>
          <a:xfrm>
            <a:off x="2028706" y="5183386"/>
            <a:ext cx="2713434" cy="338138"/>
          </a:xfrm>
          <a:prstGeom prst="rect">
            <a:avLst/>
          </a:prstGeom>
          <a:noFill/>
          <a:ln/>
        </p:spPr>
        <p:txBody>
          <a:bodyPr wrap="none" lIns="0" tIns="0" rIns="0" bIns="0" rtlCol="0" anchor="t"/>
          <a:lstStyle/>
          <a:p>
            <a:pPr marL="0" indent="0" algn="l">
              <a:lnSpc>
                <a:spcPts val="2650"/>
              </a:lnSpc>
              <a:buNone/>
            </a:pPr>
            <a:r>
              <a:rPr lang="en-US" sz="2100" dirty="0">
                <a:solidFill>
                  <a:srgbClr val="E2E6E9"/>
                </a:solidFill>
                <a:latin typeface="Merriweather" pitchFamily="34" charset="0"/>
                <a:ea typeface="Merriweather" pitchFamily="34" charset="-122"/>
                <a:cs typeface="Merriweather" pitchFamily="34" charset="-120"/>
              </a:rPr>
              <a:t>random_salt/entropy</a:t>
            </a:r>
            <a:endParaRPr lang="en-US" sz="2100" dirty="0"/>
          </a:p>
        </p:txBody>
      </p:sp>
      <p:sp>
        <p:nvSpPr>
          <p:cNvPr id="14" name="Text 7"/>
          <p:cNvSpPr/>
          <p:nvPr/>
        </p:nvSpPr>
        <p:spPr>
          <a:xfrm>
            <a:off x="2028706" y="5635228"/>
            <a:ext cx="6358057" cy="324683"/>
          </a:xfrm>
          <a:prstGeom prst="rect">
            <a:avLst/>
          </a:prstGeom>
          <a:noFill/>
          <a:ln/>
        </p:spPr>
        <p:txBody>
          <a:bodyPr wrap="none" lIns="0" tIns="0" rIns="0" bIns="0" rtlCol="0" anchor="t"/>
          <a:lstStyle/>
          <a:p>
            <a:pPr marL="0" indent="0" algn="l">
              <a:lnSpc>
                <a:spcPts val="2550"/>
              </a:lnSpc>
              <a:buNone/>
            </a:pPr>
            <a:r>
              <a:rPr lang="en-US" sz="1700" dirty="0">
                <a:solidFill>
                  <a:srgbClr val="E2E6E9"/>
                </a:solidFill>
                <a:latin typeface="Merriweather" pitchFamily="34" charset="0"/>
                <a:ea typeface="Merriweather" pitchFamily="34" charset="-122"/>
                <a:cs typeface="Merriweather" pitchFamily="34" charset="-120"/>
              </a:rPr>
              <a:t>(32-64 bytes)</a:t>
            </a:r>
            <a:endParaRPr lang="en-US" sz="1700" dirty="0"/>
          </a:p>
        </p:txBody>
      </p:sp>
      <p:pic>
        <p:nvPicPr>
          <p:cNvPr id="15" name="Image 5" descr="preencoded.png"/>
          <p:cNvPicPr>
            <a:picLocks noChangeAspect="1"/>
          </p:cNvPicPr>
          <p:nvPr/>
        </p:nvPicPr>
        <p:blipFill>
          <a:blip r:embed="rId8"/>
          <a:stretch>
            <a:fillRect/>
          </a:stretch>
        </p:blipFill>
        <p:spPr>
          <a:xfrm>
            <a:off x="757238" y="6265307"/>
            <a:ext cx="1081802" cy="1298258"/>
          </a:xfrm>
          <a:prstGeom prst="rect">
            <a:avLst/>
          </a:prstGeom>
        </p:spPr>
      </p:pic>
      <p:sp>
        <p:nvSpPr>
          <p:cNvPr id="16" name="Text 8"/>
          <p:cNvSpPr/>
          <p:nvPr/>
        </p:nvSpPr>
        <p:spPr>
          <a:xfrm>
            <a:off x="2028706" y="6481643"/>
            <a:ext cx="2704624" cy="338138"/>
          </a:xfrm>
          <a:prstGeom prst="rect">
            <a:avLst/>
          </a:prstGeom>
          <a:noFill/>
          <a:ln/>
        </p:spPr>
        <p:txBody>
          <a:bodyPr wrap="none" lIns="0" tIns="0" rIns="0" bIns="0" rtlCol="0" anchor="t"/>
          <a:lstStyle/>
          <a:p>
            <a:pPr marL="0" indent="0" algn="l">
              <a:lnSpc>
                <a:spcPts val="2650"/>
              </a:lnSpc>
              <a:buNone/>
            </a:pPr>
            <a:r>
              <a:rPr lang="en-US" sz="2100" dirty="0">
                <a:solidFill>
                  <a:srgbClr val="E2E6E9"/>
                </a:solidFill>
                <a:latin typeface="Merriweather" pitchFamily="34" charset="0"/>
                <a:ea typeface="Merriweather" pitchFamily="34" charset="-122"/>
                <a:cs typeface="Merriweather" pitchFamily="34" charset="-120"/>
              </a:rPr>
              <a:t>hmac</a:t>
            </a:r>
            <a:endParaRPr lang="en-US" sz="2100" dirty="0"/>
          </a:p>
        </p:txBody>
      </p:sp>
      <p:sp>
        <p:nvSpPr>
          <p:cNvPr id="17" name="Text 9"/>
          <p:cNvSpPr/>
          <p:nvPr/>
        </p:nvSpPr>
        <p:spPr>
          <a:xfrm>
            <a:off x="2028706" y="6933486"/>
            <a:ext cx="6358057" cy="324683"/>
          </a:xfrm>
          <a:prstGeom prst="rect">
            <a:avLst/>
          </a:prstGeom>
          <a:noFill/>
          <a:ln/>
        </p:spPr>
        <p:txBody>
          <a:bodyPr wrap="none" lIns="0" tIns="0" rIns="0" bIns="0" rtlCol="0" anchor="t"/>
          <a:lstStyle/>
          <a:p>
            <a:pPr marL="0" indent="0" algn="l">
              <a:lnSpc>
                <a:spcPts val="2550"/>
              </a:lnSpc>
              <a:buNone/>
            </a:pPr>
            <a:r>
              <a:rPr lang="en-US" sz="1700" dirty="0">
                <a:solidFill>
                  <a:srgbClr val="E2E6E9"/>
                </a:solidFill>
                <a:latin typeface="Merriweather" pitchFamily="34" charset="0"/>
                <a:ea typeface="Merriweather" pitchFamily="34" charset="-122"/>
                <a:cs typeface="Merriweather" pitchFamily="34" charset="-120"/>
              </a:rPr>
              <a:t>(user_id + timestamp + secret)</a:t>
            </a:r>
            <a:endParaRPr lang="en-US" sz="17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863798" y="798909"/>
            <a:ext cx="4936569" cy="616982"/>
          </a:xfrm>
          <a:prstGeom prst="rect">
            <a:avLst/>
          </a:prstGeom>
          <a:noFill/>
          <a:ln/>
        </p:spPr>
        <p:txBody>
          <a:bodyPr wrap="none" lIns="0" tIns="0" rIns="0" bIns="0" rtlCol="0" anchor="t"/>
          <a:lstStyle/>
          <a:p>
            <a:pPr marL="0" indent="0" algn="l">
              <a:lnSpc>
                <a:spcPts val="4850"/>
              </a:lnSpc>
              <a:buNone/>
            </a:pPr>
            <a:r>
              <a:rPr lang="en-US" sz="3850" dirty="0">
                <a:solidFill>
                  <a:srgbClr val="F5F0F0"/>
                </a:solidFill>
                <a:latin typeface="Merriweather" pitchFamily="34" charset="0"/>
                <a:ea typeface="Merriweather" pitchFamily="34" charset="-122"/>
                <a:cs typeface="Merriweather" pitchFamily="34" charset="-120"/>
              </a:rPr>
              <a:t>API Keys</a:t>
            </a:r>
            <a:endParaRPr lang="en-US" sz="3850" dirty="0"/>
          </a:p>
        </p:txBody>
      </p:sp>
      <p:sp>
        <p:nvSpPr>
          <p:cNvPr id="3" name="Shape 1"/>
          <p:cNvSpPr/>
          <p:nvPr/>
        </p:nvSpPr>
        <p:spPr>
          <a:xfrm>
            <a:off x="863798" y="1909524"/>
            <a:ext cx="3040499" cy="2834521"/>
          </a:xfrm>
          <a:prstGeom prst="roundRect">
            <a:avLst>
              <a:gd name="adj" fmla="val 3657"/>
            </a:avLst>
          </a:prstGeom>
          <a:solidFill>
            <a:srgbClr val="003180"/>
          </a:solidFill>
          <a:ln w="15240">
            <a:solidFill>
              <a:srgbClr val="194A99"/>
            </a:solidFill>
            <a:prstDash val="solid"/>
          </a:ln>
        </p:spPr>
      </p:sp>
      <p:sp>
        <p:nvSpPr>
          <p:cNvPr id="4" name="Shape 2"/>
          <p:cNvSpPr/>
          <p:nvPr/>
        </p:nvSpPr>
        <p:spPr>
          <a:xfrm>
            <a:off x="1125855" y="2171581"/>
            <a:ext cx="740450" cy="740450"/>
          </a:xfrm>
          <a:prstGeom prst="roundRect">
            <a:avLst>
              <a:gd name="adj" fmla="val 12348012"/>
            </a:avLst>
          </a:prstGeom>
          <a:solidFill>
            <a:srgbClr val="609DFF"/>
          </a:solidFill>
          <a:ln/>
        </p:spPr>
      </p:sp>
      <p:pic>
        <p:nvPicPr>
          <p:cNvPr id="5"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29452" y="2375178"/>
            <a:ext cx="333137" cy="333137"/>
          </a:xfrm>
          <a:prstGeom prst="rect">
            <a:avLst/>
          </a:prstGeom>
        </p:spPr>
      </p:pic>
      <p:sp>
        <p:nvSpPr>
          <p:cNvPr id="6" name="Text 3"/>
          <p:cNvSpPr/>
          <p:nvPr/>
        </p:nvSpPr>
        <p:spPr>
          <a:xfrm>
            <a:off x="1125855" y="3158847"/>
            <a:ext cx="2516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api_key_id</a:t>
            </a:r>
            <a:endParaRPr lang="en-US" sz="2400" dirty="0"/>
          </a:p>
        </p:txBody>
      </p:sp>
      <p:sp>
        <p:nvSpPr>
          <p:cNvPr id="7" name="Text 4"/>
          <p:cNvSpPr/>
          <p:nvPr/>
        </p:nvSpPr>
        <p:spPr>
          <a:xfrm>
            <a:off x="1125855" y="3692366"/>
            <a:ext cx="2516386" cy="789622"/>
          </a:xfrm>
          <a:prstGeom prst="rect">
            <a:avLst/>
          </a:prstGeom>
          <a:noFill/>
          <a:ln/>
        </p:spPr>
        <p:txBody>
          <a:bodyPr wrap="squar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(prefix like sk_live_xxx)</a:t>
            </a:r>
            <a:endParaRPr lang="en-US" sz="1900" dirty="0"/>
          </a:p>
        </p:txBody>
      </p:sp>
      <p:sp>
        <p:nvSpPr>
          <p:cNvPr id="8" name="Shape 5"/>
          <p:cNvSpPr/>
          <p:nvPr/>
        </p:nvSpPr>
        <p:spPr>
          <a:xfrm>
            <a:off x="4151114" y="1909524"/>
            <a:ext cx="3040618" cy="2834521"/>
          </a:xfrm>
          <a:prstGeom prst="roundRect">
            <a:avLst>
              <a:gd name="adj" fmla="val 3657"/>
            </a:avLst>
          </a:prstGeom>
          <a:solidFill>
            <a:srgbClr val="003180"/>
          </a:solidFill>
          <a:ln w="15240">
            <a:solidFill>
              <a:srgbClr val="194A99"/>
            </a:solidFill>
            <a:prstDash val="solid"/>
          </a:ln>
        </p:spPr>
      </p:sp>
      <p:sp>
        <p:nvSpPr>
          <p:cNvPr id="9" name="Shape 6"/>
          <p:cNvSpPr/>
          <p:nvPr/>
        </p:nvSpPr>
        <p:spPr>
          <a:xfrm>
            <a:off x="4413171" y="2171581"/>
            <a:ext cx="740450" cy="740450"/>
          </a:xfrm>
          <a:prstGeom prst="roundRect">
            <a:avLst>
              <a:gd name="adj" fmla="val 12348012"/>
            </a:avLst>
          </a:prstGeom>
          <a:solidFill>
            <a:srgbClr val="609DFF"/>
          </a:solidFill>
          <a:ln/>
        </p:spPr>
      </p:sp>
      <p:pic>
        <p:nvPicPr>
          <p:cNvPr id="10"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616768" y="2375178"/>
            <a:ext cx="333137" cy="333137"/>
          </a:xfrm>
          <a:prstGeom prst="rect">
            <a:avLst/>
          </a:prstGeom>
        </p:spPr>
      </p:pic>
      <p:sp>
        <p:nvSpPr>
          <p:cNvPr id="11" name="Text 7"/>
          <p:cNvSpPr/>
          <p:nvPr/>
        </p:nvSpPr>
        <p:spPr>
          <a:xfrm>
            <a:off x="4413171" y="3158847"/>
            <a:ext cx="2516505"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user_id/owner_id</a:t>
            </a:r>
            <a:endParaRPr lang="en-US" sz="2400" dirty="0"/>
          </a:p>
        </p:txBody>
      </p:sp>
      <p:sp>
        <p:nvSpPr>
          <p:cNvPr id="12" name="Shape 8"/>
          <p:cNvSpPr/>
          <p:nvPr/>
        </p:nvSpPr>
        <p:spPr>
          <a:xfrm>
            <a:off x="7438549" y="1909524"/>
            <a:ext cx="3040618" cy="2834521"/>
          </a:xfrm>
          <a:prstGeom prst="roundRect">
            <a:avLst>
              <a:gd name="adj" fmla="val 3657"/>
            </a:avLst>
          </a:prstGeom>
          <a:solidFill>
            <a:srgbClr val="003180"/>
          </a:solidFill>
          <a:ln w="15240">
            <a:solidFill>
              <a:srgbClr val="194A99"/>
            </a:solidFill>
            <a:prstDash val="solid"/>
          </a:ln>
        </p:spPr>
      </p:sp>
      <p:sp>
        <p:nvSpPr>
          <p:cNvPr id="13" name="Shape 9"/>
          <p:cNvSpPr/>
          <p:nvPr/>
        </p:nvSpPr>
        <p:spPr>
          <a:xfrm>
            <a:off x="7700605" y="2171581"/>
            <a:ext cx="740450" cy="740450"/>
          </a:xfrm>
          <a:prstGeom prst="roundRect">
            <a:avLst>
              <a:gd name="adj" fmla="val 12348012"/>
            </a:avLst>
          </a:prstGeom>
          <a:solidFill>
            <a:srgbClr val="609DFF"/>
          </a:solidFill>
          <a:ln/>
        </p:spPr>
      </p:sp>
      <p:pic>
        <p:nvPicPr>
          <p:cNvPr id="14"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04202" y="2375178"/>
            <a:ext cx="333137" cy="333137"/>
          </a:xfrm>
          <a:prstGeom prst="rect">
            <a:avLst/>
          </a:prstGeom>
        </p:spPr>
      </p:pic>
      <p:sp>
        <p:nvSpPr>
          <p:cNvPr id="15" name="Text 10"/>
          <p:cNvSpPr/>
          <p:nvPr/>
        </p:nvSpPr>
        <p:spPr>
          <a:xfrm>
            <a:off x="7700605" y="3158847"/>
            <a:ext cx="2516505" cy="771049"/>
          </a:xfrm>
          <a:prstGeom prst="rect">
            <a:avLst/>
          </a:prstGeom>
          <a:noFill/>
          <a:ln/>
        </p:spPr>
        <p:txBody>
          <a:bodyPr wrap="squar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scopes/permissions</a:t>
            </a:r>
            <a:endParaRPr lang="en-US" sz="2400" dirty="0"/>
          </a:p>
        </p:txBody>
      </p:sp>
      <p:sp>
        <p:nvSpPr>
          <p:cNvPr id="16" name="Shape 11"/>
          <p:cNvSpPr/>
          <p:nvPr/>
        </p:nvSpPr>
        <p:spPr>
          <a:xfrm>
            <a:off x="10725983" y="1909524"/>
            <a:ext cx="3040618" cy="2834521"/>
          </a:xfrm>
          <a:prstGeom prst="roundRect">
            <a:avLst>
              <a:gd name="adj" fmla="val 3657"/>
            </a:avLst>
          </a:prstGeom>
          <a:solidFill>
            <a:srgbClr val="003180"/>
          </a:solidFill>
          <a:ln w="15240">
            <a:solidFill>
              <a:srgbClr val="194A99"/>
            </a:solidFill>
            <a:prstDash val="solid"/>
          </a:ln>
        </p:spPr>
      </p:sp>
      <p:sp>
        <p:nvSpPr>
          <p:cNvPr id="17" name="Shape 12"/>
          <p:cNvSpPr/>
          <p:nvPr/>
        </p:nvSpPr>
        <p:spPr>
          <a:xfrm>
            <a:off x="10988040" y="2171581"/>
            <a:ext cx="740450" cy="740450"/>
          </a:xfrm>
          <a:prstGeom prst="roundRect">
            <a:avLst>
              <a:gd name="adj" fmla="val 12348012"/>
            </a:avLst>
          </a:prstGeom>
          <a:solidFill>
            <a:srgbClr val="609DFF"/>
          </a:solidFill>
          <a:ln/>
        </p:spPr>
      </p:sp>
      <p:pic>
        <p:nvPicPr>
          <p:cNvPr id="18"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191637" y="2375178"/>
            <a:ext cx="333137" cy="333137"/>
          </a:xfrm>
          <a:prstGeom prst="rect">
            <a:avLst/>
          </a:prstGeom>
        </p:spPr>
      </p:pic>
      <p:sp>
        <p:nvSpPr>
          <p:cNvPr id="19" name="Text 13"/>
          <p:cNvSpPr/>
          <p:nvPr/>
        </p:nvSpPr>
        <p:spPr>
          <a:xfrm>
            <a:off x="10988040" y="3158847"/>
            <a:ext cx="2516505" cy="771049"/>
          </a:xfrm>
          <a:prstGeom prst="rect">
            <a:avLst/>
          </a:prstGeom>
          <a:noFill/>
          <a:ln/>
        </p:spPr>
        <p:txBody>
          <a:bodyPr wrap="squar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created_at, expires_at</a:t>
            </a:r>
            <a:endParaRPr lang="en-US" sz="2400" dirty="0"/>
          </a:p>
        </p:txBody>
      </p:sp>
      <p:sp>
        <p:nvSpPr>
          <p:cNvPr id="20" name="Shape 14"/>
          <p:cNvSpPr/>
          <p:nvPr/>
        </p:nvSpPr>
        <p:spPr>
          <a:xfrm>
            <a:off x="863798" y="4990862"/>
            <a:ext cx="12902803" cy="2439710"/>
          </a:xfrm>
          <a:prstGeom prst="roundRect">
            <a:avLst>
              <a:gd name="adj" fmla="val 4249"/>
            </a:avLst>
          </a:prstGeom>
          <a:solidFill>
            <a:srgbClr val="003180"/>
          </a:solidFill>
          <a:ln w="15240">
            <a:solidFill>
              <a:srgbClr val="194A99"/>
            </a:solidFill>
            <a:prstDash val="solid"/>
          </a:ln>
        </p:spPr>
      </p:sp>
      <p:sp>
        <p:nvSpPr>
          <p:cNvPr id="21" name="Shape 15"/>
          <p:cNvSpPr/>
          <p:nvPr/>
        </p:nvSpPr>
        <p:spPr>
          <a:xfrm>
            <a:off x="1125855" y="5252918"/>
            <a:ext cx="740450" cy="740450"/>
          </a:xfrm>
          <a:prstGeom prst="roundRect">
            <a:avLst>
              <a:gd name="adj" fmla="val 12348012"/>
            </a:avLst>
          </a:prstGeom>
          <a:solidFill>
            <a:srgbClr val="609DFF"/>
          </a:solidFill>
          <a:ln/>
        </p:spPr>
      </p:sp>
      <p:pic>
        <p:nvPicPr>
          <p:cNvPr id="22"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29452" y="5456515"/>
            <a:ext cx="333137" cy="333137"/>
          </a:xfrm>
          <a:prstGeom prst="rect">
            <a:avLst/>
          </a:prstGeom>
        </p:spPr>
      </p:pic>
      <p:sp>
        <p:nvSpPr>
          <p:cNvPr id="23" name="Text 16"/>
          <p:cNvSpPr/>
          <p:nvPr/>
        </p:nvSpPr>
        <p:spPr>
          <a:xfrm>
            <a:off x="1125855" y="6240185"/>
            <a:ext cx="3085386" cy="385524"/>
          </a:xfrm>
          <a:prstGeom prst="rect">
            <a:avLst/>
          </a:prstGeom>
          <a:noFill/>
          <a:ln/>
        </p:spPr>
        <p:txBody>
          <a:bodyPr wrap="none" lIns="0" tIns="0" rIns="0" bIns="0" rtlCol="0" anchor="t"/>
          <a:lstStyle/>
          <a:p>
            <a:pPr marL="0" indent="0" algn="l">
              <a:lnSpc>
                <a:spcPts val="3000"/>
              </a:lnSpc>
              <a:buNone/>
            </a:pPr>
            <a:r>
              <a:rPr lang="en-US" sz="2400" dirty="0">
                <a:solidFill>
                  <a:srgbClr val="E2E6E9"/>
                </a:solidFill>
                <a:latin typeface="Merriweather" pitchFamily="34" charset="0"/>
                <a:ea typeface="Merriweather" pitchFamily="34" charset="-122"/>
                <a:cs typeface="Merriweather" pitchFamily="34" charset="-120"/>
              </a:rPr>
              <a:t>hmac</a:t>
            </a:r>
            <a:endParaRPr lang="en-US" sz="2400" dirty="0"/>
          </a:p>
        </p:txBody>
      </p:sp>
      <p:sp>
        <p:nvSpPr>
          <p:cNvPr id="24" name="Text 17"/>
          <p:cNvSpPr/>
          <p:nvPr/>
        </p:nvSpPr>
        <p:spPr>
          <a:xfrm>
            <a:off x="1125855" y="6773704"/>
            <a:ext cx="12378690" cy="394811"/>
          </a:xfrm>
          <a:prstGeom prst="rect">
            <a:avLst/>
          </a:prstGeom>
          <a:noFill/>
          <a:ln/>
        </p:spPr>
        <p:txBody>
          <a:bodyPr wrap="none" lIns="0" tIns="0" rIns="0" bIns="0" rtlCol="0" anchor="t"/>
          <a:lstStyle/>
          <a:p>
            <a:pPr marL="0" indent="0" algn="l">
              <a:lnSpc>
                <a:spcPts val="3100"/>
              </a:lnSpc>
              <a:buNone/>
            </a:pPr>
            <a:r>
              <a:rPr lang="en-US" sz="1900" dirty="0">
                <a:solidFill>
                  <a:srgbClr val="E2E6E9"/>
                </a:solidFill>
                <a:latin typeface="Merriweather" pitchFamily="34" charset="0"/>
                <a:ea typeface="Merriweather" pitchFamily="34" charset="-122"/>
                <a:cs typeface="Merriweather" pitchFamily="34" charset="-120"/>
              </a:rPr>
              <a:t>(api_key_id + secret)</a:t>
            </a:r>
            <a:endParaRPr lang="en-US" sz="1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1180981" y="1047631"/>
            <a:ext cx="5533192" cy="488871"/>
          </a:xfrm>
          <a:prstGeom prst="rect">
            <a:avLst/>
          </a:prstGeom>
          <a:noFill/>
          <a:ln/>
        </p:spPr>
        <p:txBody>
          <a:bodyPr wrap="none" lIns="0" tIns="0" rIns="0" bIns="0" rtlCol="0" anchor="t"/>
          <a:lstStyle/>
          <a:p>
            <a:pPr marL="0" indent="0" algn="l">
              <a:lnSpc>
                <a:spcPts val="3850"/>
              </a:lnSpc>
              <a:buNone/>
            </a:pPr>
            <a:r>
              <a:rPr lang="en-US" sz="3050" dirty="0">
                <a:solidFill>
                  <a:srgbClr val="609DFF"/>
                </a:solidFill>
                <a:latin typeface="Merriweather" pitchFamily="34" charset="0"/>
                <a:ea typeface="Merriweather" pitchFamily="34" charset="-122"/>
                <a:cs typeface="Merriweather" pitchFamily="34" charset="-120"/>
              </a:rPr>
              <a:t>Enumeration during pentests</a:t>
            </a:r>
            <a:endParaRPr lang="en-US" sz="3050" dirty="0"/>
          </a:p>
        </p:txBody>
      </p:sp>
      <p:sp>
        <p:nvSpPr>
          <p:cNvPr id="3" name="Text 1"/>
          <p:cNvSpPr/>
          <p:nvPr/>
        </p:nvSpPr>
        <p:spPr>
          <a:xfrm>
            <a:off x="1180981" y="1598414"/>
            <a:ext cx="3605212" cy="305514"/>
          </a:xfrm>
          <a:prstGeom prst="rect">
            <a:avLst/>
          </a:prstGeom>
          <a:noFill/>
          <a:ln/>
        </p:spPr>
        <p:txBody>
          <a:bodyPr wrap="none" lIns="0" tIns="0" rIns="0" bIns="0" rtlCol="0" anchor="t"/>
          <a:lstStyle/>
          <a:p>
            <a:pPr marL="0" indent="0" algn="l">
              <a:lnSpc>
                <a:spcPts val="2400"/>
              </a:lnSpc>
              <a:buNone/>
            </a:pPr>
            <a:r>
              <a:rPr lang="en-US" sz="1900" dirty="0">
                <a:solidFill>
                  <a:srgbClr val="F5F0F0"/>
                </a:solidFill>
                <a:latin typeface="Merriweather" pitchFamily="34" charset="0"/>
                <a:ea typeface="Merriweather" pitchFamily="34" charset="-122"/>
                <a:cs typeface="Merriweather" pitchFamily="34" charset="-120"/>
              </a:rPr>
              <a:t>Decode JWTs to inspect claims</a:t>
            </a:r>
            <a:endParaRPr lang="en-US" sz="1900" dirty="0"/>
          </a:p>
        </p:txBody>
      </p:sp>
      <p:sp>
        <p:nvSpPr>
          <p:cNvPr id="4" name="Shape 2"/>
          <p:cNvSpPr/>
          <p:nvPr/>
        </p:nvSpPr>
        <p:spPr>
          <a:xfrm>
            <a:off x="1180981" y="2136338"/>
            <a:ext cx="12268319" cy="2536508"/>
          </a:xfrm>
          <a:prstGeom prst="roundRect">
            <a:avLst>
              <a:gd name="adj" fmla="val 3238"/>
            </a:avLst>
          </a:prstGeom>
          <a:solidFill>
            <a:srgbClr val="162227"/>
          </a:solidFill>
          <a:ln/>
        </p:spPr>
      </p:sp>
      <p:sp>
        <p:nvSpPr>
          <p:cNvPr id="5" name="Shape 3"/>
          <p:cNvSpPr/>
          <p:nvPr/>
        </p:nvSpPr>
        <p:spPr>
          <a:xfrm>
            <a:off x="1171218" y="2136338"/>
            <a:ext cx="12287845" cy="2536508"/>
          </a:xfrm>
          <a:prstGeom prst="roundRect">
            <a:avLst>
              <a:gd name="adj" fmla="val 1157"/>
            </a:avLst>
          </a:prstGeom>
          <a:solidFill>
            <a:srgbClr val="162227"/>
          </a:solidFill>
          <a:ln/>
        </p:spPr>
      </p:sp>
      <p:sp>
        <p:nvSpPr>
          <p:cNvPr id="6" name="Text 4"/>
          <p:cNvSpPr/>
          <p:nvPr/>
        </p:nvSpPr>
        <p:spPr>
          <a:xfrm>
            <a:off x="1366718" y="2283023"/>
            <a:ext cx="11896844" cy="2243138"/>
          </a:xfrm>
          <a:prstGeom prst="rect">
            <a:avLst/>
          </a:prstGeom>
          <a:noFill/>
          <a:ln/>
        </p:spPr>
        <p:txBody>
          <a:bodyPr wrap="square" lIns="0" tIns="0" rIns="0" bIns="0" rtlCol="0" anchor="t"/>
          <a:lstStyle/>
          <a:p>
            <a:pPr marL="0" indent="0" algn="l">
              <a:lnSpc>
                <a:spcPts val="2200"/>
              </a:lnSpc>
              <a:buNone/>
            </a:pPr>
            <a:r>
              <a:rPr lang="en-US" sz="1500" dirty="0">
                <a:solidFill>
                  <a:srgbClr val="E2E6E9"/>
                </a:solidFill>
                <a:highlight>
                  <a:srgbClr val="162227"/>
                </a:highlight>
                <a:latin typeface="Consolas" pitchFamily="34" charset="0"/>
                <a:ea typeface="Consolas" pitchFamily="34" charset="-122"/>
                <a:cs typeface="Consolas" pitchFamily="34" charset="-120"/>
              </a:rPr>
              <a:t># Decode JWTs to inspect claims</a:t>
            </a:r>
            <a:endParaRPr lang="en-US" sz="1500" dirty="0"/>
          </a:p>
          <a:p>
            <a:pPr marL="0" indent="0" algn="l">
              <a:lnSpc>
                <a:spcPts val="2200"/>
              </a:lnSpc>
              <a:buNone/>
            </a:pPr>
            <a:r>
              <a:rPr lang="en-US" sz="1500" dirty="0">
                <a:solidFill>
                  <a:srgbClr val="E2E6E9"/>
                </a:solidFill>
                <a:highlight>
                  <a:srgbClr val="162227"/>
                </a:highlight>
                <a:latin typeface="Consolas" pitchFamily="34" charset="0"/>
                <a:ea typeface="Consolas" pitchFamily="34" charset="-122"/>
                <a:cs typeface="Consolas" pitchFamily="34" charset="-120"/>
              </a:rPr>
              <a:t>echo "eyJ..." | base64 -d | jq .  # Linux</a:t>
            </a:r>
            <a:endParaRPr lang="en-US" sz="1500" dirty="0"/>
          </a:p>
          <a:p>
            <a:pPr marL="0" indent="0" algn="l">
              <a:lnSpc>
                <a:spcPts val="2200"/>
              </a:lnSpc>
              <a:buNone/>
            </a:pPr>
            <a:r>
              <a:rPr lang="en-US" sz="1500" dirty="0">
                <a:solidFill>
                  <a:srgbClr val="E2E6E9"/>
                </a:solidFill>
                <a:highlight>
                  <a:srgbClr val="162227"/>
                </a:highlight>
                <a:latin typeface="Consolas" pitchFamily="34" charset="0"/>
                <a:ea typeface="Consolas" pitchFamily="34" charset="-122"/>
                <a:cs typeface="Consolas" pitchFamily="34" charset="-120"/>
              </a:rPr>
              <a:t>jwt.io  # Online decoder</a:t>
            </a:r>
            <a:endParaRPr lang="en-US" sz="1500" dirty="0"/>
          </a:p>
          <a:p>
            <a:pPr marL="0" indent="0" algn="l">
              <a:lnSpc>
                <a:spcPts val="2200"/>
              </a:lnSpc>
              <a:buNone/>
            </a:pPr>
            <a:endParaRPr lang="en-US" sz="1500" dirty="0"/>
          </a:p>
          <a:p>
            <a:pPr marL="0" indent="0" algn="l">
              <a:lnSpc>
                <a:spcPts val="2200"/>
              </a:lnSpc>
              <a:buNone/>
            </a:pPr>
            <a:r>
              <a:rPr lang="en-US" sz="1500" dirty="0">
                <a:solidFill>
                  <a:srgbClr val="E2E6E9"/>
                </a:solidFill>
                <a:highlight>
                  <a:srgbClr val="162227"/>
                </a:highlight>
                <a:latin typeface="Consolas" pitchFamily="34" charset="0"/>
                <a:ea typeface="Consolas" pitchFamily="34" charset="-122"/>
                <a:cs typeface="Consolas" pitchFamily="34" charset="-120"/>
              </a:rPr>
              <a:t># Common token gen endpoints to fuzz</a:t>
            </a:r>
            <a:endParaRPr lang="en-US" sz="1500" dirty="0"/>
          </a:p>
          <a:p>
            <a:pPr marL="0" indent="0" algn="l">
              <a:lnSpc>
                <a:spcPts val="2200"/>
              </a:lnSpc>
              <a:buNone/>
            </a:pPr>
            <a:r>
              <a:rPr lang="en-US" sz="1500" dirty="0">
                <a:solidFill>
                  <a:srgbClr val="E2E6E9"/>
                </a:solidFill>
                <a:highlight>
                  <a:srgbClr val="162227"/>
                </a:highlight>
                <a:latin typeface="Consolas" pitchFamily="34" charset="0"/>
                <a:ea typeface="Consolas" pitchFamily="34" charset="-122"/>
                <a:cs typeface="Consolas" pitchFamily="34" charset="-120"/>
              </a:rPr>
              <a:t>POST /api/login {username, password}</a:t>
            </a:r>
            <a:endParaRPr lang="en-US" sz="1500" dirty="0"/>
          </a:p>
          <a:p>
            <a:pPr marL="0" indent="0" algn="l">
              <a:lnSpc>
                <a:spcPts val="2200"/>
              </a:lnSpc>
              <a:buNone/>
            </a:pPr>
            <a:r>
              <a:rPr lang="en-US" sz="1500" dirty="0">
                <a:solidFill>
                  <a:srgbClr val="E2E6E9"/>
                </a:solidFill>
                <a:highlight>
                  <a:srgbClr val="162227"/>
                </a:highlight>
                <a:latin typeface="Consolas" pitchFamily="34" charset="0"/>
                <a:ea typeface="Consolas" pitchFamily="34" charset="-122"/>
                <a:cs typeface="Consolas" pitchFamily="34" charset="-120"/>
              </a:rPr>
              <a:t>POST /api/auth/token {client_id, client_secret, grant_type}</a:t>
            </a:r>
            <a:endParaRPr lang="en-US" sz="1500" dirty="0"/>
          </a:p>
          <a:p>
            <a:pPr marL="0" indent="0" algn="l">
              <a:lnSpc>
                <a:spcPts val="2200"/>
              </a:lnSpc>
              <a:buNone/>
            </a:pPr>
            <a:r>
              <a:rPr lang="en-US" sz="1500" dirty="0">
                <a:solidFill>
                  <a:srgbClr val="E2E6E9"/>
                </a:solidFill>
                <a:highlight>
                  <a:srgbClr val="162227"/>
                </a:highlight>
                <a:latin typeface="Consolas" pitchFamily="34" charset="0"/>
                <a:ea typeface="Consolas" pitchFamily="34" charset="-122"/>
                <a:cs typeface="Consolas" pitchFamily="34" charset="-120"/>
              </a:rPr>
              <a:t>POST /oauth/token {code, redirect_uri}</a:t>
            </a:r>
            <a:endParaRPr lang="en-US" sz="1500" dirty="0"/>
          </a:p>
        </p:txBody>
      </p:sp>
      <p:sp>
        <p:nvSpPr>
          <p:cNvPr id="7" name="Text 5"/>
          <p:cNvSpPr/>
          <p:nvPr/>
        </p:nvSpPr>
        <p:spPr>
          <a:xfrm>
            <a:off x="1180981" y="4905256"/>
            <a:ext cx="2444710" cy="305514"/>
          </a:xfrm>
          <a:prstGeom prst="rect">
            <a:avLst/>
          </a:prstGeom>
          <a:noFill/>
          <a:ln/>
        </p:spPr>
        <p:txBody>
          <a:bodyPr wrap="none" lIns="0" tIns="0" rIns="0" bIns="0" rtlCol="0" anchor="t"/>
          <a:lstStyle/>
          <a:p>
            <a:pPr marL="0" indent="0" algn="l">
              <a:lnSpc>
                <a:spcPts val="2400"/>
              </a:lnSpc>
              <a:buNone/>
            </a:pPr>
            <a:r>
              <a:rPr lang="en-US" sz="1900" dirty="0">
                <a:solidFill>
                  <a:srgbClr val="041938"/>
                </a:solidFill>
                <a:latin typeface="Merriweather" pitchFamily="34" charset="0"/>
                <a:ea typeface="Merriweather" pitchFamily="34" charset="-122"/>
                <a:cs typeface="Merriweather" pitchFamily="34" charset="-120"/>
              </a:rPr>
              <a:t>Weakness patterns</a:t>
            </a:r>
            <a:endParaRPr lang="en-US" sz="1900" dirty="0"/>
          </a:p>
        </p:txBody>
      </p:sp>
      <p:sp>
        <p:nvSpPr>
          <p:cNvPr id="8" name="Text 6"/>
          <p:cNvSpPr/>
          <p:nvPr/>
        </p:nvSpPr>
        <p:spPr>
          <a:xfrm>
            <a:off x="1180981" y="5443180"/>
            <a:ext cx="12268319" cy="1121777"/>
          </a:xfrm>
          <a:prstGeom prst="rect">
            <a:avLst/>
          </a:prstGeom>
          <a:noFill/>
          <a:ln/>
        </p:spPr>
        <p:txBody>
          <a:bodyPr wrap="square" lIns="0" tIns="0" rIns="0" bIns="0" rtlCol="0" anchor="t"/>
          <a:lstStyle/>
          <a:p>
            <a:pPr marL="342900" indent="-342900" algn="l">
              <a:lnSpc>
                <a:spcPts val="2200"/>
              </a:lnSpc>
              <a:buSzPct val="100000"/>
              <a:buChar char="•"/>
            </a:pPr>
            <a:r>
              <a:rPr lang="en-US" sz="1500" dirty="0">
                <a:solidFill>
                  <a:srgbClr val="E2E6E9"/>
                </a:solidFill>
                <a:latin typeface="Merriweather" pitchFamily="34" charset="0"/>
                <a:ea typeface="Merriweather" pitchFamily="34" charset="-122"/>
                <a:cs typeface="Merriweather" pitchFamily="34" charset="-120"/>
              </a:rPr>
              <a:t>Predictable iat/exp → token replay</a:t>
            </a:r>
            <a:endParaRPr lang="en-US" sz="1500" dirty="0"/>
          </a:p>
          <a:p>
            <a:pPr marL="342900" indent="-342900" algn="l">
              <a:lnSpc>
                <a:spcPts val="2200"/>
              </a:lnSpc>
              <a:buSzPct val="100000"/>
              <a:buChar char="•"/>
            </a:pPr>
            <a:r>
              <a:rPr lang="en-US" sz="1500" dirty="0">
                <a:solidFill>
                  <a:srgbClr val="E2E6E9"/>
                </a:solidFill>
                <a:latin typeface="Merriweather" pitchFamily="34" charset="0"/>
                <a:ea typeface="Merriweather" pitchFamily="34" charset="-122"/>
                <a:cs typeface="Merriweather" pitchFamily="34" charset="-120"/>
              </a:rPr>
              <a:t>Missing nbf → early use</a:t>
            </a:r>
            <a:endParaRPr lang="en-US" sz="1500" dirty="0"/>
          </a:p>
          <a:p>
            <a:pPr marL="342900" indent="-342900" algn="l">
              <a:lnSpc>
                <a:spcPts val="2200"/>
              </a:lnSpc>
              <a:buSzPct val="100000"/>
              <a:buChar char="•"/>
            </a:pPr>
            <a:r>
              <a:rPr lang="en-US" sz="1500" dirty="0">
                <a:solidFill>
                  <a:srgbClr val="E2E6E9"/>
                </a:solidFill>
                <a:latin typeface="Merriweather" pitchFamily="34" charset="0"/>
                <a:ea typeface="Merriweather" pitchFamily="34" charset="-122"/>
                <a:cs typeface="Merriweather" pitchFamily="34" charset="-120"/>
              </a:rPr>
              <a:t>Weak kid → key confusion</a:t>
            </a:r>
            <a:endParaRPr lang="en-US" sz="1500" dirty="0"/>
          </a:p>
          <a:p>
            <a:pPr marL="342900" indent="-342900" algn="l">
              <a:lnSpc>
                <a:spcPts val="2200"/>
              </a:lnSpc>
              <a:buSzPct val="100000"/>
              <a:buChar char="•"/>
            </a:pPr>
            <a:r>
              <a:rPr lang="en-US" sz="1500" dirty="0">
                <a:solidFill>
                  <a:srgbClr val="E2E6E9"/>
                </a:solidFill>
                <a:latin typeface="Merriweather" pitchFamily="34" charset="0"/>
                <a:ea typeface="Merriweather" pitchFamily="34" charset="-122"/>
                <a:cs typeface="Merriweather" pitchFamily="34" charset="-120"/>
              </a:rPr>
              <a:t>Reused jti → token reuse</a:t>
            </a:r>
            <a:endParaRPr lang="en-US" sz="1500" dirty="0"/>
          </a:p>
        </p:txBody>
      </p:sp>
      <p:sp>
        <p:nvSpPr>
          <p:cNvPr id="9" name="Text 7"/>
          <p:cNvSpPr/>
          <p:nvPr/>
        </p:nvSpPr>
        <p:spPr>
          <a:xfrm>
            <a:off x="1180981" y="6739265"/>
            <a:ext cx="12268319" cy="280392"/>
          </a:xfrm>
          <a:prstGeom prst="rect">
            <a:avLst/>
          </a:prstGeom>
          <a:noFill/>
          <a:ln/>
        </p:spPr>
        <p:txBody>
          <a:bodyPr wrap="none" lIns="0" tIns="0" rIns="0" bIns="0" rtlCol="0" anchor="t"/>
          <a:lstStyle/>
          <a:p>
            <a:pPr marL="0" indent="0" algn="l">
              <a:lnSpc>
                <a:spcPts val="2200"/>
              </a:lnSpc>
              <a:buNone/>
            </a:pPr>
            <a:r>
              <a:rPr lang="en-US" sz="1500" dirty="0">
                <a:solidFill>
                  <a:srgbClr val="E2E6E9"/>
                </a:solidFill>
                <a:latin typeface="Merriweather" pitchFamily="34" charset="0"/>
                <a:ea typeface="Merriweather" pitchFamily="34" charset="-122"/>
                <a:cs typeface="Merriweather" pitchFamily="34" charset="-120"/>
              </a:rPr>
              <a:t>These params are often logged in server access logs or exposed in misconfigs—check /var/log/apache2/access.log if you get shell.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1183</Words>
  <Application>Microsoft Office PowerPoint</Application>
  <PresentationFormat>Custom</PresentationFormat>
  <Paragraphs>181</Paragraphs>
  <Slides>25</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25</vt:i4>
      </vt:variant>
    </vt:vector>
  </HeadingPairs>
  <TitlesOfParts>
    <vt:vector size="29" baseType="lpstr">
      <vt:lpstr>Arial</vt:lpstr>
      <vt:lpstr>Merriweather</vt:lpstr>
      <vt:lpstr>Consolas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shrishanth battu</cp:lastModifiedBy>
  <cp:revision>2</cp:revision>
  <dcterms:created xsi:type="dcterms:W3CDTF">2026-02-10T11:48:15Z</dcterms:created>
  <dcterms:modified xsi:type="dcterms:W3CDTF">2026-02-10T12:10:27Z</dcterms:modified>
</cp:coreProperties>
</file>