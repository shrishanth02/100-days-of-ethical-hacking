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60" r:id="rId5"/>
    <p:sldId id="259" r:id="rId6"/>
  </p:sldIdLst>
  <p:sldSz cx="14630400" cy="8229600"/>
  <p:notesSz cx="8229600" cy="14630400"/>
  <p:embeddedFontLst>
    <p:embeddedFont>
      <p:font typeface="Consolas" panose="020B0609020204030204" pitchFamily="49" charset="0"/>
      <p:regular r:id="rId8"/>
      <p:bold r:id="rId9"/>
      <p:italic r:id="rId10"/>
      <p:boldItalic r:id="rId11"/>
    </p:embeddedFont>
    <p:embeddedFont>
      <p:font typeface="Instrument Sans Medium" panose="020B0604020202020204" charset="0"/>
      <p:regular r:id="rId12"/>
    </p:embeddedFont>
    <p:embeddedFont>
      <p:font typeface="Instrument Sans Semi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8357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227427"/>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505468"/>
                </a:solidFill>
                <a:latin typeface="Instrument Sans Semi Bold" pitchFamily="34" charset="0"/>
                <a:ea typeface="Instrument Sans Semi Bold" pitchFamily="34" charset="-122"/>
                <a:cs typeface="Instrument Sans Semi Bold" pitchFamily="34" charset="-120"/>
              </a:rPr>
              <a:t>Understanding XSS : </a:t>
            </a:r>
            <a:endParaRPr lang="en-US" sz="4450" dirty="0"/>
          </a:p>
        </p:txBody>
      </p:sp>
      <p:sp>
        <p:nvSpPr>
          <p:cNvPr id="4" name="Text 1"/>
          <p:cNvSpPr/>
          <p:nvPr/>
        </p:nvSpPr>
        <p:spPr>
          <a:xfrm>
            <a:off x="793790" y="4276368"/>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Cross-Site Scripting attacks, exploitation techniques, and defense strategies for modern web applications.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577459" y="956786"/>
            <a:ext cx="2164913" cy="284083"/>
          </a:xfrm>
          <a:prstGeom prst="roundRect">
            <a:avLst>
              <a:gd name="adj" fmla="val 19670"/>
            </a:avLst>
          </a:prstGeom>
          <a:solidFill>
            <a:srgbClr val="E2E3E9"/>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77233" y="1032272"/>
            <a:ext cx="132993" cy="132993"/>
          </a:xfrm>
          <a:prstGeom prst="rect">
            <a:avLst/>
          </a:prstGeom>
        </p:spPr>
      </p:pic>
      <p:sp>
        <p:nvSpPr>
          <p:cNvPr id="4" name="Text 1"/>
          <p:cNvSpPr/>
          <p:nvPr/>
        </p:nvSpPr>
        <p:spPr>
          <a:xfrm>
            <a:off x="1876663" y="1006673"/>
            <a:ext cx="1765935" cy="184309"/>
          </a:xfrm>
          <a:prstGeom prst="rect">
            <a:avLst/>
          </a:prstGeom>
          <a:noFill/>
          <a:ln/>
        </p:spPr>
        <p:txBody>
          <a:bodyPr wrap="none" lIns="0" tIns="0" rIns="0" bIns="0" rtlCol="0" anchor="t"/>
          <a:lstStyle/>
          <a:p>
            <a:pPr marL="0" indent="0" algn="l">
              <a:lnSpc>
                <a:spcPts val="1450"/>
              </a:lnSpc>
              <a:buNone/>
            </a:pPr>
            <a:r>
              <a:rPr lang="en-US" sz="1000" dirty="0">
                <a:solidFill>
                  <a:srgbClr val="5B5F71"/>
                </a:solidFill>
                <a:latin typeface="Instrument Sans Medium" pitchFamily="34" charset="0"/>
                <a:ea typeface="Instrument Sans Medium" pitchFamily="34" charset="-122"/>
                <a:cs typeface="Instrument Sans Medium" pitchFamily="34" charset="-120"/>
              </a:rPr>
              <a:t>SECURITY FUNDAMENTALS</a:t>
            </a:r>
            <a:endParaRPr lang="en-US" sz="1000" dirty="0"/>
          </a:p>
        </p:txBody>
      </p:sp>
      <p:sp>
        <p:nvSpPr>
          <p:cNvPr id="5" name="Text 2"/>
          <p:cNvSpPr/>
          <p:nvPr/>
        </p:nvSpPr>
        <p:spPr>
          <a:xfrm>
            <a:off x="1577459" y="1289566"/>
            <a:ext cx="6973729" cy="519708"/>
          </a:xfrm>
          <a:prstGeom prst="rect">
            <a:avLst/>
          </a:prstGeom>
          <a:noFill/>
          <a:ln/>
        </p:spPr>
        <p:txBody>
          <a:bodyPr wrap="none" lIns="0" tIns="0" rIns="0" bIns="0" rtlCol="0" anchor="t"/>
          <a:lstStyle/>
          <a:p>
            <a:pPr marL="0" indent="0" algn="l">
              <a:lnSpc>
                <a:spcPts val="4050"/>
              </a:lnSpc>
              <a:buNone/>
            </a:pPr>
            <a:r>
              <a:rPr lang="en-US" sz="3250" dirty="0">
                <a:solidFill>
                  <a:srgbClr val="505468"/>
                </a:solidFill>
                <a:latin typeface="Instrument Sans Semi Bold" pitchFamily="34" charset="0"/>
                <a:ea typeface="Instrument Sans Semi Bold" pitchFamily="34" charset="-122"/>
                <a:cs typeface="Instrument Sans Semi Bold" pitchFamily="34" charset="-120"/>
              </a:rPr>
              <a:t>What is Cross-Site Scripting (XSS)?</a:t>
            </a:r>
            <a:endParaRPr lang="en-US" sz="3250" dirty="0"/>
          </a:p>
        </p:txBody>
      </p:sp>
      <p:pic>
        <p:nvPicPr>
          <p:cNvPr id="6" name="Image 1" descr="preencoded.png"/>
          <p:cNvPicPr>
            <a:picLocks noChangeAspect="1"/>
          </p:cNvPicPr>
          <p:nvPr/>
        </p:nvPicPr>
        <p:blipFill>
          <a:blip r:embed="rId5"/>
          <a:stretch>
            <a:fillRect/>
          </a:stretch>
        </p:blipFill>
        <p:spPr>
          <a:xfrm>
            <a:off x="1577459" y="2129314"/>
            <a:ext cx="7316867" cy="5006221"/>
          </a:xfrm>
          <a:prstGeom prst="rect">
            <a:avLst/>
          </a:prstGeom>
        </p:spPr>
      </p:pic>
      <p:sp>
        <p:nvSpPr>
          <p:cNvPr id="7" name="Text 3"/>
          <p:cNvSpPr/>
          <p:nvPr/>
        </p:nvSpPr>
        <p:spPr>
          <a:xfrm>
            <a:off x="9307711" y="2587466"/>
            <a:ext cx="3752612" cy="1383744"/>
          </a:xfrm>
          <a:prstGeom prst="rect">
            <a:avLst/>
          </a:prstGeom>
          <a:noFill/>
          <a:ln/>
        </p:spPr>
        <p:txBody>
          <a:bodyPr wrap="square" lIns="0" tIns="0" rIns="0" bIns="0" rtlCol="0" anchor="t"/>
          <a:lstStyle/>
          <a:p>
            <a:pPr marL="0" indent="0" algn="l">
              <a:lnSpc>
                <a:spcPts val="1800"/>
              </a:lnSpc>
              <a:buNone/>
            </a:pPr>
            <a:r>
              <a:rPr lang="en-US" sz="1300" dirty="0">
                <a:solidFill>
                  <a:srgbClr val="5B5F71"/>
                </a:solidFill>
                <a:latin typeface="Instrument Sans Medium" pitchFamily="34" charset="0"/>
                <a:ea typeface="Instrument Sans Medium" pitchFamily="34" charset="-122"/>
                <a:cs typeface="Instrument Sans Medium" pitchFamily="34" charset="-120"/>
              </a:rPr>
              <a:t>XSS is a critical web security vulnerability that allows attackers to inject malicious scripts into web pages viewed by other users. When successful, these scripts execute in victims' browsers with full access to session data, cookies, and sensitive information.</a:t>
            </a:r>
            <a:endParaRPr lang="en-US" sz="1300" dirty="0"/>
          </a:p>
        </p:txBody>
      </p:sp>
      <p:sp>
        <p:nvSpPr>
          <p:cNvPr id="8" name="Text 4"/>
          <p:cNvSpPr/>
          <p:nvPr/>
        </p:nvSpPr>
        <p:spPr>
          <a:xfrm>
            <a:off x="9307711" y="4080867"/>
            <a:ext cx="3752612" cy="1153120"/>
          </a:xfrm>
          <a:prstGeom prst="rect">
            <a:avLst/>
          </a:prstGeom>
          <a:noFill/>
          <a:ln/>
        </p:spPr>
        <p:txBody>
          <a:bodyPr wrap="square" lIns="0" tIns="0" rIns="0" bIns="0" rtlCol="0" anchor="t"/>
          <a:lstStyle/>
          <a:p>
            <a:pPr marL="0" indent="0" algn="l">
              <a:lnSpc>
                <a:spcPts val="1800"/>
              </a:lnSpc>
              <a:buNone/>
            </a:pPr>
            <a:r>
              <a:rPr lang="en-US" sz="1300" dirty="0">
                <a:solidFill>
                  <a:srgbClr val="5B5F71"/>
                </a:solidFill>
                <a:latin typeface="Instrument Sans Medium" pitchFamily="34" charset="0"/>
                <a:ea typeface="Instrument Sans Medium" pitchFamily="34" charset="-122"/>
                <a:cs typeface="Instrument Sans Medium" pitchFamily="34" charset="-120"/>
              </a:rPr>
              <a:t>The impact ranges from cookie theft and session hijacking to complete account takeover. XSS remains one of the most prevalent web vulnerabilities, affecting applications across the internet.</a:t>
            </a:r>
            <a:endParaRPr lang="en-US" sz="1300" dirty="0"/>
          </a:p>
        </p:txBody>
      </p:sp>
      <p:sp>
        <p:nvSpPr>
          <p:cNvPr id="9" name="Shape 5"/>
          <p:cNvSpPr/>
          <p:nvPr/>
        </p:nvSpPr>
        <p:spPr>
          <a:xfrm>
            <a:off x="9307711" y="5371148"/>
            <a:ext cx="3752612" cy="1278731"/>
          </a:xfrm>
          <a:prstGeom prst="roundRect">
            <a:avLst>
              <a:gd name="adj" fmla="val 5462"/>
            </a:avLst>
          </a:prstGeom>
          <a:solidFill>
            <a:srgbClr val="D4D5DE"/>
          </a:solidFill>
          <a:ln/>
        </p:spPr>
      </p:sp>
      <p:pic>
        <p:nvPicPr>
          <p:cNvPr id="10" name="Image 2" descr="preencoded.png"/>
          <p:cNvPicPr>
            <a:picLocks noChangeAspect="1"/>
          </p:cNvPicPr>
          <p:nvPr/>
        </p:nvPicPr>
        <p:blipFill>
          <a:blip r:embed="rId6"/>
          <a:stretch>
            <a:fillRect/>
          </a:stretch>
        </p:blipFill>
        <p:spPr>
          <a:xfrm>
            <a:off x="9473922" y="5608677"/>
            <a:ext cx="207883" cy="166211"/>
          </a:xfrm>
          <a:prstGeom prst="rect">
            <a:avLst/>
          </a:prstGeom>
        </p:spPr>
      </p:pic>
      <p:sp>
        <p:nvSpPr>
          <p:cNvPr id="11" name="Text 6"/>
          <p:cNvSpPr/>
          <p:nvPr/>
        </p:nvSpPr>
        <p:spPr>
          <a:xfrm>
            <a:off x="9848017" y="5534620"/>
            <a:ext cx="3046095" cy="922496"/>
          </a:xfrm>
          <a:prstGeom prst="rect">
            <a:avLst/>
          </a:prstGeom>
          <a:noFill/>
          <a:ln/>
        </p:spPr>
        <p:txBody>
          <a:bodyPr wrap="square" lIns="0" tIns="0" rIns="0" bIns="0" rtlCol="0" anchor="t"/>
          <a:lstStyle/>
          <a:p>
            <a:pPr marL="0" indent="0" algn="l">
              <a:lnSpc>
                <a:spcPts val="1800"/>
              </a:lnSpc>
              <a:buNone/>
            </a:pPr>
            <a:r>
              <a:rPr lang="en-US" sz="1300" b="1" dirty="0">
                <a:solidFill>
                  <a:srgbClr val="000000"/>
                </a:solidFill>
                <a:latin typeface="Instrument Sans Medium" pitchFamily="34" charset="0"/>
                <a:ea typeface="Instrument Sans Medium" pitchFamily="34" charset="-122"/>
                <a:cs typeface="Instrument Sans Medium" pitchFamily="34" charset="-120"/>
              </a:rPr>
              <a:t>Key Fact:</a:t>
            </a:r>
            <a:r>
              <a:rPr lang="en-US" sz="1300" dirty="0">
                <a:solidFill>
                  <a:srgbClr val="000000"/>
                </a:solidFill>
                <a:latin typeface="Instrument Sans Medium" pitchFamily="34" charset="0"/>
                <a:ea typeface="Instrument Sans Medium" pitchFamily="34" charset="-122"/>
                <a:cs typeface="Instrument Sans Medium" pitchFamily="34" charset="-120"/>
              </a:rPr>
              <a:t> XSS attacks exploit the trust a user has in a particular website by executing unauthorized code in their browser context.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02343"/>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505468"/>
                </a:solidFill>
                <a:latin typeface="Instrument Sans Semi Bold" pitchFamily="34" charset="0"/>
                <a:ea typeface="Instrument Sans Semi Bold" pitchFamily="34" charset="-122"/>
                <a:cs typeface="Instrument Sans Semi Bold" pitchFamily="34" charset="-120"/>
              </a:rPr>
              <a:t>Types of XSS Attacks</a:t>
            </a:r>
            <a:endParaRPr lang="en-US" sz="4450" dirty="0"/>
          </a:p>
        </p:txBody>
      </p:sp>
      <p:sp>
        <p:nvSpPr>
          <p:cNvPr id="3" name="Shape 1"/>
          <p:cNvSpPr/>
          <p:nvPr/>
        </p:nvSpPr>
        <p:spPr>
          <a:xfrm>
            <a:off x="793790" y="2764750"/>
            <a:ext cx="4196358" cy="3862507"/>
          </a:xfrm>
          <a:prstGeom prst="roundRect">
            <a:avLst>
              <a:gd name="adj" fmla="val 2466"/>
            </a:avLst>
          </a:prstGeom>
          <a:solidFill>
            <a:srgbClr val="E2E3E9"/>
          </a:solidFill>
          <a:ln w="7620">
            <a:solidFill>
              <a:srgbClr val="C8C9CF"/>
            </a:solidFill>
            <a:prstDash val="solid"/>
          </a:ln>
        </p:spPr>
      </p:sp>
      <p:sp>
        <p:nvSpPr>
          <p:cNvPr id="4" name="Text 2"/>
          <p:cNvSpPr/>
          <p:nvPr/>
        </p:nvSpPr>
        <p:spPr>
          <a:xfrm>
            <a:off x="1028224" y="299918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Stored XSS</a:t>
            </a:r>
            <a:endParaRPr lang="en-US" sz="2200" dirty="0"/>
          </a:p>
        </p:txBody>
      </p:sp>
      <p:sp>
        <p:nvSpPr>
          <p:cNvPr id="5" name="Text 3"/>
          <p:cNvSpPr/>
          <p:nvPr/>
        </p:nvSpPr>
        <p:spPr>
          <a:xfrm>
            <a:off x="1028224" y="3489603"/>
            <a:ext cx="3727490" cy="2903220"/>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Malicious scripts are permanently saved on the target server (database, message forum, comment field). Every user who views the infected page executes the payload. Most dangerous due to persistent nature and wide victim reach.</a:t>
            </a:r>
            <a:endParaRPr lang="en-US" sz="1750" dirty="0"/>
          </a:p>
        </p:txBody>
      </p:sp>
      <p:sp>
        <p:nvSpPr>
          <p:cNvPr id="6" name="Shape 4"/>
          <p:cNvSpPr/>
          <p:nvPr/>
        </p:nvSpPr>
        <p:spPr>
          <a:xfrm>
            <a:off x="5216962" y="2764750"/>
            <a:ext cx="4196358" cy="3862507"/>
          </a:xfrm>
          <a:prstGeom prst="roundRect">
            <a:avLst>
              <a:gd name="adj" fmla="val 2466"/>
            </a:avLst>
          </a:prstGeom>
          <a:solidFill>
            <a:srgbClr val="E2E3E9"/>
          </a:solidFill>
          <a:ln w="7620">
            <a:solidFill>
              <a:srgbClr val="C8C9CF"/>
            </a:solidFill>
            <a:prstDash val="solid"/>
          </a:ln>
        </p:spPr>
      </p:sp>
      <p:sp>
        <p:nvSpPr>
          <p:cNvPr id="7" name="Text 5"/>
          <p:cNvSpPr/>
          <p:nvPr/>
        </p:nvSpPr>
        <p:spPr>
          <a:xfrm>
            <a:off x="5451396" y="299918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Reflected XSS</a:t>
            </a:r>
            <a:endParaRPr lang="en-US" sz="2200" dirty="0"/>
          </a:p>
        </p:txBody>
      </p:sp>
      <p:sp>
        <p:nvSpPr>
          <p:cNvPr id="8" name="Text 6"/>
          <p:cNvSpPr/>
          <p:nvPr/>
        </p:nvSpPr>
        <p:spPr>
          <a:xfrm>
            <a:off x="5451396" y="3489603"/>
            <a:ext cx="3727490" cy="2177415"/>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Script is reflected off the web server via a crafted URL or form input. Requires victim to click a malicious link. Commonly delivered through phishing emails or social engineering attacks.</a:t>
            </a:r>
            <a:endParaRPr lang="en-US" sz="1750" dirty="0"/>
          </a:p>
        </p:txBody>
      </p:sp>
      <p:sp>
        <p:nvSpPr>
          <p:cNvPr id="9" name="Shape 7"/>
          <p:cNvSpPr/>
          <p:nvPr/>
        </p:nvSpPr>
        <p:spPr>
          <a:xfrm>
            <a:off x="9640133" y="2764750"/>
            <a:ext cx="4196358" cy="3862507"/>
          </a:xfrm>
          <a:prstGeom prst="roundRect">
            <a:avLst>
              <a:gd name="adj" fmla="val 2466"/>
            </a:avLst>
          </a:prstGeom>
          <a:solidFill>
            <a:srgbClr val="E2E3E9"/>
          </a:solidFill>
          <a:ln w="7620">
            <a:solidFill>
              <a:srgbClr val="C8C9CF"/>
            </a:solidFill>
            <a:prstDash val="solid"/>
          </a:ln>
        </p:spPr>
      </p:sp>
      <p:sp>
        <p:nvSpPr>
          <p:cNvPr id="10" name="Text 8"/>
          <p:cNvSpPr/>
          <p:nvPr/>
        </p:nvSpPr>
        <p:spPr>
          <a:xfrm>
            <a:off x="9874568" y="299918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DOM-Based XSS</a:t>
            </a:r>
            <a:endParaRPr lang="en-US" sz="2200" dirty="0"/>
          </a:p>
        </p:txBody>
      </p:sp>
      <p:sp>
        <p:nvSpPr>
          <p:cNvPr id="11" name="Text 9"/>
          <p:cNvSpPr/>
          <p:nvPr/>
        </p:nvSpPr>
        <p:spPr>
          <a:xfrm>
            <a:off x="9874568" y="3489603"/>
            <a:ext cx="3727490" cy="2540318"/>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Payload executes entirely in the browser by manipulating the Document Object Model. No server-side involvement required. Attackers exploit client-side JavaScript that unsafely handles user-controllable data.</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37379"/>
            <a:ext cx="7015282" cy="708779"/>
          </a:xfrm>
          <a:prstGeom prst="rect">
            <a:avLst/>
          </a:prstGeom>
          <a:noFill/>
          <a:ln/>
        </p:spPr>
        <p:txBody>
          <a:bodyPr wrap="none" lIns="0" tIns="0" rIns="0" bIns="0" rtlCol="0" anchor="t"/>
          <a:lstStyle/>
          <a:p>
            <a:pPr marL="0" indent="0" algn="l">
              <a:lnSpc>
                <a:spcPts val="5550"/>
              </a:lnSpc>
              <a:buNone/>
            </a:pPr>
            <a:r>
              <a:rPr lang="en-US" sz="4450" dirty="0">
                <a:solidFill>
                  <a:srgbClr val="505468"/>
                </a:solidFill>
                <a:latin typeface="Instrument Sans Semi Bold" pitchFamily="34" charset="0"/>
                <a:ea typeface="Instrument Sans Semi Bold" pitchFamily="34" charset="-122"/>
                <a:cs typeface="Instrument Sans Semi Bold" pitchFamily="34" charset="-120"/>
              </a:rPr>
              <a:t>XSS Prevention &amp; Defense</a:t>
            </a:r>
            <a:endParaRPr lang="en-US" sz="4450" dirty="0"/>
          </a:p>
        </p:txBody>
      </p:sp>
      <p:sp>
        <p:nvSpPr>
          <p:cNvPr id="3" name="Text 1"/>
          <p:cNvSpPr/>
          <p:nvPr/>
        </p:nvSpPr>
        <p:spPr>
          <a:xfrm>
            <a:off x="793790" y="209978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5B5F71"/>
                </a:solidFill>
                <a:latin typeface="Instrument Sans Light" pitchFamily="34" charset="0"/>
                <a:ea typeface="Instrument Sans Light" pitchFamily="34" charset="-122"/>
                <a:cs typeface="Instrument Sans Light" pitchFamily="34" charset="-120"/>
              </a:rPr>
              <a:t>01</a:t>
            </a:r>
            <a:endParaRPr lang="en-US" sz="1750" dirty="0"/>
          </a:p>
        </p:txBody>
      </p:sp>
      <p:pic>
        <p:nvPicPr>
          <p:cNvPr id="4" name="Image 0" descr="preencoded.png"/>
          <p:cNvPicPr>
            <a:picLocks noChangeAspect="1"/>
          </p:cNvPicPr>
          <p:nvPr/>
        </p:nvPicPr>
        <p:blipFill>
          <a:blip r:embed="rId3"/>
          <a:stretch>
            <a:fillRect/>
          </a:stretch>
        </p:blipFill>
        <p:spPr>
          <a:xfrm>
            <a:off x="793790" y="2454831"/>
            <a:ext cx="4196358" cy="30480"/>
          </a:xfrm>
          <a:prstGeom prst="rect">
            <a:avLst/>
          </a:prstGeom>
        </p:spPr>
      </p:pic>
      <p:sp>
        <p:nvSpPr>
          <p:cNvPr id="5" name="Text 2"/>
          <p:cNvSpPr/>
          <p:nvPr/>
        </p:nvSpPr>
        <p:spPr>
          <a:xfrm>
            <a:off x="793790" y="26291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Input Validation</a:t>
            </a:r>
            <a:endParaRPr lang="en-US" sz="2200" dirty="0"/>
          </a:p>
        </p:txBody>
      </p:sp>
      <p:sp>
        <p:nvSpPr>
          <p:cNvPr id="6" name="Text 3"/>
          <p:cNvSpPr/>
          <p:nvPr/>
        </p:nvSpPr>
        <p:spPr>
          <a:xfrm>
            <a:off x="793790" y="3119557"/>
            <a:ext cx="4196358" cy="1451610"/>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Validate and sanitize all user inputs on both client and server side. Use allowlists for expected input patterns rather than denylists.</a:t>
            </a:r>
            <a:endParaRPr lang="en-US" sz="1750" dirty="0"/>
          </a:p>
        </p:txBody>
      </p:sp>
      <p:sp>
        <p:nvSpPr>
          <p:cNvPr id="7" name="Text 4"/>
          <p:cNvSpPr/>
          <p:nvPr/>
        </p:nvSpPr>
        <p:spPr>
          <a:xfrm>
            <a:off x="5216962" y="209978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5B5F71"/>
                </a:solidFill>
                <a:latin typeface="Instrument Sans Light" pitchFamily="34" charset="0"/>
                <a:ea typeface="Instrument Sans Light" pitchFamily="34" charset="-122"/>
                <a:cs typeface="Instrument Sans Light" pitchFamily="34" charset="-120"/>
              </a:rPr>
              <a:t>02</a:t>
            </a:r>
            <a:endParaRPr lang="en-US" sz="1750" dirty="0"/>
          </a:p>
        </p:txBody>
      </p:sp>
      <p:pic>
        <p:nvPicPr>
          <p:cNvPr id="8" name="Image 1" descr="preencoded.png"/>
          <p:cNvPicPr>
            <a:picLocks noChangeAspect="1"/>
          </p:cNvPicPr>
          <p:nvPr/>
        </p:nvPicPr>
        <p:blipFill>
          <a:blip r:embed="rId3"/>
          <a:stretch>
            <a:fillRect/>
          </a:stretch>
        </p:blipFill>
        <p:spPr>
          <a:xfrm>
            <a:off x="5216962" y="2454831"/>
            <a:ext cx="4196358" cy="30480"/>
          </a:xfrm>
          <a:prstGeom prst="rect">
            <a:avLst/>
          </a:prstGeom>
        </p:spPr>
      </p:pic>
      <p:sp>
        <p:nvSpPr>
          <p:cNvPr id="9" name="Text 5"/>
          <p:cNvSpPr/>
          <p:nvPr/>
        </p:nvSpPr>
        <p:spPr>
          <a:xfrm>
            <a:off x="5216962" y="26291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Output Encoding</a:t>
            </a:r>
            <a:endParaRPr lang="en-US" sz="2200" dirty="0"/>
          </a:p>
        </p:txBody>
      </p:sp>
      <p:sp>
        <p:nvSpPr>
          <p:cNvPr id="10" name="Text 6"/>
          <p:cNvSpPr/>
          <p:nvPr/>
        </p:nvSpPr>
        <p:spPr>
          <a:xfrm>
            <a:off x="5216962" y="3119557"/>
            <a:ext cx="4196358" cy="1451610"/>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Encode data before inserting into HTML, JavaScript, CSS, or URLs. Use context-appropriate encoding functions for each output location.</a:t>
            </a:r>
            <a:endParaRPr lang="en-US" sz="1750" dirty="0"/>
          </a:p>
        </p:txBody>
      </p:sp>
      <p:sp>
        <p:nvSpPr>
          <p:cNvPr id="11" name="Text 7"/>
          <p:cNvSpPr/>
          <p:nvPr/>
        </p:nvSpPr>
        <p:spPr>
          <a:xfrm>
            <a:off x="9640133" y="209978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5B5F71"/>
                </a:solidFill>
                <a:latin typeface="Instrument Sans Light" pitchFamily="34" charset="0"/>
                <a:ea typeface="Instrument Sans Light" pitchFamily="34" charset="-122"/>
                <a:cs typeface="Instrument Sans Light" pitchFamily="34" charset="-120"/>
              </a:rPr>
              <a:t>03</a:t>
            </a:r>
            <a:endParaRPr lang="en-US" sz="1750" dirty="0"/>
          </a:p>
        </p:txBody>
      </p:sp>
      <p:pic>
        <p:nvPicPr>
          <p:cNvPr id="12" name="Image 2" descr="preencoded.png"/>
          <p:cNvPicPr>
            <a:picLocks noChangeAspect="1"/>
          </p:cNvPicPr>
          <p:nvPr/>
        </p:nvPicPr>
        <p:blipFill>
          <a:blip r:embed="rId3"/>
          <a:stretch>
            <a:fillRect/>
          </a:stretch>
        </p:blipFill>
        <p:spPr>
          <a:xfrm>
            <a:off x="9640133" y="2454831"/>
            <a:ext cx="4196358" cy="30480"/>
          </a:xfrm>
          <a:prstGeom prst="rect">
            <a:avLst/>
          </a:prstGeom>
        </p:spPr>
      </p:pic>
      <p:sp>
        <p:nvSpPr>
          <p:cNvPr id="13" name="Text 8"/>
          <p:cNvSpPr/>
          <p:nvPr/>
        </p:nvSpPr>
        <p:spPr>
          <a:xfrm>
            <a:off x="9640133" y="2629138"/>
            <a:ext cx="3131225"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Content Security Policy</a:t>
            </a:r>
            <a:endParaRPr lang="en-US" sz="2200" dirty="0"/>
          </a:p>
        </p:txBody>
      </p:sp>
      <p:sp>
        <p:nvSpPr>
          <p:cNvPr id="14" name="Text 9"/>
          <p:cNvSpPr/>
          <p:nvPr/>
        </p:nvSpPr>
        <p:spPr>
          <a:xfrm>
            <a:off x="9640133" y="3119557"/>
            <a:ext cx="4196358" cy="1451610"/>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Implement CSP headers to restrict script sources and prevent inline script execution. This provides defense-in-depth against XSS attacks.</a:t>
            </a:r>
            <a:endParaRPr lang="en-US" sz="1750" dirty="0"/>
          </a:p>
        </p:txBody>
      </p:sp>
      <p:sp>
        <p:nvSpPr>
          <p:cNvPr id="15" name="Text 10"/>
          <p:cNvSpPr/>
          <p:nvPr/>
        </p:nvSpPr>
        <p:spPr>
          <a:xfrm>
            <a:off x="793790" y="496800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5B5F71"/>
                </a:solidFill>
                <a:latin typeface="Instrument Sans Light" pitchFamily="34" charset="0"/>
                <a:ea typeface="Instrument Sans Light" pitchFamily="34" charset="-122"/>
                <a:cs typeface="Instrument Sans Light" pitchFamily="34" charset="-120"/>
              </a:rPr>
              <a:t>04</a:t>
            </a:r>
            <a:endParaRPr lang="en-US" sz="1750" dirty="0"/>
          </a:p>
        </p:txBody>
      </p:sp>
      <p:pic>
        <p:nvPicPr>
          <p:cNvPr id="16" name="Image 3" descr="preencoded.png"/>
          <p:cNvPicPr>
            <a:picLocks noChangeAspect="1"/>
          </p:cNvPicPr>
          <p:nvPr/>
        </p:nvPicPr>
        <p:blipFill>
          <a:blip r:embed="rId4"/>
          <a:stretch>
            <a:fillRect/>
          </a:stretch>
        </p:blipFill>
        <p:spPr>
          <a:xfrm>
            <a:off x="793790" y="5300305"/>
            <a:ext cx="6407944" cy="30480"/>
          </a:xfrm>
          <a:prstGeom prst="rect">
            <a:avLst/>
          </a:prstGeom>
        </p:spPr>
      </p:pic>
      <p:sp>
        <p:nvSpPr>
          <p:cNvPr id="17" name="Text 11"/>
          <p:cNvSpPr/>
          <p:nvPr/>
        </p:nvSpPr>
        <p:spPr>
          <a:xfrm>
            <a:off x="793790" y="549735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Use Safe APIs</a:t>
            </a:r>
            <a:endParaRPr lang="en-US" sz="2200" dirty="0"/>
          </a:p>
        </p:txBody>
      </p:sp>
      <p:sp>
        <p:nvSpPr>
          <p:cNvPr id="18" name="Text 12"/>
          <p:cNvSpPr/>
          <p:nvPr/>
        </p:nvSpPr>
        <p:spPr>
          <a:xfrm>
            <a:off x="793790" y="5987772"/>
            <a:ext cx="6407944" cy="1134427"/>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Avoid dangerous methods like </a:t>
            </a:r>
            <a:r>
              <a:rPr lang="en-US" sz="1750" dirty="0">
                <a:solidFill>
                  <a:srgbClr val="5B5F71"/>
                </a:solidFill>
                <a:highlight>
                  <a:srgbClr val="F2F2F2"/>
                </a:highlight>
                <a:latin typeface="Consolas" pitchFamily="34" charset="0"/>
                <a:ea typeface="Consolas" pitchFamily="34" charset="-122"/>
                <a:cs typeface="Consolas" pitchFamily="34" charset="-120"/>
              </a:rPr>
              <a:t>innerHTML</a:t>
            </a:r>
            <a:r>
              <a:rPr lang="en-US" sz="1750" dirty="0">
                <a:solidFill>
                  <a:srgbClr val="5B5F71"/>
                </a:solidFill>
                <a:latin typeface="Instrument Sans Medium" pitchFamily="34" charset="0"/>
                <a:ea typeface="Instrument Sans Medium" pitchFamily="34" charset="-122"/>
                <a:cs typeface="Instrument Sans Medium" pitchFamily="34" charset="-120"/>
              </a:rPr>
              <a:t>, </a:t>
            </a:r>
            <a:r>
              <a:rPr lang="en-US" sz="1750" dirty="0">
                <a:solidFill>
                  <a:srgbClr val="5B5F71"/>
                </a:solidFill>
                <a:highlight>
                  <a:srgbClr val="F2F2F2"/>
                </a:highlight>
                <a:latin typeface="Consolas" pitchFamily="34" charset="0"/>
                <a:ea typeface="Consolas" pitchFamily="34" charset="-122"/>
                <a:cs typeface="Consolas" pitchFamily="34" charset="-120"/>
              </a:rPr>
              <a:t>eval()</a:t>
            </a:r>
            <a:r>
              <a:rPr lang="en-US" sz="1750" dirty="0">
                <a:solidFill>
                  <a:srgbClr val="5B5F71"/>
                </a:solidFill>
                <a:latin typeface="Instrument Sans Medium" pitchFamily="34" charset="0"/>
                <a:ea typeface="Instrument Sans Medium" pitchFamily="34" charset="-122"/>
                <a:cs typeface="Instrument Sans Medium" pitchFamily="34" charset="-120"/>
              </a:rPr>
              <a:t>, and </a:t>
            </a:r>
            <a:r>
              <a:rPr lang="en-US" sz="1750" dirty="0">
                <a:solidFill>
                  <a:srgbClr val="5B5F71"/>
                </a:solidFill>
                <a:highlight>
                  <a:srgbClr val="F2F2F2"/>
                </a:highlight>
                <a:latin typeface="Consolas" pitchFamily="34" charset="0"/>
                <a:ea typeface="Consolas" pitchFamily="34" charset="-122"/>
                <a:cs typeface="Consolas" pitchFamily="34" charset="-120"/>
              </a:rPr>
              <a:t>document.write()</a:t>
            </a:r>
            <a:r>
              <a:rPr lang="en-US" sz="1750" dirty="0">
                <a:solidFill>
                  <a:srgbClr val="5B5F71"/>
                </a:solidFill>
                <a:latin typeface="Instrument Sans Medium" pitchFamily="34" charset="0"/>
                <a:ea typeface="Instrument Sans Medium" pitchFamily="34" charset="-122"/>
                <a:cs typeface="Instrument Sans Medium" pitchFamily="34" charset="-120"/>
              </a:rPr>
              <a:t>. Use safer alternatives like </a:t>
            </a:r>
            <a:r>
              <a:rPr lang="en-US" sz="1750" dirty="0">
                <a:solidFill>
                  <a:srgbClr val="5B5F71"/>
                </a:solidFill>
                <a:highlight>
                  <a:srgbClr val="F2F2F2"/>
                </a:highlight>
                <a:latin typeface="Consolas" pitchFamily="34" charset="0"/>
                <a:ea typeface="Consolas" pitchFamily="34" charset="-122"/>
                <a:cs typeface="Consolas" pitchFamily="34" charset="-120"/>
              </a:rPr>
              <a:t>textContent</a:t>
            </a:r>
            <a:r>
              <a:rPr lang="en-US" sz="1750" dirty="0">
                <a:solidFill>
                  <a:srgbClr val="5B5F71"/>
                </a:solidFill>
                <a:latin typeface="Instrument Sans Medium" pitchFamily="34" charset="0"/>
                <a:ea typeface="Instrument Sans Medium" pitchFamily="34" charset="-122"/>
                <a:cs typeface="Instrument Sans Medium" pitchFamily="34" charset="-120"/>
              </a:rPr>
              <a:t> and DOM methods.</a:t>
            </a:r>
            <a:endParaRPr lang="en-US" sz="1750" dirty="0"/>
          </a:p>
        </p:txBody>
      </p:sp>
      <p:sp>
        <p:nvSpPr>
          <p:cNvPr id="19" name="Text 13"/>
          <p:cNvSpPr/>
          <p:nvPr/>
        </p:nvSpPr>
        <p:spPr>
          <a:xfrm>
            <a:off x="7428548" y="496800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5B5F71"/>
                </a:solidFill>
                <a:latin typeface="Instrument Sans Light" pitchFamily="34" charset="0"/>
                <a:ea typeface="Instrument Sans Light" pitchFamily="34" charset="-122"/>
                <a:cs typeface="Instrument Sans Light" pitchFamily="34" charset="-120"/>
              </a:rPr>
              <a:t>05</a:t>
            </a:r>
            <a:endParaRPr lang="en-US" sz="1750" dirty="0"/>
          </a:p>
        </p:txBody>
      </p:sp>
      <p:pic>
        <p:nvPicPr>
          <p:cNvPr id="20" name="Image 4" descr="preencoded.png"/>
          <p:cNvPicPr>
            <a:picLocks noChangeAspect="1"/>
          </p:cNvPicPr>
          <p:nvPr/>
        </p:nvPicPr>
        <p:blipFill>
          <a:blip r:embed="rId4"/>
          <a:stretch>
            <a:fillRect/>
          </a:stretch>
        </p:blipFill>
        <p:spPr>
          <a:xfrm>
            <a:off x="7428548" y="5323046"/>
            <a:ext cx="6407944" cy="30480"/>
          </a:xfrm>
          <a:prstGeom prst="rect">
            <a:avLst/>
          </a:prstGeom>
        </p:spPr>
      </p:pic>
      <p:sp>
        <p:nvSpPr>
          <p:cNvPr id="21" name="Text 14"/>
          <p:cNvSpPr/>
          <p:nvPr/>
        </p:nvSpPr>
        <p:spPr>
          <a:xfrm>
            <a:off x="7428548" y="549735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B5F71"/>
                </a:solidFill>
                <a:latin typeface="Instrument Sans Semi Bold" pitchFamily="34" charset="0"/>
                <a:ea typeface="Instrument Sans Semi Bold" pitchFamily="34" charset="-122"/>
                <a:cs typeface="Instrument Sans Semi Bold" pitchFamily="34" charset="-120"/>
              </a:rPr>
              <a:t>Security Headers</a:t>
            </a:r>
            <a:endParaRPr lang="en-US" sz="2200" dirty="0"/>
          </a:p>
        </p:txBody>
      </p:sp>
      <p:sp>
        <p:nvSpPr>
          <p:cNvPr id="22" name="Text 15"/>
          <p:cNvSpPr/>
          <p:nvPr/>
        </p:nvSpPr>
        <p:spPr>
          <a:xfrm>
            <a:off x="7428548" y="5987772"/>
            <a:ext cx="6407944" cy="1088708"/>
          </a:xfrm>
          <a:prstGeom prst="rect">
            <a:avLst/>
          </a:prstGeom>
          <a:noFill/>
          <a:ln/>
        </p:spPr>
        <p:txBody>
          <a:bodyPr wrap="square" lIns="0" tIns="0" rIns="0" bIns="0" rtlCol="0" anchor="t"/>
          <a:lstStyle/>
          <a:p>
            <a:pPr marL="0" indent="0" algn="l">
              <a:lnSpc>
                <a:spcPts val="2850"/>
              </a:lnSpc>
              <a:buNone/>
            </a:pPr>
            <a:r>
              <a:rPr lang="en-US" sz="1750" dirty="0">
                <a:solidFill>
                  <a:srgbClr val="5B5F71"/>
                </a:solidFill>
                <a:latin typeface="Instrument Sans Medium" pitchFamily="34" charset="0"/>
                <a:ea typeface="Instrument Sans Medium" pitchFamily="34" charset="-122"/>
                <a:cs typeface="Instrument Sans Medium" pitchFamily="34" charset="-120"/>
              </a:rPr>
              <a:t>Enable HttpOnly and Secure flags on cookies, implement X-XSS-Protection, and use modern frameworks with built-in XSS protections.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128117" y="891421"/>
            <a:ext cx="2034183" cy="312896"/>
          </a:xfrm>
          <a:prstGeom prst="roundRect">
            <a:avLst>
              <a:gd name="adj" fmla="val 19258"/>
            </a:avLst>
          </a:prstGeom>
          <a:solidFill>
            <a:srgbClr val="E2E3E9"/>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35631" y="976193"/>
            <a:ext cx="143351" cy="143351"/>
          </a:xfrm>
          <a:prstGeom prst="rect">
            <a:avLst/>
          </a:prstGeom>
        </p:spPr>
      </p:pic>
      <p:sp>
        <p:nvSpPr>
          <p:cNvPr id="4" name="Text 1"/>
          <p:cNvSpPr/>
          <p:nvPr/>
        </p:nvSpPr>
        <p:spPr>
          <a:xfrm>
            <a:off x="1450658" y="945118"/>
            <a:ext cx="1604129" cy="205502"/>
          </a:xfrm>
          <a:prstGeom prst="rect">
            <a:avLst/>
          </a:prstGeom>
          <a:noFill/>
          <a:ln/>
        </p:spPr>
        <p:txBody>
          <a:bodyPr wrap="none" lIns="0" tIns="0" rIns="0" bIns="0" rtlCol="0" anchor="t"/>
          <a:lstStyle/>
          <a:p>
            <a:pPr marL="0" indent="0" algn="l">
              <a:lnSpc>
                <a:spcPts val="1600"/>
              </a:lnSpc>
              <a:buNone/>
            </a:pPr>
            <a:r>
              <a:rPr lang="en-US" sz="1100" dirty="0">
                <a:solidFill>
                  <a:srgbClr val="5B5F71"/>
                </a:solidFill>
                <a:latin typeface="Instrument Sans Medium" pitchFamily="34" charset="0"/>
                <a:ea typeface="Instrument Sans Medium" pitchFamily="34" charset="-122"/>
                <a:cs typeface="Instrument Sans Medium" pitchFamily="34" charset="-120"/>
              </a:rPr>
              <a:t>TECHNICAL DEEP DIVE</a:t>
            </a:r>
            <a:endParaRPr lang="en-US" sz="1100" dirty="0"/>
          </a:p>
        </p:txBody>
      </p:sp>
      <p:sp>
        <p:nvSpPr>
          <p:cNvPr id="5" name="Text 2"/>
          <p:cNvSpPr/>
          <p:nvPr/>
        </p:nvSpPr>
        <p:spPr>
          <a:xfrm>
            <a:off x="1128117" y="1260991"/>
            <a:ext cx="4483418" cy="560427"/>
          </a:xfrm>
          <a:prstGeom prst="rect">
            <a:avLst/>
          </a:prstGeom>
          <a:noFill/>
          <a:ln/>
        </p:spPr>
        <p:txBody>
          <a:bodyPr wrap="none" lIns="0" tIns="0" rIns="0" bIns="0" rtlCol="0" anchor="t"/>
          <a:lstStyle/>
          <a:p>
            <a:pPr marL="0" indent="0" algn="l">
              <a:lnSpc>
                <a:spcPts val="4400"/>
              </a:lnSpc>
              <a:buNone/>
            </a:pPr>
            <a:r>
              <a:rPr lang="en-US" sz="3500" dirty="0">
                <a:solidFill>
                  <a:srgbClr val="505468"/>
                </a:solidFill>
                <a:latin typeface="Instrument Sans Semi Bold" pitchFamily="34" charset="0"/>
                <a:ea typeface="Instrument Sans Semi Bold" pitchFamily="34" charset="-122"/>
                <a:cs typeface="Instrument Sans Semi Bold" pitchFamily="34" charset="-120"/>
              </a:rPr>
              <a:t>DOM-Based XSS</a:t>
            </a:r>
            <a:endParaRPr lang="en-US" sz="3500" dirty="0"/>
          </a:p>
        </p:txBody>
      </p:sp>
      <p:sp>
        <p:nvSpPr>
          <p:cNvPr id="6" name="Text 3"/>
          <p:cNvSpPr/>
          <p:nvPr/>
        </p:nvSpPr>
        <p:spPr>
          <a:xfrm>
            <a:off x="1128117" y="2175748"/>
            <a:ext cx="2689979" cy="336113"/>
          </a:xfrm>
          <a:prstGeom prst="rect">
            <a:avLst/>
          </a:prstGeom>
          <a:noFill/>
          <a:ln/>
        </p:spPr>
        <p:txBody>
          <a:bodyPr wrap="none" lIns="0" tIns="0" rIns="0" bIns="0" rtlCol="0" anchor="t"/>
          <a:lstStyle/>
          <a:p>
            <a:pPr marL="0" indent="0" algn="l">
              <a:lnSpc>
                <a:spcPts val="2600"/>
              </a:lnSpc>
              <a:buNone/>
            </a:pPr>
            <a:r>
              <a:rPr lang="en-US" sz="2100" dirty="0">
                <a:solidFill>
                  <a:srgbClr val="505468"/>
                </a:solidFill>
                <a:latin typeface="Instrument Sans Semi Bold" pitchFamily="34" charset="0"/>
                <a:ea typeface="Instrument Sans Semi Bold" pitchFamily="34" charset="-122"/>
                <a:cs typeface="Instrument Sans Semi Bold" pitchFamily="34" charset="-120"/>
              </a:rPr>
              <a:t>How It Works</a:t>
            </a:r>
            <a:endParaRPr lang="en-US" sz="2100" dirty="0"/>
          </a:p>
        </p:txBody>
      </p:sp>
      <p:sp>
        <p:nvSpPr>
          <p:cNvPr id="7" name="Text 4"/>
          <p:cNvSpPr/>
          <p:nvPr/>
        </p:nvSpPr>
        <p:spPr>
          <a:xfrm>
            <a:off x="1128117" y="2653546"/>
            <a:ext cx="5968365" cy="770453"/>
          </a:xfrm>
          <a:prstGeom prst="rect">
            <a:avLst/>
          </a:prstGeom>
          <a:noFill/>
          <a:ln/>
        </p:spPr>
        <p:txBody>
          <a:bodyPr wrap="square" lIns="0" tIns="0" rIns="0" bIns="0" rtlCol="0" anchor="t"/>
          <a:lstStyle/>
          <a:p>
            <a:pPr marL="0" indent="0" algn="l">
              <a:lnSpc>
                <a:spcPts val="2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DOM-Based XSS occurs when client-side JavaScript writes untrusted data from dangerous sources directly into the DOM without proper sanitization or validation.</a:t>
            </a:r>
            <a:endParaRPr lang="en-US" sz="1400" dirty="0"/>
          </a:p>
        </p:txBody>
      </p:sp>
      <p:sp>
        <p:nvSpPr>
          <p:cNvPr id="8" name="Text 5"/>
          <p:cNvSpPr/>
          <p:nvPr/>
        </p:nvSpPr>
        <p:spPr>
          <a:xfrm>
            <a:off x="1128117" y="3551515"/>
            <a:ext cx="5968365" cy="256818"/>
          </a:xfrm>
          <a:prstGeom prst="rect">
            <a:avLst/>
          </a:prstGeom>
          <a:noFill/>
          <a:ln/>
        </p:spPr>
        <p:txBody>
          <a:bodyPr wrap="none" lIns="0" tIns="0" rIns="0" bIns="0" rtlCol="0" anchor="t"/>
          <a:lstStyle/>
          <a:p>
            <a:pPr marL="0" indent="0" algn="l">
              <a:lnSpc>
                <a:spcPts val="2000"/>
              </a:lnSpc>
              <a:buNone/>
            </a:pPr>
            <a:r>
              <a:rPr lang="en-US" sz="1400" b="1" dirty="0">
                <a:solidFill>
                  <a:srgbClr val="5B5F71"/>
                </a:solidFill>
                <a:latin typeface="Instrument Sans Medium" pitchFamily="34" charset="0"/>
                <a:ea typeface="Instrument Sans Medium" pitchFamily="34" charset="-122"/>
                <a:cs typeface="Instrument Sans Medium" pitchFamily="34" charset="-120"/>
              </a:rPr>
              <a:t>Common vulnerable sources:</a:t>
            </a:r>
            <a:endParaRPr lang="en-US" sz="1400" dirty="0"/>
          </a:p>
        </p:txBody>
      </p:sp>
      <p:sp>
        <p:nvSpPr>
          <p:cNvPr id="9" name="Text 6"/>
          <p:cNvSpPr/>
          <p:nvPr/>
        </p:nvSpPr>
        <p:spPr>
          <a:xfrm>
            <a:off x="1128117" y="3935849"/>
            <a:ext cx="5968365" cy="1284503"/>
          </a:xfrm>
          <a:prstGeom prst="rect">
            <a:avLst/>
          </a:prstGeom>
          <a:noFill/>
          <a:ln/>
        </p:spPr>
        <p:txBody>
          <a:bodyPr wrap="square" lIns="0" tIns="0" rIns="0" bIns="0" rtlCol="0" anchor="t"/>
          <a:lstStyle/>
          <a:p>
            <a:pPr marL="342900" indent="-342900" algn="l">
              <a:lnSpc>
                <a:spcPts val="2000"/>
              </a:lnSpc>
              <a:buSzPct val="100000"/>
              <a:buChar char="•"/>
            </a:pPr>
            <a:r>
              <a:rPr lang="en-US" sz="1400" dirty="0">
                <a:solidFill>
                  <a:srgbClr val="5B5F71"/>
                </a:solidFill>
                <a:highlight>
                  <a:srgbClr val="F2F2F2"/>
                </a:highlight>
                <a:latin typeface="Consolas" pitchFamily="34" charset="0"/>
                <a:ea typeface="Consolas" pitchFamily="34" charset="-122"/>
                <a:cs typeface="Consolas" pitchFamily="34" charset="-120"/>
              </a:rPr>
              <a:t>document.location</a:t>
            </a:r>
            <a:r>
              <a:rPr lang="en-US" sz="1400" dirty="0">
                <a:solidFill>
                  <a:srgbClr val="5B5F71"/>
                </a:solidFill>
                <a:latin typeface="Instrument Sans Medium" pitchFamily="34" charset="0"/>
                <a:ea typeface="Instrument Sans Medium" pitchFamily="34" charset="-122"/>
                <a:cs typeface="Instrument Sans Medium" pitchFamily="34" charset="-120"/>
              </a:rPr>
              <a:t> and URL fragments</a:t>
            </a:r>
            <a:endParaRPr lang="en-US" sz="1400" dirty="0"/>
          </a:p>
          <a:p>
            <a:pPr marL="342900" indent="-342900" algn="l">
              <a:lnSpc>
                <a:spcPts val="2000"/>
              </a:lnSpc>
              <a:buSzPct val="100000"/>
              <a:buChar char="•"/>
            </a:pPr>
            <a:r>
              <a:rPr lang="en-US" sz="1400" dirty="0">
                <a:solidFill>
                  <a:srgbClr val="5B5F71"/>
                </a:solidFill>
                <a:highlight>
                  <a:srgbClr val="F2F2F2"/>
                </a:highlight>
                <a:latin typeface="Consolas" pitchFamily="34" charset="0"/>
                <a:ea typeface="Consolas" pitchFamily="34" charset="-122"/>
                <a:cs typeface="Consolas" pitchFamily="34" charset="-120"/>
              </a:rPr>
              <a:t>document.referrer</a:t>
            </a:r>
            <a:endParaRPr lang="en-US" sz="1400" dirty="0"/>
          </a:p>
          <a:p>
            <a:pPr marL="342900" indent="-342900" algn="l">
              <a:lnSpc>
                <a:spcPts val="2000"/>
              </a:lnSpc>
              <a:buSzPct val="100000"/>
              <a:buChar char="•"/>
            </a:pPr>
            <a:r>
              <a:rPr lang="en-US" sz="1400" dirty="0">
                <a:solidFill>
                  <a:srgbClr val="5B5F71"/>
                </a:solidFill>
                <a:highlight>
                  <a:srgbClr val="F2F2F2"/>
                </a:highlight>
                <a:latin typeface="Consolas" pitchFamily="34" charset="0"/>
                <a:ea typeface="Consolas" pitchFamily="34" charset="-122"/>
                <a:cs typeface="Consolas" pitchFamily="34" charset="-120"/>
              </a:rPr>
              <a:t>window.name</a:t>
            </a:r>
            <a:endParaRPr lang="en-US" sz="1400" dirty="0"/>
          </a:p>
          <a:p>
            <a:pPr marL="342900" indent="-342900" algn="l">
              <a:lnSpc>
                <a:spcPts val="2000"/>
              </a:lnSpc>
              <a:buSzPct val="100000"/>
              <a:buChar char="•"/>
            </a:pPr>
            <a:r>
              <a:rPr lang="en-US" sz="1400" dirty="0">
                <a:solidFill>
                  <a:srgbClr val="5B5F71"/>
                </a:solidFill>
                <a:highlight>
                  <a:srgbClr val="F2F2F2"/>
                </a:highlight>
                <a:latin typeface="Consolas" pitchFamily="34" charset="0"/>
                <a:ea typeface="Consolas" pitchFamily="34" charset="-122"/>
                <a:cs typeface="Consolas" pitchFamily="34" charset="-120"/>
              </a:rPr>
              <a:t>postMessage</a:t>
            </a:r>
            <a:r>
              <a:rPr lang="en-US" sz="1400" dirty="0">
                <a:solidFill>
                  <a:srgbClr val="5B5F71"/>
                </a:solidFill>
                <a:latin typeface="Instrument Sans Medium" pitchFamily="34" charset="0"/>
                <a:ea typeface="Instrument Sans Medium" pitchFamily="34" charset="-122"/>
                <a:cs typeface="Instrument Sans Medium" pitchFamily="34" charset="-120"/>
              </a:rPr>
              <a:t> events</a:t>
            </a:r>
            <a:endParaRPr lang="en-US" sz="1400" dirty="0"/>
          </a:p>
          <a:p>
            <a:pPr marL="342900" indent="-342900" algn="l">
              <a:lnSpc>
                <a:spcPts val="2000"/>
              </a:lnSpc>
              <a:buSzPct val="100000"/>
              <a:buChar char="•"/>
            </a:pPr>
            <a:r>
              <a:rPr lang="en-US" sz="1400" dirty="0">
                <a:solidFill>
                  <a:srgbClr val="5B5F71"/>
                </a:solidFill>
                <a:latin typeface="Instrument Sans Medium" pitchFamily="34" charset="0"/>
                <a:ea typeface="Instrument Sans Medium" pitchFamily="34" charset="-122"/>
                <a:cs typeface="Instrument Sans Medium" pitchFamily="34" charset="-120"/>
              </a:rPr>
              <a:t>Web storage (localStorage, sessionStorage)</a:t>
            </a:r>
            <a:endParaRPr lang="en-US" sz="1400" dirty="0"/>
          </a:p>
        </p:txBody>
      </p:sp>
      <p:sp>
        <p:nvSpPr>
          <p:cNvPr id="10" name="Text 7"/>
          <p:cNvSpPr/>
          <p:nvPr/>
        </p:nvSpPr>
        <p:spPr>
          <a:xfrm>
            <a:off x="1128117" y="5347868"/>
            <a:ext cx="5968365" cy="256818"/>
          </a:xfrm>
          <a:prstGeom prst="rect">
            <a:avLst/>
          </a:prstGeom>
          <a:noFill/>
          <a:ln/>
        </p:spPr>
        <p:txBody>
          <a:bodyPr wrap="none" lIns="0" tIns="0" rIns="0" bIns="0" rtlCol="0" anchor="t"/>
          <a:lstStyle/>
          <a:p>
            <a:pPr marL="0" indent="0" algn="l">
              <a:lnSpc>
                <a:spcPts val="2000"/>
              </a:lnSpc>
              <a:buNone/>
            </a:pPr>
            <a:r>
              <a:rPr lang="en-US" sz="1400" b="1" dirty="0">
                <a:solidFill>
                  <a:srgbClr val="5B5F71"/>
                </a:solidFill>
                <a:latin typeface="Instrument Sans Medium" pitchFamily="34" charset="0"/>
                <a:ea typeface="Instrument Sans Medium" pitchFamily="34" charset="-122"/>
                <a:cs typeface="Instrument Sans Medium" pitchFamily="34" charset="-120"/>
              </a:rPr>
              <a:t>Dangerous sinks include:</a:t>
            </a:r>
            <a:endParaRPr lang="en-US" sz="1400" dirty="0"/>
          </a:p>
        </p:txBody>
      </p:sp>
      <p:sp>
        <p:nvSpPr>
          <p:cNvPr id="11" name="Text 8"/>
          <p:cNvSpPr/>
          <p:nvPr/>
        </p:nvSpPr>
        <p:spPr>
          <a:xfrm>
            <a:off x="1128117" y="5732202"/>
            <a:ext cx="5968365" cy="1027603"/>
          </a:xfrm>
          <a:prstGeom prst="rect">
            <a:avLst/>
          </a:prstGeom>
          <a:noFill/>
          <a:ln/>
        </p:spPr>
        <p:txBody>
          <a:bodyPr wrap="square" lIns="0" tIns="0" rIns="0" bIns="0" rtlCol="0" anchor="t"/>
          <a:lstStyle/>
          <a:p>
            <a:pPr marL="342900" indent="-342900" algn="l">
              <a:lnSpc>
                <a:spcPts val="2000"/>
              </a:lnSpc>
              <a:buSzPct val="100000"/>
              <a:buChar char="•"/>
            </a:pPr>
            <a:r>
              <a:rPr lang="en-US" sz="1400" dirty="0">
                <a:solidFill>
                  <a:srgbClr val="5B5F71"/>
                </a:solidFill>
                <a:highlight>
                  <a:srgbClr val="F2F2F2"/>
                </a:highlight>
                <a:latin typeface="Consolas" pitchFamily="34" charset="0"/>
                <a:ea typeface="Consolas" pitchFamily="34" charset="-122"/>
                <a:cs typeface="Consolas" pitchFamily="34" charset="-120"/>
              </a:rPr>
              <a:t>innerHTML</a:t>
            </a:r>
            <a:r>
              <a:rPr lang="en-US" sz="1400" dirty="0">
                <a:solidFill>
                  <a:srgbClr val="5B5F71"/>
                </a:solidFill>
                <a:latin typeface="Instrument Sans Medium" pitchFamily="34" charset="0"/>
                <a:ea typeface="Instrument Sans Medium" pitchFamily="34" charset="-122"/>
                <a:cs typeface="Instrument Sans Medium" pitchFamily="34" charset="-120"/>
              </a:rPr>
              <a:t>, </a:t>
            </a:r>
            <a:r>
              <a:rPr lang="en-US" sz="1400" dirty="0">
                <a:solidFill>
                  <a:srgbClr val="5B5F71"/>
                </a:solidFill>
                <a:highlight>
                  <a:srgbClr val="F2F2F2"/>
                </a:highlight>
                <a:latin typeface="Consolas" pitchFamily="34" charset="0"/>
                <a:ea typeface="Consolas" pitchFamily="34" charset="-122"/>
                <a:cs typeface="Consolas" pitchFamily="34" charset="-120"/>
              </a:rPr>
              <a:t>outerHTML</a:t>
            </a:r>
            <a:endParaRPr lang="en-US" sz="1400" dirty="0"/>
          </a:p>
          <a:p>
            <a:pPr marL="342900" indent="-342900" algn="l">
              <a:lnSpc>
                <a:spcPts val="2000"/>
              </a:lnSpc>
              <a:buSzPct val="100000"/>
              <a:buChar char="•"/>
            </a:pPr>
            <a:r>
              <a:rPr lang="en-US" sz="1400" dirty="0">
                <a:solidFill>
                  <a:srgbClr val="5B5F71"/>
                </a:solidFill>
                <a:highlight>
                  <a:srgbClr val="F2F2F2"/>
                </a:highlight>
                <a:latin typeface="Consolas" pitchFamily="34" charset="0"/>
                <a:ea typeface="Consolas" pitchFamily="34" charset="-122"/>
                <a:cs typeface="Consolas" pitchFamily="34" charset="-120"/>
              </a:rPr>
              <a:t>document.write()</a:t>
            </a:r>
            <a:endParaRPr lang="en-US" sz="1400" dirty="0"/>
          </a:p>
          <a:p>
            <a:pPr marL="342900" indent="-342900" algn="l">
              <a:lnSpc>
                <a:spcPts val="2000"/>
              </a:lnSpc>
              <a:buSzPct val="100000"/>
              <a:buChar char="•"/>
            </a:pPr>
            <a:r>
              <a:rPr lang="en-US" sz="1400" dirty="0">
                <a:solidFill>
                  <a:srgbClr val="5B5F71"/>
                </a:solidFill>
                <a:highlight>
                  <a:srgbClr val="F2F2F2"/>
                </a:highlight>
                <a:latin typeface="Consolas" pitchFamily="34" charset="0"/>
                <a:ea typeface="Consolas" pitchFamily="34" charset="-122"/>
                <a:cs typeface="Consolas" pitchFamily="34" charset="-120"/>
              </a:rPr>
              <a:t>eval()</a:t>
            </a:r>
            <a:r>
              <a:rPr lang="en-US" sz="1400" dirty="0">
                <a:solidFill>
                  <a:srgbClr val="5B5F71"/>
                </a:solidFill>
                <a:latin typeface="Instrument Sans Medium" pitchFamily="34" charset="0"/>
                <a:ea typeface="Instrument Sans Medium" pitchFamily="34" charset="-122"/>
                <a:cs typeface="Instrument Sans Medium" pitchFamily="34" charset="-120"/>
              </a:rPr>
              <a:t>, </a:t>
            </a:r>
            <a:r>
              <a:rPr lang="en-US" sz="1400" dirty="0">
                <a:solidFill>
                  <a:srgbClr val="5B5F71"/>
                </a:solidFill>
                <a:highlight>
                  <a:srgbClr val="F2F2F2"/>
                </a:highlight>
                <a:latin typeface="Consolas" pitchFamily="34" charset="0"/>
                <a:ea typeface="Consolas" pitchFamily="34" charset="-122"/>
                <a:cs typeface="Consolas" pitchFamily="34" charset="-120"/>
              </a:rPr>
              <a:t>setTimeout()</a:t>
            </a:r>
            <a:r>
              <a:rPr lang="en-US" sz="1400" dirty="0">
                <a:solidFill>
                  <a:srgbClr val="5B5F71"/>
                </a:solidFill>
                <a:latin typeface="Instrument Sans Medium" pitchFamily="34" charset="0"/>
                <a:ea typeface="Instrument Sans Medium" pitchFamily="34" charset="-122"/>
                <a:cs typeface="Instrument Sans Medium" pitchFamily="34" charset="-120"/>
              </a:rPr>
              <a:t>, </a:t>
            </a:r>
            <a:r>
              <a:rPr lang="en-US" sz="1400" dirty="0">
                <a:solidFill>
                  <a:srgbClr val="5B5F71"/>
                </a:solidFill>
                <a:highlight>
                  <a:srgbClr val="F2F2F2"/>
                </a:highlight>
                <a:latin typeface="Consolas" pitchFamily="34" charset="0"/>
                <a:ea typeface="Consolas" pitchFamily="34" charset="-122"/>
                <a:cs typeface="Consolas" pitchFamily="34" charset="-120"/>
              </a:rPr>
              <a:t>setInterval()</a:t>
            </a:r>
            <a:endParaRPr lang="en-US" sz="1400" dirty="0"/>
          </a:p>
          <a:p>
            <a:pPr marL="342900" indent="-342900" algn="l">
              <a:lnSpc>
                <a:spcPts val="2000"/>
              </a:lnSpc>
              <a:buSzPct val="100000"/>
              <a:buChar char="•"/>
            </a:pPr>
            <a:r>
              <a:rPr lang="en-US" sz="1400" dirty="0">
                <a:solidFill>
                  <a:srgbClr val="5B5F71"/>
                </a:solidFill>
                <a:highlight>
                  <a:srgbClr val="F2F2F2"/>
                </a:highlight>
                <a:latin typeface="Consolas" pitchFamily="34" charset="0"/>
                <a:ea typeface="Consolas" pitchFamily="34" charset="-122"/>
                <a:cs typeface="Consolas" pitchFamily="34" charset="-120"/>
              </a:rPr>
              <a:t>element.setAttribute()</a:t>
            </a:r>
            <a:endParaRPr lang="en-US" sz="1400" dirty="0"/>
          </a:p>
        </p:txBody>
      </p:sp>
      <p:sp>
        <p:nvSpPr>
          <p:cNvPr id="12" name="Shape 9"/>
          <p:cNvSpPr/>
          <p:nvPr/>
        </p:nvSpPr>
        <p:spPr>
          <a:xfrm>
            <a:off x="7412474" y="2034064"/>
            <a:ext cx="6226493" cy="5304115"/>
          </a:xfrm>
          <a:prstGeom prst="roundRect">
            <a:avLst>
              <a:gd name="adj" fmla="val 2434"/>
            </a:avLst>
          </a:prstGeom>
          <a:solidFill>
            <a:srgbClr val="505468">
              <a:alpha val="95000"/>
            </a:srgbClr>
          </a:solidFill>
          <a:ln/>
        </p:spPr>
      </p:sp>
      <p:sp>
        <p:nvSpPr>
          <p:cNvPr id="13" name="Text 10"/>
          <p:cNvSpPr/>
          <p:nvPr/>
        </p:nvSpPr>
        <p:spPr>
          <a:xfrm>
            <a:off x="7591782" y="2175748"/>
            <a:ext cx="2719387" cy="280154"/>
          </a:xfrm>
          <a:prstGeom prst="rect">
            <a:avLst/>
          </a:prstGeom>
          <a:noFill/>
          <a:ln/>
        </p:spPr>
        <p:txBody>
          <a:bodyPr wrap="none" lIns="0" tIns="0" rIns="0" bIns="0" rtlCol="0" anchor="t"/>
          <a:lstStyle/>
          <a:p>
            <a:pPr marL="0" indent="0" algn="l">
              <a:lnSpc>
                <a:spcPts val="2200"/>
              </a:lnSpc>
              <a:buNone/>
            </a:pPr>
            <a:r>
              <a:rPr lang="en-US" sz="1750" dirty="0">
                <a:solidFill>
                  <a:srgbClr val="FFFFFF"/>
                </a:solidFill>
                <a:latin typeface="Instrument Sans Semi Bold" pitchFamily="34" charset="0"/>
                <a:ea typeface="Instrument Sans Semi Bold" pitchFamily="34" charset="-122"/>
                <a:cs typeface="Instrument Sans Semi Bold" pitchFamily="34" charset="-120"/>
              </a:rPr>
              <a:t>Vulnerable Code Example</a:t>
            </a:r>
            <a:endParaRPr lang="en-US" sz="1750" dirty="0"/>
          </a:p>
        </p:txBody>
      </p:sp>
      <p:sp>
        <p:nvSpPr>
          <p:cNvPr id="14" name="Shape 11"/>
          <p:cNvSpPr/>
          <p:nvPr/>
        </p:nvSpPr>
        <p:spPr>
          <a:xfrm>
            <a:off x="7591782" y="2615327"/>
            <a:ext cx="5867876" cy="3093839"/>
          </a:xfrm>
          <a:prstGeom prst="roundRect">
            <a:avLst>
              <a:gd name="adj" fmla="val 2435"/>
            </a:avLst>
          </a:prstGeom>
          <a:solidFill>
            <a:srgbClr val="5D6175"/>
          </a:solidFill>
          <a:ln/>
        </p:spPr>
      </p:sp>
      <p:sp>
        <p:nvSpPr>
          <p:cNvPr id="15" name="Shape 12"/>
          <p:cNvSpPr/>
          <p:nvPr/>
        </p:nvSpPr>
        <p:spPr>
          <a:xfrm>
            <a:off x="7582853" y="2615327"/>
            <a:ext cx="5885736" cy="3093839"/>
          </a:xfrm>
          <a:prstGeom prst="roundRect">
            <a:avLst>
              <a:gd name="adj" fmla="val 869"/>
            </a:avLst>
          </a:prstGeom>
          <a:solidFill>
            <a:srgbClr val="5D6175"/>
          </a:solidFill>
          <a:ln/>
        </p:spPr>
      </p:sp>
      <p:sp>
        <p:nvSpPr>
          <p:cNvPr id="16" name="Text 13"/>
          <p:cNvSpPr/>
          <p:nvPr/>
        </p:nvSpPr>
        <p:spPr>
          <a:xfrm>
            <a:off x="7762161" y="2749748"/>
            <a:ext cx="5527119" cy="2824996"/>
          </a:xfrm>
          <a:prstGeom prst="rect">
            <a:avLst/>
          </a:prstGeom>
          <a:noFill/>
          <a:ln/>
        </p:spPr>
        <p:txBody>
          <a:bodyPr wrap="square" lIns="0" tIns="0" rIns="0" bIns="0" rtlCol="0" anchor="t"/>
          <a:lstStyle/>
          <a:p>
            <a:pPr marL="0" indent="0" algn="l">
              <a:lnSpc>
                <a:spcPts val="2000"/>
              </a:lnSpc>
              <a:buNone/>
            </a:pPr>
            <a:r>
              <a:rPr lang="en-US" sz="1400" dirty="0">
                <a:solidFill>
                  <a:srgbClr val="FFFFFF"/>
                </a:solidFill>
                <a:highlight>
                  <a:srgbClr val="5D6175"/>
                </a:highlight>
                <a:latin typeface="Consolas Medium" pitchFamily="34" charset="0"/>
                <a:ea typeface="Consolas Medium" pitchFamily="34" charset="-122"/>
                <a:cs typeface="Consolas Medium" pitchFamily="34" charset="-120"/>
              </a:rPr>
              <a:t>// Vulnerable code</a:t>
            </a:r>
            <a:endParaRPr lang="en-US" sz="1400" dirty="0"/>
          </a:p>
          <a:p>
            <a:pPr marL="0" indent="0" algn="l">
              <a:lnSpc>
                <a:spcPts val="2000"/>
              </a:lnSpc>
              <a:buNone/>
            </a:pPr>
            <a:r>
              <a:rPr lang="en-US" sz="1400" dirty="0">
                <a:solidFill>
                  <a:srgbClr val="FFFFFF"/>
                </a:solidFill>
                <a:highlight>
                  <a:srgbClr val="5D6175"/>
                </a:highlight>
                <a:latin typeface="Consolas Medium" pitchFamily="34" charset="0"/>
                <a:ea typeface="Consolas Medium" pitchFamily="34" charset="-122"/>
                <a:cs typeface="Consolas Medium" pitchFamily="34" charset="-120"/>
              </a:rPr>
              <a:t>var username = </a:t>
            </a:r>
            <a:endParaRPr lang="en-US" sz="1400" dirty="0"/>
          </a:p>
          <a:p>
            <a:pPr marL="0" indent="0" algn="l">
              <a:lnSpc>
                <a:spcPts val="2000"/>
              </a:lnSpc>
              <a:buNone/>
            </a:pPr>
            <a:r>
              <a:rPr lang="en-US" sz="1400" dirty="0">
                <a:solidFill>
                  <a:srgbClr val="FFFFFF"/>
                </a:solidFill>
                <a:highlight>
                  <a:srgbClr val="5D6175"/>
                </a:highlight>
                <a:latin typeface="Consolas Medium" pitchFamily="34" charset="0"/>
                <a:ea typeface="Consolas Medium" pitchFamily="34" charset="-122"/>
                <a:cs typeface="Consolas Medium" pitchFamily="34" charset="-120"/>
              </a:rPr>
              <a:t>  location.hash.substring(1);</a:t>
            </a:r>
            <a:endParaRPr lang="en-US" sz="1400" dirty="0"/>
          </a:p>
          <a:p>
            <a:pPr marL="0" indent="0" algn="l">
              <a:lnSpc>
                <a:spcPts val="2000"/>
              </a:lnSpc>
              <a:buNone/>
            </a:pPr>
            <a:r>
              <a:rPr lang="en-US" sz="1400" dirty="0">
                <a:solidFill>
                  <a:srgbClr val="FFFFFF"/>
                </a:solidFill>
                <a:highlight>
                  <a:srgbClr val="5D6175"/>
                </a:highlight>
                <a:latin typeface="Consolas Medium" pitchFamily="34" charset="0"/>
                <a:ea typeface="Consolas Medium" pitchFamily="34" charset="-122"/>
                <a:cs typeface="Consolas Medium" pitchFamily="34" charset="-120"/>
              </a:rPr>
              <a:t>  </a:t>
            </a:r>
            <a:endParaRPr lang="en-US" sz="1400" dirty="0"/>
          </a:p>
          <a:p>
            <a:pPr marL="0" indent="0" algn="l">
              <a:lnSpc>
                <a:spcPts val="2000"/>
              </a:lnSpc>
              <a:buNone/>
            </a:pPr>
            <a:r>
              <a:rPr lang="en-US" sz="1400" dirty="0">
                <a:solidFill>
                  <a:srgbClr val="FFFFFF"/>
                </a:solidFill>
                <a:highlight>
                  <a:srgbClr val="5D6175"/>
                </a:highlight>
                <a:latin typeface="Consolas Medium" pitchFamily="34" charset="0"/>
                <a:ea typeface="Consolas Medium" pitchFamily="34" charset="-122"/>
                <a:cs typeface="Consolas Medium" pitchFamily="34" charset="-120"/>
              </a:rPr>
              <a:t>document.getElementById('welcome')</a:t>
            </a:r>
            <a:endParaRPr lang="en-US" sz="1400" dirty="0"/>
          </a:p>
          <a:p>
            <a:pPr marL="0" indent="0" algn="l">
              <a:lnSpc>
                <a:spcPts val="2000"/>
              </a:lnSpc>
              <a:buNone/>
            </a:pPr>
            <a:r>
              <a:rPr lang="en-US" sz="1400" dirty="0">
                <a:solidFill>
                  <a:srgbClr val="FFFFFF"/>
                </a:solidFill>
                <a:highlight>
                  <a:srgbClr val="5D6175"/>
                </a:highlight>
                <a:latin typeface="Consolas Medium" pitchFamily="34" charset="0"/>
                <a:ea typeface="Consolas Medium" pitchFamily="34" charset="-122"/>
                <a:cs typeface="Consolas Medium" pitchFamily="34" charset="-120"/>
              </a:rPr>
              <a:t>  .innerHTML = </a:t>
            </a:r>
            <a:endParaRPr lang="en-US" sz="1400" dirty="0"/>
          </a:p>
          <a:p>
            <a:pPr marL="0" indent="0" algn="l">
              <a:lnSpc>
                <a:spcPts val="2000"/>
              </a:lnSpc>
              <a:buNone/>
            </a:pPr>
            <a:r>
              <a:rPr lang="en-US" sz="1400" dirty="0">
                <a:solidFill>
                  <a:srgbClr val="FFFFFF"/>
                </a:solidFill>
                <a:highlight>
                  <a:srgbClr val="5D6175"/>
                </a:highlight>
                <a:latin typeface="Consolas Medium" pitchFamily="34" charset="0"/>
                <a:ea typeface="Consolas Medium" pitchFamily="34" charset="-122"/>
                <a:cs typeface="Consolas Medium" pitchFamily="34" charset="-120"/>
              </a:rPr>
              <a:t>  'Hello ' + username;</a:t>
            </a:r>
            <a:endParaRPr lang="en-US" sz="1400" dirty="0"/>
          </a:p>
          <a:p>
            <a:pPr marL="0" indent="0" algn="l">
              <a:lnSpc>
                <a:spcPts val="2000"/>
              </a:lnSpc>
              <a:buNone/>
            </a:pPr>
            <a:endParaRPr lang="en-US" sz="1400" dirty="0"/>
          </a:p>
          <a:p>
            <a:pPr marL="0" indent="0" algn="l">
              <a:lnSpc>
                <a:spcPts val="2000"/>
              </a:lnSpc>
              <a:buNone/>
            </a:pPr>
            <a:r>
              <a:rPr lang="en-US" sz="1400" dirty="0">
                <a:solidFill>
                  <a:srgbClr val="FFFFFF"/>
                </a:solidFill>
                <a:highlight>
                  <a:srgbClr val="5D6175"/>
                </a:highlight>
                <a:latin typeface="Consolas Medium" pitchFamily="34" charset="0"/>
                <a:ea typeface="Consolas Medium" pitchFamily="34" charset="-122"/>
                <a:cs typeface="Consolas Medium" pitchFamily="34" charset="-120"/>
              </a:rPr>
              <a:t>// Attacker URL:</a:t>
            </a:r>
            <a:endParaRPr lang="en-US" sz="1400" dirty="0"/>
          </a:p>
          <a:p>
            <a:pPr marL="0" indent="0" algn="l">
              <a:lnSpc>
                <a:spcPts val="2000"/>
              </a:lnSpc>
              <a:buNone/>
            </a:pPr>
            <a:r>
              <a:rPr lang="en-US" sz="1400" dirty="0">
                <a:solidFill>
                  <a:srgbClr val="FFFFFF"/>
                </a:solidFill>
                <a:highlight>
                  <a:srgbClr val="5D6175"/>
                </a:highlight>
                <a:latin typeface="Consolas Medium" pitchFamily="34" charset="0"/>
                <a:ea typeface="Consolas Medium" pitchFamily="34" charset="-122"/>
                <a:cs typeface="Consolas Medium" pitchFamily="34" charset="-120"/>
              </a:rPr>
              <a:t>// site.com#&lt;img src=x </a:t>
            </a:r>
            <a:endParaRPr lang="en-US" sz="1400" dirty="0"/>
          </a:p>
          <a:p>
            <a:pPr marL="0" indent="0" algn="l">
              <a:lnSpc>
                <a:spcPts val="2000"/>
              </a:lnSpc>
              <a:buNone/>
            </a:pPr>
            <a:r>
              <a:rPr lang="en-US" sz="1400" dirty="0">
                <a:solidFill>
                  <a:srgbClr val="FFFFFF"/>
                </a:solidFill>
                <a:highlight>
                  <a:srgbClr val="5D6175"/>
                </a:highlight>
                <a:latin typeface="Consolas Medium" pitchFamily="34" charset="0"/>
                <a:ea typeface="Consolas Medium" pitchFamily="34" charset="-122"/>
                <a:cs typeface="Consolas Medium" pitchFamily="34" charset="-120"/>
              </a:rPr>
              <a:t>// onerror=alert('XSS')&gt;</a:t>
            </a:r>
            <a:endParaRPr lang="en-US" sz="1400" dirty="0"/>
          </a:p>
        </p:txBody>
      </p:sp>
      <p:sp>
        <p:nvSpPr>
          <p:cNvPr id="17" name="Text 14"/>
          <p:cNvSpPr/>
          <p:nvPr/>
        </p:nvSpPr>
        <p:spPr>
          <a:xfrm>
            <a:off x="7591782" y="5579445"/>
            <a:ext cx="5867876" cy="513636"/>
          </a:xfrm>
          <a:prstGeom prst="rect">
            <a:avLst/>
          </a:prstGeom>
          <a:noFill/>
          <a:ln/>
        </p:spPr>
        <p:txBody>
          <a:bodyPr wrap="square" lIns="0" tIns="0" rIns="0" bIns="0" rtlCol="0" anchor="t"/>
          <a:lstStyle/>
          <a:p>
            <a:pPr marL="0" indent="0" algn="l">
              <a:lnSpc>
                <a:spcPts val="2000"/>
              </a:lnSpc>
              <a:buNone/>
            </a:pPr>
            <a:r>
              <a:rPr lang="en-US" sz="1400" dirty="0">
                <a:solidFill>
                  <a:srgbClr val="FFFFFF"/>
                </a:solidFill>
                <a:latin typeface="Instrument Sans Medium" pitchFamily="34" charset="0"/>
                <a:ea typeface="Instrument Sans Medium" pitchFamily="34" charset="-122"/>
                <a:cs typeface="Instrument Sans Medium" pitchFamily="34" charset="-120"/>
              </a:rPr>
              <a:t>This code takes user input from the URL hash and directly writes it to the page using innerHTML, creating an XSS vulnerability.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526</Words>
  <Application>Microsoft Office PowerPoint</Application>
  <PresentationFormat>Custom</PresentationFormat>
  <Paragraphs>63</Paragraphs>
  <Slides>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Instrument Sans Medium</vt:lpstr>
      <vt:lpstr>Consolas</vt:lpstr>
      <vt:lpstr>Instrument Sans Semi Bold</vt:lpstr>
      <vt:lpstr>Consolas Medium</vt:lpstr>
      <vt:lpstr>Instrument Sans Light</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shrishanth battu</cp:lastModifiedBy>
  <cp:revision>3</cp:revision>
  <dcterms:created xsi:type="dcterms:W3CDTF">2026-01-31T11:05:28Z</dcterms:created>
  <dcterms:modified xsi:type="dcterms:W3CDTF">2026-01-31T11:39:12Z</dcterms:modified>
</cp:coreProperties>
</file>