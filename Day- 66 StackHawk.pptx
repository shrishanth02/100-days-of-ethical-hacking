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Funnel Display" panose="020B0604020202020204" charset="0"/>
      <p:regular r:id="rId17"/>
    </p:embeddedFont>
    <p:embeddedFont>
      <p:font typeface="Funnel San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808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668780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StackHawk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2731770"/>
            <a:ext cx="7468553" cy="3829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StackHawk is a commercial DAST (Dynamic Application Security Testing) platform that automates vulnerability scanning for web apps during CI/CD pipelines or manual scans. It crawls your target like a browser, injects payloads for OWASP Top 10 issues (XSS, SQLi, SSRF, etc.), and generates reports with CVSS scores and fix suggestions. Integrates well with GitHub Actions, Jenkins, or runs via CLI/Docker.</a:t>
            </a:r>
            <a:endParaRPr lang="en-US" sz="2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359" y="876657"/>
            <a:ext cx="4180761" cy="522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Quick Setup &amp; Scan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77359" y="1728668"/>
            <a:ext cx="345197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1. CLI Install </a:t>
            </a:r>
            <a:r>
              <a:rPr lang="en-US" sz="1950" dirty="0">
                <a:solidFill>
                  <a:srgbClr val="E282B7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(Kali-compatible)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77359" y="2190512"/>
            <a:ext cx="6321147" cy="1999178"/>
          </a:xfrm>
          <a:prstGeom prst="roundRect">
            <a:avLst>
              <a:gd name="adj" fmla="val 3733"/>
            </a:avLst>
          </a:prstGeom>
          <a:solidFill>
            <a:srgbClr val="EDE8DE"/>
          </a:solidFill>
          <a:ln/>
        </p:spPr>
      </p:sp>
      <p:sp>
        <p:nvSpPr>
          <p:cNvPr id="5" name="Shape 3"/>
          <p:cNvSpPr/>
          <p:nvPr/>
        </p:nvSpPr>
        <p:spPr>
          <a:xfrm>
            <a:off x="768548" y="2190512"/>
            <a:ext cx="6338768" cy="1999178"/>
          </a:xfrm>
          <a:prstGeom prst="roundRect">
            <a:avLst>
              <a:gd name="adj" fmla="val 1333"/>
            </a:avLst>
          </a:prstGeom>
          <a:solidFill>
            <a:srgbClr val="EDE8DE"/>
          </a:solidFill>
          <a:ln/>
        </p:spPr>
      </p:sp>
      <p:sp>
        <p:nvSpPr>
          <p:cNvPr id="6" name="Text 4"/>
          <p:cNvSpPr/>
          <p:nvPr/>
        </p:nvSpPr>
        <p:spPr>
          <a:xfrm>
            <a:off x="946190" y="2323743"/>
            <a:ext cx="5983486" cy="1732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https://get.stackhawk.com | sh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hawk scan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 Docker: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--rm -it \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-v $(pwd):/hawk \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stackhawk/hawk:latest scan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539514" y="1728668"/>
            <a:ext cx="5914787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2. Config for Authenticated Scans </a:t>
            </a:r>
            <a:r>
              <a:rPr lang="en-US" sz="1950" dirty="0">
                <a:solidFill>
                  <a:srgbClr val="E282B7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(stackhawk.yml)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539514" y="2190512"/>
            <a:ext cx="6321147" cy="4226957"/>
          </a:xfrm>
          <a:prstGeom prst="roundRect">
            <a:avLst>
              <a:gd name="adj" fmla="val 1766"/>
            </a:avLst>
          </a:prstGeom>
          <a:solidFill>
            <a:srgbClr val="EDE8DE"/>
          </a:solidFill>
          <a:ln/>
        </p:spPr>
      </p:sp>
      <p:sp>
        <p:nvSpPr>
          <p:cNvPr id="9" name="Shape 7"/>
          <p:cNvSpPr/>
          <p:nvPr/>
        </p:nvSpPr>
        <p:spPr>
          <a:xfrm>
            <a:off x="7530703" y="2190512"/>
            <a:ext cx="6338768" cy="4226957"/>
          </a:xfrm>
          <a:prstGeom prst="roundRect">
            <a:avLst>
              <a:gd name="adj" fmla="val 631"/>
            </a:avLst>
          </a:prstGeom>
          <a:solidFill>
            <a:srgbClr val="EDE8DE"/>
          </a:solidFill>
          <a:ln/>
        </p:spPr>
      </p:sp>
      <p:sp>
        <p:nvSpPr>
          <p:cNvPr id="10" name="Text 8"/>
          <p:cNvSpPr/>
          <p:nvPr/>
        </p:nvSpPr>
        <p:spPr>
          <a:xfrm>
            <a:off x="7708344" y="2323743"/>
            <a:ext cx="5983486" cy="396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app: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target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basePath: https://target.com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externalCIDRs: [] # Allow all for local testing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scanners: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stackhawk/openapi # If API endpoints found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uri: /                   # Auto-crawl from root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spider: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maxDepth: 5               # Handle SPA depth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loginKeywords: ["sign in", "login"] # Detect auth pages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Auth simulation (manual or scripted)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loginSequence: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- url: /login             # Probe for this first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method: POST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'{"email":"test@example.com","password":"test"}'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Replace with creds/bypass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359" y="6714173"/>
            <a:ext cx="13075682" cy="638770"/>
          </a:xfrm>
          <a:prstGeom prst="roundRect">
            <a:avLst>
              <a:gd name="adj" fmla="val 11683"/>
            </a:avLst>
          </a:prstGeom>
          <a:solidFill>
            <a:srgbClr val="C5DBED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00" y="6963608"/>
            <a:ext cx="222052" cy="17764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54693" y="6890385"/>
            <a:ext cx="12320707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Run: </a:t>
            </a:r>
            <a:r>
              <a:rPr lang="en-US" sz="1350" dirty="0">
                <a:solidFill>
                  <a:srgbClr val="000000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hawk scan -f stackhawk.yml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244" y="681633"/>
            <a:ext cx="4889897" cy="443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Pentest Workflow Integration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812244" y="1163241"/>
            <a:ext cx="4042053" cy="354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1. </a:t>
            </a:r>
            <a:r>
              <a:rPr lang="en-US" sz="2200" dirty="0">
                <a:solidFill>
                  <a:srgbClr val="3371A5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Recon &amp; Setup (Prep Phase)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244" y="1660684"/>
            <a:ext cx="13005911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Install CLI (Kali/Debian):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12244" y="1964293"/>
            <a:ext cx="13005911" cy="1209675"/>
          </a:xfrm>
          <a:prstGeom prst="roundRect">
            <a:avLst>
              <a:gd name="adj" fmla="val 5237"/>
            </a:avLst>
          </a:prstGeom>
          <a:solidFill>
            <a:srgbClr val="EDE8DE"/>
          </a:solidFill>
          <a:ln/>
        </p:spPr>
      </p:sp>
      <p:sp>
        <p:nvSpPr>
          <p:cNvPr id="6" name="Shape 4"/>
          <p:cNvSpPr/>
          <p:nvPr/>
        </p:nvSpPr>
        <p:spPr>
          <a:xfrm>
            <a:off x="804743" y="1964293"/>
            <a:ext cx="13020913" cy="1209675"/>
          </a:xfrm>
          <a:prstGeom prst="roundRect">
            <a:avLst>
              <a:gd name="adj" fmla="val 1871"/>
            </a:avLst>
          </a:prstGeom>
          <a:solidFill>
            <a:srgbClr val="EDE8DE"/>
          </a:solidFill>
          <a:ln/>
        </p:spPr>
      </p:sp>
      <p:sp>
        <p:nvSpPr>
          <p:cNvPr id="7" name="Text 5"/>
          <p:cNvSpPr/>
          <p:nvPr/>
        </p:nvSpPr>
        <p:spPr>
          <a:xfrm>
            <a:off x="955477" y="2077403"/>
            <a:ext cx="12719447" cy="983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https://get.stackhawk.com | sh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hawk version   # Verify 3.x+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 alt (no install)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stackhawk/hawk:latest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12244" y="3280886"/>
            <a:ext cx="13005911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Create </a:t>
            </a:r>
            <a:r>
              <a:rPr lang="en-US" sz="11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stackhawk.yml</a:t>
            </a: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base config: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2244" y="3584496"/>
            <a:ext cx="13005911" cy="3963353"/>
          </a:xfrm>
          <a:prstGeom prst="roundRect">
            <a:avLst>
              <a:gd name="adj" fmla="val 1599"/>
            </a:avLst>
          </a:prstGeom>
          <a:solidFill>
            <a:srgbClr val="EDE8DE"/>
          </a:solidFill>
          <a:ln/>
        </p:spPr>
      </p:sp>
      <p:sp>
        <p:nvSpPr>
          <p:cNvPr id="10" name="Shape 8"/>
          <p:cNvSpPr/>
          <p:nvPr/>
        </p:nvSpPr>
        <p:spPr>
          <a:xfrm>
            <a:off x="804743" y="3584496"/>
            <a:ext cx="13020913" cy="3963353"/>
          </a:xfrm>
          <a:prstGeom prst="roundRect">
            <a:avLst>
              <a:gd name="adj" fmla="val 571"/>
            </a:avLst>
          </a:prstGeom>
          <a:solidFill>
            <a:srgbClr val="EDE8DE"/>
          </a:solidFill>
          <a:ln/>
        </p:spPr>
      </p:sp>
      <p:sp>
        <p:nvSpPr>
          <p:cNvPr id="11" name="Text 9"/>
          <p:cNvSpPr/>
          <p:nvPr/>
        </p:nvSpPr>
        <p:spPr>
          <a:xfrm>
            <a:off x="955477" y="3697605"/>
            <a:ext cx="12719447" cy="373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stackrox.io/v1alpha1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app: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name: target-app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env: production # Or staging/dev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basePath: https://target.example.com # Your root URL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externalCIDRs: [] # Scans all; restrict for prod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Core scanners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scanners: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- name: stackhawk/http # OWASP Top 10, auth tests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- name: stackhawk/openapi # API-specific if /openapi.json found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- name: stackhawk/graphql # If GraphQL endpoint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Aggressive crawling for SPAs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spider: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maxDepth: 6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maxConcurrency: 20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loginKeywords: ["login", "sign in", "auth"]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formsKeywords: ["email", "password", "submit"]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56003"/>
            <a:ext cx="7132082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2. </a:t>
            </a:r>
            <a:r>
              <a:rPr lang="en-US" sz="3500" dirty="0">
                <a:solidFill>
                  <a:srgbClr val="3371A5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Phase 1: Unauthenticated Scan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837724" y="2398038"/>
            <a:ext cx="12954952" cy="741878"/>
          </a:xfrm>
          <a:prstGeom prst="roundRect">
            <a:avLst>
              <a:gd name="adj" fmla="val 13552"/>
            </a:avLst>
          </a:prstGeom>
          <a:solidFill>
            <a:srgbClr val="EDE8DE"/>
          </a:solidFill>
          <a:ln/>
        </p:spPr>
      </p:sp>
      <p:sp>
        <p:nvSpPr>
          <p:cNvPr id="4" name="Shape 2"/>
          <p:cNvSpPr/>
          <p:nvPr/>
        </p:nvSpPr>
        <p:spPr>
          <a:xfrm>
            <a:off x="825818" y="2398038"/>
            <a:ext cx="12978765" cy="741878"/>
          </a:xfrm>
          <a:prstGeom prst="roundRect">
            <a:avLst>
              <a:gd name="adj" fmla="val 4840"/>
            </a:avLst>
          </a:prstGeom>
          <a:solidFill>
            <a:srgbClr val="EDE8DE"/>
          </a:solidFill>
          <a:ln/>
        </p:spPr>
      </p:sp>
      <p:sp>
        <p:nvSpPr>
          <p:cNvPr id="5" name="Text 3"/>
          <p:cNvSpPr/>
          <p:nvPr/>
        </p:nvSpPr>
        <p:spPr>
          <a:xfrm>
            <a:off x="1065133" y="2577465"/>
            <a:ext cx="125001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hawk scan -f stackhawk.yml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340911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What it finds</a:t>
            </a: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 Public endpoints, misconfigs, unauth XSS/SQLi.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837724" y="4061341"/>
            <a:ext cx="6357818" cy="1801177"/>
          </a:xfrm>
          <a:prstGeom prst="roundRect">
            <a:avLst>
              <a:gd name="adj" fmla="val 8123"/>
            </a:avLst>
          </a:prstGeom>
          <a:solidFill>
            <a:srgbClr val="FAF5EB"/>
          </a:solidFill>
          <a:ln w="30480">
            <a:solidFill>
              <a:srgbClr val="D5CD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7244" y="4061341"/>
            <a:ext cx="121920" cy="1801177"/>
          </a:xfrm>
          <a:prstGeom prst="roundRect">
            <a:avLst>
              <a:gd name="adj" fmla="val 82464"/>
            </a:avLst>
          </a:prstGeom>
          <a:solidFill>
            <a:srgbClr val="3371A5"/>
          </a:solidFill>
          <a:ln/>
        </p:spPr>
      </p:sp>
      <p:sp>
        <p:nvSpPr>
          <p:cNvPr id="9" name="Text 7"/>
          <p:cNvSpPr/>
          <p:nvPr/>
        </p:nvSpPr>
        <p:spPr>
          <a:xfrm>
            <a:off x="1198959" y="433113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Crawl Behavior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98959" y="4826675"/>
            <a:ext cx="57267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Crawls root, fuzzes contact forms, robots.txt, /admin variants.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7434858" y="4061341"/>
            <a:ext cx="6357818" cy="1801177"/>
          </a:xfrm>
          <a:prstGeom prst="roundRect">
            <a:avLst>
              <a:gd name="adj" fmla="val 8123"/>
            </a:avLst>
          </a:prstGeom>
          <a:solidFill>
            <a:srgbClr val="FAF5EB"/>
          </a:solidFill>
          <a:ln w="30480">
            <a:solidFill>
              <a:srgbClr val="D5CD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4378" y="4061341"/>
            <a:ext cx="121920" cy="1801177"/>
          </a:xfrm>
          <a:prstGeom prst="roundRect">
            <a:avLst>
              <a:gd name="adj" fmla="val 82464"/>
            </a:avLst>
          </a:prstGeom>
          <a:solidFill>
            <a:srgbClr val="3371A5"/>
          </a:solidFill>
          <a:ln/>
        </p:spPr>
      </p:sp>
      <p:sp>
        <p:nvSpPr>
          <p:cNvPr id="13" name="Text 11"/>
          <p:cNvSpPr/>
          <p:nvPr/>
        </p:nvSpPr>
        <p:spPr>
          <a:xfrm>
            <a:off x="7796093" y="433113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Flags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796093" y="4826675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Exposed .git, debug pages, CORS misconfigs.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837724" y="6131719"/>
            <a:ext cx="12954952" cy="741878"/>
          </a:xfrm>
          <a:prstGeom prst="roundRect">
            <a:avLst>
              <a:gd name="adj" fmla="val 13552"/>
            </a:avLst>
          </a:prstGeom>
          <a:solidFill>
            <a:srgbClr val="EDE8D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5818" y="6131719"/>
            <a:ext cx="12978765" cy="741878"/>
          </a:xfrm>
          <a:prstGeom prst="roundRect">
            <a:avLst>
              <a:gd name="adj" fmla="val 4840"/>
            </a:avLst>
          </a:prstGeom>
          <a:solidFill>
            <a:srgbClr val="EDE8DE"/>
          </a:solidFill>
          <a:ln/>
        </p:spPr>
      </p:sp>
      <p:sp>
        <p:nvSpPr>
          <p:cNvPr id="17" name="Text 15"/>
          <p:cNvSpPr/>
          <p:nvPr/>
        </p:nvSpPr>
        <p:spPr>
          <a:xfrm>
            <a:off x="1065133" y="6311146"/>
            <a:ext cx="125001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hawk report # HTML/JSON output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914" y="661749"/>
            <a:ext cx="4404241" cy="364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3. </a:t>
            </a:r>
            <a:r>
              <a:rPr lang="en-US" sz="2250" dirty="0">
                <a:solidFill>
                  <a:srgbClr val="3371A5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Phase 2: Authenticated Scans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833914" y="1226582"/>
            <a:ext cx="12962573" cy="204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Probe login first: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33914" y="1543288"/>
            <a:ext cx="12962573" cy="640318"/>
          </a:xfrm>
          <a:prstGeom prst="roundRect">
            <a:avLst>
              <a:gd name="adj" fmla="val 10159"/>
            </a:avLst>
          </a:prstGeom>
          <a:solidFill>
            <a:srgbClr val="EDE8DE"/>
          </a:solidFill>
          <a:ln/>
        </p:spPr>
      </p:sp>
      <p:sp>
        <p:nvSpPr>
          <p:cNvPr id="5" name="Shape 3"/>
          <p:cNvSpPr/>
          <p:nvPr/>
        </p:nvSpPr>
        <p:spPr>
          <a:xfrm>
            <a:off x="826175" y="1543288"/>
            <a:ext cx="12978051" cy="640318"/>
          </a:xfrm>
          <a:prstGeom prst="roundRect">
            <a:avLst>
              <a:gd name="adj" fmla="val 3628"/>
            </a:avLst>
          </a:prstGeom>
          <a:solidFill>
            <a:srgbClr val="EDE8DE"/>
          </a:solidFill>
          <a:ln/>
        </p:spPr>
      </p:sp>
      <p:sp>
        <p:nvSpPr>
          <p:cNvPr id="6" name="Text 4"/>
          <p:cNvSpPr/>
          <p:nvPr/>
        </p:nvSpPr>
        <p:spPr>
          <a:xfrm>
            <a:off x="980956" y="1659374"/>
            <a:ext cx="12668488" cy="408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https://target.example.com/login \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-d 'email=test@test.com&amp;pass=pass' -c cookies.txt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3914" y="2296239"/>
            <a:ext cx="12962573" cy="204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Update config for session: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33914" y="2612946"/>
            <a:ext cx="12962573" cy="3701415"/>
          </a:xfrm>
          <a:prstGeom prst="roundRect">
            <a:avLst>
              <a:gd name="adj" fmla="val 1757"/>
            </a:avLst>
          </a:prstGeom>
          <a:solidFill>
            <a:srgbClr val="EDE8DE"/>
          </a:solidFill>
          <a:ln/>
        </p:spPr>
      </p:sp>
      <p:sp>
        <p:nvSpPr>
          <p:cNvPr id="9" name="Shape 7"/>
          <p:cNvSpPr/>
          <p:nvPr/>
        </p:nvSpPr>
        <p:spPr>
          <a:xfrm>
            <a:off x="826175" y="2612946"/>
            <a:ext cx="12978051" cy="3701415"/>
          </a:xfrm>
          <a:prstGeom prst="roundRect">
            <a:avLst>
              <a:gd name="adj" fmla="val 628"/>
            </a:avLst>
          </a:prstGeom>
          <a:solidFill>
            <a:srgbClr val="EDE8DE"/>
          </a:solidFill>
          <a:ln/>
        </p:spPr>
      </p:sp>
      <p:sp>
        <p:nvSpPr>
          <p:cNvPr id="10" name="Text 8"/>
          <p:cNvSpPr/>
          <p:nvPr/>
        </p:nvSpPr>
        <p:spPr>
          <a:xfrm>
            <a:off x="980956" y="2729032"/>
            <a:ext cx="12668488" cy="346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Add to stackhawk.yml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additionalCookies: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session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value: "eyJhbGciOiJIUzI1NiIs..."  # From browser/curl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csrf_token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value: "abc123..."                 # If present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loginSequence:                           # Auto-login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- url: /login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method: POST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headers: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Content-Type: application/json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|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"email": "pentest@authorized.com",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"password": "validpass123"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3914" y="6426994"/>
            <a:ext cx="12962573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Run: </a:t>
            </a: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hawk scan -f stackhawk.yml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3914" y="6751320"/>
            <a:ext cx="4254103" cy="816531"/>
          </a:xfrm>
          <a:prstGeom prst="roundRect">
            <a:avLst>
              <a:gd name="adj" fmla="val 7967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315" y="6913721"/>
            <a:ext cx="1822013" cy="22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Targets Deep Paths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96315" y="7201376"/>
            <a:ext cx="3929301" cy="204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/dashboard, /profile, /admin, API endpoints.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88148" y="6751320"/>
            <a:ext cx="4254103" cy="816531"/>
          </a:xfrm>
          <a:prstGeom prst="roundRect">
            <a:avLst>
              <a:gd name="adj" fmla="val 7967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0550" y="6913721"/>
            <a:ext cx="1822013" cy="22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Tests Forms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50550" y="7201376"/>
            <a:ext cx="3929301" cy="204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XSS, SQLi, CSRF, session fixation, IDOR on /user/1/edit.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42383" y="6751320"/>
            <a:ext cx="4254103" cy="816531"/>
          </a:xfrm>
          <a:prstGeom prst="roundRect">
            <a:avLst>
              <a:gd name="adj" fmla="val 7967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04784" y="6913721"/>
            <a:ext cx="1822013" cy="22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Probes 403s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04784" y="7201376"/>
            <a:ext cx="3929301" cy="204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Method fuzz (PUT/OPTIONS), param pollution.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20247"/>
            <a:ext cx="5623679" cy="47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4. </a:t>
            </a:r>
            <a:r>
              <a:rPr lang="en-US" sz="3000" dirty="0">
                <a:solidFill>
                  <a:srgbClr val="3371A5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Advanced Exploitation Scans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37724" y="1671876"/>
            <a:ext cx="6229350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Add custom scanner config: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7724" y="2167533"/>
            <a:ext cx="6229350" cy="4219456"/>
          </a:xfrm>
          <a:prstGeom prst="roundRect">
            <a:avLst>
              <a:gd name="adj" fmla="val 2025"/>
            </a:avLst>
          </a:prstGeom>
          <a:solidFill>
            <a:srgbClr val="EDE8DE"/>
          </a:solidFill>
          <a:ln/>
        </p:spPr>
      </p:sp>
      <p:sp>
        <p:nvSpPr>
          <p:cNvPr id="5" name="Shape 3"/>
          <p:cNvSpPr/>
          <p:nvPr/>
        </p:nvSpPr>
        <p:spPr>
          <a:xfrm>
            <a:off x="827603" y="2167533"/>
            <a:ext cx="6249591" cy="4219456"/>
          </a:xfrm>
          <a:prstGeom prst="roundRect">
            <a:avLst>
              <a:gd name="adj" fmla="val 723"/>
            </a:avLst>
          </a:prstGeom>
          <a:solidFill>
            <a:srgbClr val="EDE8DE"/>
          </a:solidFill>
          <a:ln/>
        </p:spPr>
      </p:sp>
      <p:sp>
        <p:nvSpPr>
          <p:cNvPr id="6" name="Text 4"/>
          <p:cNvSpPr/>
          <p:nvPr/>
        </p:nvSpPr>
        <p:spPr>
          <a:xfrm>
            <a:off x="1030962" y="2320052"/>
            <a:ext cx="5842873" cy="3914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attackSurface: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- path: /api/**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method: POST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attack: sqli          # Focus SQLi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- path: /admin/**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bypass403: true       # Method override fuzzing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customTests: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idor-user-edit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path: /user/{id}/edit # Template fuzzing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payloads: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"1"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"2"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"../admin"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7724" y="6581537"/>
            <a:ext cx="6229350" cy="606147"/>
          </a:xfrm>
          <a:prstGeom prst="roundRect">
            <a:avLst>
              <a:gd name="adj" fmla="val 14099"/>
            </a:avLst>
          </a:prstGeom>
          <a:solidFill>
            <a:srgbClr val="EDE8DE"/>
          </a:solidFill>
          <a:ln/>
        </p:spPr>
      </p:sp>
      <p:sp>
        <p:nvSpPr>
          <p:cNvPr id="8" name="Shape 6"/>
          <p:cNvSpPr/>
          <p:nvPr/>
        </p:nvSpPr>
        <p:spPr>
          <a:xfrm>
            <a:off x="827603" y="6581537"/>
            <a:ext cx="6249591" cy="606147"/>
          </a:xfrm>
          <a:prstGeom prst="roundRect">
            <a:avLst>
              <a:gd name="adj" fmla="val 5035"/>
            </a:avLst>
          </a:prstGeom>
          <a:solidFill>
            <a:srgbClr val="EDE8DE"/>
          </a:solidFill>
          <a:ln/>
        </p:spPr>
      </p:sp>
      <p:sp>
        <p:nvSpPr>
          <p:cNvPr id="9" name="Text 7"/>
          <p:cNvSpPr/>
          <p:nvPr/>
        </p:nvSpPr>
        <p:spPr>
          <a:xfrm>
            <a:off x="1030962" y="6734056"/>
            <a:ext cx="5842873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hawk scan --aggressive   # Higher risk payloads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70946" y="1020247"/>
            <a:ext cx="6229350" cy="95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5. </a:t>
            </a:r>
            <a:r>
              <a:rPr lang="en-US" sz="3000" dirty="0">
                <a:solidFill>
                  <a:srgbClr val="3371A5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CI/CD Integration (GitHub Actions)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7570946" y="2172295"/>
            <a:ext cx="6229350" cy="4219456"/>
          </a:xfrm>
          <a:prstGeom prst="roundRect">
            <a:avLst>
              <a:gd name="adj" fmla="val 2025"/>
            </a:avLst>
          </a:prstGeom>
          <a:solidFill>
            <a:srgbClr val="EDE8DE"/>
          </a:solidFill>
          <a:ln/>
        </p:spPr>
      </p:sp>
      <p:sp>
        <p:nvSpPr>
          <p:cNvPr id="12" name="Shape 10"/>
          <p:cNvSpPr/>
          <p:nvPr/>
        </p:nvSpPr>
        <p:spPr>
          <a:xfrm>
            <a:off x="7560826" y="2172295"/>
            <a:ext cx="6249591" cy="4219456"/>
          </a:xfrm>
          <a:prstGeom prst="roundRect">
            <a:avLst>
              <a:gd name="adj" fmla="val 723"/>
            </a:avLst>
          </a:prstGeom>
          <a:solidFill>
            <a:srgbClr val="EDE8DE"/>
          </a:solidFill>
          <a:ln/>
        </p:spPr>
      </p:sp>
      <p:sp>
        <p:nvSpPr>
          <p:cNvPr id="13" name="Text 11"/>
          <p:cNvSpPr/>
          <p:nvPr/>
        </p:nvSpPr>
        <p:spPr>
          <a:xfrm>
            <a:off x="7764185" y="2324814"/>
            <a:ext cx="5842873" cy="3914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.github/workflows/hawk.yml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name: StackHawk Scan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on: [push, pull_request]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hawk: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runs-on: ubuntu-latest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steps: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- uses: actions/checkout@v4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- name: StackHawk Scan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uses: stackhawk/hawk-action@v2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with: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hawk_config: stackhawk.yml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hawk_api_key: ${{ secrets.HAWK_KEY }}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95124"/>
            <a:ext cx="3168372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6. </a:t>
            </a:r>
            <a:r>
              <a:rPr lang="en-US" sz="2300" dirty="0">
                <a:solidFill>
                  <a:srgbClr val="3371A5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Analysis &amp; Reporting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837724" y="1563410"/>
            <a:ext cx="12954952" cy="1465659"/>
          </a:xfrm>
          <a:prstGeom prst="roundRect">
            <a:avLst>
              <a:gd name="adj" fmla="val 4459"/>
            </a:avLst>
          </a:prstGeom>
          <a:solidFill>
            <a:srgbClr val="EDE8DE"/>
          </a:solidFill>
          <a:ln/>
        </p:spPr>
      </p:sp>
      <p:sp>
        <p:nvSpPr>
          <p:cNvPr id="4" name="Shape 2"/>
          <p:cNvSpPr/>
          <p:nvPr/>
        </p:nvSpPr>
        <p:spPr>
          <a:xfrm>
            <a:off x="829985" y="1563410"/>
            <a:ext cx="12970431" cy="1465659"/>
          </a:xfrm>
          <a:prstGeom prst="roundRect">
            <a:avLst>
              <a:gd name="adj" fmla="val 1592"/>
            </a:avLst>
          </a:prstGeom>
          <a:solidFill>
            <a:srgbClr val="EDE8DE"/>
          </a:solidFill>
          <a:ln/>
        </p:spPr>
      </p:sp>
      <p:sp>
        <p:nvSpPr>
          <p:cNvPr id="5" name="Text 3"/>
          <p:cNvSpPr/>
          <p:nvPr/>
        </p:nvSpPr>
        <p:spPr>
          <a:xfrm>
            <a:off x="985480" y="1680091"/>
            <a:ext cx="12659439" cy="1232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View findings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hawk report --format json &gt; findings.json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hawk report --format html --open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Diff scans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hawk diff scan1.json scan2.json   # Regression tracking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7724" y="3180755"/>
            <a:ext cx="2966561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Common Findings &amp; Exploits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37724" y="3606998"/>
            <a:ext cx="12954952" cy="1724382"/>
          </a:xfrm>
          <a:prstGeom prst="roundRect">
            <a:avLst>
              <a:gd name="adj" fmla="val 379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344" y="3614618"/>
            <a:ext cx="12939713" cy="34182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00839" y="3682841"/>
            <a:ext cx="162615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Severity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45606" y="3682841"/>
            <a:ext cx="291631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Example Vuln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80534" y="3682841"/>
            <a:ext cx="291631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StackHawk PoC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15463" y="3682841"/>
            <a:ext cx="421409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Manual Follow-up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5344" y="3956447"/>
            <a:ext cx="12939713" cy="34182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00839" y="4024670"/>
            <a:ext cx="162615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Critical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45606" y="4024670"/>
            <a:ext cx="291631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SQLi in /search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80534" y="4024670"/>
            <a:ext cx="291631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q=1' OR 1=1--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415463" y="4024670"/>
            <a:ext cx="421409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sqlmap -u /search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344" y="4298275"/>
            <a:ext cx="12939713" cy="34182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00839" y="4366498"/>
            <a:ext cx="162615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45606" y="4366498"/>
            <a:ext cx="291631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XSS in /profile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80534" y="4366498"/>
            <a:ext cx="291631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15463" y="4366498"/>
            <a:ext cx="421409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Burp repeater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45344" y="4640104"/>
            <a:ext cx="12939713" cy="34182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00839" y="4708327"/>
            <a:ext cx="162615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Medium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45606" y="4708327"/>
            <a:ext cx="291631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CORS misconfig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80534" y="4708327"/>
            <a:ext cx="291631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Wildcard Origin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415463" y="4708327"/>
            <a:ext cx="421409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Fetch exploit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5344" y="4981932"/>
            <a:ext cx="12939713" cy="34182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00839" y="5050155"/>
            <a:ext cx="162615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Low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945606" y="5050155"/>
            <a:ext cx="291631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Info leak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80534" y="5050155"/>
            <a:ext cx="291631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Exposed /debug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415463" y="5050155"/>
            <a:ext cx="421409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Directory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7724" y="5483066"/>
            <a:ext cx="2196584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Coverage Gaps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37724" y="5909310"/>
            <a:ext cx="12954952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Won't do</a:t>
            </a: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buffer overflows, deserialization, or custom C2. Chain with: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7724" y="6228398"/>
            <a:ext cx="12954952" cy="686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Nuclei</a:t>
            </a: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templates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Burp</a:t>
            </a: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manual exploits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sqlmap</a:t>
            </a: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blind SQLi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7724" y="7028974"/>
            <a:ext cx="12954952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Run this on your target—paste the hawk-report.json if you hit interesting findings. Need the full YAML customized for API-heavy apps?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5462" y="660559"/>
            <a:ext cx="5616773" cy="702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462" y="1838682"/>
            <a:ext cx="477322" cy="4773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10320" y="1920716"/>
            <a:ext cx="2808327" cy="35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Pipeline Automation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10320" y="2414468"/>
            <a:ext cx="5556052" cy="762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Native CI/CD integration (GitHub, Jenkins, GitLab) scans PRs/deployments automatically.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3909" y="1838682"/>
            <a:ext cx="477322" cy="4773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38768" y="1920716"/>
            <a:ext cx="2808327" cy="35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Authenticated Scans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238768" y="2414468"/>
            <a:ext cx="5556171" cy="1144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Handles login sequences/cookies well, bypassing the auth wall on Edit Profile/Dashboard. Configures once, scans everything.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5462" y="4034552"/>
            <a:ext cx="477322" cy="47732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10320" y="4116586"/>
            <a:ext cx="2808327" cy="35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Modern App Focus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10320" y="4610338"/>
            <a:ext cx="5556052" cy="1144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Excellent SPA crawling, tests client-side routing, form fuzzing (your Edit Profile fields: names, email, phone).</a:t>
            </a:r>
            <a:endParaRPr lang="en-US" sz="1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63909" y="4034552"/>
            <a:ext cx="477322" cy="47732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38768" y="4116586"/>
            <a:ext cx="2808327" cy="35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Actionable Output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238768" y="4610338"/>
            <a:ext cx="5556171" cy="762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CVSS-scored reports with PoC videos, remediation code snippets. Integrates with Jira/Slack.</a:t>
            </a:r>
            <a:endParaRPr lang="en-US" sz="18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5462" y="6230422"/>
            <a:ext cx="477322" cy="47732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10320" y="6312456"/>
            <a:ext cx="2808327" cy="35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Low False Positives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1610320" y="6806208"/>
            <a:ext cx="5556052" cy="762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Context-aware (understands auth state), better than raw ZAP for production-like scans.</a:t>
            </a:r>
            <a:endParaRPr lang="en-US" sz="18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63909" y="6230422"/>
            <a:ext cx="477322" cy="47732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238768" y="6312456"/>
            <a:ext cx="2808327" cy="35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Speed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8238768" y="6806208"/>
            <a:ext cx="5556171" cy="762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Parallel scanning, finishes in minutes vs. hours for manual Burp.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31520"/>
            <a:ext cx="3661053" cy="45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Cons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837724" y="1391245"/>
            <a:ext cx="12954952" cy="933569"/>
          </a:xfrm>
          <a:prstGeom prst="roundRect">
            <a:avLst>
              <a:gd name="adj" fmla="val 7000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0584" y="1414105"/>
            <a:ext cx="622340" cy="887849"/>
          </a:xfrm>
          <a:prstGeom prst="roundRect">
            <a:avLst>
              <a:gd name="adj" fmla="val 6093"/>
            </a:avLst>
          </a:prstGeom>
          <a:solidFill>
            <a:srgbClr val="FAF5E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203" y="1741289"/>
            <a:ext cx="233362" cy="2333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84008" y="1569601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84008" y="1858923"/>
            <a:ext cx="1203031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Free tier = 100 scans/month; Pro ($99+/mo) needed for unlimited/auth-heavy scans like target's dashboard depth.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37724" y="2425898"/>
            <a:ext cx="12954952" cy="933569"/>
          </a:xfrm>
          <a:prstGeom prst="roundRect">
            <a:avLst>
              <a:gd name="adj" fmla="val 7000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0584" y="2448758"/>
            <a:ext cx="622340" cy="887849"/>
          </a:xfrm>
          <a:prstGeom prst="roundRect">
            <a:avLst>
              <a:gd name="adj" fmla="val 6093"/>
            </a:avLst>
          </a:prstGeom>
          <a:solidFill>
            <a:srgbClr val="FAF5E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203" y="2775942"/>
            <a:ext cx="233362" cy="23336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84008" y="2604254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Less Customizable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584008" y="2893576"/>
            <a:ext cx="1203031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Can't tweak payloads/rules like Burp/Nuclei. Limited to OWASP Top 10 + common issues—no custom fuzz dicts for Polish-specific params or /admin 403 bypass.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37724" y="3460552"/>
            <a:ext cx="12954952" cy="933569"/>
          </a:xfrm>
          <a:prstGeom prst="roundRect">
            <a:avLst>
              <a:gd name="adj" fmla="val 7000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60584" y="3483412"/>
            <a:ext cx="622340" cy="887849"/>
          </a:xfrm>
          <a:prstGeom prst="roundRect">
            <a:avLst>
              <a:gd name="adj" fmla="val 6093"/>
            </a:avLst>
          </a:prstGeom>
          <a:solidFill>
            <a:srgbClr val="FAF5E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203" y="3810595"/>
            <a:ext cx="233362" cy="23336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84008" y="3638907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Cloud Dependency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584008" y="3928229"/>
            <a:ext cx="1203031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Scans route through their infra (privacy concerns for sensitive targets); local Docker mitigates but slower.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37724" y="4495205"/>
            <a:ext cx="12954952" cy="933569"/>
          </a:xfrm>
          <a:prstGeom prst="roundRect">
            <a:avLst>
              <a:gd name="adj" fmla="val 7000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60584" y="4518065"/>
            <a:ext cx="622340" cy="887849"/>
          </a:xfrm>
          <a:prstGeom prst="roundRect">
            <a:avLst>
              <a:gd name="adj" fmla="val 6093"/>
            </a:avLst>
          </a:prstGeom>
          <a:solidFill>
            <a:srgbClr val="FAF5EB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1203" y="4845248"/>
            <a:ext cx="233362" cy="23336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84008" y="4673560"/>
            <a:ext cx="1991678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Shallow on Edge Cases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584008" y="4962882"/>
            <a:ext cx="1203031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Misses IDOR in multi-tenant apps (your job listings), auth bypasses (/admin fuzzing), or non-HTTP (WebSockets). Won't catch the Google Translate hash quirks.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37724" y="5529858"/>
            <a:ext cx="12954952" cy="933569"/>
          </a:xfrm>
          <a:prstGeom prst="roundRect">
            <a:avLst>
              <a:gd name="adj" fmla="val 7000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60584" y="5552718"/>
            <a:ext cx="622340" cy="887849"/>
          </a:xfrm>
          <a:prstGeom prst="roundRect">
            <a:avLst>
              <a:gd name="adj" fmla="val 6093"/>
            </a:avLst>
          </a:prstGeom>
          <a:solidFill>
            <a:srgbClr val="FAF5EB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1203" y="5879902"/>
            <a:ext cx="233362" cy="23336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84008" y="5708213"/>
            <a:ext cx="1924288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No Offline/Full Control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1584008" y="5997535"/>
            <a:ext cx="1203031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Unlike open-source, can't run air-gapped or extend with plugins.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37724" y="6564511"/>
            <a:ext cx="12954952" cy="933569"/>
          </a:xfrm>
          <a:prstGeom prst="roundRect">
            <a:avLst>
              <a:gd name="adj" fmla="val 7000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60584" y="6587371"/>
            <a:ext cx="622340" cy="887849"/>
          </a:xfrm>
          <a:prstGeom prst="roundRect">
            <a:avLst>
              <a:gd name="adj" fmla="val 6093"/>
            </a:avLst>
          </a:prstGeom>
          <a:solidFill>
            <a:srgbClr val="FAF5EB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51203" y="6914555"/>
            <a:ext cx="233362" cy="23336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584008" y="6742867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Learning Curve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1584008" y="7032188"/>
            <a:ext cx="1203031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YAML config fiddly for complex auth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770692"/>
            <a:ext cx="3661053" cy="45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Insights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37724" y="1379934"/>
            <a:ext cx="7468553" cy="1396365"/>
          </a:xfrm>
          <a:prstGeom prst="roundRect">
            <a:avLst>
              <a:gd name="adj" fmla="val 4680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0839" y="1543050"/>
            <a:ext cx="466725" cy="466725"/>
          </a:xfrm>
          <a:prstGeom prst="roundRect">
            <a:avLst>
              <a:gd name="adj" fmla="val 19589878"/>
            </a:avLst>
          </a:prstGeom>
          <a:solidFill>
            <a:srgbClr val="3371A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9189" y="1671280"/>
            <a:ext cx="210026" cy="2100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0839" y="2110859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CI/CD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000839" y="2400181"/>
            <a:ext cx="7142321" cy="213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hawk scan</a:t>
            </a: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in GitHub Actions scans PRs pre-merge.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37724" y="2877383"/>
            <a:ext cx="7468553" cy="1396365"/>
          </a:xfrm>
          <a:prstGeom prst="roundRect">
            <a:avLst>
              <a:gd name="adj" fmla="val 4680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00839" y="3040499"/>
            <a:ext cx="466725" cy="466725"/>
          </a:xfrm>
          <a:prstGeom prst="roundRect">
            <a:avLst>
              <a:gd name="adj" fmla="val 19589878"/>
            </a:avLst>
          </a:prstGeom>
          <a:solidFill>
            <a:srgbClr val="3371A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9189" y="3168729"/>
            <a:ext cx="210026" cy="21002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0839" y="3608308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Evasion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000839" y="3897630"/>
            <a:ext cx="7142321" cy="213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--no-crawl</a:t>
            </a: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stealth, or </a:t>
            </a:r>
            <a:r>
              <a:rPr lang="en-US" sz="12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--rate-limit</a:t>
            </a: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to dodge WAF.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37724" y="4374832"/>
            <a:ext cx="7468553" cy="1388745"/>
          </a:xfrm>
          <a:prstGeom prst="roundRect">
            <a:avLst>
              <a:gd name="adj" fmla="val 4706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000839" y="4537948"/>
            <a:ext cx="466725" cy="466725"/>
          </a:xfrm>
          <a:prstGeom prst="roundRect">
            <a:avLst>
              <a:gd name="adj" fmla="val 19589878"/>
            </a:avLst>
          </a:prstGeom>
          <a:solidFill>
            <a:srgbClr val="3371A5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9189" y="4666178"/>
            <a:ext cx="210026" cy="21002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0839" y="5105757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Free Tier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000839" y="5395079"/>
            <a:ext cx="714232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Limited scans; pro unlocks unlimited + API.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837724" y="5864662"/>
            <a:ext cx="7468553" cy="1594128"/>
          </a:xfrm>
          <a:prstGeom prst="roundRect">
            <a:avLst>
              <a:gd name="adj" fmla="val 4099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1000839" y="6027777"/>
            <a:ext cx="466725" cy="466725"/>
          </a:xfrm>
          <a:prstGeom prst="roundRect">
            <a:avLst>
              <a:gd name="adj" fmla="val 19589878"/>
            </a:avLst>
          </a:prstGeom>
          <a:solidFill>
            <a:srgbClr val="3371A5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29189" y="6156008"/>
            <a:ext cx="210026" cy="21002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00839" y="6595586"/>
            <a:ext cx="2201585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Compare to Open-Source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000839" y="6884908"/>
            <a:ext cx="7142321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More automated than OWASP ZAP, less customizable than Burp. Pair with Nuclei for custom templates on target endpoints.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1370</Words>
  <Application>Microsoft Office PowerPoint</Application>
  <PresentationFormat>Custom</PresentationFormat>
  <Paragraphs>202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Funnel Sans</vt:lpstr>
      <vt:lpstr>Consolas</vt:lpstr>
      <vt:lpstr>Funnel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2026-03-03T12:04:44Z</dcterms:created>
  <dcterms:modified xsi:type="dcterms:W3CDTF">2026-03-03T12:06:10Z</dcterms:modified>
</cp:coreProperties>
</file>