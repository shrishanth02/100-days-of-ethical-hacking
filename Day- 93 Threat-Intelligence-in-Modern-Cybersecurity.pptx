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Tomorrow" panose="020B0604020202020204" charset="0"/>
      <p:regular r:id="rId17"/>
    </p:embeddedFont>
    <p:embeddedFont>
      <p:font typeface="Tomorrow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99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487" y="186181"/>
            <a:ext cx="4359893" cy="6539840"/>
          </a:xfrm>
          <a:prstGeom prst="roundRect">
            <a:avLst>
              <a:gd name="adj" fmla="val 1771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 0"/>
          <p:cNvSpPr/>
          <p:nvPr/>
        </p:nvSpPr>
        <p:spPr>
          <a:xfrm>
            <a:off x="6712712" y="24598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 Intelligence in Modern Cybersecurity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712713" y="452679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Strategic Role of Threat Intelligence in Enterprise Security Operations A comprehensive guide to threat intelligence frameworks, methodologies, and real-world applications.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40289" y="6973690"/>
            <a:ext cx="1769269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8230" y="7036756"/>
            <a:ext cx="14818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7028" y="6979276"/>
            <a:ext cx="229588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D1D1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3350736" y="7049295"/>
            <a:ext cx="20084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THREAT INTELLIGENCE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0380" y="6973690"/>
            <a:ext cx="233612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D1D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44088" y="7036756"/>
            <a:ext cx="204870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ENTERPRISE SECURITY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4967"/>
            <a:ext cx="644485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What Is Threat Intelligence?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309926"/>
            <a:ext cx="5090279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Defining Threat Intelligence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93790" y="1981200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Threat Intelligence is the </a:t>
            </a:r>
            <a:r>
              <a:rPr lang="en-US" sz="14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collection, analysis, and dissemination</a:t>
            </a: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of information about current and potential threats to an organization's security posture.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3178" y="2666881"/>
            <a:ext cx="4538424" cy="4877633"/>
          </a:xfrm>
          <a:prstGeom prst="roundRect">
            <a:avLst>
              <a:gd name="adj" fmla="val 6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4629" y="381762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Components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4629" y="4246245"/>
            <a:ext cx="4175522" cy="2241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Indicators of Compromise (IOCs):</a:t>
            </a:r>
            <a:r>
              <a:rPr lang="en-US" sz="14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IP addresses, file hashes, domains, URLs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Tactics, Techniques, and Procedures (TTPs):</a:t>
            </a:r>
            <a:r>
              <a:rPr lang="en-US" sz="14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How attackers operate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Threat Actor Profiles:</a:t>
            </a:r>
            <a:r>
              <a:rPr lang="en-US" sz="14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Attribution, motivation, capabilities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Contextual Analysis:</a:t>
            </a:r>
            <a:r>
              <a:rPr lang="en-US" sz="14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Business impact and risk assessment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21285" y="28120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Purpose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521285" y="3240643"/>
            <a:ext cx="832282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 informed decision-making and proactive defense strategies.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532" y="3665101"/>
            <a:ext cx="6658213" cy="3716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2471"/>
            <a:ext cx="10972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Three Pillars of Threat Intelligence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4878"/>
            <a:ext cx="4196358" cy="3722251"/>
          </a:xfrm>
          <a:prstGeom prst="roundRect">
            <a:avLst>
              <a:gd name="adj" fmla="val 914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061692"/>
            <a:ext cx="3363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1. Strategic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52111"/>
            <a:ext cx="3742730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Long-term threat landscape analysis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Geopolitical and economic factors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Industry-specific threat trends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Executive-level reporting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34878"/>
            <a:ext cx="4196358" cy="3722251"/>
          </a:xfrm>
          <a:prstGeom prst="roundRect">
            <a:avLst>
              <a:gd name="adj" fmla="val 914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06169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2. Operational Intelligence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906441"/>
            <a:ext cx="374273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Active threat campaigns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Attacker infrastructure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Malware analysis and behavior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threat monitoring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34878"/>
            <a:ext cx="4196358" cy="3722251"/>
          </a:xfrm>
          <a:prstGeom prst="roundRect">
            <a:avLst>
              <a:gd name="adj" fmla="val 914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061692"/>
            <a:ext cx="320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3. Tactical Intelligence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552111"/>
            <a:ext cx="374273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IOCs and technical indicators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Malware signatures and hashes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Vulnerability exploitation details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Detection rules and mitigation strategies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793790" y="785098"/>
            <a:ext cx="672488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 Intelligence Sources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453039"/>
            <a:ext cx="752748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Primary Sources of Threat Intelligence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93790" y="23445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Internal Sources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2809637"/>
            <a:ext cx="3543062" cy="131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Security logs and event data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Incident response findings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Network traffic analysis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Endpoint telemetry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14768" y="23445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External Sources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814768" y="2809637"/>
            <a:ext cx="3543062" cy="336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Open-Source Intelligence (OSINT):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Public data, forums, social media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Commercial Feeds: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Recorded Future, CrowdStrike, Mandiant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Government Agencies: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CISA, NSA advisories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Industry Sharing: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ISACs, Information Sharing Groups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Dark Web Monitoring: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Threat actor communications, leaked data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3790" y="6418302"/>
            <a:ext cx="7556421" cy="1026200"/>
          </a:xfrm>
          <a:prstGeom prst="roundRect">
            <a:avLst>
              <a:gd name="adj" fmla="val 2818"/>
            </a:avLst>
          </a:prstGeom>
          <a:solidFill>
            <a:srgbClr val="DADAD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52" y="6703814"/>
            <a:ext cx="240983" cy="1927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20297" y="6630233"/>
            <a:ext cx="67371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Integration:</a:t>
            </a: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Aggregated through Threat Intelligence Platforms (TIPs) like MISP, ThreatConnect, and Anomali.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1284"/>
            <a:ext cx="917888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 Intelligence Platforms (TIPs)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6867" y="1664732"/>
            <a:ext cx="6566297" cy="5813584"/>
          </a:xfrm>
          <a:prstGeom prst="roundRect">
            <a:avLst>
              <a:gd name="adj" fmla="val 527"/>
            </a:avLst>
          </a:prstGeom>
          <a:solidFill>
            <a:srgbClr val="EFEFEF"/>
          </a:solidFill>
          <a:ln/>
        </p:spPr>
      </p:sp>
      <p:sp>
        <p:nvSpPr>
          <p:cNvPr id="4" name="Text 2"/>
          <p:cNvSpPr/>
          <p:nvPr/>
        </p:nvSpPr>
        <p:spPr>
          <a:xfrm>
            <a:off x="850940" y="184844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What They 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940" y="2351008"/>
            <a:ext cx="61581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Centralize threat data from multiple sources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Normalize and correlate indicators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Enrich data with context and attribution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 automated detection and response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71780" y="184844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Leading Platforms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71780" y="2373987"/>
            <a:ext cx="3044309" cy="2197537"/>
          </a:xfrm>
          <a:prstGeom prst="roundRect">
            <a:avLst>
              <a:gd name="adj" fmla="val 499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8920" y="2373987"/>
            <a:ext cx="91440" cy="2197537"/>
          </a:xfrm>
          <a:prstGeom prst="roundRect">
            <a:avLst>
              <a:gd name="adj" fmla="val 33488"/>
            </a:avLst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7867293" y="2600920"/>
            <a:ext cx="252186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MISP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67293" y="3103483"/>
            <a:ext cx="252186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Open-source, community-driven. Ideal for organizations and ISACs.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9802" y="2373987"/>
            <a:ext cx="3044428" cy="2197537"/>
          </a:xfrm>
          <a:prstGeom prst="roundRect">
            <a:avLst>
              <a:gd name="adj" fmla="val 499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76942" y="2373987"/>
            <a:ext cx="91440" cy="2197537"/>
          </a:xfrm>
          <a:prstGeom prst="roundRect">
            <a:avLst>
              <a:gd name="adj" fmla="val 33488"/>
            </a:avLst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95315" y="2600920"/>
            <a:ext cx="25219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ThreatConnect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095315" y="3103483"/>
            <a:ext cx="252198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Commercial platform with advanced analytics, workflow automation and collaboration.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71780" y="4755237"/>
            <a:ext cx="3044309" cy="2516386"/>
          </a:xfrm>
          <a:prstGeom prst="roundRect">
            <a:avLst>
              <a:gd name="adj" fmla="val 4361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8920" y="4755237"/>
            <a:ext cx="91440" cy="2516386"/>
          </a:xfrm>
          <a:prstGeom prst="roundRect">
            <a:avLst>
              <a:gd name="adj" fmla="val 33488"/>
            </a:avLst>
          </a:prstGeom>
          <a:solidFill>
            <a:srgbClr val="1D1D1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7293" y="4982170"/>
            <a:ext cx="252186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Recorded Future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7293" y="5484733"/>
            <a:ext cx="252186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threat intelligence, predictive analytics and risk scoring.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9802" y="4755237"/>
            <a:ext cx="3044428" cy="2516386"/>
          </a:xfrm>
          <a:prstGeom prst="roundRect">
            <a:avLst>
              <a:gd name="adj" fmla="val 4361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76942" y="4755237"/>
            <a:ext cx="91440" cy="2516386"/>
          </a:xfrm>
          <a:prstGeom prst="roundRect">
            <a:avLst>
              <a:gd name="adj" fmla="val 33488"/>
            </a:avLst>
          </a:prstGeom>
          <a:solidFill>
            <a:srgbClr val="1D1D1B"/>
          </a:solidFill>
          <a:ln/>
        </p:spPr>
      </p:sp>
      <p:sp>
        <p:nvSpPr>
          <p:cNvPr id="21" name="Text 19"/>
          <p:cNvSpPr/>
          <p:nvPr/>
        </p:nvSpPr>
        <p:spPr>
          <a:xfrm>
            <a:off x="11095315" y="4982170"/>
            <a:ext cx="252198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Anomali ThreatStream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095315" y="5803583"/>
            <a:ext cx="252198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Integrated threat intelligence with automated response capabilities.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619"/>
            <a:ext cx="849808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Indicators of Compromise (IOCs)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471017"/>
            <a:ext cx="8084939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Technical Indicators Used for Detection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56830"/>
            <a:ext cx="510302" cy="510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3644" y="225683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IP Addresses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33644" y="2685812"/>
            <a:ext cx="3454718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Command and Control (C2) servers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Attacker infrastructure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Malicious hosting providers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7914" y="2256830"/>
            <a:ext cx="510302" cy="510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7768" y="225683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File Hashes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57768" y="2685812"/>
            <a:ext cx="3454718" cy="130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MD5, SHA-1, SHA-256 of malware samples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for endpoint and network detection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2038" y="2256830"/>
            <a:ext cx="510302" cy="5103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81893" y="225683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Domains and URLs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0381893" y="2685812"/>
            <a:ext cx="3454718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Phishing domains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Malware distribution sites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C2 communication endpoints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422934"/>
            <a:ext cx="510302" cy="5103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3644" y="442293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Email Indicators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533644" y="4851916"/>
            <a:ext cx="3454718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Sender addresses, subject lines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Attachment hashes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Phishing campaign patterns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7914" y="4422934"/>
            <a:ext cx="510302" cy="5103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57768" y="4422934"/>
            <a:ext cx="257532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Network Signatures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5957768" y="4851916"/>
            <a:ext cx="3454718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Port numbers, protocols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Packet patterns indicative of attacks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Behavioral anomalies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099899" y="6634996"/>
            <a:ext cx="12736711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Real-World Example: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 ransomware campaign uses IP </a:t>
            </a:r>
            <a:r>
              <a:rPr lang="en-US" sz="16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185.143.222.10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C2 communication. This IOC is shared across the industry, enabling organizations to detect and block the threat proactively.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793790" y="6428303"/>
            <a:ext cx="22860" cy="1041559"/>
          </a:xfrm>
          <a:prstGeom prst="rect">
            <a:avLst/>
          </a:prstGeom>
          <a:solidFill>
            <a:srgbClr val="1D1D1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40832"/>
            <a:ext cx="683823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 Actor Profiling and Attribution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80190" y="1439823"/>
            <a:ext cx="4798457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Understanding Who Attacks You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280190" y="1952149"/>
            <a:ext cx="7556421" cy="1002149"/>
          </a:xfrm>
          <a:prstGeom prst="roundRect">
            <a:avLst>
              <a:gd name="adj" fmla="val 2207"/>
            </a:avLst>
          </a:prstGeom>
          <a:solidFill>
            <a:srgbClr val="FCFCFC"/>
          </a:solidFill>
          <a:ln w="15240">
            <a:solidFill>
              <a:srgbClr val="D6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2829" y="2114788"/>
            <a:ext cx="247590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Nation-State Actors (APTs)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42829" y="2402562"/>
            <a:ext cx="7231142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Sophisticated, well-resourced. Examples: </a:t>
            </a:r>
            <a:r>
              <a:rPr lang="en-US" sz="11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APT29 (Russia), APT1 (China), Lazarus (North Korea)</a:t>
            </a: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Motivation: Espionage, geopolitical advantage.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0190" y="3050024"/>
            <a:ext cx="7556421" cy="807601"/>
          </a:xfrm>
          <a:prstGeom prst="roundRect">
            <a:avLst>
              <a:gd name="adj" fmla="val 2738"/>
            </a:avLst>
          </a:prstGeom>
          <a:solidFill>
            <a:srgbClr val="FCFCFC"/>
          </a:solidFill>
          <a:ln w="15240">
            <a:solidFill>
              <a:srgbClr val="D6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2829" y="3212663"/>
            <a:ext cx="204656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Cybercriminal Groups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42829" y="3500438"/>
            <a:ext cx="723114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Financially motivated. Examples: </a:t>
            </a:r>
            <a:r>
              <a:rPr lang="en-US" sz="11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FIN7, Wizard Spider</a:t>
            </a: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Motivation: Ransomware, data theft, fraud.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0190" y="3953351"/>
            <a:ext cx="7556421" cy="807601"/>
          </a:xfrm>
          <a:prstGeom prst="roundRect">
            <a:avLst>
              <a:gd name="adj" fmla="val 2738"/>
            </a:avLst>
          </a:prstGeom>
          <a:solidFill>
            <a:srgbClr val="FCFCFC"/>
          </a:solidFill>
          <a:ln w="15240">
            <a:solidFill>
              <a:srgbClr val="D6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2829" y="411599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Hacktivists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42829" y="4403765"/>
            <a:ext cx="723114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Ideologically motivated. Examples: </a:t>
            </a:r>
            <a:r>
              <a:rPr lang="en-US" sz="11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Anonymous, LulzSec</a:t>
            </a: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Motivation: Political or social causes.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80190" y="4856678"/>
            <a:ext cx="7556421" cy="807601"/>
          </a:xfrm>
          <a:prstGeom prst="roundRect">
            <a:avLst>
              <a:gd name="adj" fmla="val 2738"/>
            </a:avLst>
          </a:prstGeom>
          <a:solidFill>
            <a:srgbClr val="FCFCFC"/>
          </a:solidFill>
          <a:ln w="15240">
            <a:solidFill>
              <a:srgbClr val="D6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2829" y="501931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Insider Threats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2829" y="5307092"/>
            <a:ext cx="723114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Employees or contractors. Motivation: Financial gain, revenge, espionage.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80190" y="5807988"/>
            <a:ext cx="185368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Attribution Methods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280190" y="6182082"/>
            <a:ext cx="7556421" cy="110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Infrastructure analysis (IP geolocation, hosting providers)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Malware code analysis and similarities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TTPs and operational patterns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Language and cultural indicators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Timing and targeting patterns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860"/>
            <a:ext cx="12161044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Real-World Application: Detecting APT Campaigns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452801"/>
            <a:ext cx="13042821" cy="963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Scenario: Organization receives phishing emails with suspicious attachments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3790" y="2662476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3790" y="2967157"/>
            <a:ext cx="4238387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10919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Collection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93790" y="3508653"/>
            <a:ext cx="423838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Email security tool captures malicious email. Attachment hash: </a:t>
            </a:r>
            <a:r>
              <a:rPr lang="en-US" sz="1500" dirty="0">
                <a:solidFill>
                  <a:srgbClr val="61615C"/>
                </a:solidFill>
                <a:highlight>
                  <a:srgbClr val="EFEF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a1b2c3d4e5f6g7h8i9j0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96007" y="2662476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96007" y="2967157"/>
            <a:ext cx="4238387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5196007" y="310919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Analysis via TIP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196007" y="3508653"/>
            <a:ext cx="4238387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Query MISP with hash. Result: Known malware associated with </a:t>
            </a:r>
            <a:r>
              <a:rPr lang="en-US" sz="15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APT29</a:t>
            </a: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Attribution: Russian state-sponsored group.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98223" y="2662476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98223" y="2967157"/>
            <a:ext cx="4238387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9598223" y="310919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Enrichment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598223" y="3508653"/>
            <a:ext cx="4238387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Threat intelligence reveals APT29 TTPs: Spear phishing targeting finance departments, Cobalt Strike post-exploitation, lateral movement via Windows Admin Shares.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3790" y="4958120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3790" y="5262801"/>
            <a:ext cx="643949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4048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Detection Rules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93790" y="5804297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SOC deploys custom SIEM rules: Alert on similar file hashes, monitor for Cobalt Strike beacons, flag suspicious lateral movement.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7115" y="4958120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97115" y="5262801"/>
            <a:ext cx="6439495" cy="22860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2" name="Text 20"/>
          <p:cNvSpPr/>
          <p:nvPr/>
        </p:nvSpPr>
        <p:spPr>
          <a:xfrm>
            <a:off x="7397115" y="54048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Response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397115" y="5804297"/>
            <a:ext cx="643949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Isolate affected systems, block C2 infrastructure, notify executives of targeted campaign, implement enhanced monitoring.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3790" y="6703695"/>
            <a:ext cx="13042821" cy="740926"/>
          </a:xfrm>
          <a:prstGeom prst="roundRect">
            <a:avLst>
              <a:gd name="adj" fmla="val 3903"/>
            </a:avLst>
          </a:prstGeom>
          <a:solidFill>
            <a:srgbClr val="DADAD7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6989207"/>
            <a:ext cx="240983" cy="1927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0297" y="6915626"/>
            <a:ext cx="122235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Outcome:</a:t>
            </a:r>
            <a:r>
              <a:rPr lang="en-US" sz="15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Threat contained before lateral movement occurs.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058"/>
            <a:ext cx="1172479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Threat Intelligence Sharing and Collaboration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38218"/>
            <a:ext cx="281582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Industry Frameworks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0930" y="2440900"/>
            <a:ext cx="45720" cy="3349347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1043583" y="2463760"/>
            <a:ext cx="2771656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Information Sharing and Analysis Centers (ISACs)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3583" y="3604022"/>
            <a:ext cx="2771656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Financial ISAC, Healthcare ISAC, Energy ISAC — Sector-specific threat information exchange and coordinated response to industry-wide threats.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1931" y="2440900"/>
            <a:ext cx="45720" cy="3349347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4294584" y="2463760"/>
            <a:ext cx="2771656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STIX and TAXII Standards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4584" y="3285173"/>
            <a:ext cx="2771656" cy="2482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STIX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(Structured Threat Information Expression): Standardized format for threat data. </a:t>
            </a:r>
            <a:r>
              <a:rPr lang="en-US" sz="16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TAXII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(Trusted Automated Exchange of Indicator Information): Protocol for sharing threat intelligence.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24857" y="1754505"/>
            <a:ext cx="6566297" cy="4304824"/>
          </a:xfrm>
          <a:prstGeom prst="roundRect">
            <a:avLst>
              <a:gd name="adj" fmla="val 711"/>
            </a:avLst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7628930" y="193821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Benefits of Sharing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28930" y="2440781"/>
            <a:ext cx="61581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Collective defense against common threats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Faster detection and response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Reduced incident response time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Cost efficiency through shared resources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8930" y="405848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28930" y="4561046"/>
            <a:ext cx="615815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sensitivity and confidentiality concerns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Standardization and compatibility issues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Legal and regulatory constraints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Trust and verification of shared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6266021"/>
            <a:ext cx="13042821" cy="1122521"/>
          </a:xfrm>
          <a:prstGeom prst="roundRect">
            <a:avLst>
              <a:gd name="adj" fmla="val 2728"/>
            </a:avLst>
          </a:prstGeom>
          <a:solidFill>
            <a:srgbClr val="DADAD7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578679"/>
            <a:ext cx="255151" cy="2040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57087" y="6500693"/>
            <a:ext cx="1217545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Best Practice:</a:t>
            </a:r>
            <a:r>
              <a:rPr lang="en-US" sz="16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Organizations should participate in industry-specific sharing groups while maintaining internal threat intelligence programs.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9048"/>
            <a:ext cx="1138320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Critical Success Factors for Threat Intelligence Programs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677472"/>
            <a:ext cx="4273510" cy="1573649"/>
          </a:xfrm>
          <a:prstGeom prst="roundRect">
            <a:avLst>
              <a:gd name="adj" fmla="val 1513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83618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1. Integration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52500" y="2150864"/>
            <a:ext cx="3956090" cy="94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Connect threat intelligence with SIEM, EDR, and firewalls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Automate detection and response workflows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 real-time threat correlation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78385" y="1677472"/>
            <a:ext cx="4273510" cy="1573649"/>
          </a:xfrm>
          <a:prstGeom prst="roundRect">
            <a:avLst>
              <a:gd name="adj" fmla="val 1513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5337096" y="1836182"/>
            <a:ext cx="253960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2. Continuous Monitoring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37096" y="2150864"/>
            <a:ext cx="3956090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Maintain 24/7 threat monitoring capabilities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Subscribe to relevant threat feeds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Participate in industry sharing initiatives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62981" y="1677472"/>
            <a:ext cx="4273510" cy="1573649"/>
          </a:xfrm>
          <a:prstGeom prst="roundRect">
            <a:avLst>
              <a:gd name="adj" fmla="val 1513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9721691" y="1836182"/>
            <a:ext cx="198703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3. Skilled Personnel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721691" y="2150864"/>
            <a:ext cx="3956090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Invest in threat intelligence analysts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Provide ongoing training on TTPs and attribution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Foster a culture of threat awareness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3362206"/>
            <a:ext cx="6465808" cy="1357670"/>
          </a:xfrm>
          <a:prstGeom prst="roundRect">
            <a:avLst>
              <a:gd name="adj" fmla="val 1754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520916"/>
            <a:ext cx="25657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4. Actionable Intelligence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52500" y="3835598"/>
            <a:ext cx="6148388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 on intelligence relevant to your organization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Prioritize threats based on business impact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Communicate findings to decision-makers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70683" y="3362206"/>
            <a:ext cx="6465808" cy="1357670"/>
          </a:xfrm>
          <a:prstGeom prst="roundRect">
            <a:avLst>
              <a:gd name="adj" fmla="val 1754"/>
            </a:avLst>
          </a:prstGeom>
          <a:solidFill>
            <a:srgbClr val="F0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7529393" y="3520916"/>
            <a:ext cx="286023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5. Metrics and Measurement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29393" y="3835598"/>
            <a:ext cx="6148388" cy="725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Track detection rates and response times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Measure impact on incident prevention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Continuously refine intelligence processes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3790" y="4886563"/>
            <a:ext cx="236112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Recommended Actions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5301258"/>
            <a:ext cx="13042821" cy="123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Evaluate and implement a TIP (MISP, ThreatConnect, or Recorded Future)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Establish threat intelligence sharing partnerships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Develop threat actor profiles relevant to your industry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 automated detection rules based on IOCs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Conduct regular threat briefings for leadership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3790" y="6661428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 more information on threat intelligence frameworks, visit CISA, Mitre ATT&amp;CK, or industry-specific ISACs.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3790" y="7002423"/>
            <a:ext cx="1227773" cy="268010"/>
          </a:xfrm>
          <a:prstGeom prst="roundRect">
            <a:avLst>
              <a:gd name="adj" fmla="val 7109"/>
            </a:avLst>
          </a:prstGeom>
          <a:solidFill>
            <a:srgbClr val="E6E6E5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40" y="7050048"/>
            <a:ext cx="1037272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CYBERSECURITY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0858" y="7002423"/>
            <a:ext cx="1596271" cy="268010"/>
          </a:xfrm>
          <a:prstGeom prst="roundRect">
            <a:avLst>
              <a:gd name="adj" fmla="val 7109"/>
            </a:avLst>
          </a:prstGeom>
          <a:solidFill>
            <a:srgbClr val="E6E6E5"/>
          </a:solidFill>
          <a:ln/>
        </p:spPr>
      </p:sp>
      <p:sp>
        <p:nvSpPr>
          <p:cNvPr id="24" name="Text 22"/>
          <p:cNvSpPr/>
          <p:nvPr/>
        </p:nvSpPr>
        <p:spPr>
          <a:xfrm>
            <a:off x="2196108" y="7050048"/>
            <a:ext cx="1405771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THREAT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76424" y="7002423"/>
            <a:ext cx="1624489" cy="268010"/>
          </a:xfrm>
          <a:prstGeom prst="roundRect">
            <a:avLst>
              <a:gd name="adj" fmla="val 7109"/>
            </a:avLst>
          </a:prstGeom>
          <a:solidFill>
            <a:srgbClr val="E6E6E5"/>
          </a:solidFill>
          <a:ln/>
        </p:spPr>
      </p:sp>
      <p:sp>
        <p:nvSpPr>
          <p:cNvPr id="26" name="Text 24"/>
          <p:cNvSpPr/>
          <p:nvPr/>
        </p:nvSpPr>
        <p:spPr>
          <a:xfrm>
            <a:off x="3871674" y="7050048"/>
            <a:ext cx="1433989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ENTERPRISE SECURITY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0209" y="7002423"/>
            <a:ext cx="1416725" cy="268010"/>
          </a:xfrm>
          <a:prstGeom prst="roundRect">
            <a:avLst>
              <a:gd name="adj" fmla="val 7109"/>
            </a:avLst>
          </a:prstGeom>
          <a:solidFill>
            <a:srgbClr val="E6E6E5"/>
          </a:solidFill>
          <a:ln/>
        </p:spPr>
      </p:sp>
      <p:sp>
        <p:nvSpPr>
          <p:cNvPr id="28" name="Text 26"/>
          <p:cNvSpPr/>
          <p:nvPr/>
        </p:nvSpPr>
        <p:spPr>
          <a:xfrm>
            <a:off x="5575459" y="7050048"/>
            <a:ext cx="1226225" cy="17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RISK 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1019</Words>
  <Application>Microsoft Office PowerPoint</Application>
  <PresentationFormat>Custom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Tomorrow</vt:lpstr>
      <vt:lpstr>Tomorrow Light</vt:lpstr>
      <vt:lpstr>Tomorrow Semi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3</cp:revision>
  <dcterms:created xsi:type="dcterms:W3CDTF">2026-03-30T07:10:00Z</dcterms:created>
  <dcterms:modified xsi:type="dcterms:W3CDTF">2026-03-30T07:18:38Z</dcterms:modified>
</cp:coreProperties>
</file>