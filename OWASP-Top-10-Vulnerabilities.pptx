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4630400" cy="8229600"/>
  <p:notesSz cx="8229600" cy="14630400"/>
  <p:embeddedFontLst>
    <p:embeddedFont>
      <p:font typeface="Patrick Hand" panose="00000500000000000000" pitchFamily="2"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7070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11151"/>
            <a:ext cx="14630400" cy="8229600"/>
          </a:xfrm>
          <a:prstGeom prst="rect">
            <a:avLst/>
          </a:prstGeom>
          <a:solidFill>
            <a:srgbClr val="F7F7F7"/>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9.sv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21.svg"/></Relationships>
</file>

<file path=ppt/slides/_rels/slide9.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5.svg"/><Relationship Id="rId11" Type="http://schemas.openxmlformats.org/officeDocument/2006/relationships/image" Target="../media/image11.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36.png"/><Relationship Id="rId7" Type="http://schemas.openxmlformats.org/officeDocument/2006/relationships/image" Target="../media/image4.png"/><Relationship Id="rId12" Type="http://schemas.openxmlformats.org/officeDocument/2006/relationships/image" Target="../media/image41.sv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3.svg"/><Relationship Id="rId11" Type="http://schemas.openxmlformats.org/officeDocument/2006/relationships/image" Target="../media/image40.png"/><Relationship Id="rId5" Type="http://schemas.openxmlformats.org/officeDocument/2006/relationships/image" Target="../media/image2.png"/><Relationship Id="rId10" Type="http://schemas.openxmlformats.org/officeDocument/2006/relationships/image" Target="../media/image39.svg"/><Relationship Id="rId4" Type="http://schemas.openxmlformats.org/officeDocument/2006/relationships/image" Target="../media/image37.svg"/><Relationship Id="rId9"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452473" y="2179677"/>
            <a:ext cx="5293757" cy="603766"/>
          </a:xfrm>
          <a:prstGeom prst="rect">
            <a:avLst/>
          </a:prstGeom>
          <a:noFill/>
          <a:ln/>
        </p:spPr>
        <p:txBody>
          <a:bodyPr wrap="none" lIns="0" tIns="0" rIns="0" bIns="0" rtlCol="0" anchor="t"/>
          <a:lstStyle/>
          <a:p>
            <a:pPr marL="0" indent="0" algn="l">
              <a:lnSpc>
                <a:spcPts val="4750"/>
              </a:lnSpc>
              <a:buNone/>
            </a:pPr>
            <a:r>
              <a:rPr lang="en-US" sz="3800" dirty="0">
                <a:solidFill>
                  <a:srgbClr val="383838"/>
                </a:solidFill>
                <a:latin typeface="Patrick Hand" pitchFamily="34" charset="0"/>
                <a:ea typeface="Patrick Hand" pitchFamily="34" charset="-122"/>
                <a:cs typeface="Patrick Hand" pitchFamily="34" charset="-120"/>
              </a:rPr>
              <a:t>OWASP Top 10 Vulnerabilities </a:t>
            </a:r>
            <a:endParaRPr lang="en-US" sz="3800" dirty="0"/>
          </a:p>
        </p:txBody>
      </p:sp>
      <p:sp>
        <p:nvSpPr>
          <p:cNvPr id="4" name="Text 1"/>
          <p:cNvSpPr/>
          <p:nvPr/>
        </p:nvSpPr>
        <p:spPr>
          <a:xfrm>
            <a:off x="6452473" y="2880003"/>
            <a:ext cx="4830723" cy="603766"/>
          </a:xfrm>
          <a:prstGeom prst="rect">
            <a:avLst/>
          </a:prstGeom>
          <a:noFill/>
          <a:ln/>
        </p:spPr>
        <p:txBody>
          <a:bodyPr wrap="none" lIns="0" tIns="0" rIns="0" bIns="0" rtlCol="0" anchor="t"/>
          <a:lstStyle/>
          <a:p>
            <a:pPr marL="0" indent="0" algn="l">
              <a:lnSpc>
                <a:spcPts val="4750"/>
              </a:lnSpc>
              <a:buNone/>
            </a:pPr>
            <a:r>
              <a:rPr lang="en-US" sz="3800" dirty="0">
                <a:solidFill>
                  <a:srgbClr val="383838"/>
                </a:solidFill>
                <a:latin typeface="Patrick Hand" pitchFamily="34" charset="0"/>
                <a:ea typeface="Patrick Hand" pitchFamily="34" charset="-122"/>
                <a:cs typeface="Patrick Hand" pitchFamily="34" charset="-120"/>
              </a:rPr>
              <a:t>Case Studies</a:t>
            </a:r>
            <a:endParaRPr lang="en-US" sz="3800" dirty="0"/>
          </a:p>
        </p:txBody>
      </p:sp>
      <p:sp>
        <p:nvSpPr>
          <p:cNvPr id="5" name="Text 2"/>
          <p:cNvSpPr/>
          <p:nvPr/>
        </p:nvSpPr>
        <p:spPr>
          <a:xfrm>
            <a:off x="6452473" y="3846076"/>
            <a:ext cx="7211854" cy="483037"/>
          </a:xfrm>
          <a:prstGeom prst="rect">
            <a:avLst/>
          </a:prstGeom>
          <a:noFill/>
          <a:ln/>
        </p:spPr>
        <p:txBody>
          <a:bodyPr wrap="none" lIns="0" tIns="0" rIns="0" bIns="0" rtlCol="0" anchor="t"/>
          <a:lstStyle/>
          <a:p>
            <a:pPr marL="0" indent="0" algn="l">
              <a:lnSpc>
                <a:spcPts val="3800"/>
              </a:lnSpc>
              <a:buNone/>
            </a:pPr>
            <a:r>
              <a:rPr lang="en-US" sz="2350" dirty="0">
                <a:solidFill>
                  <a:srgbClr val="383838"/>
                </a:solidFill>
                <a:latin typeface="Patrick Hand" pitchFamily="34" charset="0"/>
                <a:ea typeface="Patrick Hand" pitchFamily="34" charset="-122"/>
                <a:cs typeface="Patrick Hand" pitchFamily="34" charset="-120"/>
              </a:rPr>
              <a:t>Real-World Data Breaches &amp; Business Impact (2021–2026)</a:t>
            </a:r>
            <a:endParaRPr lang="en-US" sz="2350" dirty="0"/>
          </a:p>
        </p:txBody>
      </p:sp>
      <p:sp>
        <p:nvSpPr>
          <p:cNvPr id="6" name="Text 3"/>
          <p:cNvSpPr/>
          <p:nvPr/>
        </p:nvSpPr>
        <p:spPr>
          <a:xfrm>
            <a:off x="6452473" y="4600813"/>
            <a:ext cx="7211854" cy="1449110"/>
          </a:xfrm>
          <a:prstGeom prst="rect">
            <a:avLst/>
          </a:prstGeom>
          <a:noFill/>
          <a:ln/>
        </p:spPr>
        <p:txBody>
          <a:bodyPr wrap="square" lIns="0" tIns="0" rIns="0" bIns="0" rtlCol="0" anchor="t"/>
          <a:lstStyle/>
          <a:p>
            <a:pPr marL="0" indent="0" algn="l">
              <a:lnSpc>
                <a:spcPts val="3800"/>
              </a:lnSpc>
              <a:buNone/>
            </a:pPr>
            <a:r>
              <a:rPr lang="en-US" sz="2350" dirty="0">
                <a:solidFill>
                  <a:srgbClr val="383838"/>
                </a:solidFill>
                <a:latin typeface="Patrick Hand" pitchFamily="34" charset="0"/>
                <a:ea typeface="Patrick Hand" pitchFamily="34" charset="-122"/>
                <a:cs typeface="Patrick Hand" pitchFamily="34" charset="-120"/>
              </a:rPr>
              <a:t> Case study examining how the most critical web application security risks have fueled devastating data breaches — and what they cost the companies that failed to act.</a:t>
            </a:r>
            <a:endParaRPr lang="en-US" sz="2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966073" y="684728"/>
            <a:ext cx="1139785" cy="366236"/>
          </a:xfrm>
          <a:prstGeom prst="roundRect">
            <a:avLst>
              <a:gd name="adj" fmla="val 18836"/>
            </a:avLst>
          </a:prstGeom>
          <a:solidFill>
            <a:srgbClr val="E6E6E6"/>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9184" y="785693"/>
            <a:ext cx="164187" cy="164187"/>
          </a:xfrm>
          <a:prstGeom prst="rect">
            <a:avLst/>
          </a:prstGeom>
        </p:spPr>
      </p:pic>
      <p:sp>
        <p:nvSpPr>
          <p:cNvPr id="4" name="Text 1"/>
          <p:cNvSpPr/>
          <p:nvPr/>
        </p:nvSpPr>
        <p:spPr>
          <a:xfrm>
            <a:off x="1335405" y="746284"/>
            <a:ext cx="647343" cy="243126"/>
          </a:xfrm>
          <a:prstGeom prst="rect">
            <a:avLst/>
          </a:prstGeom>
          <a:noFill/>
          <a:ln/>
        </p:spPr>
        <p:txBody>
          <a:bodyPr wrap="none" lIns="0" tIns="0" rIns="0" bIns="0" rtlCol="0" anchor="t"/>
          <a:lstStyle/>
          <a:p>
            <a:pPr marL="0" indent="0" algn="l">
              <a:lnSpc>
                <a:spcPts val="1900"/>
              </a:lnSpc>
              <a:buNone/>
            </a:pPr>
            <a:r>
              <a:rPr lang="en-US" sz="1250" dirty="0">
                <a:solidFill>
                  <a:srgbClr val="383838"/>
                </a:solidFill>
                <a:latin typeface="Patrick Hand" pitchFamily="34" charset="0"/>
                <a:ea typeface="Patrick Hand" pitchFamily="34" charset="-122"/>
                <a:cs typeface="Patrick Hand" pitchFamily="34" charset="-120"/>
              </a:rPr>
              <a:t>CHAPTER 1</a:t>
            </a:r>
            <a:endParaRPr lang="en-US" sz="1250" dirty="0"/>
          </a:p>
        </p:txBody>
      </p:sp>
      <p:sp>
        <p:nvSpPr>
          <p:cNvPr id="5" name="Shape 2"/>
          <p:cNvSpPr/>
          <p:nvPr/>
        </p:nvSpPr>
        <p:spPr>
          <a:xfrm>
            <a:off x="2208490" y="677108"/>
            <a:ext cx="1044178" cy="381476"/>
          </a:xfrm>
          <a:prstGeom prst="roundRect">
            <a:avLst>
              <a:gd name="adj" fmla="val 18083"/>
            </a:avLst>
          </a:prstGeom>
          <a:noFill/>
          <a:ln w="7620">
            <a:solidFill>
              <a:srgbClr val="CCCCCC"/>
            </a:solidFill>
            <a:prstDash val="solid"/>
          </a:ln>
        </p:spPr>
      </p:sp>
      <p:sp>
        <p:nvSpPr>
          <p:cNvPr id="6" name="Text 3"/>
          <p:cNvSpPr/>
          <p:nvPr/>
        </p:nvSpPr>
        <p:spPr>
          <a:xfrm>
            <a:off x="2339221" y="746284"/>
            <a:ext cx="782717" cy="243126"/>
          </a:xfrm>
          <a:prstGeom prst="rect">
            <a:avLst/>
          </a:prstGeom>
          <a:noFill/>
          <a:ln/>
        </p:spPr>
        <p:txBody>
          <a:bodyPr wrap="none" lIns="0" tIns="0" rIns="0" bIns="0" rtlCol="0" anchor="t"/>
          <a:lstStyle/>
          <a:p>
            <a:pPr marL="0" indent="0" algn="l">
              <a:lnSpc>
                <a:spcPts val="1900"/>
              </a:lnSpc>
              <a:buNone/>
            </a:pPr>
            <a:r>
              <a:rPr lang="en-US" sz="1250" dirty="0">
                <a:solidFill>
                  <a:srgbClr val="CCCCCC"/>
                </a:solidFill>
                <a:latin typeface="Patrick Hand" pitchFamily="34" charset="0"/>
                <a:ea typeface="Patrick Hand" pitchFamily="34" charset="-122"/>
                <a:cs typeface="Patrick Hand" pitchFamily="34" charset="-120"/>
              </a:rPr>
              <a:t>FOUNDATION</a:t>
            </a:r>
            <a:endParaRPr lang="en-US" sz="1250" dirty="0"/>
          </a:p>
        </p:txBody>
      </p:sp>
      <p:sp>
        <p:nvSpPr>
          <p:cNvPr id="7" name="Text 4"/>
          <p:cNvSpPr/>
          <p:nvPr/>
        </p:nvSpPr>
        <p:spPr>
          <a:xfrm>
            <a:off x="966073" y="1128355"/>
            <a:ext cx="6081593" cy="513278"/>
          </a:xfrm>
          <a:prstGeom prst="rect">
            <a:avLst/>
          </a:prstGeom>
          <a:noFill/>
          <a:ln/>
        </p:spPr>
        <p:txBody>
          <a:bodyPr wrap="none" lIns="0" tIns="0" rIns="0" bIns="0" rtlCol="0" anchor="t"/>
          <a:lstStyle/>
          <a:p>
            <a:pPr marL="0" indent="0" algn="l">
              <a:lnSpc>
                <a:spcPts val="4000"/>
              </a:lnSpc>
              <a:buNone/>
            </a:pPr>
            <a:r>
              <a:rPr lang="en-US" sz="3200" dirty="0">
                <a:solidFill>
                  <a:srgbClr val="383838"/>
                </a:solidFill>
                <a:latin typeface="Patrick Hand" pitchFamily="34" charset="0"/>
                <a:ea typeface="Patrick Hand" pitchFamily="34" charset="-122"/>
                <a:cs typeface="Patrick Hand" pitchFamily="34" charset="-120"/>
              </a:rPr>
              <a:t>Introduction: Why OWASP Top 10 Matters</a:t>
            </a:r>
            <a:endParaRPr lang="en-US" sz="3200" dirty="0"/>
          </a:p>
        </p:txBody>
      </p:sp>
      <p:sp>
        <p:nvSpPr>
          <p:cNvPr id="8" name="Text 5"/>
          <p:cNvSpPr/>
          <p:nvPr/>
        </p:nvSpPr>
        <p:spPr>
          <a:xfrm>
            <a:off x="966073" y="1903333"/>
            <a:ext cx="12698254" cy="607457"/>
          </a:xfrm>
          <a:prstGeom prst="rect">
            <a:avLst/>
          </a:prstGeom>
          <a:noFill/>
          <a:ln/>
        </p:spPr>
        <p:txBody>
          <a:bodyPr wrap="square" lIns="0" tIns="0" rIns="0" bIns="0" rtlCol="0" anchor="t"/>
          <a:lstStyle/>
          <a:p>
            <a:pPr marL="0" indent="0" algn="l">
              <a:lnSpc>
                <a:spcPts val="2350"/>
              </a:lnSpc>
              <a:buNone/>
            </a:pPr>
            <a:r>
              <a:rPr lang="en-US" sz="1600" dirty="0">
                <a:solidFill>
                  <a:srgbClr val="383838"/>
                </a:solidFill>
                <a:latin typeface="Patrick Hand" pitchFamily="34" charset="0"/>
                <a:ea typeface="Patrick Hand" pitchFamily="34" charset="-122"/>
                <a:cs typeface="Patrick Hand" pitchFamily="34" charset="-120"/>
              </a:rPr>
              <a:t>The </a:t>
            </a:r>
            <a:r>
              <a:rPr lang="en-US" sz="1600" b="1" dirty="0">
                <a:solidFill>
                  <a:srgbClr val="383838"/>
                </a:solidFill>
                <a:latin typeface="Patrick Hand" pitchFamily="34" charset="0"/>
                <a:ea typeface="Patrick Hand" pitchFamily="34" charset="-122"/>
                <a:cs typeface="Patrick Hand" pitchFamily="34" charset="-120"/>
              </a:rPr>
              <a:t>Open Web Application Security Project (OWASP) Top 10</a:t>
            </a:r>
            <a:r>
              <a:rPr lang="en-US" sz="1600" dirty="0">
                <a:solidFill>
                  <a:srgbClr val="383838"/>
                </a:solidFill>
                <a:latin typeface="Patrick Hand" pitchFamily="34" charset="0"/>
                <a:ea typeface="Patrick Hand" pitchFamily="34" charset="-122"/>
                <a:cs typeface="Patrick Hand" pitchFamily="34" charset="-120"/>
              </a:rPr>
              <a:t> is the most authoritative reference for the critical security risks facing modern web applications. Updated periodically through rigorous analysis, this list captures the vulnerabilities that attackers exploit most frequently and most destructively in the wild.</a:t>
            </a:r>
            <a:endParaRPr lang="en-US" sz="1600" dirty="0"/>
          </a:p>
        </p:txBody>
      </p:sp>
      <p:sp>
        <p:nvSpPr>
          <p:cNvPr id="9" name="Text 6"/>
          <p:cNvSpPr/>
          <p:nvPr/>
        </p:nvSpPr>
        <p:spPr>
          <a:xfrm>
            <a:off x="966073" y="2864048"/>
            <a:ext cx="6758583" cy="1518642"/>
          </a:xfrm>
          <a:prstGeom prst="rect">
            <a:avLst/>
          </a:prstGeom>
          <a:noFill/>
          <a:ln/>
        </p:spPr>
        <p:txBody>
          <a:bodyPr wrap="square" lIns="0" tIns="0" rIns="0" bIns="0" rtlCol="0" anchor="t"/>
          <a:lstStyle/>
          <a:p>
            <a:pPr marL="0" indent="0" algn="l">
              <a:lnSpc>
                <a:spcPts val="2350"/>
              </a:lnSpc>
              <a:buNone/>
            </a:pPr>
            <a:r>
              <a:rPr lang="en-US" sz="1600" dirty="0">
                <a:solidFill>
                  <a:srgbClr val="383838"/>
                </a:solidFill>
                <a:latin typeface="Patrick Hand" pitchFamily="34" charset="0"/>
                <a:ea typeface="Patrick Hand" pitchFamily="34" charset="-122"/>
                <a:cs typeface="Patrick Hand" pitchFamily="34" charset="-120"/>
              </a:rPr>
              <a:t>Over the past five years, these vulnerabilities have been directly responsible for breaches affecting </a:t>
            </a:r>
            <a:r>
              <a:rPr lang="en-US" sz="1600" b="1" dirty="0">
                <a:solidFill>
                  <a:srgbClr val="383838"/>
                </a:solidFill>
                <a:latin typeface="Patrick Hand" pitchFamily="34" charset="0"/>
                <a:ea typeface="Patrick Hand" pitchFamily="34" charset="-122"/>
                <a:cs typeface="Patrick Hand" pitchFamily="34" charset="-120"/>
              </a:rPr>
              <a:t>billions of records</a:t>
            </a:r>
            <a:r>
              <a:rPr lang="en-US" sz="1600" dirty="0">
                <a:solidFill>
                  <a:srgbClr val="383838"/>
                </a:solidFill>
                <a:latin typeface="Patrick Hand" pitchFamily="34" charset="0"/>
                <a:ea typeface="Patrick Hand" pitchFamily="34" charset="-122"/>
                <a:cs typeface="Patrick Hand" pitchFamily="34" charset="-120"/>
              </a:rPr>
              <a:t>, costing organizations hundreds of millions of dollars in fines, settlements, and remediation. Understanding these risks through the lens of real-world incidents reveals the true business impact — from regulatory penalties and litigation to irreparable brand damage and customer trust erosion.</a:t>
            </a:r>
            <a:endParaRPr lang="en-US" sz="1600" dirty="0"/>
          </a:p>
        </p:txBody>
      </p:sp>
      <p:sp>
        <p:nvSpPr>
          <p:cNvPr id="10" name="Text 7"/>
          <p:cNvSpPr/>
          <p:nvPr/>
        </p:nvSpPr>
        <p:spPr>
          <a:xfrm>
            <a:off x="966073" y="4539734"/>
            <a:ext cx="6758583" cy="911185"/>
          </a:xfrm>
          <a:prstGeom prst="rect">
            <a:avLst/>
          </a:prstGeom>
          <a:noFill/>
          <a:ln/>
        </p:spPr>
        <p:txBody>
          <a:bodyPr wrap="square" lIns="0" tIns="0" rIns="0" bIns="0" rtlCol="0" anchor="t"/>
          <a:lstStyle/>
          <a:p>
            <a:pPr marL="0" indent="0" algn="l">
              <a:lnSpc>
                <a:spcPts val="2350"/>
              </a:lnSpc>
              <a:buNone/>
            </a:pPr>
            <a:r>
              <a:rPr lang="en-US" sz="1600" dirty="0">
                <a:solidFill>
                  <a:srgbClr val="383838"/>
                </a:solidFill>
                <a:latin typeface="Patrick Hand" pitchFamily="34" charset="0"/>
                <a:ea typeface="Patrick Hand" pitchFamily="34" charset="-122"/>
                <a:cs typeface="Patrick Hand" pitchFamily="34" charset="-120"/>
              </a:rPr>
              <a:t>This presentation walks through </a:t>
            </a:r>
            <a:r>
              <a:rPr lang="en-US" sz="1600" b="1" dirty="0">
                <a:solidFill>
                  <a:srgbClr val="383838"/>
                </a:solidFill>
                <a:latin typeface="Patrick Hand" pitchFamily="34" charset="0"/>
                <a:ea typeface="Patrick Hand" pitchFamily="34" charset="-122"/>
                <a:cs typeface="Patrick Hand" pitchFamily="34" charset="-120"/>
              </a:rPr>
              <a:t>OWASP categories A01 through A10</a:t>
            </a:r>
            <a:r>
              <a:rPr lang="en-US" sz="1600" dirty="0">
                <a:solidFill>
                  <a:srgbClr val="383838"/>
                </a:solidFill>
                <a:latin typeface="Patrick Hand" pitchFamily="34" charset="0"/>
                <a:ea typeface="Patrick Hand" pitchFamily="34" charset="-122"/>
                <a:cs typeface="Patrick Hand" pitchFamily="34" charset="-120"/>
              </a:rPr>
              <a:t>, mapping each to documented breaches, quantifying their financial toll, and distilling the lessons every security team must internalize.</a:t>
            </a:r>
            <a:endParaRPr lang="en-US" sz="1600" dirty="0"/>
          </a:p>
        </p:txBody>
      </p:sp>
      <p:sp>
        <p:nvSpPr>
          <p:cNvPr id="11" name="Text 8"/>
          <p:cNvSpPr/>
          <p:nvPr/>
        </p:nvSpPr>
        <p:spPr>
          <a:xfrm>
            <a:off x="8428792" y="3005852"/>
            <a:ext cx="2218730" cy="677466"/>
          </a:xfrm>
          <a:prstGeom prst="rect">
            <a:avLst/>
          </a:prstGeom>
          <a:noFill/>
          <a:ln/>
        </p:spPr>
        <p:txBody>
          <a:bodyPr wrap="none" lIns="0" tIns="0" rIns="0" bIns="0" rtlCol="0" anchor="t"/>
          <a:lstStyle/>
          <a:p>
            <a:pPr marL="0" indent="0" algn="ctr">
              <a:lnSpc>
                <a:spcPts val="5300"/>
              </a:lnSpc>
              <a:buNone/>
            </a:pPr>
            <a:r>
              <a:rPr lang="en-US" sz="5300" dirty="0">
                <a:solidFill>
                  <a:srgbClr val="383838"/>
                </a:solidFill>
                <a:latin typeface="Patrick Hand" pitchFamily="34" charset="0"/>
                <a:ea typeface="Patrick Hand" pitchFamily="34" charset="-122"/>
                <a:cs typeface="Patrick Hand" pitchFamily="34" charset="-120"/>
              </a:rPr>
              <a:t>$4.5M</a:t>
            </a:r>
            <a:endParaRPr lang="en-US" sz="5300" dirty="0"/>
          </a:p>
        </p:txBody>
      </p:sp>
      <p:sp>
        <p:nvSpPr>
          <p:cNvPr id="12" name="Text 9"/>
          <p:cNvSpPr/>
          <p:nvPr/>
        </p:nvSpPr>
        <p:spPr>
          <a:xfrm>
            <a:off x="8511659" y="3916799"/>
            <a:ext cx="2052995" cy="256580"/>
          </a:xfrm>
          <a:prstGeom prst="rect">
            <a:avLst/>
          </a:prstGeom>
          <a:noFill/>
          <a:ln/>
        </p:spPr>
        <p:txBody>
          <a:bodyPr wrap="none" lIns="0" tIns="0" rIns="0" bIns="0" rtlCol="0" anchor="t"/>
          <a:lstStyle/>
          <a:p>
            <a:pPr marL="0" indent="0" algn="ctr">
              <a:lnSpc>
                <a:spcPts val="2000"/>
              </a:lnSpc>
              <a:buNone/>
            </a:pPr>
            <a:r>
              <a:rPr lang="en-US" sz="1600" dirty="0">
                <a:solidFill>
                  <a:srgbClr val="383838"/>
                </a:solidFill>
                <a:latin typeface="Patrick Hand" pitchFamily="34" charset="0"/>
                <a:ea typeface="Patrick Hand" pitchFamily="34" charset="-122"/>
                <a:cs typeface="Patrick Hand" pitchFamily="34" charset="-120"/>
              </a:rPr>
              <a:t>Avg. Breach Cost</a:t>
            </a:r>
            <a:endParaRPr lang="en-US" sz="1600" dirty="0"/>
          </a:p>
        </p:txBody>
      </p:sp>
      <p:sp>
        <p:nvSpPr>
          <p:cNvPr id="13" name="Text 10"/>
          <p:cNvSpPr/>
          <p:nvPr/>
        </p:nvSpPr>
        <p:spPr>
          <a:xfrm>
            <a:off x="8233053" y="4347805"/>
            <a:ext cx="2610326" cy="607457"/>
          </a:xfrm>
          <a:prstGeom prst="rect">
            <a:avLst/>
          </a:prstGeom>
          <a:noFill/>
          <a:ln/>
        </p:spPr>
        <p:txBody>
          <a:bodyPr wrap="square" lIns="0" tIns="0" rIns="0" bIns="0" rtlCol="0" anchor="t"/>
          <a:lstStyle/>
          <a:p>
            <a:pPr marL="0" indent="0" algn="ctr">
              <a:lnSpc>
                <a:spcPts val="2350"/>
              </a:lnSpc>
              <a:buNone/>
            </a:pPr>
            <a:r>
              <a:rPr lang="en-US" sz="1600" dirty="0">
                <a:solidFill>
                  <a:srgbClr val="383838"/>
                </a:solidFill>
                <a:latin typeface="Patrick Hand" pitchFamily="34" charset="0"/>
                <a:ea typeface="Patrick Hand" pitchFamily="34" charset="-122"/>
                <a:cs typeface="Patrick Hand" pitchFamily="34" charset="-120"/>
              </a:rPr>
              <a:t>Global average cost per data breach in 2023 (IBM)</a:t>
            </a:r>
            <a:endParaRPr lang="en-US" sz="1600" dirty="0"/>
          </a:p>
        </p:txBody>
      </p:sp>
      <p:sp>
        <p:nvSpPr>
          <p:cNvPr id="14" name="Text 11"/>
          <p:cNvSpPr/>
          <p:nvPr/>
        </p:nvSpPr>
        <p:spPr>
          <a:xfrm>
            <a:off x="11257240" y="3005852"/>
            <a:ext cx="2218730" cy="677466"/>
          </a:xfrm>
          <a:prstGeom prst="rect">
            <a:avLst/>
          </a:prstGeom>
          <a:noFill/>
          <a:ln/>
        </p:spPr>
        <p:txBody>
          <a:bodyPr wrap="none" lIns="0" tIns="0" rIns="0" bIns="0" rtlCol="0" anchor="t"/>
          <a:lstStyle/>
          <a:p>
            <a:pPr marL="0" indent="0" algn="ctr">
              <a:lnSpc>
                <a:spcPts val="5300"/>
              </a:lnSpc>
              <a:buNone/>
            </a:pPr>
            <a:r>
              <a:rPr lang="en-US" sz="5300" dirty="0">
                <a:solidFill>
                  <a:srgbClr val="383838"/>
                </a:solidFill>
                <a:latin typeface="Patrick Hand" pitchFamily="34" charset="0"/>
                <a:ea typeface="Patrick Hand" pitchFamily="34" charset="-122"/>
                <a:cs typeface="Patrick Hand" pitchFamily="34" charset="-120"/>
              </a:rPr>
              <a:t>277</a:t>
            </a:r>
            <a:endParaRPr lang="en-US" sz="5300" dirty="0"/>
          </a:p>
        </p:txBody>
      </p:sp>
      <p:sp>
        <p:nvSpPr>
          <p:cNvPr id="15" name="Text 12"/>
          <p:cNvSpPr/>
          <p:nvPr/>
        </p:nvSpPr>
        <p:spPr>
          <a:xfrm>
            <a:off x="11340108" y="3916799"/>
            <a:ext cx="2052995" cy="256580"/>
          </a:xfrm>
          <a:prstGeom prst="rect">
            <a:avLst/>
          </a:prstGeom>
          <a:noFill/>
          <a:ln/>
        </p:spPr>
        <p:txBody>
          <a:bodyPr wrap="none" lIns="0" tIns="0" rIns="0" bIns="0" rtlCol="0" anchor="t"/>
          <a:lstStyle/>
          <a:p>
            <a:pPr marL="0" indent="0" algn="ctr">
              <a:lnSpc>
                <a:spcPts val="2000"/>
              </a:lnSpc>
              <a:buNone/>
            </a:pPr>
            <a:r>
              <a:rPr lang="en-US" sz="1600" dirty="0">
                <a:solidFill>
                  <a:srgbClr val="383838"/>
                </a:solidFill>
                <a:latin typeface="Patrick Hand" pitchFamily="34" charset="0"/>
                <a:ea typeface="Patrick Hand" pitchFamily="34" charset="-122"/>
                <a:cs typeface="Patrick Hand" pitchFamily="34" charset="-120"/>
              </a:rPr>
              <a:t>Days to Identify</a:t>
            </a:r>
            <a:endParaRPr lang="en-US" sz="1600" dirty="0"/>
          </a:p>
        </p:txBody>
      </p:sp>
      <p:sp>
        <p:nvSpPr>
          <p:cNvPr id="16" name="Text 13"/>
          <p:cNvSpPr/>
          <p:nvPr/>
        </p:nvSpPr>
        <p:spPr>
          <a:xfrm>
            <a:off x="11061502" y="4347805"/>
            <a:ext cx="2610326" cy="607457"/>
          </a:xfrm>
          <a:prstGeom prst="rect">
            <a:avLst/>
          </a:prstGeom>
          <a:noFill/>
          <a:ln/>
        </p:spPr>
        <p:txBody>
          <a:bodyPr wrap="square" lIns="0" tIns="0" rIns="0" bIns="0" rtlCol="0" anchor="t"/>
          <a:lstStyle/>
          <a:p>
            <a:pPr marL="0" indent="0" algn="ctr">
              <a:lnSpc>
                <a:spcPts val="2350"/>
              </a:lnSpc>
              <a:buNone/>
            </a:pPr>
            <a:r>
              <a:rPr lang="en-US" sz="1600" dirty="0">
                <a:solidFill>
                  <a:srgbClr val="383838"/>
                </a:solidFill>
                <a:latin typeface="Patrick Hand" pitchFamily="34" charset="0"/>
                <a:ea typeface="Patrick Hand" pitchFamily="34" charset="-122"/>
                <a:cs typeface="Patrick Hand" pitchFamily="34" charset="-120"/>
              </a:rPr>
              <a:t>Average time to detect and contain a breach</a:t>
            </a:r>
            <a:endParaRPr lang="en-US" sz="1600" dirty="0"/>
          </a:p>
        </p:txBody>
      </p:sp>
      <p:sp>
        <p:nvSpPr>
          <p:cNvPr id="17" name="Text 14"/>
          <p:cNvSpPr/>
          <p:nvPr/>
        </p:nvSpPr>
        <p:spPr>
          <a:xfrm>
            <a:off x="9843016" y="5406866"/>
            <a:ext cx="2218730" cy="677466"/>
          </a:xfrm>
          <a:prstGeom prst="rect">
            <a:avLst/>
          </a:prstGeom>
          <a:noFill/>
          <a:ln/>
        </p:spPr>
        <p:txBody>
          <a:bodyPr wrap="none" lIns="0" tIns="0" rIns="0" bIns="0" rtlCol="0" anchor="t"/>
          <a:lstStyle/>
          <a:p>
            <a:pPr marL="0" indent="0" algn="ctr">
              <a:lnSpc>
                <a:spcPts val="5300"/>
              </a:lnSpc>
              <a:buNone/>
            </a:pPr>
            <a:r>
              <a:rPr lang="en-US" sz="5300" dirty="0">
                <a:solidFill>
                  <a:srgbClr val="383838"/>
                </a:solidFill>
                <a:latin typeface="Patrick Hand" pitchFamily="34" charset="0"/>
                <a:ea typeface="Patrick Hand" pitchFamily="34" charset="-122"/>
                <a:cs typeface="Patrick Hand" pitchFamily="34" charset="-120"/>
              </a:rPr>
              <a:t>83%</a:t>
            </a:r>
            <a:endParaRPr lang="en-US" sz="5300" dirty="0"/>
          </a:p>
        </p:txBody>
      </p:sp>
      <p:sp>
        <p:nvSpPr>
          <p:cNvPr id="18" name="Text 15"/>
          <p:cNvSpPr/>
          <p:nvPr/>
        </p:nvSpPr>
        <p:spPr>
          <a:xfrm>
            <a:off x="9925883" y="6317813"/>
            <a:ext cx="2052995" cy="256580"/>
          </a:xfrm>
          <a:prstGeom prst="rect">
            <a:avLst/>
          </a:prstGeom>
          <a:noFill/>
          <a:ln/>
        </p:spPr>
        <p:txBody>
          <a:bodyPr wrap="none" lIns="0" tIns="0" rIns="0" bIns="0" rtlCol="0" anchor="t"/>
          <a:lstStyle/>
          <a:p>
            <a:pPr marL="0" indent="0" algn="ctr">
              <a:lnSpc>
                <a:spcPts val="2000"/>
              </a:lnSpc>
              <a:buNone/>
            </a:pPr>
            <a:r>
              <a:rPr lang="en-US" sz="1600" dirty="0">
                <a:solidFill>
                  <a:srgbClr val="383838"/>
                </a:solidFill>
                <a:latin typeface="Patrick Hand" pitchFamily="34" charset="0"/>
                <a:ea typeface="Patrick Hand" pitchFamily="34" charset="-122"/>
                <a:cs typeface="Patrick Hand" pitchFamily="34" charset="-120"/>
              </a:rPr>
              <a:t>Repeat Breaches</a:t>
            </a:r>
            <a:endParaRPr lang="en-US" sz="1600" dirty="0"/>
          </a:p>
        </p:txBody>
      </p:sp>
      <p:sp>
        <p:nvSpPr>
          <p:cNvPr id="19" name="Text 16"/>
          <p:cNvSpPr/>
          <p:nvPr/>
        </p:nvSpPr>
        <p:spPr>
          <a:xfrm>
            <a:off x="9647277" y="6748820"/>
            <a:ext cx="2610326" cy="607457"/>
          </a:xfrm>
          <a:prstGeom prst="rect">
            <a:avLst/>
          </a:prstGeom>
          <a:noFill/>
          <a:ln/>
        </p:spPr>
        <p:txBody>
          <a:bodyPr wrap="square" lIns="0" tIns="0" rIns="0" bIns="0" rtlCol="0" anchor="t"/>
          <a:lstStyle/>
          <a:p>
            <a:pPr marL="0" indent="0" algn="ctr">
              <a:lnSpc>
                <a:spcPts val="2350"/>
              </a:lnSpc>
              <a:buNone/>
            </a:pPr>
            <a:r>
              <a:rPr lang="en-US" sz="1600" dirty="0">
                <a:solidFill>
                  <a:srgbClr val="383838"/>
                </a:solidFill>
                <a:latin typeface="Patrick Hand" pitchFamily="34" charset="0"/>
                <a:ea typeface="Patrick Hand" pitchFamily="34" charset="-122"/>
                <a:cs typeface="Patrick Hand" pitchFamily="34" charset="-120"/>
              </a:rPr>
              <a:t>Organizations breached more than once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966073" y="673418"/>
            <a:ext cx="788789" cy="423982"/>
          </a:xfrm>
          <a:prstGeom prst="roundRect">
            <a:avLst>
              <a:gd name="adj" fmla="val 18185"/>
            </a:avLst>
          </a:prstGeom>
          <a:solidFill>
            <a:srgbClr val="E6E6E6"/>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3709" y="793671"/>
            <a:ext cx="183475" cy="183475"/>
          </a:xfrm>
          <a:prstGeom prst="rect">
            <a:avLst/>
          </a:prstGeom>
        </p:spPr>
      </p:pic>
      <p:sp>
        <p:nvSpPr>
          <p:cNvPr id="4" name="Text 1"/>
          <p:cNvSpPr/>
          <p:nvPr/>
        </p:nvSpPr>
        <p:spPr>
          <a:xfrm>
            <a:off x="1378863" y="742236"/>
            <a:ext cx="238363" cy="286345"/>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Patrick Hand" pitchFamily="34" charset="0"/>
                <a:ea typeface="Patrick Hand" pitchFamily="34" charset="-122"/>
                <a:cs typeface="Patrick Hand" pitchFamily="34" charset="-120"/>
              </a:rPr>
              <a:t>A01</a:t>
            </a:r>
            <a:endParaRPr lang="en-US" sz="1400" dirty="0"/>
          </a:p>
        </p:txBody>
      </p:sp>
      <p:sp>
        <p:nvSpPr>
          <p:cNvPr id="5" name="Shape 2"/>
          <p:cNvSpPr/>
          <p:nvPr/>
        </p:nvSpPr>
        <p:spPr>
          <a:xfrm>
            <a:off x="1869519" y="665798"/>
            <a:ext cx="2107763" cy="439222"/>
          </a:xfrm>
          <a:prstGeom prst="roundRect">
            <a:avLst>
              <a:gd name="adj" fmla="val 17554"/>
            </a:avLst>
          </a:prstGeom>
          <a:noFill/>
          <a:ln w="7620">
            <a:solidFill>
              <a:srgbClr val="CCCCCC"/>
            </a:solidFill>
            <a:prstDash val="solid"/>
          </a:ln>
        </p:spPr>
      </p:sp>
      <p:sp>
        <p:nvSpPr>
          <p:cNvPr id="6" name="Text 3"/>
          <p:cNvSpPr/>
          <p:nvPr/>
        </p:nvSpPr>
        <p:spPr>
          <a:xfrm>
            <a:off x="2014776" y="742236"/>
            <a:ext cx="1817251" cy="286345"/>
          </a:xfrm>
          <a:prstGeom prst="rect">
            <a:avLst/>
          </a:prstGeom>
          <a:noFill/>
          <a:ln/>
        </p:spPr>
        <p:txBody>
          <a:bodyPr wrap="none" lIns="0" tIns="0" rIns="0" bIns="0" rtlCol="0" anchor="t"/>
          <a:lstStyle/>
          <a:p>
            <a:pPr marL="0" indent="0" algn="l">
              <a:lnSpc>
                <a:spcPts val="2250"/>
              </a:lnSpc>
              <a:buNone/>
            </a:pPr>
            <a:r>
              <a:rPr lang="en-US" sz="1400" dirty="0">
                <a:solidFill>
                  <a:srgbClr val="CCCCCC"/>
                </a:solidFill>
                <a:latin typeface="Patrick Hand" pitchFamily="34" charset="0"/>
                <a:ea typeface="Patrick Hand" pitchFamily="34" charset="-122"/>
                <a:cs typeface="Patrick Hand" pitchFamily="34" charset="-120"/>
              </a:rPr>
              <a:t>BROKEN ACCESS CONTROL</a:t>
            </a:r>
            <a:endParaRPr lang="en-US" sz="1400" dirty="0"/>
          </a:p>
        </p:txBody>
      </p:sp>
      <p:sp>
        <p:nvSpPr>
          <p:cNvPr id="7" name="Text 4"/>
          <p:cNvSpPr/>
          <p:nvPr/>
        </p:nvSpPr>
        <p:spPr>
          <a:xfrm>
            <a:off x="966073" y="1192173"/>
            <a:ext cx="7586543" cy="573524"/>
          </a:xfrm>
          <a:prstGeom prst="rect">
            <a:avLst/>
          </a:prstGeom>
          <a:noFill/>
          <a:ln/>
        </p:spPr>
        <p:txBody>
          <a:bodyPr wrap="none" lIns="0" tIns="0" rIns="0" bIns="0" rtlCol="0" anchor="t"/>
          <a:lstStyle/>
          <a:p>
            <a:pPr marL="0" indent="0" algn="l">
              <a:lnSpc>
                <a:spcPts val="4500"/>
              </a:lnSpc>
              <a:buNone/>
            </a:pPr>
            <a:r>
              <a:rPr lang="en-US" sz="3600" dirty="0">
                <a:solidFill>
                  <a:srgbClr val="383838"/>
                </a:solidFill>
                <a:latin typeface="Patrick Hand" pitchFamily="34" charset="0"/>
                <a:ea typeface="Patrick Hand" pitchFamily="34" charset="-122"/>
                <a:cs typeface="Patrick Hand" pitchFamily="34" charset="-120"/>
              </a:rPr>
              <a:t>Broken Access Control — Facebook Leak, 2021</a:t>
            </a:r>
            <a:endParaRPr lang="en-US" sz="3600" dirty="0"/>
          </a:p>
        </p:txBody>
      </p:sp>
      <p:sp>
        <p:nvSpPr>
          <p:cNvPr id="8" name="Text 5"/>
          <p:cNvSpPr/>
          <p:nvPr/>
        </p:nvSpPr>
        <p:spPr>
          <a:xfrm>
            <a:off x="966073" y="2310527"/>
            <a:ext cx="2753439" cy="344210"/>
          </a:xfrm>
          <a:prstGeom prst="rect">
            <a:avLst/>
          </a:prstGeom>
          <a:noFill/>
          <a:ln/>
        </p:spPr>
        <p:txBody>
          <a:bodyPr wrap="none" lIns="0" tIns="0" rIns="0" bIns="0" rtlCol="0" anchor="t"/>
          <a:lstStyle/>
          <a:p>
            <a:pPr marL="0" indent="0" algn="l">
              <a:lnSpc>
                <a:spcPts val="2700"/>
              </a:lnSpc>
              <a:buNone/>
            </a:pPr>
            <a:r>
              <a:rPr lang="en-US" sz="2150" dirty="0">
                <a:solidFill>
                  <a:srgbClr val="383838"/>
                </a:solidFill>
                <a:latin typeface="Patrick Hand" pitchFamily="34" charset="0"/>
                <a:ea typeface="Patrick Hand" pitchFamily="34" charset="-122"/>
                <a:cs typeface="Patrick Hand" pitchFamily="34" charset="-120"/>
              </a:rPr>
              <a:t>The Incident</a:t>
            </a:r>
            <a:endParaRPr lang="en-US" sz="2150" dirty="0"/>
          </a:p>
        </p:txBody>
      </p:sp>
      <p:sp>
        <p:nvSpPr>
          <p:cNvPr id="9" name="Text 6"/>
          <p:cNvSpPr/>
          <p:nvPr/>
        </p:nvSpPr>
        <p:spPr>
          <a:xfrm>
            <a:off x="966073" y="2872621"/>
            <a:ext cx="7394972" cy="1431608"/>
          </a:xfrm>
          <a:prstGeom prst="rect">
            <a:avLst/>
          </a:prstGeom>
          <a:noFill/>
          <a:ln/>
        </p:spPr>
        <p:txBody>
          <a:bodyPr wrap="square" lIns="0" tIns="0" rIns="0" bIns="0" rtlCol="0" anchor="t"/>
          <a:lstStyle/>
          <a:p>
            <a:pPr marL="0" indent="0" algn="l">
              <a:lnSpc>
                <a:spcPts val="2800"/>
              </a:lnSpc>
              <a:buNone/>
            </a:pPr>
            <a:r>
              <a:rPr lang="en-US" sz="1800" dirty="0">
                <a:solidFill>
                  <a:srgbClr val="383838"/>
                </a:solidFill>
                <a:latin typeface="Patrick Hand" pitchFamily="34" charset="0"/>
                <a:ea typeface="Patrick Hand" pitchFamily="34" charset="-122"/>
                <a:cs typeface="Patrick Hand" pitchFamily="34" charset="-120"/>
              </a:rPr>
              <a:t>In April 2021, personal data from </a:t>
            </a:r>
            <a:r>
              <a:rPr lang="en-US" sz="1800" b="1" dirty="0">
                <a:solidFill>
                  <a:srgbClr val="383838"/>
                </a:solidFill>
                <a:latin typeface="Patrick Hand" pitchFamily="34" charset="0"/>
                <a:ea typeface="Patrick Hand" pitchFamily="34" charset="-122"/>
                <a:cs typeface="Patrick Hand" pitchFamily="34" charset="-120"/>
              </a:rPr>
              <a:t>533 million Facebook users</a:t>
            </a:r>
            <a:r>
              <a:rPr lang="en-US" sz="1800" dirty="0">
                <a:solidFill>
                  <a:srgbClr val="383838"/>
                </a:solidFill>
                <a:latin typeface="Patrick Hand" pitchFamily="34" charset="0"/>
                <a:ea typeface="Patrick Hand" pitchFamily="34" charset="-122"/>
                <a:cs typeface="Patrick Hand" pitchFamily="34" charset="-120"/>
              </a:rPr>
              <a:t> across 106 countries surfaced on a hacking forum. The root cause was an API flaw in the platform's contact importer feature, which allowed attackers to scrape user profiles at scale — harvesting phone numbers, email addresses, full names, locations, and biographical information.</a:t>
            </a:r>
            <a:endParaRPr lang="en-US" sz="1800" dirty="0"/>
          </a:p>
        </p:txBody>
      </p:sp>
      <p:sp>
        <p:nvSpPr>
          <p:cNvPr id="10" name="Text 7"/>
          <p:cNvSpPr/>
          <p:nvPr/>
        </p:nvSpPr>
        <p:spPr>
          <a:xfrm>
            <a:off x="966073" y="4522113"/>
            <a:ext cx="2753439" cy="344210"/>
          </a:xfrm>
          <a:prstGeom prst="rect">
            <a:avLst/>
          </a:prstGeom>
          <a:noFill/>
          <a:ln/>
        </p:spPr>
        <p:txBody>
          <a:bodyPr wrap="none" lIns="0" tIns="0" rIns="0" bIns="0" rtlCol="0" anchor="t"/>
          <a:lstStyle/>
          <a:p>
            <a:pPr marL="0" indent="0" algn="l">
              <a:lnSpc>
                <a:spcPts val="2700"/>
              </a:lnSpc>
              <a:buNone/>
            </a:pPr>
            <a:r>
              <a:rPr lang="en-US" sz="2150" dirty="0">
                <a:solidFill>
                  <a:srgbClr val="383838"/>
                </a:solidFill>
                <a:latin typeface="Patrick Hand" pitchFamily="34" charset="0"/>
                <a:ea typeface="Patrick Hand" pitchFamily="34" charset="-122"/>
                <a:cs typeface="Patrick Hand" pitchFamily="34" charset="-120"/>
              </a:rPr>
              <a:t>Impact &amp; Financial Loss</a:t>
            </a:r>
            <a:endParaRPr lang="en-US" sz="2150" dirty="0"/>
          </a:p>
        </p:txBody>
      </p:sp>
      <p:sp>
        <p:nvSpPr>
          <p:cNvPr id="11" name="Text 8"/>
          <p:cNvSpPr/>
          <p:nvPr/>
        </p:nvSpPr>
        <p:spPr>
          <a:xfrm>
            <a:off x="966073" y="5084207"/>
            <a:ext cx="7394972" cy="1789509"/>
          </a:xfrm>
          <a:prstGeom prst="rect">
            <a:avLst/>
          </a:prstGeom>
          <a:noFill/>
          <a:ln/>
        </p:spPr>
        <p:txBody>
          <a:bodyPr wrap="square" lIns="0" tIns="0" rIns="0" bIns="0" rtlCol="0" anchor="t"/>
          <a:lstStyle/>
          <a:p>
            <a:pPr marL="0" indent="0" algn="l">
              <a:lnSpc>
                <a:spcPts val="2800"/>
              </a:lnSpc>
              <a:buNone/>
            </a:pPr>
            <a:r>
              <a:rPr lang="en-US" sz="1800" dirty="0">
                <a:solidFill>
                  <a:srgbClr val="383838"/>
                </a:solidFill>
                <a:latin typeface="Patrick Hand" pitchFamily="34" charset="0"/>
                <a:ea typeface="Patrick Hand" pitchFamily="34" charset="-122"/>
                <a:cs typeface="Patrick Hand" pitchFamily="34" charset="-120"/>
              </a:rPr>
              <a:t>The breach triggered intense </a:t>
            </a:r>
            <a:r>
              <a:rPr lang="en-US" sz="1800" b="1" dirty="0">
                <a:solidFill>
                  <a:srgbClr val="383838"/>
                </a:solidFill>
                <a:latin typeface="Patrick Hand" pitchFamily="34" charset="0"/>
                <a:ea typeface="Patrick Hand" pitchFamily="34" charset="-122"/>
                <a:cs typeface="Patrick Hand" pitchFamily="34" charset="-120"/>
              </a:rPr>
              <a:t>regulatory scrutiny</a:t>
            </a:r>
            <a:r>
              <a:rPr lang="en-US" sz="1800" dirty="0">
                <a:solidFill>
                  <a:srgbClr val="383838"/>
                </a:solidFill>
                <a:latin typeface="Patrick Hand" pitchFamily="34" charset="0"/>
                <a:ea typeface="Patrick Hand" pitchFamily="34" charset="-122"/>
                <a:cs typeface="Patrick Hand" pitchFamily="34" charset="-120"/>
              </a:rPr>
              <a:t> worldwide, including a €265 million GDPR fine from Ireland's Data Protection Commission. Beyond fines, Meta faced sustained brand erosion, congressional inquiries, and a measurable decline in user trust. Remediation costs included engineering overhauls, legal defense, and public relations campaigns spanning years.</a:t>
            </a:r>
            <a:endParaRPr lang="en-US" sz="1800" dirty="0"/>
          </a:p>
        </p:txBody>
      </p:sp>
      <p:sp>
        <p:nvSpPr>
          <p:cNvPr id="12" name="Shape 9"/>
          <p:cNvSpPr/>
          <p:nvPr/>
        </p:nvSpPr>
        <p:spPr>
          <a:xfrm>
            <a:off x="8763238" y="2092643"/>
            <a:ext cx="5073848" cy="5471041"/>
          </a:xfrm>
          <a:prstGeom prst="roundRect">
            <a:avLst>
              <a:gd name="adj" fmla="val 3256"/>
            </a:avLst>
          </a:prstGeom>
          <a:solidFill>
            <a:srgbClr val="CCCCCC"/>
          </a:solidFill>
          <a:ln/>
        </p:spPr>
      </p:sp>
      <p:sp>
        <p:nvSpPr>
          <p:cNvPr id="13" name="Text 10"/>
          <p:cNvSpPr/>
          <p:nvPr/>
        </p:nvSpPr>
        <p:spPr>
          <a:xfrm>
            <a:off x="8992672" y="2310527"/>
            <a:ext cx="2294573" cy="286703"/>
          </a:xfrm>
          <a:prstGeom prst="rect">
            <a:avLst/>
          </a:prstGeom>
          <a:noFill/>
          <a:ln/>
        </p:spPr>
        <p:txBody>
          <a:bodyPr wrap="none" lIns="0" tIns="0" rIns="0" bIns="0" rtlCol="0" anchor="t"/>
          <a:lstStyle/>
          <a:p>
            <a:pPr marL="0" indent="0" algn="l">
              <a:lnSpc>
                <a:spcPts val="2250"/>
              </a:lnSpc>
              <a:buNone/>
            </a:pPr>
            <a:r>
              <a:rPr lang="en-US" sz="1800" dirty="0">
                <a:solidFill>
                  <a:srgbClr val="000000"/>
                </a:solidFill>
                <a:latin typeface="Patrick Hand" pitchFamily="34" charset="0"/>
                <a:ea typeface="Patrick Hand" pitchFamily="34" charset="-122"/>
                <a:cs typeface="Patrick Hand" pitchFamily="34" charset="-120"/>
              </a:rPr>
              <a:t>🔑</a:t>
            </a:r>
            <a:r>
              <a:rPr lang="en-US" sz="1800" dirty="0">
                <a:solidFill>
                  <a:srgbClr val="383838"/>
                </a:solidFill>
                <a:latin typeface="Patrick Hand" pitchFamily="34" charset="0"/>
                <a:ea typeface="Patrick Hand" pitchFamily="34" charset="-122"/>
                <a:cs typeface="Patrick Hand" pitchFamily="34" charset="-120"/>
              </a:rPr>
              <a:t> Key Lesson</a:t>
            </a:r>
            <a:endParaRPr lang="en-US" sz="1800" dirty="0"/>
          </a:p>
        </p:txBody>
      </p:sp>
      <p:sp>
        <p:nvSpPr>
          <p:cNvPr id="14" name="Text 11"/>
          <p:cNvSpPr/>
          <p:nvPr/>
        </p:nvSpPr>
        <p:spPr>
          <a:xfrm>
            <a:off x="8992672" y="2815114"/>
            <a:ext cx="4614982" cy="1789509"/>
          </a:xfrm>
          <a:prstGeom prst="rect">
            <a:avLst/>
          </a:prstGeom>
          <a:noFill/>
          <a:ln/>
        </p:spPr>
        <p:txBody>
          <a:bodyPr wrap="square" lIns="0" tIns="0" rIns="0" bIns="0" rtlCol="0" anchor="t"/>
          <a:lstStyle/>
          <a:p>
            <a:pPr marL="0" indent="0" algn="l">
              <a:lnSpc>
                <a:spcPts val="2800"/>
              </a:lnSpc>
              <a:buNone/>
            </a:pPr>
            <a:r>
              <a:rPr lang="en-US" sz="1800" dirty="0">
                <a:solidFill>
                  <a:srgbClr val="383838"/>
                </a:solidFill>
                <a:latin typeface="Patrick Hand" pitchFamily="34" charset="0"/>
                <a:ea typeface="Patrick Hand" pitchFamily="34" charset="-122"/>
                <a:cs typeface="Patrick Hand" pitchFamily="34" charset="-120"/>
              </a:rPr>
              <a:t>Enforce strict </a:t>
            </a:r>
            <a:r>
              <a:rPr lang="en-US" sz="1800" b="1" dirty="0">
                <a:solidFill>
                  <a:srgbClr val="383838"/>
                </a:solidFill>
                <a:latin typeface="Patrick Hand" pitchFamily="34" charset="0"/>
                <a:ea typeface="Patrick Hand" pitchFamily="34" charset="-122"/>
                <a:cs typeface="Patrick Hand" pitchFamily="34" charset="-120"/>
              </a:rPr>
              <a:t>server-side authorization checks</a:t>
            </a:r>
            <a:r>
              <a:rPr lang="en-US" sz="1800" dirty="0">
                <a:solidFill>
                  <a:srgbClr val="383838"/>
                </a:solidFill>
                <a:latin typeface="Patrick Hand" pitchFamily="34" charset="0"/>
                <a:ea typeface="Patrick Hand" pitchFamily="34" charset="-122"/>
                <a:cs typeface="Patrick Hand" pitchFamily="34" charset="-120"/>
              </a:rPr>
              <a:t> on every API endpoint. Implement rate limiting, access control lists, and automated anomaly detection to prevent unauthorized bulk data extraction. Never rely solely on client-side controls.</a:t>
            </a:r>
            <a:endParaRPr lang="en-US" sz="1800" dirty="0"/>
          </a:p>
        </p:txBody>
      </p:sp>
      <p:sp>
        <p:nvSpPr>
          <p:cNvPr id="15" name="Shape 12"/>
          <p:cNvSpPr/>
          <p:nvPr/>
        </p:nvSpPr>
        <p:spPr>
          <a:xfrm>
            <a:off x="8992672" y="4964408"/>
            <a:ext cx="4614982" cy="36195"/>
          </a:xfrm>
          <a:prstGeom prst="rect">
            <a:avLst/>
          </a:prstGeom>
          <a:solidFill>
            <a:srgbClr val="383838">
              <a:alpha val="50000"/>
            </a:srgbClr>
          </a:solidFill>
          <a:ln/>
        </p:spPr>
      </p:sp>
      <p:sp>
        <p:nvSpPr>
          <p:cNvPr id="16" name="Text 13"/>
          <p:cNvSpPr/>
          <p:nvPr/>
        </p:nvSpPr>
        <p:spPr>
          <a:xfrm>
            <a:off x="8992672" y="5245656"/>
            <a:ext cx="2294573" cy="286703"/>
          </a:xfrm>
          <a:prstGeom prst="rect">
            <a:avLst/>
          </a:prstGeom>
          <a:noFill/>
          <a:ln/>
        </p:spPr>
        <p:txBody>
          <a:bodyPr wrap="none" lIns="0" tIns="0" rIns="0" bIns="0" rtlCol="0" anchor="t"/>
          <a:lstStyle/>
          <a:p>
            <a:pPr marL="0" indent="0" algn="l">
              <a:lnSpc>
                <a:spcPts val="2250"/>
              </a:lnSpc>
              <a:buNone/>
            </a:pPr>
            <a:r>
              <a:rPr lang="en-US" sz="1800" dirty="0">
                <a:solidFill>
                  <a:srgbClr val="383838"/>
                </a:solidFill>
                <a:latin typeface="Patrick Hand" pitchFamily="34" charset="0"/>
                <a:ea typeface="Patrick Hand" pitchFamily="34" charset="-122"/>
                <a:cs typeface="Patrick Hand" pitchFamily="34" charset="-120"/>
              </a:rPr>
              <a:t>Records Exposed</a:t>
            </a:r>
            <a:endParaRPr lang="en-US" sz="1800" dirty="0"/>
          </a:p>
        </p:txBody>
      </p:sp>
      <p:sp>
        <p:nvSpPr>
          <p:cNvPr id="17" name="Text 14"/>
          <p:cNvSpPr/>
          <p:nvPr/>
        </p:nvSpPr>
        <p:spPr>
          <a:xfrm>
            <a:off x="8992672" y="5750243"/>
            <a:ext cx="4614982" cy="447437"/>
          </a:xfrm>
          <a:prstGeom prst="rect">
            <a:avLst/>
          </a:prstGeom>
          <a:noFill/>
          <a:ln/>
        </p:spPr>
        <p:txBody>
          <a:bodyPr wrap="none" lIns="0" tIns="0" rIns="0" bIns="0" rtlCol="0" anchor="t"/>
          <a:lstStyle/>
          <a:p>
            <a:pPr marL="0" indent="0" algn="l">
              <a:lnSpc>
                <a:spcPts val="3500"/>
              </a:lnSpc>
              <a:buNone/>
            </a:pPr>
            <a:r>
              <a:rPr lang="en-US" sz="2250" b="1" dirty="0">
                <a:solidFill>
                  <a:srgbClr val="383838"/>
                </a:solidFill>
                <a:latin typeface="Patrick Hand" pitchFamily="34" charset="0"/>
                <a:ea typeface="Patrick Hand" pitchFamily="34" charset="-122"/>
                <a:cs typeface="Patrick Hand" pitchFamily="34" charset="-120"/>
              </a:rPr>
              <a:t>533,000,000</a:t>
            </a:r>
            <a:endParaRPr lang="en-US" sz="2250" dirty="0"/>
          </a:p>
        </p:txBody>
      </p:sp>
      <p:sp>
        <p:nvSpPr>
          <p:cNvPr id="18" name="Text 15"/>
          <p:cNvSpPr/>
          <p:nvPr/>
        </p:nvSpPr>
        <p:spPr>
          <a:xfrm>
            <a:off x="8992672" y="6415564"/>
            <a:ext cx="2294573" cy="286703"/>
          </a:xfrm>
          <a:prstGeom prst="rect">
            <a:avLst/>
          </a:prstGeom>
          <a:noFill/>
          <a:ln/>
        </p:spPr>
        <p:txBody>
          <a:bodyPr wrap="none" lIns="0" tIns="0" rIns="0" bIns="0" rtlCol="0" anchor="t"/>
          <a:lstStyle/>
          <a:p>
            <a:pPr marL="0" indent="0" algn="l">
              <a:lnSpc>
                <a:spcPts val="2250"/>
              </a:lnSpc>
              <a:buNone/>
            </a:pPr>
            <a:r>
              <a:rPr lang="en-US" sz="1800" dirty="0">
                <a:solidFill>
                  <a:srgbClr val="383838"/>
                </a:solidFill>
                <a:latin typeface="Patrick Hand" pitchFamily="34" charset="0"/>
                <a:ea typeface="Patrick Hand" pitchFamily="34" charset="-122"/>
                <a:cs typeface="Patrick Hand" pitchFamily="34" charset="-120"/>
              </a:rPr>
              <a:t>Regulatory Fine</a:t>
            </a:r>
            <a:endParaRPr lang="en-US" sz="1800" dirty="0"/>
          </a:p>
        </p:txBody>
      </p:sp>
      <p:sp>
        <p:nvSpPr>
          <p:cNvPr id="19" name="Text 16"/>
          <p:cNvSpPr/>
          <p:nvPr/>
        </p:nvSpPr>
        <p:spPr>
          <a:xfrm>
            <a:off x="8992672" y="6920151"/>
            <a:ext cx="4614982" cy="447437"/>
          </a:xfrm>
          <a:prstGeom prst="rect">
            <a:avLst/>
          </a:prstGeom>
          <a:noFill/>
          <a:ln/>
        </p:spPr>
        <p:txBody>
          <a:bodyPr wrap="none" lIns="0" tIns="0" rIns="0" bIns="0" rtlCol="0" anchor="t"/>
          <a:lstStyle/>
          <a:p>
            <a:pPr marL="0" indent="0" algn="l">
              <a:lnSpc>
                <a:spcPts val="3500"/>
              </a:lnSpc>
              <a:buNone/>
            </a:pPr>
            <a:r>
              <a:rPr lang="en-US" sz="2250" b="1" dirty="0">
                <a:solidFill>
                  <a:srgbClr val="383838"/>
                </a:solidFill>
                <a:latin typeface="Patrick Hand" pitchFamily="34" charset="0"/>
                <a:ea typeface="Patrick Hand" pitchFamily="34" charset="-122"/>
                <a:cs typeface="Patrick Hand" pitchFamily="34" charset="-120"/>
              </a:rPr>
              <a:t>€265M</a:t>
            </a:r>
            <a:endParaRPr lang="en-US" sz="2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955477" y="681990"/>
            <a:ext cx="673179" cy="333494"/>
          </a:xfrm>
          <a:prstGeom prst="roundRect">
            <a:avLst>
              <a:gd name="adj" fmla="val 19254"/>
            </a:avLst>
          </a:prstGeom>
          <a:solidFill>
            <a:srgbClr val="E6E6E6"/>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0134" y="772239"/>
            <a:ext cx="152876" cy="152876"/>
          </a:xfrm>
          <a:prstGeom prst="rect">
            <a:avLst/>
          </a:prstGeom>
        </p:spPr>
      </p:pic>
      <p:sp>
        <p:nvSpPr>
          <p:cNvPr id="4" name="Text 1"/>
          <p:cNvSpPr/>
          <p:nvPr/>
        </p:nvSpPr>
        <p:spPr>
          <a:xfrm>
            <a:off x="1299448" y="739259"/>
            <a:ext cx="214551" cy="218956"/>
          </a:xfrm>
          <a:prstGeom prst="rect">
            <a:avLst/>
          </a:prstGeom>
          <a:noFill/>
          <a:ln/>
        </p:spPr>
        <p:txBody>
          <a:bodyPr wrap="none" lIns="0" tIns="0" rIns="0" bIns="0" rtlCol="0" anchor="t"/>
          <a:lstStyle/>
          <a:p>
            <a:pPr marL="0" indent="0" algn="l">
              <a:lnSpc>
                <a:spcPts val="1700"/>
              </a:lnSpc>
              <a:buNone/>
            </a:pPr>
            <a:r>
              <a:rPr lang="en-US" sz="1200" dirty="0">
                <a:solidFill>
                  <a:srgbClr val="383838"/>
                </a:solidFill>
                <a:latin typeface="Patrick Hand" pitchFamily="34" charset="0"/>
                <a:ea typeface="Patrick Hand" pitchFamily="34" charset="-122"/>
                <a:cs typeface="Patrick Hand" pitchFamily="34" charset="-120"/>
              </a:rPr>
              <a:t>A02</a:t>
            </a:r>
            <a:endParaRPr lang="en-US" sz="1200" dirty="0"/>
          </a:p>
        </p:txBody>
      </p:sp>
      <p:sp>
        <p:nvSpPr>
          <p:cNvPr id="5" name="Shape 2"/>
          <p:cNvSpPr/>
          <p:nvPr/>
        </p:nvSpPr>
        <p:spPr>
          <a:xfrm>
            <a:off x="1724144" y="674370"/>
            <a:ext cx="1727597" cy="348734"/>
          </a:xfrm>
          <a:prstGeom prst="roundRect">
            <a:avLst>
              <a:gd name="adj" fmla="val 18413"/>
            </a:avLst>
          </a:prstGeom>
          <a:noFill/>
          <a:ln w="7620">
            <a:solidFill>
              <a:srgbClr val="CCCCCC"/>
            </a:solidFill>
            <a:prstDash val="solid"/>
          </a:ln>
        </p:spPr>
      </p:sp>
      <p:sp>
        <p:nvSpPr>
          <p:cNvPr id="6" name="Text 3"/>
          <p:cNvSpPr/>
          <p:nvPr/>
        </p:nvSpPr>
        <p:spPr>
          <a:xfrm>
            <a:off x="1846421" y="739259"/>
            <a:ext cx="1483043" cy="218956"/>
          </a:xfrm>
          <a:prstGeom prst="rect">
            <a:avLst/>
          </a:prstGeom>
          <a:noFill/>
          <a:ln/>
        </p:spPr>
        <p:txBody>
          <a:bodyPr wrap="none" lIns="0" tIns="0" rIns="0" bIns="0" rtlCol="0" anchor="t"/>
          <a:lstStyle/>
          <a:p>
            <a:pPr marL="0" indent="0" algn="l">
              <a:lnSpc>
                <a:spcPts val="1700"/>
              </a:lnSpc>
              <a:buNone/>
            </a:pPr>
            <a:r>
              <a:rPr lang="en-US" sz="1200" dirty="0">
                <a:solidFill>
                  <a:srgbClr val="CCCCCC"/>
                </a:solidFill>
                <a:latin typeface="Patrick Hand" pitchFamily="34" charset="0"/>
                <a:ea typeface="Patrick Hand" pitchFamily="34" charset="-122"/>
                <a:cs typeface="Patrick Hand" pitchFamily="34" charset="-120"/>
              </a:rPr>
              <a:t>CRYPTOGRAPHIC FAILURES</a:t>
            </a:r>
            <a:endParaRPr lang="en-US" sz="1200" dirty="0"/>
          </a:p>
        </p:txBody>
      </p:sp>
      <p:sp>
        <p:nvSpPr>
          <p:cNvPr id="7" name="Text 4"/>
          <p:cNvSpPr/>
          <p:nvPr/>
        </p:nvSpPr>
        <p:spPr>
          <a:xfrm>
            <a:off x="955477" y="1083469"/>
            <a:ext cx="7660243" cy="477679"/>
          </a:xfrm>
          <a:prstGeom prst="rect">
            <a:avLst/>
          </a:prstGeom>
          <a:noFill/>
          <a:ln/>
        </p:spPr>
        <p:txBody>
          <a:bodyPr wrap="none" lIns="0" tIns="0" rIns="0" bIns="0" rtlCol="0" anchor="t"/>
          <a:lstStyle/>
          <a:p>
            <a:pPr marL="0" indent="0" algn="l">
              <a:lnSpc>
                <a:spcPts val="3750"/>
              </a:lnSpc>
              <a:buNone/>
            </a:pPr>
            <a:r>
              <a:rPr lang="en-US" sz="3000" dirty="0">
                <a:solidFill>
                  <a:srgbClr val="383838"/>
                </a:solidFill>
                <a:latin typeface="Patrick Hand" pitchFamily="34" charset="0"/>
                <a:ea typeface="Patrick Hand" pitchFamily="34" charset="-122"/>
                <a:cs typeface="Patrick Hand" pitchFamily="34" charset="-120"/>
              </a:rPr>
              <a:t>Cryptographic Failures — Equifax Aftermath (Ongoing)</a:t>
            </a:r>
            <a:endParaRPr lang="en-US" sz="3000" dirty="0"/>
          </a:p>
        </p:txBody>
      </p:sp>
      <p:sp>
        <p:nvSpPr>
          <p:cNvPr id="8" name="Text 5"/>
          <p:cNvSpPr/>
          <p:nvPr/>
        </p:nvSpPr>
        <p:spPr>
          <a:xfrm>
            <a:off x="955477" y="1787843"/>
            <a:ext cx="12719447" cy="821174"/>
          </a:xfrm>
          <a:prstGeom prst="rect">
            <a:avLst/>
          </a:prstGeom>
          <a:noFill/>
          <a:ln/>
        </p:spPr>
        <p:txBody>
          <a:bodyPr wrap="square" lIns="0" tIns="0" rIns="0" bIns="0" rtlCol="0" anchor="t"/>
          <a:lstStyle/>
          <a:p>
            <a:pPr marL="0" indent="0" algn="l">
              <a:lnSpc>
                <a:spcPts val="2150"/>
              </a:lnSpc>
              <a:buNone/>
            </a:pPr>
            <a:r>
              <a:rPr lang="en-US" sz="1500" dirty="0">
                <a:solidFill>
                  <a:srgbClr val="383838"/>
                </a:solidFill>
                <a:latin typeface="Patrick Hand" pitchFamily="34" charset="0"/>
                <a:ea typeface="Patrick Hand" pitchFamily="34" charset="-122"/>
                <a:cs typeface="Patrick Hand" pitchFamily="34" charset="-120"/>
              </a:rPr>
              <a:t>While the original Equifax breach occurred in 2017, its ramifications have dominated the cybersecurity landscape throughout the past five years. Weak encryption practices, poor key management, and failure to patch a known Apache Struts vulnerability collectively exposed </a:t>
            </a:r>
            <a:r>
              <a:rPr lang="en-US" sz="1500" b="1" dirty="0">
                <a:solidFill>
                  <a:srgbClr val="383838"/>
                </a:solidFill>
                <a:latin typeface="Patrick Hand" pitchFamily="34" charset="0"/>
                <a:ea typeface="Patrick Hand" pitchFamily="34" charset="-122"/>
                <a:cs typeface="Patrick Hand" pitchFamily="34" charset="-120"/>
              </a:rPr>
              <a:t>147 million consumer records</a:t>
            </a:r>
            <a:r>
              <a:rPr lang="en-US" sz="1500" dirty="0">
                <a:solidFill>
                  <a:srgbClr val="383838"/>
                </a:solidFill>
                <a:latin typeface="Patrick Hand" pitchFamily="34" charset="0"/>
                <a:ea typeface="Patrick Hand" pitchFamily="34" charset="-122"/>
                <a:cs typeface="Patrick Hand" pitchFamily="34" charset="-120"/>
              </a:rPr>
              <a:t> — including Social Security numbers, birth dates, and addresses.</a:t>
            </a:r>
            <a:endParaRPr lang="en-US" sz="1500" dirty="0"/>
          </a:p>
        </p:txBody>
      </p:sp>
      <p:sp>
        <p:nvSpPr>
          <p:cNvPr id="9" name="Shape 6"/>
          <p:cNvSpPr/>
          <p:nvPr/>
        </p:nvSpPr>
        <p:spPr>
          <a:xfrm>
            <a:off x="955477" y="4593193"/>
            <a:ext cx="12719447" cy="22860"/>
          </a:xfrm>
          <a:prstGeom prst="roundRect">
            <a:avLst>
              <a:gd name="adj" fmla="val 351118"/>
            </a:avLst>
          </a:prstGeom>
          <a:solidFill>
            <a:srgbClr val="CCCCCC"/>
          </a:solidFill>
          <a:ln/>
        </p:spPr>
      </p:sp>
      <p:sp>
        <p:nvSpPr>
          <p:cNvPr id="10" name="Shape 7"/>
          <p:cNvSpPr/>
          <p:nvPr/>
        </p:nvSpPr>
        <p:spPr>
          <a:xfrm>
            <a:off x="955477" y="2779038"/>
            <a:ext cx="4113848" cy="1814155"/>
          </a:xfrm>
          <a:prstGeom prst="roundRect">
            <a:avLst>
              <a:gd name="adj" fmla="val 4424"/>
            </a:avLst>
          </a:prstGeom>
          <a:solidFill>
            <a:srgbClr val="E6E6E6"/>
          </a:solidFill>
          <a:ln w="7620">
            <a:solidFill>
              <a:srgbClr val="CCCCCC"/>
            </a:solidFill>
            <a:prstDash val="solid"/>
          </a:ln>
        </p:spPr>
      </p:sp>
      <p:sp>
        <p:nvSpPr>
          <p:cNvPr id="11" name="Text 8"/>
          <p:cNvSpPr/>
          <p:nvPr/>
        </p:nvSpPr>
        <p:spPr>
          <a:xfrm>
            <a:off x="2056805" y="2977753"/>
            <a:ext cx="1911072" cy="238839"/>
          </a:xfrm>
          <a:prstGeom prst="rect">
            <a:avLst/>
          </a:prstGeom>
          <a:noFill/>
          <a:ln/>
        </p:spPr>
        <p:txBody>
          <a:bodyPr wrap="none" lIns="0" tIns="0" rIns="0" bIns="0" rtlCol="0" anchor="t"/>
          <a:lstStyle/>
          <a:p>
            <a:pPr marL="0" indent="0" algn="ctr">
              <a:lnSpc>
                <a:spcPts val="1850"/>
              </a:lnSpc>
              <a:buNone/>
            </a:pPr>
            <a:r>
              <a:rPr lang="en-US" sz="1500" dirty="0">
                <a:solidFill>
                  <a:srgbClr val="383838"/>
                </a:solidFill>
                <a:latin typeface="Patrick Hand" pitchFamily="34" charset="0"/>
                <a:ea typeface="Patrick Hand" pitchFamily="34" charset="-122"/>
                <a:cs typeface="Patrick Hand" pitchFamily="34" charset="-120"/>
              </a:rPr>
              <a:t>Breach Scope</a:t>
            </a:r>
            <a:endParaRPr lang="en-US" sz="1500" dirty="0"/>
          </a:p>
        </p:txBody>
      </p:sp>
      <p:sp>
        <p:nvSpPr>
          <p:cNvPr id="12" name="Text 9"/>
          <p:cNvSpPr/>
          <p:nvPr/>
        </p:nvSpPr>
        <p:spPr>
          <a:xfrm>
            <a:off x="1154192" y="3307199"/>
            <a:ext cx="3716417" cy="1094899"/>
          </a:xfrm>
          <a:prstGeom prst="rect">
            <a:avLst/>
          </a:prstGeom>
          <a:noFill/>
          <a:ln/>
        </p:spPr>
        <p:txBody>
          <a:bodyPr wrap="square" lIns="0" tIns="0" rIns="0" bIns="0" rtlCol="0" anchor="t"/>
          <a:lstStyle/>
          <a:p>
            <a:pPr marL="0" indent="0" algn="ctr">
              <a:lnSpc>
                <a:spcPts val="2150"/>
              </a:lnSpc>
              <a:buNone/>
            </a:pPr>
            <a:r>
              <a:rPr lang="en-US" sz="1500" dirty="0">
                <a:solidFill>
                  <a:srgbClr val="383838"/>
                </a:solidFill>
                <a:latin typeface="Patrick Hand" pitchFamily="34" charset="0"/>
                <a:ea typeface="Patrick Hand" pitchFamily="34" charset="-122"/>
                <a:cs typeface="Patrick Hand" pitchFamily="34" charset="-120"/>
              </a:rPr>
              <a:t>147 million records containing the most sensitive personal identifiers — Social Security numbers, driver's license numbers, and credit card details for 209,000 consumers.</a:t>
            </a:r>
            <a:endParaRPr lang="en-US" sz="1500" dirty="0"/>
          </a:p>
        </p:txBody>
      </p:sp>
      <p:sp>
        <p:nvSpPr>
          <p:cNvPr id="13" name="Shape 10"/>
          <p:cNvSpPr/>
          <p:nvPr/>
        </p:nvSpPr>
        <p:spPr>
          <a:xfrm>
            <a:off x="5258276" y="4616053"/>
            <a:ext cx="4113848" cy="1814155"/>
          </a:xfrm>
          <a:prstGeom prst="rect">
            <a:avLst/>
          </a:prstGeom>
          <a:solidFill>
            <a:srgbClr val="E6E6E6"/>
          </a:solidFill>
          <a:ln/>
        </p:spPr>
      </p:sp>
      <p:sp>
        <p:nvSpPr>
          <p:cNvPr id="14" name="Text 11"/>
          <p:cNvSpPr/>
          <p:nvPr/>
        </p:nvSpPr>
        <p:spPr>
          <a:xfrm>
            <a:off x="6359604" y="4807148"/>
            <a:ext cx="1911072" cy="238839"/>
          </a:xfrm>
          <a:prstGeom prst="rect">
            <a:avLst/>
          </a:prstGeom>
          <a:noFill/>
          <a:ln/>
        </p:spPr>
        <p:txBody>
          <a:bodyPr wrap="none" lIns="0" tIns="0" rIns="0" bIns="0" rtlCol="0" anchor="t"/>
          <a:lstStyle/>
          <a:p>
            <a:pPr marL="0" indent="0" algn="ctr">
              <a:lnSpc>
                <a:spcPts val="1850"/>
              </a:lnSpc>
              <a:buNone/>
            </a:pPr>
            <a:r>
              <a:rPr lang="en-US" sz="1500" dirty="0">
                <a:solidFill>
                  <a:srgbClr val="383838"/>
                </a:solidFill>
                <a:latin typeface="Patrick Hand" pitchFamily="34" charset="0"/>
                <a:ea typeface="Patrick Hand" pitchFamily="34" charset="-122"/>
                <a:cs typeface="Patrick Hand" pitchFamily="34" charset="-120"/>
              </a:rPr>
              <a:t>Financial Toll</a:t>
            </a:r>
            <a:endParaRPr lang="en-US" sz="1500" dirty="0"/>
          </a:p>
        </p:txBody>
      </p:sp>
      <p:sp>
        <p:nvSpPr>
          <p:cNvPr id="15" name="Text 12"/>
          <p:cNvSpPr/>
          <p:nvPr/>
        </p:nvSpPr>
        <p:spPr>
          <a:xfrm>
            <a:off x="5456992" y="5136594"/>
            <a:ext cx="3716417" cy="1094899"/>
          </a:xfrm>
          <a:prstGeom prst="rect">
            <a:avLst/>
          </a:prstGeom>
          <a:noFill/>
          <a:ln/>
        </p:spPr>
        <p:txBody>
          <a:bodyPr wrap="square" lIns="0" tIns="0" rIns="0" bIns="0" rtlCol="0" anchor="t"/>
          <a:lstStyle/>
          <a:p>
            <a:pPr marL="0" indent="0" algn="ctr">
              <a:lnSpc>
                <a:spcPts val="2150"/>
              </a:lnSpc>
              <a:buNone/>
            </a:pPr>
            <a:r>
              <a:rPr lang="en-US" sz="1500" dirty="0">
                <a:solidFill>
                  <a:srgbClr val="383838"/>
                </a:solidFill>
                <a:latin typeface="Patrick Hand" pitchFamily="34" charset="0"/>
                <a:ea typeface="Patrick Hand" pitchFamily="34" charset="-122"/>
                <a:cs typeface="Patrick Hand" pitchFamily="34" charset="-120"/>
              </a:rPr>
              <a:t>Over </a:t>
            </a:r>
            <a:r>
              <a:rPr lang="en-US" sz="1500" b="1" dirty="0">
                <a:solidFill>
                  <a:srgbClr val="383838"/>
                </a:solidFill>
                <a:latin typeface="Patrick Hand" pitchFamily="34" charset="0"/>
                <a:ea typeface="Patrick Hand" pitchFamily="34" charset="-122"/>
                <a:cs typeface="Patrick Hand" pitchFamily="34" charset="-120"/>
              </a:rPr>
              <a:t>$700 million</a:t>
            </a:r>
            <a:r>
              <a:rPr lang="en-US" sz="1500" dirty="0">
                <a:solidFill>
                  <a:srgbClr val="383838"/>
                </a:solidFill>
                <a:latin typeface="Patrick Hand" pitchFamily="34" charset="0"/>
                <a:ea typeface="Patrick Hand" pitchFamily="34" charset="-122"/>
                <a:cs typeface="Patrick Hand" pitchFamily="34" charset="-120"/>
              </a:rPr>
              <a:t> in settlements with the FTC, CFPB, and all 50 U.S. states. Additional hundreds of millions spent on security upgrades, credit monitoring, and legal fees.</a:t>
            </a:r>
            <a:endParaRPr lang="en-US" sz="1500" dirty="0"/>
          </a:p>
        </p:txBody>
      </p:sp>
      <p:sp>
        <p:nvSpPr>
          <p:cNvPr id="16" name="Shape 13"/>
          <p:cNvSpPr/>
          <p:nvPr/>
        </p:nvSpPr>
        <p:spPr>
          <a:xfrm>
            <a:off x="9561076" y="2779038"/>
            <a:ext cx="4113848" cy="1814155"/>
          </a:xfrm>
          <a:prstGeom prst="roundRect">
            <a:avLst>
              <a:gd name="adj" fmla="val 4424"/>
            </a:avLst>
          </a:prstGeom>
          <a:solidFill>
            <a:srgbClr val="E6E6E6"/>
          </a:solidFill>
          <a:ln w="7620">
            <a:solidFill>
              <a:srgbClr val="CCCCCC"/>
            </a:solidFill>
            <a:prstDash val="solid"/>
          </a:ln>
        </p:spPr>
      </p:sp>
      <p:sp>
        <p:nvSpPr>
          <p:cNvPr id="17" name="Text 14"/>
          <p:cNvSpPr/>
          <p:nvPr/>
        </p:nvSpPr>
        <p:spPr>
          <a:xfrm>
            <a:off x="10662404" y="2977753"/>
            <a:ext cx="1911072" cy="238839"/>
          </a:xfrm>
          <a:prstGeom prst="rect">
            <a:avLst/>
          </a:prstGeom>
          <a:noFill/>
          <a:ln/>
        </p:spPr>
        <p:txBody>
          <a:bodyPr wrap="none" lIns="0" tIns="0" rIns="0" bIns="0" rtlCol="0" anchor="t"/>
          <a:lstStyle/>
          <a:p>
            <a:pPr marL="0" indent="0" algn="ctr">
              <a:lnSpc>
                <a:spcPts val="1850"/>
              </a:lnSpc>
              <a:buNone/>
            </a:pPr>
            <a:r>
              <a:rPr lang="en-US" sz="1500" dirty="0">
                <a:solidFill>
                  <a:srgbClr val="383838"/>
                </a:solidFill>
                <a:latin typeface="Patrick Hand" pitchFamily="34" charset="0"/>
                <a:ea typeface="Patrick Hand" pitchFamily="34" charset="-122"/>
                <a:cs typeface="Patrick Hand" pitchFamily="34" charset="-120"/>
              </a:rPr>
              <a:t>Long-Term Damage</a:t>
            </a:r>
            <a:endParaRPr lang="en-US" sz="1500" dirty="0"/>
          </a:p>
        </p:txBody>
      </p:sp>
      <p:sp>
        <p:nvSpPr>
          <p:cNvPr id="18" name="Text 15"/>
          <p:cNvSpPr/>
          <p:nvPr/>
        </p:nvSpPr>
        <p:spPr>
          <a:xfrm>
            <a:off x="9759791" y="3307199"/>
            <a:ext cx="3716417" cy="1094899"/>
          </a:xfrm>
          <a:prstGeom prst="rect">
            <a:avLst/>
          </a:prstGeom>
          <a:noFill/>
          <a:ln/>
        </p:spPr>
        <p:txBody>
          <a:bodyPr wrap="square" lIns="0" tIns="0" rIns="0" bIns="0" rtlCol="0" anchor="t"/>
          <a:lstStyle/>
          <a:p>
            <a:pPr marL="0" indent="0" algn="ctr">
              <a:lnSpc>
                <a:spcPts val="2150"/>
              </a:lnSpc>
              <a:buNone/>
            </a:pPr>
            <a:r>
              <a:rPr lang="en-US" sz="1500" dirty="0">
                <a:solidFill>
                  <a:srgbClr val="383838"/>
                </a:solidFill>
                <a:latin typeface="Patrick Hand" pitchFamily="34" charset="0"/>
                <a:ea typeface="Patrick Hand" pitchFamily="34" charset="-122"/>
                <a:cs typeface="Patrick Hand" pitchFamily="34" charset="-120"/>
              </a:rPr>
              <a:t>CEO resignation, congressional hearings, permanent reputational harm, and the breach became the benchmark case study for cryptographic negligence in enterprise security.</a:t>
            </a:r>
            <a:endParaRPr lang="en-US" sz="1500" dirty="0"/>
          </a:p>
        </p:txBody>
      </p:sp>
      <p:sp>
        <p:nvSpPr>
          <p:cNvPr id="19" name="Shape 16"/>
          <p:cNvSpPr/>
          <p:nvPr/>
        </p:nvSpPr>
        <p:spPr>
          <a:xfrm>
            <a:off x="955477" y="6577370"/>
            <a:ext cx="12719447" cy="977741"/>
          </a:xfrm>
          <a:prstGeom prst="roundRect">
            <a:avLst>
              <a:gd name="adj" fmla="val 8209"/>
            </a:avLst>
          </a:prstGeom>
          <a:solidFill>
            <a:srgbClr val="D9D9D9"/>
          </a:solidFill>
          <a:ln/>
        </p:spPr>
      </p:sp>
      <p:pic>
        <p:nvPicPr>
          <p:cNvPr id="20" name="Image 1" descr="preencoded.png"/>
          <p:cNvPicPr>
            <a:picLocks noChangeAspect="1"/>
          </p:cNvPicPr>
          <p:nvPr/>
        </p:nvPicPr>
        <p:blipFill>
          <a:blip r:embed="rId5"/>
          <a:stretch>
            <a:fillRect/>
          </a:stretch>
        </p:blipFill>
        <p:spPr>
          <a:xfrm>
            <a:off x="1146572" y="6847046"/>
            <a:ext cx="238839" cy="191095"/>
          </a:xfrm>
          <a:prstGeom prst="rect">
            <a:avLst/>
          </a:prstGeom>
        </p:spPr>
      </p:pic>
      <p:sp>
        <p:nvSpPr>
          <p:cNvPr id="21" name="Text 17"/>
          <p:cNvSpPr/>
          <p:nvPr/>
        </p:nvSpPr>
        <p:spPr>
          <a:xfrm>
            <a:off x="1576507" y="6776204"/>
            <a:ext cx="11907322" cy="547449"/>
          </a:xfrm>
          <a:prstGeom prst="rect">
            <a:avLst/>
          </a:prstGeom>
          <a:noFill/>
          <a:ln/>
        </p:spPr>
        <p:txBody>
          <a:bodyPr wrap="square" lIns="0" tIns="0" rIns="0" bIns="0" rtlCol="0" anchor="t"/>
          <a:lstStyle/>
          <a:p>
            <a:pPr marL="0" indent="0" algn="l">
              <a:lnSpc>
                <a:spcPts val="2150"/>
              </a:lnSpc>
              <a:buNone/>
            </a:pPr>
            <a:r>
              <a:rPr lang="en-US" sz="1500" b="1" dirty="0">
                <a:solidFill>
                  <a:srgbClr val="000000"/>
                </a:solidFill>
                <a:latin typeface="Patrick Hand" pitchFamily="34" charset="0"/>
                <a:ea typeface="Patrick Hand" pitchFamily="34" charset="-122"/>
                <a:cs typeface="Patrick Hand" pitchFamily="34" charset="-120"/>
              </a:rPr>
              <a:t>Lesson:</a:t>
            </a:r>
            <a:r>
              <a:rPr lang="en-US" sz="1500" dirty="0">
                <a:solidFill>
                  <a:srgbClr val="000000"/>
                </a:solidFill>
                <a:latin typeface="Patrick Hand" pitchFamily="34" charset="0"/>
                <a:ea typeface="Patrick Hand" pitchFamily="34" charset="-122"/>
                <a:cs typeface="Patrick Hand" pitchFamily="34" charset="-120"/>
              </a:rPr>
              <a:t> Use strong, regularly updated cryptographic standards (AES-256, TLS 1.3). Protect encryption keys with hardware security modules (HSMs) and rotate them on schedule. Audit all data-at-rest and data-in-transit encryption rigorously.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966073" y="1144786"/>
            <a:ext cx="719733" cy="366236"/>
          </a:xfrm>
          <a:prstGeom prst="roundRect">
            <a:avLst>
              <a:gd name="adj" fmla="val 18836"/>
            </a:avLst>
          </a:prstGeom>
          <a:solidFill>
            <a:srgbClr val="E6E6E6"/>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9184" y="1245751"/>
            <a:ext cx="164187" cy="164187"/>
          </a:xfrm>
          <a:prstGeom prst="rect">
            <a:avLst/>
          </a:prstGeom>
        </p:spPr>
      </p:pic>
      <p:sp>
        <p:nvSpPr>
          <p:cNvPr id="4" name="Text 1"/>
          <p:cNvSpPr/>
          <p:nvPr/>
        </p:nvSpPr>
        <p:spPr>
          <a:xfrm>
            <a:off x="1335405" y="1206341"/>
            <a:ext cx="227290" cy="243126"/>
          </a:xfrm>
          <a:prstGeom prst="rect">
            <a:avLst/>
          </a:prstGeom>
          <a:noFill/>
          <a:ln/>
        </p:spPr>
        <p:txBody>
          <a:bodyPr wrap="none" lIns="0" tIns="0" rIns="0" bIns="0" rtlCol="0" anchor="t"/>
          <a:lstStyle/>
          <a:p>
            <a:pPr marL="0" indent="0" algn="l">
              <a:lnSpc>
                <a:spcPts val="1900"/>
              </a:lnSpc>
              <a:buNone/>
            </a:pPr>
            <a:r>
              <a:rPr lang="en-US" sz="1250" dirty="0">
                <a:solidFill>
                  <a:srgbClr val="383838"/>
                </a:solidFill>
                <a:latin typeface="Patrick Hand" pitchFamily="34" charset="0"/>
                <a:ea typeface="Patrick Hand" pitchFamily="34" charset="-122"/>
                <a:cs typeface="Patrick Hand" pitchFamily="34" charset="-120"/>
              </a:rPr>
              <a:t>A03</a:t>
            </a:r>
            <a:endParaRPr lang="en-US" sz="1250" dirty="0"/>
          </a:p>
        </p:txBody>
      </p:sp>
      <p:sp>
        <p:nvSpPr>
          <p:cNvPr id="5" name="Shape 2"/>
          <p:cNvSpPr/>
          <p:nvPr/>
        </p:nvSpPr>
        <p:spPr>
          <a:xfrm>
            <a:off x="1788438" y="1137166"/>
            <a:ext cx="1507688" cy="381476"/>
          </a:xfrm>
          <a:prstGeom prst="roundRect">
            <a:avLst>
              <a:gd name="adj" fmla="val 18083"/>
            </a:avLst>
          </a:prstGeom>
          <a:noFill/>
          <a:ln w="7620">
            <a:solidFill>
              <a:srgbClr val="CCCCCC"/>
            </a:solidFill>
            <a:prstDash val="solid"/>
          </a:ln>
        </p:spPr>
      </p:sp>
      <p:sp>
        <p:nvSpPr>
          <p:cNvPr id="6" name="Text 3"/>
          <p:cNvSpPr/>
          <p:nvPr/>
        </p:nvSpPr>
        <p:spPr>
          <a:xfrm>
            <a:off x="1919168" y="1206341"/>
            <a:ext cx="1246227" cy="243126"/>
          </a:xfrm>
          <a:prstGeom prst="rect">
            <a:avLst/>
          </a:prstGeom>
          <a:noFill/>
          <a:ln/>
        </p:spPr>
        <p:txBody>
          <a:bodyPr wrap="none" lIns="0" tIns="0" rIns="0" bIns="0" rtlCol="0" anchor="t"/>
          <a:lstStyle/>
          <a:p>
            <a:pPr marL="0" indent="0" algn="l">
              <a:lnSpc>
                <a:spcPts val="1900"/>
              </a:lnSpc>
              <a:buNone/>
            </a:pPr>
            <a:r>
              <a:rPr lang="en-US" sz="1250" dirty="0">
                <a:solidFill>
                  <a:srgbClr val="CCCCCC"/>
                </a:solidFill>
                <a:latin typeface="Patrick Hand" pitchFamily="34" charset="0"/>
                <a:ea typeface="Patrick Hand" pitchFamily="34" charset="-122"/>
                <a:cs typeface="Patrick Hand" pitchFamily="34" charset="-120"/>
              </a:rPr>
              <a:t>INJECTION ATTACKS</a:t>
            </a:r>
            <a:endParaRPr lang="en-US" sz="1250" dirty="0"/>
          </a:p>
        </p:txBody>
      </p:sp>
      <p:sp>
        <p:nvSpPr>
          <p:cNvPr id="7" name="Text 4"/>
          <p:cNvSpPr/>
          <p:nvPr/>
        </p:nvSpPr>
        <p:spPr>
          <a:xfrm>
            <a:off x="966073" y="1588413"/>
            <a:ext cx="7932658" cy="513278"/>
          </a:xfrm>
          <a:prstGeom prst="rect">
            <a:avLst/>
          </a:prstGeom>
          <a:noFill/>
          <a:ln/>
        </p:spPr>
        <p:txBody>
          <a:bodyPr wrap="none" lIns="0" tIns="0" rIns="0" bIns="0" rtlCol="0" anchor="t"/>
          <a:lstStyle/>
          <a:p>
            <a:pPr marL="0" indent="0" algn="l">
              <a:lnSpc>
                <a:spcPts val="4000"/>
              </a:lnSpc>
              <a:buNone/>
            </a:pPr>
            <a:r>
              <a:rPr lang="en-US" sz="3200" dirty="0">
                <a:solidFill>
                  <a:srgbClr val="383838"/>
                </a:solidFill>
                <a:latin typeface="Patrick Hand" pitchFamily="34" charset="0"/>
                <a:ea typeface="Patrick Hand" pitchFamily="34" charset="-122"/>
                <a:cs typeface="Patrick Hand" pitchFamily="34" charset="-120"/>
              </a:rPr>
              <a:t>Injection Attacks — SQL Injection in Healthcare, 2023</a:t>
            </a:r>
            <a:endParaRPr lang="en-US" sz="3200" dirty="0"/>
          </a:p>
        </p:txBody>
      </p:sp>
      <p:sp>
        <p:nvSpPr>
          <p:cNvPr id="8" name="Shape 5"/>
          <p:cNvSpPr/>
          <p:nvPr/>
        </p:nvSpPr>
        <p:spPr>
          <a:xfrm>
            <a:off x="818317" y="2363391"/>
            <a:ext cx="5734288" cy="4728924"/>
          </a:xfrm>
          <a:prstGeom prst="roundRect">
            <a:avLst>
              <a:gd name="adj" fmla="val 3126"/>
            </a:avLst>
          </a:prstGeom>
          <a:solidFill>
            <a:srgbClr val="CCCCCC"/>
          </a:solidFill>
          <a:ln/>
        </p:spPr>
      </p:sp>
      <p:sp>
        <p:nvSpPr>
          <p:cNvPr id="9" name="Text 6"/>
          <p:cNvSpPr/>
          <p:nvPr/>
        </p:nvSpPr>
        <p:spPr>
          <a:xfrm>
            <a:off x="1023580" y="2537817"/>
            <a:ext cx="2052995" cy="256580"/>
          </a:xfrm>
          <a:prstGeom prst="rect">
            <a:avLst/>
          </a:prstGeom>
          <a:noFill/>
          <a:ln/>
        </p:spPr>
        <p:txBody>
          <a:bodyPr wrap="none" lIns="0" tIns="0" rIns="0" bIns="0" rtlCol="0" anchor="t"/>
          <a:lstStyle/>
          <a:p>
            <a:pPr marL="0" indent="0" algn="l">
              <a:lnSpc>
                <a:spcPts val="2000"/>
              </a:lnSpc>
              <a:buNone/>
            </a:pPr>
            <a:r>
              <a:rPr lang="en-US" sz="1600" dirty="0">
                <a:solidFill>
                  <a:srgbClr val="383838"/>
                </a:solidFill>
                <a:latin typeface="Patrick Hand" pitchFamily="34" charset="0"/>
                <a:ea typeface="Patrick Hand" pitchFamily="34" charset="-122"/>
                <a:cs typeface="Patrick Hand" pitchFamily="34" charset="-120"/>
              </a:rPr>
              <a:t>Attack Vector</a:t>
            </a:r>
            <a:endParaRPr lang="en-US" sz="1600" dirty="0"/>
          </a:p>
        </p:txBody>
      </p:sp>
      <p:sp>
        <p:nvSpPr>
          <p:cNvPr id="10" name="Text 7"/>
          <p:cNvSpPr/>
          <p:nvPr/>
        </p:nvSpPr>
        <p:spPr>
          <a:xfrm>
            <a:off x="1023580" y="2968823"/>
            <a:ext cx="5323761" cy="911185"/>
          </a:xfrm>
          <a:prstGeom prst="rect">
            <a:avLst/>
          </a:prstGeom>
          <a:noFill/>
          <a:ln/>
        </p:spPr>
        <p:txBody>
          <a:bodyPr wrap="square" lIns="0" tIns="0" rIns="0" bIns="0" rtlCol="0" anchor="t"/>
          <a:lstStyle/>
          <a:p>
            <a:pPr marL="0" indent="0" algn="l">
              <a:lnSpc>
                <a:spcPts val="2350"/>
              </a:lnSpc>
              <a:buNone/>
            </a:pPr>
            <a:r>
              <a:rPr lang="en-US" sz="1600" dirty="0">
                <a:solidFill>
                  <a:srgbClr val="383838"/>
                </a:solidFill>
                <a:latin typeface="Patrick Hand" pitchFamily="34" charset="0"/>
                <a:ea typeface="Patrick Hand" pitchFamily="34" charset="-122"/>
                <a:cs typeface="Patrick Hand" pitchFamily="34" charset="-120"/>
              </a:rPr>
              <a:t>Attackers exploited a </a:t>
            </a:r>
            <a:r>
              <a:rPr lang="en-US" sz="1600" b="1" dirty="0">
                <a:solidFill>
                  <a:srgbClr val="383838"/>
                </a:solidFill>
                <a:latin typeface="Patrick Hand" pitchFamily="34" charset="0"/>
                <a:ea typeface="Patrick Hand" pitchFamily="34" charset="-122"/>
                <a:cs typeface="Patrick Hand" pitchFamily="34" charset="-120"/>
              </a:rPr>
              <a:t>SQL injection vulnerability</a:t>
            </a:r>
            <a:r>
              <a:rPr lang="en-US" sz="1600" dirty="0">
                <a:solidFill>
                  <a:srgbClr val="383838"/>
                </a:solidFill>
                <a:latin typeface="Patrick Hand" pitchFamily="34" charset="0"/>
                <a:ea typeface="Patrick Hand" pitchFamily="34" charset="-122"/>
                <a:cs typeface="Patrick Hand" pitchFamily="34" charset="-120"/>
              </a:rPr>
              <a:t> in a patient-facing web portal to bypass authentication and extract complete patient record databases from a major U.S. hospital network.</a:t>
            </a:r>
            <a:endParaRPr lang="en-US" sz="1600" dirty="0"/>
          </a:p>
        </p:txBody>
      </p:sp>
      <p:sp>
        <p:nvSpPr>
          <p:cNvPr id="11" name="Shape 8"/>
          <p:cNvSpPr/>
          <p:nvPr/>
        </p:nvSpPr>
        <p:spPr>
          <a:xfrm>
            <a:off x="1023580" y="4178867"/>
            <a:ext cx="5323761" cy="33218"/>
          </a:xfrm>
          <a:prstGeom prst="rect">
            <a:avLst/>
          </a:prstGeom>
          <a:solidFill>
            <a:srgbClr val="383838">
              <a:alpha val="50000"/>
            </a:srgbClr>
          </a:solidFill>
          <a:ln/>
        </p:spPr>
      </p:sp>
      <p:sp>
        <p:nvSpPr>
          <p:cNvPr id="12" name="Text 9"/>
          <p:cNvSpPr/>
          <p:nvPr/>
        </p:nvSpPr>
        <p:spPr>
          <a:xfrm>
            <a:off x="1023580" y="4408289"/>
            <a:ext cx="2052995" cy="256580"/>
          </a:xfrm>
          <a:prstGeom prst="rect">
            <a:avLst/>
          </a:prstGeom>
          <a:noFill/>
          <a:ln/>
        </p:spPr>
        <p:txBody>
          <a:bodyPr wrap="none" lIns="0" tIns="0" rIns="0" bIns="0" rtlCol="0" anchor="t"/>
          <a:lstStyle/>
          <a:p>
            <a:pPr marL="0" indent="0" algn="l">
              <a:lnSpc>
                <a:spcPts val="2000"/>
              </a:lnSpc>
              <a:buNone/>
            </a:pPr>
            <a:r>
              <a:rPr lang="en-US" sz="1600" dirty="0">
                <a:solidFill>
                  <a:srgbClr val="383838"/>
                </a:solidFill>
                <a:latin typeface="Patrick Hand" pitchFamily="34" charset="0"/>
                <a:ea typeface="Patrick Hand" pitchFamily="34" charset="-122"/>
                <a:cs typeface="Patrick Hand" pitchFamily="34" charset="-120"/>
              </a:rPr>
              <a:t>Data Compromised</a:t>
            </a:r>
            <a:endParaRPr lang="en-US" sz="1600" dirty="0"/>
          </a:p>
        </p:txBody>
      </p:sp>
      <p:sp>
        <p:nvSpPr>
          <p:cNvPr id="13" name="Text 10"/>
          <p:cNvSpPr/>
          <p:nvPr/>
        </p:nvSpPr>
        <p:spPr>
          <a:xfrm>
            <a:off x="1023580" y="4839295"/>
            <a:ext cx="5323761" cy="1398151"/>
          </a:xfrm>
          <a:prstGeom prst="rect">
            <a:avLst/>
          </a:prstGeom>
          <a:noFill/>
          <a:ln/>
        </p:spPr>
        <p:txBody>
          <a:bodyPr wrap="square" lIns="0" tIns="0" rIns="0" bIns="0" rtlCol="0" anchor="t"/>
          <a:lstStyle/>
          <a:p>
            <a:pPr marL="342900" indent="-342900" algn="l">
              <a:lnSpc>
                <a:spcPts val="2350"/>
              </a:lnSpc>
              <a:buSzPct val="100000"/>
              <a:buChar char="•"/>
            </a:pPr>
            <a:r>
              <a:rPr lang="en-US" sz="1600" dirty="0">
                <a:solidFill>
                  <a:srgbClr val="383838"/>
                </a:solidFill>
                <a:latin typeface="Patrick Hand" pitchFamily="34" charset="0"/>
                <a:ea typeface="Patrick Hand" pitchFamily="34" charset="-122"/>
                <a:cs typeface="Patrick Hand" pitchFamily="34" charset="-120"/>
              </a:rPr>
              <a:t>Protected health information (PHI)</a:t>
            </a:r>
            <a:endParaRPr lang="en-US" sz="1600" dirty="0"/>
          </a:p>
          <a:p>
            <a:pPr marL="342900" indent="-342900" algn="l">
              <a:lnSpc>
                <a:spcPts val="2350"/>
              </a:lnSpc>
              <a:buSzPct val="100000"/>
              <a:buChar char="•"/>
            </a:pPr>
            <a:r>
              <a:rPr lang="en-US" sz="1600" dirty="0">
                <a:solidFill>
                  <a:srgbClr val="383838"/>
                </a:solidFill>
                <a:latin typeface="Patrick Hand" pitchFamily="34" charset="0"/>
                <a:ea typeface="Patrick Hand" pitchFamily="34" charset="-122"/>
                <a:cs typeface="Patrick Hand" pitchFamily="34" charset="-120"/>
              </a:rPr>
              <a:t>Patient names, diagnoses, treatment histories</a:t>
            </a:r>
            <a:endParaRPr lang="en-US" sz="1600" dirty="0"/>
          </a:p>
          <a:p>
            <a:pPr marL="342900" indent="-342900" algn="l">
              <a:lnSpc>
                <a:spcPts val="2350"/>
              </a:lnSpc>
              <a:buSzPct val="100000"/>
              <a:buChar char="•"/>
            </a:pPr>
            <a:r>
              <a:rPr lang="en-US" sz="1600" dirty="0">
                <a:solidFill>
                  <a:srgbClr val="383838"/>
                </a:solidFill>
                <a:latin typeface="Patrick Hand" pitchFamily="34" charset="0"/>
                <a:ea typeface="Patrick Hand" pitchFamily="34" charset="-122"/>
                <a:cs typeface="Patrick Hand" pitchFamily="34" charset="-120"/>
              </a:rPr>
              <a:t>Insurance and billing records</a:t>
            </a:r>
            <a:endParaRPr lang="en-US" sz="1600" dirty="0"/>
          </a:p>
          <a:p>
            <a:pPr marL="342900" indent="-342900" algn="l">
              <a:lnSpc>
                <a:spcPts val="2350"/>
              </a:lnSpc>
              <a:buSzPct val="100000"/>
              <a:buChar char="•"/>
            </a:pPr>
            <a:r>
              <a:rPr lang="en-US" sz="1600" dirty="0">
                <a:solidFill>
                  <a:srgbClr val="383838"/>
                </a:solidFill>
                <a:latin typeface="Patrick Hand" pitchFamily="34" charset="0"/>
                <a:ea typeface="Patrick Hand" pitchFamily="34" charset="-122"/>
                <a:cs typeface="Patrick Hand" pitchFamily="34" charset="-120"/>
              </a:rPr>
              <a:t>Social Security numbers</a:t>
            </a:r>
            <a:endParaRPr lang="en-US" sz="1600" dirty="0"/>
          </a:p>
        </p:txBody>
      </p:sp>
      <p:sp>
        <p:nvSpPr>
          <p:cNvPr id="14" name="Text 11"/>
          <p:cNvSpPr/>
          <p:nvPr/>
        </p:nvSpPr>
        <p:spPr>
          <a:xfrm>
            <a:off x="6913245" y="2537817"/>
            <a:ext cx="2463641" cy="307896"/>
          </a:xfrm>
          <a:prstGeom prst="rect">
            <a:avLst/>
          </a:prstGeom>
          <a:noFill/>
          <a:ln/>
        </p:spPr>
        <p:txBody>
          <a:bodyPr wrap="none" lIns="0" tIns="0" rIns="0" bIns="0" rtlCol="0" anchor="t"/>
          <a:lstStyle/>
          <a:p>
            <a:pPr marL="0" indent="0" algn="l">
              <a:lnSpc>
                <a:spcPts val="2400"/>
              </a:lnSpc>
              <a:buNone/>
            </a:pPr>
            <a:r>
              <a:rPr lang="en-US" sz="1900" dirty="0">
                <a:solidFill>
                  <a:srgbClr val="383838"/>
                </a:solidFill>
                <a:latin typeface="Patrick Hand" pitchFamily="34" charset="0"/>
                <a:ea typeface="Patrick Hand" pitchFamily="34" charset="-122"/>
                <a:cs typeface="Patrick Hand" pitchFamily="34" charset="-120"/>
              </a:rPr>
              <a:t>Impact &amp; Business Fallout</a:t>
            </a:r>
            <a:endParaRPr lang="en-US" sz="1900" dirty="0"/>
          </a:p>
        </p:txBody>
      </p:sp>
      <p:sp>
        <p:nvSpPr>
          <p:cNvPr id="15" name="Text 12"/>
          <p:cNvSpPr/>
          <p:nvPr/>
        </p:nvSpPr>
        <p:spPr>
          <a:xfrm>
            <a:off x="6913245" y="3020139"/>
            <a:ext cx="6758583" cy="1214914"/>
          </a:xfrm>
          <a:prstGeom prst="rect">
            <a:avLst/>
          </a:prstGeom>
          <a:noFill/>
          <a:ln/>
        </p:spPr>
        <p:txBody>
          <a:bodyPr wrap="square" lIns="0" tIns="0" rIns="0" bIns="0" rtlCol="0" anchor="t"/>
          <a:lstStyle/>
          <a:p>
            <a:pPr marL="0" indent="0" algn="l">
              <a:lnSpc>
                <a:spcPts val="2350"/>
              </a:lnSpc>
              <a:buNone/>
            </a:pPr>
            <a:r>
              <a:rPr lang="en-US" sz="1600" dirty="0">
                <a:solidFill>
                  <a:srgbClr val="383838"/>
                </a:solidFill>
                <a:latin typeface="Patrick Hand" pitchFamily="34" charset="0"/>
                <a:ea typeface="Patrick Hand" pitchFamily="34" charset="-122"/>
                <a:cs typeface="Patrick Hand" pitchFamily="34" charset="-120"/>
              </a:rPr>
              <a:t>The breach constituted a severe </a:t>
            </a:r>
            <a:r>
              <a:rPr lang="en-US" sz="1600" b="1" dirty="0">
                <a:solidFill>
                  <a:srgbClr val="383838"/>
                </a:solidFill>
                <a:latin typeface="Patrick Hand" pitchFamily="34" charset="0"/>
                <a:ea typeface="Patrick Hand" pitchFamily="34" charset="-122"/>
                <a:cs typeface="Patrick Hand" pitchFamily="34" charset="-120"/>
              </a:rPr>
              <a:t>HIPAA violation</a:t>
            </a:r>
            <a:r>
              <a:rPr lang="en-US" sz="1600" dirty="0">
                <a:solidFill>
                  <a:srgbClr val="383838"/>
                </a:solidFill>
                <a:latin typeface="Patrick Hand" pitchFamily="34" charset="0"/>
                <a:ea typeface="Patrick Hand" pitchFamily="34" charset="-122"/>
                <a:cs typeface="Patrick Hand" pitchFamily="34" charset="-120"/>
              </a:rPr>
              <a:t>, triggering federal investigations by the HHS Office for Civil Rights. The hospital system faced multi-million dollar regulatory fines, class-action lawsuits from affected patients, and significant operational disruption as systems were taken offline for forensic analysis and remediation.</a:t>
            </a:r>
            <a:endParaRPr lang="en-US" sz="1600" dirty="0"/>
          </a:p>
        </p:txBody>
      </p:sp>
      <p:sp>
        <p:nvSpPr>
          <p:cNvPr id="16" name="Text 13"/>
          <p:cNvSpPr/>
          <p:nvPr/>
        </p:nvSpPr>
        <p:spPr>
          <a:xfrm>
            <a:off x="6913245" y="4392097"/>
            <a:ext cx="6758583" cy="911185"/>
          </a:xfrm>
          <a:prstGeom prst="rect">
            <a:avLst/>
          </a:prstGeom>
          <a:noFill/>
          <a:ln/>
        </p:spPr>
        <p:txBody>
          <a:bodyPr wrap="square" lIns="0" tIns="0" rIns="0" bIns="0" rtlCol="0" anchor="t"/>
          <a:lstStyle/>
          <a:p>
            <a:pPr marL="0" indent="0" algn="l">
              <a:lnSpc>
                <a:spcPts val="2350"/>
              </a:lnSpc>
              <a:buNone/>
            </a:pPr>
            <a:r>
              <a:rPr lang="en-US" sz="1600" dirty="0">
                <a:solidFill>
                  <a:srgbClr val="383838"/>
                </a:solidFill>
                <a:latin typeface="Patrick Hand" pitchFamily="34" charset="0"/>
                <a:ea typeface="Patrick Hand" pitchFamily="34" charset="-122"/>
                <a:cs typeface="Patrick Hand" pitchFamily="34" charset="-120"/>
              </a:rPr>
              <a:t>Beyond direct costs, the organization experienced a measurable decline in patient enrollment, staff attrition in IT security roles, and lasting damage to community trust — a devastating outcome for a healthcare provider.</a:t>
            </a:r>
            <a:endParaRPr lang="en-US" sz="1600" dirty="0"/>
          </a:p>
        </p:txBody>
      </p:sp>
      <p:sp>
        <p:nvSpPr>
          <p:cNvPr id="17" name="Shape 14"/>
          <p:cNvSpPr/>
          <p:nvPr/>
        </p:nvSpPr>
        <p:spPr>
          <a:xfrm>
            <a:off x="6913245" y="5499497"/>
            <a:ext cx="6758583" cy="1396603"/>
          </a:xfrm>
          <a:prstGeom prst="roundRect">
            <a:avLst>
              <a:gd name="adj" fmla="val 6174"/>
            </a:avLst>
          </a:prstGeom>
          <a:solidFill>
            <a:srgbClr val="D9D9D9"/>
          </a:solidFill>
          <a:ln/>
        </p:spPr>
      </p:sp>
      <p:pic>
        <p:nvPicPr>
          <p:cNvPr id="18" name="Image 1" descr="preencoded.png"/>
          <p:cNvPicPr>
            <a:picLocks noChangeAspect="1"/>
          </p:cNvPicPr>
          <p:nvPr/>
        </p:nvPicPr>
        <p:blipFill>
          <a:blip r:embed="rId5"/>
          <a:stretch>
            <a:fillRect/>
          </a:stretch>
        </p:blipFill>
        <p:spPr>
          <a:xfrm>
            <a:off x="7118509" y="5797391"/>
            <a:ext cx="256580" cy="205264"/>
          </a:xfrm>
          <a:prstGeom prst="rect">
            <a:avLst/>
          </a:prstGeom>
        </p:spPr>
      </p:pic>
      <p:sp>
        <p:nvSpPr>
          <p:cNvPr id="19" name="Text 15"/>
          <p:cNvSpPr/>
          <p:nvPr/>
        </p:nvSpPr>
        <p:spPr>
          <a:xfrm>
            <a:off x="7580352" y="5725239"/>
            <a:ext cx="5886212" cy="911185"/>
          </a:xfrm>
          <a:prstGeom prst="rect">
            <a:avLst/>
          </a:prstGeom>
          <a:noFill/>
          <a:ln/>
        </p:spPr>
        <p:txBody>
          <a:bodyPr wrap="square" lIns="0" tIns="0" rIns="0" bIns="0" rtlCol="0" anchor="t"/>
          <a:lstStyle/>
          <a:p>
            <a:pPr marL="0" indent="0" algn="l">
              <a:lnSpc>
                <a:spcPts val="2350"/>
              </a:lnSpc>
              <a:buNone/>
            </a:pPr>
            <a:r>
              <a:rPr lang="en-US" sz="1600" b="1" dirty="0">
                <a:solidFill>
                  <a:srgbClr val="000000"/>
                </a:solidFill>
                <a:latin typeface="Patrick Hand" pitchFamily="34" charset="0"/>
                <a:ea typeface="Patrick Hand" pitchFamily="34" charset="-122"/>
                <a:cs typeface="Patrick Hand" pitchFamily="34" charset="-120"/>
              </a:rPr>
              <a:t>Lesson:</a:t>
            </a:r>
            <a:r>
              <a:rPr lang="en-US" sz="1600" dirty="0">
                <a:solidFill>
                  <a:srgbClr val="000000"/>
                </a:solidFill>
                <a:latin typeface="Patrick Hand" pitchFamily="34" charset="0"/>
                <a:ea typeface="Patrick Hand" pitchFamily="34" charset="-122"/>
                <a:cs typeface="Patrick Hand" pitchFamily="34" charset="-120"/>
              </a:rPr>
              <a:t> Always use </a:t>
            </a:r>
            <a:r>
              <a:rPr lang="en-US" sz="1600" b="1" dirty="0">
                <a:solidFill>
                  <a:srgbClr val="000000"/>
                </a:solidFill>
                <a:latin typeface="Patrick Hand" pitchFamily="34" charset="0"/>
                <a:ea typeface="Patrick Hand" pitchFamily="34" charset="-122"/>
                <a:cs typeface="Patrick Hand" pitchFamily="34" charset="-120"/>
              </a:rPr>
              <a:t>parameterized queries</a:t>
            </a:r>
            <a:r>
              <a:rPr lang="en-US" sz="1600" dirty="0">
                <a:solidFill>
                  <a:srgbClr val="000000"/>
                </a:solidFill>
                <a:latin typeface="Patrick Hand" pitchFamily="34" charset="0"/>
                <a:ea typeface="Patrick Hand" pitchFamily="34" charset="-122"/>
                <a:cs typeface="Patrick Hand" pitchFamily="34" charset="-120"/>
              </a:rPr>
              <a:t> and prepared statements. Implement strict input validation, deploy web application firewalls (WAFs), and conduct regular penetration testing on all patient-facing applications.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966073" y="835581"/>
            <a:ext cx="1028819" cy="338257"/>
          </a:xfrm>
          <a:prstGeom prst="roundRect">
            <a:avLst>
              <a:gd name="adj" fmla="val 19194"/>
            </a:avLst>
          </a:prstGeom>
          <a:solidFill>
            <a:srgbClr val="E6E6E6"/>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1921" y="927378"/>
            <a:ext cx="154543" cy="154543"/>
          </a:xfrm>
          <a:prstGeom prst="rect">
            <a:avLst/>
          </a:prstGeom>
        </p:spPr>
      </p:pic>
      <p:sp>
        <p:nvSpPr>
          <p:cNvPr id="4" name="Text 1"/>
          <p:cNvSpPr/>
          <p:nvPr/>
        </p:nvSpPr>
        <p:spPr>
          <a:xfrm>
            <a:off x="1313736" y="893445"/>
            <a:ext cx="565309" cy="222528"/>
          </a:xfrm>
          <a:prstGeom prst="rect">
            <a:avLst/>
          </a:prstGeom>
          <a:noFill/>
          <a:ln/>
        </p:spPr>
        <p:txBody>
          <a:bodyPr wrap="none" lIns="0" tIns="0" rIns="0" bIns="0" rtlCol="0" anchor="t"/>
          <a:lstStyle/>
          <a:p>
            <a:pPr marL="0" indent="0" algn="l">
              <a:lnSpc>
                <a:spcPts val="1750"/>
              </a:lnSpc>
              <a:buNone/>
            </a:pPr>
            <a:r>
              <a:rPr lang="en-US" sz="1200" dirty="0">
                <a:solidFill>
                  <a:srgbClr val="383838"/>
                </a:solidFill>
                <a:latin typeface="Patrick Hand" pitchFamily="34" charset="0"/>
                <a:ea typeface="Patrick Hand" pitchFamily="34" charset="-122"/>
                <a:cs typeface="Patrick Hand" pitchFamily="34" charset="-120"/>
              </a:rPr>
              <a:t>A04 &amp; A05</a:t>
            </a:r>
            <a:endParaRPr lang="en-US" sz="1200" dirty="0"/>
          </a:p>
        </p:txBody>
      </p:sp>
      <p:sp>
        <p:nvSpPr>
          <p:cNvPr id="5" name="Shape 2"/>
          <p:cNvSpPr/>
          <p:nvPr/>
        </p:nvSpPr>
        <p:spPr>
          <a:xfrm>
            <a:off x="2091452" y="827961"/>
            <a:ext cx="2532936" cy="353497"/>
          </a:xfrm>
          <a:prstGeom prst="roundRect">
            <a:avLst>
              <a:gd name="adj" fmla="val 18367"/>
            </a:avLst>
          </a:prstGeom>
          <a:noFill/>
          <a:ln w="7620">
            <a:solidFill>
              <a:srgbClr val="CCCCCC"/>
            </a:solidFill>
            <a:prstDash val="solid"/>
          </a:ln>
        </p:spPr>
      </p:sp>
      <p:sp>
        <p:nvSpPr>
          <p:cNvPr id="6" name="Text 3"/>
          <p:cNvSpPr/>
          <p:nvPr/>
        </p:nvSpPr>
        <p:spPr>
          <a:xfrm>
            <a:off x="2214920" y="893445"/>
            <a:ext cx="2286000" cy="222528"/>
          </a:xfrm>
          <a:prstGeom prst="rect">
            <a:avLst/>
          </a:prstGeom>
          <a:noFill/>
          <a:ln/>
        </p:spPr>
        <p:txBody>
          <a:bodyPr wrap="none" lIns="0" tIns="0" rIns="0" bIns="0" rtlCol="0" anchor="t"/>
          <a:lstStyle/>
          <a:p>
            <a:pPr marL="0" indent="0" algn="l">
              <a:lnSpc>
                <a:spcPts val="1750"/>
              </a:lnSpc>
              <a:buNone/>
            </a:pPr>
            <a:r>
              <a:rPr lang="en-US" sz="1200" dirty="0">
                <a:solidFill>
                  <a:srgbClr val="CCCCCC"/>
                </a:solidFill>
                <a:latin typeface="Patrick Hand" pitchFamily="34" charset="0"/>
                <a:ea typeface="Patrick Hand" pitchFamily="34" charset="-122"/>
                <a:cs typeface="Patrick Hand" pitchFamily="34" charset="-120"/>
              </a:rPr>
              <a:t>INSECURE DESIGN &amp; MISCONFIGURATION</a:t>
            </a:r>
            <a:endParaRPr lang="en-US" sz="1200" dirty="0"/>
          </a:p>
        </p:txBody>
      </p:sp>
      <p:sp>
        <p:nvSpPr>
          <p:cNvPr id="7" name="Text 4"/>
          <p:cNvSpPr/>
          <p:nvPr/>
        </p:nvSpPr>
        <p:spPr>
          <a:xfrm>
            <a:off x="966073" y="1243251"/>
            <a:ext cx="10146149" cy="483037"/>
          </a:xfrm>
          <a:prstGeom prst="rect">
            <a:avLst/>
          </a:prstGeom>
          <a:noFill/>
          <a:ln/>
        </p:spPr>
        <p:txBody>
          <a:bodyPr wrap="none" lIns="0" tIns="0" rIns="0" bIns="0" rtlCol="0" anchor="t"/>
          <a:lstStyle/>
          <a:p>
            <a:pPr marL="0" indent="0" algn="l">
              <a:lnSpc>
                <a:spcPts val="3800"/>
              </a:lnSpc>
              <a:buNone/>
            </a:pPr>
            <a:r>
              <a:rPr lang="en-US" sz="3000" dirty="0">
                <a:solidFill>
                  <a:srgbClr val="383838"/>
                </a:solidFill>
                <a:latin typeface="Patrick Hand" pitchFamily="34" charset="0"/>
                <a:ea typeface="Patrick Hand" pitchFamily="34" charset="-122"/>
                <a:cs typeface="Patrick Hand" pitchFamily="34" charset="-120"/>
              </a:rPr>
              <a:t>Insecure Design &amp; Security Misconfiguration — Capital One Cloud Breach</a:t>
            </a:r>
            <a:endParaRPr lang="en-US" sz="3000" dirty="0"/>
          </a:p>
        </p:txBody>
      </p:sp>
      <p:sp>
        <p:nvSpPr>
          <p:cNvPr id="8" name="Text 5"/>
          <p:cNvSpPr/>
          <p:nvPr/>
        </p:nvSpPr>
        <p:spPr>
          <a:xfrm>
            <a:off x="966073" y="1958102"/>
            <a:ext cx="12698254" cy="556498"/>
          </a:xfrm>
          <a:prstGeom prst="rect">
            <a:avLst/>
          </a:prstGeom>
          <a:noFill/>
          <a:ln/>
        </p:spPr>
        <p:txBody>
          <a:bodyPr wrap="square" lIns="0" tIns="0" rIns="0" bIns="0" rtlCol="0" anchor="t"/>
          <a:lstStyle/>
          <a:p>
            <a:pPr marL="0" indent="0" algn="l">
              <a:lnSpc>
                <a:spcPts val="2150"/>
              </a:lnSpc>
              <a:buNone/>
            </a:pPr>
            <a:r>
              <a:rPr lang="en-US" sz="1500" dirty="0">
                <a:solidFill>
                  <a:srgbClr val="383838"/>
                </a:solidFill>
                <a:latin typeface="Patrick Hand" pitchFamily="34" charset="0"/>
                <a:ea typeface="Patrick Hand" pitchFamily="34" charset="-122"/>
                <a:cs typeface="Patrick Hand" pitchFamily="34" charset="-120"/>
              </a:rPr>
              <a:t>In one of the most high-profile cloud security failures, a </a:t>
            </a:r>
            <a:r>
              <a:rPr lang="en-US" sz="1500" b="1" dirty="0">
                <a:solidFill>
                  <a:srgbClr val="383838"/>
                </a:solidFill>
                <a:latin typeface="Patrick Hand" pitchFamily="34" charset="0"/>
                <a:ea typeface="Patrick Hand" pitchFamily="34" charset="-122"/>
                <a:cs typeface="Patrick Hand" pitchFamily="34" charset="-120"/>
              </a:rPr>
              <a:t>misconfigured AWS Web Application Firewall</a:t>
            </a:r>
            <a:r>
              <a:rPr lang="en-US" sz="1500" dirty="0">
                <a:solidFill>
                  <a:srgbClr val="383838"/>
                </a:solidFill>
                <a:latin typeface="Patrick Hand" pitchFamily="34" charset="0"/>
                <a:ea typeface="Patrick Hand" pitchFamily="34" charset="-122"/>
                <a:cs typeface="Patrick Hand" pitchFamily="34" charset="-120"/>
              </a:rPr>
              <a:t> allowed an attacker to exploit a Server Side Request Forgery (SSRF) vulnerability and access Capital One's cloud storage. The breach exposed </a:t>
            </a:r>
            <a:r>
              <a:rPr lang="en-US" sz="1500" b="1" dirty="0">
                <a:solidFill>
                  <a:srgbClr val="383838"/>
                </a:solidFill>
                <a:latin typeface="Patrick Hand" pitchFamily="34" charset="0"/>
                <a:ea typeface="Patrick Hand" pitchFamily="34" charset="-122"/>
                <a:cs typeface="Patrick Hand" pitchFamily="34" charset="-120"/>
              </a:rPr>
              <a:t>100 million credit applications</a:t>
            </a:r>
            <a:r>
              <a:rPr lang="en-US" sz="1500" dirty="0">
                <a:solidFill>
                  <a:srgbClr val="383838"/>
                </a:solidFill>
                <a:latin typeface="Patrick Hand" pitchFamily="34" charset="0"/>
                <a:ea typeface="Patrick Hand" pitchFamily="34" charset="-122"/>
                <a:cs typeface="Patrick Hand" pitchFamily="34" charset="-120"/>
              </a:rPr>
              <a:t> containing names, addresses, credit scores, and Social Security numbers.</a:t>
            </a:r>
            <a:endParaRPr lang="en-US" sz="1500" dirty="0"/>
          </a:p>
        </p:txBody>
      </p:sp>
      <p:pic>
        <p:nvPicPr>
          <p:cNvPr id="9" name="Image 1" descr="preencoded.png"/>
          <p:cNvPicPr>
            <a:picLocks noChangeAspect="1"/>
          </p:cNvPicPr>
          <p:nvPr/>
        </p:nvPicPr>
        <p:blipFill>
          <a:blip r:embed="rId5"/>
          <a:stretch>
            <a:fillRect/>
          </a:stretch>
        </p:blipFill>
        <p:spPr>
          <a:xfrm>
            <a:off x="966073" y="2688431"/>
            <a:ext cx="1904167" cy="1904167"/>
          </a:xfrm>
          <a:prstGeom prst="rect">
            <a:avLst/>
          </a:prstGeom>
        </p:spPr>
      </p:pic>
      <p:sp>
        <p:nvSpPr>
          <p:cNvPr id="10" name="Text 6"/>
          <p:cNvSpPr/>
          <p:nvPr/>
        </p:nvSpPr>
        <p:spPr>
          <a:xfrm>
            <a:off x="966073" y="4785717"/>
            <a:ext cx="1932265" cy="241459"/>
          </a:xfrm>
          <a:prstGeom prst="rect">
            <a:avLst/>
          </a:prstGeom>
          <a:noFill/>
          <a:ln/>
        </p:spPr>
        <p:txBody>
          <a:bodyPr wrap="none" lIns="0" tIns="0" rIns="0" bIns="0" rtlCol="0" anchor="t"/>
          <a:lstStyle/>
          <a:p>
            <a:pPr marL="0" indent="0" algn="l">
              <a:lnSpc>
                <a:spcPts val="1900"/>
              </a:lnSpc>
              <a:buNone/>
            </a:pPr>
            <a:r>
              <a:rPr lang="en-US" sz="1500" dirty="0">
                <a:solidFill>
                  <a:srgbClr val="383838"/>
                </a:solidFill>
                <a:latin typeface="Patrick Hand" pitchFamily="34" charset="0"/>
                <a:ea typeface="Patrick Hand" pitchFamily="34" charset="-122"/>
                <a:cs typeface="Patrick Hand" pitchFamily="34" charset="-120"/>
              </a:rPr>
              <a:t>Misconfigured Firewall</a:t>
            </a:r>
            <a:endParaRPr lang="en-US" sz="1500" dirty="0"/>
          </a:p>
        </p:txBody>
      </p:sp>
      <p:sp>
        <p:nvSpPr>
          <p:cNvPr id="11" name="Text 7"/>
          <p:cNvSpPr/>
          <p:nvPr/>
        </p:nvSpPr>
        <p:spPr>
          <a:xfrm>
            <a:off x="966073" y="5119926"/>
            <a:ext cx="4103965" cy="1112996"/>
          </a:xfrm>
          <a:prstGeom prst="rect">
            <a:avLst/>
          </a:prstGeom>
          <a:noFill/>
          <a:ln/>
        </p:spPr>
        <p:txBody>
          <a:bodyPr wrap="square" lIns="0" tIns="0" rIns="0" bIns="0" rtlCol="0" anchor="t"/>
          <a:lstStyle/>
          <a:p>
            <a:pPr marL="0" indent="0" algn="l">
              <a:lnSpc>
                <a:spcPts val="2150"/>
              </a:lnSpc>
              <a:buNone/>
            </a:pPr>
            <a:r>
              <a:rPr lang="en-US" sz="1500" dirty="0">
                <a:solidFill>
                  <a:srgbClr val="383838"/>
                </a:solidFill>
                <a:latin typeface="Patrick Hand" pitchFamily="34" charset="0"/>
                <a:ea typeface="Patrick Hand" pitchFamily="34" charset="-122"/>
                <a:cs typeface="Patrick Hand" pitchFamily="34" charset="-120"/>
              </a:rPr>
              <a:t>An overly permissive IAM role on an AWS EC2 instance allowed the attacker to query the metadata service and extract temporary credentials, pivoting into S3 buckets containing sensitive data.</a:t>
            </a:r>
            <a:endParaRPr lang="en-US" sz="1500" dirty="0"/>
          </a:p>
        </p:txBody>
      </p:sp>
      <p:pic>
        <p:nvPicPr>
          <p:cNvPr id="12" name="Image 2" descr="preencoded.png"/>
          <p:cNvPicPr>
            <a:picLocks noChangeAspect="1"/>
          </p:cNvPicPr>
          <p:nvPr/>
        </p:nvPicPr>
        <p:blipFill>
          <a:blip r:embed="rId6"/>
          <a:stretch>
            <a:fillRect/>
          </a:stretch>
        </p:blipFill>
        <p:spPr>
          <a:xfrm>
            <a:off x="5263158" y="2688431"/>
            <a:ext cx="1904167" cy="1904167"/>
          </a:xfrm>
          <a:prstGeom prst="rect">
            <a:avLst/>
          </a:prstGeom>
        </p:spPr>
      </p:pic>
      <p:sp>
        <p:nvSpPr>
          <p:cNvPr id="13" name="Text 8"/>
          <p:cNvSpPr/>
          <p:nvPr/>
        </p:nvSpPr>
        <p:spPr>
          <a:xfrm>
            <a:off x="5263158" y="4785717"/>
            <a:ext cx="1932265" cy="241459"/>
          </a:xfrm>
          <a:prstGeom prst="rect">
            <a:avLst/>
          </a:prstGeom>
          <a:noFill/>
          <a:ln/>
        </p:spPr>
        <p:txBody>
          <a:bodyPr wrap="none" lIns="0" tIns="0" rIns="0" bIns="0" rtlCol="0" anchor="t"/>
          <a:lstStyle/>
          <a:p>
            <a:pPr marL="0" indent="0" algn="l">
              <a:lnSpc>
                <a:spcPts val="1900"/>
              </a:lnSpc>
              <a:buNone/>
            </a:pPr>
            <a:r>
              <a:rPr lang="en-US" sz="1500" dirty="0">
                <a:solidFill>
                  <a:srgbClr val="383838"/>
                </a:solidFill>
                <a:latin typeface="Patrick Hand" pitchFamily="34" charset="0"/>
                <a:ea typeface="Patrick Hand" pitchFamily="34" charset="-122"/>
                <a:cs typeface="Patrick Hand" pitchFamily="34" charset="-120"/>
              </a:rPr>
              <a:t>100M Records Stolen</a:t>
            </a:r>
            <a:endParaRPr lang="en-US" sz="1500" dirty="0"/>
          </a:p>
        </p:txBody>
      </p:sp>
      <p:sp>
        <p:nvSpPr>
          <p:cNvPr id="14" name="Text 9"/>
          <p:cNvSpPr/>
          <p:nvPr/>
        </p:nvSpPr>
        <p:spPr>
          <a:xfrm>
            <a:off x="5263158" y="5119926"/>
            <a:ext cx="4103965" cy="1112996"/>
          </a:xfrm>
          <a:prstGeom prst="rect">
            <a:avLst/>
          </a:prstGeom>
          <a:noFill/>
          <a:ln/>
        </p:spPr>
        <p:txBody>
          <a:bodyPr wrap="square" lIns="0" tIns="0" rIns="0" bIns="0" rtlCol="0" anchor="t"/>
          <a:lstStyle/>
          <a:p>
            <a:pPr marL="0" indent="0" algn="l">
              <a:lnSpc>
                <a:spcPts val="2150"/>
              </a:lnSpc>
              <a:buNone/>
            </a:pPr>
            <a:r>
              <a:rPr lang="en-US" sz="1500" dirty="0">
                <a:solidFill>
                  <a:srgbClr val="383838"/>
                </a:solidFill>
                <a:latin typeface="Patrick Hand" pitchFamily="34" charset="0"/>
                <a:ea typeface="Patrick Hand" pitchFamily="34" charset="-122"/>
                <a:cs typeface="Patrick Hand" pitchFamily="34" charset="-120"/>
              </a:rPr>
              <a:t>Credit scores, bank account numbers, and 140,000 Social Security numbers were exfiltrated. The data spanned applications from 2005–2019, amplifying the breach's scope dramatically.</a:t>
            </a:r>
            <a:endParaRPr lang="en-US" sz="1500" dirty="0"/>
          </a:p>
        </p:txBody>
      </p:sp>
      <p:pic>
        <p:nvPicPr>
          <p:cNvPr id="15" name="Image 3" descr="preencoded.png"/>
          <p:cNvPicPr>
            <a:picLocks noChangeAspect="1"/>
          </p:cNvPicPr>
          <p:nvPr/>
        </p:nvPicPr>
        <p:blipFill>
          <a:blip r:embed="rId7"/>
          <a:stretch>
            <a:fillRect/>
          </a:stretch>
        </p:blipFill>
        <p:spPr>
          <a:xfrm>
            <a:off x="9560243" y="2688431"/>
            <a:ext cx="1904167" cy="1904167"/>
          </a:xfrm>
          <a:prstGeom prst="rect">
            <a:avLst/>
          </a:prstGeom>
        </p:spPr>
      </p:pic>
      <p:sp>
        <p:nvSpPr>
          <p:cNvPr id="16" name="Text 10"/>
          <p:cNvSpPr/>
          <p:nvPr/>
        </p:nvSpPr>
        <p:spPr>
          <a:xfrm>
            <a:off x="9560243" y="4785717"/>
            <a:ext cx="1932265" cy="241459"/>
          </a:xfrm>
          <a:prstGeom prst="rect">
            <a:avLst/>
          </a:prstGeom>
          <a:noFill/>
          <a:ln/>
        </p:spPr>
        <p:txBody>
          <a:bodyPr wrap="none" lIns="0" tIns="0" rIns="0" bIns="0" rtlCol="0" anchor="t"/>
          <a:lstStyle/>
          <a:p>
            <a:pPr marL="0" indent="0" algn="l">
              <a:lnSpc>
                <a:spcPts val="1900"/>
              </a:lnSpc>
              <a:buNone/>
            </a:pPr>
            <a:r>
              <a:rPr lang="en-US" sz="1500" dirty="0">
                <a:solidFill>
                  <a:srgbClr val="383838"/>
                </a:solidFill>
                <a:latin typeface="Patrick Hand" pitchFamily="34" charset="0"/>
                <a:ea typeface="Patrick Hand" pitchFamily="34" charset="-122"/>
                <a:cs typeface="Patrick Hand" pitchFamily="34" charset="-120"/>
              </a:rPr>
              <a:t>$80M Fine &amp; Beyond</a:t>
            </a:r>
            <a:endParaRPr lang="en-US" sz="1500" dirty="0"/>
          </a:p>
        </p:txBody>
      </p:sp>
      <p:sp>
        <p:nvSpPr>
          <p:cNvPr id="17" name="Text 11"/>
          <p:cNvSpPr/>
          <p:nvPr/>
        </p:nvSpPr>
        <p:spPr>
          <a:xfrm>
            <a:off x="9560243" y="5119926"/>
            <a:ext cx="4103965" cy="1112996"/>
          </a:xfrm>
          <a:prstGeom prst="rect">
            <a:avLst/>
          </a:prstGeom>
          <a:noFill/>
          <a:ln/>
        </p:spPr>
        <p:txBody>
          <a:bodyPr wrap="square" lIns="0" tIns="0" rIns="0" bIns="0" rtlCol="0" anchor="t"/>
          <a:lstStyle/>
          <a:p>
            <a:pPr marL="0" indent="0" algn="l">
              <a:lnSpc>
                <a:spcPts val="2150"/>
              </a:lnSpc>
              <a:buNone/>
            </a:pPr>
            <a:r>
              <a:rPr lang="en-US" sz="1500" dirty="0">
                <a:solidFill>
                  <a:srgbClr val="383838"/>
                </a:solidFill>
                <a:latin typeface="Patrick Hand" pitchFamily="34" charset="0"/>
                <a:ea typeface="Patrick Hand" pitchFamily="34" charset="-122"/>
                <a:cs typeface="Patrick Hand" pitchFamily="34" charset="-120"/>
              </a:rPr>
              <a:t>The OCC levied an </a:t>
            </a:r>
            <a:r>
              <a:rPr lang="en-US" sz="1500" b="1" dirty="0">
                <a:solidFill>
                  <a:srgbClr val="383838"/>
                </a:solidFill>
                <a:latin typeface="Patrick Hand" pitchFamily="34" charset="0"/>
                <a:ea typeface="Patrick Hand" pitchFamily="34" charset="-122"/>
                <a:cs typeface="Patrick Hand" pitchFamily="34" charset="-120"/>
              </a:rPr>
              <a:t>$80 million penalty</a:t>
            </a:r>
            <a:r>
              <a:rPr lang="en-US" sz="1500" dirty="0">
                <a:solidFill>
                  <a:srgbClr val="383838"/>
                </a:solidFill>
                <a:latin typeface="Patrick Hand" pitchFamily="34" charset="0"/>
                <a:ea typeface="Patrick Hand" pitchFamily="34" charset="-122"/>
                <a:cs typeface="Patrick Hand" pitchFamily="34" charset="-120"/>
              </a:rPr>
              <a:t>. Total costs including remediation, legal settlements, and security overhaul exceeded $300 million. The CISO departed and the incident reshaped cloud security policy industry-wide.</a:t>
            </a:r>
            <a:endParaRPr lang="en-US" sz="1500" dirty="0"/>
          </a:p>
        </p:txBody>
      </p:sp>
      <p:sp>
        <p:nvSpPr>
          <p:cNvPr id="18" name="Shape 12"/>
          <p:cNvSpPr/>
          <p:nvPr/>
        </p:nvSpPr>
        <p:spPr>
          <a:xfrm>
            <a:off x="966073" y="6406753"/>
            <a:ext cx="12698254" cy="994886"/>
          </a:xfrm>
          <a:prstGeom prst="roundRect">
            <a:avLst>
              <a:gd name="adj" fmla="val 8157"/>
            </a:avLst>
          </a:prstGeom>
          <a:solidFill>
            <a:srgbClr val="D9D9D9"/>
          </a:solidFill>
          <a:ln/>
        </p:spPr>
      </p:sp>
      <p:pic>
        <p:nvPicPr>
          <p:cNvPr id="19" name="Image 4" descr="preencoded.png"/>
          <p:cNvPicPr>
            <a:picLocks noChangeAspect="1"/>
          </p:cNvPicPr>
          <p:nvPr/>
        </p:nvPicPr>
        <p:blipFill>
          <a:blip r:embed="rId8"/>
          <a:stretch>
            <a:fillRect/>
          </a:stretch>
        </p:blipFill>
        <p:spPr>
          <a:xfrm>
            <a:off x="1159193" y="6684764"/>
            <a:ext cx="241459" cy="193119"/>
          </a:xfrm>
          <a:prstGeom prst="rect">
            <a:avLst/>
          </a:prstGeom>
        </p:spPr>
      </p:pic>
      <p:sp>
        <p:nvSpPr>
          <p:cNvPr id="20" name="Text 13"/>
          <p:cNvSpPr/>
          <p:nvPr/>
        </p:nvSpPr>
        <p:spPr>
          <a:xfrm>
            <a:off x="1593771" y="6609517"/>
            <a:ext cx="11877437" cy="556498"/>
          </a:xfrm>
          <a:prstGeom prst="rect">
            <a:avLst/>
          </a:prstGeom>
          <a:noFill/>
          <a:ln/>
        </p:spPr>
        <p:txBody>
          <a:bodyPr wrap="square" lIns="0" tIns="0" rIns="0" bIns="0" rtlCol="0" anchor="t"/>
          <a:lstStyle/>
          <a:p>
            <a:pPr marL="0" indent="0" algn="l">
              <a:lnSpc>
                <a:spcPts val="2150"/>
              </a:lnSpc>
              <a:buNone/>
            </a:pPr>
            <a:r>
              <a:rPr lang="en-US" sz="1500" b="1" dirty="0">
                <a:solidFill>
                  <a:srgbClr val="000000"/>
                </a:solidFill>
                <a:latin typeface="Patrick Hand" pitchFamily="34" charset="0"/>
                <a:ea typeface="Patrick Hand" pitchFamily="34" charset="-122"/>
                <a:cs typeface="Patrick Hand" pitchFamily="34" charset="-120"/>
              </a:rPr>
              <a:t>Lesson:</a:t>
            </a:r>
            <a:r>
              <a:rPr lang="en-US" sz="1500" dirty="0">
                <a:solidFill>
                  <a:srgbClr val="000000"/>
                </a:solidFill>
                <a:latin typeface="Patrick Hand" pitchFamily="34" charset="0"/>
                <a:ea typeface="Patrick Hand" pitchFamily="34" charset="-122"/>
                <a:cs typeface="Patrick Hand" pitchFamily="34" charset="-120"/>
              </a:rPr>
              <a:t> Embed security into cloud architecture from day one. Audit IAM policies, enforce the principle of least privilege, disable SSRF-vulnerable metadata endpoints, and use infrastructure-as-code scanning to catch misconfigurations before deployment.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966073" y="679490"/>
            <a:ext cx="669727" cy="338257"/>
          </a:xfrm>
          <a:prstGeom prst="roundRect">
            <a:avLst>
              <a:gd name="adj" fmla="val 19194"/>
            </a:avLst>
          </a:prstGeom>
          <a:solidFill>
            <a:srgbClr val="E6E6E6"/>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1921" y="771287"/>
            <a:ext cx="154543" cy="154543"/>
          </a:xfrm>
          <a:prstGeom prst="rect">
            <a:avLst/>
          </a:prstGeom>
        </p:spPr>
      </p:pic>
      <p:sp>
        <p:nvSpPr>
          <p:cNvPr id="4" name="Text 1"/>
          <p:cNvSpPr/>
          <p:nvPr/>
        </p:nvSpPr>
        <p:spPr>
          <a:xfrm>
            <a:off x="1313736" y="737354"/>
            <a:ext cx="206216" cy="222528"/>
          </a:xfrm>
          <a:prstGeom prst="rect">
            <a:avLst/>
          </a:prstGeom>
          <a:noFill/>
          <a:ln/>
        </p:spPr>
        <p:txBody>
          <a:bodyPr wrap="none" lIns="0" tIns="0" rIns="0" bIns="0" rtlCol="0" anchor="t"/>
          <a:lstStyle/>
          <a:p>
            <a:pPr marL="0" indent="0" algn="l">
              <a:lnSpc>
                <a:spcPts val="1750"/>
              </a:lnSpc>
              <a:buNone/>
            </a:pPr>
            <a:r>
              <a:rPr lang="en-US" sz="1200" dirty="0">
                <a:solidFill>
                  <a:srgbClr val="383838"/>
                </a:solidFill>
                <a:latin typeface="Patrick Hand" pitchFamily="34" charset="0"/>
                <a:ea typeface="Patrick Hand" pitchFamily="34" charset="-122"/>
                <a:cs typeface="Patrick Hand" pitchFamily="34" charset="-120"/>
              </a:rPr>
              <a:t>A06</a:t>
            </a:r>
            <a:endParaRPr lang="en-US" sz="1200" dirty="0"/>
          </a:p>
        </p:txBody>
      </p:sp>
      <p:sp>
        <p:nvSpPr>
          <p:cNvPr id="5" name="Shape 2"/>
          <p:cNvSpPr/>
          <p:nvPr/>
        </p:nvSpPr>
        <p:spPr>
          <a:xfrm>
            <a:off x="1732359" y="671870"/>
            <a:ext cx="1809750" cy="353497"/>
          </a:xfrm>
          <a:prstGeom prst="roundRect">
            <a:avLst>
              <a:gd name="adj" fmla="val 18367"/>
            </a:avLst>
          </a:prstGeom>
          <a:noFill/>
          <a:ln w="7620">
            <a:solidFill>
              <a:srgbClr val="CCCCCC"/>
            </a:solidFill>
            <a:prstDash val="solid"/>
          </a:ln>
        </p:spPr>
      </p:sp>
      <p:sp>
        <p:nvSpPr>
          <p:cNvPr id="6" name="Text 3"/>
          <p:cNvSpPr/>
          <p:nvPr/>
        </p:nvSpPr>
        <p:spPr>
          <a:xfrm>
            <a:off x="1855827" y="737354"/>
            <a:ext cx="1562814" cy="222528"/>
          </a:xfrm>
          <a:prstGeom prst="rect">
            <a:avLst/>
          </a:prstGeom>
          <a:noFill/>
          <a:ln/>
        </p:spPr>
        <p:txBody>
          <a:bodyPr wrap="none" lIns="0" tIns="0" rIns="0" bIns="0" rtlCol="0" anchor="t"/>
          <a:lstStyle/>
          <a:p>
            <a:pPr marL="0" indent="0" algn="l">
              <a:lnSpc>
                <a:spcPts val="1750"/>
              </a:lnSpc>
              <a:buNone/>
            </a:pPr>
            <a:r>
              <a:rPr lang="en-US" sz="1200" dirty="0">
                <a:solidFill>
                  <a:srgbClr val="CCCCCC"/>
                </a:solidFill>
                <a:latin typeface="Patrick Hand" pitchFamily="34" charset="0"/>
                <a:ea typeface="Patrick Hand" pitchFamily="34" charset="-122"/>
                <a:cs typeface="Patrick Hand" pitchFamily="34" charset="-120"/>
              </a:rPr>
              <a:t>VULNERABLE COMPONENTS</a:t>
            </a:r>
            <a:endParaRPr lang="en-US" sz="1200" dirty="0"/>
          </a:p>
        </p:txBody>
      </p:sp>
      <p:sp>
        <p:nvSpPr>
          <p:cNvPr id="7" name="Text 4"/>
          <p:cNvSpPr/>
          <p:nvPr/>
        </p:nvSpPr>
        <p:spPr>
          <a:xfrm>
            <a:off x="966073" y="1087160"/>
            <a:ext cx="9828609" cy="483037"/>
          </a:xfrm>
          <a:prstGeom prst="rect">
            <a:avLst/>
          </a:prstGeom>
          <a:noFill/>
          <a:ln/>
        </p:spPr>
        <p:txBody>
          <a:bodyPr wrap="none" lIns="0" tIns="0" rIns="0" bIns="0" rtlCol="0" anchor="t"/>
          <a:lstStyle/>
          <a:p>
            <a:pPr marL="0" indent="0" algn="l">
              <a:lnSpc>
                <a:spcPts val="3800"/>
              </a:lnSpc>
              <a:buNone/>
            </a:pPr>
            <a:r>
              <a:rPr lang="en-US" sz="3000" dirty="0">
                <a:solidFill>
                  <a:srgbClr val="383838"/>
                </a:solidFill>
                <a:latin typeface="Patrick Hand" pitchFamily="34" charset="0"/>
                <a:ea typeface="Patrick Hand" pitchFamily="34" charset="-122"/>
                <a:cs typeface="Patrick Hand" pitchFamily="34" charset="-120"/>
              </a:rPr>
              <a:t>Vulnerable &amp; Outdated Components — SolarWinds Supply Chain Attack</a:t>
            </a:r>
            <a:endParaRPr lang="en-US" sz="3000" dirty="0"/>
          </a:p>
        </p:txBody>
      </p:sp>
      <p:sp>
        <p:nvSpPr>
          <p:cNvPr id="8" name="Text 5"/>
          <p:cNvSpPr/>
          <p:nvPr/>
        </p:nvSpPr>
        <p:spPr>
          <a:xfrm>
            <a:off x="966073" y="1802011"/>
            <a:ext cx="12698254" cy="556498"/>
          </a:xfrm>
          <a:prstGeom prst="rect">
            <a:avLst/>
          </a:prstGeom>
          <a:noFill/>
          <a:ln/>
        </p:spPr>
        <p:txBody>
          <a:bodyPr wrap="square" lIns="0" tIns="0" rIns="0" bIns="0" rtlCol="0" anchor="t"/>
          <a:lstStyle/>
          <a:p>
            <a:pPr marL="0" indent="0" algn="l">
              <a:lnSpc>
                <a:spcPts val="2150"/>
              </a:lnSpc>
              <a:buNone/>
            </a:pPr>
            <a:r>
              <a:rPr lang="en-US" sz="1500" dirty="0">
                <a:solidFill>
                  <a:srgbClr val="383838"/>
                </a:solidFill>
                <a:latin typeface="Patrick Hand" pitchFamily="34" charset="0"/>
                <a:ea typeface="Patrick Hand" pitchFamily="34" charset="-122"/>
                <a:cs typeface="Patrick Hand" pitchFamily="34" charset="-120"/>
              </a:rPr>
              <a:t>The SolarWinds attack, discovered in late 2020, remains the defining </a:t>
            </a:r>
            <a:r>
              <a:rPr lang="en-US" sz="1500" b="1" dirty="0">
                <a:solidFill>
                  <a:srgbClr val="383838"/>
                </a:solidFill>
                <a:latin typeface="Patrick Hand" pitchFamily="34" charset="0"/>
                <a:ea typeface="Patrick Hand" pitchFamily="34" charset="-122"/>
                <a:cs typeface="Patrick Hand" pitchFamily="34" charset="-120"/>
              </a:rPr>
              <a:t>supply chain compromise</a:t>
            </a:r>
            <a:r>
              <a:rPr lang="en-US" sz="1500" dirty="0">
                <a:solidFill>
                  <a:srgbClr val="383838"/>
                </a:solidFill>
                <a:latin typeface="Patrick Hand" pitchFamily="34" charset="0"/>
                <a:ea typeface="Patrick Hand" pitchFamily="34" charset="-122"/>
                <a:cs typeface="Patrick Hand" pitchFamily="34" charset="-120"/>
              </a:rPr>
              <a:t> of the decade. Attackers injected malicious code into SolarWinds' Orion software updates, which were then distributed to approximately </a:t>
            </a:r>
            <a:r>
              <a:rPr lang="en-US" sz="1500" b="1" dirty="0">
                <a:solidFill>
                  <a:srgbClr val="383838"/>
                </a:solidFill>
                <a:latin typeface="Patrick Hand" pitchFamily="34" charset="0"/>
                <a:ea typeface="Patrick Hand" pitchFamily="34" charset="-122"/>
                <a:cs typeface="Patrick Hand" pitchFamily="34" charset="-120"/>
              </a:rPr>
              <a:t>18,000 organizations</a:t>
            </a:r>
            <a:r>
              <a:rPr lang="en-US" sz="1500" dirty="0">
                <a:solidFill>
                  <a:srgbClr val="383838"/>
                </a:solidFill>
                <a:latin typeface="Patrick Hand" pitchFamily="34" charset="0"/>
                <a:ea typeface="Patrick Hand" pitchFamily="34" charset="-122"/>
                <a:cs typeface="Patrick Hand" pitchFamily="34" charset="-120"/>
              </a:rPr>
              <a:t> — including U.S. federal agencies, Fortune 500 companies, and critical infrastructure operators.</a:t>
            </a:r>
            <a:endParaRPr lang="en-US" sz="1500" dirty="0"/>
          </a:p>
        </p:txBody>
      </p:sp>
      <p:sp>
        <p:nvSpPr>
          <p:cNvPr id="9" name="Shape 6"/>
          <p:cNvSpPr/>
          <p:nvPr/>
        </p:nvSpPr>
        <p:spPr>
          <a:xfrm>
            <a:off x="966073" y="4195882"/>
            <a:ext cx="12698254" cy="22860"/>
          </a:xfrm>
          <a:prstGeom prst="roundRect">
            <a:avLst>
              <a:gd name="adj" fmla="val 355019"/>
            </a:avLst>
          </a:prstGeom>
          <a:solidFill>
            <a:srgbClr val="CCCCCC"/>
          </a:solidFill>
          <a:ln/>
        </p:spPr>
      </p:sp>
      <p:sp>
        <p:nvSpPr>
          <p:cNvPr id="10" name="Shape 7"/>
          <p:cNvSpPr/>
          <p:nvPr/>
        </p:nvSpPr>
        <p:spPr>
          <a:xfrm>
            <a:off x="3436144" y="3616345"/>
            <a:ext cx="22860" cy="579596"/>
          </a:xfrm>
          <a:prstGeom prst="roundRect">
            <a:avLst>
              <a:gd name="adj" fmla="val 355019"/>
            </a:avLst>
          </a:prstGeom>
          <a:solidFill>
            <a:srgbClr val="CCCCCC"/>
          </a:solidFill>
          <a:ln/>
        </p:spPr>
      </p:sp>
      <p:sp>
        <p:nvSpPr>
          <p:cNvPr id="11" name="Shape 8"/>
          <p:cNvSpPr/>
          <p:nvPr/>
        </p:nvSpPr>
        <p:spPr>
          <a:xfrm>
            <a:off x="3230285" y="3978533"/>
            <a:ext cx="434697" cy="434697"/>
          </a:xfrm>
          <a:prstGeom prst="roundRect">
            <a:avLst>
              <a:gd name="adj" fmla="val 18670"/>
            </a:avLst>
          </a:prstGeom>
          <a:solidFill>
            <a:srgbClr val="E6E6E6"/>
          </a:solidFill>
          <a:ln w="7620">
            <a:solidFill>
              <a:srgbClr val="CCCCCC"/>
            </a:solidFill>
            <a:prstDash val="solid"/>
          </a:ln>
        </p:spPr>
      </p:sp>
      <p:sp>
        <p:nvSpPr>
          <p:cNvPr id="12" name="Text 9"/>
          <p:cNvSpPr/>
          <p:nvPr/>
        </p:nvSpPr>
        <p:spPr>
          <a:xfrm>
            <a:off x="3331666" y="4050923"/>
            <a:ext cx="231815" cy="289798"/>
          </a:xfrm>
          <a:prstGeom prst="rect">
            <a:avLst/>
          </a:prstGeom>
          <a:noFill/>
          <a:ln/>
        </p:spPr>
        <p:txBody>
          <a:bodyPr wrap="none" lIns="0" tIns="0" rIns="0" bIns="0" rtlCol="0" anchor="t"/>
          <a:lstStyle/>
          <a:p>
            <a:pPr marL="0" indent="0" algn="ctr">
              <a:lnSpc>
                <a:spcPts val="1800"/>
              </a:lnSpc>
              <a:buNone/>
            </a:pPr>
            <a:r>
              <a:rPr lang="en-US" sz="1800" dirty="0">
                <a:solidFill>
                  <a:srgbClr val="383838"/>
                </a:solidFill>
                <a:latin typeface="Patrick Hand" pitchFamily="34" charset="0"/>
                <a:ea typeface="Patrick Hand" pitchFamily="34" charset="-122"/>
                <a:cs typeface="Patrick Hand" pitchFamily="34" charset="-120"/>
              </a:rPr>
              <a:t>1</a:t>
            </a:r>
            <a:endParaRPr lang="en-US" sz="1800" dirty="0"/>
          </a:p>
        </p:txBody>
      </p:sp>
      <p:sp>
        <p:nvSpPr>
          <p:cNvPr id="13" name="Text 10"/>
          <p:cNvSpPr/>
          <p:nvPr/>
        </p:nvSpPr>
        <p:spPr>
          <a:xfrm>
            <a:off x="2481620" y="2532340"/>
            <a:ext cx="1932265" cy="241459"/>
          </a:xfrm>
          <a:prstGeom prst="rect">
            <a:avLst/>
          </a:prstGeom>
          <a:noFill/>
          <a:ln/>
        </p:spPr>
        <p:txBody>
          <a:bodyPr wrap="none" lIns="0" tIns="0" rIns="0" bIns="0" rtlCol="0" anchor="t"/>
          <a:lstStyle/>
          <a:p>
            <a:pPr marL="0" indent="0" algn="ctr">
              <a:lnSpc>
                <a:spcPts val="1900"/>
              </a:lnSpc>
              <a:buNone/>
            </a:pPr>
            <a:r>
              <a:rPr lang="en-US" sz="1500" dirty="0">
                <a:solidFill>
                  <a:srgbClr val="383838"/>
                </a:solidFill>
                <a:latin typeface="Patrick Hand" pitchFamily="34" charset="0"/>
                <a:ea typeface="Patrick Hand" pitchFamily="34" charset="-122"/>
                <a:cs typeface="Patrick Hand" pitchFamily="34" charset="-120"/>
              </a:rPr>
              <a:t>Sep 2019</a:t>
            </a:r>
            <a:endParaRPr lang="en-US" sz="1500" dirty="0"/>
          </a:p>
        </p:txBody>
      </p:sp>
      <p:sp>
        <p:nvSpPr>
          <p:cNvPr id="14" name="Text 11"/>
          <p:cNvSpPr/>
          <p:nvPr/>
        </p:nvSpPr>
        <p:spPr>
          <a:xfrm>
            <a:off x="1159193" y="2866549"/>
            <a:ext cx="4577120" cy="556498"/>
          </a:xfrm>
          <a:prstGeom prst="rect">
            <a:avLst/>
          </a:prstGeom>
          <a:noFill/>
          <a:ln/>
        </p:spPr>
        <p:txBody>
          <a:bodyPr wrap="square" lIns="0" tIns="0" rIns="0" bIns="0" rtlCol="0" anchor="t"/>
          <a:lstStyle/>
          <a:p>
            <a:pPr marL="0" indent="0" algn="ctr">
              <a:lnSpc>
                <a:spcPts val="2150"/>
              </a:lnSpc>
              <a:buNone/>
            </a:pPr>
            <a:r>
              <a:rPr lang="en-US" sz="1500" dirty="0">
                <a:solidFill>
                  <a:srgbClr val="383838"/>
                </a:solidFill>
                <a:latin typeface="Patrick Hand" pitchFamily="34" charset="0"/>
                <a:ea typeface="Patrick Hand" pitchFamily="34" charset="-122"/>
                <a:cs typeface="Patrick Hand" pitchFamily="34" charset="-120"/>
              </a:rPr>
              <a:t>Attackers gain initial access to SolarWinds' build environment and begin testing code injection techniques.</a:t>
            </a:r>
            <a:endParaRPr lang="en-US" sz="1500" dirty="0"/>
          </a:p>
        </p:txBody>
      </p:sp>
      <p:sp>
        <p:nvSpPr>
          <p:cNvPr id="15" name="Shape 12"/>
          <p:cNvSpPr/>
          <p:nvPr/>
        </p:nvSpPr>
        <p:spPr>
          <a:xfrm>
            <a:off x="6014442" y="4195822"/>
            <a:ext cx="22860" cy="579596"/>
          </a:xfrm>
          <a:prstGeom prst="roundRect">
            <a:avLst>
              <a:gd name="adj" fmla="val 355019"/>
            </a:avLst>
          </a:prstGeom>
          <a:solidFill>
            <a:srgbClr val="CCCCCC"/>
          </a:solidFill>
          <a:ln/>
        </p:spPr>
      </p:sp>
      <p:sp>
        <p:nvSpPr>
          <p:cNvPr id="16" name="Shape 13"/>
          <p:cNvSpPr/>
          <p:nvPr/>
        </p:nvSpPr>
        <p:spPr>
          <a:xfrm>
            <a:off x="5808583" y="3978533"/>
            <a:ext cx="434697" cy="434697"/>
          </a:xfrm>
          <a:prstGeom prst="roundRect">
            <a:avLst>
              <a:gd name="adj" fmla="val 18670"/>
            </a:avLst>
          </a:prstGeom>
          <a:solidFill>
            <a:srgbClr val="E6E6E6"/>
          </a:solidFill>
          <a:ln w="7620">
            <a:solidFill>
              <a:srgbClr val="CCCCCC"/>
            </a:solidFill>
            <a:prstDash val="solid"/>
          </a:ln>
        </p:spPr>
      </p:sp>
      <p:sp>
        <p:nvSpPr>
          <p:cNvPr id="17" name="Text 14"/>
          <p:cNvSpPr/>
          <p:nvPr/>
        </p:nvSpPr>
        <p:spPr>
          <a:xfrm>
            <a:off x="5909965" y="4050923"/>
            <a:ext cx="231815" cy="289798"/>
          </a:xfrm>
          <a:prstGeom prst="rect">
            <a:avLst/>
          </a:prstGeom>
          <a:noFill/>
          <a:ln/>
        </p:spPr>
        <p:txBody>
          <a:bodyPr wrap="none" lIns="0" tIns="0" rIns="0" bIns="0" rtlCol="0" anchor="t"/>
          <a:lstStyle/>
          <a:p>
            <a:pPr marL="0" indent="0" algn="ctr">
              <a:lnSpc>
                <a:spcPts val="1800"/>
              </a:lnSpc>
              <a:buNone/>
            </a:pPr>
            <a:r>
              <a:rPr lang="en-US" sz="1800" dirty="0">
                <a:solidFill>
                  <a:srgbClr val="383838"/>
                </a:solidFill>
                <a:latin typeface="Patrick Hand" pitchFamily="34" charset="0"/>
                <a:ea typeface="Patrick Hand" pitchFamily="34" charset="-122"/>
                <a:cs typeface="Patrick Hand" pitchFamily="34" charset="-120"/>
              </a:rPr>
              <a:t>2</a:t>
            </a:r>
            <a:endParaRPr lang="en-US" sz="1800" dirty="0"/>
          </a:p>
        </p:txBody>
      </p:sp>
      <p:sp>
        <p:nvSpPr>
          <p:cNvPr id="18" name="Text 15"/>
          <p:cNvSpPr/>
          <p:nvPr/>
        </p:nvSpPr>
        <p:spPr>
          <a:xfrm>
            <a:off x="5059799" y="4968716"/>
            <a:ext cx="1932265" cy="241459"/>
          </a:xfrm>
          <a:prstGeom prst="rect">
            <a:avLst/>
          </a:prstGeom>
          <a:noFill/>
          <a:ln/>
        </p:spPr>
        <p:txBody>
          <a:bodyPr wrap="none" lIns="0" tIns="0" rIns="0" bIns="0" rtlCol="0" anchor="t"/>
          <a:lstStyle/>
          <a:p>
            <a:pPr marL="0" indent="0" algn="ctr">
              <a:lnSpc>
                <a:spcPts val="1900"/>
              </a:lnSpc>
              <a:buNone/>
            </a:pPr>
            <a:r>
              <a:rPr lang="en-US" sz="1500" dirty="0">
                <a:solidFill>
                  <a:srgbClr val="383838"/>
                </a:solidFill>
                <a:latin typeface="Patrick Hand" pitchFamily="34" charset="0"/>
                <a:ea typeface="Patrick Hand" pitchFamily="34" charset="-122"/>
                <a:cs typeface="Patrick Hand" pitchFamily="34" charset="-120"/>
              </a:rPr>
              <a:t>Mar 2020</a:t>
            </a:r>
            <a:endParaRPr lang="en-US" sz="1500" dirty="0"/>
          </a:p>
        </p:txBody>
      </p:sp>
      <p:sp>
        <p:nvSpPr>
          <p:cNvPr id="19" name="Text 16"/>
          <p:cNvSpPr/>
          <p:nvPr/>
        </p:nvSpPr>
        <p:spPr>
          <a:xfrm>
            <a:off x="3737372" y="5302925"/>
            <a:ext cx="4577239" cy="556498"/>
          </a:xfrm>
          <a:prstGeom prst="rect">
            <a:avLst/>
          </a:prstGeom>
          <a:noFill/>
          <a:ln/>
        </p:spPr>
        <p:txBody>
          <a:bodyPr wrap="square" lIns="0" tIns="0" rIns="0" bIns="0" rtlCol="0" anchor="t"/>
          <a:lstStyle/>
          <a:p>
            <a:pPr marL="0" indent="0" algn="ctr">
              <a:lnSpc>
                <a:spcPts val="2150"/>
              </a:lnSpc>
              <a:buNone/>
            </a:pPr>
            <a:r>
              <a:rPr lang="en-US" sz="1500" dirty="0">
                <a:solidFill>
                  <a:srgbClr val="383838"/>
                </a:solidFill>
                <a:latin typeface="Patrick Hand" pitchFamily="34" charset="0"/>
                <a:ea typeface="Patrick Hand" pitchFamily="34" charset="-122"/>
                <a:cs typeface="Patrick Hand" pitchFamily="34" charset="-120"/>
              </a:rPr>
              <a:t>Trojanized Orion updates (SUNBURST malware) begin shipping to customers worldwide through legitimate update channels.</a:t>
            </a:r>
            <a:endParaRPr lang="en-US" sz="1500" dirty="0"/>
          </a:p>
        </p:txBody>
      </p:sp>
      <p:sp>
        <p:nvSpPr>
          <p:cNvPr id="20" name="Shape 17"/>
          <p:cNvSpPr/>
          <p:nvPr/>
        </p:nvSpPr>
        <p:spPr>
          <a:xfrm>
            <a:off x="8592741" y="3616345"/>
            <a:ext cx="22860" cy="579596"/>
          </a:xfrm>
          <a:prstGeom prst="roundRect">
            <a:avLst>
              <a:gd name="adj" fmla="val 355019"/>
            </a:avLst>
          </a:prstGeom>
          <a:solidFill>
            <a:srgbClr val="CCCCCC"/>
          </a:solidFill>
          <a:ln/>
        </p:spPr>
      </p:sp>
      <p:sp>
        <p:nvSpPr>
          <p:cNvPr id="21" name="Shape 18"/>
          <p:cNvSpPr/>
          <p:nvPr/>
        </p:nvSpPr>
        <p:spPr>
          <a:xfrm>
            <a:off x="8386882" y="3978533"/>
            <a:ext cx="434697" cy="434697"/>
          </a:xfrm>
          <a:prstGeom prst="roundRect">
            <a:avLst>
              <a:gd name="adj" fmla="val 18670"/>
            </a:avLst>
          </a:prstGeom>
          <a:solidFill>
            <a:srgbClr val="E6E6E6"/>
          </a:solidFill>
          <a:ln w="7620">
            <a:solidFill>
              <a:srgbClr val="CCCCCC"/>
            </a:solidFill>
            <a:prstDash val="solid"/>
          </a:ln>
        </p:spPr>
      </p:sp>
      <p:sp>
        <p:nvSpPr>
          <p:cNvPr id="22" name="Text 19"/>
          <p:cNvSpPr/>
          <p:nvPr/>
        </p:nvSpPr>
        <p:spPr>
          <a:xfrm>
            <a:off x="8488263" y="4050923"/>
            <a:ext cx="231815" cy="289798"/>
          </a:xfrm>
          <a:prstGeom prst="rect">
            <a:avLst/>
          </a:prstGeom>
          <a:noFill/>
          <a:ln/>
        </p:spPr>
        <p:txBody>
          <a:bodyPr wrap="none" lIns="0" tIns="0" rIns="0" bIns="0" rtlCol="0" anchor="t"/>
          <a:lstStyle/>
          <a:p>
            <a:pPr marL="0" indent="0" algn="ctr">
              <a:lnSpc>
                <a:spcPts val="1800"/>
              </a:lnSpc>
              <a:buNone/>
            </a:pPr>
            <a:r>
              <a:rPr lang="en-US" sz="1800" dirty="0">
                <a:solidFill>
                  <a:srgbClr val="383838"/>
                </a:solidFill>
                <a:latin typeface="Patrick Hand" pitchFamily="34" charset="0"/>
                <a:ea typeface="Patrick Hand" pitchFamily="34" charset="-122"/>
                <a:cs typeface="Patrick Hand" pitchFamily="34" charset="-120"/>
              </a:rPr>
              <a:t>3</a:t>
            </a:r>
            <a:endParaRPr lang="en-US" sz="1800" dirty="0"/>
          </a:p>
        </p:txBody>
      </p:sp>
      <p:sp>
        <p:nvSpPr>
          <p:cNvPr id="23" name="Text 20"/>
          <p:cNvSpPr/>
          <p:nvPr/>
        </p:nvSpPr>
        <p:spPr>
          <a:xfrm>
            <a:off x="7638098" y="2532340"/>
            <a:ext cx="1932265" cy="241459"/>
          </a:xfrm>
          <a:prstGeom prst="rect">
            <a:avLst/>
          </a:prstGeom>
          <a:noFill/>
          <a:ln/>
        </p:spPr>
        <p:txBody>
          <a:bodyPr wrap="none" lIns="0" tIns="0" rIns="0" bIns="0" rtlCol="0" anchor="t"/>
          <a:lstStyle/>
          <a:p>
            <a:pPr marL="0" indent="0" algn="ctr">
              <a:lnSpc>
                <a:spcPts val="1900"/>
              </a:lnSpc>
              <a:buNone/>
            </a:pPr>
            <a:r>
              <a:rPr lang="en-US" sz="1500" dirty="0">
                <a:solidFill>
                  <a:srgbClr val="383838"/>
                </a:solidFill>
                <a:latin typeface="Patrick Hand" pitchFamily="34" charset="0"/>
                <a:ea typeface="Patrick Hand" pitchFamily="34" charset="-122"/>
                <a:cs typeface="Patrick Hand" pitchFamily="34" charset="-120"/>
              </a:rPr>
              <a:t>Dec 2020</a:t>
            </a:r>
            <a:endParaRPr lang="en-US" sz="1500" dirty="0"/>
          </a:p>
        </p:txBody>
      </p:sp>
      <p:sp>
        <p:nvSpPr>
          <p:cNvPr id="24" name="Text 21"/>
          <p:cNvSpPr/>
          <p:nvPr/>
        </p:nvSpPr>
        <p:spPr>
          <a:xfrm>
            <a:off x="6315670" y="2866549"/>
            <a:ext cx="4577239" cy="556498"/>
          </a:xfrm>
          <a:prstGeom prst="rect">
            <a:avLst/>
          </a:prstGeom>
          <a:noFill/>
          <a:ln/>
        </p:spPr>
        <p:txBody>
          <a:bodyPr wrap="square" lIns="0" tIns="0" rIns="0" bIns="0" rtlCol="0" anchor="t"/>
          <a:lstStyle/>
          <a:p>
            <a:pPr marL="0" indent="0" algn="ctr">
              <a:lnSpc>
                <a:spcPts val="2150"/>
              </a:lnSpc>
              <a:buNone/>
            </a:pPr>
            <a:r>
              <a:rPr lang="en-US" sz="1500" dirty="0">
                <a:solidFill>
                  <a:srgbClr val="383838"/>
                </a:solidFill>
                <a:latin typeface="Patrick Hand" pitchFamily="34" charset="0"/>
                <a:ea typeface="Patrick Hand" pitchFamily="34" charset="-122"/>
                <a:cs typeface="Patrick Hand" pitchFamily="34" charset="-120"/>
              </a:rPr>
              <a:t>FireEye detects the compromise during investigation of their own breach. Public disclosure triggers global incident response.</a:t>
            </a:r>
            <a:endParaRPr lang="en-US" sz="1500" dirty="0"/>
          </a:p>
        </p:txBody>
      </p:sp>
      <p:sp>
        <p:nvSpPr>
          <p:cNvPr id="25" name="Shape 22"/>
          <p:cNvSpPr/>
          <p:nvPr/>
        </p:nvSpPr>
        <p:spPr>
          <a:xfrm>
            <a:off x="11171039" y="4195822"/>
            <a:ext cx="22860" cy="579596"/>
          </a:xfrm>
          <a:prstGeom prst="roundRect">
            <a:avLst>
              <a:gd name="adj" fmla="val 355019"/>
            </a:avLst>
          </a:prstGeom>
          <a:solidFill>
            <a:srgbClr val="CCCCCC"/>
          </a:solidFill>
          <a:ln/>
        </p:spPr>
      </p:sp>
      <p:sp>
        <p:nvSpPr>
          <p:cNvPr id="26" name="Shape 23"/>
          <p:cNvSpPr/>
          <p:nvPr/>
        </p:nvSpPr>
        <p:spPr>
          <a:xfrm>
            <a:off x="10965180" y="3978533"/>
            <a:ext cx="434697" cy="434697"/>
          </a:xfrm>
          <a:prstGeom prst="roundRect">
            <a:avLst>
              <a:gd name="adj" fmla="val 18670"/>
            </a:avLst>
          </a:prstGeom>
          <a:solidFill>
            <a:srgbClr val="E6E6E6"/>
          </a:solidFill>
          <a:ln w="7620">
            <a:solidFill>
              <a:srgbClr val="CCCCCC"/>
            </a:solidFill>
            <a:prstDash val="solid"/>
          </a:ln>
        </p:spPr>
      </p:sp>
      <p:sp>
        <p:nvSpPr>
          <p:cNvPr id="27" name="Text 24"/>
          <p:cNvSpPr/>
          <p:nvPr/>
        </p:nvSpPr>
        <p:spPr>
          <a:xfrm>
            <a:off x="11066562" y="4050923"/>
            <a:ext cx="231815" cy="289798"/>
          </a:xfrm>
          <a:prstGeom prst="rect">
            <a:avLst/>
          </a:prstGeom>
          <a:noFill/>
          <a:ln/>
        </p:spPr>
        <p:txBody>
          <a:bodyPr wrap="none" lIns="0" tIns="0" rIns="0" bIns="0" rtlCol="0" anchor="t"/>
          <a:lstStyle/>
          <a:p>
            <a:pPr marL="0" indent="0" algn="ctr">
              <a:lnSpc>
                <a:spcPts val="1800"/>
              </a:lnSpc>
              <a:buNone/>
            </a:pPr>
            <a:r>
              <a:rPr lang="en-US" sz="1800" dirty="0">
                <a:solidFill>
                  <a:srgbClr val="383838"/>
                </a:solidFill>
                <a:latin typeface="Patrick Hand" pitchFamily="34" charset="0"/>
                <a:ea typeface="Patrick Hand" pitchFamily="34" charset="-122"/>
                <a:cs typeface="Patrick Hand" pitchFamily="34" charset="-120"/>
              </a:rPr>
              <a:t>4</a:t>
            </a:r>
            <a:endParaRPr lang="en-US" sz="1800" dirty="0"/>
          </a:p>
        </p:txBody>
      </p:sp>
      <p:sp>
        <p:nvSpPr>
          <p:cNvPr id="28" name="Text 25"/>
          <p:cNvSpPr/>
          <p:nvPr/>
        </p:nvSpPr>
        <p:spPr>
          <a:xfrm>
            <a:off x="10216396" y="4968716"/>
            <a:ext cx="1932265" cy="241459"/>
          </a:xfrm>
          <a:prstGeom prst="rect">
            <a:avLst/>
          </a:prstGeom>
          <a:noFill/>
          <a:ln/>
        </p:spPr>
        <p:txBody>
          <a:bodyPr wrap="none" lIns="0" tIns="0" rIns="0" bIns="0" rtlCol="0" anchor="t"/>
          <a:lstStyle/>
          <a:p>
            <a:pPr marL="0" indent="0" algn="ctr">
              <a:lnSpc>
                <a:spcPts val="1900"/>
              </a:lnSpc>
              <a:buNone/>
            </a:pPr>
            <a:r>
              <a:rPr lang="en-US" sz="1500" dirty="0">
                <a:solidFill>
                  <a:srgbClr val="383838"/>
                </a:solidFill>
                <a:latin typeface="Patrick Hand" pitchFamily="34" charset="0"/>
                <a:ea typeface="Patrick Hand" pitchFamily="34" charset="-122"/>
                <a:cs typeface="Patrick Hand" pitchFamily="34" charset="-120"/>
              </a:rPr>
              <a:t>2021–2025</a:t>
            </a:r>
            <a:endParaRPr lang="en-US" sz="1500" dirty="0"/>
          </a:p>
        </p:txBody>
      </p:sp>
      <p:sp>
        <p:nvSpPr>
          <p:cNvPr id="29" name="Text 26"/>
          <p:cNvSpPr/>
          <p:nvPr/>
        </p:nvSpPr>
        <p:spPr>
          <a:xfrm>
            <a:off x="8893969" y="5302925"/>
            <a:ext cx="4577239" cy="556498"/>
          </a:xfrm>
          <a:prstGeom prst="rect">
            <a:avLst/>
          </a:prstGeom>
          <a:noFill/>
          <a:ln/>
        </p:spPr>
        <p:txBody>
          <a:bodyPr wrap="square" lIns="0" tIns="0" rIns="0" bIns="0" rtlCol="0" anchor="t"/>
          <a:lstStyle/>
          <a:p>
            <a:pPr marL="0" indent="0" algn="ctr">
              <a:lnSpc>
                <a:spcPts val="2150"/>
              </a:lnSpc>
              <a:buNone/>
            </a:pPr>
            <a:r>
              <a:rPr lang="en-US" sz="1500" dirty="0">
                <a:solidFill>
                  <a:srgbClr val="383838"/>
                </a:solidFill>
                <a:latin typeface="Patrick Hand" pitchFamily="34" charset="0"/>
                <a:ea typeface="Patrick Hand" pitchFamily="34" charset="-122"/>
                <a:cs typeface="Patrick Hand" pitchFamily="34" charset="-120"/>
              </a:rPr>
              <a:t>Billions spent on remediation. New regulations (e.g., SBOM mandates) reshape software supply chain security practices.</a:t>
            </a:r>
            <a:endParaRPr lang="en-US" sz="1500" dirty="0"/>
          </a:p>
        </p:txBody>
      </p:sp>
      <p:sp>
        <p:nvSpPr>
          <p:cNvPr id="30" name="Text 27"/>
          <p:cNvSpPr/>
          <p:nvPr/>
        </p:nvSpPr>
        <p:spPr>
          <a:xfrm>
            <a:off x="966073" y="6187797"/>
            <a:ext cx="1932265" cy="241459"/>
          </a:xfrm>
          <a:prstGeom prst="rect">
            <a:avLst/>
          </a:prstGeom>
          <a:noFill/>
          <a:ln/>
        </p:spPr>
        <p:txBody>
          <a:bodyPr wrap="none" lIns="0" tIns="0" rIns="0" bIns="0" rtlCol="0" anchor="t"/>
          <a:lstStyle/>
          <a:p>
            <a:pPr marL="0" indent="0" algn="l">
              <a:lnSpc>
                <a:spcPts val="1900"/>
              </a:lnSpc>
              <a:buNone/>
            </a:pPr>
            <a:r>
              <a:rPr lang="en-US" sz="1500" dirty="0">
                <a:solidFill>
                  <a:srgbClr val="383838"/>
                </a:solidFill>
                <a:latin typeface="Patrick Hand" pitchFamily="34" charset="0"/>
                <a:ea typeface="Patrick Hand" pitchFamily="34" charset="-122"/>
                <a:cs typeface="Patrick Hand" pitchFamily="34" charset="-120"/>
              </a:rPr>
              <a:t>Impact</a:t>
            </a:r>
            <a:endParaRPr lang="en-US" sz="1500" dirty="0"/>
          </a:p>
        </p:txBody>
      </p:sp>
      <p:sp>
        <p:nvSpPr>
          <p:cNvPr id="31" name="Text 28"/>
          <p:cNvSpPr/>
          <p:nvPr/>
        </p:nvSpPr>
        <p:spPr>
          <a:xfrm>
            <a:off x="966073" y="6583799"/>
            <a:ext cx="6113502" cy="556498"/>
          </a:xfrm>
          <a:prstGeom prst="rect">
            <a:avLst/>
          </a:prstGeom>
          <a:noFill/>
          <a:ln/>
        </p:spPr>
        <p:txBody>
          <a:bodyPr wrap="square" lIns="0" tIns="0" rIns="0" bIns="0" rtlCol="0" anchor="t"/>
          <a:lstStyle/>
          <a:p>
            <a:pPr marL="0" indent="0" algn="l">
              <a:lnSpc>
                <a:spcPts val="2150"/>
              </a:lnSpc>
              <a:buNone/>
            </a:pPr>
            <a:r>
              <a:rPr lang="en-US" sz="1500" dirty="0">
                <a:solidFill>
                  <a:srgbClr val="383838"/>
                </a:solidFill>
                <a:latin typeface="Patrick Hand" pitchFamily="34" charset="0"/>
                <a:ea typeface="Patrick Hand" pitchFamily="34" charset="-122"/>
                <a:cs typeface="Patrick Hand" pitchFamily="34" charset="-120"/>
              </a:rPr>
              <a:t>Widespread espionage targeting government agencies (Treasury, Commerce, DHS), data theft across enterprises, and compromised national security intelligence.</a:t>
            </a:r>
            <a:endParaRPr lang="en-US" sz="1500" dirty="0"/>
          </a:p>
        </p:txBody>
      </p:sp>
      <p:sp>
        <p:nvSpPr>
          <p:cNvPr id="32" name="Text 29"/>
          <p:cNvSpPr/>
          <p:nvPr/>
        </p:nvSpPr>
        <p:spPr>
          <a:xfrm>
            <a:off x="7558445" y="6187797"/>
            <a:ext cx="1932265" cy="241459"/>
          </a:xfrm>
          <a:prstGeom prst="rect">
            <a:avLst/>
          </a:prstGeom>
          <a:noFill/>
          <a:ln/>
        </p:spPr>
        <p:txBody>
          <a:bodyPr wrap="none" lIns="0" tIns="0" rIns="0" bIns="0" rtlCol="0" anchor="t"/>
          <a:lstStyle/>
          <a:p>
            <a:pPr marL="0" indent="0" algn="l">
              <a:lnSpc>
                <a:spcPts val="1900"/>
              </a:lnSpc>
              <a:buNone/>
            </a:pPr>
            <a:r>
              <a:rPr lang="en-US" sz="1500" dirty="0">
                <a:solidFill>
                  <a:srgbClr val="383838"/>
                </a:solidFill>
                <a:latin typeface="Patrick Hand" pitchFamily="34" charset="0"/>
                <a:ea typeface="Patrick Hand" pitchFamily="34" charset="-122"/>
                <a:cs typeface="Patrick Hand" pitchFamily="34" charset="-120"/>
              </a:rPr>
              <a:t>Lesson</a:t>
            </a:r>
            <a:endParaRPr lang="en-US" sz="1500" dirty="0"/>
          </a:p>
        </p:txBody>
      </p:sp>
      <p:sp>
        <p:nvSpPr>
          <p:cNvPr id="33" name="Text 30"/>
          <p:cNvSpPr/>
          <p:nvPr/>
        </p:nvSpPr>
        <p:spPr>
          <a:xfrm>
            <a:off x="7558445" y="6583799"/>
            <a:ext cx="6113502" cy="834747"/>
          </a:xfrm>
          <a:prstGeom prst="rect">
            <a:avLst/>
          </a:prstGeom>
          <a:noFill/>
          <a:ln/>
        </p:spPr>
        <p:txBody>
          <a:bodyPr wrap="square" lIns="0" tIns="0" rIns="0" bIns="0" rtlCol="0" anchor="t"/>
          <a:lstStyle/>
          <a:p>
            <a:pPr marL="0" indent="0" algn="l">
              <a:lnSpc>
                <a:spcPts val="2150"/>
              </a:lnSpc>
              <a:buNone/>
            </a:pPr>
            <a:r>
              <a:rPr lang="en-US" sz="1500" dirty="0">
                <a:solidFill>
                  <a:srgbClr val="383838"/>
                </a:solidFill>
                <a:latin typeface="Patrick Hand" pitchFamily="34" charset="0"/>
                <a:ea typeface="Patrick Hand" pitchFamily="34" charset="-122"/>
                <a:cs typeface="Patrick Hand" pitchFamily="34" charset="-120"/>
              </a:rPr>
              <a:t>Continuously monitor and update all third-party dependencies. Implement Software Bill of Materials (SBOM), verify build integrity, and adopt zero-trust architectures to limit lateral movement.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955477" y="680323"/>
            <a:ext cx="677228" cy="333494"/>
          </a:xfrm>
          <a:prstGeom prst="roundRect">
            <a:avLst>
              <a:gd name="adj" fmla="val 19254"/>
            </a:avLst>
          </a:prstGeom>
          <a:solidFill>
            <a:srgbClr val="E6E6E6"/>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0134" y="770572"/>
            <a:ext cx="152876" cy="152876"/>
          </a:xfrm>
          <a:prstGeom prst="rect">
            <a:avLst/>
          </a:prstGeom>
        </p:spPr>
      </p:pic>
      <p:sp>
        <p:nvSpPr>
          <p:cNvPr id="4" name="Text 1"/>
          <p:cNvSpPr/>
          <p:nvPr/>
        </p:nvSpPr>
        <p:spPr>
          <a:xfrm>
            <a:off x="1299448" y="737592"/>
            <a:ext cx="218599" cy="218956"/>
          </a:xfrm>
          <a:prstGeom prst="rect">
            <a:avLst/>
          </a:prstGeom>
          <a:noFill/>
          <a:ln/>
        </p:spPr>
        <p:txBody>
          <a:bodyPr wrap="none" lIns="0" tIns="0" rIns="0" bIns="0" rtlCol="0" anchor="t"/>
          <a:lstStyle/>
          <a:p>
            <a:pPr marL="0" indent="0" algn="l">
              <a:lnSpc>
                <a:spcPts val="1700"/>
              </a:lnSpc>
              <a:buNone/>
            </a:pPr>
            <a:r>
              <a:rPr lang="en-US" sz="1200" dirty="0">
                <a:solidFill>
                  <a:srgbClr val="383838"/>
                </a:solidFill>
                <a:latin typeface="Patrick Hand" pitchFamily="34" charset="0"/>
                <a:ea typeface="Patrick Hand" pitchFamily="34" charset="-122"/>
                <a:cs typeface="Patrick Hand" pitchFamily="34" charset="-120"/>
              </a:rPr>
              <a:t>A07</a:t>
            </a:r>
            <a:endParaRPr lang="en-US" sz="1200" dirty="0"/>
          </a:p>
        </p:txBody>
      </p:sp>
      <p:sp>
        <p:nvSpPr>
          <p:cNvPr id="5" name="Shape 2"/>
          <p:cNvSpPr/>
          <p:nvPr/>
        </p:nvSpPr>
        <p:spPr>
          <a:xfrm>
            <a:off x="1728192" y="672703"/>
            <a:ext cx="1784866" cy="348734"/>
          </a:xfrm>
          <a:prstGeom prst="roundRect">
            <a:avLst>
              <a:gd name="adj" fmla="val 18413"/>
            </a:avLst>
          </a:prstGeom>
          <a:noFill/>
          <a:ln w="7620">
            <a:solidFill>
              <a:srgbClr val="CCCCCC"/>
            </a:solidFill>
            <a:prstDash val="solid"/>
          </a:ln>
        </p:spPr>
      </p:sp>
      <p:sp>
        <p:nvSpPr>
          <p:cNvPr id="6" name="Text 3"/>
          <p:cNvSpPr/>
          <p:nvPr/>
        </p:nvSpPr>
        <p:spPr>
          <a:xfrm>
            <a:off x="1850469" y="737592"/>
            <a:ext cx="1540312" cy="218956"/>
          </a:xfrm>
          <a:prstGeom prst="rect">
            <a:avLst/>
          </a:prstGeom>
          <a:noFill/>
          <a:ln/>
        </p:spPr>
        <p:txBody>
          <a:bodyPr wrap="none" lIns="0" tIns="0" rIns="0" bIns="0" rtlCol="0" anchor="t"/>
          <a:lstStyle/>
          <a:p>
            <a:pPr marL="0" indent="0" algn="l">
              <a:lnSpc>
                <a:spcPts val="1700"/>
              </a:lnSpc>
              <a:buNone/>
            </a:pPr>
            <a:r>
              <a:rPr lang="en-US" sz="1200" dirty="0">
                <a:solidFill>
                  <a:srgbClr val="CCCCCC"/>
                </a:solidFill>
                <a:latin typeface="Patrick Hand" pitchFamily="34" charset="0"/>
                <a:ea typeface="Patrick Hand" pitchFamily="34" charset="-122"/>
                <a:cs typeface="Patrick Hand" pitchFamily="34" charset="-120"/>
              </a:rPr>
              <a:t>AUTHENTICATION FAILURES</a:t>
            </a:r>
            <a:endParaRPr lang="en-US" sz="1200" dirty="0"/>
          </a:p>
        </p:txBody>
      </p:sp>
      <p:sp>
        <p:nvSpPr>
          <p:cNvPr id="7" name="Text 4"/>
          <p:cNvSpPr/>
          <p:nvPr/>
        </p:nvSpPr>
        <p:spPr>
          <a:xfrm>
            <a:off x="955477" y="1081802"/>
            <a:ext cx="10211633" cy="477679"/>
          </a:xfrm>
          <a:prstGeom prst="rect">
            <a:avLst/>
          </a:prstGeom>
          <a:noFill/>
          <a:ln/>
        </p:spPr>
        <p:txBody>
          <a:bodyPr wrap="none" lIns="0" tIns="0" rIns="0" bIns="0" rtlCol="0" anchor="t"/>
          <a:lstStyle/>
          <a:p>
            <a:pPr marL="0" indent="0" algn="l">
              <a:lnSpc>
                <a:spcPts val="3750"/>
              </a:lnSpc>
              <a:buNone/>
            </a:pPr>
            <a:r>
              <a:rPr lang="en-US" sz="3000" dirty="0">
                <a:solidFill>
                  <a:srgbClr val="383838"/>
                </a:solidFill>
                <a:latin typeface="Patrick Hand" pitchFamily="34" charset="0"/>
                <a:ea typeface="Patrick Hand" pitchFamily="34" charset="-122"/>
                <a:cs typeface="Patrick Hand" pitchFamily="34" charset="-120"/>
              </a:rPr>
              <a:t>Identification &amp; Authentication Failures — Twitter Account Takeover, 2023</a:t>
            </a:r>
            <a:endParaRPr lang="en-US" sz="3000" dirty="0"/>
          </a:p>
        </p:txBody>
      </p:sp>
      <p:sp>
        <p:nvSpPr>
          <p:cNvPr id="8" name="Text 5"/>
          <p:cNvSpPr/>
          <p:nvPr/>
        </p:nvSpPr>
        <p:spPr>
          <a:xfrm>
            <a:off x="955477" y="1922145"/>
            <a:ext cx="6785848" cy="1094899"/>
          </a:xfrm>
          <a:prstGeom prst="rect">
            <a:avLst/>
          </a:prstGeom>
          <a:noFill/>
          <a:ln/>
        </p:spPr>
        <p:txBody>
          <a:bodyPr wrap="square" lIns="0" tIns="0" rIns="0" bIns="0" rtlCol="0" anchor="t"/>
          <a:lstStyle/>
          <a:p>
            <a:pPr marL="0" indent="0" algn="l">
              <a:lnSpc>
                <a:spcPts val="2150"/>
              </a:lnSpc>
              <a:buNone/>
            </a:pPr>
            <a:r>
              <a:rPr lang="en-US" sz="1500" dirty="0">
                <a:solidFill>
                  <a:srgbClr val="383838"/>
                </a:solidFill>
                <a:latin typeface="Patrick Hand" pitchFamily="34" charset="0"/>
                <a:ea typeface="Patrick Hand" pitchFamily="34" charset="-122"/>
                <a:cs typeface="Patrick Hand" pitchFamily="34" charset="-120"/>
              </a:rPr>
              <a:t>In 2023, a series of high-profile </a:t>
            </a:r>
            <a:r>
              <a:rPr lang="en-US" sz="1500" b="1" dirty="0">
                <a:solidFill>
                  <a:srgbClr val="383838"/>
                </a:solidFill>
                <a:latin typeface="Patrick Hand" pitchFamily="34" charset="0"/>
                <a:ea typeface="Patrick Hand" pitchFamily="34" charset="-122"/>
                <a:cs typeface="Patrick Hand" pitchFamily="34" charset="-120"/>
              </a:rPr>
              <a:t>Twitter/X account hijackings</a:t>
            </a:r>
            <a:r>
              <a:rPr lang="en-US" sz="1500" dirty="0">
                <a:solidFill>
                  <a:srgbClr val="383838"/>
                </a:solidFill>
                <a:latin typeface="Patrick Hand" pitchFamily="34" charset="0"/>
                <a:ea typeface="Patrick Hand" pitchFamily="34" charset="-122"/>
                <a:cs typeface="Patrick Hand" pitchFamily="34" charset="-120"/>
              </a:rPr>
              <a:t> exposed critical weaknesses in the platform's authentication infrastructure. Attackers leveraged credential stuffing — using billions of leaked username-password pairs from previous breaches — combined with SIM swapping techniques to bypass weak multi-factor authentication protections.</a:t>
            </a:r>
            <a:endParaRPr lang="en-US" sz="1500" dirty="0"/>
          </a:p>
        </p:txBody>
      </p:sp>
      <p:sp>
        <p:nvSpPr>
          <p:cNvPr id="9" name="Text 6"/>
          <p:cNvSpPr/>
          <p:nvPr/>
        </p:nvSpPr>
        <p:spPr>
          <a:xfrm>
            <a:off x="955477" y="3168134"/>
            <a:ext cx="2293263" cy="286583"/>
          </a:xfrm>
          <a:prstGeom prst="rect">
            <a:avLst/>
          </a:prstGeom>
          <a:noFill/>
          <a:ln/>
        </p:spPr>
        <p:txBody>
          <a:bodyPr wrap="none" lIns="0" tIns="0" rIns="0" bIns="0" rtlCol="0" anchor="t"/>
          <a:lstStyle/>
          <a:p>
            <a:pPr marL="0" indent="0" algn="l">
              <a:lnSpc>
                <a:spcPts val="2250"/>
              </a:lnSpc>
              <a:buNone/>
            </a:pPr>
            <a:r>
              <a:rPr lang="en-US" sz="1800" dirty="0">
                <a:solidFill>
                  <a:srgbClr val="383838"/>
                </a:solidFill>
                <a:latin typeface="Patrick Hand" pitchFamily="34" charset="0"/>
                <a:ea typeface="Patrick Hand" pitchFamily="34" charset="-122"/>
                <a:cs typeface="Patrick Hand" pitchFamily="34" charset="-120"/>
              </a:rPr>
              <a:t>The Cascading Impact</a:t>
            </a:r>
            <a:endParaRPr lang="en-US" sz="1800" dirty="0"/>
          </a:p>
        </p:txBody>
      </p:sp>
      <p:sp>
        <p:nvSpPr>
          <p:cNvPr id="10" name="Text 7"/>
          <p:cNvSpPr/>
          <p:nvPr/>
        </p:nvSpPr>
        <p:spPr>
          <a:xfrm>
            <a:off x="955477" y="3605808"/>
            <a:ext cx="6785848" cy="1094899"/>
          </a:xfrm>
          <a:prstGeom prst="rect">
            <a:avLst/>
          </a:prstGeom>
          <a:noFill/>
          <a:ln/>
        </p:spPr>
        <p:txBody>
          <a:bodyPr wrap="square" lIns="0" tIns="0" rIns="0" bIns="0" rtlCol="0" anchor="t"/>
          <a:lstStyle/>
          <a:p>
            <a:pPr marL="0" indent="0" algn="l">
              <a:lnSpc>
                <a:spcPts val="2150"/>
              </a:lnSpc>
              <a:buNone/>
            </a:pPr>
            <a:r>
              <a:rPr lang="en-US" sz="1500" dirty="0">
                <a:solidFill>
                  <a:srgbClr val="383838"/>
                </a:solidFill>
                <a:latin typeface="Patrick Hand" pitchFamily="34" charset="0"/>
                <a:ea typeface="Patrick Hand" pitchFamily="34" charset="-122"/>
                <a:cs typeface="Patrick Hand" pitchFamily="34" charset="-120"/>
              </a:rPr>
              <a:t>Compromised accounts belonging to public figures and verified organizations were used to launch sophisticated </a:t>
            </a:r>
            <a:r>
              <a:rPr lang="en-US" sz="1500" b="1" dirty="0">
                <a:solidFill>
                  <a:srgbClr val="383838"/>
                </a:solidFill>
                <a:latin typeface="Patrick Hand" pitchFamily="34" charset="0"/>
                <a:ea typeface="Patrick Hand" pitchFamily="34" charset="-122"/>
                <a:cs typeface="Patrick Hand" pitchFamily="34" charset="-120"/>
              </a:rPr>
              <a:t>phishing campaigns and cryptocurrency scams</a:t>
            </a:r>
            <a:r>
              <a:rPr lang="en-US" sz="1500" dirty="0">
                <a:solidFill>
                  <a:srgbClr val="383838"/>
                </a:solidFill>
                <a:latin typeface="Patrick Hand" pitchFamily="34" charset="0"/>
                <a:ea typeface="Patrick Hand" pitchFamily="34" charset="-122"/>
                <a:cs typeface="Patrick Hand" pitchFamily="34" charset="-120"/>
              </a:rPr>
              <a:t>, defrauding followers of millions of dollars. User data including email addresses, phone numbers, and direct messages were also exposed during several incidents.</a:t>
            </a:r>
            <a:endParaRPr lang="en-US" sz="1500" dirty="0"/>
          </a:p>
        </p:txBody>
      </p:sp>
      <p:sp>
        <p:nvSpPr>
          <p:cNvPr id="11" name="Text 8"/>
          <p:cNvSpPr/>
          <p:nvPr/>
        </p:nvSpPr>
        <p:spPr>
          <a:xfrm>
            <a:off x="955477" y="4836676"/>
            <a:ext cx="6785848" cy="821174"/>
          </a:xfrm>
          <a:prstGeom prst="rect">
            <a:avLst/>
          </a:prstGeom>
          <a:noFill/>
          <a:ln/>
        </p:spPr>
        <p:txBody>
          <a:bodyPr wrap="square" lIns="0" tIns="0" rIns="0" bIns="0" rtlCol="0" anchor="t"/>
          <a:lstStyle/>
          <a:p>
            <a:pPr marL="0" indent="0" algn="l">
              <a:lnSpc>
                <a:spcPts val="2150"/>
              </a:lnSpc>
              <a:buNone/>
            </a:pPr>
            <a:r>
              <a:rPr lang="en-US" sz="1500" dirty="0">
                <a:solidFill>
                  <a:srgbClr val="383838"/>
                </a:solidFill>
                <a:latin typeface="Patrick Hand" pitchFamily="34" charset="0"/>
                <a:ea typeface="Patrick Hand" pitchFamily="34" charset="-122"/>
                <a:cs typeface="Patrick Hand" pitchFamily="34" charset="-120"/>
              </a:rPr>
              <a:t>The platform faced regulatory attention from the FTC (already under a consent decree), brand trust collapsed among advertisers, and user compensation costs mounted. The incidents accelerated advertiser exodus and contributed to significant revenue decline.</a:t>
            </a:r>
            <a:endParaRPr lang="en-US" sz="1500" dirty="0"/>
          </a:p>
        </p:txBody>
      </p:sp>
      <p:sp>
        <p:nvSpPr>
          <p:cNvPr id="12" name="Shape 9"/>
          <p:cNvSpPr/>
          <p:nvPr/>
        </p:nvSpPr>
        <p:spPr>
          <a:xfrm>
            <a:off x="8215193" y="1956197"/>
            <a:ext cx="5467231" cy="1744742"/>
          </a:xfrm>
          <a:prstGeom prst="roundRect">
            <a:avLst>
              <a:gd name="adj" fmla="val 6289"/>
            </a:avLst>
          </a:prstGeom>
          <a:solidFill>
            <a:srgbClr val="F7F7F7"/>
          </a:solidFill>
          <a:ln w="22860">
            <a:solidFill>
              <a:srgbClr val="CCCCCC"/>
            </a:solidFill>
            <a:prstDash val="solid"/>
          </a:ln>
        </p:spPr>
      </p:sp>
      <p:sp>
        <p:nvSpPr>
          <p:cNvPr id="13" name="Shape 10"/>
          <p:cNvSpPr/>
          <p:nvPr/>
        </p:nvSpPr>
        <p:spPr>
          <a:xfrm>
            <a:off x="8192333" y="1956197"/>
            <a:ext cx="91440" cy="1744742"/>
          </a:xfrm>
          <a:prstGeom prst="roundRect">
            <a:avLst>
              <a:gd name="adj" fmla="val 87779"/>
            </a:avLst>
          </a:prstGeom>
          <a:solidFill>
            <a:srgbClr val="CCCCCC"/>
          </a:solidFill>
          <a:ln/>
        </p:spPr>
      </p:sp>
      <p:sp>
        <p:nvSpPr>
          <p:cNvPr id="14" name="Text 11"/>
          <p:cNvSpPr/>
          <p:nvPr/>
        </p:nvSpPr>
        <p:spPr>
          <a:xfrm>
            <a:off x="8497729" y="2170152"/>
            <a:ext cx="1911072" cy="238839"/>
          </a:xfrm>
          <a:prstGeom prst="rect">
            <a:avLst/>
          </a:prstGeom>
          <a:noFill/>
          <a:ln/>
        </p:spPr>
        <p:txBody>
          <a:bodyPr wrap="none" lIns="0" tIns="0" rIns="0" bIns="0" rtlCol="0" anchor="t"/>
          <a:lstStyle/>
          <a:p>
            <a:pPr marL="0" indent="0" algn="l">
              <a:lnSpc>
                <a:spcPts val="1850"/>
              </a:lnSpc>
              <a:buNone/>
            </a:pPr>
            <a:r>
              <a:rPr lang="en-US" sz="1500" dirty="0">
                <a:solidFill>
                  <a:srgbClr val="383838"/>
                </a:solidFill>
                <a:latin typeface="Patrick Hand" pitchFamily="34" charset="0"/>
                <a:ea typeface="Patrick Hand" pitchFamily="34" charset="-122"/>
                <a:cs typeface="Patrick Hand" pitchFamily="34" charset="-120"/>
              </a:rPr>
              <a:t>Attack Methods</a:t>
            </a:r>
            <a:endParaRPr lang="en-US" sz="1500" dirty="0"/>
          </a:p>
        </p:txBody>
      </p:sp>
      <p:sp>
        <p:nvSpPr>
          <p:cNvPr id="15" name="Text 12"/>
          <p:cNvSpPr/>
          <p:nvPr/>
        </p:nvSpPr>
        <p:spPr>
          <a:xfrm>
            <a:off x="8497729" y="2560082"/>
            <a:ext cx="4970740" cy="926902"/>
          </a:xfrm>
          <a:prstGeom prst="rect">
            <a:avLst/>
          </a:prstGeom>
          <a:noFill/>
          <a:ln/>
        </p:spPr>
        <p:txBody>
          <a:bodyPr wrap="square" lIns="0" tIns="0" rIns="0" bIns="0" rtlCol="0" anchor="t"/>
          <a:lstStyle/>
          <a:p>
            <a:pPr marL="342900" indent="-342900" algn="l">
              <a:lnSpc>
                <a:spcPts val="2150"/>
              </a:lnSpc>
              <a:buSzPct val="100000"/>
              <a:buChar char="•"/>
            </a:pPr>
            <a:r>
              <a:rPr lang="en-US" sz="1500" dirty="0">
                <a:solidFill>
                  <a:srgbClr val="383838"/>
                </a:solidFill>
                <a:latin typeface="Patrick Hand" pitchFamily="34" charset="0"/>
                <a:ea typeface="Patrick Hand" pitchFamily="34" charset="-122"/>
                <a:cs typeface="Patrick Hand" pitchFamily="34" charset="-120"/>
              </a:rPr>
              <a:t>Credential stuffing with leaked databases</a:t>
            </a:r>
            <a:endParaRPr lang="en-US" sz="1500" dirty="0"/>
          </a:p>
          <a:p>
            <a:pPr marL="342900" indent="-342900" algn="l">
              <a:lnSpc>
                <a:spcPts val="2150"/>
              </a:lnSpc>
              <a:buSzPct val="100000"/>
              <a:buChar char="•"/>
            </a:pPr>
            <a:r>
              <a:rPr lang="en-US" sz="1500" dirty="0">
                <a:solidFill>
                  <a:srgbClr val="383838"/>
                </a:solidFill>
                <a:latin typeface="Patrick Hand" pitchFamily="34" charset="0"/>
                <a:ea typeface="Patrick Hand" pitchFamily="34" charset="-122"/>
                <a:cs typeface="Patrick Hand" pitchFamily="34" charset="-120"/>
              </a:rPr>
              <a:t>SIM swapping to intercept SMS codes</a:t>
            </a:r>
            <a:endParaRPr lang="en-US" sz="1500" dirty="0"/>
          </a:p>
          <a:p>
            <a:pPr marL="342900" indent="-342900" algn="l">
              <a:lnSpc>
                <a:spcPts val="2150"/>
              </a:lnSpc>
              <a:buSzPct val="100000"/>
              <a:buChar char="•"/>
            </a:pPr>
            <a:r>
              <a:rPr lang="en-US" sz="1500" dirty="0">
                <a:solidFill>
                  <a:srgbClr val="383838"/>
                </a:solidFill>
                <a:latin typeface="Patrick Hand" pitchFamily="34" charset="0"/>
                <a:ea typeface="Patrick Hand" pitchFamily="34" charset="-122"/>
                <a:cs typeface="Patrick Hand" pitchFamily="34" charset="-120"/>
              </a:rPr>
              <a:t>Social engineering of support staff</a:t>
            </a:r>
            <a:endParaRPr lang="en-US" sz="1500" dirty="0"/>
          </a:p>
        </p:txBody>
      </p:sp>
      <p:sp>
        <p:nvSpPr>
          <p:cNvPr id="16" name="Shape 13"/>
          <p:cNvSpPr/>
          <p:nvPr/>
        </p:nvSpPr>
        <p:spPr>
          <a:xfrm>
            <a:off x="8215193" y="3852029"/>
            <a:ext cx="5467231" cy="1744742"/>
          </a:xfrm>
          <a:prstGeom prst="roundRect">
            <a:avLst>
              <a:gd name="adj" fmla="val 6289"/>
            </a:avLst>
          </a:prstGeom>
          <a:solidFill>
            <a:srgbClr val="F7F7F7"/>
          </a:solidFill>
          <a:ln w="22860">
            <a:solidFill>
              <a:srgbClr val="CCCCCC"/>
            </a:solidFill>
            <a:prstDash val="solid"/>
          </a:ln>
        </p:spPr>
      </p:sp>
      <p:sp>
        <p:nvSpPr>
          <p:cNvPr id="17" name="Shape 14"/>
          <p:cNvSpPr/>
          <p:nvPr/>
        </p:nvSpPr>
        <p:spPr>
          <a:xfrm>
            <a:off x="8192333" y="3852029"/>
            <a:ext cx="91440" cy="1744742"/>
          </a:xfrm>
          <a:prstGeom prst="roundRect">
            <a:avLst>
              <a:gd name="adj" fmla="val 87779"/>
            </a:avLst>
          </a:prstGeom>
          <a:solidFill>
            <a:srgbClr val="CCCCCC"/>
          </a:solidFill>
          <a:ln/>
        </p:spPr>
      </p:sp>
      <p:sp>
        <p:nvSpPr>
          <p:cNvPr id="18" name="Text 15"/>
          <p:cNvSpPr/>
          <p:nvPr/>
        </p:nvSpPr>
        <p:spPr>
          <a:xfrm>
            <a:off x="8497729" y="4065984"/>
            <a:ext cx="1911072" cy="238839"/>
          </a:xfrm>
          <a:prstGeom prst="rect">
            <a:avLst/>
          </a:prstGeom>
          <a:noFill/>
          <a:ln/>
        </p:spPr>
        <p:txBody>
          <a:bodyPr wrap="none" lIns="0" tIns="0" rIns="0" bIns="0" rtlCol="0" anchor="t"/>
          <a:lstStyle/>
          <a:p>
            <a:pPr marL="0" indent="0" algn="l">
              <a:lnSpc>
                <a:spcPts val="1850"/>
              </a:lnSpc>
              <a:buNone/>
            </a:pPr>
            <a:r>
              <a:rPr lang="en-US" sz="1500" dirty="0">
                <a:solidFill>
                  <a:srgbClr val="383838"/>
                </a:solidFill>
                <a:latin typeface="Patrick Hand" pitchFamily="34" charset="0"/>
                <a:ea typeface="Patrick Hand" pitchFamily="34" charset="-122"/>
                <a:cs typeface="Patrick Hand" pitchFamily="34" charset="-120"/>
              </a:rPr>
              <a:t>Business Consequences</a:t>
            </a:r>
            <a:endParaRPr lang="en-US" sz="1500" dirty="0"/>
          </a:p>
        </p:txBody>
      </p:sp>
      <p:sp>
        <p:nvSpPr>
          <p:cNvPr id="19" name="Text 16"/>
          <p:cNvSpPr/>
          <p:nvPr/>
        </p:nvSpPr>
        <p:spPr>
          <a:xfrm>
            <a:off x="8497729" y="4455914"/>
            <a:ext cx="4970740" cy="926902"/>
          </a:xfrm>
          <a:prstGeom prst="rect">
            <a:avLst/>
          </a:prstGeom>
          <a:noFill/>
          <a:ln/>
        </p:spPr>
        <p:txBody>
          <a:bodyPr wrap="square" lIns="0" tIns="0" rIns="0" bIns="0" rtlCol="0" anchor="t"/>
          <a:lstStyle/>
          <a:p>
            <a:pPr marL="342900" indent="-342900" algn="l">
              <a:lnSpc>
                <a:spcPts val="2150"/>
              </a:lnSpc>
              <a:buSzPct val="100000"/>
              <a:buChar char="•"/>
            </a:pPr>
            <a:r>
              <a:rPr lang="en-US" sz="1500" dirty="0">
                <a:solidFill>
                  <a:srgbClr val="383838"/>
                </a:solidFill>
                <a:latin typeface="Patrick Hand" pitchFamily="34" charset="0"/>
                <a:ea typeface="Patrick Hand" pitchFamily="34" charset="-122"/>
                <a:cs typeface="Patrick Hand" pitchFamily="34" charset="-120"/>
              </a:rPr>
              <a:t>Advertiser trust collapse</a:t>
            </a:r>
            <a:endParaRPr lang="en-US" sz="1500" dirty="0"/>
          </a:p>
          <a:p>
            <a:pPr marL="342900" indent="-342900" algn="l">
              <a:lnSpc>
                <a:spcPts val="2150"/>
              </a:lnSpc>
              <a:buSzPct val="100000"/>
              <a:buChar char="•"/>
            </a:pPr>
            <a:r>
              <a:rPr lang="en-US" sz="1500" dirty="0">
                <a:solidFill>
                  <a:srgbClr val="383838"/>
                </a:solidFill>
                <a:latin typeface="Patrick Hand" pitchFamily="34" charset="0"/>
                <a:ea typeface="Patrick Hand" pitchFamily="34" charset="-122"/>
                <a:cs typeface="Patrick Hand" pitchFamily="34" charset="-120"/>
              </a:rPr>
              <a:t>FTC regulatory escalation</a:t>
            </a:r>
            <a:endParaRPr lang="en-US" sz="1500" dirty="0"/>
          </a:p>
          <a:p>
            <a:pPr marL="342900" indent="-342900" algn="l">
              <a:lnSpc>
                <a:spcPts val="2150"/>
              </a:lnSpc>
              <a:buSzPct val="100000"/>
              <a:buChar char="•"/>
            </a:pPr>
            <a:r>
              <a:rPr lang="en-US" sz="1500" dirty="0">
                <a:solidFill>
                  <a:srgbClr val="383838"/>
                </a:solidFill>
                <a:latin typeface="Patrick Hand" pitchFamily="34" charset="0"/>
                <a:ea typeface="Patrick Hand" pitchFamily="34" charset="-122"/>
                <a:cs typeface="Patrick Hand" pitchFamily="34" charset="-120"/>
              </a:rPr>
              <a:t>User compensation payouts</a:t>
            </a:r>
            <a:endParaRPr lang="en-US" sz="1500" dirty="0"/>
          </a:p>
        </p:txBody>
      </p:sp>
      <p:sp>
        <p:nvSpPr>
          <p:cNvPr id="20" name="Shape 17"/>
          <p:cNvSpPr/>
          <p:nvPr/>
        </p:nvSpPr>
        <p:spPr>
          <a:xfrm>
            <a:off x="8215193" y="5747861"/>
            <a:ext cx="5467231" cy="1639014"/>
          </a:xfrm>
          <a:prstGeom prst="roundRect">
            <a:avLst>
              <a:gd name="adj" fmla="val 6695"/>
            </a:avLst>
          </a:prstGeom>
          <a:solidFill>
            <a:srgbClr val="F7F7F7"/>
          </a:solidFill>
          <a:ln w="22860">
            <a:solidFill>
              <a:srgbClr val="CCCCCC"/>
            </a:solidFill>
            <a:prstDash val="solid"/>
          </a:ln>
        </p:spPr>
      </p:sp>
      <p:sp>
        <p:nvSpPr>
          <p:cNvPr id="21" name="Shape 18"/>
          <p:cNvSpPr/>
          <p:nvPr/>
        </p:nvSpPr>
        <p:spPr>
          <a:xfrm>
            <a:off x="8192333" y="5747861"/>
            <a:ext cx="91440" cy="1639014"/>
          </a:xfrm>
          <a:prstGeom prst="roundRect">
            <a:avLst>
              <a:gd name="adj" fmla="val 87779"/>
            </a:avLst>
          </a:prstGeom>
          <a:solidFill>
            <a:srgbClr val="CCCCCC"/>
          </a:solidFill>
          <a:ln/>
        </p:spPr>
      </p:sp>
      <p:sp>
        <p:nvSpPr>
          <p:cNvPr id="22" name="Text 19"/>
          <p:cNvSpPr/>
          <p:nvPr/>
        </p:nvSpPr>
        <p:spPr>
          <a:xfrm>
            <a:off x="8497729" y="5961817"/>
            <a:ext cx="1911072" cy="238839"/>
          </a:xfrm>
          <a:prstGeom prst="rect">
            <a:avLst/>
          </a:prstGeom>
          <a:noFill/>
          <a:ln/>
        </p:spPr>
        <p:txBody>
          <a:bodyPr wrap="none" lIns="0" tIns="0" rIns="0" bIns="0" rtlCol="0" anchor="t"/>
          <a:lstStyle/>
          <a:p>
            <a:pPr marL="0" indent="0" algn="l">
              <a:lnSpc>
                <a:spcPts val="1850"/>
              </a:lnSpc>
              <a:buNone/>
            </a:pPr>
            <a:r>
              <a:rPr lang="en-US" sz="1500" dirty="0">
                <a:solidFill>
                  <a:srgbClr val="000000"/>
                </a:solidFill>
                <a:latin typeface="Patrick Hand" pitchFamily="34" charset="0"/>
                <a:ea typeface="Patrick Hand" pitchFamily="34" charset="-122"/>
                <a:cs typeface="Patrick Hand" pitchFamily="34" charset="-120"/>
              </a:rPr>
              <a:t>🔑</a:t>
            </a:r>
            <a:r>
              <a:rPr lang="en-US" sz="1500" dirty="0">
                <a:solidFill>
                  <a:srgbClr val="383838"/>
                </a:solidFill>
                <a:latin typeface="Patrick Hand" pitchFamily="34" charset="0"/>
                <a:ea typeface="Patrick Hand" pitchFamily="34" charset="-122"/>
                <a:cs typeface="Patrick Hand" pitchFamily="34" charset="-120"/>
              </a:rPr>
              <a:t> Key Lesson</a:t>
            </a:r>
            <a:endParaRPr lang="en-US" sz="1500" dirty="0"/>
          </a:p>
        </p:txBody>
      </p:sp>
      <p:sp>
        <p:nvSpPr>
          <p:cNvPr id="23" name="Text 20"/>
          <p:cNvSpPr/>
          <p:nvPr/>
        </p:nvSpPr>
        <p:spPr>
          <a:xfrm>
            <a:off x="8497729" y="6351746"/>
            <a:ext cx="4970740" cy="821174"/>
          </a:xfrm>
          <a:prstGeom prst="rect">
            <a:avLst/>
          </a:prstGeom>
          <a:noFill/>
          <a:ln/>
        </p:spPr>
        <p:txBody>
          <a:bodyPr wrap="square" lIns="0" tIns="0" rIns="0" bIns="0" rtlCol="0" anchor="t"/>
          <a:lstStyle/>
          <a:p>
            <a:pPr marL="0" indent="0" algn="l">
              <a:lnSpc>
                <a:spcPts val="2150"/>
              </a:lnSpc>
              <a:buNone/>
            </a:pPr>
            <a:r>
              <a:rPr lang="en-US" sz="1500" dirty="0">
                <a:solidFill>
                  <a:srgbClr val="383838"/>
                </a:solidFill>
                <a:latin typeface="Patrick Hand" pitchFamily="34" charset="0"/>
                <a:ea typeface="Patrick Hand" pitchFamily="34" charset="-122"/>
                <a:cs typeface="Patrick Hand" pitchFamily="34" charset="-120"/>
              </a:rPr>
              <a:t>Enforce </a:t>
            </a:r>
            <a:r>
              <a:rPr lang="en-US" sz="1500" b="1" dirty="0">
                <a:solidFill>
                  <a:srgbClr val="383838"/>
                </a:solidFill>
                <a:latin typeface="Patrick Hand" pitchFamily="34" charset="0"/>
                <a:ea typeface="Patrick Hand" pitchFamily="34" charset="-122"/>
                <a:cs typeface="Patrick Hand" pitchFamily="34" charset="-120"/>
              </a:rPr>
              <a:t>phishing-resistant MFA</a:t>
            </a:r>
            <a:r>
              <a:rPr lang="en-US" sz="1500" dirty="0">
                <a:solidFill>
                  <a:srgbClr val="383838"/>
                </a:solidFill>
                <a:latin typeface="Patrick Hand" pitchFamily="34" charset="0"/>
                <a:ea typeface="Patrick Hand" pitchFamily="34" charset="-122"/>
                <a:cs typeface="Patrick Hand" pitchFamily="34" charset="-120"/>
              </a:rPr>
              <a:t> (FIDO2/WebAuthn), monitor login anomalies with behavioral analytics, and eliminate SMS-based verification for high-value accounts.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966073" y="763072"/>
            <a:ext cx="999530" cy="366236"/>
          </a:xfrm>
          <a:prstGeom prst="roundRect">
            <a:avLst>
              <a:gd name="adj" fmla="val 18836"/>
            </a:avLst>
          </a:prstGeom>
          <a:solidFill>
            <a:srgbClr val="E6E6E6"/>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9184" y="864037"/>
            <a:ext cx="164187" cy="164187"/>
          </a:xfrm>
          <a:prstGeom prst="rect">
            <a:avLst/>
          </a:prstGeom>
        </p:spPr>
      </p:pic>
      <p:sp>
        <p:nvSpPr>
          <p:cNvPr id="4" name="Text 1"/>
          <p:cNvSpPr/>
          <p:nvPr/>
        </p:nvSpPr>
        <p:spPr>
          <a:xfrm>
            <a:off x="1335405" y="824627"/>
            <a:ext cx="507087" cy="243126"/>
          </a:xfrm>
          <a:prstGeom prst="rect">
            <a:avLst/>
          </a:prstGeom>
          <a:noFill/>
          <a:ln/>
        </p:spPr>
        <p:txBody>
          <a:bodyPr wrap="none" lIns="0" tIns="0" rIns="0" bIns="0" rtlCol="0" anchor="t"/>
          <a:lstStyle/>
          <a:p>
            <a:pPr marL="0" indent="0" algn="l">
              <a:lnSpc>
                <a:spcPts val="1900"/>
              </a:lnSpc>
              <a:buNone/>
            </a:pPr>
            <a:r>
              <a:rPr lang="en-US" sz="1250" dirty="0">
                <a:solidFill>
                  <a:srgbClr val="383838"/>
                </a:solidFill>
                <a:latin typeface="Patrick Hand" pitchFamily="34" charset="0"/>
                <a:ea typeface="Patrick Hand" pitchFamily="34" charset="-122"/>
                <a:cs typeface="Patrick Hand" pitchFamily="34" charset="-120"/>
              </a:rPr>
              <a:t>A08–A10</a:t>
            </a:r>
            <a:endParaRPr lang="en-US" sz="1250" dirty="0"/>
          </a:p>
        </p:txBody>
      </p:sp>
      <p:sp>
        <p:nvSpPr>
          <p:cNvPr id="5" name="Shape 2"/>
          <p:cNvSpPr/>
          <p:nvPr/>
        </p:nvSpPr>
        <p:spPr>
          <a:xfrm>
            <a:off x="2068235" y="755452"/>
            <a:ext cx="1249918" cy="381476"/>
          </a:xfrm>
          <a:prstGeom prst="roundRect">
            <a:avLst>
              <a:gd name="adj" fmla="val 18083"/>
            </a:avLst>
          </a:prstGeom>
          <a:noFill/>
          <a:ln w="7620">
            <a:solidFill>
              <a:srgbClr val="CCCCCC"/>
            </a:solidFill>
            <a:prstDash val="solid"/>
          </a:ln>
        </p:spPr>
      </p:sp>
      <p:sp>
        <p:nvSpPr>
          <p:cNvPr id="6" name="Text 3"/>
          <p:cNvSpPr/>
          <p:nvPr/>
        </p:nvSpPr>
        <p:spPr>
          <a:xfrm>
            <a:off x="2198965" y="824627"/>
            <a:ext cx="988457" cy="243126"/>
          </a:xfrm>
          <a:prstGeom prst="rect">
            <a:avLst/>
          </a:prstGeom>
          <a:noFill/>
          <a:ln/>
        </p:spPr>
        <p:txBody>
          <a:bodyPr wrap="none" lIns="0" tIns="0" rIns="0" bIns="0" rtlCol="0" anchor="t"/>
          <a:lstStyle/>
          <a:p>
            <a:pPr marL="0" indent="0" algn="l">
              <a:lnSpc>
                <a:spcPts val="1900"/>
              </a:lnSpc>
              <a:buNone/>
            </a:pPr>
            <a:r>
              <a:rPr lang="en-US" sz="1250" dirty="0">
                <a:solidFill>
                  <a:srgbClr val="CCCCCC"/>
                </a:solidFill>
                <a:latin typeface="Patrick Hand" pitchFamily="34" charset="0"/>
                <a:ea typeface="Patrick Hand" pitchFamily="34" charset="-122"/>
                <a:cs typeface="Patrick Hand" pitchFamily="34" charset="-120"/>
              </a:rPr>
              <a:t>EMERGING RISKS</a:t>
            </a:r>
            <a:endParaRPr lang="en-US" sz="1250" dirty="0"/>
          </a:p>
        </p:txBody>
      </p:sp>
      <p:sp>
        <p:nvSpPr>
          <p:cNvPr id="7" name="Text 4"/>
          <p:cNvSpPr/>
          <p:nvPr/>
        </p:nvSpPr>
        <p:spPr>
          <a:xfrm>
            <a:off x="966073" y="1206698"/>
            <a:ext cx="6016704" cy="513278"/>
          </a:xfrm>
          <a:prstGeom prst="rect">
            <a:avLst/>
          </a:prstGeom>
          <a:noFill/>
          <a:ln/>
        </p:spPr>
        <p:txBody>
          <a:bodyPr wrap="none" lIns="0" tIns="0" rIns="0" bIns="0" rtlCol="0" anchor="t"/>
          <a:lstStyle/>
          <a:p>
            <a:pPr marL="0" indent="0" algn="l">
              <a:lnSpc>
                <a:spcPts val="4000"/>
              </a:lnSpc>
              <a:buNone/>
            </a:pPr>
            <a:r>
              <a:rPr lang="en-US" sz="3200" dirty="0">
                <a:solidFill>
                  <a:srgbClr val="383838"/>
                </a:solidFill>
                <a:latin typeface="Patrick Hand" pitchFamily="34" charset="0"/>
                <a:ea typeface="Patrick Hand" pitchFamily="34" charset="-122"/>
                <a:cs typeface="Patrick Hand" pitchFamily="34" charset="-120"/>
              </a:rPr>
              <a:t>Emerging Risks &amp; Lesser-Known Impacts</a:t>
            </a:r>
            <a:endParaRPr lang="en-US" sz="3200" dirty="0"/>
          </a:p>
        </p:txBody>
      </p:sp>
      <p:sp>
        <p:nvSpPr>
          <p:cNvPr id="8" name="Text 5"/>
          <p:cNvSpPr/>
          <p:nvPr/>
        </p:nvSpPr>
        <p:spPr>
          <a:xfrm>
            <a:off x="966073" y="1981676"/>
            <a:ext cx="12698254" cy="607457"/>
          </a:xfrm>
          <a:prstGeom prst="rect">
            <a:avLst/>
          </a:prstGeom>
          <a:noFill/>
          <a:ln/>
        </p:spPr>
        <p:txBody>
          <a:bodyPr wrap="square" lIns="0" tIns="0" rIns="0" bIns="0" rtlCol="0" anchor="t"/>
          <a:lstStyle/>
          <a:p>
            <a:pPr marL="0" indent="0" algn="l">
              <a:lnSpc>
                <a:spcPts val="2350"/>
              </a:lnSpc>
              <a:buNone/>
            </a:pPr>
            <a:r>
              <a:rPr lang="en-US" sz="1600" dirty="0">
                <a:solidFill>
                  <a:srgbClr val="383838"/>
                </a:solidFill>
                <a:latin typeface="Patrick Hand" pitchFamily="34" charset="0"/>
                <a:ea typeface="Patrick Hand" pitchFamily="34" charset="-122"/>
                <a:cs typeface="Patrick Hand" pitchFamily="34" charset="-120"/>
              </a:rPr>
              <a:t>While the first seven OWASP categories dominate headlines, vulnerabilities </a:t>
            </a:r>
            <a:r>
              <a:rPr lang="en-US" sz="1600" b="1" dirty="0">
                <a:solidFill>
                  <a:srgbClr val="383838"/>
                </a:solidFill>
                <a:latin typeface="Patrick Hand" pitchFamily="34" charset="0"/>
                <a:ea typeface="Patrick Hand" pitchFamily="34" charset="-122"/>
                <a:cs typeface="Patrick Hand" pitchFamily="34" charset="-120"/>
              </a:rPr>
              <a:t>A08 through A10</a:t>
            </a:r>
            <a:r>
              <a:rPr lang="en-US" sz="1600" dirty="0">
                <a:solidFill>
                  <a:srgbClr val="383838"/>
                </a:solidFill>
                <a:latin typeface="Patrick Hand" pitchFamily="34" charset="0"/>
                <a:ea typeface="Patrick Hand" pitchFamily="34" charset="-122"/>
                <a:cs typeface="Patrick Hand" pitchFamily="34" charset="-120"/>
              </a:rPr>
              <a:t> represent insidious risks that amplify breach severity and complicate response. These often serve as force multipliers — turning manageable incidents into catastrophic failures.</a:t>
            </a:r>
            <a:endParaRPr lang="en-US" sz="1600" dirty="0"/>
          </a:p>
        </p:txBody>
      </p:sp>
      <p:sp>
        <p:nvSpPr>
          <p:cNvPr id="9" name="Shape 6"/>
          <p:cNvSpPr/>
          <p:nvPr/>
        </p:nvSpPr>
        <p:spPr>
          <a:xfrm>
            <a:off x="966073" y="2785348"/>
            <a:ext cx="4116467" cy="3399711"/>
          </a:xfrm>
          <a:prstGeom prst="roundRect">
            <a:avLst>
              <a:gd name="adj" fmla="val 2536"/>
            </a:avLst>
          </a:prstGeom>
          <a:solidFill>
            <a:srgbClr val="E6E6E6"/>
          </a:solidFill>
          <a:ln w="7620">
            <a:solidFill>
              <a:srgbClr val="CCCCCC"/>
            </a:solidFill>
            <a:prstDash val="solid"/>
          </a:ln>
        </p:spPr>
      </p:sp>
      <p:sp>
        <p:nvSpPr>
          <p:cNvPr id="10" name="Shape 7"/>
          <p:cNvSpPr/>
          <p:nvPr/>
        </p:nvSpPr>
        <p:spPr>
          <a:xfrm>
            <a:off x="1178957" y="2998232"/>
            <a:ext cx="615910" cy="615910"/>
          </a:xfrm>
          <a:prstGeom prst="roundRect">
            <a:avLst>
              <a:gd name="adj" fmla="val 14844840"/>
            </a:avLst>
          </a:prstGeom>
          <a:solidFill>
            <a:srgbClr val="CCCCCC"/>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48383" y="3167658"/>
            <a:ext cx="277058" cy="277058"/>
          </a:xfrm>
          <a:prstGeom prst="rect">
            <a:avLst/>
          </a:prstGeom>
        </p:spPr>
      </p:pic>
      <p:sp>
        <p:nvSpPr>
          <p:cNvPr id="12" name="Text 8"/>
          <p:cNvSpPr/>
          <p:nvPr/>
        </p:nvSpPr>
        <p:spPr>
          <a:xfrm>
            <a:off x="1178957" y="3788569"/>
            <a:ext cx="2570559" cy="256580"/>
          </a:xfrm>
          <a:prstGeom prst="rect">
            <a:avLst/>
          </a:prstGeom>
          <a:noFill/>
          <a:ln/>
        </p:spPr>
        <p:txBody>
          <a:bodyPr wrap="none" lIns="0" tIns="0" rIns="0" bIns="0" rtlCol="0" anchor="t"/>
          <a:lstStyle/>
          <a:p>
            <a:pPr marL="0" indent="0" algn="l">
              <a:lnSpc>
                <a:spcPts val="2000"/>
              </a:lnSpc>
              <a:buNone/>
            </a:pPr>
            <a:r>
              <a:rPr lang="en-US" sz="1600" dirty="0">
                <a:solidFill>
                  <a:srgbClr val="383838"/>
                </a:solidFill>
                <a:latin typeface="Patrick Hand" pitchFamily="34" charset="0"/>
                <a:ea typeface="Patrick Hand" pitchFamily="34" charset="-122"/>
                <a:cs typeface="Patrick Hand" pitchFamily="34" charset="-120"/>
              </a:rPr>
              <a:t>A09: Logging &amp; Monitoring Failures</a:t>
            </a:r>
            <a:endParaRPr lang="en-US" sz="1600" dirty="0"/>
          </a:p>
        </p:txBody>
      </p:sp>
      <p:sp>
        <p:nvSpPr>
          <p:cNvPr id="13" name="Text 9"/>
          <p:cNvSpPr/>
          <p:nvPr/>
        </p:nvSpPr>
        <p:spPr>
          <a:xfrm>
            <a:off x="1178957" y="4149804"/>
            <a:ext cx="3690699" cy="1518642"/>
          </a:xfrm>
          <a:prstGeom prst="rect">
            <a:avLst/>
          </a:prstGeom>
          <a:noFill/>
          <a:ln/>
        </p:spPr>
        <p:txBody>
          <a:bodyPr wrap="square" lIns="0" tIns="0" rIns="0" bIns="0" rtlCol="0" anchor="t"/>
          <a:lstStyle/>
          <a:p>
            <a:pPr marL="0" indent="0" algn="l">
              <a:lnSpc>
                <a:spcPts val="2350"/>
              </a:lnSpc>
              <a:buNone/>
            </a:pPr>
            <a:r>
              <a:rPr lang="en-US" sz="1600" dirty="0">
                <a:solidFill>
                  <a:srgbClr val="383838"/>
                </a:solidFill>
                <a:latin typeface="Patrick Hand" pitchFamily="34" charset="0"/>
                <a:ea typeface="Patrick Hand" pitchFamily="34" charset="-122"/>
                <a:cs typeface="Patrick Hand" pitchFamily="34" charset="-120"/>
              </a:rPr>
              <a:t>Without adequate logging and real-time alerting, breaches go undetected for months. The average detection time of 277 days means attackers have free rein to exfiltrate data, establish persistence, and cover their tracks.</a:t>
            </a:r>
            <a:endParaRPr lang="en-US" sz="1600" dirty="0"/>
          </a:p>
        </p:txBody>
      </p:sp>
      <p:sp>
        <p:nvSpPr>
          <p:cNvPr id="14" name="Shape 10"/>
          <p:cNvSpPr/>
          <p:nvPr/>
        </p:nvSpPr>
        <p:spPr>
          <a:xfrm>
            <a:off x="5256967" y="2785348"/>
            <a:ext cx="4116467" cy="3399711"/>
          </a:xfrm>
          <a:prstGeom prst="roundRect">
            <a:avLst>
              <a:gd name="adj" fmla="val 2536"/>
            </a:avLst>
          </a:prstGeom>
          <a:solidFill>
            <a:srgbClr val="E6E6E6"/>
          </a:solidFill>
          <a:ln w="7620">
            <a:solidFill>
              <a:srgbClr val="CCCCCC"/>
            </a:solidFill>
            <a:prstDash val="solid"/>
          </a:ln>
        </p:spPr>
      </p:sp>
      <p:sp>
        <p:nvSpPr>
          <p:cNvPr id="15" name="Shape 11"/>
          <p:cNvSpPr/>
          <p:nvPr/>
        </p:nvSpPr>
        <p:spPr>
          <a:xfrm>
            <a:off x="5469850" y="2998232"/>
            <a:ext cx="615910" cy="615910"/>
          </a:xfrm>
          <a:prstGeom prst="roundRect">
            <a:avLst>
              <a:gd name="adj" fmla="val 14844840"/>
            </a:avLst>
          </a:prstGeom>
          <a:solidFill>
            <a:srgbClr val="CCCCCC"/>
          </a:solidFill>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39276" y="3167658"/>
            <a:ext cx="277058" cy="277058"/>
          </a:xfrm>
          <a:prstGeom prst="rect">
            <a:avLst/>
          </a:prstGeom>
        </p:spPr>
      </p:pic>
      <p:sp>
        <p:nvSpPr>
          <p:cNvPr id="17" name="Text 12"/>
          <p:cNvSpPr/>
          <p:nvPr/>
        </p:nvSpPr>
        <p:spPr>
          <a:xfrm>
            <a:off x="5469850" y="3788569"/>
            <a:ext cx="2907030" cy="256580"/>
          </a:xfrm>
          <a:prstGeom prst="rect">
            <a:avLst/>
          </a:prstGeom>
          <a:noFill/>
          <a:ln/>
        </p:spPr>
        <p:txBody>
          <a:bodyPr wrap="none" lIns="0" tIns="0" rIns="0" bIns="0" rtlCol="0" anchor="t"/>
          <a:lstStyle/>
          <a:p>
            <a:pPr marL="0" indent="0" algn="l">
              <a:lnSpc>
                <a:spcPts val="2000"/>
              </a:lnSpc>
              <a:buNone/>
            </a:pPr>
            <a:r>
              <a:rPr lang="en-US" sz="1600" dirty="0">
                <a:solidFill>
                  <a:srgbClr val="383838"/>
                </a:solidFill>
                <a:latin typeface="Patrick Hand" pitchFamily="34" charset="0"/>
                <a:ea typeface="Patrick Hand" pitchFamily="34" charset="-122"/>
                <a:cs typeface="Patrick Hand" pitchFamily="34" charset="-120"/>
              </a:rPr>
              <a:t>A08: Software &amp; Data Integrity Failures</a:t>
            </a:r>
            <a:endParaRPr lang="en-US" sz="1600" dirty="0"/>
          </a:p>
        </p:txBody>
      </p:sp>
      <p:sp>
        <p:nvSpPr>
          <p:cNvPr id="18" name="Text 13"/>
          <p:cNvSpPr/>
          <p:nvPr/>
        </p:nvSpPr>
        <p:spPr>
          <a:xfrm>
            <a:off x="5469850" y="4149804"/>
            <a:ext cx="3690699" cy="1518642"/>
          </a:xfrm>
          <a:prstGeom prst="rect">
            <a:avLst/>
          </a:prstGeom>
          <a:noFill/>
          <a:ln/>
        </p:spPr>
        <p:txBody>
          <a:bodyPr wrap="square" lIns="0" tIns="0" rIns="0" bIns="0" rtlCol="0" anchor="t"/>
          <a:lstStyle/>
          <a:p>
            <a:pPr marL="0" indent="0" algn="l">
              <a:lnSpc>
                <a:spcPts val="2350"/>
              </a:lnSpc>
              <a:buNone/>
            </a:pPr>
            <a:r>
              <a:rPr lang="en-US" sz="1600" dirty="0">
                <a:solidFill>
                  <a:srgbClr val="383838"/>
                </a:solidFill>
                <a:latin typeface="Patrick Hand" pitchFamily="34" charset="0"/>
                <a:ea typeface="Patrick Hand" pitchFamily="34" charset="-122"/>
                <a:cs typeface="Patrick Hand" pitchFamily="34" charset="-120"/>
              </a:rPr>
              <a:t>Tampered code updates, unsigned packages, and insecure CI/CD pipelines enable attackers to inject backdoors directly into production. The SolarWinds attack exemplifies this risk — trusted updates became the attack vector.</a:t>
            </a:r>
            <a:endParaRPr lang="en-US" sz="1600" dirty="0"/>
          </a:p>
        </p:txBody>
      </p:sp>
      <p:sp>
        <p:nvSpPr>
          <p:cNvPr id="19" name="Shape 14"/>
          <p:cNvSpPr/>
          <p:nvPr/>
        </p:nvSpPr>
        <p:spPr>
          <a:xfrm>
            <a:off x="9547860" y="2785348"/>
            <a:ext cx="4116467" cy="3399711"/>
          </a:xfrm>
          <a:prstGeom prst="roundRect">
            <a:avLst>
              <a:gd name="adj" fmla="val 2536"/>
            </a:avLst>
          </a:prstGeom>
          <a:solidFill>
            <a:srgbClr val="E6E6E6"/>
          </a:solidFill>
          <a:ln w="7620">
            <a:solidFill>
              <a:srgbClr val="CCCCCC"/>
            </a:solidFill>
            <a:prstDash val="solid"/>
          </a:ln>
        </p:spPr>
      </p:sp>
      <p:sp>
        <p:nvSpPr>
          <p:cNvPr id="20" name="Shape 15"/>
          <p:cNvSpPr/>
          <p:nvPr/>
        </p:nvSpPr>
        <p:spPr>
          <a:xfrm>
            <a:off x="9760744" y="2998232"/>
            <a:ext cx="615910" cy="615910"/>
          </a:xfrm>
          <a:prstGeom prst="roundRect">
            <a:avLst>
              <a:gd name="adj" fmla="val 14844840"/>
            </a:avLst>
          </a:prstGeom>
          <a:solidFill>
            <a:srgbClr val="CCCCCC"/>
          </a:solidFill>
          <a:ln/>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930170" y="3167658"/>
            <a:ext cx="277058" cy="277058"/>
          </a:xfrm>
          <a:prstGeom prst="rect">
            <a:avLst/>
          </a:prstGeom>
        </p:spPr>
      </p:pic>
      <p:sp>
        <p:nvSpPr>
          <p:cNvPr id="22" name="Text 16"/>
          <p:cNvSpPr/>
          <p:nvPr/>
        </p:nvSpPr>
        <p:spPr>
          <a:xfrm>
            <a:off x="9760744" y="3788569"/>
            <a:ext cx="2499598" cy="256580"/>
          </a:xfrm>
          <a:prstGeom prst="rect">
            <a:avLst/>
          </a:prstGeom>
          <a:noFill/>
          <a:ln/>
        </p:spPr>
        <p:txBody>
          <a:bodyPr wrap="none" lIns="0" tIns="0" rIns="0" bIns="0" rtlCol="0" anchor="t"/>
          <a:lstStyle/>
          <a:p>
            <a:pPr marL="0" indent="0" algn="l">
              <a:lnSpc>
                <a:spcPts val="2000"/>
              </a:lnSpc>
              <a:buNone/>
            </a:pPr>
            <a:r>
              <a:rPr lang="en-US" sz="1600" dirty="0">
                <a:solidFill>
                  <a:srgbClr val="383838"/>
                </a:solidFill>
                <a:latin typeface="Patrick Hand" pitchFamily="34" charset="0"/>
                <a:ea typeface="Patrick Hand" pitchFamily="34" charset="-122"/>
                <a:cs typeface="Patrick Hand" pitchFamily="34" charset="-120"/>
              </a:rPr>
              <a:t>A10: Server-Side Request Forgery</a:t>
            </a:r>
            <a:endParaRPr lang="en-US" sz="1600" dirty="0"/>
          </a:p>
        </p:txBody>
      </p:sp>
      <p:sp>
        <p:nvSpPr>
          <p:cNvPr id="23" name="Text 17"/>
          <p:cNvSpPr/>
          <p:nvPr/>
        </p:nvSpPr>
        <p:spPr>
          <a:xfrm>
            <a:off x="9760744" y="4149804"/>
            <a:ext cx="3690699" cy="1822371"/>
          </a:xfrm>
          <a:prstGeom prst="rect">
            <a:avLst/>
          </a:prstGeom>
          <a:noFill/>
          <a:ln/>
        </p:spPr>
        <p:txBody>
          <a:bodyPr wrap="square" lIns="0" tIns="0" rIns="0" bIns="0" rtlCol="0" anchor="t"/>
          <a:lstStyle/>
          <a:p>
            <a:pPr marL="0" indent="0" algn="l">
              <a:lnSpc>
                <a:spcPts val="2350"/>
              </a:lnSpc>
              <a:buNone/>
            </a:pPr>
            <a:r>
              <a:rPr lang="en-US" sz="1600" dirty="0">
                <a:solidFill>
                  <a:srgbClr val="383838"/>
                </a:solidFill>
                <a:latin typeface="Patrick Hand" pitchFamily="34" charset="0"/>
                <a:ea typeface="Patrick Hand" pitchFamily="34" charset="-122"/>
                <a:cs typeface="Patrick Hand" pitchFamily="34" charset="-120"/>
              </a:rPr>
              <a:t>SSRF vulnerabilities allow attackers to make requests from the server to internal resources, bypassing firewalls. Unhandled errors can also expose system internals — stack traces, database schemas, and API keys — giving attackers a detailed roadmap.</a:t>
            </a:r>
            <a:endParaRPr lang="en-US" sz="1600" dirty="0"/>
          </a:p>
        </p:txBody>
      </p:sp>
      <p:sp>
        <p:nvSpPr>
          <p:cNvPr id="24" name="Shape 18"/>
          <p:cNvSpPr/>
          <p:nvPr/>
        </p:nvSpPr>
        <p:spPr>
          <a:xfrm>
            <a:off x="966073" y="6381274"/>
            <a:ext cx="12698254" cy="1092875"/>
          </a:xfrm>
          <a:prstGeom prst="roundRect">
            <a:avLst>
              <a:gd name="adj" fmla="val 7890"/>
            </a:avLst>
          </a:prstGeom>
          <a:solidFill>
            <a:srgbClr val="D9D9D9"/>
          </a:solidFill>
          <a:ln/>
        </p:spPr>
      </p:sp>
      <p:pic>
        <p:nvPicPr>
          <p:cNvPr id="25" name="Image 4" descr="preencoded.png"/>
          <p:cNvPicPr>
            <a:picLocks noChangeAspect="1"/>
          </p:cNvPicPr>
          <p:nvPr/>
        </p:nvPicPr>
        <p:blipFill>
          <a:blip r:embed="rId11"/>
          <a:stretch>
            <a:fillRect/>
          </a:stretch>
        </p:blipFill>
        <p:spPr>
          <a:xfrm>
            <a:off x="1171337" y="6679168"/>
            <a:ext cx="256580" cy="205264"/>
          </a:xfrm>
          <a:prstGeom prst="rect">
            <a:avLst/>
          </a:prstGeom>
        </p:spPr>
      </p:pic>
      <p:sp>
        <p:nvSpPr>
          <p:cNvPr id="26" name="Text 19"/>
          <p:cNvSpPr/>
          <p:nvPr/>
        </p:nvSpPr>
        <p:spPr>
          <a:xfrm>
            <a:off x="1633180" y="6607016"/>
            <a:ext cx="11825883" cy="607457"/>
          </a:xfrm>
          <a:prstGeom prst="rect">
            <a:avLst/>
          </a:prstGeom>
          <a:noFill/>
          <a:ln/>
        </p:spPr>
        <p:txBody>
          <a:bodyPr wrap="square" lIns="0" tIns="0" rIns="0" bIns="0" rtlCol="0" anchor="t"/>
          <a:lstStyle/>
          <a:p>
            <a:pPr marL="0" indent="0" algn="l">
              <a:lnSpc>
                <a:spcPts val="2350"/>
              </a:lnSpc>
              <a:buNone/>
            </a:pPr>
            <a:r>
              <a:rPr lang="en-US" sz="1600" b="1" dirty="0">
                <a:solidFill>
                  <a:srgbClr val="000000"/>
                </a:solidFill>
                <a:latin typeface="Patrick Hand" pitchFamily="34" charset="0"/>
                <a:ea typeface="Patrick Hand" pitchFamily="34" charset="-122"/>
                <a:cs typeface="Patrick Hand" pitchFamily="34" charset="-120"/>
              </a:rPr>
              <a:t>Business Impact:</a:t>
            </a:r>
            <a:r>
              <a:rPr lang="en-US" sz="1600" dirty="0">
                <a:solidFill>
                  <a:srgbClr val="000000"/>
                </a:solidFill>
                <a:latin typeface="Patrick Hand" pitchFamily="34" charset="0"/>
                <a:ea typeface="Patrick Hand" pitchFamily="34" charset="-122"/>
                <a:cs typeface="Patrick Hand" pitchFamily="34" charset="-120"/>
              </a:rPr>
              <a:t> These vulnerabilities collectively increase breach dwell time, forensic investigation costs, compliance penalties, and system downtime — often doubling the total cost of an incident.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950238" y="679490"/>
            <a:ext cx="1423868" cy="414695"/>
          </a:xfrm>
          <a:prstGeom prst="roundRect">
            <a:avLst>
              <a:gd name="adj" fmla="val 18287"/>
            </a:avLst>
          </a:prstGeom>
          <a:solidFill>
            <a:srgbClr val="E6E6E6"/>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5612" y="796528"/>
            <a:ext cx="180499" cy="180499"/>
          </a:xfrm>
          <a:prstGeom prst="rect">
            <a:avLst/>
          </a:prstGeom>
        </p:spPr>
      </p:pic>
      <p:sp>
        <p:nvSpPr>
          <p:cNvPr id="4" name="Text 1"/>
          <p:cNvSpPr/>
          <p:nvPr/>
        </p:nvSpPr>
        <p:spPr>
          <a:xfrm>
            <a:off x="1356360" y="747117"/>
            <a:ext cx="882372" cy="279440"/>
          </a:xfrm>
          <a:prstGeom prst="rect">
            <a:avLst/>
          </a:prstGeom>
          <a:noFill/>
          <a:ln/>
        </p:spPr>
        <p:txBody>
          <a:bodyPr wrap="none" lIns="0" tIns="0" rIns="0" bIns="0" rtlCol="0" anchor="t"/>
          <a:lstStyle/>
          <a:p>
            <a:pPr marL="0" indent="0" algn="l">
              <a:lnSpc>
                <a:spcPts val="2200"/>
              </a:lnSpc>
              <a:buNone/>
            </a:pPr>
            <a:r>
              <a:rPr lang="en-US" sz="1400" dirty="0">
                <a:solidFill>
                  <a:srgbClr val="383838"/>
                </a:solidFill>
                <a:latin typeface="Patrick Hand" pitchFamily="34" charset="0"/>
                <a:ea typeface="Patrick Hand" pitchFamily="34" charset="-122"/>
                <a:cs typeface="Patrick Hand" pitchFamily="34" charset="-120"/>
              </a:rPr>
              <a:t>CONCLUSION</a:t>
            </a:r>
            <a:endParaRPr lang="en-US" sz="1400" dirty="0"/>
          </a:p>
        </p:txBody>
      </p:sp>
      <p:sp>
        <p:nvSpPr>
          <p:cNvPr id="5" name="Text 2"/>
          <p:cNvSpPr/>
          <p:nvPr/>
        </p:nvSpPr>
        <p:spPr>
          <a:xfrm>
            <a:off x="950238" y="1178481"/>
            <a:ext cx="5604986" cy="564118"/>
          </a:xfrm>
          <a:prstGeom prst="rect">
            <a:avLst/>
          </a:prstGeom>
          <a:noFill/>
          <a:ln/>
        </p:spPr>
        <p:txBody>
          <a:bodyPr wrap="none" lIns="0" tIns="0" rIns="0" bIns="0" rtlCol="0" anchor="t"/>
          <a:lstStyle/>
          <a:p>
            <a:pPr marL="0" indent="0" algn="l">
              <a:lnSpc>
                <a:spcPts val="4400"/>
              </a:lnSpc>
              <a:buNone/>
            </a:pPr>
            <a:r>
              <a:rPr lang="en-US" sz="3550" dirty="0">
                <a:solidFill>
                  <a:srgbClr val="383838"/>
                </a:solidFill>
                <a:latin typeface="Patrick Hand" pitchFamily="34" charset="0"/>
                <a:ea typeface="Patrick Hand" pitchFamily="34" charset="-122"/>
                <a:cs typeface="Patrick Hand" pitchFamily="34" charset="-120"/>
              </a:rPr>
              <a:t>Protecting Data Protects Business</a:t>
            </a:r>
            <a:endParaRPr lang="en-US" sz="3550" dirty="0"/>
          </a:p>
        </p:txBody>
      </p:sp>
      <p:sp>
        <p:nvSpPr>
          <p:cNvPr id="6" name="Text 3"/>
          <p:cNvSpPr/>
          <p:nvPr/>
        </p:nvSpPr>
        <p:spPr>
          <a:xfrm>
            <a:off x="950238" y="2058948"/>
            <a:ext cx="12729924" cy="698659"/>
          </a:xfrm>
          <a:prstGeom prst="rect">
            <a:avLst/>
          </a:prstGeom>
          <a:noFill/>
          <a:ln/>
        </p:spPr>
        <p:txBody>
          <a:bodyPr wrap="square" lIns="0" tIns="0" rIns="0" bIns="0" rtlCol="0" anchor="t"/>
          <a:lstStyle/>
          <a:p>
            <a:pPr marL="0" indent="0" algn="l">
              <a:lnSpc>
                <a:spcPts val="2750"/>
              </a:lnSpc>
              <a:buNone/>
            </a:pPr>
            <a:r>
              <a:rPr lang="en-US" sz="1750" dirty="0">
                <a:solidFill>
                  <a:srgbClr val="383838"/>
                </a:solidFill>
                <a:latin typeface="Patrick Hand" pitchFamily="34" charset="0"/>
                <a:ea typeface="Patrick Hand" pitchFamily="34" charset="-122"/>
                <a:cs typeface="Patrick Hand" pitchFamily="34" charset="-120"/>
              </a:rPr>
              <a:t>The OWASP Top 10 vulnerabilities remain the </a:t>
            </a:r>
            <a:r>
              <a:rPr lang="en-US" sz="1750" b="1" dirty="0">
                <a:solidFill>
                  <a:srgbClr val="383838"/>
                </a:solidFill>
                <a:latin typeface="Patrick Hand" pitchFamily="34" charset="0"/>
                <a:ea typeface="Patrick Hand" pitchFamily="34" charset="-122"/>
                <a:cs typeface="Patrick Hand" pitchFamily="34" charset="-120"/>
              </a:rPr>
              <a:t>root cause of the most costly breaches</a:t>
            </a:r>
            <a:r>
              <a:rPr lang="en-US" sz="1750" dirty="0">
                <a:solidFill>
                  <a:srgbClr val="383838"/>
                </a:solidFill>
                <a:latin typeface="Patrick Hand" pitchFamily="34" charset="0"/>
                <a:ea typeface="Patrick Hand" pitchFamily="34" charset="-122"/>
                <a:cs typeface="Patrick Hand" pitchFamily="34" charset="-120"/>
              </a:rPr>
              <a:t> in the modern threat landscape. From Facebook's 533 million exposed records to SolarWinds' billions in damages, these case studies prove that security failures carry existential business risk.</a:t>
            </a:r>
            <a:endParaRPr lang="en-US" sz="1750" dirty="0"/>
          </a:p>
        </p:txBody>
      </p:sp>
      <p:pic>
        <p:nvPicPr>
          <p:cNvPr id="7" name="Image 1" descr="preencoded.png"/>
          <p:cNvPicPr>
            <a:picLocks noChangeAspect="1"/>
          </p:cNvPicPr>
          <p:nvPr/>
        </p:nvPicPr>
        <p:blipFill>
          <a:blip r:embed="rId5"/>
          <a:stretch>
            <a:fillRect/>
          </a:stretch>
        </p:blipFill>
        <p:spPr>
          <a:xfrm>
            <a:off x="950238" y="2994779"/>
            <a:ext cx="4243268" cy="902732"/>
          </a:xfrm>
          <a:prstGeom prst="rect">
            <a:avLst/>
          </a:prstGeom>
        </p:spPr>
      </p:pic>
      <p:sp>
        <p:nvSpPr>
          <p:cNvPr id="8" name="Text 4"/>
          <p:cNvSpPr/>
          <p:nvPr/>
        </p:nvSpPr>
        <p:spPr>
          <a:xfrm>
            <a:off x="1175861" y="4108371"/>
            <a:ext cx="2256949" cy="282178"/>
          </a:xfrm>
          <a:prstGeom prst="rect">
            <a:avLst/>
          </a:prstGeom>
          <a:noFill/>
          <a:ln/>
        </p:spPr>
        <p:txBody>
          <a:bodyPr wrap="none" lIns="0" tIns="0" rIns="0" bIns="0" rtlCol="0" anchor="t"/>
          <a:lstStyle/>
          <a:p>
            <a:pPr marL="0" indent="0" algn="l">
              <a:lnSpc>
                <a:spcPts val="2200"/>
              </a:lnSpc>
              <a:buNone/>
            </a:pPr>
            <a:r>
              <a:rPr lang="en-US" sz="1750" dirty="0">
                <a:solidFill>
                  <a:srgbClr val="383838"/>
                </a:solidFill>
                <a:latin typeface="Patrick Hand" pitchFamily="34" charset="0"/>
                <a:ea typeface="Patrick Hand" pitchFamily="34" charset="-122"/>
                <a:cs typeface="Patrick Hand" pitchFamily="34" charset="-120"/>
              </a:rPr>
              <a:t>Secure by Design</a:t>
            </a:r>
            <a:endParaRPr lang="en-US" sz="1750" dirty="0"/>
          </a:p>
        </p:txBody>
      </p:sp>
      <p:sp>
        <p:nvSpPr>
          <p:cNvPr id="9" name="Text 5"/>
          <p:cNvSpPr/>
          <p:nvPr/>
        </p:nvSpPr>
        <p:spPr>
          <a:xfrm>
            <a:off x="1175861" y="4516993"/>
            <a:ext cx="3792022" cy="1047988"/>
          </a:xfrm>
          <a:prstGeom prst="rect">
            <a:avLst/>
          </a:prstGeom>
          <a:noFill/>
          <a:ln/>
        </p:spPr>
        <p:txBody>
          <a:bodyPr wrap="square" lIns="0" tIns="0" rIns="0" bIns="0" rtlCol="0" anchor="t"/>
          <a:lstStyle/>
          <a:p>
            <a:pPr marL="0" indent="0" algn="l">
              <a:lnSpc>
                <a:spcPts val="2750"/>
              </a:lnSpc>
              <a:buNone/>
            </a:pPr>
            <a:r>
              <a:rPr lang="en-US" sz="1750" dirty="0">
                <a:solidFill>
                  <a:srgbClr val="383838"/>
                </a:solidFill>
                <a:latin typeface="Patrick Hand" pitchFamily="34" charset="0"/>
                <a:ea typeface="Patrick Hand" pitchFamily="34" charset="-122"/>
                <a:cs typeface="Patrick Hand" pitchFamily="34" charset="-120"/>
              </a:rPr>
              <a:t>Embed security into architecture, code, and cloud configurations from inception — not as an afterthought.</a:t>
            </a:r>
            <a:endParaRPr lang="en-US" sz="1750" dirty="0"/>
          </a:p>
        </p:txBody>
      </p:sp>
      <p:pic>
        <p:nvPicPr>
          <p:cNvPr id="10" name="Image 2" descr="preencoded.png"/>
          <p:cNvPicPr>
            <a:picLocks noChangeAspect="1"/>
          </p:cNvPicPr>
          <p:nvPr/>
        </p:nvPicPr>
        <p:blipFill>
          <a:blip r:embed="rId6"/>
          <a:stretch>
            <a:fillRect/>
          </a:stretch>
        </p:blipFill>
        <p:spPr>
          <a:xfrm>
            <a:off x="5193506" y="2994779"/>
            <a:ext cx="4243268" cy="902732"/>
          </a:xfrm>
          <a:prstGeom prst="rect">
            <a:avLst/>
          </a:prstGeom>
        </p:spPr>
      </p:pic>
      <p:sp>
        <p:nvSpPr>
          <p:cNvPr id="11" name="Text 6"/>
          <p:cNvSpPr/>
          <p:nvPr/>
        </p:nvSpPr>
        <p:spPr>
          <a:xfrm>
            <a:off x="5419130" y="4108371"/>
            <a:ext cx="2256949" cy="282178"/>
          </a:xfrm>
          <a:prstGeom prst="rect">
            <a:avLst/>
          </a:prstGeom>
          <a:noFill/>
          <a:ln/>
        </p:spPr>
        <p:txBody>
          <a:bodyPr wrap="none" lIns="0" tIns="0" rIns="0" bIns="0" rtlCol="0" anchor="t"/>
          <a:lstStyle/>
          <a:p>
            <a:pPr marL="0" indent="0" algn="l">
              <a:lnSpc>
                <a:spcPts val="2200"/>
              </a:lnSpc>
              <a:buNone/>
            </a:pPr>
            <a:r>
              <a:rPr lang="en-US" sz="1750" dirty="0">
                <a:solidFill>
                  <a:srgbClr val="383838"/>
                </a:solidFill>
                <a:latin typeface="Patrick Hand" pitchFamily="34" charset="0"/>
                <a:ea typeface="Patrick Hand" pitchFamily="34" charset="-122"/>
                <a:cs typeface="Patrick Hand" pitchFamily="34" charset="-120"/>
              </a:rPr>
              <a:t>Monitor Continuously</a:t>
            </a:r>
            <a:endParaRPr lang="en-US" sz="1750" dirty="0"/>
          </a:p>
        </p:txBody>
      </p:sp>
      <p:sp>
        <p:nvSpPr>
          <p:cNvPr id="12" name="Text 7"/>
          <p:cNvSpPr/>
          <p:nvPr/>
        </p:nvSpPr>
        <p:spPr>
          <a:xfrm>
            <a:off x="5419130" y="4516993"/>
            <a:ext cx="3792022" cy="1047988"/>
          </a:xfrm>
          <a:prstGeom prst="rect">
            <a:avLst/>
          </a:prstGeom>
          <a:noFill/>
          <a:ln/>
        </p:spPr>
        <p:txBody>
          <a:bodyPr wrap="square" lIns="0" tIns="0" rIns="0" bIns="0" rtlCol="0" anchor="t"/>
          <a:lstStyle/>
          <a:p>
            <a:pPr marL="0" indent="0" algn="l">
              <a:lnSpc>
                <a:spcPts val="2750"/>
              </a:lnSpc>
              <a:buNone/>
            </a:pPr>
            <a:r>
              <a:rPr lang="en-US" sz="1750" dirty="0">
                <a:solidFill>
                  <a:srgbClr val="383838"/>
                </a:solidFill>
                <a:latin typeface="Patrick Hand" pitchFamily="34" charset="0"/>
                <a:ea typeface="Patrick Hand" pitchFamily="34" charset="-122"/>
                <a:cs typeface="Patrick Hand" pitchFamily="34" charset="-120"/>
              </a:rPr>
              <a:t>Deploy real-time logging, behavioral analytics, and automated alerting to detect threats before they escalate.</a:t>
            </a:r>
            <a:endParaRPr lang="en-US" sz="1750" dirty="0"/>
          </a:p>
        </p:txBody>
      </p:sp>
      <p:pic>
        <p:nvPicPr>
          <p:cNvPr id="13" name="Image 3" descr="preencoded.png"/>
          <p:cNvPicPr>
            <a:picLocks noChangeAspect="1"/>
          </p:cNvPicPr>
          <p:nvPr/>
        </p:nvPicPr>
        <p:blipFill>
          <a:blip r:embed="rId7"/>
          <a:stretch>
            <a:fillRect/>
          </a:stretch>
        </p:blipFill>
        <p:spPr>
          <a:xfrm>
            <a:off x="9436775" y="2994779"/>
            <a:ext cx="4243268" cy="902732"/>
          </a:xfrm>
          <a:prstGeom prst="rect">
            <a:avLst/>
          </a:prstGeom>
        </p:spPr>
      </p:pic>
      <p:sp>
        <p:nvSpPr>
          <p:cNvPr id="14" name="Text 8"/>
          <p:cNvSpPr/>
          <p:nvPr/>
        </p:nvSpPr>
        <p:spPr>
          <a:xfrm>
            <a:off x="9662398" y="4108371"/>
            <a:ext cx="2256949" cy="282178"/>
          </a:xfrm>
          <a:prstGeom prst="rect">
            <a:avLst/>
          </a:prstGeom>
          <a:noFill/>
          <a:ln/>
        </p:spPr>
        <p:txBody>
          <a:bodyPr wrap="none" lIns="0" tIns="0" rIns="0" bIns="0" rtlCol="0" anchor="t"/>
          <a:lstStyle/>
          <a:p>
            <a:pPr marL="0" indent="0" algn="l">
              <a:lnSpc>
                <a:spcPts val="2200"/>
              </a:lnSpc>
              <a:buNone/>
            </a:pPr>
            <a:r>
              <a:rPr lang="en-US" sz="1750" dirty="0">
                <a:solidFill>
                  <a:srgbClr val="383838"/>
                </a:solidFill>
                <a:latin typeface="Patrick Hand" pitchFamily="34" charset="0"/>
                <a:ea typeface="Patrick Hand" pitchFamily="34" charset="-122"/>
                <a:cs typeface="Patrick Hand" pitchFamily="34" charset="-120"/>
              </a:rPr>
              <a:t>Respond Rapidly</a:t>
            </a:r>
            <a:endParaRPr lang="en-US" sz="1750" dirty="0"/>
          </a:p>
        </p:txBody>
      </p:sp>
      <p:sp>
        <p:nvSpPr>
          <p:cNvPr id="15" name="Text 9"/>
          <p:cNvSpPr/>
          <p:nvPr/>
        </p:nvSpPr>
        <p:spPr>
          <a:xfrm>
            <a:off x="9662398" y="4516993"/>
            <a:ext cx="3792022" cy="1047988"/>
          </a:xfrm>
          <a:prstGeom prst="rect">
            <a:avLst/>
          </a:prstGeom>
          <a:noFill/>
          <a:ln/>
        </p:spPr>
        <p:txBody>
          <a:bodyPr wrap="square" lIns="0" tIns="0" rIns="0" bIns="0" rtlCol="0" anchor="t"/>
          <a:lstStyle/>
          <a:p>
            <a:pPr marL="0" indent="0" algn="l">
              <a:lnSpc>
                <a:spcPts val="2750"/>
              </a:lnSpc>
              <a:buNone/>
            </a:pPr>
            <a:r>
              <a:rPr lang="en-US" sz="1750" dirty="0">
                <a:solidFill>
                  <a:srgbClr val="383838"/>
                </a:solidFill>
                <a:latin typeface="Patrick Hand" pitchFamily="34" charset="0"/>
                <a:ea typeface="Patrick Hand" pitchFamily="34" charset="-122"/>
                <a:cs typeface="Patrick Hand" pitchFamily="34" charset="-120"/>
              </a:rPr>
              <a:t>Maintain tested incident response plans, invest in forensic capabilities, and practice breach simulations regularly.</a:t>
            </a:r>
            <a:endParaRPr lang="en-US" sz="1750" dirty="0"/>
          </a:p>
        </p:txBody>
      </p:sp>
      <p:sp>
        <p:nvSpPr>
          <p:cNvPr id="16" name="Text 10"/>
          <p:cNvSpPr/>
          <p:nvPr/>
        </p:nvSpPr>
        <p:spPr>
          <a:xfrm>
            <a:off x="1288733" y="6264950"/>
            <a:ext cx="12391430" cy="1047988"/>
          </a:xfrm>
          <a:prstGeom prst="rect">
            <a:avLst/>
          </a:prstGeom>
          <a:noFill/>
          <a:ln/>
        </p:spPr>
        <p:txBody>
          <a:bodyPr wrap="square" lIns="0" tIns="0" rIns="0" bIns="0" rtlCol="0" anchor="t"/>
          <a:lstStyle/>
          <a:p>
            <a:pPr marL="0" indent="0" algn="l">
              <a:lnSpc>
                <a:spcPts val="2750"/>
              </a:lnSpc>
              <a:buNone/>
            </a:pPr>
            <a:r>
              <a:rPr lang="en-US" sz="1750" b="1" dirty="0">
                <a:solidFill>
                  <a:srgbClr val="383838"/>
                </a:solidFill>
                <a:latin typeface="Patrick Hand" pitchFamily="34" charset="0"/>
                <a:ea typeface="Patrick Hand" pitchFamily="34" charset="-122"/>
                <a:cs typeface="Patrick Hand" pitchFamily="34" charset="-120"/>
              </a:rPr>
              <a:t>Call to Action:</a:t>
            </a:r>
            <a:r>
              <a:rPr lang="en-US" sz="1750" dirty="0">
                <a:solidFill>
                  <a:srgbClr val="383838"/>
                </a:solidFill>
                <a:latin typeface="Patrick Hand" pitchFamily="34" charset="0"/>
                <a:ea typeface="Patrick Hand" pitchFamily="34" charset="-122"/>
                <a:cs typeface="Patrick Hand" pitchFamily="34" charset="-120"/>
              </a:rPr>
              <a:t> Prioritize OWASP Top 10 mitigation in your security strategy today. The cost of prevention is always a fraction of the cost of a breach. Invest in secure development, continuous monitoring, and a culture of security — because protecting data isn't just an IT issue, it's a business imperative.</a:t>
            </a:r>
            <a:endParaRPr lang="en-US" sz="1750" dirty="0"/>
          </a:p>
        </p:txBody>
      </p:sp>
      <p:sp>
        <p:nvSpPr>
          <p:cNvPr id="17" name="Shape 11"/>
          <p:cNvSpPr/>
          <p:nvPr/>
        </p:nvSpPr>
        <p:spPr>
          <a:xfrm>
            <a:off x="950238" y="6027777"/>
            <a:ext cx="30480" cy="1522333"/>
          </a:xfrm>
          <a:prstGeom prst="rect">
            <a:avLst/>
          </a:prstGeom>
          <a:solidFill>
            <a:srgbClr val="CCCCCC"/>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66073" y="1861066"/>
            <a:ext cx="9115068" cy="603766"/>
          </a:xfrm>
          <a:prstGeom prst="rect">
            <a:avLst/>
          </a:prstGeom>
          <a:noFill/>
          <a:ln/>
        </p:spPr>
        <p:txBody>
          <a:bodyPr wrap="none" lIns="0" tIns="0" rIns="0" bIns="0" rtlCol="0" anchor="t"/>
          <a:lstStyle/>
          <a:p>
            <a:pPr marL="0" indent="0" algn="l">
              <a:lnSpc>
                <a:spcPts val="4750"/>
              </a:lnSpc>
              <a:buNone/>
            </a:pPr>
            <a:r>
              <a:rPr lang="en-US" sz="3800" dirty="0">
                <a:solidFill>
                  <a:srgbClr val="383838"/>
                </a:solidFill>
                <a:latin typeface="Patrick Hand" pitchFamily="34" charset="0"/>
                <a:ea typeface="Patrick Hand" pitchFamily="34" charset="-122"/>
                <a:cs typeface="Patrick Hand" pitchFamily="34" charset="-120"/>
              </a:rPr>
              <a:t>A09:2021 – Security Logging and Monitoring Failures</a:t>
            </a:r>
            <a:endParaRPr lang="en-US" sz="3800" dirty="0"/>
          </a:p>
        </p:txBody>
      </p:sp>
      <p:sp>
        <p:nvSpPr>
          <p:cNvPr id="3" name="Text 1"/>
          <p:cNvSpPr/>
          <p:nvPr/>
        </p:nvSpPr>
        <p:spPr>
          <a:xfrm>
            <a:off x="966073" y="2561392"/>
            <a:ext cx="2898458" cy="362188"/>
          </a:xfrm>
          <a:prstGeom prst="rect">
            <a:avLst/>
          </a:prstGeom>
          <a:noFill/>
          <a:ln/>
        </p:spPr>
        <p:txBody>
          <a:bodyPr wrap="none" lIns="0" tIns="0" rIns="0" bIns="0" rtlCol="0" anchor="t"/>
          <a:lstStyle/>
          <a:p>
            <a:pPr marL="0" indent="0" algn="l">
              <a:lnSpc>
                <a:spcPts val="2850"/>
              </a:lnSpc>
              <a:buNone/>
            </a:pPr>
            <a:r>
              <a:rPr lang="en-US" sz="2250" dirty="0">
                <a:solidFill>
                  <a:srgbClr val="383838"/>
                </a:solidFill>
                <a:latin typeface="Patrick Hand" pitchFamily="34" charset="0"/>
                <a:ea typeface="Patrick Hand" pitchFamily="34" charset="-122"/>
                <a:cs typeface="Patrick Hand" pitchFamily="34" charset="-120"/>
              </a:rPr>
              <a:t>What it means?</a:t>
            </a:r>
            <a:endParaRPr lang="en-US" sz="2250" dirty="0"/>
          </a:p>
        </p:txBody>
      </p:sp>
      <p:sp>
        <p:nvSpPr>
          <p:cNvPr id="4" name="Text 2"/>
          <p:cNvSpPr/>
          <p:nvPr/>
        </p:nvSpPr>
        <p:spPr>
          <a:xfrm>
            <a:off x="966073" y="3285887"/>
            <a:ext cx="12698254" cy="772954"/>
          </a:xfrm>
          <a:prstGeom prst="rect">
            <a:avLst/>
          </a:prstGeom>
          <a:noFill/>
          <a:ln/>
        </p:spPr>
        <p:txBody>
          <a:bodyPr wrap="square" lIns="0" tIns="0" rIns="0" bIns="0" rtlCol="0" anchor="t"/>
          <a:lstStyle/>
          <a:p>
            <a:pPr marL="0" indent="0" algn="l">
              <a:lnSpc>
                <a:spcPts val="3000"/>
              </a:lnSpc>
              <a:buNone/>
            </a:pPr>
            <a:r>
              <a:rPr lang="en-US" sz="1900" dirty="0">
                <a:solidFill>
                  <a:srgbClr val="383838"/>
                </a:solidFill>
                <a:latin typeface="Patrick Hand" pitchFamily="34" charset="0"/>
                <a:ea typeface="Patrick Hand" pitchFamily="34" charset="-122"/>
                <a:cs typeface="Patrick Hand" pitchFamily="34" charset="-120"/>
              </a:rPr>
              <a:t>The system does not properly log security events or fails to monitor them. If an attack happens, the organization may not detect it quickly — or at all.</a:t>
            </a:r>
            <a:endParaRPr lang="en-US" sz="1900" dirty="0"/>
          </a:p>
        </p:txBody>
      </p:sp>
      <p:sp>
        <p:nvSpPr>
          <p:cNvPr id="5" name="Text 3"/>
          <p:cNvSpPr/>
          <p:nvPr/>
        </p:nvSpPr>
        <p:spPr>
          <a:xfrm>
            <a:off x="966073" y="4421148"/>
            <a:ext cx="6229350" cy="483037"/>
          </a:xfrm>
          <a:prstGeom prst="rect">
            <a:avLst/>
          </a:prstGeom>
          <a:noFill/>
          <a:ln/>
        </p:spPr>
        <p:txBody>
          <a:bodyPr wrap="none" lIns="0" tIns="0" rIns="0" bIns="0" rtlCol="0" anchor="t"/>
          <a:lstStyle/>
          <a:p>
            <a:pPr marL="0" indent="0" algn="l">
              <a:lnSpc>
                <a:spcPts val="3800"/>
              </a:lnSpc>
              <a:buNone/>
            </a:pPr>
            <a:r>
              <a:rPr lang="en-US" sz="3000" dirty="0">
                <a:solidFill>
                  <a:srgbClr val="383838"/>
                </a:solidFill>
                <a:latin typeface="Patrick Hand" pitchFamily="34" charset="0"/>
                <a:ea typeface="Patrick Hand" pitchFamily="34" charset="-122"/>
                <a:cs typeface="Patrick Hand" pitchFamily="34" charset="-120"/>
              </a:rPr>
              <a:t>Examples of Logging and Monitoring Failures</a:t>
            </a:r>
            <a:endParaRPr lang="en-US" sz="3000" dirty="0"/>
          </a:p>
        </p:txBody>
      </p:sp>
      <p:sp>
        <p:nvSpPr>
          <p:cNvPr id="6" name="Shape 4"/>
          <p:cNvSpPr/>
          <p:nvPr/>
        </p:nvSpPr>
        <p:spPr>
          <a:xfrm>
            <a:off x="966073" y="5266492"/>
            <a:ext cx="2993469" cy="1102043"/>
          </a:xfrm>
          <a:prstGeom prst="roundRect">
            <a:avLst>
              <a:gd name="adj" fmla="val 9205"/>
            </a:avLst>
          </a:prstGeom>
          <a:solidFill>
            <a:srgbClr val="E6E6E6"/>
          </a:solidFill>
          <a:ln w="7620">
            <a:solidFill>
              <a:srgbClr val="CCCCCC"/>
            </a:solidFill>
            <a:prstDash val="solid"/>
          </a:ln>
        </p:spPr>
      </p:sp>
      <p:sp>
        <p:nvSpPr>
          <p:cNvPr id="7" name="Text 5"/>
          <p:cNvSpPr/>
          <p:nvPr/>
        </p:nvSpPr>
        <p:spPr>
          <a:xfrm>
            <a:off x="1215152" y="5515570"/>
            <a:ext cx="2495312" cy="603885"/>
          </a:xfrm>
          <a:prstGeom prst="rect">
            <a:avLst/>
          </a:prstGeom>
          <a:noFill/>
          <a:ln/>
        </p:spPr>
        <p:txBody>
          <a:bodyPr wrap="square" lIns="0" tIns="0" rIns="0" bIns="0" rtlCol="0" anchor="t"/>
          <a:lstStyle/>
          <a:p>
            <a:pPr marL="0" indent="0" algn="l">
              <a:lnSpc>
                <a:spcPts val="2350"/>
              </a:lnSpc>
              <a:buNone/>
            </a:pPr>
            <a:r>
              <a:rPr lang="en-US" sz="1900" dirty="0">
                <a:solidFill>
                  <a:srgbClr val="383838"/>
                </a:solidFill>
                <a:latin typeface="Patrick Hand" pitchFamily="34" charset="0"/>
                <a:ea typeface="Patrick Hand" pitchFamily="34" charset="-122"/>
                <a:cs typeface="Patrick Hand" pitchFamily="34" charset="-120"/>
              </a:rPr>
              <a:t>No logging of failed login attempts</a:t>
            </a:r>
            <a:endParaRPr lang="en-US" sz="1900" dirty="0"/>
          </a:p>
        </p:txBody>
      </p:sp>
      <p:sp>
        <p:nvSpPr>
          <p:cNvPr id="8" name="Shape 6"/>
          <p:cNvSpPr/>
          <p:nvPr/>
        </p:nvSpPr>
        <p:spPr>
          <a:xfrm>
            <a:off x="4201001" y="5266492"/>
            <a:ext cx="2993469" cy="1102043"/>
          </a:xfrm>
          <a:prstGeom prst="roundRect">
            <a:avLst>
              <a:gd name="adj" fmla="val 9205"/>
            </a:avLst>
          </a:prstGeom>
          <a:solidFill>
            <a:srgbClr val="E6E6E6"/>
          </a:solidFill>
          <a:ln w="7620">
            <a:solidFill>
              <a:srgbClr val="CCCCCC"/>
            </a:solidFill>
            <a:prstDash val="solid"/>
          </a:ln>
        </p:spPr>
      </p:sp>
      <p:sp>
        <p:nvSpPr>
          <p:cNvPr id="9" name="Text 7"/>
          <p:cNvSpPr/>
          <p:nvPr/>
        </p:nvSpPr>
        <p:spPr>
          <a:xfrm>
            <a:off x="4450080" y="5515570"/>
            <a:ext cx="2495312" cy="603885"/>
          </a:xfrm>
          <a:prstGeom prst="rect">
            <a:avLst/>
          </a:prstGeom>
          <a:noFill/>
          <a:ln/>
        </p:spPr>
        <p:txBody>
          <a:bodyPr wrap="square" lIns="0" tIns="0" rIns="0" bIns="0" rtlCol="0" anchor="t"/>
          <a:lstStyle/>
          <a:p>
            <a:pPr marL="0" indent="0" algn="l">
              <a:lnSpc>
                <a:spcPts val="2350"/>
              </a:lnSpc>
              <a:buNone/>
            </a:pPr>
            <a:r>
              <a:rPr lang="en-US" sz="1900" dirty="0">
                <a:solidFill>
                  <a:srgbClr val="383838"/>
                </a:solidFill>
                <a:latin typeface="Patrick Hand" pitchFamily="34" charset="0"/>
                <a:ea typeface="Patrick Hand" pitchFamily="34" charset="-122"/>
                <a:cs typeface="Patrick Hand" pitchFamily="34" charset="-120"/>
              </a:rPr>
              <a:t>No alerts for suspicious activity</a:t>
            </a:r>
            <a:endParaRPr lang="en-US" sz="1900" dirty="0"/>
          </a:p>
        </p:txBody>
      </p:sp>
      <p:sp>
        <p:nvSpPr>
          <p:cNvPr id="10" name="Shape 8"/>
          <p:cNvSpPr/>
          <p:nvPr/>
        </p:nvSpPr>
        <p:spPr>
          <a:xfrm>
            <a:off x="7435929" y="5266492"/>
            <a:ext cx="2993469" cy="1102043"/>
          </a:xfrm>
          <a:prstGeom prst="roundRect">
            <a:avLst>
              <a:gd name="adj" fmla="val 9205"/>
            </a:avLst>
          </a:prstGeom>
          <a:solidFill>
            <a:srgbClr val="E6E6E6"/>
          </a:solidFill>
          <a:ln w="7620">
            <a:solidFill>
              <a:srgbClr val="CCCCCC"/>
            </a:solidFill>
            <a:prstDash val="solid"/>
          </a:ln>
        </p:spPr>
      </p:sp>
      <p:sp>
        <p:nvSpPr>
          <p:cNvPr id="11" name="Text 9"/>
          <p:cNvSpPr/>
          <p:nvPr/>
        </p:nvSpPr>
        <p:spPr>
          <a:xfrm>
            <a:off x="7685008" y="5515570"/>
            <a:ext cx="2495312" cy="603885"/>
          </a:xfrm>
          <a:prstGeom prst="rect">
            <a:avLst/>
          </a:prstGeom>
          <a:noFill/>
          <a:ln/>
        </p:spPr>
        <p:txBody>
          <a:bodyPr wrap="square" lIns="0" tIns="0" rIns="0" bIns="0" rtlCol="0" anchor="t"/>
          <a:lstStyle/>
          <a:p>
            <a:pPr marL="0" indent="0" algn="l">
              <a:lnSpc>
                <a:spcPts val="2350"/>
              </a:lnSpc>
              <a:buNone/>
            </a:pPr>
            <a:r>
              <a:rPr lang="en-US" sz="1900" dirty="0">
                <a:solidFill>
                  <a:srgbClr val="383838"/>
                </a:solidFill>
                <a:latin typeface="Patrick Hand" pitchFamily="34" charset="0"/>
                <a:ea typeface="Patrick Hand" pitchFamily="34" charset="-122"/>
                <a:cs typeface="Patrick Hand" pitchFamily="34" charset="-120"/>
              </a:rPr>
              <a:t>Logs exist but are never reviewed</a:t>
            </a:r>
            <a:endParaRPr lang="en-US" sz="1900" dirty="0"/>
          </a:p>
        </p:txBody>
      </p:sp>
      <p:sp>
        <p:nvSpPr>
          <p:cNvPr id="12" name="Shape 10"/>
          <p:cNvSpPr/>
          <p:nvPr/>
        </p:nvSpPr>
        <p:spPr>
          <a:xfrm>
            <a:off x="10670858" y="5266492"/>
            <a:ext cx="2993469" cy="1102043"/>
          </a:xfrm>
          <a:prstGeom prst="roundRect">
            <a:avLst>
              <a:gd name="adj" fmla="val 9205"/>
            </a:avLst>
          </a:prstGeom>
          <a:solidFill>
            <a:srgbClr val="E6E6E6"/>
          </a:solidFill>
          <a:ln w="7620">
            <a:solidFill>
              <a:srgbClr val="CCCCCC"/>
            </a:solidFill>
            <a:prstDash val="solid"/>
          </a:ln>
        </p:spPr>
      </p:sp>
      <p:sp>
        <p:nvSpPr>
          <p:cNvPr id="13" name="Text 11"/>
          <p:cNvSpPr/>
          <p:nvPr/>
        </p:nvSpPr>
        <p:spPr>
          <a:xfrm>
            <a:off x="10919936" y="5515570"/>
            <a:ext cx="2495312" cy="603885"/>
          </a:xfrm>
          <a:prstGeom prst="rect">
            <a:avLst/>
          </a:prstGeom>
          <a:noFill/>
          <a:ln/>
        </p:spPr>
        <p:txBody>
          <a:bodyPr wrap="square" lIns="0" tIns="0" rIns="0" bIns="0" rtlCol="0" anchor="t"/>
          <a:lstStyle/>
          <a:p>
            <a:pPr marL="0" indent="0" algn="l">
              <a:lnSpc>
                <a:spcPts val="2350"/>
              </a:lnSpc>
              <a:buNone/>
            </a:pPr>
            <a:r>
              <a:rPr lang="en-US" sz="1900" dirty="0">
                <a:solidFill>
                  <a:srgbClr val="383838"/>
                </a:solidFill>
                <a:latin typeface="Patrick Hand" pitchFamily="34" charset="0"/>
                <a:ea typeface="Patrick Hand" pitchFamily="34" charset="-122"/>
                <a:cs typeface="Patrick Hand" pitchFamily="34" charset="-120"/>
              </a:rPr>
              <a:t>Logs can be deleted or modified by attackers</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66073" y="922973"/>
            <a:ext cx="1883926" cy="235387"/>
          </a:xfrm>
          <a:prstGeom prst="rect">
            <a:avLst/>
          </a:prstGeom>
          <a:noFill/>
          <a:ln/>
        </p:spPr>
        <p:txBody>
          <a:bodyPr wrap="none" lIns="0" tIns="0" rIns="0" bIns="0" rtlCol="0" anchor="t"/>
          <a:lstStyle/>
          <a:p>
            <a:pPr marL="0" indent="0" algn="l">
              <a:lnSpc>
                <a:spcPts val="1850"/>
              </a:lnSpc>
              <a:buNone/>
            </a:pPr>
            <a:r>
              <a:rPr lang="en-US" sz="1450" dirty="0">
                <a:solidFill>
                  <a:srgbClr val="383838"/>
                </a:solidFill>
                <a:latin typeface="Patrick Hand" pitchFamily="34" charset="0"/>
                <a:ea typeface="Patrick Hand" pitchFamily="34" charset="-122"/>
                <a:cs typeface="Patrick Hand" pitchFamily="34" charset="-120"/>
              </a:rPr>
              <a:t>Realtime Incident:</a:t>
            </a:r>
            <a:endParaRPr lang="en-US" sz="1450" dirty="0"/>
          </a:p>
        </p:txBody>
      </p:sp>
      <p:sp>
        <p:nvSpPr>
          <p:cNvPr id="3" name="Text 1"/>
          <p:cNvSpPr/>
          <p:nvPr/>
        </p:nvSpPr>
        <p:spPr>
          <a:xfrm>
            <a:off x="966073" y="1311354"/>
            <a:ext cx="12698254" cy="258961"/>
          </a:xfrm>
          <a:prstGeom prst="rect">
            <a:avLst/>
          </a:prstGeom>
          <a:noFill/>
          <a:ln/>
        </p:spPr>
        <p:txBody>
          <a:bodyPr wrap="none" lIns="0" tIns="0" rIns="0" bIns="0" rtlCol="0" anchor="t"/>
          <a:lstStyle/>
          <a:p>
            <a:pPr marL="0" indent="0" algn="l">
              <a:lnSpc>
                <a:spcPts val="2000"/>
              </a:lnSpc>
              <a:buNone/>
            </a:pPr>
            <a:r>
              <a:rPr lang="en-US" sz="1500" dirty="0">
                <a:solidFill>
                  <a:srgbClr val="383838"/>
                </a:solidFill>
                <a:latin typeface="Patrick Hand" pitchFamily="34" charset="0"/>
                <a:ea typeface="Patrick Hand" pitchFamily="34" charset="-122"/>
                <a:cs typeface="Patrick Hand" pitchFamily="34" charset="-120"/>
              </a:rPr>
              <a:t>In the </a:t>
            </a:r>
            <a:r>
              <a:rPr lang="en-US" sz="1500" dirty="0">
                <a:solidFill>
                  <a:srgbClr val="CCCCCC"/>
                </a:solidFill>
                <a:latin typeface="Patrick Hand" pitchFamily="34" charset="0"/>
                <a:ea typeface="Patrick Hand" pitchFamily="34" charset="-122"/>
                <a:cs typeface="Patrick Hand" pitchFamily="34" charset="-120"/>
              </a:rPr>
              <a:t>Equifax (2017 data breach)</a:t>
            </a:r>
            <a:r>
              <a:rPr lang="en-US" sz="1500" dirty="0">
                <a:solidFill>
                  <a:srgbClr val="383838"/>
                </a:solidFill>
                <a:latin typeface="Patrick Hand" pitchFamily="34" charset="0"/>
                <a:ea typeface="Patrick Hand" pitchFamily="34" charset="-122"/>
                <a:cs typeface="Patrick Hand" pitchFamily="34" charset="-120"/>
              </a:rPr>
              <a:t>, attackers accessed systems for weeks before being detected. Monitoring systems failed to properly identify suspicious activity.</a:t>
            </a:r>
            <a:endParaRPr lang="en-US" sz="1500" dirty="0"/>
          </a:p>
        </p:txBody>
      </p:sp>
      <p:sp>
        <p:nvSpPr>
          <p:cNvPr id="4" name="Text 2"/>
          <p:cNvSpPr/>
          <p:nvPr/>
        </p:nvSpPr>
        <p:spPr>
          <a:xfrm>
            <a:off x="966073" y="1723311"/>
            <a:ext cx="2511981" cy="313968"/>
          </a:xfrm>
          <a:prstGeom prst="rect">
            <a:avLst/>
          </a:prstGeom>
          <a:noFill/>
          <a:ln/>
        </p:spPr>
        <p:txBody>
          <a:bodyPr wrap="none" lIns="0" tIns="0" rIns="0" bIns="0" rtlCol="0" anchor="t"/>
          <a:lstStyle/>
          <a:p>
            <a:pPr marL="0" indent="0" algn="l">
              <a:lnSpc>
                <a:spcPts val="2450"/>
              </a:lnSpc>
              <a:buNone/>
            </a:pPr>
            <a:r>
              <a:rPr lang="en-US" sz="1950" dirty="0">
                <a:solidFill>
                  <a:srgbClr val="383838"/>
                </a:solidFill>
                <a:latin typeface="Patrick Hand" pitchFamily="34" charset="0"/>
                <a:ea typeface="Patrick Hand" pitchFamily="34" charset="-122"/>
                <a:cs typeface="Patrick Hand" pitchFamily="34" charset="-120"/>
              </a:rPr>
              <a:t>Impact:</a:t>
            </a:r>
            <a:endParaRPr lang="en-US" sz="1950" dirty="0"/>
          </a:p>
        </p:txBody>
      </p:sp>
      <p:sp>
        <p:nvSpPr>
          <p:cNvPr id="5" name="Shape 3"/>
          <p:cNvSpPr/>
          <p:nvPr/>
        </p:nvSpPr>
        <p:spPr>
          <a:xfrm>
            <a:off x="966073" y="2190274"/>
            <a:ext cx="6298049" cy="555784"/>
          </a:xfrm>
          <a:prstGeom prst="roundRect">
            <a:avLst>
              <a:gd name="adj" fmla="val 11864"/>
            </a:avLst>
          </a:prstGeom>
          <a:solidFill>
            <a:srgbClr val="F7F7F7"/>
          </a:solidFill>
          <a:ln w="22860">
            <a:solidFill>
              <a:srgbClr val="CCCCCC"/>
            </a:solidFill>
            <a:prstDash val="solid"/>
          </a:ln>
        </p:spPr>
      </p:sp>
      <p:sp>
        <p:nvSpPr>
          <p:cNvPr id="6" name="Text 4"/>
          <p:cNvSpPr/>
          <p:nvPr/>
        </p:nvSpPr>
        <p:spPr>
          <a:xfrm>
            <a:off x="1145858" y="2370058"/>
            <a:ext cx="1599843" cy="196215"/>
          </a:xfrm>
          <a:prstGeom prst="rect">
            <a:avLst/>
          </a:prstGeom>
          <a:noFill/>
          <a:ln/>
        </p:spPr>
        <p:txBody>
          <a:bodyPr wrap="none" lIns="0" tIns="0" rIns="0" bIns="0" rtlCol="0" anchor="t"/>
          <a:lstStyle/>
          <a:p>
            <a:pPr marL="0" indent="0" algn="l">
              <a:lnSpc>
                <a:spcPts val="1500"/>
              </a:lnSpc>
              <a:buNone/>
            </a:pPr>
            <a:r>
              <a:rPr lang="en-US" sz="1200" dirty="0">
                <a:solidFill>
                  <a:srgbClr val="383838"/>
                </a:solidFill>
                <a:latin typeface="Patrick Hand" pitchFamily="34" charset="0"/>
                <a:ea typeface="Patrick Hand" pitchFamily="34" charset="-122"/>
                <a:cs typeface="Patrick Hand" pitchFamily="34" charset="-120"/>
              </a:rPr>
              <a:t>Delayed detection of attacks</a:t>
            </a:r>
            <a:endParaRPr lang="en-US" sz="1200" dirty="0"/>
          </a:p>
        </p:txBody>
      </p:sp>
      <p:sp>
        <p:nvSpPr>
          <p:cNvPr id="7" name="Shape 5"/>
          <p:cNvSpPr/>
          <p:nvPr/>
        </p:nvSpPr>
        <p:spPr>
          <a:xfrm>
            <a:off x="7366159" y="2190274"/>
            <a:ext cx="6298168" cy="555784"/>
          </a:xfrm>
          <a:prstGeom prst="roundRect">
            <a:avLst>
              <a:gd name="adj" fmla="val 11864"/>
            </a:avLst>
          </a:prstGeom>
          <a:solidFill>
            <a:srgbClr val="F7F7F7"/>
          </a:solidFill>
          <a:ln w="22860">
            <a:solidFill>
              <a:srgbClr val="CCCCCC"/>
            </a:solidFill>
            <a:prstDash val="solid"/>
          </a:ln>
        </p:spPr>
      </p:sp>
      <p:sp>
        <p:nvSpPr>
          <p:cNvPr id="8" name="Text 6"/>
          <p:cNvSpPr/>
          <p:nvPr/>
        </p:nvSpPr>
        <p:spPr>
          <a:xfrm>
            <a:off x="7545943" y="2370058"/>
            <a:ext cx="1775698" cy="196215"/>
          </a:xfrm>
          <a:prstGeom prst="rect">
            <a:avLst/>
          </a:prstGeom>
          <a:noFill/>
          <a:ln/>
        </p:spPr>
        <p:txBody>
          <a:bodyPr wrap="none" lIns="0" tIns="0" rIns="0" bIns="0" rtlCol="0" anchor="t"/>
          <a:lstStyle/>
          <a:p>
            <a:pPr marL="0" indent="0" algn="l">
              <a:lnSpc>
                <a:spcPts val="1500"/>
              </a:lnSpc>
              <a:buNone/>
            </a:pPr>
            <a:r>
              <a:rPr lang="en-US" sz="1200" dirty="0">
                <a:solidFill>
                  <a:srgbClr val="383838"/>
                </a:solidFill>
                <a:latin typeface="Patrick Hand" pitchFamily="34" charset="0"/>
                <a:ea typeface="Patrick Hand" pitchFamily="34" charset="-122"/>
                <a:cs typeface="Patrick Hand" pitchFamily="34" charset="-120"/>
              </a:rPr>
              <a:t>Long-term unauthorized access</a:t>
            </a:r>
            <a:endParaRPr lang="en-US" sz="1200" dirty="0"/>
          </a:p>
        </p:txBody>
      </p:sp>
      <p:sp>
        <p:nvSpPr>
          <p:cNvPr id="9" name="Shape 7"/>
          <p:cNvSpPr/>
          <p:nvPr/>
        </p:nvSpPr>
        <p:spPr>
          <a:xfrm>
            <a:off x="966073" y="2848094"/>
            <a:ext cx="6298049" cy="555784"/>
          </a:xfrm>
          <a:prstGeom prst="roundRect">
            <a:avLst>
              <a:gd name="adj" fmla="val 11864"/>
            </a:avLst>
          </a:prstGeom>
          <a:solidFill>
            <a:srgbClr val="F7F7F7"/>
          </a:solidFill>
          <a:ln w="22860">
            <a:solidFill>
              <a:srgbClr val="CCCCCC"/>
            </a:solidFill>
            <a:prstDash val="solid"/>
          </a:ln>
        </p:spPr>
      </p:sp>
      <p:sp>
        <p:nvSpPr>
          <p:cNvPr id="10" name="Text 8"/>
          <p:cNvSpPr/>
          <p:nvPr/>
        </p:nvSpPr>
        <p:spPr>
          <a:xfrm>
            <a:off x="1145858" y="3027878"/>
            <a:ext cx="1569958" cy="196215"/>
          </a:xfrm>
          <a:prstGeom prst="rect">
            <a:avLst/>
          </a:prstGeom>
          <a:noFill/>
          <a:ln/>
        </p:spPr>
        <p:txBody>
          <a:bodyPr wrap="none" lIns="0" tIns="0" rIns="0" bIns="0" rtlCol="0" anchor="t"/>
          <a:lstStyle/>
          <a:p>
            <a:pPr marL="0" indent="0" algn="l">
              <a:lnSpc>
                <a:spcPts val="1500"/>
              </a:lnSpc>
              <a:buNone/>
            </a:pPr>
            <a:r>
              <a:rPr lang="en-US" sz="1200" dirty="0">
                <a:solidFill>
                  <a:srgbClr val="383838"/>
                </a:solidFill>
                <a:latin typeface="Patrick Hand" pitchFamily="34" charset="0"/>
                <a:ea typeface="Patrick Hand" pitchFamily="34" charset="-122"/>
                <a:cs typeface="Patrick Hand" pitchFamily="34" charset="-120"/>
              </a:rPr>
              <a:t>Larger data breaches</a:t>
            </a:r>
            <a:endParaRPr lang="en-US" sz="1200" dirty="0"/>
          </a:p>
        </p:txBody>
      </p:sp>
      <p:sp>
        <p:nvSpPr>
          <p:cNvPr id="11" name="Shape 9"/>
          <p:cNvSpPr/>
          <p:nvPr/>
        </p:nvSpPr>
        <p:spPr>
          <a:xfrm>
            <a:off x="7366159" y="2848094"/>
            <a:ext cx="6298168" cy="555784"/>
          </a:xfrm>
          <a:prstGeom prst="roundRect">
            <a:avLst>
              <a:gd name="adj" fmla="val 11864"/>
            </a:avLst>
          </a:prstGeom>
          <a:solidFill>
            <a:srgbClr val="F7F7F7"/>
          </a:solidFill>
          <a:ln w="22860">
            <a:solidFill>
              <a:srgbClr val="CCCCCC"/>
            </a:solidFill>
            <a:prstDash val="solid"/>
          </a:ln>
        </p:spPr>
      </p:sp>
      <p:sp>
        <p:nvSpPr>
          <p:cNvPr id="12" name="Text 10"/>
          <p:cNvSpPr/>
          <p:nvPr/>
        </p:nvSpPr>
        <p:spPr>
          <a:xfrm>
            <a:off x="7545943" y="3027878"/>
            <a:ext cx="1569958" cy="196215"/>
          </a:xfrm>
          <a:prstGeom prst="rect">
            <a:avLst/>
          </a:prstGeom>
          <a:noFill/>
          <a:ln/>
        </p:spPr>
        <p:txBody>
          <a:bodyPr wrap="none" lIns="0" tIns="0" rIns="0" bIns="0" rtlCol="0" anchor="t"/>
          <a:lstStyle/>
          <a:p>
            <a:pPr marL="0" indent="0" algn="l">
              <a:lnSpc>
                <a:spcPts val="1500"/>
              </a:lnSpc>
              <a:buNone/>
            </a:pPr>
            <a:r>
              <a:rPr lang="en-US" sz="1200" dirty="0">
                <a:solidFill>
                  <a:srgbClr val="383838"/>
                </a:solidFill>
                <a:latin typeface="Patrick Hand" pitchFamily="34" charset="0"/>
                <a:ea typeface="Patrick Hand" pitchFamily="34" charset="-122"/>
                <a:cs typeface="Patrick Hand" pitchFamily="34" charset="-120"/>
              </a:rPr>
              <a:t>Regulatory penalties</a:t>
            </a:r>
            <a:endParaRPr lang="en-US" sz="1200" dirty="0"/>
          </a:p>
        </p:txBody>
      </p:sp>
      <p:sp>
        <p:nvSpPr>
          <p:cNvPr id="13" name="Text 11"/>
          <p:cNvSpPr/>
          <p:nvPr/>
        </p:nvSpPr>
        <p:spPr>
          <a:xfrm>
            <a:off x="966073" y="3556873"/>
            <a:ext cx="2511981" cy="313968"/>
          </a:xfrm>
          <a:prstGeom prst="rect">
            <a:avLst/>
          </a:prstGeom>
          <a:noFill/>
          <a:ln/>
        </p:spPr>
        <p:txBody>
          <a:bodyPr wrap="none" lIns="0" tIns="0" rIns="0" bIns="0" rtlCol="0" anchor="t"/>
          <a:lstStyle/>
          <a:p>
            <a:pPr marL="0" indent="0" algn="l">
              <a:lnSpc>
                <a:spcPts val="2450"/>
              </a:lnSpc>
              <a:buNone/>
            </a:pPr>
            <a:r>
              <a:rPr lang="en-US" sz="1950" dirty="0">
                <a:solidFill>
                  <a:srgbClr val="383838"/>
                </a:solidFill>
                <a:latin typeface="Patrick Hand" pitchFamily="34" charset="0"/>
                <a:ea typeface="Patrick Hand" pitchFamily="34" charset="-122"/>
                <a:cs typeface="Patrick Hand" pitchFamily="34" charset="-120"/>
              </a:rPr>
              <a:t>Financial Loss:</a:t>
            </a:r>
            <a:endParaRPr lang="en-US" sz="1950" dirty="0"/>
          </a:p>
        </p:txBody>
      </p:sp>
      <p:sp>
        <p:nvSpPr>
          <p:cNvPr id="14" name="Text 12"/>
          <p:cNvSpPr/>
          <p:nvPr/>
        </p:nvSpPr>
        <p:spPr>
          <a:xfrm>
            <a:off x="966073" y="4023836"/>
            <a:ext cx="6279952" cy="784979"/>
          </a:xfrm>
          <a:prstGeom prst="rect">
            <a:avLst/>
          </a:prstGeom>
          <a:noFill/>
          <a:ln/>
        </p:spPr>
        <p:txBody>
          <a:bodyPr wrap="none" lIns="0" tIns="0" rIns="0" bIns="0" rtlCol="0" anchor="t"/>
          <a:lstStyle/>
          <a:p>
            <a:pPr marL="0" indent="0" algn="l">
              <a:lnSpc>
                <a:spcPts val="6150"/>
              </a:lnSpc>
              <a:buNone/>
            </a:pPr>
            <a:r>
              <a:rPr lang="en-US" sz="4900" dirty="0">
                <a:solidFill>
                  <a:srgbClr val="CCCCCC"/>
                </a:solidFill>
                <a:latin typeface="Patrick Hand" pitchFamily="34" charset="0"/>
                <a:ea typeface="Patrick Hand" pitchFamily="34" charset="-122"/>
                <a:cs typeface="Patrick Hand" pitchFamily="34" charset="-120"/>
              </a:rPr>
              <a:t>$700+ million</a:t>
            </a:r>
            <a:endParaRPr lang="en-US" sz="4900" dirty="0"/>
          </a:p>
        </p:txBody>
      </p:sp>
      <p:sp>
        <p:nvSpPr>
          <p:cNvPr id="15" name="Text 13"/>
          <p:cNvSpPr/>
          <p:nvPr/>
        </p:nvSpPr>
        <p:spPr>
          <a:xfrm>
            <a:off x="966073" y="4961811"/>
            <a:ext cx="12698254" cy="258961"/>
          </a:xfrm>
          <a:prstGeom prst="rect">
            <a:avLst/>
          </a:prstGeom>
          <a:noFill/>
          <a:ln/>
        </p:spPr>
        <p:txBody>
          <a:bodyPr wrap="none" lIns="0" tIns="0" rIns="0" bIns="0" rtlCol="0" anchor="t"/>
          <a:lstStyle/>
          <a:p>
            <a:pPr marL="0" indent="0" algn="l">
              <a:lnSpc>
                <a:spcPts val="2000"/>
              </a:lnSpc>
              <a:buNone/>
            </a:pPr>
            <a:r>
              <a:rPr lang="en-US" sz="1500" dirty="0">
                <a:solidFill>
                  <a:srgbClr val="383838"/>
                </a:solidFill>
                <a:latin typeface="Patrick Hand" pitchFamily="34" charset="0"/>
                <a:ea typeface="Patrick Hand" pitchFamily="34" charset="-122"/>
                <a:cs typeface="Patrick Hand" pitchFamily="34" charset="-120"/>
              </a:rPr>
              <a:t>The Equifax breach cost approximately </a:t>
            </a:r>
            <a:r>
              <a:rPr lang="en-US" sz="1500" b="1" dirty="0">
                <a:solidFill>
                  <a:srgbClr val="383838"/>
                </a:solidFill>
                <a:latin typeface="Patrick Hand" pitchFamily="34" charset="0"/>
                <a:ea typeface="Patrick Hand" pitchFamily="34" charset="-122"/>
                <a:cs typeface="Patrick Hand" pitchFamily="34" charset="-120"/>
              </a:rPr>
              <a:t>$700+ million</a:t>
            </a:r>
            <a:r>
              <a:rPr lang="en-US" sz="1500" dirty="0">
                <a:solidFill>
                  <a:srgbClr val="383838"/>
                </a:solidFill>
                <a:latin typeface="Patrick Hand" pitchFamily="34" charset="0"/>
                <a:ea typeface="Patrick Hand" pitchFamily="34" charset="-122"/>
                <a:cs typeface="Patrick Hand" pitchFamily="34" charset="-120"/>
              </a:rPr>
              <a:t> in settlements, fines, and remediation.</a:t>
            </a:r>
            <a:endParaRPr lang="en-US" sz="1500" dirty="0"/>
          </a:p>
        </p:txBody>
      </p:sp>
      <p:sp>
        <p:nvSpPr>
          <p:cNvPr id="16" name="Text 14"/>
          <p:cNvSpPr/>
          <p:nvPr/>
        </p:nvSpPr>
        <p:spPr>
          <a:xfrm>
            <a:off x="966073" y="5373767"/>
            <a:ext cx="2511981" cy="313968"/>
          </a:xfrm>
          <a:prstGeom prst="rect">
            <a:avLst/>
          </a:prstGeom>
          <a:noFill/>
          <a:ln/>
        </p:spPr>
        <p:txBody>
          <a:bodyPr wrap="none" lIns="0" tIns="0" rIns="0" bIns="0" rtlCol="0" anchor="t"/>
          <a:lstStyle/>
          <a:p>
            <a:pPr marL="0" indent="0" algn="l">
              <a:lnSpc>
                <a:spcPts val="2450"/>
              </a:lnSpc>
              <a:buNone/>
            </a:pPr>
            <a:r>
              <a:rPr lang="en-US" sz="1950" dirty="0">
                <a:solidFill>
                  <a:srgbClr val="383838"/>
                </a:solidFill>
                <a:latin typeface="Patrick Hand" pitchFamily="34" charset="0"/>
                <a:ea typeface="Patrick Hand" pitchFamily="34" charset="-122"/>
                <a:cs typeface="Patrick Hand" pitchFamily="34" charset="-120"/>
              </a:rPr>
              <a:t>Lesson:</a:t>
            </a:r>
            <a:endParaRPr lang="en-US" sz="1950" dirty="0"/>
          </a:p>
        </p:txBody>
      </p:sp>
      <p:sp>
        <p:nvSpPr>
          <p:cNvPr id="17" name="Text 15"/>
          <p:cNvSpPr/>
          <p:nvPr/>
        </p:nvSpPr>
        <p:spPr>
          <a:xfrm>
            <a:off x="966073" y="5840730"/>
            <a:ext cx="156924" cy="196215"/>
          </a:xfrm>
          <a:prstGeom prst="rect">
            <a:avLst/>
          </a:prstGeom>
          <a:noFill/>
          <a:ln/>
        </p:spPr>
        <p:txBody>
          <a:bodyPr wrap="none" lIns="0" tIns="0" rIns="0" bIns="0" rtlCol="0" anchor="t"/>
          <a:lstStyle/>
          <a:p>
            <a:pPr marL="0" indent="0" algn="l">
              <a:lnSpc>
                <a:spcPts val="1600"/>
              </a:lnSpc>
              <a:buNone/>
            </a:pPr>
            <a:r>
              <a:rPr lang="en-US" sz="1200" dirty="0">
                <a:solidFill>
                  <a:srgbClr val="383838"/>
                </a:solidFill>
                <a:latin typeface="Patrick Hand Light" pitchFamily="34" charset="0"/>
                <a:ea typeface="Patrick Hand Light" pitchFamily="34" charset="-122"/>
                <a:cs typeface="Patrick Hand Light" pitchFamily="34" charset="-120"/>
              </a:rPr>
              <a:t>01</a:t>
            </a:r>
            <a:endParaRPr lang="en-US" sz="1200" dirty="0"/>
          </a:p>
        </p:txBody>
      </p:sp>
      <p:sp>
        <p:nvSpPr>
          <p:cNvPr id="18" name="Shape 16"/>
          <p:cNvSpPr/>
          <p:nvPr/>
        </p:nvSpPr>
        <p:spPr>
          <a:xfrm>
            <a:off x="966073" y="6084570"/>
            <a:ext cx="4164687" cy="22860"/>
          </a:xfrm>
          <a:prstGeom prst="rect">
            <a:avLst/>
          </a:prstGeom>
          <a:solidFill>
            <a:srgbClr val="CCCCCC"/>
          </a:solidFill>
          <a:ln/>
        </p:spPr>
      </p:sp>
      <p:sp>
        <p:nvSpPr>
          <p:cNvPr id="19" name="Text 17"/>
          <p:cNvSpPr/>
          <p:nvPr/>
        </p:nvSpPr>
        <p:spPr>
          <a:xfrm>
            <a:off x="966073" y="6208752"/>
            <a:ext cx="1889403" cy="196215"/>
          </a:xfrm>
          <a:prstGeom prst="rect">
            <a:avLst/>
          </a:prstGeom>
          <a:noFill/>
          <a:ln/>
        </p:spPr>
        <p:txBody>
          <a:bodyPr wrap="none" lIns="0" tIns="0" rIns="0" bIns="0" rtlCol="0" anchor="t"/>
          <a:lstStyle/>
          <a:p>
            <a:pPr marL="0" indent="0" algn="l">
              <a:lnSpc>
                <a:spcPts val="1500"/>
              </a:lnSpc>
              <a:buNone/>
            </a:pPr>
            <a:r>
              <a:rPr lang="en-US" sz="1200" dirty="0">
                <a:solidFill>
                  <a:srgbClr val="383838"/>
                </a:solidFill>
                <a:latin typeface="Patrick Hand" pitchFamily="34" charset="0"/>
                <a:ea typeface="Patrick Hand" pitchFamily="34" charset="-122"/>
                <a:cs typeface="Patrick Hand" pitchFamily="34" charset="-120"/>
              </a:rPr>
              <a:t>Log all important security events</a:t>
            </a:r>
            <a:endParaRPr lang="en-US" sz="1200" dirty="0"/>
          </a:p>
        </p:txBody>
      </p:sp>
      <p:sp>
        <p:nvSpPr>
          <p:cNvPr id="20" name="Text 18"/>
          <p:cNvSpPr/>
          <p:nvPr/>
        </p:nvSpPr>
        <p:spPr>
          <a:xfrm>
            <a:off x="5232797" y="5840730"/>
            <a:ext cx="156924" cy="196215"/>
          </a:xfrm>
          <a:prstGeom prst="rect">
            <a:avLst/>
          </a:prstGeom>
          <a:noFill/>
          <a:ln/>
        </p:spPr>
        <p:txBody>
          <a:bodyPr wrap="none" lIns="0" tIns="0" rIns="0" bIns="0" rtlCol="0" anchor="t"/>
          <a:lstStyle/>
          <a:p>
            <a:pPr marL="0" indent="0" algn="l">
              <a:lnSpc>
                <a:spcPts val="1600"/>
              </a:lnSpc>
              <a:buNone/>
            </a:pPr>
            <a:r>
              <a:rPr lang="en-US" sz="1200" dirty="0">
                <a:solidFill>
                  <a:srgbClr val="383838"/>
                </a:solidFill>
                <a:latin typeface="Patrick Hand Light" pitchFamily="34" charset="0"/>
                <a:ea typeface="Patrick Hand Light" pitchFamily="34" charset="-122"/>
                <a:cs typeface="Patrick Hand Light" pitchFamily="34" charset="-120"/>
              </a:rPr>
              <a:t>02</a:t>
            </a:r>
            <a:endParaRPr lang="en-US" sz="1200" dirty="0"/>
          </a:p>
        </p:txBody>
      </p:sp>
      <p:sp>
        <p:nvSpPr>
          <p:cNvPr id="21" name="Shape 19"/>
          <p:cNvSpPr/>
          <p:nvPr/>
        </p:nvSpPr>
        <p:spPr>
          <a:xfrm>
            <a:off x="5232797" y="6084570"/>
            <a:ext cx="4164687" cy="22860"/>
          </a:xfrm>
          <a:prstGeom prst="rect">
            <a:avLst/>
          </a:prstGeom>
          <a:solidFill>
            <a:srgbClr val="CCCCCC"/>
          </a:solidFill>
          <a:ln/>
        </p:spPr>
      </p:sp>
      <p:sp>
        <p:nvSpPr>
          <p:cNvPr id="22" name="Text 20"/>
          <p:cNvSpPr/>
          <p:nvPr/>
        </p:nvSpPr>
        <p:spPr>
          <a:xfrm>
            <a:off x="5232797" y="6208752"/>
            <a:ext cx="1569958" cy="196215"/>
          </a:xfrm>
          <a:prstGeom prst="rect">
            <a:avLst/>
          </a:prstGeom>
          <a:noFill/>
          <a:ln/>
        </p:spPr>
        <p:txBody>
          <a:bodyPr wrap="none" lIns="0" tIns="0" rIns="0" bIns="0" rtlCol="0" anchor="t"/>
          <a:lstStyle/>
          <a:p>
            <a:pPr marL="0" indent="0" algn="l">
              <a:lnSpc>
                <a:spcPts val="1500"/>
              </a:lnSpc>
              <a:buNone/>
            </a:pPr>
            <a:r>
              <a:rPr lang="en-US" sz="1200" dirty="0">
                <a:solidFill>
                  <a:srgbClr val="383838"/>
                </a:solidFill>
                <a:latin typeface="Patrick Hand" pitchFamily="34" charset="0"/>
                <a:ea typeface="Patrick Hand" pitchFamily="34" charset="-122"/>
                <a:cs typeface="Patrick Hand" pitchFamily="34" charset="-120"/>
              </a:rPr>
              <a:t>Monitor logs in real time</a:t>
            </a:r>
            <a:endParaRPr lang="en-US" sz="1200" dirty="0"/>
          </a:p>
        </p:txBody>
      </p:sp>
      <p:sp>
        <p:nvSpPr>
          <p:cNvPr id="23" name="Text 21"/>
          <p:cNvSpPr/>
          <p:nvPr/>
        </p:nvSpPr>
        <p:spPr>
          <a:xfrm>
            <a:off x="9499521" y="5840730"/>
            <a:ext cx="156924" cy="196215"/>
          </a:xfrm>
          <a:prstGeom prst="rect">
            <a:avLst/>
          </a:prstGeom>
          <a:noFill/>
          <a:ln/>
        </p:spPr>
        <p:txBody>
          <a:bodyPr wrap="none" lIns="0" tIns="0" rIns="0" bIns="0" rtlCol="0" anchor="t"/>
          <a:lstStyle/>
          <a:p>
            <a:pPr marL="0" indent="0" algn="l">
              <a:lnSpc>
                <a:spcPts val="1600"/>
              </a:lnSpc>
              <a:buNone/>
            </a:pPr>
            <a:r>
              <a:rPr lang="en-US" sz="1200" dirty="0">
                <a:solidFill>
                  <a:srgbClr val="383838"/>
                </a:solidFill>
                <a:latin typeface="Patrick Hand Light" pitchFamily="34" charset="0"/>
                <a:ea typeface="Patrick Hand Light" pitchFamily="34" charset="-122"/>
                <a:cs typeface="Patrick Hand Light" pitchFamily="34" charset="-120"/>
              </a:rPr>
              <a:t>03</a:t>
            </a:r>
            <a:endParaRPr lang="en-US" sz="1200" dirty="0"/>
          </a:p>
        </p:txBody>
      </p:sp>
      <p:sp>
        <p:nvSpPr>
          <p:cNvPr id="24" name="Shape 22"/>
          <p:cNvSpPr/>
          <p:nvPr/>
        </p:nvSpPr>
        <p:spPr>
          <a:xfrm>
            <a:off x="9499521" y="6084570"/>
            <a:ext cx="4164687" cy="22860"/>
          </a:xfrm>
          <a:prstGeom prst="rect">
            <a:avLst/>
          </a:prstGeom>
          <a:solidFill>
            <a:srgbClr val="CCCCCC"/>
          </a:solidFill>
          <a:ln/>
        </p:spPr>
      </p:sp>
      <p:sp>
        <p:nvSpPr>
          <p:cNvPr id="25" name="Text 23"/>
          <p:cNvSpPr/>
          <p:nvPr/>
        </p:nvSpPr>
        <p:spPr>
          <a:xfrm>
            <a:off x="9499521" y="6208752"/>
            <a:ext cx="1569958" cy="196215"/>
          </a:xfrm>
          <a:prstGeom prst="rect">
            <a:avLst/>
          </a:prstGeom>
          <a:noFill/>
          <a:ln/>
        </p:spPr>
        <p:txBody>
          <a:bodyPr wrap="none" lIns="0" tIns="0" rIns="0" bIns="0" rtlCol="0" anchor="t"/>
          <a:lstStyle/>
          <a:p>
            <a:pPr marL="0" indent="0" algn="l">
              <a:lnSpc>
                <a:spcPts val="1500"/>
              </a:lnSpc>
              <a:buNone/>
            </a:pPr>
            <a:r>
              <a:rPr lang="en-US" sz="1200" dirty="0">
                <a:solidFill>
                  <a:srgbClr val="383838"/>
                </a:solidFill>
                <a:latin typeface="Patrick Hand" pitchFamily="34" charset="0"/>
                <a:ea typeface="Patrick Hand" pitchFamily="34" charset="-122"/>
                <a:cs typeface="Patrick Hand" pitchFamily="34" charset="-120"/>
              </a:rPr>
              <a:t>Use SIEM tools</a:t>
            </a:r>
            <a:endParaRPr lang="en-US" sz="1200" dirty="0"/>
          </a:p>
        </p:txBody>
      </p:sp>
      <p:sp>
        <p:nvSpPr>
          <p:cNvPr id="26" name="Text 24"/>
          <p:cNvSpPr/>
          <p:nvPr/>
        </p:nvSpPr>
        <p:spPr>
          <a:xfrm>
            <a:off x="966073" y="6624638"/>
            <a:ext cx="156924" cy="196215"/>
          </a:xfrm>
          <a:prstGeom prst="rect">
            <a:avLst/>
          </a:prstGeom>
          <a:noFill/>
          <a:ln/>
        </p:spPr>
        <p:txBody>
          <a:bodyPr wrap="none" lIns="0" tIns="0" rIns="0" bIns="0" rtlCol="0" anchor="t"/>
          <a:lstStyle/>
          <a:p>
            <a:pPr marL="0" indent="0" algn="l">
              <a:lnSpc>
                <a:spcPts val="1600"/>
              </a:lnSpc>
              <a:buNone/>
            </a:pPr>
            <a:r>
              <a:rPr lang="en-US" sz="1200" dirty="0">
                <a:solidFill>
                  <a:srgbClr val="383838"/>
                </a:solidFill>
                <a:latin typeface="Patrick Hand Light" pitchFamily="34" charset="0"/>
                <a:ea typeface="Patrick Hand Light" pitchFamily="34" charset="-122"/>
                <a:cs typeface="Patrick Hand Light" pitchFamily="34" charset="-120"/>
              </a:rPr>
              <a:t>04</a:t>
            </a:r>
            <a:endParaRPr lang="en-US" sz="1200" dirty="0"/>
          </a:p>
        </p:txBody>
      </p:sp>
      <p:sp>
        <p:nvSpPr>
          <p:cNvPr id="27" name="Shape 25"/>
          <p:cNvSpPr/>
          <p:nvPr/>
        </p:nvSpPr>
        <p:spPr>
          <a:xfrm>
            <a:off x="966073" y="6868478"/>
            <a:ext cx="6298049" cy="22860"/>
          </a:xfrm>
          <a:prstGeom prst="rect">
            <a:avLst/>
          </a:prstGeom>
          <a:solidFill>
            <a:srgbClr val="CCCCCC"/>
          </a:solidFill>
          <a:ln/>
        </p:spPr>
      </p:sp>
      <p:sp>
        <p:nvSpPr>
          <p:cNvPr id="28" name="Text 26"/>
          <p:cNvSpPr/>
          <p:nvPr/>
        </p:nvSpPr>
        <p:spPr>
          <a:xfrm>
            <a:off x="966073" y="6992660"/>
            <a:ext cx="2218968" cy="196215"/>
          </a:xfrm>
          <a:prstGeom prst="rect">
            <a:avLst/>
          </a:prstGeom>
          <a:noFill/>
          <a:ln/>
        </p:spPr>
        <p:txBody>
          <a:bodyPr wrap="none" lIns="0" tIns="0" rIns="0" bIns="0" rtlCol="0" anchor="t"/>
          <a:lstStyle/>
          <a:p>
            <a:pPr marL="0" indent="0" algn="l">
              <a:lnSpc>
                <a:spcPts val="1500"/>
              </a:lnSpc>
              <a:buNone/>
            </a:pPr>
            <a:r>
              <a:rPr lang="en-US" sz="1200" dirty="0">
                <a:solidFill>
                  <a:srgbClr val="383838"/>
                </a:solidFill>
                <a:latin typeface="Patrick Hand" pitchFamily="34" charset="0"/>
                <a:ea typeface="Patrick Hand" pitchFamily="34" charset="-122"/>
                <a:cs typeface="Patrick Hand" pitchFamily="34" charset="-120"/>
              </a:rPr>
              <a:t>Generate alerts for suspicious behavior</a:t>
            </a:r>
            <a:endParaRPr lang="en-US" sz="1200" dirty="0"/>
          </a:p>
        </p:txBody>
      </p:sp>
      <p:sp>
        <p:nvSpPr>
          <p:cNvPr id="29" name="Text 27"/>
          <p:cNvSpPr/>
          <p:nvPr/>
        </p:nvSpPr>
        <p:spPr>
          <a:xfrm>
            <a:off x="7366159" y="6624638"/>
            <a:ext cx="156924" cy="196215"/>
          </a:xfrm>
          <a:prstGeom prst="rect">
            <a:avLst/>
          </a:prstGeom>
          <a:noFill/>
          <a:ln/>
        </p:spPr>
        <p:txBody>
          <a:bodyPr wrap="none" lIns="0" tIns="0" rIns="0" bIns="0" rtlCol="0" anchor="t"/>
          <a:lstStyle/>
          <a:p>
            <a:pPr marL="0" indent="0" algn="l">
              <a:lnSpc>
                <a:spcPts val="1600"/>
              </a:lnSpc>
              <a:buNone/>
            </a:pPr>
            <a:r>
              <a:rPr lang="en-US" sz="1200" dirty="0">
                <a:solidFill>
                  <a:srgbClr val="383838"/>
                </a:solidFill>
                <a:latin typeface="Patrick Hand Light" pitchFamily="34" charset="0"/>
                <a:ea typeface="Patrick Hand Light" pitchFamily="34" charset="-122"/>
                <a:cs typeface="Patrick Hand Light" pitchFamily="34" charset="-120"/>
              </a:rPr>
              <a:t>05</a:t>
            </a:r>
            <a:endParaRPr lang="en-US" sz="1200" dirty="0"/>
          </a:p>
        </p:txBody>
      </p:sp>
      <p:sp>
        <p:nvSpPr>
          <p:cNvPr id="30" name="Shape 28"/>
          <p:cNvSpPr/>
          <p:nvPr/>
        </p:nvSpPr>
        <p:spPr>
          <a:xfrm>
            <a:off x="7366159" y="6868478"/>
            <a:ext cx="6298049" cy="22860"/>
          </a:xfrm>
          <a:prstGeom prst="rect">
            <a:avLst/>
          </a:prstGeom>
          <a:solidFill>
            <a:srgbClr val="CCCCCC"/>
          </a:solidFill>
          <a:ln/>
        </p:spPr>
      </p:sp>
      <p:sp>
        <p:nvSpPr>
          <p:cNvPr id="31" name="Text 29"/>
          <p:cNvSpPr/>
          <p:nvPr/>
        </p:nvSpPr>
        <p:spPr>
          <a:xfrm>
            <a:off x="7366159" y="6992660"/>
            <a:ext cx="1648897" cy="196215"/>
          </a:xfrm>
          <a:prstGeom prst="rect">
            <a:avLst/>
          </a:prstGeom>
          <a:noFill/>
          <a:ln/>
        </p:spPr>
        <p:txBody>
          <a:bodyPr wrap="none" lIns="0" tIns="0" rIns="0" bIns="0" rtlCol="0" anchor="t"/>
          <a:lstStyle/>
          <a:p>
            <a:pPr marL="0" indent="0" algn="l">
              <a:lnSpc>
                <a:spcPts val="1500"/>
              </a:lnSpc>
              <a:buNone/>
            </a:pPr>
            <a:r>
              <a:rPr lang="en-US" sz="1200" dirty="0">
                <a:solidFill>
                  <a:srgbClr val="383838"/>
                </a:solidFill>
                <a:latin typeface="Patrick Hand" pitchFamily="34" charset="0"/>
                <a:ea typeface="Patrick Hand" pitchFamily="34" charset="-122"/>
                <a:cs typeface="Patrick Hand" pitchFamily="34" charset="-120"/>
              </a:rPr>
              <a:t>Protect logs from tampering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966073" y="1349335"/>
            <a:ext cx="7211854" cy="1207532"/>
          </a:xfrm>
          <a:prstGeom prst="rect">
            <a:avLst/>
          </a:prstGeom>
          <a:noFill/>
          <a:ln/>
        </p:spPr>
        <p:txBody>
          <a:bodyPr wrap="square" lIns="0" tIns="0" rIns="0" bIns="0" rtlCol="0" anchor="t"/>
          <a:lstStyle/>
          <a:p>
            <a:pPr marL="0" indent="0" algn="l">
              <a:lnSpc>
                <a:spcPts val="4750"/>
              </a:lnSpc>
              <a:buNone/>
            </a:pPr>
            <a:r>
              <a:rPr lang="en-US" sz="3800" dirty="0">
                <a:solidFill>
                  <a:srgbClr val="383838"/>
                </a:solidFill>
                <a:latin typeface="Patrick Hand" pitchFamily="34" charset="0"/>
                <a:ea typeface="Patrick Hand" pitchFamily="34" charset="-122"/>
                <a:cs typeface="Patrick Hand" pitchFamily="34" charset="-120"/>
              </a:rPr>
              <a:t>A10:2021 – Server-Side Request Forgery (SSRF)</a:t>
            </a:r>
            <a:endParaRPr lang="en-US" sz="3800" dirty="0"/>
          </a:p>
        </p:txBody>
      </p:sp>
      <p:sp>
        <p:nvSpPr>
          <p:cNvPr id="4" name="Text 1"/>
          <p:cNvSpPr/>
          <p:nvPr/>
        </p:nvSpPr>
        <p:spPr>
          <a:xfrm>
            <a:off x="966073" y="2653427"/>
            <a:ext cx="2898458" cy="362188"/>
          </a:xfrm>
          <a:prstGeom prst="rect">
            <a:avLst/>
          </a:prstGeom>
          <a:noFill/>
          <a:ln/>
        </p:spPr>
        <p:txBody>
          <a:bodyPr wrap="none" lIns="0" tIns="0" rIns="0" bIns="0" rtlCol="0" anchor="t"/>
          <a:lstStyle/>
          <a:p>
            <a:pPr marL="0" indent="0" algn="l">
              <a:lnSpc>
                <a:spcPts val="2850"/>
              </a:lnSpc>
              <a:buNone/>
            </a:pPr>
            <a:r>
              <a:rPr lang="en-US" sz="2250" dirty="0">
                <a:solidFill>
                  <a:srgbClr val="383838"/>
                </a:solidFill>
                <a:latin typeface="Patrick Hand" pitchFamily="34" charset="0"/>
                <a:ea typeface="Patrick Hand" pitchFamily="34" charset="-122"/>
                <a:cs typeface="Patrick Hand" pitchFamily="34" charset="-120"/>
              </a:rPr>
              <a:t>What it means?</a:t>
            </a:r>
            <a:endParaRPr lang="en-US" sz="2250" dirty="0"/>
          </a:p>
        </p:txBody>
      </p:sp>
      <p:sp>
        <p:nvSpPr>
          <p:cNvPr id="5" name="Text 2"/>
          <p:cNvSpPr/>
          <p:nvPr/>
        </p:nvSpPr>
        <p:spPr>
          <a:xfrm>
            <a:off x="966073" y="3377922"/>
            <a:ext cx="7211854" cy="772954"/>
          </a:xfrm>
          <a:prstGeom prst="rect">
            <a:avLst/>
          </a:prstGeom>
          <a:noFill/>
          <a:ln/>
        </p:spPr>
        <p:txBody>
          <a:bodyPr wrap="square" lIns="0" tIns="0" rIns="0" bIns="0" rtlCol="0" anchor="t"/>
          <a:lstStyle/>
          <a:p>
            <a:pPr marL="0" indent="0" algn="l">
              <a:lnSpc>
                <a:spcPts val="3000"/>
              </a:lnSpc>
              <a:buNone/>
            </a:pPr>
            <a:r>
              <a:rPr lang="en-US" sz="1900" dirty="0">
                <a:solidFill>
                  <a:srgbClr val="383838"/>
                </a:solidFill>
                <a:latin typeface="Patrick Hand" pitchFamily="34" charset="0"/>
                <a:ea typeface="Patrick Hand" pitchFamily="34" charset="-122"/>
                <a:cs typeface="Patrick Hand" pitchFamily="34" charset="-120"/>
              </a:rPr>
              <a:t>SSRF happens when a web application fetches a remote resource based on user input — without validating the URL.</a:t>
            </a:r>
            <a:endParaRPr lang="en-US" sz="1900" dirty="0"/>
          </a:p>
        </p:txBody>
      </p:sp>
      <p:sp>
        <p:nvSpPr>
          <p:cNvPr id="6" name="Text 3"/>
          <p:cNvSpPr/>
          <p:nvPr/>
        </p:nvSpPr>
        <p:spPr>
          <a:xfrm>
            <a:off x="966073" y="4422577"/>
            <a:ext cx="7211854" cy="386477"/>
          </a:xfrm>
          <a:prstGeom prst="rect">
            <a:avLst/>
          </a:prstGeom>
          <a:noFill/>
          <a:ln/>
        </p:spPr>
        <p:txBody>
          <a:bodyPr wrap="none" lIns="0" tIns="0" rIns="0" bIns="0" rtlCol="0" anchor="t"/>
          <a:lstStyle/>
          <a:p>
            <a:pPr marL="0" indent="0" algn="l">
              <a:lnSpc>
                <a:spcPts val="3000"/>
              </a:lnSpc>
              <a:buNone/>
            </a:pPr>
            <a:r>
              <a:rPr lang="en-US" sz="1900" dirty="0">
                <a:solidFill>
                  <a:srgbClr val="383838"/>
                </a:solidFill>
                <a:latin typeface="Patrick Hand" pitchFamily="34" charset="0"/>
                <a:ea typeface="Patrick Hand" pitchFamily="34" charset="-122"/>
                <a:cs typeface="Patrick Hand" pitchFamily="34" charset="-120"/>
              </a:rPr>
              <a:t>An attacker tricks the server into making requests to:</a:t>
            </a:r>
            <a:endParaRPr lang="en-US" sz="1900" dirty="0"/>
          </a:p>
        </p:txBody>
      </p:sp>
      <p:sp>
        <p:nvSpPr>
          <p:cNvPr id="7" name="Text 4"/>
          <p:cNvSpPr/>
          <p:nvPr/>
        </p:nvSpPr>
        <p:spPr>
          <a:xfrm>
            <a:off x="966073" y="5080754"/>
            <a:ext cx="7211854" cy="1799511"/>
          </a:xfrm>
          <a:prstGeom prst="rect">
            <a:avLst/>
          </a:prstGeom>
          <a:noFill/>
          <a:ln/>
        </p:spPr>
        <p:txBody>
          <a:bodyPr wrap="square" lIns="0" tIns="0" rIns="0" bIns="0" rtlCol="0" anchor="t"/>
          <a:lstStyle/>
          <a:p>
            <a:pPr marL="342900" indent="-342900" algn="l">
              <a:lnSpc>
                <a:spcPts val="3000"/>
              </a:lnSpc>
              <a:buSzPct val="100000"/>
              <a:buChar char="•"/>
            </a:pPr>
            <a:r>
              <a:rPr lang="en-US" sz="1900" dirty="0">
                <a:solidFill>
                  <a:srgbClr val="383838"/>
                </a:solidFill>
                <a:latin typeface="Patrick Hand" pitchFamily="34" charset="0"/>
                <a:ea typeface="Patrick Hand" pitchFamily="34" charset="-122"/>
                <a:cs typeface="Patrick Hand" pitchFamily="34" charset="-120"/>
              </a:rPr>
              <a:t>Internal systems</a:t>
            </a:r>
            <a:endParaRPr lang="en-US" sz="1900" dirty="0"/>
          </a:p>
          <a:p>
            <a:pPr marL="342900" indent="-342900" algn="l">
              <a:lnSpc>
                <a:spcPts val="3000"/>
              </a:lnSpc>
              <a:buSzPct val="100000"/>
              <a:buChar char="•"/>
            </a:pPr>
            <a:r>
              <a:rPr lang="en-US" sz="1900" dirty="0">
                <a:solidFill>
                  <a:srgbClr val="383838"/>
                </a:solidFill>
                <a:latin typeface="Patrick Hand" pitchFamily="34" charset="0"/>
                <a:ea typeface="Patrick Hand" pitchFamily="34" charset="-122"/>
                <a:cs typeface="Patrick Hand" pitchFamily="34" charset="-120"/>
              </a:rPr>
              <a:t>Cloud metadata services</a:t>
            </a:r>
            <a:endParaRPr lang="en-US" sz="1900" dirty="0"/>
          </a:p>
          <a:p>
            <a:pPr marL="342900" indent="-342900" algn="l">
              <a:lnSpc>
                <a:spcPts val="3000"/>
              </a:lnSpc>
              <a:buSzPct val="100000"/>
              <a:buChar char="•"/>
            </a:pPr>
            <a:r>
              <a:rPr lang="en-US" sz="1900" dirty="0">
                <a:solidFill>
                  <a:srgbClr val="383838"/>
                </a:solidFill>
                <a:latin typeface="Patrick Hand" pitchFamily="34" charset="0"/>
                <a:ea typeface="Patrick Hand" pitchFamily="34" charset="-122"/>
                <a:cs typeface="Patrick Hand" pitchFamily="34" charset="-120"/>
              </a:rPr>
              <a:t>Localhost</a:t>
            </a:r>
            <a:endParaRPr lang="en-US" sz="1900" dirty="0"/>
          </a:p>
          <a:p>
            <a:pPr marL="342900" indent="-342900" algn="l">
              <a:lnSpc>
                <a:spcPts val="3000"/>
              </a:lnSpc>
              <a:buSzPct val="100000"/>
              <a:buChar char="•"/>
            </a:pPr>
            <a:r>
              <a:rPr lang="en-US" sz="1900" dirty="0">
                <a:solidFill>
                  <a:srgbClr val="383838"/>
                </a:solidFill>
                <a:latin typeface="Patrick Hand" pitchFamily="34" charset="0"/>
                <a:ea typeface="Patrick Hand" pitchFamily="34" charset="-122"/>
                <a:cs typeface="Patrick Hand" pitchFamily="34" charset="-120"/>
              </a:rPr>
              <a:t>Other internal APIs</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66073" y="857369"/>
            <a:ext cx="2318742" cy="289917"/>
          </a:xfrm>
          <a:prstGeom prst="rect">
            <a:avLst/>
          </a:prstGeom>
          <a:noFill/>
          <a:ln/>
        </p:spPr>
        <p:txBody>
          <a:bodyPr wrap="none" lIns="0" tIns="0" rIns="0" bIns="0" rtlCol="0" anchor="t"/>
          <a:lstStyle/>
          <a:p>
            <a:pPr marL="0" indent="0" algn="l">
              <a:lnSpc>
                <a:spcPts val="2250"/>
              </a:lnSpc>
              <a:buNone/>
            </a:pPr>
            <a:r>
              <a:rPr lang="en-US" sz="1800" dirty="0">
                <a:solidFill>
                  <a:srgbClr val="383838"/>
                </a:solidFill>
                <a:latin typeface="Patrick Hand" pitchFamily="34" charset="0"/>
                <a:ea typeface="Patrick Hand" pitchFamily="34" charset="-122"/>
                <a:cs typeface="Patrick Hand" pitchFamily="34" charset="-120"/>
              </a:rPr>
              <a:t>Realtime Incident:</a:t>
            </a:r>
            <a:endParaRPr lang="en-US" sz="1800" dirty="0"/>
          </a:p>
        </p:txBody>
      </p:sp>
      <p:sp>
        <p:nvSpPr>
          <p:cNvPr id="3" name="Text 1"/>
          <p:cNvSpPr/>
          <p:nvPr/>
        </p:nvSpPr>
        <p:spPr>
          <a:xfrm>
            <a:off x="966073" y="1379101"/>
            <a:ext cx="12698254" cy="347782"/>
          </a:xfrm>
          <a:prstGeom prst="rect">
            <a:avLst/>
          </a:prstGeom>
          <a:noFill/>
          <a:ln/>
        </p:spPr>
        <p:txBody>
          <a:bodyPr wrap="none" lIns="0" tIns="0" rIns="0" bIns="0" rtlCol="0" anchor="t"/>
          <a:lstStyle/>
          <a:p>
            <a:pPr marL="0" indent="0" algn="l">
              <a:lnSpc>
                <a:spcPts val="2700"/>
              </a:lnSpc>
              <a:buNone/>
            </a:pPr>
            <a:r>
              <a:rPr lang="en-US" sz="1900" dirty="0">
                <a:solidFill>
                  <a:srgbClr val="383838"/>
                </a:solidFill>
                <a:latin typeface="Patrick Hand" pitchFamily="34" charset="0"/>
                <a:ea typeface="Patrick Hand" pitchFamily="34" charset="-122"/>
                <a:cs typeface="Patrick Hand" pitchFamily="34" charset="-120"/>
              </a:rPr>
              <a:t>In 2019, </a:t>
            </a:r>
            <a:r>
              <a:rPr lang="en-US" sz="1900" dirty="0">
                <a:solidFill>
                  <a:srgbClr val="CCCCCC"/>
                </a:solidFill>
                <a:latin typeface="Patrick Hand" pitchFamily="34" charset="0"/>
                <a:ea typeface="Patrick Hand" pitchFamily="34" charset="-122"/>
                <a:cs typeface="Patrick Hand" pitchFamily="34" charset="-120"/>
              </a:rPr>
              <a:t>Capital One</a:t>
            </a:r>
            <a:r>
              <a:rPr lang="en-US" sz="1900" dirty="0">
                <a:solidFill>
                  <a:srgbClr val="383838"/>
                </a:solidFill>
                <a:latin typeface="Patrick Hand" pitchFamily="34" charset="0"/>
                <a:ea typeface="Patrick Hand" pitchFamily="34" charset="-122"/>
                <a:cs typeface="Patrick Hand" pitchFamily="34" charset="-120"/>
              </a:rPr>
              <a:t> suffered a breach where an SSRF vulnerability exposed sensitive data stored in AWS.</a:t>
            </a:r>
            <a:endParaRPr lang="en-US" sz="1900" dirty="0"/>
          </a:p>
        </p:txBody>
      </p:sp>
      <p:sp>
        <p:nvSpPr>
          <p:cNvPr id="4" name="Text 2"/>
          <p:cNvSpPr/>
          <p:nvPr/>
        </p:nvSpPr>
        <p:spPr>
          <a:xfrm>
            <a:off x="966073" y="1958697"/>
            <a:ext cx="3091696" cy="386477"/>
          </a:xfrm>
          <a:prstGeom prst="rect">
            <a:avLst/>
          </a:prstGeom>
          <a:noFill/>
          <a:ln/>
        </p:spPr>
        <p:txBody>
          <a:bodyPr wrap="none" lIns="0" tIns="0" rIns="0" bIns="0" rtlCol="0" anchor="t"/>
          <a:lstStyle/>
          <a:p>
            <a:pPr marL="0" indent="0" algn="l">
              <a:lnSpc>
                <a:spcPts val="3000"/>
              </a:lnSpc>
              <a:buNone/>
            </a:pPr>
            <a:r>
              <a:rPr lang="en-US" sz="2400" dirty="0">
                <a:solidFill>
                  <a:srgbClr val="383838"/>
                </a:solidFill>
                <a:latin typeface="Patrick Hand" pitchFamily="34" charset="0"/>
                <a:ea typeface="Patrick Hand" pitchFamily="34" charset="-122"/>
                <a:cs typeface="Patrick Hand" pitchFamily="34" charset="-120"/>
              </a:rPr>
              <a:t>Impact:</a:t>
            </a:r>
            <a:endParaRPr lang="en-US" sz="2400" dirty="0"/>
          </a:p>
        </p:txBody>
      </p:sp>
      <p:sp>
        <p:nvSpPr>
          <p:cNvPr id="5" name="Shape 3"/>
          <p:cNvSpPr/>
          <p:nvPr/>
        </p:nvSpPr>
        <p:spPr>
          <a:xfrm>
            <a:off x="966073" y="2750820"/>
            <a:ext cx="2979420" cy="673418"/>
          </a:xfrm>
          <a:prstGeom prst="roundRect">
            <a:avLst>
              <a:gd name="adj" fmla="val 12052"/>
            </a:avLst>
          </a:prstGeom>
          <a:solidFill>
            <a:srgbClr val="F7F7F7"/>
          </a:solidFill>
          <a:ln w="22860">
            <a:solidFill>
              <a:srgbClr val="CCCCCC"/>
            </a:solidFill>
            <a:prstDash val="solid"/>
          </a:ln>
        </p:spPr>
      </p:sp>
      <p:sp>
        <p:nvSpPr>
          <p:cNvPr id="6" name="Text 4"/>
          <p:cNvSpPr/>
          <p:nvPr/>
        </p:nvSpPr>
        <p:spPr>
          <a:xfrm>
            <a:off x="1182053" y="2966799"/>
            <a:ext cx="1932265" cy="241459"/>
          </a:xfrm>
          <a:prstGeom prst="rect">
            <a:avLst/>
          </a:prstGeom>
          <a:noFill/>
          <a:ln/>
        </p:spPr>
        <p:txBody>
          <a:bodyPr wrap="none" lIns="0" tIns="0" rIns="0" bIns="0" rtlCol="0" anchor="t"/>
          <a:lstStyle/>
          <a:p>
            <a:pPr marL="0" indent="0" algn="l">
              <a:lnSpc>
                <a:spcPts val="1900"/>
              </a:lnSpc>
              <a:buNone/>
            </a:pPr>
            <a:r>
              <a:rPr lang="en-US" sz="1500" dirty="0">
                <a:solidFill>
                  <a:srgbClr val="383838"/>
                </a:solidFill>
                <a:latin typeface="Patrick Hand" pitchFamily="34" charset="0"/>
                <a:ea typeface="Patrick Hand" pitchFamily="34" charset="-122"/>
                <a:cs typeface="Patrick Hand" pitchFamily="34" charset="-120"/>
              </a:rPr>
              <a:t>Access to internal servers</a:t>
            </a:r>
            <a:endParaRPr lang="en-US" sz="1500" dirty="0"/>
          </a:p>
        </p:txBody>
      </p:sp>
      <p:sp>
        <p:nvSpPr>
          <p:cNvPr id="7" name="Shape 5"/>
          <p:cNvSpPr/>
          <p:nvPr/>
        </p:nvSpPr>
        <p:spPr>
          <a:xfrm>
            <a:off x="4100036" y="2750820"/>
            <a:ext cx="2979539" cy="673418"/>
          </a:xfrm>
          <a:prstGeom prst="roundRect">
            <a:avLst>
              <a:gd name="adj" fmla="val 12052"/>
            </a:avLst>
          </a:prstGeom>
          <a:solidFill>
            <a:srgbClr val="F7F7F7"/>
          </a:solidFill>
          <a:ln w="22860">
            <a:solidFill>
              <a:srgbClr val="CCCCCC"/>
            </a:solidFill>
            <a:prstDash val="solid"/>
          </a:ln>
        </p:spPr>
      </p:sp>
      <p:sp>
        <p:nvSpPr>
          <p:cNvPr id="8" name="Text 6"/>
          <p:cNvSpPr/>
          <p:nvPr/>
        </p:nvSpPr>
        <p:spPr>
          <a:xfrm>
            <a:off x="4316016" y="2966799"/>
            <a:ext cx="1932265" cy="241459"/>
          </a:xfrm>
          <a:prstGeom prst="rect">
            <a:avLst/>
          </a:prstGeom>
          <a:noFill/>
          <a:ln/>
        </p:spPr>
        <p:txBody>
          <a:bodyPr wrap="none" lIns="0" tIns="0" rIns="0" bIns="0" rtlCol="0" anchor="t"/>
          <a:lstStyle/>
          <a:p>
            <a:pPr marL="0" indent="0" algn="l">
              <a:lnSpc>
                <a:spcPts val="1900"/>
              </a:lnSpc>
              <a:buNone/>
            </a:pPr>
            <a:r>
              <a:rPr lang="en-US" sz="1500" dirty="0">
                <a:solidFill>
                  <a:srgbClr val="383838"/>
                </a:solidFill>
                <a:latin typeface="Patrick Hand" pitchFamily="34" charset="0"/>
                <a:ea typeface="Patrick Hand" pitchFamily="34" charset="-122"/>
                <a:cs typeface="Patrick Hand" pitchFamily="34" charset="-120"/>
              </a:rPr>
              <a:t>Cloud credential theft</a:t>
            </a:r>
            <a:endParaRPr lang="en-US" sz="1500" dirty="0"/>
          </a:p>
        </p:txBody>
      </p:sp>
      <p:sp>
        <p:nvSpPr>
          <p:cNvPr id="9" name="Shape 7"/>
          <p:cNvSpPr/>
          <p:nvPr/>
        </p:nvSpPr>
        <p:spPr>
          <a:xfrm>
            <a:off x="7558445" y="2750820"/>
            <a:ext cx="2979420" cy="673418"/>
          </a:xfrm>
          <a:prstGeom prst="roundRect">
            <a:avLst>
              <a:gd name="adj" fmla="val 12052"/>
            </a:avLst>
          </a:prstGeom>
          <a:solidFill>
            <a:srgbClr val="F7F7F7"/>
          </a:solidFill>
          <a:ln w="22860">
            <a:solidFill>
              <a:srgbClr val="CCCCCC"/>
            </a:solidFill>
            <a:prstDash val="solid"/>
          </a:ln>
        </p:spPr>
      </p:sp>
      <p:sp>
        <p:nvSpPr>
          <p:cNvPr id="10" name="Text 8"/>
          <p:cNvSpPr/>
          <p:nvPr/>
        </p:nvSpPr>
        <p:spPr>
          <a:xfrm>
            <a:off x="7774424" y="2966799"/>
            <a:ext cx="1932265" cy="241459"/>
          </a:xfrm>
          <a:prstGeom prst="rect">
            <a:avLst/>
          </a:prstGeom>
          <a:noFill/>
          <a:ln/>
        </p:spPr>
        <p:txBody>
          <a:bodyPr wrap="none" lIns="0" tIns="0" rIns="0" bIns="0" rtlCol="0" anchor="t"/>
          <a:lstStyle/>
          <a:p>
            <a:pPr marL="0" indent="0" algn="l">
              <a:lnSpc>
                <a:spcPts val="1900"/>
              </a:lnSpc>
              <a:buNone/>
            </a:pPr>
            <a:r>
              <a:rPr lang="en-US" sz="1500" dirty="0">
                <a:solidFill>
                  <a:srgbClr val="383838"/>
                </a:solidFill>
                <a:latin typeface="Patrick Hand" pitchFamily="34" charset="0"/>
                <a:ea typeface="Patrick Hand" pitchFamily="34" charset="-122"/>
                <a:cs typeface="Patrick Hand" pitchFamily="34" charset="-120"/>
              </a:rPr>
              <a:t>Data exfiltration</a:t>
            </a:r>
            <a:endParaRPr lang="en-US" sz="1500" dirty="0"/>
          </a:p>
        </p:txBody>
      </p:sp>
      <p:sp>
        <p:nvSpPr>
          <p:cNvPr id="11" name="Shape 9"/>
          <p:cNvSpPr/>
          <p:nvPr/>
        </p:nvSpPr>
        <p:spPr>
          <a:xfrm>
            <a:off x="10692408" y="2750820"/>
            <a:ext cx="2979539" cy="673418"/>
          </a:xfrm>
          <a:prstGeom prst="roundRect">
            <a:avLst>
              <a:gd name="adj" fmla="val 12052"/>
            </a:avLst>
          </a:prstGeom>
          <a:solidFill>
            <a:srgbClr val="F7F7F7"/>
          </a:solidFill>
          <a:ln w="22860">
            <a:solidFill>
              <a:srgbClr val="CCCCCC"/>
            </a:solidFill>
            <a:prstDash val="solid"/>
          </a:ln>
        </p:spPr>
      </p:sp>
      <p:sp>
        <p:nvSpPr>
          <p:cNvPr id="12" name="Text 10"/>
          <p:cNvSpPr/>
          <p:nvPr/>
        </p:nvSpPr>
        <p:spPr>
          <a:xfrm>
            <a:off x="10908387" y="2966799"/>
            <a:ext cx="2198132" cy="241459"/>
          </a:xfrm>
          <a:prstGeom prst="rect">
            <a:avLst/>
          </a:prstGeom>
          <a:noFill/>
          <a:ln/>
        </p:spPr>
        <p:txBody>
          <a:bodyPr wrap="none" lIns="0" tIns="0" rIns="0" bIns="0" rtlCol="0" anchor="t"/>
          <a:lstStyle/>
          <a:p>
            <a:pPr marL="0" indent="0" algn="l">
              <a:lnSpc>
                <a:spcPts val="1900"/>
              </a:lnSpc>
              <a:buNone/>
            </a:pPr>
            <a:r>
              <a:rPr lang="en-US" sz="1500" dirty="0">
                <a:solidFill>
                  <a:srgbClr val="383838"/>
                </a:solidFill>
                <a:latin typeface="Patrick Hand" pitchFamily="34" charset="0"/>
                <a:ea typeface="Patrick Hand" pitchFamily="34" charset="-122"/>
                <a:cs typeface="Patrick Hand" pitchFamily="34" charset="-120"/>
              </a:rPr>
              <a:t>Full infrastructure compromise</a:t>
            </a:r>
            <a:endParaRPr lang="en-US" sz="1500" dirty="0"/>
          </a:p>
        </p:txBody>
      </p:sp>
      <p:sp>
        <p:nvSpPr>
          <p:cNvPr id="13" name="Text 11"/>
          <p:cNvSpPr/>
          <p:nvPr/>
        </p:nvSpPr>
        <p:spPr>
          <a:xfrm>
            <a:off x="966073" y="3829883"/>
            <a:ext cx="2318742" cy="289917"/>
          </a:xfrm>
          <a:prstGeom prst="rect">
            <a:avLst/>
          </a:prstGeom>
          <a:noFill/>
          <a:ln/>
        </p:spPr>
        <p:txBody>
          <a:bodyPr wrap="none" lIns="0" tIns="0" rIns="0" bIns="0" rtlCol="0" anchor="t"/>
          <a:lstStyle/>
          <a:p>
            <a:pPr marL="0" indent="0" algn="l">
              <a:lnSpc>
                <a:spcPts val="2250"/>
              </a:lnSpc>
              <a:buNone/>
            </a:pPr>
            <a:r>
              <a:rPr lang="en-US" sz="1800" dirty="0">
                <a:solidFill>
                  <a:srgbClr val="383838"/>
                </a:solidFill>
                <a:latin typeface="Patrick Hand" pitchFamily="34" charset="0"/>
                <a:ea typeface="Patrick Hand" pitchFamily="34" charset="-122"/>
                <a:cs typeface="Patrick Hand" pitchFamily="34" charset="-120"/>
              </a:rPr>
              <a:t>Financial Loss:</a:t>
            </a:r>
            <a:endParaRPr lang="en-US" sz="1800" dirty="0"/>
          </a:p>
        </p:txBody>
      </p:sp>
      <p:sp>
        <p:nvSpPr>
          <p:cNvPr id="14" name="Text 12"/>
          <p:cNvSpPr/>
          <p:nvPr/>
        </p:nvSpPr>
        <p:spPr>
          <a:xfrm>
            <a:off x="966073" y="4351615"/>
            <a:ext cx="12698254" cy="347782"/>
          </a:xfrm>
          <a:prstGeom prst="rect">
            <a:avLst/>
          </a:prstGeom>
          <a:noFill/>
          <a:ln/>
        </p:spPr>
        <p:txBody>
          <a:bodyPr wrap="none" lIns="0" tIns="0" rIns="0" bIns="0" rtlCol="0" anchor="t"/>
          <a:lstStyle/>
          <a:p>
            <a:pPr marL="0" indent="0" algn="l">
              <a:lnSpc>
                <a:spcPts val="2700"/>
              </a:lnSpc>
              <a:buNone/>
            </a:pPr>
            <a:r>
              <a:rPr lang="en-US" sz="1900" dirty="0">
                <a:solidFill>
                  <a:srgbClr val="383838"/>
                </a:solidFill>
                <a:latin typeface="Patrick Hand" pitchFamily="34" charset="0"/>
                <a:ea typeface="Patrick Hand" pitchFamily="34" charset="-122"/>
                <a:cs typeface="Patrick Hand" pitchFamily="34" charset="-120"/>
              </a:rPr>
              <a:t>Capital One paid approximately </a:t>
            </a:r>
            <a:r>
              <a:rPr lang="en-US" sz="1900" b="1" dirty="0">
                <a:solidFill>
                  <a:srgbClr val="CCCCCC"/>
                </a:solidFill>
                <a:latin typeface="Patrick Hand" pitchFamily="34" charset="0"/>
                <a:ea typeface="Patrick Hand" pitchFamily="34" charset="-122"/>
                <a:cs typeface="Patrick Hand" pitchFamily="34" charset="-120"/>
              </a:rPr>
              <a:t>$80 million</a:t>
            </a:r>
            <a:r>
              <a:rPr lang="en-US" sz="1900" dirty="0">
                <a:solidFill>
                  <a:srgbClr val="383838"/>
                </a:solidFill>
                <a:latin typeface="Patrick Hand" pitchFamily="34" charset="0"/>
                <a:ea typeface="Patrick Hand" pitchFamily="34" charset="-122"/>
                <a:cs typeface="Patrick Hand" pitchFamily="34" charset="-120"/>
              </a:rPr>
              <a:t> in regulatory fines, plus additional costs for lawsuits and security improvements.</a:t>
            </a:r>
            <a:endParaRPr lang="en-US" sz="1900" dirty="0"/>
          </a:p>
        </p:txBody>
      </p:sp>
      <p:sp>
        <p:nvSpPr>
          <p:cNvPr id="15" name="Text 13"/>
          <p:cNvSpPr/>
          <p:nvPr/>
        </p:nvSpPr>
        <p:spPr>
          <a:xfrm>
            <a:off x="966073" y="4931212"/>
            <a:ext cx="3091696" cy="386477"/>
          </a:xfrm>
          <a:prstGeom prst="rect">
            <a:avLst/>
          </a:prstGeom>
          <a:noFill/>
          <a:ln/>
        </p:spPr>
        <p:txBody>
          <a:bodyPr wrap="none" lIns="0" tIns="0" rIns="0" bIns="0" rtlCol="0" anchor="t"/>
          <a:lstStyle/>
          <a:p>
            <a:pPr marL="0" indent="0" algn="l">
              <a:lnSpc>
                <a:spcPts val="3000"/>
              </a:lnSpc>
              <a:buNone/>
            </a:pPr>
            <a:r>
              <a:rPr lang="en-US" sz="2400" dirty="0">
                <a:solidFill>
                  <a:srgbClr val="383838"/>
                </a:solidFill>
                <a:latin typeface="Patrick Hand" pitchFamily="34" charset="0"/>
                <a:ea typeface="Patrick Hand" pitchFamily="34" charset="-122"/>
                <a:cs typeface="Patrick Hand" pitchFamily="34" charset="-120"/>
              </a:rPr>
              <a:t>Lesson:</a:t>
            </a:r>
            <a:endParaRPr lang="en-US" sz="2400" dirty="0"/>
          </a:p>
        </p:txBody>
      </p:sp>
      <p:pic>
        <p:nvPicPr>
          <p:cNvPr id="1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6073" y="5573673"/>
            <a:ext cx="193119" cy="193119"/>
          </a:xfrm>
          <a:prstGeom prst="rect">
            <a:avLst/>
          </a:prstGeom>
        </p:spPr>
      </p:pic>
      <p:sp>
        <p:nvSpPr>
          <p:cNvPr id="17" name="Shape 14"/>
          <p:cNvSpPr/>
          <p:nvPr/>
        </p:nvSpPr>
        <p:spPr>
          <a:xfrm>
            <a:off x="966073" y="5854898"/>
            <a:ext cx="4129683" cy="22860"/>
          </a:xfrm>
          <a:prstGeom prst="rect">
            <a:avLst/>
          </a:prstGeom>
          <a:solidFill>
            <a:srgbClr val="CCCCCC"/>
          </a:solidFill>
          <a:ln/>
        </p:spPr>
      </p:sp>
      <p:sp>
        <p:nvSpPr>
          <p:cNvPr id="18" name="Text 15"/>
          <p:cNvSpPr/>
          <p:nvPr/>
        </p:nvSpPr>
        <p:spPr>
          <a:xfrm>
            <a:off x="966073" y="5997178"/>
            <a:ext cx="1932265" cy="241459"/>
          </a:xfrm>
          <a:prstGeom prst="rect">
            <a:avLst/>
          </a:prstGeom>
          <a:noFill/>
          <a:ln/>
        </p:spPr>
        <p:txBody>
          <a:bodyPr wrap="none" lIns="0" tIns="0" rIns="0" bIns="0" rtlCol="0" anchor="t"/>
          <a:lstStyle/>
          <a:p>
            <a:pPr marL="0" indent="0" algn="l">
              <a:lnSpc>
                <a:spcPts val="1900"/>
              </a:lnSpc>
              <a:buNone/>
            </a:pPr>
            <a:r>
              <a:rPr lang="en-US" sz="1500" dirty="0">
                <a:solidFill>
                  <a:srgbClr val="383838"/>
                </a:solidFill>
                <a:latin typeface="Patrick Hand" pitchFamily="34" charset="0"/>
                <a:ea typeface="Patrick Hand" pitchFamily="34" charset="-122"/>
                <a:cs typeface="Patrick Hand" pitchFamily="34" charset="-120"/>
              </a:rPr>
              <a:t>Validate and whitelist URLs</a:t>
            </a:r>
            <a:endParaRPr lang="en-US" sz="1500" dirty="0"/>
          </a:p>
        </p:txBody>
      </p:sp>
      <p:pic>
        <p:nvPicPr>
          <p:cNvPr id="1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50299" y="5573673"/>
            <a:ext cx="193119" cy="193119"/>
          </a:xfrm>
          <a:prstGeom prst="rect">
            <a:avLst/>
          </a:prstGeom>
        </p:spPr>
      </p:pic>
      <p:sp>
        <p:nvSpPr>
          <p:cNvPr id="20" name="Shape 16"/>
          <p:cNvSpPr/>
          <p:nvPr/>
        </p:nvSpPr>
        <p:spPr>
          <a:xfrm>
            <a:off x="5250299" y="5854898"/>
            <a:ext cx="4129683" cy="22860"/>
          </a:xfrm>
          <a:prstGeom prst="rect">
            <a:avLst/>
          </a:prstGeom>
          <a:solidFill>
            <a:srgbClr val="CCCCCC"/>
          </a:solidFill>
          <a:ln/>
        </p:spPr>
      </p:sp>
      <p:sp>
        <p:nvSpPr>
          <p:cNvPr id="21" name="Text 17"/>
          <p:cNvSpPr/>
          <p:nvPr/>
        </p:nvSpPr>
        <p:spPr>
          <a:xfrm>
            <a:off x="5250299" y="5997178"/>
            <a:ext cx="1932265" cy="241459"/>
          </a:xfrm>
          <a:prstGeom prst="rect">
            <a:avLst/>
          </a:prstGeom>
          <a:noFill/>
          <a:ln/>
        </p:spPr>
        <p:txBody>
          <a:bodyPr wrap="none" lIns="0" tIns="0" rIns="0" bIns="0" rtlCol="0" anchor="t"/>
          <a:lstStyle/>
          <a:p>
            <a:pPr marL="0" indent="0" algn="l">
              <a:lnSpc>
                <a:spcPts val="1900"/>
              </a:lnSpc>
              <a:buNone/>
            </a:pPr>
            <a:r>
              <a:rPr lang="en-US" sz="1500" dirty="0">
                <a:solidFill>
                  <a:srgbClr val="383838"/>
                </a:solidFill>
                <a:latin typeface="Patrick Hand" pitchFamily="34" charset="0"/>
                <a:ea typeface="Patrick Hand" pitchFamily="34" charset="-122"/>
                <a:cs typeface="Patrick Hand" pitchFamily="34" charset="-120"/>
              </a:rPr>
              <a:t>Block internal IP ranges</a:t>
            </a:r>
            <a:endParaRPr lang="en-US" sz="1500" dirty="0"/>
          </a:p>
        </p:txBody>
      </p:sp>
      <p:pic>
        <p:nvPicPr>
          <p:cNvPr id="2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34525" y="5573673"/>
            <a:ext cx="193119" cy="193119"/>
          </a:xfrm>
          <a:prstGeom prst="rect">
            <a:avLst/>
          </a:prstGeom>
        </p:spPr>
      </p:pic>
      <p:sp>
        <p:nvSpPr>
          <p:cNvPr id="23" name="Shape 18"/>
          <p:cNvSpPr/>
          <p:nvPr/>
        </p:nvSpPr>
        <p:spPr>
          <a:xfrm>
            <a:off x="9534525" y="5854898"/>
            <a:ext cx="4129683" cy="22860"/>
          </a:xfrm>
          <a:prstGeom prst="rect">
            <a:avLst/>
          </a:prstGeom>
          <a:solidFill>
            <a:srgbClr val="CCCCCC"/>
          </a:solidFill>
          <a:ln/>
        </p:spPr>
      </p:sp>
      <p:sp>
        <p:nvSpPr>
          <p:cNvPr id="24" name="Text 19"/>
          <p:cNvSpPr/>
          <p:nvPr/>
        </p:nvSpPr>
        <p:spPr>
          <a:xfrm>
            <a:off x="9534525" y="5997178"/>
            <a:ext cx="2981801" cy="241459"/>
          </a:xfrm>
          <a:prstGeom prst="rect">
            <a:avLst/>
          </a:prstGeom>
          <a:noFill/>
          <a:ln/>
        </p:spPr>
        <p:txBody>
          <a:bodyPr wrap="none" lIns="0" tIns="0" rIns="0" bIns="0" rtlCol="0" anchor="t"/>
          <a:lstStyle/>
          <a:p>
            <a:pPr marL="0" indent="0" algn="l">
              <a:lnSpc>
                <a:spcPts val="1900"/>
              </a:lnSpc>
              <a:buNone/>
            </a:pPr>
            <a:r>
              <a:rPr lang="en-US" sz="1500" dirty="0">
                <a:solidFill>
                  <a:srgbClr val="383838"/>
                </a:solidFill>
                <a:latin typeface="Patrick Hand" pitchFamily="34" charset="0"/>
                <a:ea typeface="Patrick Hand" pitchFamily="34" charset="-122"/>
                <a:cs typeface="Patrick Hand" pitchFamily="34" charset="-120"/>
              </a:rPr>
              <a:t>Disable access to cloud metadata endpoints</a:t>
            </a:r>
            <a:endParaRPr lang="en-US" sz="1500" dirty="0"/>
          </a:p>
        </p:txBody>
      </p:sp>
      <p:pic>
        <p:nvPicPr>
          <p:cNvPr id="25"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66073" y="6562249"/>
            <a:ext cx="193119" cy="193119"/>
          </a:xfrm>
          <a:prstGeom prst="rect">
            <a:avLst/>
          </a:prstGeom>
        </p:spPr>
      </p:pic>
      <p:sp>
        <p:nvSpPr>
          <p:cNvPr id="26" name="Shape 20"/>
          <p:cNvSpPr/>
          <p:nvPr/>
        </p:nvSpPr>
        <p:spPr>
          <a:xfrm>
            <a:off x="966073" y="6843474"/>
            <a:ext cx="6271736" cy="22860"/>
          </a:xfrm>
          <a:prstGeom prst="rect">
            <a:avLst/>
          </a:prstGeom>
          <a:solidFill>
            <a:srgbClr val="CCCCCC"/>
          </a:solidFill>
          <a:ln/>
        </p:spPr>
      </p:sp>
      <p:sp>
        <p:nvSpPr>
          <p:cNvPr id="27" name="Text 21"/>
          <p:cNvSpPr/>
          <p:nvPr/>
        </p:nvSpPr>
        <p:spPr>
          <a:xfrm>
            <a:off x="966073" y="6985754"/>
            <a:ext cx="1932265" cy="241459"/>
          </a:xfrm>
          <a:prstGeom prst="rect">
            <a:avLst/>
          </a:prstGeom>
          <a:noFill/>
          <a:ln/>
        </p:spPr>
        <p:txBody>
          <a:bodyPr wrap="none" lIns="0" tIns="0" rIns="0" bIns="0" rtlCol="0" anchor="t"/>
          <a:lstStyle/>
          <a:p>
            <a:pPr marL="0" indent="0" algn="l">
              <a:lnSpc>
                <a:spcPts val="1900"/>
              </a:lnSpc>
              <a:buNone/>
            </a:pPr>
            <a:r>
              <a:rPr lang="en-US" sz="1500" dirty="0">
                <a:solidFill>
                  <a:srgbClr val="383838"/>
                </a:solidFill>
                <a:latin typeface="Patrick Hand" pitchFamily="34" charset="0"/>
                <a:ea typeface="Patrick Hand" pitchFamily="34" charset="-122"/>
                <a:cs typeface="Patrick Hand" pitchFamily="34" charset="-120"/>
              </a:rPr>
              <a:t>Use network segmentation</a:t>
            </a:r>
            <a:endParaRPr lang="en-US" sz="1500" dirty="0"/>
          </a:p>
        </p:txBody>
      </p:sp>
      <p:pic>
        <p:nvPicPr>
          <p:cNvPr id="28"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392353" y="6562249"/>
            <a:ext cx="193119" cy="193119"/>
          </a:xfrm>
          <a:prstGeom prst="rect">
            <a:avLst/>
          </a:prstGeom>
        </p:spPr>
      </p:pic>
      <p:sp>
        <p:nvSpPr>
          <p:cNvPr id="29" name="Shape 22"/>
          <p:cNvSpPr/>
          <p:nvPr/>
        </p:nvSpPr>
        <p:spPr>
          <a:xfrm>
            <a:off x="7392353" y="6843474"/>
            <a:ext cx="6271855" cy="22860"/>
          </a:xfrm>
          <a:prstGeom prst="rect">
            <a:avLst/>
          </a:prstGeom>
          <a:solidFill>
            <a:srgbClr val="CCCCCC"/>
          </a:solidFill>
          <a:ln/>
        </p:spPr>
      </p:sp>
      <p:sp>
        <p:nvSpPr>
          <p:cNvPr id="30" name="Text 23"/>
          <p:cNvSpPr/>
          <p:nvPr/>
        </p:nvSpPr>
        <p:spPr>
          <a:xfrm>
            <a:off x="7392353" y="6985754"/>
            <a:ext cx="1932265" cy="241459"/>
          </a:xfrm>
          <a:prstGeom prst="rect">
            <a:avLst/>
          </a:prstGeom>
          <a:noFill/>
          <a:ln/>
        </p:spPr>
        <p:txBody>
          <a:bodyPr wrap="none" lIns="0" tIns="0" rIns="0" bIns="0" rtlCol="0" anchor="t"/>
          <a:lstStyle/>
          <a:p>
            <a:pPr marL="0" indent="0" algn="l">
              <a:lnSpc>
                <a:spcPts val="1900"/>
              </a:lnSpc>
              <a:buNone/>
            </a:pPr>
            <a:r>
              <a:rPr lang="en-US" sz="1500" dirty="0">
                <a:solidFill>
                  <a:srgbClr val="383838"/>
                </a:solidFill>
                <a:latin typeface="Patrick Hand" pitchFamily="34" charset="0"/>
                <a:ea typeface="Patrick Hand" pitchFamily="34" charset="-122"/>
                <a:cs typeface="Patrick Hand" pitchFamily="34" charset="-120"/>
              </a:rPr>
              <a:t>Apply strict firewall rules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2125</Words>
  <Application>Microsoft Office PowerPoint</Application>
  <PresentationFormat>Custom</PresentationFormat>
  <Paragraphs>192</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Patrick Hand Light</vt:lpstr>
      <vt:lpstr>Patrick Hand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shrishanth battu</cp:lastModifiedBy>
  <cp:revision>2</cp:revision>
  <dcterms:created xsi:type="dcterms:W3CDTF">2026-02-19T16:30:22Z</dcterms:created>
  <dcterms:modified xsi:type="dcterms:W3CDTF">2026-02-19T16:32:30Z</dcterms:modified>
</cp:coreProperties>
</file>