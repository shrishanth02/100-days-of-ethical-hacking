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2"/>
    <p:sldId id="259" r:id="rId3"/>
    <p:sldId id="261" r:id="rId4"/>
    <p:sldId id="263" r:id="rId5"/>
    <p:sldId id="264" r:id="rId6"/>
    <p:sldId id="266" r:id="rId7"/>
    <p:sldId id="268" r:id="rId8"/>
    <p:sldId id="27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xample.com/" TargetMode="External"/><Relationship Id="rId2" Type="http://schemas.openxmlformats.org/officeDocument/2006/relationships/hyperlink" Target="https://example.com/login.php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ple.com/profile.php?id=5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ple.com/admin/dashboard.php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ple.com/login.php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example.com/upload.php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Simplified Arabic Fixed" panose="02070309020205020404" pitchFamily="49" charset="-78"/>
                <a:cs typeface="Simplified Arabic Fixed" panose="02070309020205020404" pitchFamily="49" charset="-78"/>
              </a:rPr>
              <a:t>How Attackers Analyze PHP Applications</a:t>
            </a:r>
            <a:endParaRPr b="1" dirty="0">
              <a:latin typeface="Simplified Arabic Fixed" panose="02070309020205020404" pitchFamily="49" charset="-78"/>
              <a:ea typeface="Ebrima" panose="02000000000000000000" pitchFamily="2" charset="0"/>
              <a:cs typeface="Simplified Arabic Fixed" panose="02070309020205020404" pitchFamily="49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30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Hackers don’t see UI or design</a:t>
            </a:r>
            <a:endParaRPr lang="en-IN" sz="3000" dirty="0">
              <a:solidFill>
                <a:schemeClr val="accent1">
                  <a:lumMod val="50000"/>
                </a:schemeClr>
              </a:solidFill>
              <a:latin typeface="Bell MT" panose="02020503060305020303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30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Looks for:</a:t>
            </a:r>
          </a:p>
          <a:p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Input points</a:t>
            </a:r>
          </a:p>
          <a:p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Backend logic</a:t>
            </a:r>
          </a:p>
          <a:p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Weak validations</a:t>
            </a:r>
          </a:p>
          <a:p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Hidden files</a:t>
            </a:r>
          </a:p>
          <a:p>
            <a:r>
              <a:rPr lang="en-US" sz="3000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Misconfigurations</a:t>
            </a:r>
          </a:p>
          <a:p>
            <a:pPr marL="0" indent="0">
              <a:buNone/>
            </a:pPr>
            <a:endParaRPr sz="3000" dirty="0">
              <a:solidFill>
                <a:schemeClr val="accent1">
                  <a:lumMod val="50000"/>
                </a:schemeClr>
              </a:solidFill>
              <a:latin typeface="Bell MT" panose="020205030603050203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0FF9192-B803-AF66-7A22-5D75278E6DC1}"/>
              </a:ext>
            </a:extLst>
          </p:cNvPr>
          <p:cNvSpPr txBox="1"/>
          <p:nvPr/>
        </p:nvSpPr>
        <p:spPr>
          <a:xfrm>
            <a:off x="5599470" y="2765012"/>
            <a:ext cx="45720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600" dirty="0">
                <a:ln w="0"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</a:rPr>
              <a:t>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>
                    <a:lumMod val="50000"/>
                  </a:schemeClr>
                </a:solidFill>
                <a:latin typeface="Harrington" panose="04040505050A02020702" pitchFamily="82" charset="0"/>
              </a:rPr>
              <a:t>Identifying PHP on a Website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64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500" dirty="0">
                <a:latin typeface="Bell MT" panose="02020503060305020303" pitchFamily="18" charset="0"/>
              </a:rPr>
              <a:t>Before touching anything, I need to know what’s running behind this site.</a:t>
            </a:r>
          </a:p>
          <a:p>
            <a:pPr marL="0" indent="0">
              <a:buNone/>
            </a:pPr>
            <a:r>
              <a:rPr lang="en-US" sz="2500" dirty="0">
                <a:latin typeface="Bell MT" panose="02020503060305020303" pitchFamily="18" charset="0"/>
              </a:rPr>
              <a:t>To confirm PHP by: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500" dirty="0">
                <a:latin typeface="Bell MT" panose="02020503060305020303" pitchFamily="18" charset="0"/>
              </a:rPr>
              <a:t>.</a:t>
            </a:r>
            <a:r>
              <a:rPr lang="en-US" sz="2500" dirty="0" err="1">
                <a:latin typeface="Bell MT" panose="02020503060305020303" pitchFamily="18" charset="0"/>
              </a:rPr>
              <a:t>php</a:t>
            </a:r>
            <a:r>
              <a:rPr lang="en-US" sz="2500" dirty="0">
                <a:latin typeface="Bell MT" panose="02020503060305020303" pitchFamily="18" charset="0"/>
              </a:rPr>
              <a:t> extensions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500" dirty="0">
                <a:latin typeface="Bell MT" panose="02020503060305020303" pitchFamily="18" charset="0"/>
              </a:rPr>
              <a:t>Error messages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500" dirty="0">
                <a:latin typeface="Bell MT" panose="02020503060305020303" pitchFamily="18" charset="0"/>
              </a:rPr>
              <a:t>Cookies &amp; headers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500" dirty="0">
                <a:latin typeface="Bell MT" panose="02020503060305020303" pitchFamily="18" charset="0"/>
              </a:rPr>
              <a:t>Form behavior</a:t>
            </a:r>
          </a:p>
          <a:p>
            <a:pPr marL="0" indent="0">
              <a:buNone/>
            </a:pPr>
            <a:r>
              <a:rPr lang="en-US" sz="2500" dirty="0">
                <a:latin typeface="Bell MT" panose="02020503060305020303" pitchFamily="18" charset="0"/>
              </a:rPr>
              <a:t>Once PHP is identified, </a:t>
            </a:r>
            <a:r>
              <a:rPr lang="en-US" sz="2500" b="1" dirty="0">
                <a:latin typeface="Bell MT" panose="02020503060305020303" pitchFamily="18" charset="0"/>
              </a:rPr>
              <a:t>attack surface mapping starts</a:t>
            </a:r>
            <a:r>
              <a:rPr lang="en-US" sz="2500" dirty="0">
                <a:latin typeface="Bell MT" panose="02020503060305020303" pitchFamily="18" charset="0"/>
              </a:rPr>
              <a:t>.</a:t>
            </a:r>
          </a:p>
          <a:p>
            <a:pPr marL="0" indent="0">
              <a:buNone/>
            </a:pPr>
            <a:r>
              <a:rPr lang="en-US" sz="2500" dirty="0">
                <a:latin typeface="Bell MT" panose="02020503060305020303" pitchFamily="18" charset="0"/>
              </a:rPr>
              <a:t>Ex: </a:t>
            </a:r>
            <a:r>
              <a:rPr lang="en-US" sz="2500" dirty="0">
                <a:latin typeface="Bell MT" panose="02020503060305020303" pitchFamily="18" charset="0"/>
                <a:hlinkClick r:id="rId2"/>
              </a:rPr>
              <a:t>https://example.com/login.php</a:t>
            </a:r>
            <a:endParaRPr lang="en-US" sz="25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r>
              <a:rPr lang="en-US" sz="2500" dirty="0">
                <a:latin typeface="Bell MT" panose="02020503060305020303" pitchFamily="18" charset="0"/>
              </a:rPr>
              <a:t>Check Command : </a:t>
            </a:r>
            <a:r>
              <a:rPr lang="nn-NO" sz="2500" dirty="0">
                <a:latin typeface="Bell MT" panose="02020503060305020303" pitchFamily="18" charset="0"/>
              </a:rPr>
              <a:t>curl -I </a:t>
            </a:r>
            <a:r>
              <a:rPr lang="nn-NO" sz="2500" dirty="0">
                <a:latin typeface="Bell MT" panose="02020503060305020303" pitchFamily="18" charset="0"/>
                <a:hlinkClick r:id="rId3"/>
              </a:rPr>
              <a:t>https://example.com</a:t>
            </a:r>
            <a:endParaRPr lang="nn-NO" sz="25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r>
              <a:rPr lang="en-US" sz="2500" dirty="0">
                <a:latin typeface="Bell MT" panose="02020503060305020303" pitchFamily="18" charset="0"/>
              </a:rPr>
              <a:t>👉 This confirms PHP is in use.</a:t>
            </a:r>
            <a:endParaRPr lang="nn-NO" sz="25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nn-NO" sz="25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nn-NO" sz="25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en-US" sz="25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en-US" sz="25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en-IN" sz="250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>
                    <a:lumMod val="50000"/>
                  </a:schemeClr>
                </a:solidFill>
                <a:latin typeface="Harrington" panose="04040505050A02020702" pitchFamily="82" charset="0"/>
              </a:rPr>
              <a:t>Finding Input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" y="1600200"/>
            <a:ext cx="9363456" cy="514197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500" dirty="0">
                <a:latin typeface="Bell MT" panose="02020503060305020303" pitchFamily="18" charset="0"/>
              </a:rPr>
              <a:t>Test every place where PHP accepts input:</a:t>
            </a:r>
          </a:p>
          <a:p>
            <a:pPr marL="514350" indent="-514350" algn="just">
              <a:buFont typeface="+mj-lt"/>
              <a:buAutoNum type="romanLcPeriod"/>
            </a:pPr>
            <a:r>
              <a:rPr lang="en-US" sz="2500" dirty="0">
                <a:latin typeface="Bell MT" panose="02020503060305020303" pitchFamily="18" charset="0"/>
              </a:rPr>
              <a:t>Login forms</a:t>
            </a:r>
          </a:p>
          <a:p>
            <a:pPr marL="514350" indent="-514350" algn="just">
              <a:buFont typeface="+mj-lt"/>
              <a:buAutoNum type="romanLcPeriod"/>
            </a:pPr>
            <a:r>
              <a:rPr lang="en-US" sz="2500" dirty="0">
                <a:latin typeface="Bell MT" panose="02020503060305020303" pitchFamily="18" charset="0"/>
              </a:rPr>
              <a:t>Search bars</a:t>
            </a:r>
          </a:p>
          <a:p>
            <a:pPr marL="514350" indent="-514350" algn="just">
              <a:buFont typeface="+mj-lt"/>
              <a:buAutoNum type="romanLcPeriod"/>
            </a:pPr>
            <a:r>
              <a:rPr lang="en-US" sz="2500" dirty="0">
                <a:latin typeface="Bell MT" panose="02020503060305020303" pitchFamily="18" charset="0"/>
              </a:rPr>
              <a:t>URL parameters</a:t>
            </a:r>
          </a:p>
          <a:p>
            <a:pPr marL="514350" indent="-514350" algn="just">
              <a:buFont typeface="+mj-lt"/>
              <a:buAutoNum type="romanLcPeriod"/>
            </a:pPr>
            <a:r>
              <a:rPr lang="en-US" sz="2500" dirty="0">
                <a:latin typeface="Bell MT" panose="02020503060305020303" pitchFamily="18" charset="0"/>
              </a:rPr>
              <a:t>File uploads</a:t>
            </a:r>
          </a:p>
          <a:p>
            <a:pPr marL="514350" indent="-514350" algn="just">
              <a:buFont typeface="+mj-lt"/>
              <a:buAutoNum type="romanLcPeriod"/>
            </a:pPr>
            <a:r>
              <a:rPr lang="en-US" sz="2500" dirty="0">
                <a:latin typeface="Bell MT" panose="02020503060305020303" pitchFamily="18" charset="0"/>
              </a:rPr>
              <a:t>Cookies</a:t>
            </a:r>
          </a:p>
          <a:p>
            <a:pPr marL="0" indent="0">
              <a:buNone/>
            </a:pPr>
            <a:r>
              <a:rPr lang="en-US" sz="2500" dirty="0">
                <a:latin typeface="Bell MT" panose="02020503060305020303" pitchFamily="18" charset="0"/>
              </a:rPr>
              <a:t>Every input is a potential vulnerability.</a:t>
            </a:r>
          </a:p>
          <a:p>
            <a:pPr marL="0" indent="0">
              <a:buNone/>
            </a:pPr>
            <a:r>
              <a:rPr lang="en-US" sz="2500" dirty="0">
                <a:latin typeface="Bell MT" panose="02020503060305020303" pitchFamily="18" charset="0"/>
              </a:rPr>
              <a:t>Ex: </a:t>
            </a:r>
            <a:r>
              <a:rPr lang="en-US" sz="2500" dirty="0">
                <a:latin typeface="Bell MT" panose="02020503060305020303" pitchFamily="18" charset="0"/>
                <a:hlinkClick r:id="rId2"/>
              </a:rPr>
              <a:t>https://example.com/profile.php?id=5</a:t>
            </a:r>
            <a:endParaRPr lang="en-US" sz="25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r>
              <a:rPr lang="en-IN" sz="2800" dirty="0">
                <a:latin typeface="Bell MT" panose="02020503060305020303" pitchFamily="18" charset="0"/>
              </a:rPr>
              <a:t>Test with curl: </a:t>
            </a:r>
            <a:r>
              <a:rPr lang="en-US" sz="2800" dirty="0">
                <a:latin typeface="Bell MT" panose="02020503060305020303" pitchFamily="18" charset="0"/>
              </a:rPr>
              <a:t>curl  </a:t>
            </a:r>
            <a:r>
              <a:rPr lang="en-US" sz="2800" dirty="0">
                <a:latin typeface="Bell MT" panose="02020503060305020303" pitchFamily="18" charset="0"/>
                <a:hlinkClick r:id="rId2"/>
              </a:rPr>
              <a:t>https://example.com/profile.php?id=5</a:t>
            </a:r>
            <a:endParaRPr lang="en-US" sz="28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Bell MT" panose="02020503060305020303" pitchFamily="18" charset="0"/>
              </a:rPr>
              <a:t>If the page behavior changes when </a:t>
            </a:r>
            <a:r>
              <a:rPr lang="en-US" dirty="0">
                <a:latin typeface="Bell MT" panose="02020503060305020303" pitchFamily="18" charset="0"/>
              </a:rPr>
              <a:t>id</a:t>
            </a:r>
            <a:r>
              <a:rPr lang="en-US" sz="2800" dirty="0">
                <a:latin typeface="Bell MT" panose="02020503060305020303" pitchFamily="18" charset="0"/>
              </a:rPr>
              <a:t> changes,</a:t>
            </a:r>
            <a:br>
              <a:rPr lang="en-US" sz="2800" dirty="0">
                <a:latin typeface="Bell MT" panose="02020503060305020303" pitchFamily="18" charset="0"/>
              </a:rPr>
            </a:br>
            <a:r>
              <a:rPr lang="en-US" sz="2800" dirty="0">
                <a:latin typeface="Bell MT" panose="02020503060305020303" pitchFamily="18" charset="0"/>
              </a:rPr>
              <a:t>👉 </a:t>
            </a:r>
            <a:r>
              <a:rPr lang="en-US" sz="2800" b="1" dirty="0">
                <a:latin typeface="Bell MT" panose="02020503060305020303" pitchFamily="18" charset="0"/>
              </a:rPr>
              <a:t>backend logic is tied to user input</a:t>
            </a:r>
            <a:endParaRPr lang="en-US" sz="28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en-US" sz="28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en-US" sz="28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en-US" sz="25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en-US" sz="250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Harrington" panose="04040505050A02020702" pitchFamily="82" charset="0"/>
              </a:rPr>
              <a:t>Understanding Backend Logic </a:t>
            </a:r>
            <a:br>
              <a:rPr lang="en-US" b="1" dirty="0">
                <a:solidFill>
                  <a:schemeClr val="accent1">
                    <a:lumMod val="50000"/>
                  </a:schemeClr>
                </a:solidFill>
                <a:latin typeface="Harrington" panose="04040505050A02020702" pitchFamily="82" charset="0"/>
              </a:rPr>
            </a:br>
            <a:r>
              <a:rPr lang="en-US" b="1" dirty="0">
                <a:solidFill>
                  <a:schemeClr val="accent1">
                    <a:lumMod val="50000"/>
                  </a:schemeClr>
                </a:solidFill>
                <a:latin typeface="Harrington" panose="04040505050A02020702" pitchFamily="82" charset="0"/>
              </a:rPr>
              <a:t>(Logic &gt; Tools)</a:t>
            </a:r>
            <a:endParaRPr b="1" dirty="0">
              <a:solidFill>
                <a:schemeClr val="accent1">
                  <a:lumMod val="50000"/>
                </a:schemeClr>
              </a:solidFill>
              <a:latin typeface="Harrington" panose="04040505050A0202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What does the PHP code assume about the user?</a:t>
            </a:r>
          </a:p>
          <a:p>
            <a:pPr marL="0" indent="0">
              <a:buNone/>
            </a:pPr>
            <a:r>
              <a:rPr lang="en-US" b="1" dirty="0">
                <a:latin typeface="Bell MT" panose="02020503060305020303" pitchFamily="18" charset="0"/>
              </a:rPr>
              <a:t>Ex Scenario: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Bell MT" panose="02020503060305020303" pitchFamily="18" charset="0"/>
              </a:rPr>
              <a:t>Page shows user profile based on id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>
                <a:latin typeface="Bell MT" panose="02020503060305020303" pitchFamily="18" charset="0"/>
              </a:rPr>
              <a:t>No session validation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Bell MT" panose="02020503060305020303" pitchFamily="18" charset="0"/>
              </a:rPr>
              <a:t>Logic Test </a:t>
            </a:r>
          </a:p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?id=5 → shows user A  </a:t>
            </a:r>
          </a:p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?id=6 → shows user B</a:t>
            </a:r>
          </a:p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This indicates a </a:t>
            </a:r>
            <a:r>
              <a:rPr lang="en-US" b="1" dirty="0">
                <a:latin typeface="Bell MT" panose="02020503060305020303" pitchFamily="18" charset="0"/>
              </a:rPr>
              <a:t>possible access control issue</a:t>
            </a:r>
            <a:endParaRPr lang="en-US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en-US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chemeClr val="accent1">
                    <a:lumMod val="50000"/>
                  </a:schemeClr>
                </a:solidFill>
                <a:latin typeface="Harrington" panose="04040505050A02020702" pitchFamily="82" charset="0"/>
              </a:rPr>
              <a:t>Authentication Testing</a:t>
            </a:r>
            <a:br>
              <a:rPr lang="en-IN" b="1" dirty="0">
                <a:solidFill>
                  <a:schemeClr val="accent1">
                    <a:lumMod val="50000"/>
                  </a:schemeClr>
                </a:solidFill>
                <a:latin typeface="Harrington" panose="04040505050A02020702" pitchFamily="82" charset="0"/>
              </a:rPr>
            </a:b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Harrington" panose="04040505050A02020702" pitchFamily="82" charset="0"/>
              </a:rPr>
              <a:t>(PHP Login Logic)</a:t>
            </a:r>
            <a:endParaRPr b="1" dirty="0">
              <a:solidFill>
                <a:schemeClr val="accent1">
                  <a:lumMod val="50000"/>
                </a:schemeClr>
              </a:solidFill>
              <a:latin typeface="Harrington" panose="04040505050A0202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Is PHP checking authentication correctly, or just trusting input?</a:t>
            </a:r>
          </a:p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Ex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Bell MT" panose="02020503060305020303" pitchFamily="18" charset="0"/>
              </a:rPr>
              <a:t>: /admin/</a:t>
            </a:r>
            <a:r>
              <a:rPr lang="en-US" dirty="0" err="1">
                <a:solidFill>
                  <a:schemeClr val="tx2">
                    <a:lumMod val="75000"/>
                  </a:schemeClr>
                </a:solidFill>
                <a:latin typeface="Bell MT" panose="02020503060305020303" pitchFamily="18" charset="0"/>
              </a:rPr>
              <a:t>dashboard.php</a:t>
            </a:r>
            <a:endParaRPr lang="en-US" dirty="0">
              <a:solidFill>
                <a:schemeClr val="tx2">
                  <a:lumMod val="75000"/>
                </a:schemeClr>
              </a:solidFill>
              <a:latin typeface="Bell MT" panose="02020503060305020303" pitchFamily="18" charset="0"/>
            </a:endParaRPr>
          </a:p>
          <a:p>
            <a:pPr marL="0" indent="0">
              <a:buNone/>
            </a:pPr>
            <a:r>
              <a:rPr lang="en-IN" dirty="0">
                <a:latin typeface="Bell MT" panose="02020503060305020303" pitchFamily="18" charset="0"/>
              </a:rPr>
              <a:t>Test (without login) </a:t>
            </a:r>
          </a:p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curl </a:t>
            </a:r>
            <a:r>
              <a:rPr lang="en-US" dirty="0">
                <a:latin typeface="Bell MT" panose="02020503060305020303" pitchFamily="18" charset="0"/>
                <a:hlinkClick r:id="rId2"/>
              </a:rPr>
              <a:t>https://example.com/admin/dashboard.php</a:t>
            </a:r>
            <a:endParaRPr lang="en-US" dirty="0">
              <a:latin typeface="Bell MT" panose="02020503060305020303" pitchFamily="18" charset="0"/>
            </a:endParaRPr>
          </a:p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If it loads:</a:t>
            </a:r>
            <a:br>
              <a:rPr lang="en-US" dirty="0">
                <a:latin typeface="Bell MT" panose="02020503060305020303" pitchFamily="18" charset="0"/>
              </a:rPr>
            </a:br>
            <a:r>
              <a:rPr lang="en-US" dirty="0">
                <a:latin typeface="Bell MT" panose="02020503060305020303" pitchFamily="18" charset="0"/>
              </a:rPr>
              <a:t>👉 Authentication is broken at PHP level.</a:t>
            </a:r>
          </a:p>
          <a:p>
            <a:pPr marL="0" indent="0">
              <a:buNone/>
            </a:pPr>
            <a:endParaRPr lang="en-US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tx2">
                    <a:lumMod val="75000"/>
                  </a:schemeClr>
                </a:solidFill>
                <a:latin typeface="Harrington" panose="04040505050A02020702" pitchFamily="82" charset="0"/>
              </a:rPr>
              <a:t>Session Management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How does PHP track logged-in users?</a:t>
            </a:r>
          </a:p>
          <a:p>
            <a:pPr marL="0" indent="0">
              <a:buNone/>
            </a:pPr>
            <a:r>
              <a:rPr lang="fr-FR" b="1" dirty="0" err="1">
                <a:latin typeface="Bell MT" panose="02020503060305020303" pitchFamily="18" charset="0"/>
              </a:rPr>
              <a:t>Inspect</a:t>
            </a:r>
            <a:r>
              <a:rPr lang="fr-FR" b="1" dirty="0">
                <a:latin typeface="Bell MT" panose="02020503060305020303" pitchFamily="18" charset="0"/>
              </a:rPr>
              <a:t>-</a:t>
            </a:r>
          </a:p>
          <a:p>
            <a:r>
              <a:rPr lang="fr-FR" dirty="0">
                <a:latin typeface="Bell MT" panose="02020503060305020303" pitchFamily="18" charset="0"/>
              </a:rPr>
              <a:t>Cookies</a:t>
            </a:r>
          </a:p>
          <a:p>
            <a:r>
              <a:rPr lang="fr-FR" dirty="0">
                <a:latin typeface="Bell MT" panose="02020503060305020303" pitchFamily="18" charset="0"/>
              </a:rPr>
              <a:t>Session </a:t>
            </a:r>
            <a:r>
              <a:rPr lang="fr-FR" dirty="0" err="1">
                <a:latin typeface="Bell MT" panose="02020503060305020303" pitchFamily="18" charset="0"/>
              </a:rPr>
              <a:t>reuse</a:t>
            </a:r>
            <a:endParaRPr lang="fr-FR" dirty="0">
              <a:latin typeface="Bell MT" panose="02020503060305020303" pitchFamily="18" charset="0"/>
            </a:endParaRPr>
          </a:p>
          <a:p>
            <a:r>
              <a:rPr lang="fr-FR" dirty="0">
                <a:latin typeface="Bell MT" panose="02020503060305020303" pitchFamily="18" charset="0"/>
              </a:rPr>
              <a:t>Session expiration</a:t>
            </a:r>
          </a:p>
          <a:p>
            <a:pPr marL="0" indent="0">
              <a:buNone/>
            </a:pPr>
            <a:r>
              <a:rPr lang="fr-FR" dirty="0">
                <a:latin typeface="Bell MT" panose="02020503060305020303" pitchFamily="18" charset="0"/>
              </a:rPr>
              <a:t>Ex: </a:t>
            </a:r>
            <a:r>
              <a:rPr lang="nn-NO" dirty="0">
                <a:latin typeface="Bell MT" panose="02020503060305020303" pitchFamily="18" charset="0"/>
              </a:rPr>
              <a:t>curl -I </a:t>
            </a:r>
            <a:r>
              <a:rPr lang="nn-NO" dirty="0">
                <a:latin typeface="Bell MT" panose="02020503060305020303" pitchFamily="18" charset="0"/>
                <a:hlinkClick r:id="rId2"/>
              </a:rPr>
              <a:t>https://example.com/login.php</a:t>
            </a:r>
            <a:endParaRPr lang="nn-NO" dirty="0">
              <a:latin typeface="Bell MT" panose="02020503060305020303" pitchFamily="18" charset="0"/>
            </a:endParaRPr>
          </a:p>
          <a:p>
            <a:pPr marL="0" indent="0">
              <a:buNone/>
            </a:pPr>
            <a:r>
              <a:rPr lang="nn-NO" dirty="0">
                <a:latin typeface="Bell MT" panose="02020503060305020303" pitchFamily="18" charset="0"/>
              </a:rPr>
              <a:t>Look for : </a:t>
            </a:r>
            <a:r>
              <a:rPr lang="nn-NO" dirty="0">
                <a:solidFill>
                  <a:schemeClr val="accent1">
                    <a:lumMod val="75000"/>
                  </a:schemeClr>
                </a:solidFill>
                <a:latin typeface="Bell MT" panose="02020503060305020303" pitchFamily="18" charset="0"/>
              </a:rPr>
              <a:t>Set-Cookie: PHPSESSID=xyz123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Bell MT" panose="02020503060305020303" pitchFamily="18" charset="0"/>
              </a:rPr>
              <a:t>Does session change after login?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  <a:latin typeface="Bell MT" panose="02020503060305020303" pitchFamily="18" charset="0"/>
              </a:rPr>
              <a:t>Does session expire on logout?</a:t>
            </a:r>
          </a:p>
          <a:p>
            <a:pPr marL="0" indent="0" algn="ctr">
              <a:buNone/>
            </a:pPr>
            <a:r>
              <a:rPr lang="en-US" dirty="0">
                <a:latin typeface="Bell MT" panose="02020503060305020303" pitchFamily="18" charset="0"/>
              </a:rPr>
              <a:t>Poor session handling = easy takeover.</a:t>
            </a:r>
          </a:p>
          <a:p>
            <a:pPr marL="0" indent="0">
              <a:buNone/>
            </a:pPr>
            <a:endParaRPr lang="nn-NO" dirty="0">
              <a:solidFill>
                <a:schemeClr val="accent1">
                  <a:lumMod val="75000"/>
                </a:schemeClr>
              </a:solidFill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nn-NO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lang="fr-FR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b="1" dirty="0">
                <a:solidFill>
                  <a:schemeClr val="accent1">
                    <a:lumMod val="50000"/>
                  </a:schemeClr>
                </a:solidFill>
                <a:latin typeface="Harrington" panose="04040505050A02020702" pitchFamily="82" charset="0"/>
              </a:rPr>
              <a:t>File &amp; Directory Enumeration</a:t>
            </a:r>
            <a:br>
              <a:rPr lang="en-IN" b="1" dirty="0">
                <a:solidFill>
                  <a:schemeClr val="accent1">
                    <a:lumMod val="50000"/>
                  </a:schemeClr>
                </a:solidFill>
                <a:latin typeface="Harrington" panose="04040505050A02020702" pitchFamily="82" charset="0"/>
              </a:rPr>
            </a:br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Harrington" panose="04040505050A02020702" pitchFamily="82" charset="0"/>
              </a:rPr>
              <a:t>(PHP Apps</a:t>
            </a:r>
            <a:endParaRPr b="1" dirty="0">
              <a:solidFill>
                <a:schemeClr val="accent1">
                  <a:lumMod val="50000"/>
                </a:schemeClr>
              </a:solidFill>
              <a:latin typeface="Harrington" panose="04040505050A0202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991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500" dirty="0">
                <a:latin typeface="Bell MT" panose="02020503060305020303" pitchFamily="18" charset="0"/>
              </a:rPr>
              <a:t>If developers forget old PHP files.</a:t>
            </a:r>
          </a:p>
          <a:p>
            <a:pPr marL="0" indent="0">
              <a:buNone/>
            </a:pPr>
            <a:r>
              <a:rPr lang="en-US" sz="2500" dirty="0">
                <a:latin typeface="Bell MT" panose="02020503060305020303" pitchFamily="18" charset="0"/>
              </a:rPr>
              <a:t>PHP apps often expose:</a:t>
            </a:r>
          </a:p>
          <a:p>
            <a:r>
              <a:rPr lang="en-US" sz="2500" dirty="0">
                <a:solidFill>
                  <a:schemeClr val="accent1"/>
                </a:solidFill>
                <a:latin typeface="Bell MT" panose="02020503060305020303" pitchFamily="18" charset="0"/>
              </a:rPr>
              <a:t>Backup files(</a:t>
            </a:r>
            <a:r>
              <a:rPr lang="en-US" sz="2500" dirty="0" err="1">
                <a:solidFill>
                  <a:schemeClr val="accent1"/>
                </a:solidFill>
                <a:latin typeface="Bell MT" panose="02020503060305020303" pitchFamily="18" charset="0"/>
              </a:rPr>
              <a:t>backup.php</a:t>
            </a:r>
            <a:r>
              <a:rPr lang="en-US" sz="2500" dirty="0">
                <a:solidFill>
                  <a:schemeClr val="accent1"/>
                </a:solidFill>
                <a:latin typeface="Bell MT" panose="02020503060305020303" pitchFamily="18" charset="0"/>
              </a:rPr>
              <a:t>)</a:t>
            </a:r>
          </a:p>
          <a:p>
            <a:r>
              <a:rPr lang="en-US" sz="2500" dirty="0">
                <a:solidFill>
                  <a:schemeClr val="accent1"/>
                </a:solidFill>
                <a:latin typeface="Bell MT" panose="02020503060305020303" pitchFamily="18" charset="0"/>
              </a:rPr>
              <a:t>Old scripts(</a:t>
            </a:r>
            <a:r>
              <a:rPr lang="en-US" sz="2500" dirty="0" err="1">
                <a:solidFill>
                  <a:schemeClr val="accent1"/>
                </a:solidFill>
                <a:latin typeface="Bell MT" panose="02020503060305020303" pitchFamily="18" charset="0"/>
              </a:rPr>
              <a:t>test.php</a:t>
            </a:r>
            <a:r>
              <a:rPr lang="en-US" sz="2500" dirty="0">
                <a:solidFill>
                  <a:schemeClr val="accent1"/>
                </a:solidFill>
                <a:latin typeface="Bell MT" panose="02020503060305020303" pitchFamily="18" charset="0"/>
              </a:rPr>
              <a:t>)</a:t>
            </a:r>
          </a:p>
          <a:p>
            <a:r>
              <a:rPr lang="en-US" sz="2500" dirty="0">
                <a:solidFill>
                  <a:schemeClr val="accent1"/>
                </a:solidFill>
                <a:latin typeface="Bell MT" panose="02020503060305020303" pitchFamily="18" charset="0"/>
              </a:rPr>
              <a:t>Config files(</a:t>
            </a:r>
            <a:r>
              <a:rPr lang="en-US" sz="2500" dirty="0" err="1">
                <a:solidFill>
                  <a:schemeClr val="accent1"/>
                </a:solidFill>
                <a:latin typeface="Bell MT" panose="02020503060305020303" pitchFamily="18" charset="0"/>
              </a:rPr>
              <a:t>config.php</a:t>
            </a:r>
            <a:r>
              <a:rPr lang="en-US" sz="2500" dirty="0">
                <a:solidFill>
                  <a:schemeClr val="accent1"/>
                </a:solidFill>
                <a:latin typeface="Bell MT" panose="02020503060305020303" pitchFamily="18" charset="0"/>
              </a:rPr>
              <a:t>)</a:t>
            </a:r>
          </a:p>
          <a:p>
            <a:r>
              <a:rPr lang="en-US" sz="2500" dirty="0">
                <a:solidFill>
                  <a:schemeClr val="accent1"/>
                </a:solidFill>
                <a:latin typeface="Bell MT" panose="02020503060305020303" pitchFamily="18" charset="0"/>
              </a:rPr>
              <a:t>Upload directories(</a:t>
            </a:r>
            <a:r>
              <a:rPr lang="en-US" sz="2500" dirty="0" err="1">
                <a:solidFill>
                  <a:schemeClr val="accent1"/>
                </a:solidFill>
                <a:latin typeface="Bell MT" panose="02020503060305020303" pitchFamily="18" charset="0"/>
              </a:rPr>
              <a:t>upload.php</a:t>
            </a:r>
            <a:r>
              <a:rPr lang="en-US" sz="2500" dirty="0">
                <a:solidFill>
                  <a:schemeClr val="accent1"/>
                </a:solidFill>
                <a:latin typeface="Bell MT" panose="02020503060305020303" pitchFamily="18" charset="0"/>
              </a:rPr>
              <a:t>)</a:t>
            </a:r>
          </a:p>
          <a:p>
            <a:pPr marL="0" indent="0">
              <a:buNone/>
            </a:pPr>
            <a:r>
              <a:rPr lang="en-US" sz="2500" dirty="0">
                <a:solidFill>
                  <a:schemeClr val="accent3">
                    <a:lumMod val="50000"/>
                  </a:schemeClr>
                </a:solidFill>
                <a:latin typeface="Bell MT" panose="02020503060305020303" pitchFamily="18" charset="0"/>
              </a:rPr>
              <a:t>Hackers look for: Misplaced .</a:t>
            </a:r>
            <a:r>
              <a:rPr lang="en-US" sz="2500" dirty="0" err="1">
                <a:solidFill>
                  <a:schemeClr val="accent3">
                    <a:lumMod val="50000"/>
                  </a:schemeClr>
                </a:solidFill>
                <a:latin typeface="Bell MT" panose="02020503060305020303" pitchFamily="18" charset="0"/>
              </a:rPr>
              <a:t>php</a:t>
            </a:r>
            <a:r>
              <a:rPr lang="en-US" sz="2500" dirty="0">
                <a:solidFill>
                  <a:schemeClr val="accent3">
                    <a:lumMod val="50000"/>
                  </a:schemeClr>
                </a:solidFill>
                <a:latin typeface="Bell MT" panose="02020503060305020303" pitchFamily="18" charset="0"/>
              </a:rPr>
              <a:t> files Unprotected endpoints</a:t>
            </a:r>
          </a:p>
          <a:p>
            <a:pPr marL="0" indent="0">
              <a:buNone/>
            </a:pPr>
            <a:r>
              <a:rPr lang="en-IN" sz="2500" dirty="0">
                <a:latin typeface="Bell MT" panose="02020503060305020303" pitchFamily="18" charset="0"/>
              </a:rPr>
              <a:t>Ex test : </a:t>
            </a:r>
            <a:r>
              <a:rPr lang="en-US" sz="2500" dirty="0">
                <a:latin typeface="Bell MT" panose="02020503060305020303" pitchFamily="18" charset="0"/>
              </a:rPr>
              <a:t>curl </a:t>
            </a:r>
            <a:r>
              <a:rPr lang="en-US" sz="2500" dirty="0">
                <a:latin typeface="Bell MT" panose="02020503060305020303" pitchFamily="18" charset="0"/>
                <a:hlinkClick r:id="rId2"/>
              </a:rPr>
              <a:t>https://example.com/upload.php</a:t>
            </a:r>
            <a:endParaRPr lang="en-US" sz="25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r>
              <a:rPr lang="en-US" sz="2800" dirty="0">
                <a:latin typeface="Bell MT" panose="02020503060305020303" pitchFamily="18" charset="0"/>
              </a:rPr>
              <a:t>If accessible:</a:t>
            </a:r>
            <a:br>
              <a:rPr lang="en-US" sz="2800" dirty="0">
                <a:latin typeface="Bell MT" panose="02020503060305020303" pitchFamily="18" charset="0"/>
              </a:rPr>
            </a:br>
            <a:r>
              <a:rPr lang="en-US" sz="2800" dirty="0">
                <a:latin typeface="Bell MT" panose="02020503060305020303" pitchFamily="18" charset="0"/>
              </a:rPr>
              <a:t>👉 Check how PHP handles files.</a:t>
            </a:r>
          </a:p>
          <a:p>
            <a:pPr marL="0" indent="0">
              <a:buNone/>
            </a:pPr>
            <a:endParaRPr lang="en-US" sz="2500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sz="2500"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1">
                    <a:lumMod val="50000"/>
                  </a:schemeClr>
                </a:solidFill>
                <a:latin typeface="Harrington" panose="04040505050A02020702" pitchFamily="82" charset="0"/>
              </a:rPr>
              <a:t>Error-Based Information Gathering</a:t>
            </a:r>
            <a:endParaRPr b="1" dirty="0">
              <a:solidFill>
                <a:schemeClr val="accent1">
                  <a:lumMod val="50000"/>
                </a:schemeClr>
              </a:solidFill>
              <a:latin typeface="Harrington" panose="04040505050A0202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114" y="1417638"/>
            <a:ext cx="8229600" cy="546463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>
                <a:latin typeface="Bell MT" panose="02020503060305020303" pitchFamily="18" charset="0"/>
              </a:rPr>
              <a:t>Errors teach more than documentation.</a:t>
            </a:r>
          </a:p>
          <a:p>
            <a:pPr marL="0" indent="0">
              <a:buNone/>
            </a:pPr>
            <a:r>
              <a:rPr lang="en-IN" dirty="0">
                <a:latin typeface="Bell MT" panose="02020503060305020303" pitchFamily="18" charset="0"/>
              </a:rPr>
              <a:t>Errors can reveal:</a:t>
            </a:r>
          </a:p>
          <a:p>
            <a:pPr marL="514350" indent="-514350" algn="just">
              <a:buFont typeface="+mj-lt"/>
              <a:buAutoNum type="alphaLcParenR"/>
            </a:pPr>
            <a:r>
              <a:rPr lang="en-IN" dirty="0">
                <a:latin typeface="Bell MT" panose="02020503060305020303" pitchFamily="18" charset="0"/>
              </a:rPr>
              <a:t>File paths</a:t>
            </a:r>
          </a:p>
          <a:p>
            <a:pPr marL="514350" indent="-514350" algn="just">
              <a:buFont typeface="+mj-lt"/>
              <a:buAutoNum type="alphaLcParenR"/>
            </a:pPr>
            <a:r>
              <a:rPr lang="en-IN" dirty="0">
                <a:latin typeface="Bell MT" panose="02020503060305020303" pitchFamily="18" charset="0"/>
              </a:rPr>
              <a:t>Database structure</a:t>
            </a:r>
          </a:p>
          <a:p>
            <a:pPr marL="514350" indent="-514350" algn="just">
              <a:buFont typeface="+mj-lt"/>
              <a:buAutoNum type="alphaLcParenR"/>
            </a:pPr>
            <a:r>
              <a:rPr lang="en-IN" dirty="0">
                <a:latin typeface="Bell MT" panose="02020503060305020303" pitchFamily="18" charset="0"/>
              </a:rPr>
              <a:t>Server details</a:t>
            </a:r>
          </a:p>
          <a:p>
            <a:pPr marL="514350" indent="-514350" algn="just">
              <a:buFont typeface="+mj-lt"/>
              <a:buAutoNum type="alphaLcParenR"/>
            </a:pPr>
            <a:r>
              <a:rPr lang="en-IN" dirty="0">
                <a:latin typeface="Bell MT" panose="02020503060305020303" pitchFamily="18" charset="0"/>
              </a:rPr>
              <a:t>PHP version</a:t>
            </a:r>
          </a:p>
          <a:p>
            <a:pPr marL="0" indent="0" algn="just">
              <a:buNone/>
            </a:pPr>
            <a:r>
              <a:rPr lang="en-IN" dirty="0">
                <a:latin typeface="Bell MT" panose="02020503060305020303" pitchFamily="18" charset="0"/>
              </a:rPr>
              <a:t>Ex Behaviour : </a:t>
            </a:r>
          </a:p>
          <a:p>
            <a:r>
              <a:rPr lang="en-US" dirty="0">
                <a:latin typeface="Bell MT" panose="02020503060305020303" pitchFamily="18" charset="0"/>
              </a:rPr>
              <a:t>Correct input → page loads</a:t>
            </a:r>
          </a:p>
          <a:p>
            <a:r>
              <a:rPr lang="en-US" dirty="0">
                <a:latin typeface="Bell MT" panose="02020503060305020303" pitchFamily="18" charset="0"/>
              </a:rPr>
              <a:t>Broken input → error / different response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Bell MT" panose="02020503060305020303" pitchFamily="18" charset="0"/>
              </a:rPr>
              <a:t>Hackers compare: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>
                <a:solidFill>
                  <a:schemeClr val="accent1"/>
                </a:solidFill>
                <a:latin typeface="Bell MT" panose="02020503060305020303" pitchFamily="18" charset="0"/>
              </a:rPr>
              <a:t>Normal response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>
                <a:solidFill>
                  <a:schemeClr val="accent1"/>
                </a:solidFill>
                <a:latin typeface="Bell MT" panose="02020503060305020303" pitchFamily="18" charset="0"/>
              </a:rPr>
              <a:t>Abnormal response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/>
                </a:solidFill>
                <a:latin typeface="Bell MT" panose="02020503060305020303" pitchFamily="18" charset="0"/>
              </a:rPr>
              <a:t>This difference reveals </a:t>
            </a:r>
            <a:r>
              <a:rPr lang="en-US" b="1" dirty="0">
                <a:solidFill>
                  <a:schemeClr val="accent1"/>
                </a:solidFill>
                <a:latin typeface="Bell MT" panose="02020503060305020303" pitchFamily="18" charset="0"/>
              </a:rPr>
              <a:t>query behavior</a:t>
            </a:r>
            <a:r>
              <a:rPr lang="en-US" dirty="0">
                <a:solidFill>
                  <a:schemeClr val="accent1"/>
                </a:solidFill>
                <a:latin typeface="Bell MT" panose="02020503060305020303" pitchFamily="18" charset="0"/>
              </a:rPr>
              <a:t>, even without exploiting.</a:t>
            </a:r>
          </a:p>
          <a:p>
            <a:pPr marL="0" indent="0" algn="just">
              <a:buNone/>
            </a:pPr>
            <a:endParaRPr lang="en-IN" dirty="0">
              <a:latin typeface="Bell MT" panose="02020503060305020303" pitchFamily="18" charset="0"/>
            </a:endParaRPr>
          </a:p>
          <a:p>
            <a:pPr marL="0" indent="0">
              <a:buNone/>
            </a:pPr>
            <a:endParaRPr dirty="0">
              <a:latin typeface="Bell MT" panose="020205030603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482</Words>
  <Application>Microsoft Office PowerPoint</Application>
  <PresentationFormat>On-screen Show (4:3)</PresentationFormat>
  <Paragraphs>88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Bell MT</vt:lpstr>
      <vt:lpstr>Calibri</vt:lpstr>
      <vt:lpstr>Courier New</vt:lpstr>
      <vt:lpstr>Harrington</vt:lpstr>
      <vt:lpstr>Simplified Arabic Fixed</vt:lpstr>
      <vt:lpstr>Wingdings</vt:lpstr>
      <vt:lpstr>Office Theme</vt:lpstr>
      <vt:lpstr>How Attackers Analyze PHP Applications</vt:lpstr>
      <vt:lpstr>Identifying PHP on a Website</vt:lpstr>
      <vt:lpstr>Finding Input Points</vt:lpstr>
      <vt:lpstr>Understanding Backend Logic  (Logic &gt; Tools)</vt:lpstr>
      <vt:lpstr>Authentication Testing (PHP Login Logic)</vt:lpstr>
      <vt:lpstr>Session Management Analysis</vt:lpstr>
      <vt:lpstr>File &amp; Directory Enumeration (PHP Apps</vt:lpstr>
      <vt:lpstr>Error-Based Information Gathering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shrishanth battu</cp:lastModifiedBy>
  <cp:revision>4</cp:revision>
  <dcterms:created xsi:type="dcterms:W3CDTF">2013-01-27T09:14:16Z</dcterms:created>
  <dcterms:modified xsi:type="dcterms:W3CDTF">2026-01-26T12:26:36Z</dcterms:modified>
  <cp:category/>
</cp:coreProperties>
</file>