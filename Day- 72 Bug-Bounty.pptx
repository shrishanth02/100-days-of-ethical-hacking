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4630400" cy="8229600"/>
  <p:notesSz cx="8229600" cy="14630400"/>
  <p:embeddedFontLst>
    <p:embeddedFont>
      <p:font typeface="Consolas" panose="020B0609020204030204" pitchFamily="49" charset="0"/>
      <p:regular r:id="rId8"/>
      <p:bold r:id="rId9"/>
      <p:italic r:id="rId10"/>
      <p:boldItalic r:id="rId11"/>
    </p:embeddedFont>
    <p:embeddedFont>
      <p:font typeface="Heebo Light" pitchFamily="2" charset="-79"/>
      <p:regular r:id="rId12"/>
    </p:embeddedFont>
    <p:embeddedFont>
      <p:font typeface="Montserrat" panose="00000500000000000000" pitchFamily="2" charset="0"/>
      <p:regular r:id="rId13"/>
      <p:italic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9714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13872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Bug Bounty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187660"/>
            <a:ext cx="7556421" cy="290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Bug bounty is a crowdsourced cybersecurity program where companies (or open-source projects) pay ethical hackers to find and report vulnerabilities in their products, apps, websites, or APIs before attackers can exploit them. It's like a public pentest with rewards—payouts range from </a:t>
            </a:r>
            <a:r>
              <a:rPr lang="en-US" sz="175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$50 for low-severity issues</a:t>
            </a: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(e.g., info leaks) to </a:t>
            </a:r>
            <a:r>
              <a:rPr lang="en-US" sz="175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$100K+ for critical RCE or auth bypasses</a:t>
            </a: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. Programs define scope (e.g., *.example.com), rules (no DDoS, social engineering), and severity ratings (often CVSS-based), and hunters submit detailed PoCs via a platform for triage and payment.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70278"/>
            <a:ext cx="807315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to Perform Bug Bounty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43268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It's structured ethical hacking with a focus on high-impact, novel bugs. Follow this workflow: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050738"/>
            <a:ext cx="13042821" cy="3908584"/>
          </a:xfrm>
          <a:prstGeom prst="roundRect">
            <a:avLst>
              <a:gd name="adj" fmla="val 2437"/>
            </a:avLst>
          </a:prstGeom>
          <a:solidFill>
            <a:srgbClr val="0D0A2C">
              <a:alpha val="95000"/>
            </a:srgbClr>
          </a:solidFill>
          <a:ln w="30480">
            <a:solidFill>
              <a:srgbClr val="4A2C8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4270" y="3081218"/>
            <a:ext cx="12981861" cy="680442"/>
          </a:xfrm>
          <a:prstGeom prst="roundRect">
            <a:avLst>
              <a:gd name="adj" fmla="val 8626"/>
            </a:avLst>
          </a:prstGeom>
          <a:solidFill>
            <a:srgbClr val="31136C"/>
          </a:solidFill>
          <a:ln/>
        </p:spPr>
      </p:sp>
      <p:sp>
        <p:nvSpPr>
          <p:cNvPr id="6" name="Text 4"/>
          <p:cNvSpPr/>
          <p:nvPr/>
        </p:nvSpPr>
        <p:spPr>
          <a:xfrm>
            <a:off x="7145060" y="3204924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1051084" y="3988475"/>
            <a:ext cx="796421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Reconnaissance </a:t>
            </a:r>
            <a:r>
              <a:rPr lang="en-US" sz="2200" i="1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(80% of success)</a:t>
            </a: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 Map the target deeply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51084" y="4478893"/>
            <a:ext cx="12528233" cy="2223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Subdomain enum: </a:t>
            </a:r>
            <a:r>
              <a:rPr lang="en-US" sz="175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subfinder -d target.com</a:t>
            </a: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, </a:t>
            </a:r>
            <a:r>
              <a:rPr lang="en-US" sz="175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amass enum -d target.com</a:t>
            </a: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, or tools like Sublist3r.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Port scanning: </a:t>
            </a:r>
            <a:r>
              <a:rPr lang="en-US" sz="175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nmap -sC -sV -oA scan target.com</a:t>
            </a: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Dir busting: </a:t>
            </a:r>
            <a:r>
              <a:rPr lang="en-US" sz="175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ffuf -u https://target.com/FUZZ -w wordlist.txt -fc 404</a:t>
            </a: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JS analysis: Extract endpoints from bundles (</a:t>
            </a:r>
            <a:r>
              <a:rPr lang="en-US" sz="175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cat bundle.js | grep -E '(/api|/v1)'</a:t>
            </a: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), check for secrets with truffleHog.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OSINT: GitHub dorks, Shodan, Certificate Transparency logs.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8170" y="469940"/>
            <a:ext cx="4564618" cy="534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Vulnerability Hunting</a:t>
            </a:r>
            <a:endParaRPr lang="en-US" sz="3350" dirty="0"/>
          </a:p>
        </p:txBody>
      </p:sp>
      <p:sp>
        <p:nvSpPr>
          <p:cNvPr id="3" name="Shape 1"/>
          <p:cNvSpPr/>
          <p:nvPr/>
        </p:nvSpPr>
        <p:spPr>
          <a:xfrm>
            <a:off x="475059" y="1197173"/>
            <a:ext cx="4677013" cy="6625352"/>
          </a:xfrm>
          <a:prstGeom prst="roundRect">
            <a:avLst>
              <a:gd name="adj" fmla="val 2631"/>
            </a:avLst>
          </a:prstGeom>
          <a:solidFill>
            <a:srgbClr val="481C9E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5914" y="2947154"/>
            <a:ext cx="2136338" cy="266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Web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645914" y="3342799"/>
            <a:ext cx="4335304" cy="734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XSS (reflected/stored/DOM), SQLi (</a:t>
            </a:r>
            <a:r>
              <a:rPr lang="en-US" sz="1300" dirty="0">
                <a:solidFill>
                  <a:srgbClr val="DCD7E5"/>
                </a:solidFill>
                <a:highlight>
                  <a:srgbClr val="5529A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' OR 1=1--</a:t>
            </a: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), IDOR (change user IDs in requests), SSRF (URL params to internal IPs), auth bypass (fuzz login params).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5914" y="4206121"/>
            <a:ext cx="2136338" cy="266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API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645914" y="4601766"/>
            <a:ext cx="4335304" cy="47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Broken auth (JWT none alg), rate limit bypass, mass assignment (extra JSON params).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5914" y="5210056"/>
            <a:ext cx="2136338" cy="266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Mobile/Desktop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45914" y="5605701"/>
            <a:ext cx="4335304" cy="47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If in scope, decompile APKs/IPAs for hardcoded secrets, insecure storage.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53539" y="1325880"/>
            <a:ext cx="2136338" cy="266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Automate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5453539" y="1721525"/>
            <a:ext cx="8586192" cy="255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Automate with nuclei templates: </a:t>
            </a:r>
            <a:r>
              <a:rPr lang="en-US" sz="130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nuclei -u targets.txt -t cves/</a:t>
            </a: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53539" y="2105263"/>
            <a:ext cx="2136338" cy="266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Chain Vulns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453539" y="2500908"/>
            <a:ext cx="8586192" cy="239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Chain vulns: e.g., </a:t>
            </a:r>
            <a:r>
              <a:rPr lang="en-US" sz="130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XSS → CSRF → account takeover</a:t>
            </a: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.</a:t>
            </a:r>
            <a:endParaRPr lang="en-US" sz="13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3539" y="2885480"/>
            <a:ext cx="8586192" cy="479226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14168"/>
            <a:ext cx="837318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Exploitation, PoC &amp; Reporting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076575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78860" y="3119080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1530906" y="31544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Exploitation &amp; PoC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30906" y="3644860"/>
            <a:ext cx="564249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Craft minimal repro steps (Burp Suite for requests, browser for client-side). </a:t>
            </a:r>
            <a:r>
              <a:rPr lang="en-US" sz="175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Video walkthroughs boost acceptance.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56884" y="3076575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41955" y="3119080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650" dirty="0"/>
          </a:p>
        </p:txBody>
      </p:sp>
      <p:sp>
        <p:nvSpPr>
          <p:cNvPr id="9" name="Text 7"/>
          <p:cNvSpPr/>
          <p:nvPr/>
        </p:nvSpPr>
        <p:spPr>
          <a:xfrm>
            <a:off x="8194000" y="31544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Reporting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194000" y="3644860"/>
            <a:ext cx="564261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Clear format—</a:t>
            </a:r>
            <a:r>
              <a:rPr lang="en-US" sz="175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impact, steps to repro, screenshots/video, remediation advice, CVSS score</a:t>
            </a: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. Avoid patches until paid.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93790" y="4988719"/>
            <a:ext cx="13042821" cy="1326713"/>
          </a:xfrm>
          <a:prstGeom prst="roundRect">
            <a:avLst>
              <a:gd name="adj" fmla="val 7181"/>
            </a:avLst>
          </a:prstGeom>
          <a:solidFill>
            <a:srgbClr val="1E0C41"/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04" y="5317569"/>
            <a:ext cx="283488" cy="22681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530906" y="5272207"/>
            <a:ext cx="120788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Always include a clear impact statement, step-by-step reproduction instructions, supporting screenshots or video, remediation advice, and a CVSS score in every report. </a:t>
            </a:r>
            <a:r>
              <a:rPr lang="en-US" sz="1750" b="1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Do not suggest or apply patches until payment is confirmed.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1644" y="809387"/>
            <a:ext cx="5339120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Platforms to Hunt On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71644" y="1776651"/>
            <a:ext cx="13087112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Start with these—public programs with VDP (no pay) or paid bounties. Check </a:t>
            </a:r>
            <a:r>
              <a:rPr lang="en-US" sz="155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hackerone.com/programs</a:t>
            </a:r>
            <a:r>
              <a:rPr lang="en-US" sz="15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and </a:t>
            </a:r>
            <a:r>
              <a:rPr lang="en-US" sz="155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bugcrowd.com/programs</a:t>
            </a:r>
            <a:r>
              <a:rPr lang="en-US" sz="15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for live scopes.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71644" y="2269569"/>
            <a:ext cx="13087112" cy="5150644"/>
          </a:xfrm>
          <a:prstGeom prst="roundRect">
            <a:avLst>
              <a:gd name="adj" fmla="val 1618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9264" y="2277189"/>
            <a:ext cx="13071872" cy="52101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77741" y="2388870"/>
            <a:ext cx="1952387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Platform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3334464" y="2388870"/>
            <a:ext cx="508575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Key Features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824555" y="2388870"/>
            <a:ext cx="2210038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Payout Range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1438930" y="2388870"/>
            <a:ext cx="2213848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Notable Programs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79264" y="2798207"/>
            <a:ext cx="13071872" cy="81867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977741" y="2909888"/>
            <a:ext cx="1952387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HackerOne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334464" y="2909888"/>
            <a:ext cx="508575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Largest, managed/live programs, invites for top hunters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824555" y="2909888"/>
            <a:ext cx="2210038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$100–$200K+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1438930" y="2909888"/>
            <a:ext cx="2213848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Google, Microsoft, Shopify, Uber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779264" y="3616881"/>
            <a:ext cx="13071872" cy="81867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977741" y="3728561"/>
            <a:ext cx="1952387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Bugcrowd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3334464" y="3728561"/>
            <a:ext cx="508575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VRT severity model, private invites, fast triage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824555" y="3728561"/>
            <a:ext cx="2210038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$50–$50K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1438930" y="3728561"/>
            <a:ext cx="2213848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Atlassian, TryHackMe, Mastercard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779264" y="4435554"/>
            <a:ext cx="13071872" cy="81867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977741" y="4547235"/>
            <a:ext cx="1952387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Intigriti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3334464" y="4547235"/>
            <a:ext cx="508575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EU-focused, challenges, team bounties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8824555" y="4547235"/>
            <a:ext cx="2210038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€50–€50K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11438930" y="4547235"/>
            <a:ext cx="2213848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Easiest entry for beginners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779264" y="5254228"/>
            <a:ext cx="13071872" cy="52101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977741" y="5365909"/>
            <a:ext cx="1952387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YesWeHack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3334464" y="5365909"/>
            <a:ext cx="508575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Global, DOJO training, high-volume EU targets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8824555" y="5365909"/>
            <a:ext cx="2210038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€20–€100K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11438930" y="5365909"/>
            <a:ext cx="2213848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OVH, Swisscom</a:t>
            </a:r>
            <a:endParaRPr lang="en-US" sz="1550" dirty="0"/>
          </a:p>
        </p:txBody>
      </p:sp>
      <p:sp>
        <p:nvSpPr>
          <p:cNvPr id="30" name="Shape 28"/>
          <p:cNvSpPr/>
          <p:nvPr/>
        </p:nvSpPr>
        <p:spPr>
          <a:xfrm>
            <a:off x="779264" y="5775246"/>
            <a:ext cx="13071872" cy="81867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977741" y="5886926"/>
            <a:ext cx="1952387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Synack</a:t>
            </a:r>
            <a:endParaRPr lang="en-US" sz="1550" dirty="0"/>
          </a:p>
        </p:txBody>
      </p:sp>
      <p:sp>
        <p:nvSpPr>
          <p:cNvPr id="32" name="Text 30"/>
          <p:cNvSpPr/>
          <p:nvPr/>
        </p:nvSpPr>
        <p:spPr>
          <a:xfrm>
            <a:off x="3334464" y="5886926"/>
            <a:ext cx="508575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Invite-only, red team style, high $/hr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8824555" y="5886926"/>
            <a:ext cx="2210038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$500–$100K+</a:t>
            </a:r>
            <a:endParaRPr lang="en-US" sz="1550" dirty="0"/>
          </a:p>
        </p:txBody>
      </p:sp>
      <p:sp>
        <p:nvSpPr>
          <p:cNvPr id="34" name="Text 32"/>
          <p:cNvSpPr/>
          <p:nvPr/>
        </p:nvSpPr>
        <p:spPr>
          <a:xfrm>
            <a:off x="11438930" y="5886926"/>
            <a:ext cx="2213848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Fortune 500 (blind assessments)</a:t>
            </a:r>
            <a:endParaRPr lang="en-US" sz="1550" dirty="0"/>
          </a:p>
        </p:txBody>
      </p:sp>
      <p:sp>
        <p:nvSpPr>
          <p:cNvPr id="35" name="Shape 33"/>
          <p:cNvSpPr/>
          <p:nvPr/>
        </p:nvSpPr>
        <p:spPr>
          <a:xfrm>
            <a:off x="779264" y="6593919"/>
            <a:ext cx="13071872" cy="81867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977741" y="6705600"/>
            <a:ext cx="1952387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Open Bug Bounty</a:t>
            </a:r>
            <a:endParaRPr lang="en-US" sz="1550" dirty="0"/>
          </a:p>
        </p:txBody>
      </p:sp>
      <p:sp>
        <p:nvSpPr>
          <p:cNvPr id="37" name="Text 35"/>
          <p:cNvSpPr/>
          <p:nvPr/>
        </p:nvSpPr>
        <p:spPr>
          <a:xfrm>
            <a:off x="3334464" y="6705600"/>
            <a:ext cx="508575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Non-paying VDP, great for resume/portfolio</a:t>
            </a:r>
            <a:endParaRPr lang="en-US" sz="1550" dirty="0"/>
          </a:p>
        </p:txBody>
      </p:sp>
      <p:sp>
        <p:nvSpPr>
          <p:cNvPr id="38" name="Text 36"/>
          <p:cNvSpPr/>
          <p:nvPr/>
        </p:nvSpPr>
        <p:spPr>
          <a:xfrm>
            <a:off x="8824555" y="6705600"/>
            <a:ext cx="2210038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$0 (recognition)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11438930" y="6705600"/>
            <a:ext cx="2213848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Any site with Coordinated Disclosure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614</Words>
  <Application>Microsoft Office PowerPoint</Application>
  <PresentationFormat>Custom</PresentationFormat>
  <Paragraphs>65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Consolas</vt:lpstr>
      <vt:lpstr>Montserrat</vt:lpstr>
      <vt:lpstr>Heebo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shrishanth battu</cp:lastModifiedBy>
  <cp:revision>2</cp:revision>
  <dcterms:created xsi:type="dcterms:W3CDTF">2026-03-09T11:10:22Z</dcterms:created>
  <dcterms:modified xsi:type="dcterms:W3CDTF">2026-03-09T11:11:41Z</dcterms:modified>
</cp:coreProperties>
</file>